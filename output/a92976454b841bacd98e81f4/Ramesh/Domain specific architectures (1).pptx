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837EFB-C446-47B2-91AA-F16BEFDDEC87}">
  <a:tblStyle styleId="{0B837EFB-C446-47B2-91AA-F16BEFDDEC8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01b3048c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01b3048c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01b3048c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01b3048c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01b3048c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01b3048c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01b3048c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01b3048c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01b3048c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01b3048c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01b3048c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01b3048c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01b3048c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01b3048c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01b3048c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01b3048c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01b3048c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01b3048c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01b3048c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01b3048c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01b3048c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01b3048c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01b3048c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01b3048c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01b3048cb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01b3048c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01b3048c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01b3048c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01b3048c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01b3048c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01b3048cb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01b3048cb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01b3048c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01b3048c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01b3048cb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01b3048cb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01b3048cb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01b3048cb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01b3048c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01b3048c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01b3048cb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01b3048cb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01b3048cb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01b3048c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01b3048cb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01b3048cb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01b3048cb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01b3048c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01b3048cb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01b3048c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01b3048cb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a01b3048cb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01b3048cb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01b3048cb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01b3048c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01b3048c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01b3048c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01b3048c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01b3048c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01b3048c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01b3048cb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01b3048cb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01b3048cb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01b3048cb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6fd654585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6fd654585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6fd65458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6fd65458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6fd654585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6fd654585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6fd654585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6fd654585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6fd654585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6fd654585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fd654585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6fd654585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fd654585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6fd654585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6fd654585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6fd654585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6fd654585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6fd654585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fd654585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fd654585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fd654585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6fd654585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6fd6545859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6fd6545859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6fd6545859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6fd6545859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fd6545859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6fd654585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01b3048cb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a01b3048cb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01b3048cb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01b3048c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a01b3048cb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a01b3048cb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01b3048cb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a01b3048cb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01b3048cb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a01b3048cb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a01b3048cb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a01b3048cb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a01b3048cb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a01b3048cb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01b3048cb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a01b3048cb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01b3048cb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a01b3048cb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5.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bioinf.jku.at/publications/older/2604.pdf" TargetMode="Externa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0.png"/><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6.png"/><Relationship Id="rId4"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Domain Specific Architectures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0" y="0"/>
            <a:ext cx="9143999" cy="5143500"/>
          </a:xfrm>
          <a:prstGeom prst="rect">
            <a:avLst/>
          </a:prstGeom>
          <a:noFill/>
          <a:ln>
            <a:noFill/>
          </a:ln>
        </p:spPr>
      </p:pic>
      <p:pic>
        <p:nvPicPr>
          <p:cNvPr id="60" name="Google Shape;60;p14"/>
          <p:cNvPicPr preferRelativeResize="0"/>
          <p:nvPr/>
        </p:nvPicPr>
        <p:blipFill>
          <a:blip r:embed="rId4">
            <a:alphaModFix/>
          </a:blip>
          <a:stretch>
            <a:fillRect/>
          </a:stretch>
        </p:blipFill>
        <p:spPr>
          <a:xfrm>
            <a:off x="5492231" y="2753460"/>
            <a:ext cx="3490600" cy="2080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0" y="0"/>
            <a:ext cx="9143999" cy="5143500"/>
          </a:xfrm>
          <a:prstGeom prst="rect">
            <a:avLst/>
          </a:prstGeom>
          <a:noFill/>
          <a:ln>
            <a:noFill/>
          </a:ln>
        </p:spPr>
      </p:pic>
      <p:pic>
        <p:nvPicPr>
          <p:cNvPr id="66" name="Google Shape;66;p15"/>
          <p:cNvPicPr preferRelativeResize="0"/>
          <p:nvPr/>
        </p:nvPicPr>
        <p:blipFill>
          <a:blip r:embed="rId4">
            <a:alphaModFix/>
          </a:blip>
          <a:stretch>
            <a:fillRect/>
          </a:stretch>
        </p:blipFill>
        <p:spPr>
          <a:xfrm>
            <a:off x="4949667" y="2897119"/>
            <a:ext cx="4053025" cy="19480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22333" y="35088"/>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000"/>
              <a:t>Moore’s Law trend</a:t>
            </a:r>
            <a:endParaRPr/>
          </a:p>
        </p:txBody>
      </p:sp>
      <p:sp>
        <p:nvSpPr>
          <p:cNvPr id="72" name="Google Shape;72;p16"/>
          <p:cNvSpPr txBox="1"/>
          <p:nvPr>
            <p:ph idx="1" type="body"/>
          </p:nvPr>
        </p:nvSpPr>
        <p:spPr>
          <a:xfrm>
            <a:off x="-13838" y="682253"/>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000">
                <a:solidFill>
                  <a:schemeClr val="dk1"/>
                </a:solidFill>
              </a:rPr>
              <a:t>Moore’s Law enabled:</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Deep memory hierarchy, e.g. 3- or even 4-level caches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Wide SIMD units, e.g. 512 bit SIMD register</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Deep pipelines, e.g. 10-20 stages</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Branch prediction, e.g. close to &gt; 90% accurate rate</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Out-of-order execution to achieve data-flow and remove</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Speculative prefetching</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Multithreading</a:t>
            </a:r>
            <a:endParaRPr sz="2000">
              <a:solidFill>
                <a:schemeClr val="dk1"/>
              </a:solidFill>
            </a:endParaRPr>
          </a:p>
          <a:p>
            <a:pPr indent="-355600" lvl="0" marL="457200" rtl="0" algn="l">
              <a:lnSpc>
                <a:spcPct val="100000"/>
              </a:lnSpc>
              <a:spcBef>
                <a:spcPts val="0"/>
              </a:spcBef>
              <a:spcAft>
                <a:spcPts val="0"/>
              </a:spcAft>
              <a:buClr>
                <a:schemeClr val="dk1"/>
              </a:buClr>
              <a:buSzPts val="2000"/>
              <a:buChar char="●"/>
            </a:pPr>
            <a:r>
              <a:rPr lang="en" sz="2000">
                <a:solidFill>
                  <a:schemeClr val="dk1"/>
                </a:solidFill>
              </a:rPr>
              <a:t>Multiprocessing</a:t>
            </a:r>
            <a:endParaRPr sz="2000">
              <a:solidFill>
                <a:schemeClr val="dk1"/>
              </a:solidFill>
            </a:endParaRPr>
          </a:p>
          <a:p>
            <a:pPr indent="0" lvl="0" marL="0" rtl="0" algn="l">
              <a:lnSpc>
                <a:spcPct val="100000"/>
              </a:lnSpc>
              <a:spcBef>
                <a:spcPts val="0"/>
              </a:spcBef>
              <a:spcAft>
                <a:spcPts val="0"/>
              </a:spcAft>
              <a:buNone/>
            </a:pPr>
            <a:r>
              <a:t/>
            </a:r>
            <a:endParaRPr sz="2000">
              <a:solidFill>
                <a:schemeClr val="dk1"/>
              </a:solidFill>
            </a:endParaRPr>
          </a:p>
        </p:txBody>
      </p:sp>
      <p:pic>
        <p:nvPicPr>
          <p:cNvPr id="73" name="Google Shape;73;p16"/>
          <p:cNvPicPr preferRelativeResize="0"/>
          <p:nvPr/>
        </p:nvPicPr>
        <p:blipFill>
          <a:blip r:embed="rId3">
            <a:alphaModFix/>
          </a:blip>
          <a:stretch>
            <a:fillRect/>
          </a:stretch>
        </p:blipFill>
        <p:spPr>
          <a:xfrm>
            <a:off x="4495320" y="2571750"/>
            <a:ext cx="4648675" cy="25969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End of Traditional Scaling</a:t>
            </a:r>
            <a:endParaRPr/>
          </a:p>
        </p:txBody>
      </p:sp>
      <p:sp>
        <p:nvSpPr>
          <p:cNvPr id="79" name="Google Shape;79;p17"/>
          <p:cNvSpPr txBox="1"/>
          <p:nvPr>
            <p:ph idx="1" type="body"/>
          </p:nvPr>
        </p:nvSpPr>
        <p:spPr>
          <a:xfrm>
            <a:off x="110925" y="1152475"/>
            <a:ext cx="87213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Char char="●"/>
            </a:pPr>
            <a:r>
              <a:rPr lang="en">
                <a:solidFill>
                  <a:schemeClr val="dk1"/>
                </a:solidFill>
              </a:rPr>
              <a:t>Dennard Scaling has ended — transistor power density no longer decreases with size.</a:t>
            </a:r>
            <a:endParaRPr>
              <a:solidFill>
                <a:schemeClr val="dk1"/>
              </a:solidFill>
            </a:endParaRPr>
          </a:p>
          <a:p>
            <a:pPr indent="-342900" lvl="0" marL="457200" rtl="0" algn="just">
              <a:spcBef>
                <a:spcPts val="0"/>
              </a:spcBef>
              <a:spcAft>
                <a:spcPts val="0"/>
              </a:spcAft>
              <a:buClr>
                <a:schemeClr val="dk1"/>
              </a:buClr>
              <a:buSzPts val="1800"/>
              <a:buChar char="●"/>
            </a:pPr>
            <a:r>
              <a:rPr lang="en">
                <a:solidFill>
                  <a:schemeClr val="dk1"/>
                </a:solidFill>
              </a:rPr>
              <a:t>Moore’s Law is slowing — transistor doubling no longer yields proportional performance gains.</a:t>
            </a:r>
            <a:endParaRPr>
              <a:solidFill>
                <a:schemeClr val="dk1"/>
              </a:solidFill>
            </a:endParaRPr>
          </a:p>
          <a:p>
            <a:pPr indent="-342900" lvl="0" marL="457200" rtl="0" algn="just">
              <a:spcBef>
                <a:spcPts val="0"/>
              </a:spcBef>
              <a:spcAft>
                <a:spcPts val="0"/>
              </a:spcAft>
              <a:buClr>
                <a:schemeClr val="dk1"/>
              </a:buClr>
              <a:buSzPts val="1800"/>
              <a:buChar char="●"/>
            </a:pPr>
            <a:r>
              <a:rPr lang="en">
                <a:solidFill>
                  <a:schemeClr val="dk1"/>
                </a:solidFill>
              </a:rPr>
              <a:t>Consequence: General-purpose architectures face diminishing returns in performance, cost, and energy efficiency.</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6" name="Google Shape;86;p18"/>
          <p:cNvPicPr preferRelativeResize="0"/>
          <p:nvPr/>
        </p:nvPicPr>
        <p:blipFill>
          <a:blip r:embed="rId3">
            <a:alphaModFix/>
          </a:blip>
          <a:stretch>
            <a:fillRect/>
          </a:stretch>
        </p:blipFill>
        <p:spPr>
          <a:xfrm>
            <a:off x="0" y="0"/>
            <a:ext cx="9144001" cy="5143501"/>
          </a:xfrm>
          <a:prstGeom prst="rect">
            <a:avLst/>
          </a:prstGeom>
          <a:noFill/>
          <a:ln>
            <a:noFill/>
          </a:ln>
        </p:spPr>
      </p:pic>
      <p:sp>
        <p:nvSpPr>
          <p:cNvPr id="87" name="Google Shape;87;p18"/>
          <p:cNvSpPr txBox="1"/>
          <p:nvPr/>
        </p:nvSpPr>
        <p:spPr>
          <a:xfrm>
            <a:off x="1581875" y="680025"/>
            <a:ext cx="53655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FF0000"/>
                </a:solidFill>
              </a:rPr>
              <a:t>Semiconductor process technology</a:t>
            </a:r>
            <a:endParaRPr sz="240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Limits of Traditional Performance Growth</a:t>
            </a:r>
            <a:endParaRPr/>
          </a:p>
        </p:txBody>
      </p:sp>
      <p:sp>
        <p:nvSpPr>
          <p:cNvPr id="93" name="Google Shape;93;p19"/>
          <p:cNvSpPr txBox="1"/>
          <p:nvPr>
            <p:ph idx="1" type="body"/>
          </p:nvPr>
        </p:nvSpPr>
        <p:spPr>
          <a:xfrm>
            <a:off x="25350" y="863550"/>
            <a:ext cx="90933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Implementation technologies (like smaller process nodes) are near physical limits.</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Parallelism — once the main path to higher performance — now faces scaling bottlenecks.</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Increasing cores or threads gives less benefit per added resource.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94650" y="83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The Shift Toward Domain Specific Architectures (DSAs)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DSAs propose a new paradigm for performance enhancement.</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They focus on hardware acceleration for specific computational domains.</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Belief: Major performance leaps now require domain-specific optimization, not generic architectures.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3">
            <a:alphaModFix/>
          </a:blip>
          <a:stretch>
            <a:fillRect/>
          </a:stretch>
        </p:blipFill>
        <p:spPr>
          <a:xfrm>
            <a:off x="2716700" y="2440325"/>
            <a:ext cx="6427301" cy="2627300"/>
          </a:xfrm>
          <a:prstGeom prst="rect">
            <a:avLst/>
          </a:prstGeom>
          <a:noFill/>
          <a:ln>
            <a:noFill/>
          </a:ln>
        </p:spPr>
      </p:pic>
      <p:sp>
        <p:nvSpPr>
          <p:cNvPr id="105" name="Google Shape;105;p21"/>
          <p:cNvSpPr txBox="1"/>
          <p:nvPr>
            <p:ph type="title"/>
          </p:nvPr>
        </p:nvSpPr>
        <p:spPr>
          <a:xfrm>
            <a:off x="203172" y="83312"/>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DSAs Matter</a:t>
            </a:r>
            <a:endParaRPr/>
          </a:p>
        </p:txBody>
      </p:sp>
      <p:sp>
        <p:nvSpPr>
          <p:cNvPr id="106" name="Google Shape;106;p21"/>
          <p:cNvSpPr txBox="1"/>
          <p:nvPr>
            <p:ph idx="1" type="body"/>
          </p:nvPr>
        </p:nvSpPr>
        <p:spPr>
          <a:xfrm>
            <a:off x="106725" y="7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DSAs can dramatically improve performance for well-defined domains.</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They offer energy efficiency by eliminating unnecessary general-purpose functionality.</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They align hardware </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 sz="2400">
                <a:solidFill>
                  <a:schemeClr val="dk1"/>
                </a:solidFill>
                <a:latin typeface="Times New Roman"/>
                <a:ea typeface="Times New Roman"/>
                <a:cs typeface="Times New Roman"/>
                <a:sym typeface="Times New Roman"/>
              </a:rPr>
              <a:t>capabilities directly </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 sz="2400">
                <a:solidFill>
                  <a:schemeClr val="dk1"/>
                </a:solidFill>
                <a:latin typeface="Times New Roman"/>
                <a:ea typeface="Times New Roman"/>
                <a:cs typeface="Times New Roman"/>
                <a:sym typeface="Times New Roman"/>
              </a:rPr>
              <a:t>with application </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rPr lang="en" sz="2400">
                <a:solidFill>
                  <a:schemeClr val="dk1"/>
                </a:solidFill>
                <a:latin typeface="Times New Roman"/>
                <a:ea typeface="Times New Roman"/>
                <a:cs typeface="Times New Roman"/>
                <a:sym typeface="Times New Roman"/>
              </a:rPr>
              <a:t>characteristics.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251425" y="228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Remembering Amdahl’s Law</a:t>
            </a:r>
            <a:endParaRPr/>
          </a:p>
        </p:txBody>
      </p:sp>
      <p:sp>
        <p:nvSpPr>
          <p:cNvPr id="112" name="Google Shape;112;p22"/>
          <p:cNvSpPr txBox="1"/>
          <p:nvPr>
            <p:ph idx="1" type="body"/>
          </p:nvPr>
        </p:nvSpPr>
        <p:spPr>
          <a:xfrm>
            <a:off x="0" y="1152475"/>
            <a:ext cx="91440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Amdahl’s Law: The overall speedup from acceleration is limited by the fraction of time spent in the accelerated portion.</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Implication: DSAs must target large portions of computation to meaningfully improve total performance.</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Small accelerators for niche tasks yield minimal runtime benefit.</a:t>
            </a:r>
            <a:endParaRPr sz="24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0" y="59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Power and Cost as Dominant Design Drivers</a:t>
            </a:r>
            <a:endParaRPr/>
          </a:p>
        </p:txBody>
      </p:sp>
      <p:sp>
        <p:nvSpPr>
          <p:cNvPr id="118" name="Google Shape;118;p23"/>
          <p:cNvSpPr txBox="1"/>
          <p:nvPr>
            <p:ph idx="1" type="body"/>
          </p:nvPr>
        </p:nvSpPr>
        <p:spPr>
          <a:xfrm>
            <a:off x="0" y="1152475"/>
            <a:ext cx="90933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In large-scale computing (e.g., data centers), </a:t>
            </a:r>
            <a:r>
              <a:rPr b="1" lang="en" sz="2400">
                <a:solidFill>
                  <a:schemeClr val="dk1"/>
                </a:solidFill>
                <a:latin typeface="Times New Roman"/>
                <a:ea typeface="Times New Roman"/>
                <a:cs typeface="Times New Roman"/>
                <a:sym typeface="Times New Roman"/>
              </a:rPr>
              <a:t>power consumption</a:t>
            </a:r>
            <a:r>
              <a:rPr lang="en" sz="2400">
                <a:solidFill>
                  <a:schemeClr val="dk1"/>
                </a:solidFill>
                <a:latin typeface="Times New Roman"/>
                <a:ea typeface="Times New Roman"/>
                <a:cs typeface="Times New Roman"/>
                <a:sym typeface="Times New Roman"/>
              </a:rPr>
              <a:t> dominates cost and deployment decisions.</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DSAs offer power-efficient computation, aligning with </a:t>
            </a:r>
            <a:r>
              <a:rPr b="1" lang="en" sz="2400">
                <a:solidFill>
                  <a:schemeClr val="dk1"/>
                </a:solidFill>
                <a:latin typeface="Times New Roman"/>
                <a:ea typeface="Times New Roman"/>
                <a:cs typeface="Times New Roman"/>
                <a:sym typeface="Times New Roman"/>
              </a:rPr>
              <a:t>energy and thermal constraints</a:t>
            </a:r>
            <a:r>
              <a:rPr lang="en" sz="2400">
                <a:solidFill>
                  <a:schemeClr val="dk1"/>
                </a:solidFill>
                <a:latin typeface="Times New Roman"/>
                <a:ea typeface="Times New Roman"/>
                <a:cs typeface="Times New Roman"/>
                <a:sym typeface="Times New Roman"/>
              </a:rPr>
              <a:t>.</a:t>
            </a:r>
            <a:br>
              <a:rPr lang="en"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The </a:t>
            </a:r>
            <a:r>
              <a:rPr b="1" lang="en" sz="2400">
                <a:solidFill>
                  <a:schemeClr val="dk1"/>
                </a:solidFill>
                <a:latin typeface="Times New Roman"/>
                <a:ea typeface="Times New Roman"/>
                <a:cs typeface="Times New Roman"/>
                <a:sym typeface="Times New Roman"/>
              </a:rPr>
              <a:t>warehouse-scale computer</a:t>
            </a:r>
            <a:r>
              <a:rPr lang="en" sz="2400">
                <a:solidFill>
                  <a:schemeClr val="dk1"/>
                </a:solidFill>
                <a:latin typeface="Times New Roman"/>
                <a:ea typeface="Times New Roman"/>
                <a:cs typeface="Times New Roman"/>
                <a:sym typeface="Times New Roman"/>
              </a:rPr>
              <a:t> environment amplifies these concerns — efficiency directly affects operational cost.</a:t>
            </a:r>
            <a:endParaRPr sz="2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191125" y="167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Future of Performance Innovation</a:t>
            </a:r>
            <a:endParaRPr/>
          </a:p>
        </p:txBody>
      </p:sp>
      <p:sp>
        <p:nvSpPr>
          <p:cNvPr id="124" name="Google Shape;124;p24"/>
          <p:cNvSpPr txBox="1"/>
          <p:nvPr>
            <p:ph idx="1" type="body"/>
          </p:nvPr>
        </p:nvSpPr>
        <p:spPr>
          <a:xfrm>
            <a:off x="0" y="1152475"/>
            <a:ext cx="9213900" cy="34164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The era of “free” performance gains from transistor scaling is over.</a:t>
            </a:r>
            <a:br>
              <a:rPr lang="en" sz="2300">
                <a:solidFill>
                  <a:schemeClr val="dk1"/>
                </a:solidFill>
                <a:latin typeface="Times New Roman"/>
                <a:ea typeface="Times New Roman"/>
                <a:cs typeface="Times New Roman"/>
                <a:sym typeface="Times New Roman"/>
              </a:rPr>
            </a:br>
            <a:endParaRPr sz="2300">
              <a:solidFill>
                <a:schemeClr val="dk1"/>
              </a:solidFill>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Char char="●"/>
            </a:pPr>
            <a:r>
              <a:rPr b="1" lang="en" sz="2300">
                <a:solidFill>
                  <a:schemeClr val="dk1"/>
                </a:solidFill>
                <a:latin typeface="Times New Roman"/>
                <a:ea typeface="Times New Roman"/>
                <a:cs typeface="Times New Roman"/>
                <a:sym typeface="Times New Roman"/>
              </a:rPr>
              <a:t>Architectural specialization</a:t>
            </a:r>
            <a:r>
              <a:rPr lang="en" sz="2300">
                <a:solidFill>
                  <a:schemeClr val="dk1"/>
                </a:solidFill>
                <a:latin typeface="Times New Roman"/>
                <a:ea typeface="Times New Roman"/>
                <a:cs typeface="Times New Roman"/>
                <a:sym typeface="Times New Roman"/>
              </a:rPr>
              <a:t> is now the main frontier for improvement.</a:t>
            </a:r>
            <a:br>
              <a:rPr lang="en" sz="2300">
                <a:solidFill>
                  <a:schemeClr val="dk1"/>
                </a:solidFill>
                <a:latin typeface="Times New Roman"/>
                <a:ea typeface="Times New Roman"/>
                <a:cs typeface="Times New Roman"/>
                <a:sym typeface="Times New Roman"/>
              </a:rPr>
            </a:br>
            <a:endParaRPr sz="2300">
              <a:solidFill>
                <a:schemeClr val="dk1"/>
              </a:solidFill>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DSAs will coexist with general-purpose CPUs, forming </a:t>
            </a:r>
            <a:r>
              <a:rPr b="1" lang="en" sz="2300">
                <a:solidFill>
                  <a:schemeClr val="dk1"/>
                </a:solidFill>
                <a:latin typeface="Times New Roman"/>
                <a:ea typeface="Times New Roman"/>
                <a:cs typeface="Times New Roman"/>
                <a:sym typeface="Times New Roman"/>
              </a:rPr>
              <a:t>h</a:t>
            </a:r>
            <a:r>
              <a:rPr b="1" lang="en" sz="2300">
                <a:solidFill>
                  <a:schemeClr val="dk1"/>
                </a:solidFill>
                <a:latin typeface="Times New Roman"/>
                <a:ea typeface="Times New Roman"/>
                <a:cs typeface="Times New Roman"/>
                <a:sym typeface="Times New Roman"/>
              </a:rPr>
              <a:t>eterogeneous systems</a:t>
            </a:r>
            <a:r>
              <a:rPr lang="en" sz="2300">
                <a:solidFill>
                  <a:schemeClr val="dk1"/>
                </a:solidFill>
                <a:latin typeface="Times New Roman"/>
                <a:ea typeface="Times New Roman"/>
                <a:cs typeface="Times New Roman"/>
                <a:sym typeface="Times New Roman"/>
              </a:rPr>
              <a:t> tailored to workload demands.</a:t>
            </a:r>
            <a:endParaRPr sz="23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227300" y="203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NRE Cost Comparison: ASICs, FPGAs, and DSAs</a:t>
            </a:r>
            <a:endParaRPr/>
          </a:p>
        </p:txBody>
      </p:sp>
      <p:sp>
        <p:nvSpPr>
          <p:cNvPr id="130" name="Google Shape;130;p25"/>
          <p:cNvSpPr txBox="1"/>
          <p:nvPr>
            <p:ph idx="1" type="body"/>
          </p:nvPr>
        </p:nvSpPr>
        <p:spPr>
          <a:xfrm>
            <a:off x="-100" y="872925"/>
            <a:ext cx="9144000" cy="4207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NRE refers to the one-time engineering cost to design, develop, and test new hardware.</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Includes design effort, tooling, verification, mask generation, and fabrication setup.</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Once paid, NRE does not recur for each produced unit — it’s a fixed upfront investment.</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Critical factor when choosing between ASICs, FPGAs, and DSAs.</a:t>
            </a:r>
            <a:endParaRPr sz="2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NRE in ASICs</a:t>
            </a:r>
            <a:endParaRPr/>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Highest NRE cost among hardware options.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Involves full custom circuit design, mask creation, and fabrication setup.</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Provides maximum performance and energy efficiency for a fixed function.</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Economically viable only for high-volume production where costs can be amortized.</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Modern ASIC tape-out can exceed tens of millions of dollars in NRE.</a:t>
            </a: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192325" y="325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NRE in FPGAs</a:t>
            </a:r>
            <a:endParaRPr/>
          </a:p>
        </p:txBody>
      </p:sp>
      <p:sp>
        <p:nvSpPr>
          <p:cNvPr id="142" name="Google Shape;142;p27"/>
          <p:cNvSpPr txBox="1"/>
          <p:nvPr>
            <p:ph idx="1" type="body"/>
          </p:nvPr>
        </p:nvSpPr>
        <p:spPr>
          <a:xfrm>
            <a:off x="78125" y="1152475"/>
            <a:ext cx="89958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Very low NRE cost — no fabrication or mask costs; reconfigurable hardware.</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Uses pre-fabricated logic blocks and programmable interconnects.</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Ideal for prototyping, low-volume, or rapidly evolving applications.</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Trade-offs: Lower performance and higher power consumption compared to ASICs.</a:t>
            </a:r>
            <a:endParaRPr sz="22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224900" y="249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NRE in DSAs</a:t>
            </a:r>
            <a:endParaRPr/>
          </a:p>
        </p:txBody>
      </p:sp>
      <p:sp>
        <p:nvSpPr>
          <p:cNvPr id="148" name="Google Shape;148;p28"/>
          <p:cNvSpPr txBox="1"/>
          <p:nvPr>
            <p:ph idx="1" type="body"/>
          </p:nvPr>
        </p:nvSpPr>
        <p:spPr>
          <a:xfrm>
            <a:off x="0" y="1152475"/>
            <a:ext cx="91440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DSAs often fall between ASICs and FPGAs in NRE cost.</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Built for specific domains (e.g., AI, graphics, data analytics).</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NRE cost depends on design reuse, domain maturity, and manufacturing scale.</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latin typeface="Times New Roman"/>
                <a:ea typeface="Times New Roman"/>
                <a:cs typeface="Times New Roman"/>
                <a:sym typeface="Times New Roman"/>
              </a:rPr>
              <a:t>Benefit: Balance between specialization (like ASIC) and reuse (like FPGA).</a:t>
            </a:r>
            <a:endParaRPr sz="22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2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181475" y="76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ASICs vs. FPGAs vs. DSAs — NRE Trade-offs</a:t>
            </a:r>
            <a:endParaRPr/>
          </a:p>
        </p:txBody>
      </p:sp>
      <p:graphicFrame>
        <p:nvGraphicFramePr>
          <p:cNvPr id="154" name="Google Shape;154;p29"/>
          <p:cNvGraphicFramePr/>
          <p:nvPr/>
        </p:nvGraphicFramePr>
        <p:xfrm>
          <a:off x="1115275" y="707578"/>
          <a:ext cx="3000000" cy="3000000"/>
        </p:xfrm>
        <a:graphic>
          <a:graphicData uri="http://schemas.openxmlformats.org/drawingml/2006/table">
            <a:tbl>
              <a:tblPr>
                <a:noFill/>
                <a:tableStyleId>{0B837EFB-C446-47B2-91AA-F16BEFDDEC87}</a:tableStyleId>
              </a:tblPr>
              <a:tblGrid>
                <a:gridCol w="1447800"/>
                <a:gridCol w="1447800"/>
                <a:gridCol w="1447800"/>
                <a:gridCol w="1447800"/>
              </a:tblGrid>
              <a:tr h="381000">
                <a:tc>
                  <a:txBody>
                    <a:bodyPr/>
                    <a:lstStyle/>
                    <a:p>
                      <a:pPr indent="0" lvl="0" marL="0" rtl="0" algn="ctr">
                        <a:lnSpc>
                          <a:spcPct val="115000"/>
                        </a:lnSpc>
                        <a:spcBef>
                          <a:spcPts val="0"/>
                        </a:spcBef>
                        <a:spcAft>
                          <a:spcPts val="0"/>
                        </a:spcAft>
                        <a:buNone/>
                      </a:pPr>
                      <a:r>
                        <a:rPr b="1" lang="en" sz="1200"/>
                        <a:t>Feature / Cost Factor</a:t>
                      </a:r>
                      <a:endParaRPr b="1" sz="1200"/>
                    </a:p>
                  </a:txBody>
                  <a:tcPr marT="91425" marB="91425" marR="91425" marL="91425"/>
                </a:tc>
                <a:tc>
                  <a:txBody>
                    <a:bodyPr/>
                    <a:lstStyle/>
                    <a:p>
                      <a:pPr indent="0" lvl="0" marL="0" rtl="0" algn="ctr">
                        <a:lnSpc>
                          <a:spcPct val="115000"/>
                        </a:lnSpc>
                        <a:spcBef>
                          <a:spcPts val="0"/>
                        </a:spcBef>
                        <a:spcAft>
                          <a:spcPts val="0"/>
                        </a:spcAft>
                        <a:buNone/>
                      </a:pPr>
                      <a:r>
                        <a:rPr b="1" lang="en" sz="1200"/>
                        <a:t>ASICs</a:t>
                      </a:r>
                      <a:endParaRPr b="1" sz="1200"/>
                    </a:p>
                  </a:txBody>
                  <a:tcPr marT="91425" marB="91425" marR="91425" marL="91425"/>
                </a:tc>
                <a:tc>
                  <a:txBody>
                    <a:bodyPr/>
                    <a:lstStyle/>
                    <a:p>
                      <a:pPr indent="0" lvl="0" marL="0" rtl="0" algn="ctr">
                        <a:lnSpc>
                          <a:spcPct val="115000"/>
                        </a:lnSpc>
                        <a:spcBef>
                          <a:spcPts val="0"/>
                        </a:spcBef>
                        <a:spcAft>
                          <a:spcPts val="0"/>
                        </a:spcAft>
                        <a:buNone/>
                      </a:pPr>
                      <a:r>
                        <a:rPr b="1" lang="en" sz="1200"/>
                        <a:t>FPGAs</a:t>
                      </a:r>
                      <a:endParaRPr b="1" sz="1200"/>
                    </a:p>
                  </a:txBody>
                  <a:tcPr marT="91425" marB="91425" marR="91425" marL="91425"/>
                </a:tc>
                <a:tc>
                  <a:txBody>
                    <a:bodyPr/>
                    <a:lstStyle/>
                    <a:p>
                      <a:pPr indent="0" lvl="0" marL="0" rtl="0" algn="ctr">
                        <a:lnSpc>
                          <a:spcPct val="115000"/>
                        </a:lnSpc>
                        <a:spcBef>
                          <a:spcPts val="0"/>
                        </a:spcBef>
                        <a:spcAft>
                          <a:spcPts val="0"/>
                        </a:spcAft>
                        <a:buNone/>
                      </a:pPr>
                      <a:r>
                        <a:rPr b="1" lang="en" sz="1200"/>
                        <a:t>DSAs</a:t>
                      </a:r>
                      <a:endParaRPr b="1" sz="1200"/>
                    </a:p>
                  </a:txBody>
                  <a:tcPr marT="91425" marB="91425" marR="91425" marL="91425"/>
                </a:tc>
              </a:tr>
              <a:tr h="381000">
                <a:tc>
                  <a:txBody>
                    <a:bodyPr/>
                    <a:lstStyle/>
                    <a:p>
                      <a:pPr indent="0" lvl="0" marL="0" rtl="0" algn="l">
                        <a:spcBef>
                          <a:spcPts val="0"/>
                        </a:spcBef>
                        <a:spcAft>
                          <a:spcPts val="0"/>
                        </a:spcAft>
                        <a:buNone/>
                      </a:pPr>
                      <a:r>
                        <a:rPr b="1" lang="en" sz="1200"/>
                        <a:t>NRE Cost</a:t>
                      </a:r>
                      <a:endParaRPr b="1" sz="1200"/>
                    </a:p>
                  </a:txBody>
                  <a:tcPr marT="91425" marB="91425" marR="91425" marL="91425"/>
                </a:tc>
                <a:tc>
                  <a:txBody>
                    <a:bodyPr/>
                    <a:lstStyle/>
                    <a:p>
                      <a:pPr indent="0" lvl="0" marL="0" rtl="0" algn="l">
                        <a:spcBef>
                          <a:spcPts val="0"/>
                        </a:spcBef>
                        <a:spcAft>
                          <a:spcPts val="0"/>
                        </a:spcAft>
                        <a:buNone/>
                      </a:pPr>
                      <a:r>
                        <a:rPr lang="en" sz="1500"/>
                        <a:t>Very High</a:t>
                      </a:r>
                      <a:endParaRPr sz="1500"/>
                    </a:p>
                  </a:txBody>
                  <a:tcPr marT="91425" marB="91425" marR="91425" marL="91425"/>
                </a:tc>
                <a:tc>
                  <a:txBody>
                    <a:bodyPr/>
                    <a:lstStyle/>
                    <a:p>
                      <a:pPr indent="0" lvl="0" marL="0" rtl="0" algn="l">
                        <a:spcBef>
                          <a:spcPts val="0"/>
                        </a:spcBef>
                        <a:spcAft>
                          <a:spcPts val="0"/>
                        </a:spcAft>
                        <a:buNone/>
                      </a:pPr>
                      <a:r>
                        <a:rPr lang="en" sz="1500"/>
                        <a:t>Very Low</a:t>
                      </a:r>
                      <a:endParaRPr sz="1500"/>
                    </a:p>
                  </a:txBody>
                  <a:tcPr marT="91425" marB="91425" marR="91425" marL="91425"/>
                </a:tc>
                <a:tc>
                  <a:txBody>
                    <a:bodyPr/>
                    <a:lstStyle/>
                    <a:p>
                      <a:pPr indent="0" lvl="0" marL="0" rtl="0" algn="l">
                        <a:spcBef>
                          <a:spcPts val="0"/>
                        </a:spcBef>
                        <a:spcAft>
                          <a:spcPts val="0"/>
                        </a:spcAft>
                        <a:buNone/>
                      </a:pPr>
                      <a:r>
                        <a:rPr lang="en" sz="1500"/>
                        <a:t>Moderate</a:t>
                      </a:r>
                      <a:endParaRPr sz="1500"/>
                    </a:p>
                  </a:txBody>
                  <a:tcPr marT="91425" marB="91425" marR="91425" marL="91425"/>
                </a:tc>
              </a:tr>
              <a:tr h="381000">
                <a:tc>
                  <a:txBody>
                    <a:bodyPr/>
                    <a:lstStyle/>
                    <a:p>
                      <a:pPr indent="0" lvl="0" marL="0" rtl="0" algn="l">
                        <a:spcBef>
                          <a:spcPts val="0"/>
                        </a:spcBef>
                        <a:spcAft>
                          <a:spcPts val="0"/>
                        </a:spcAft>
                        <a:buNone/>
                      </a:pPr>
                      <a:r>
                        <a:rPr b="1" lang="en" sz="1200"/>
                        <a:t>Performance</a:t>
                      </a:r>
                      <a:endParaRPr b="1" sz="1200"/>
                    </a:p>
                  </a:txBody>
                  <a:tcPr marT="91425" marB="91425" marR="91425" marL="91425"/>
                </a:tc>
                <a:tc>
                  <a:txBody>
                    <a:bodyPr/>
                    <a:lstStyle/>
                    <a:p>
                      <a:pPr indent="0" lvl="0" marL="0" rtl="0" algn="l">
                        <a:spcBef>
                          <a:spcPts val="0"/>
                        </a:spcBef>
                        <a:spcAft>
                          <a:spcPts val="0"/>
                        </a:spcAft>
                        <a:buNone/>
                      </a:pPr>
                      <a:r>
                        <a:rPr lang="en" sz="1500"/>
                        <a:t>Highest</a:t>
                      </a:r>
                      <a:endParaRPr sz="1500"/>
                    </a:p>
                  </a:txBody>
                  <a:tcPr marT="91425" marB="91425" marR="91425" marL="91425"/>
                </a:tc>
                <a:tc>
                  <a:txBody>
                    <a:bodyPr/>
                    <a:lstStyle/>
                    <a:p>
                      <a:pPr indent="0" lvl="0" marL="0" rtl="0" algn="l">
                        <a:spcBef>
                          <a:spcPts val="0"/>
                        </a:spcBef>
                        <a:spcAft>
                          <a:spcPts val="0"/>
                        </a:spcAft>
                        <a:buNone/>
                      </a:pPr>
                      <a:r>
                        <a:rPr lang="en" sz="1500"/>
                        <a:t>Lowest</a:t>
                      </a:r>
                      <a:endParaRPr sz="1500"/>
                    </a:p>
                  </a:txBody>
                  <a:tcPr marT="91425" marB="91425" marR="91425" marL="91425"/>
                </a:tc>
                <a:tc>
                  <a:txBody>
                    <a:bodyPr/>
                    <a:lstStyle/>
                    <a:p>
                      <a:pPr indent="0" lvl="0" marL="0" rtl="0" algn="l">
                        <a:spcBef>
                          <a:spcPts val="0"/>
                        </a:spcBef>
                        <a:spcAft>
                          <a:spcPts val="0"/>
                        </a:spcAft>
                        <a:buNone/>
                      </a:pPr>
                      <a:r>
                        <a:rPr lang="en" sz="1500"/>
                        <a:t>High (domain-optimized)</a:t>
                      </a:r>
                      <a:endParaRPr sz="1500"/>
                    </a:p>
                  </a:txBody>
                  <a:tcPr marT="91425" marB="91425" marR="91425" marL="91425"/>
                </a:tc>
              </a:tr>
              <a:tr h="381000">
                <a:tc>
                  <a:txBody>
                    <a:bodyPr/>
                    <a:lstStyle/>
                    <a:p>
                      <a:pPr indent="0" lvl="0" marL="0" rtl="0" algn="l">
                        <a:spcBef>
                          <a:spcPts val="0"/>
                        </a:spcBef>
                        <a:spcAft>
                          <a:spcPts val="0"/>
                        </a:spcAft>
                        <a:buNone/>
                      </a:pPr>
                      <a:r>
                        <a:rPr b="1" lang="en" sz="1200"/>
                        <a:t>Energy Efficiency</a:t>
                      </a:r>
                      <a:endParaRPr b="1" sz="1200"/>
                    </a:p>
                  </a:txBody>
                  <a:tcPr marT="91425" marB="91425" marR="91425" marL="91425"/>
                </a:tc>
                <a:tc>
                  <a:txBody>
                    <a:bodyPr/>
                    <a:lstStyle/>
                    <a:p>
                      <a:pPr indent="0" lvl="0" marL="0" rtl="0" algn="l">
                        <a:spcBef>
                          <a:spcPts val="0"/>
                        </a:spcBef>
                        <a:spcAft>
                          <a:spcPts val="0"/>
                        </a:spcAft>
                        <a:buNone/>
                      </a:pPr>
                      <a:r>
                        <a:rPr lang="en" sz="1500"/>
                        <a:t>Excellent</a:t>
                      </a:r>
                      <a:endParaRPr sz="1500"/>
                    </a:p>
                  </a:txBody>
                  <a:tcPr marT="91425" marB="91425" marR="91425" marL="91425"/>
                </a:tc>
                <a:tc>
                  <a:txBody>
                    <a:bodyPr/>
                    <a:lstStyle/>
                    <a:p>
                      <a:pPr indent="0" lvl="0" marL="0" rtl="0" algn="l">
                        <a:spcBef>
                          <a:spcPts val="0"/>
                        </a:spcBef>
                        <a:spcAft>
                          <a:spcPts val="0"/>
                        </a:spcAft>
                        <a:buNone/>
                      </a:pPr>
                      <a:r>
                        <a:rPr lang="en" sz="1500"/>
                        <a:t>Poor–Moderate</a:t>
                      </a:r>
                      <a:endParaRPr sz="1500"/>
                    </a:p>
                  </a:txBody>
                  <a:tcPr marT="91425" marB="91425" marR="91425" marL="91425"/>
                </a:tc>
                <a:tc>
                  <a:txBody>
                    <a:bodyPr/>
                    <a:lstStyle/>
                    <a:p>
                      <a:pPr indent="0" lvl="0" marL="0" rtl="0" algn="l">
                        <a:spcBef>
                          <a:spcPts val="0"/>
                        </a:spcBef>
                        <a:spcAft>
                          <a:spcPts val="0"/>
                        </a:spcAft>
                        <a:buNone/>
                      </a:pPr>
                      <a:r>
                        <a:rPr lang="en" sz="1500"/>
                        <a:t>High</a:t>
                      </a:r>
                      <a:endParaRPr sz="1500"/>
                    </a:p>
                  </a:txBody>
                  <a:tcPr marT="91425" marB="91425" marR="91425" marL="91425"/>
                </a:tc>
              </a:tr>
              <a:tr h="381000">
                <a:tc>
                  <a:txBody>
                    <a:bodyPr/>
                    <a:lstStyle/>
                    <a:p>
                      <a:pPr indent="0" lvl="0" marL="0" rtl="0" algn="l">
                        <a:spcBef>
                          <a:spcPts val="0"/>
                        </a:spcBef>
                        <a:spcAft>
                          <a:spcPts val="0"/>
                        </a:spcAft>
                        <a:buNone/>
                      </a:pPr>
                      <a:r>
                        <a:rPr b="1" lang="en" sz="1200"/>
                        <a:t>Flexibility</a:t>
                      </a:r>
                      <a:endParaRPr b="1" sz="1200"/>
                    </a:p>
                  </a:txBody>
                  <a:tcPr marT="91425" marB="91425" marR="91425" marL="91425"/>
                </a:tc>
                <a:tc>
                  <a:txBody>
                    <a:bodyPr/>
                    <a:lstStyle/>
                    <a:p>
                      <a:pPr indent="0" lvl="0" marL="0" rtl="0" algn="l">
                        <a:spcBef>
                          <a:spcPts val="0"/>
                        </a:spcBef>
                        <a:spcAft>
                          <a:spcPts val="0"/>
                        </a:spcAft>
                        <a:buNone/>
                      </a:pPr>
                      <a:r>
                        <a:rPr lang="en" sz="1500"/>
                        <a:t>None </a:t>
                      </a:r>
                      <a:endParaRPr sz="1500"/>
                    </a:p>
                    <a:p>
                      <a:pPr indent="0" lvl="0" marL="0" rtl="0" algn="l">
                        <a:spcBef>
                          <a:spcPts val="0"/>
                        </a:spcBef>
                        <a:spcAft>
                          <a:spcPts val="0"/>
                        </a:spcAft>
                        <a:buNone/>
                      </a:pPr>
                      <a:r>
                        <a:rPr lang="en" sz="1500"/>
                        <a:t>(fixed)</a:t>
                      </a:r>
                      <a:endParaRPr sz="1500"/>
                    </a:p>
                  </a:txBody>
                  <a:tcPr marT="91425" marB="91425" marR="91425" marL="91425"/>
                </a:tc>
                <a:tc>
                  <a:txBody>
                    <a:bodyPr/>
                    <a:lstStyle/>
                    <a:p>
                      <a:pPr indent="0" lvl="0" marL="0" rtl="0" algn="l">
                        <a:spcBef>
                          <a:spcPts val="0"/>
                        </a:spcBef>
                        <a:spcAft>
                          <a:spcPts val="0"/>
                        </a:spcAft>
                        <a:buNone/>
                      </a:pPr>
                      <a:r>
                        <a:rPr lang="en" sz="1500"/>
                        <a:t>Full (reconfig.)</a:t>
                      </a:r>
                      <a:endParaRPr sz="1500"/>
                    </a:p>
                  </a:txBody>
                  <a:tcPr marT="91425" marB="91425" marR="91425" marL="91425"/>
                </a:tc>
                <a:tc>
                  <a:txBody>
                    <a:bodyPr/>
                    <a:lstStyle/>
                    <a:p>
                      <a:pPr indent="0" lvl="0" marL="0" rtl="0" algn="l">
                        <a:spcBef>
                          <a:spcPts val="0"/>
                        </a:spcBef>
                        <a:spcAft>
                          <a:spcPts val="0"/>
                        </a:spcAft>
                        <a:buNone/>
                      </a:pPr>
                      <a:r>
                        <a:rPr lang="en" sz="1500"/>
                        <a:t>Limited (domain-specific)</a:t>
                      </a:r>
                      <a:endParaRPr sz="1500"/>
                    </a:p>
                  </a:txBody>
                  <a:tcPr marT="91425" marB="91425" marR="91425" marL="91425"/>
                </a:tc>
              </a:tr>
              <a:tr h="381000">
                <a:tc>
                  <a:txBody>
                    <a:bodyPr/>
                    <a:lstStyle/>
                    <a:p>
                      <a:pPr indent="0" lvl="0" marL="0" rtl="0" algn="l">
                        <a:spcBef>
                          <a:spcPts val="0"/>
                        </a:spcBef>
                        <a:spcAft>
                          <a:spcPts val="0"/>
                        </a:spcAft>
                        <a:buNone/>
                      </a:pPr>
                      <a:r>
                        <a:rPr b="1" lang="en" sz="1200"/>
                        <a:t>Per-Unit Cost (at scale)</a:t>
                      </a:r>
                      <a:endParaRPr b="1" sz="1200"/>
                    </a:p>
                  </a:txBody>
                  <a:tcPr marT="91425" marB="91425" marR="91425" marL="91425"/>
                </a:tc>
                <a:tc>
                  <a:txBody>
                    <a:bodyPr/>
                    <a:lstStyle/>
                    <a:p>
                      <a:pPr indent="0" lvl="0" marL="0" rtl="0" algn="l">
                        <a:spcBef>
                          <a:spcPts val="0"/>
                        </a:spcBef>
                        <a:spcAft>
                          <a:spcPts val="0"/>
                        </a:spcAft>
                        <a:buNone/>
                      </a:pPr>
                      <a:r>
                        <a:rPr lang="en" sz="1500"/>
                        <a:t>Lowest</a:t>
                      </a:r>
                      <a:endParaRPr sz="1500"/>
                    </a:p>
                  </a:txBody>
                  <a:tcPr marT="91425" marB="91425" marR="91425" marL="91425"/>
                </a:tc>
                <a:tc>
                  <a:txBody>
                    <a:bodyPr/>
                    <a:lstStyle/>
                    <a:p>
                      <a:pPr indent="0" lvl="0" marL="0" rtl="0" algn="l">
                        <a:spcBef>
                          <a:spcPts val="0"/>
                        </a:spcBef>
                        <a:spcAft>
                          <a:spcPts val="0"/>
                        </a:spcAft>
                        <a:buNone/>
                      </a:pPr>
                      <a:r>
                        <a:rPr lang="en" sz="1500"/>
                        <a:t>Highest</a:t>
                      </a:r>
                      <a:endParaRPr sz="1500"/>
                    </a:p>
                  </a:txBody>
                  <a:tcPr marT="91425" marB="91425" marR="91425" marL="91425"/>
                </a:tc>
                <a:tc>
                  <a:txBody>
                    <a:bodyPr/>
                    <a:lstStyle/>
                    <a:p>
                      <a:pPr indent="0" lvl="0" marL="0" rtl="0" algn="l">
                        <a:spcBef>
                          <a:spcPts val="0"/>
                        </a:spcBef>
                        <a:spcAft>
                          <a:spcPts val="0"/>
                        </a:spcAft>
                        <a:buNone/>
                      </a:pPr>
                      <a:r>
                        <a:rPr lang="en" sz="1500"/>
                        <a:t>Moderate</a:t>
                      </a:r>
                      <a:endParaRPr sz="1500"/>
                    </a:p>
                  </a:txBody>
                  <a:tcPr marT="91425" marB="91425" marR="91425" marL="91425"/>
                </a:tc>
              </a:tr>
              <a:tr h="381000">
                <a:tc>
                  <a:txBody>
                    <a:bodyPr/>
                    <a:lstStyle/>
                    <a:p>
                      <a:pPr indent="0" lvl="0" marL="0" rtl="0" algn="l">
                        <a:spcBef>
                          <a:spcPts val="0"/>
                        </a:spcBef>
                        <a:spcAft>
                          <a:spcPts val="0"/>
                        </a:spcAft>
                        <a:buNone/>
                      </a:pPr>
                      <a:r>
                        <a:rPr b="1" lang="en" sz="1200"/>
                        <a:t>Time to Market</a:t>
                      </a:r>
                      <a:endParaRPr b="1" sz="1200"/>
                    </a:p>
                  </a:txBody>
                  <a:tcPr marT="91425" marB="91425" marR="91425" marL="91425"/>
                </a:tc>
                <a:tc>
                  <a:txBody>
                    <a:bodyPr/>
                    <a:lstStyle/>
                    <a:p>
                      <a:pPr indent="0" lvl="0" marL="0" rtl="0" algn="l">
                        <a:spcBef>
                          <a:spcPts val="0"/>
                        </a:spcBef>
                        <a:spcAft>
                          <a:spcPts val="0"/>
                        </a:spcAft>
                        <a:buNone/>
                      </a:pPr>
                      <a:r>
                        <a:rPr lang="en" sz="1500"/>
                        <a:t>Long</a:t>
                      </a:r>
                      <a:endParaRPr sz="1500"/>
                    </a:p>
                  </a:txBody>
                  <a:tcPr marT="91425" marB="91425" marR="91425" marL="91425"/>
                </a:tc>
                <a:tc>
                  <a:txBody>
                    <a:bodyPr/>
                    <a:lstStyle/>
                    <a:p>
                      <a:pPr indent="0" lvl="0" marL="0" rtl="0" algn="l">
                        <a:spcBef>
                          <a:spcPts val="0"/>
                        </a:spcBef>
                        <a:spcAft>
                          <a:spcPts val="0"/>
                        </a:spcAft>
                        <a:buNone/>
                      </a:pPr>
                      <a:r>
                        <a:rPr lang="en" sz="1500"/>
                        <a:t>Short</a:t>
                      </a:r>
                      <a:endParaRPr sz="1500"/>
                    </a:p>
                  </a:txBody>
                  <a:tcPr marT="91425" marB="91425" marR="91425" marL="91425"/>
                </a:tc>
                <a:tc>
                  <a:txBody>
                    <a:bodyPr/>
                    <a:lstStyle/>
                    <a:p>
                      <a:pPr indent="0" lvl="0" marL="0" rtl="0" algn="l">
                        <a:spcBef>
                          <a:spcPts val="0"/>
                        </a:spcBef>
                        <a:spcAft>
                          <a:spcPts val="0"/>
                        </a:spcAft>
                        <a:buNone/>
                      </a:pPr>
                      <a:r>
                        <a:rPr lang="en" sz="1500"/>
                        <a:t>Medium</a:t>
                      </a:r>
                      <a:endParaRPr sz="1500"/>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192350" y="76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Guidelines for Domain Specific Architectures (DSAs)</a:t>
            </a:r>
            <a:endParaRPr/>
          </a:p>
          <a:p>
            <a:pPr indent="0" lvl="0" marL="0" rtl="0" algn="l">
              <a:spcBef>
                <a:spcPts val="0"/>
              </a:spcBef>
              <a:spcAft>
                <a:spcPts val="0"/>
              </a:spcAft>
              <a:buNone/>
            </a:pPr>
            <a:r>
              <a:t/>
            </a:r>
            <a:endParaRPr/>
          </a:p>
        </p:txBody>
      </p:sp>
      <p:sp>
        <p:nvSpPr>
          <p:cNvPr id="160" name="Google Shape;160;p30"/>
          <p:cNvSpPr txBox="1"/>
          <p:nvPr>
            <p:ph idx="1" type="body"/>
          </p:nvPr>
        </p:nvSpPr>
        <p:spPr>
          <a:xfrm>
            <a:off x="257450" y="648775"/>
            <a:ext cx="8935800" cy="3416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AutoNum type="arabicPeriod"/>
            </a:pPr>
            <a:r>
              <a:rPr lang="en" sz="2000">
                <a:solidFill>
                  <a:schemeClr val="dk1"/>
                </a:solidFill>
              </a:rPr>
              <a:t>Use dedicated memories to minimize distances of data movement</a:t>
            </a:r>
            <a:endParaRPr sz="20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Hardware-controlled multi-level cache </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domain-specific software controlled scratch-pad</a:t>
            </a:r>
            <a:endParaRPr sz="1600">
              <a:solidFill>
                <a:schemeClr val="dk1"/>
              </a:solidFill>
            </a:endParaRPr>
          </a:p>
          <a:p>
            <a:pPr indent="-355600" lvl="0" marL="457200" rtl="0" algn="l">
              <a:spcBef>
                <a:spcPts val="0"/>
              </a:spcBef>
              <a:spcAft>
                <a:spcPts val="0"/>
              </a:spcAft>
              <a:buClr>
                <a:schemeClr val="dk1"/>
              </a:buClr>
              <a:buSzPts val="2000"/>
              <a:buAutoNum type="arabicPeriod"/>
            </a:pPr>
            <a:r>
              <a:rPr lang="en" sz="2000">
                <a:solidFill>
                  <a:schemeClr val="dk1"/>
                </a:solidFill>
              </a:rPr>
              <a:t>Invest resources into more arithmetic units or bigger memories</a:t>
            </a:r>
            <a:endParaRPr sz="20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Core optimization (speculation, threading, etc), more domain-specific FU/memory</a:t>
            </a:r>
            <a:endParaRPr sz="1600">
              <a:solidFill>
                <a:schemeClr val="dk1"/>
              </a:solidFill>
            </a:endParaRPr>
          </a:p>
          <a:p>
            <a:pPr indent="-355600" lvl="0" marL="457200" rtl="0" algn="l">
              <a:spcBef>
                <a:spcPts val="0"/>
              </a:spcBef>
              <a:spcAft>
                <a:spcPts val="0"/>
              </a:spcAft>
              <a:buClr>
                <a:schemeClr val="dk1"/>
              </a:buClr>
              <a:buSzPts val="2000"/>
              <a:buAutoNum type="arabicPeriod"/>
            </a:pPr>
            <a:r>
              <a:rPr lang="en" sz="2000">
                <a:solidFill>
                  <a:schemeClr val="dk1"/>
                </a:solidFill>
              </a:rPr>
              <a:t>Use the easiest form of parallelism that matches the domain</a:t>
            </a:r>
            <a:endParaRPr sz="20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MIMD, SIMD or VLIW that matches domain</a:t>
            </a:r>
            <a:endParaRPr sz="1600">
              <a:solidFill>
                <a:schemeClr val="dk1"/>
              </a:solidFill>
            </a:endParaRPr>
          </a:p>
          <a:p>
            <a:pPr indent="-355600" lvl="0" marL="457200" rtl="0" algn="l">
              <a:spcBef>
                <a:spcPts val="0"/>
              </a:spcBef>
              <a:spcAft>
                <a:spcPts val="0"/>
              </a:spcAft>
              <a:buClr>
                <a:schemeClr val="dk1"/>
              </a:buClr>
              <a:buSzPts val="2000"/>
              <a:buAutoNum type="arabicPeriod"/>
            </a:pPr>
            <a:r>
              <a:rPr lang="en" sz="2000">
                <a:solidFill>
                  <a:schemeClr val="dk1"/>
                </a:solidFill>
              </a:rPr>
              <a:t>Reduce data size and type to the simplest needed for the domain</a:t>
            </a:r>
            <a:endParaRPr sz="20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General-purpose 32/64 integer/float; domain-specific 8/16 int/float</a:t>
            </a:r>
            <a:endParaRPr sz="1600">
              <a:solidFill>
                <a:schemeClr val="dk1"/>
              </a:solidFill>
            </a:endParaRPr>
          </a:p>
          <a:p>
            <a:pPr indent="-355600" lvl="0" marL="457200" rtl="0" algn="l">
              <a:spcBef>
                <a:spcPts val="0"/>
              </a:spcBef>
              <a:spcAft>
                <a:spcPts val="0"/>
              </a:spcAft>
              <a:buClr>
                <a:schemeClr val="dk1"/>
              </a:buClr>
              <a:buSzPts val="2000"/>
              <a:buAutoNum type="arabicPeriod"/>
            </a:pPr>
            <a:r>
              <a:rPr lang="en" sz="2000">
                <a:solidFill>
                  <a:schemeClr val="dk1"/>
                </a:solidFill>
              </a:rPr>
              <a:t>Use a domain-specific programming language to port code to the DSA</a:t>
            </a:r>
            <a:endParaRPr sz="20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General-purpose C/C++/Fortran</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en" sz="1600">
                <a:solidFill>
                  <a:schemeClr val="dk1"/>
                </a:solidFill>
              </a:rPr>
              <a:t> Domain-specific language: Halide for vision processing, TensorFlow for DNN</a:t>
            </a:r>
            <a:endParaRPr sz="16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31"/>
          <p:cNvPicPr preferRelativeResize="0"/>
          <p:nvPr/>
        </p:nvPicPr>
        <p:blipFill>
          <a:blip r:embed="rId3">
            <a:alphaModFix/>
          </a:blip>
          <a:stretch>
            <a:fillRect/>
          </a:stretch>
        </p:blipFill>
        <p:spPr>
          <a:xfrm>
            <a:off x="0" y="587319"/>
            <a:ext cx="9144002" cy="39688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105525" y="162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Deep Neural Network</a:t>
            </a:r>
            <a:endParaRPr/>
          </a:p>
        </p:txBody>
      </p:sp>
      <p:sp>
        <p:nvSpPr>
          <p:cNvPr id="172" name="Google Shape;172;p32"/>
          <p:cNvSpPr txBox="1"/>
          <p:nvPr>
            <p:ph idx="1" type="body"/>
          </p:nvPr>
        </p:nvSpPr>
        <p:spPr>
          <a:xfrm>
            <a:off x="311700" y="1152475"/>
            <a:ext cx="4705500" cy="34164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chemeClr val="dk1"/>
              </a:buClr>
              <a:buSzPts val="2000"/>
              <a:buChar char="●"/>
            </a:pPr>
            <a:r>
              <a:rPr lang="en" sz="2000">
                <a:solidFill>
                  <a:schemeClr val="dk1"/>
                </a:solidFill>
                <a:latin typeface="Times New Roman"/>
                <a:ea typeface="Times New Roman"/>
                <a:cs typeface="Times New Roman"/>
                <a:sym typeface="Times New Roman"/>
              </a:rPr>
              <a:t>A Deep Neural Network (DNN) is a computational model inspired by the human brain’s structure and function. </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lang="en" sz="2000">
                <a:solidFill>
                  <a:schemeClr val="dk1"/>
                </a:solidFill>
                <a:latin typeface="Times New Roman"/>
                <a:ea typeface="Times New Roman"/>
                <a:cs typeface="Times New Roman"/>
                <a:sym typeface="Times New Roman"/>
              </a:rPr>
              <a:t>It consists of multiple layers of interconnected nodes (neurons).</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lang="en" sz="2000">
                <a:solidFill>
                  <a:schemeClr val="dk1"/>
                </a:solidFill>
                <a:latin typeface="Times New Roman"/>
                <a:ea typeface="Times New Roman"/>
                <a:cs typeface="Times New Roman"/>
                <a:sym typeface="Times New Roman"/>
              </a:rPr>
              <a:t>Each neuron applies a mathematical transformation to its input and passes the result to the next layer.</a:t>
            </a:r>
            <a:endParaRPr sz="2000">
              <a:solidFill>
                <a:schemeClr val="dk1"/>
              </a:solidFill>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Char char="●"/>
            </a:pPr>
            <a:r>
              <a:rPr lang="en" sz="2000">
                <a:solidFill>
                  <a:schemeClr val="dk1"/>
                </a:solidFill>
                <a:latin typeface="Times New Roman"/>
                <a:ea typeface="Times New Roman"/>
                <a:cs typeface="Times New Roman"/>
                <a:sym typeface="Times New Roman"/>
              </a:rPr>
              <a:t>“Deep” refers to having multiple hidden layers between input and output.</a:t>
            </a:r>
            <a:br>
              <a:rPr lang="en"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2000">
              <a:latin typeface="Times New Roman"/>
              <a:ea typeface="Times New Roman"/>
              <a:cs typeface="Times New Roman"/>
              <a:sym typeface="Times New Roman"/>
            </a:endParaRPr>
          </a:p>
        </p:txBody>
      </p:sp>
      <p:pic>
        <p:nvPicPr>
          <p:cNvPr id="173" name="Google Shape;173;p32"/>
          <p:cNvPicPr preferRelativeResize="0"/>
          <p:nvPr/>
        </p:nvPicPr>
        <p:blipFill>
          <a:blip r:embed="rId3">
            <a:alphaModFix/>
          </a:blip>
          <a:stretch>
            <a:fillRect/>
          </a:stretch>
        </p:blipFill>
        <p:spPr>
          <a:xfrm>
            <a:off x="5017056" y="0"/>
            <a:ext cx="4126938" cy="51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Multi-Layer Network</a:t>
            </a:r>
            <a:endParaRPr/>
          </a:p>
        </p:txBody>
      </p:sp>
      <p:sp>
        <p:nvSpPr>
          <p:cNvPr id="179" name="Google Shape;17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33"/>
          <p:cNvPicPr preferRelativeResize="0"/>
          <p:nvPr/>
        </p:nvPicPr>
        <p:blipFill>
          <a:blip r:embed="rId3">
            <a:alphaModFix/>
          </a:blip>
          <a:stretch>
            <a:fillRect/>
          </a:stretch>
        </p:blipFill>
        <p:spPr>
          <a:xfrm>
            <a:off x="189625" y="823337"/>
            <a:ext cx="8642674" cy="41913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34"/>
          <p:cNvPicPr preferRelativeResize="0"/>
          <p:nvPr/>
        </p:nvPicPr>
        <p:blipFill>
          <a:blip r:embed="rId3">
            <a:alphaModFix/>
          </a:blip>
          <a:stretch>
            <a:fillRect/>
          </a:stretch>
        </p:blipFill>
        <p:spPr>
          <a:xfrm>
            <a:off x="2357036" y="1046700"/>
            <a:ext cx="6727664" cy="4096801"/>
          </a:xfrm>
          <a:prstGeom prst="rect">
            <a:avLst/>
          </a:prstGeom>
          <a:noFill/>
          <a:ln>
            <a:noFill/>
          </a:ln>
        </p:spPr>
      </p:pic>
      <p:sp>
        <p:nvSpPr>
          <p:cNvPr id="186" name="Google Shape;186;p34"/>
          <p:cNvSpPr txBox="1"/>
          <p:nvPr/>
        </p:nvSpPr>
        <p:spPr>
          <a:xfrm>
            <a:off x="0" y="651075"/>
            <a:ext cx="3322800" cy="1847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You can introduce as many hidden layers as you want.</a:t>
            </a:r>
            <a:endParaRPr sz="1800"/>
          </a:p>
          <a:p>
            <a:pPr indent="-342900" lvl="0" marL="457200" rtl="0" algn="l">
              <a:spcBef>
                <a:spcPts val="0"/>
              </a:spcBef>
              <a:spcAft>
                <a:spcPts val="0"/>
              </a:spcAft>
              <a:buSzPts val="1800"/>
              <a:buChar char="●"/>
            </a:pPr>
            <a:r>
              <a:rPr lang="en" sz="1800"/>
              <a:t>Every time you add a hidden layer, you add a set of weights.</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35"/>
          <p:cNvPicPr preferRelativeResize="0"/>
          <p:nvPr/>
        </p:nvPicPr>
        <p:blipFill>
          <a:blip r:embed="rId3">
            <a:alphaModFix/>
          </a:blip>
          <a:stretch>
            <a:fillRect/>
          </a:stretch>
        </p:blipFill>
        <p:spPr>
          <a:xfrm>
            <a:off x="48900" y="412375"/>
            <a:ext cx="5612875" cy="4637801"/>
          </a:xfrm>
          <a:prstGeom prst="rect">
            <a:avLst/>
          </a:prstGeom>
          <a:noFill/>
          <a:ln>
            <a:noFill/>
          </a:ln>
        </p:spPr>
      </p:pic>
      <p:pic>
        <p:nvPicPr>
          <p:cNvPr id="192" name="Google Shape;192;p35"/>
          <p:cNvPicPr preferRelativeResize="0"/>
          <p:nvPr/>
        </p:nvPicPr>
        <p:blipFill>
          <a:blip r:embed="rId4">
            <a:alphaModFix/>
          </a:blip>
          <a:stretch>
            <a:fillRect/>
          </a:stretch>
        </p:blipFill>
        <p:spPr>
          <a:xfrm>
            <a:off x="5204975" y="0"/>
            <a:ext cx="3939026" cy="23986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Interpreting the Hidden Layer</a:t>
            </a:r>
            <a:endParaRPr/>
          </a:p>
        </p:txBody>
      </p:sp>
      <p:pic>
        <p:nvPicPr>
          <p:cNvPr id="198" name="Google Shape;198;p36"/>
          <p:cNvPicPr preferRelativeResize="0"/>
          <p:nvPr/>
        </p:nvPicPr>
        <p:blipFill>
          <a:blip r:embed="rId3">
            <a:alphaModFix/>
          </a:blip>
          <a:stretch>
            <a:fillRect/>
          </a:stretch>
        </p:blipFill>
        <p:spPr>
          <a:xfrm>
            <a:off x="102525" y="494531"/>
            <a:ext cx="8520601" cy="4576096"/>
          </a:xfrm>
          <a:prstGeom prst="rect">
            <a:avLst/>
          </a:prstGeom>
          <a:noFill/>
          <a:ln>
            <a:noFill/>
          </a:ln>
        </p:spPr>
      </p:pic>
      <p:sp>
        <p:nvSpPr>
          <p:cNvPr id="199" name="Google Shape;199;p36"/>
          <p:cNvSpPr txBox="1"/>
          <p:nvPr/>
        </p:nvSpPr>
        <p:spPr>
          <a:xfrm>
            <a:off x="6727791" y="2311320"/>
            <a:ext cx="2660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Each hidden neuron is responsible for certain features.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Given an object, the network </a:t>
            </a:r>
            <a:r>
              <a:rPr lang="en" sz="1800"/>
              <a:t>identifies</a:t>
            </a:r>
            <a:r>
              <a:rPr lang="en" sz="1800"/>
              <a:t> the most likely features.</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7"/>
          <p:cNvPicPr preferRelativeResize="0"/>
          <p:nvPr/>
        </p:nvPicPr>
        <p:blipFill>
          <a:blip r:embed="rId3">
            <a:alphaModFix/>
          </a:blip>
          <a:stretch>
            <a:fillRect/>
          </a:stretch>
        </p:blipFill>
        <p:spPr>
          <a:xfrm>
            <a:off x="5345850" y="0"/>
            <a:ext cx="3798151" cy="5143500"/>
          </a:xfrm>
          <a:prstGeom prst="rect">
            <a:avLst/>
          </a:prstGeom>
          <a:noFill/>
          <a:ln>
            <a:noFill/>
          </a:ln>
        </p:spPr>
      </p:pic>
      <p:pic>
        <p:nvPicPr>
          <p:cNvPr id="205" name="Google Shape;205;p37"/>
          <p:cNvPicPr preferRelativeResize="0"/>
          <p:nvPr/>
        </p:nvPicPr>
        <p:blipFill>
          <a:blip r:embed="rId4">
            <a:alphaModFix/>
          </a:blip>
          <a:stretch>
            <a:fillRect/>
          </a:stretch>
        </p:blipFill>
        <p:spPr>
          <a:xfrm>
            <a:off x="810874" y="971175"/>
            <a:ext cx="3407301" cy="3974350"/>
          </a:xfrm>
          <a:prstGeom prst="rect">
            <a:avLst/>
          </a:prstGeom>
          <a:noFill/>
          <a:ln>
            <a:noFill/>
          </a:ln>
        </p:spPr>
      </p:pic>
      <p:sp>
        <p:nvSpPr>
          <p:cNvPr id="206" name="Google Shape;206;p3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Interpreting the Hidden Layer contd…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38"/>
          <p:cNvPicPr preferRelativeResize="0"/>
          <p:nvPr/>
        </p:nvPicPr>
        <p:blipFill>
          <a:blip r:embed="rId3">
            <a:alphaModFix/>
          </a:blip>
          <a:stretch>
            <a:fillRect/>
          </a:stretch>
        </p:blipFill>
        <p:spPr>
          <a:xfrm>
            <a:off x="0" y="274125"/>
            <a:ext cx="7661150" cy="4869375"/>
          </a:xfrm>
          <a:prstGeom prst="rect">
            <a:avLst/>
          </a:prstGeom>
          <a:noFill/>
          <a:ln>
            <a:noFill/>
          </a:ln>
        </p:spPr>
      </p:pic>
      <p:sp>
        <p:nvSpPr>
          <p:cNvPr id="212" name="Google Shape;212;p38"/>
          <p:cNvSpPr txBox="1"/>
          <p:nvPr>
            <p:ph type="title"/>
          </p:nvPr>
        </p:nvSpPr>
        <p:spPr>
          <a:xfrm>
            <a:off x="105525"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Single-Layer Perceptron</a:t>
            </a:r>
            <a:endParaRPr/>
          </a:p>
        </p:txBody>
      </p:sp>
      <p:pic>
        <p:nvPicPr>
          <p:cNvPr id="213" name="Google Shape;213;p38"/>
          <p:cNvPicPr preferRelativeResize="0"/>
          <p:nvPr/>
        </p:nvPicPr>
        <p:blipFill>
          <a:blip r:embed="rId4">
            <a:alphaModFix/>
          </a:blip>
          <a:stretch>
            <a:fillRect/>
          </a:stretch>
        </p:blipFill>
        <p:spPr>
          <a:xfrm>
            <a:off x="4710775" y="3672075"/>
            <a:ext cx="4433225" cy="1471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0" y="86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we efficiently learn the weights?</a:t>
            </a:r>
            <a:endParaRPr/>
          </a:p>
        </p:txBody>
      </p:sp>
      <p:pic>
        <p:nvPicPr>
          <p:cNvPr id="219" name="Google Shape;219;p39"/>
          <p:cNvPicPr preferRelativeResize="0"/>
          <p:nvPr/>
        </p:nvPicPr>
        <p:blipFill>
          <a:blip r:embed="rId3">
            <a:alphaModFix/>
          </a:blip>
          <a:stretch>
            <a:fillRect/>
          </a:stretch>
        </p:blipFill>
        <p:spPr>
          <a:xfrm>
            <a:off x="64575" y="659625"/>
            <a:ext cx="7066166" cy="4342399"/>
          </a:xfrm>
          <a:prstGeom prst="rect">
            <a:avLst/>
          </a:prstGeom>
          <a:noFill/>
          <a:ln>
            <a:noFill/>
          </a:ln>
        </p:spPr>
      </p:pic>
      <p:pic>
        <p:nvPicPr>
          <p:cNvPr id="220" name="Google Shape;220;p39"/>
          <p:cNvPicPr preferRelativeResize="0"/>
          <p:nvPr/>
        </p:nvPicPr>
        <p:blipFill>
          <a:blip r:embed="rId4">
            <a:alphaModFix/>
          </a:blip>
          <a:stretch>
            <a:fillRect/>
          </a:stretch>
        </p:blipFill>
        <p:spPr>
          <a:xfrm>
            <a:off x="6274200" y="2772250"/>
            <a:ext cx="2869799" cy="2371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6" name="Google Shape;22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7" name="Google Shape;227;p40"/>
          <p:cNvPicPr preferRelativeResize="0"/>
          <p:nvPr/>
        </p:nvPicPr>
        <p:blipFill>
          <a:blip r:embed="rId3">
            <a:alphaModFix/>
          </a:blip>
          <a:stretch>
            <a:fillRect/>
          </a:stretch>
        </p:blipFill>
        <p:spPr>
          <a:xfrm>
            <a:off x="229537" y="0"/>
            <a:ext cx="8684927" cy="5143500"/>
          </a:xfrm>
          <a:prstGeom prst="rect">
            <a:avLst/>
          </a:prstGeom>
          <a:noFill/>
          <a:ln>
            <a:noFill/>
          </a:ln>
        </p:spPr>
      </p:pic>
      <p:sp>
        <p:nvSpPr>
          <p:cNvPr id="228" name="Google Shape;228;p40"/>
          <p:cNvSpPr txBox="1"/>
          <p:nvPr/>
        </p:nvSpPr>
        <p:spPr>
          <a:xfrm>
            <a:off x="5447325" y="4362200"/>
            <a:ext cx="3696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Convolutional Neural Network</a:t>
            </a:r>
            <a:endParaRPr sz="180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4" name="Google Shape;23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5" name="Google Shape;235;p41"/>
          <p:cNvPicPr preferRelativeResize="0"/>
          <p:nvPr/>
        </p:nvPicPr>
        <p:blipFill>
          <a:blip r:embed="rId3">
            <a:alphaModFix/>
          </a:blip>
          <a:stretch>
            <a:fillRect/>
          </a:stretch>
        </p:blipFill>
        <p:spPr>
          <a:xfrm>
            <a:off x="43900" y="1259373"/>
            <a:ext cx="9143999" cy="292955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Max pooling layer</a:t>
            </a:r>
            <a:endParaRPr/>
          </a:p>
        </p:txBody>
      </p:sp>
      <p:pic>
        <p:nvPicPr>
          <p:cNvPr id="241" name="Google Shape;241;p42"/>
          <p:cNvPicPr preferRelativeResize="0"/>
          <p:nvPr/>
        </p:nvPicPr>
        <p:blipFill>
          <a:blip r:embed="rId3">
            <a:alphaModFix/>
          </a:blip>
          <a:stretch>
            <a:fillRect/>
          </a:stretch>
        </p:blipFill>
        <p:spPr>
          <a:xfrm>
            <a:off x="1639850" y="1328725"/>
            <a:ext cx="5734050" cy="2486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43"/>
          <p:cNvPicPr preferRelativeResize="0"/>
          <p:nvPr/>
        </p:nvPicPr>
        <p:blipFill>
          <a:blip r:embed="rId3">
            <a:alphaModFix/>
          </a:blip>
          <a:stretch>
            <a:fillRect/>
          </a:stretch>
        </p:blipFill>
        <p:spPr>
          <a:xfrm>
            <a:off x="4280502" y="0"/>
            <a:ext cx="4863498" cy="3749899"/>
          </a:xfrm>
          <a:prstGeom prst="rect">
            <a:avLst/>
          </a:prstGeom>
          <a:noFill/>
          <a:ln>
            <a:noFill/>
          </a:ln>
        </p:spPr>
      </p:pic>
      <p:pic>
        <p:nvPicPr>
          <p:cNvPr id="247" name="Google Shape;247;p43"/>
          <p:cNvPicPr preferRelativeResize="0"/>
          <p:nvPr/>
        </p:nvPicPr>
        <p:blipFill>
          <a:blip r:embed="rId4">
            <a:alphaModFix/>
          </a:blip>
          <a:stretch>
            <a:fillRect/>
          </a:stretch>
        </p:blipFill>
        <p:spPr>
          <a:xfrm>
            <a:off x="45575" y="3749900"/>
            <a:ext cx="5772874" cy="1393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Recurrent Neural Network</a:t>
            </a:r>
            <a:endParaRPr/>
          </a:p>
        </p:txBody>
      </p:sp>
      <p:sp>
        <p:nvSpPr>
          <p:cNvPr id="253" name="Google Shape;253;p44"/>
          <p:cNvSpPr txBox="1"/>
          <p:nvPr>
            <p:ph idx="1" type="body"/>
          </p:nvPr>
        </p:nvSpPr>
        <p:spPr>
          <a:xfrm>
            <a:off x="45575" y="1152475"/>
            <a:ext cx="8930700" cy="1770900"/>
          </a:xfrm>
          <a:prstGeom prst="rect">
            <a:avLst/>
          </a:prstGeom>
        </p:spPr>
        <p:txBody>
          <a:bodyPr anchorCtr="0" anchor="t" bIns="91425" lIns="91425" spcFirstLastPara="1" rIns="91425" wrap="square" tIns="91425">
            <a:normAutofit/>
          </a:bodyPr>
          <a:lstStyle/>
          <a:p>
            <a:pPr indent="-355600" lvl="0" marL="457200" rtl="0" algn="just">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A Recurrent Neural Network (RNN) is a type of neural network designed to process sequential data, where the order of the inputs matters.</a:t>
            </a:r>
            <a:endParaRPr sz="2000">
              <a:solidFill>
                <a:schemeClr val="dk1"/>
              </a:solidFill>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Unlike standard (feedforward) neural networks, RNNs have feedback connections that allow information to persist across time steps.</a:t>
            </a:r>
            <a:endParaRPr sz="2000">
              <a:solidFill>
                <a:schemeClr val="dk1"/>
              </a:solidFill>
              <a:latin typeface="Times New Roman"/>
              <a:ea typeface="Times New Roman"/>
              <a:cs typeface="Times New Roman"/>
              <a:sym typeface="Times New Roman"/>
            </a:endParaRPr>
          </a:p>
        </p:txBody>
      </p:sp>
      <p:pic>
        <p:nvPicPr>
          <p:cNvPr id="254" name="Google Shape;254;p44"/>
          <p:cNvPicPr preferRelativeResize="0"/>
          <p:nvPr/>
        </p:nvPicPr>
        <p:blipFill rotWithShape="1">
          <a:blip r:embed="rId3">
            <a:alphaModFix/>
          </a:blip>
          <a:srcRect b="18105" l="0" r="79920" t="8446"/>
          <a:stretch/>
        </p:blipFill>
        <p:spPr>
          <a:xfrm>
            <a:off x="7335461" y="2662900"/>
            <a:ext cx="1836024" cy="2408975"/>
          </a:xfrm>
          <a:prstGeom prst="rect">
            <a:avLst/>
          </a:prstGeom>
          <a:noFill/>
          <a:ln>
            <a:noFill/>
          </a:ln>
        </p:spPr>
      </p:pic>
      <p:sp>
        <p:nvSpPr>
          <p:cNvPr id="255" name="Google Shape;255;p44"/>
          <p:cNvSpPr txBox="1"/>
          <p:nvPr/>
        </p:nvSpPr>
        <p:spPr>
          <a:xfrm>
            <a:off x="45581" y="2847377"/>
            <a:ext cx="7127100" cy="20292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The network receives one input at a time:  example, one word in a sentence</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It updates an internal hidden state that stores information about previous steps.</a:t>
            </a:r>
            <a:endParaRPr sz="2000">
              <a:solidFill>
                <a:schemeClr val="dk1"/>
              </a:solidFill>
              <a:latin typeface="Times New Roman"/>
              <a:ea typeface="Times New Roman"/>
              <a:cs typeface="Times New Roman"/>
              <a:sym typeface="Times New Roman"/>
            </a:endParaRPr>
          </a:p>
          <a:p>
            <a:pPr indent="-355600" lvl="0" marL="457200" rtl="0" algn="just">
              <a:lnSpc>
                <a:spcPct val="11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This hidden state is reused at the next time step, forming a recurrent loop.</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45"/>
          <p:cNvPicPr preferRelativeResize="0"/>
          <p:nvPr/>
        </p:nvPicPr>
        <p:blipFill>
          <a:blip r:embed="rId3">
            <a:alphaModFix/>
          </a:blip>
          <a:stretch>
            <a:fillRect/>
          </a:stretch>
        </p:blipFill>
        <p:spPr>
          <a:xfrm>
            <a:off x="2326868" y="2833475"/>
            <a:ext cx="6439925" cy="2310025"/>
          </a:xfrm>
          <a:prstGeom prst="rect">
            <a:avLst/>
          </a:prstGeom>
          <a:noFill/>
          <a:ln>
            <a:noFill/>
          </a:ln>
        </p:spPr>
      </p:pic>
      <p:sp>
        <p:nvSpPr>
          <p:cNvPr id="261" name="Google Shape;261;p45"/>
          <p:cNvSpPr txBox="1"/>
          <p:nvPr/>
        </p:nvSpPr>
        <p:spPr>
          <a:xfrm>
            <a:off x="0" y="0"/>
            <a:ext cx="8995200" cy="35709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A recurrent neural network can be thought of as multiple copies of the same network, each passing a message to a successor. </a:t>
            </a:r>
            <a:endParaRPr sz="2000">
              <a:solidFill>
                <a:schemeClr val="dk1"/>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RNNs shown incredible success to a variety of problems: speech recognition, language modeling, translation, image captioning etc..</a:t>
            </a:r>
            <a:endParaRPr sz="2000">
              <a:solidFill>
                <a:schemeClr val="dk1"/>
              </a:solidFill>
              <a:highlight>
                <a:srgbClr val="FFFFFF"/>
              </a:highlight>
              <a:latin typeface="Times New Roman"/>
              <a:ea typeface="Times New Roman"/>
              <a:cs typeface="Times New Roman"/>
              <a:sym typeface="Times New Roman"/>
            </a:endParaRPr>
          </a:p>
          <a:p>
            <a:pPr indent="-355600" lvl="0" marL="457200" rtl="0" algn="just">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For example, consider a language model trying to predict the next word based on the previous ones. If we are trying to predict the last word in “the clouds are in the sky,” we don’t need any further context – it’s pretty obvious the next word is going to be sky. In such cases, where the gap between the relevant information and the place that it’s needed is small, RNNs can learn to use the past information.</a:t>
            </a:r>
            <a:endParaRPr sz="2000">
              <a:solidFill>
                <a:schemeClr val="dk1"/>
              </a:solidFill>
              <a:highlight>
                <a:srgbClr val="FFFFFF"/>
              </a:highlight>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46"/>
          <p:cNvPicPr preferRelativeResize="0"/>
          <p:nvPr/>
        </p:nvPicPr>
        <p:blipFill>
          <a:blip r:embed="rId3">
            <a:alphaModFix/>
          </a:blip>
          <a:stretch>
            <a:fillRect/>
          </a:stretch>
        </p:blipFill>
        <p:spPr>
          <a:xfrm>
            <a:off x="1274510" y="2140125"/>
            <a:ext cx="2558590" cy="2955300"/>
          </a:xfrm>
          <a:prstGeom prst="rect">
            <a:avLst/>
          </a:prstGeom>
          <a:noFill/>
          <a:ln>
            <a:noFill/>
          </a:ln>
        </p:spPr>
      </p:pic>
      <p:pic>
        <p:nvPicPr>
          <p:cNvPr id="267" name="Google Shape;267;p46"/>
          <p:cNvPicPr preferRelativeResize="0"/>
          <p:nvPr/>
        </p:nvPicPr>
        <p:blipFill rotWithShape="1">
          <a:blip r:embed="rId4">
            <a:alphaModFix/>
          </a:blip>
          <a:srcRect b="0" l="0" r="79531" t="0"/>
          <a:stretch/>
        </p:blipFill>
        <p:spPr>
          <a:xfrm>
            <a:off x="5712038" y="2213962"/>
            <a:ext cx="2717637" cy="3003375"/>
          </a:xfrm>
          <a:prstGeom prst="rect">
            <a:avLst/>
          </a:prstGeom>
          <a:noFill/>
          <a:ln>
            <a:noFill/>
          </a:ln>
        </p:spPr>
      </p:pic>
      <p:sp>
        <p:nvSpPr>
          <p:cNvPr id="268" name="Google Shape;268;p46"/>
          <p:cNvSpPr txBox="1"/>
          <p:nvPr/>
        </p:nvSpPr>
        <p:spPr>
          <a:xfrm>
            <a:off x="0" y="87000"/>
            <a:ext cx="8995200" cy="2955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But there are also cases where we need more context. Consider trying to predict the last word in the text “I grew up in France… I speak fluent French.” </a:t>
            </a:r>
            <a:endParaRPr sz="2000">
              <a:solidFill>
                <a:schemeClr val="dk1"/>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Recent information suggests that the next word is probably the name of a language, but if we want to narrow down which language, we need the context of France, from further back. It’s entirely possible for the gap between the relevant information and the point where it is needed to become very large.</a:t>
            </a:r>
            <a:endParaRPr sz="2000">
              <a:solidFill>
                <a:schemeClr val="dk1"/>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Unfortunately, as that gap grows, RNNs become unable to learn to connect the information.</a:t>
            </a:r>
            <a:endParaRPr sz="2000">
              <a:solidFill>
                <a:schemeClr val="dk1"/>
              </a:solidFill>
              <a:highlight>
                <a:srgbClr val="FFFFFF"/>
              </a:highlight>
              <a:latin typeface="Times New Roman"/>
              <a:ea typeface="Times New Roman"/>
              <a:cs typeface="Times New Roman"/>
              <a:sym typeface="Times New Roman"/>
            </a:endParaRPr>
          </a:p>
          <a:p>
            <a:pPr indent="0" lvl="0" marL="457200" rtl="0" algn="l">
              <a:spcBef>
                <a:spcPts val="0"/>
              </a:spcBef>
              <a:spcAft>
                <a:spcPts val="0"/>
              </a:spcAft>
              <a:buNone/>
            </a:pPr>
            <a:r>
              <a:t/>
            </a:r>
            <a:endParaRPr sz="2000">
              <a:solidFill>
                <a:schemeClr val="dk1"/>
              </a:solidFill>
              <a:highlight>
                <a:srgbClr val="FFFFFF"/>
              </a:highlight>
              <a:latin typeface="Times New Roman"/>
              <a:ea typeface="Times New Roman"/>
              <a:cs typeface="Times New Roman"/>
              <a:sym typeface="Times New Roman"/>
            </a:endParaRPr>
          </a:p>
        </p:txBody>
      </p:sp>
      <p:cxnSp>
        <p:nvCxnSpPr>
          <p:cNvPr id="269" name="Google Shape;269;p46"/>
          <p:cNvCxnSpPr/>
          <p:nvPr/>
        </p:nvCxnSpPr>
        <p:spPr>
          <a:xfrm flipH="1">
            <a:off x="4297538" y="3715650"/>
            <a:ext cx="1414500" cy="186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7"/>
          <p:cNvSpPr txBox="1"/>
          <p:nvPr>
            <p:ph type="title"/>
          </p:nvPr>
        </p:nvSpPr>
        <p:spPr>
          <a:xfrm>
            <a:off x="61600" y="160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RNN model</a:t>
            </a:r>
            <a:endParaRPr/>
          </a:p>
        </p:txBody>
      </p:sp>
      <p:sp>
        <p:nvSpPr>
          <p:cNvPr id="275" name="Google Shape;275;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6" name="Google Shape;276;p47"/>
          <p:cNvPicPr preferRelativeResize="0"/>
          <p:nvPr/>
        </p:nvPicPr>
        <p:blipFill>
          <a:blip r:embed="rId3">
            <a:alphaModFix/>
          </a:blip>
          <a:stretch>
            <a:fillRect/>
          </a:stretch>
        </p:blipFill>
        <p:spPr>
          <a:xfrm>
            <a:off x="0" y="732804"/>
            <a:ext cx="9144000" cy="367789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48"/>
          <p:cNvPicPr preferRelativeResize="0"/>
          <p:nvPr/>
        </p:nvPicPr>
        <p:blipFill>
          <a:blip r:embed="rId3">
            <a:alphaModFix/>
          </a:blip>
          <a:stretch>
            <a:fillRect/>
          </a:stretch>
        </p:blipFill>
        <p:spPr>
          <a:xfrm>
            <a:off x="32623" y="713246"/>
            <a:ext cx="8534639" cy="3323599"/>
          </a:xfrm>
          <a:prstGeom prst="rect">
            <a:avLst/>
          </a:prstGeom>
          <a:noFill/>
          <a:ln>
            <a:noFill/>
          </a:ln>
        </p:spPr>
      </p:pic>
      <p:sp>
        <p:nvSpPr>
          <p:cNvPr id="282" name="Google Shape;282;p48"/>
          <p:cNvSpPr txBox="1"/>
          <p:nvPr>
            <p:ph type="title"/>
          </p:nvPr>
        </p:nvSpPr>
        <p:spPr>
          <a:xfrm>
            <a:off x="39845" y="8617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LSTM cell</a:t>
            </a:r>
            <a:endParaRPr/>
          </a:p>
        </p:txBody>
      </p:sp>
      <p:sp>
        <p:nvSpPr>
          <p:cNvPr id="283" name="Google Shape;283;p48"/>
          <p:cNvSpPr txBox="1"/>
          <p:nvPr/>
        </p:nvSpPr>
        <p:spPr>
          <a:xfrm>
            <a:off x="0" y="4786800"/>
            <a:ext cx="6031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Credit: </a:t>
            </a:r>
            <a:r>
              <a:rPr lang="en" sz="1200"/>
              <a:t>https://colah.github.io/posts/2015-08-Understanding-LSTMs/</a:t>
            </a:r>
            <a:endParaRPr sz="1200"/>
          </a:p>
        </p:txBody>
      </p:sp>
      <p:pic>
        <p:nvPicPr>
          <p:cNvPr id="284" name="Google Shape;284;p48"/>
          <p:cNvPicPr preferRelativeResize="0"/>
          <p:nvPr/>
        </p:nvPicPr>
        <p:blipFill>
          <a:blip r:embed="rId4">
            <a:alphaModFix/>
          </a:blip>
          <a:stretch>
            <a:fillRect/>
          </a:stretch>
        </p:blipFill>
        <p:spPr>
          <a:xfrm>
            <a:off x="4572000" y="4134699"/>
            <a:ext cx="4572000" cy="7182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9"/>
          <p:cNvSpPr txBox="1"/>
          <p:nvPr>
            <p:ph type="title"/>
          </p:nvPr>
        </p:nvSpPr>
        <p:spPr>
          <a:xfrm>
            <a:off x="105100" y="644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2000">
                <a:highlight>
                  <a:srgbClr val="FFFFFF"/>
                </a:highlight>
                <a:latin typeface="Times New Roman"/>
                <a:ea typeface="Times New Roman"/>
                <a:cs typeface="Times New Roman"/>
                <a:sym typeface="Times New Roman"/>
              </a:rPr>
              <a:t>LSTM contd..</a:t>
            </a:r>
            <a:endParaRPr/>
          </a:p>
        </p:txBody>
      </p:sp>
      <p:sp>
        <p:nvSpPr>
          <p:cNvPr id="290" name="Google Shape;290;p49"/>
          <p:cNvSpPr txBox="1"/>
          <p:nvPr>
            <p:ph idx="1" type="body"/>
          </p:nvPr>
        </p:nvSpPr>
        <p:spPr>
          <a:xfrm>
            <a:off x="181225" y="863550"/>
            <a:ext cx="394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chemeClr val="dk1"/>
                </a:solidFill>
                <a:highlight>
                  <a:srgbClr val="FFFFFF"/>
                </a:highlight>
                <a:latin typeface="Times New Roman"/>
                <a:ea typeface="Times New Roman"/>
                <a:cs typeface="Times New Roman"/>
                <a:sym typeface="Times New Roman"/>
              </a:rPr>
              <a:t>Long Short Term Memory networks – usually just called “LSTMs” – are a special kind of RNN, capable of learning long-term dependencies. They were introduced by </a:t>
            </a:r>
            <a:r>
              <a:rPr lang="en" sz="20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val="tx"/>
                    </a:ext>
                  </a:extLst>
                </a:hlinkClick>
              </a:rPr>
              <a:t>Hochreiter &amp; Schmidhuber (1997)</a:t>
            </a: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p:txBody>
      </p:sp>
      <p:pic>
        <p:nvPicPr>
          <p:cNvPr id="291" name="Google Shape;291;p49"/>
          <p:cNvPicPr preferRelativeResize="0"/>
          <p:nvPr/>
        </p:nvPicPr>
        <p:blipFill>
          <a:blip r:embed="rId4">
            <a:alphaModFix/>
          </a:blip>
          <a:stretch>
            <a:fillRect/>
          </a:stretch>
        </p:blipFill>
        <p:spPr>
          <a:xfrm>
            <a:off x="4053189" y="1152472"/>
            <a:ext cx="5090812" cy="3416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0"/>
          <p:cNvSpPr txBox="1"/>
          <p:nvPr>
            <p:ph type="title"/>
          </p:nvPr>
        </p:nvSpPr>
        <p:spPr>
          <a:xfrm>
            <a:off x="105100" y="644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2300">
                <a:highlight>
                  <a:srgbClr val="FFFFFF"/>
                </a:highlight>
                <a:latin typeface="Times New Roman"/>
                <a:ea typeface="Times New Roman"/>
                <a:cs typeface="Times New Roman"/>
                <a:sym typeface="Times New Roman"/>
              </a:rPr>
              <a:t>LSTM contd..</a:t>
            </a:r>
            <a:endParaRPr sz="3100"/>
          </a:p>
        </p:txBody>
      </p:sp>
      <p:sp>
        <p:nvSpPr>
          <p:cNvPr id="297" name="Google Shape;297;p50"/>
          <p:cNvSpPr txBox="1"/>
          <p:nvPr>
            <p:ph idx="1" type="body"/>
          </p:nvPr>
        </p:nvSpPr>
        <p:spPr>
          <a:xfrm>
            <a:off x="181225" y="667814"/>
            <a:ext cx="8962800" cy="21639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The key to LSTMs is the cell state, the horizontal line running through the top of the diagram.</a:t>
            </a:r>
            <a:endParaRPr sz="2200">
              <a:solidFill>
                <a:schemeClr val="dk1"/>
              </a:solidFill>
              <a:highlight>
                <a:srgbClr val="FFFFFF"/>
              </a:highlight>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The cell state is kind of like a conveyor belt. </a:t>
            </a:r>
            <a:endParaRPr sz="2200">
              <a:solidFill>
                <a:schemeClr val="dk1"/>
              </a:solidFill>
              <a:highlight>
                <a:srgbClr val="FFFFFF"/>
              </a:highlight>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It runs straight down the entire chain, with only some minor linear interactions. </a:t>
            </a:r>
            <a:endParaRPr sz="2200">
              <a:solidFill>
                <a:schemeClr val="dk1"/>
              </a:solidFill>
              <a:highlight>
                <a:srgbClr val="FFFFFF"/>
              </a:highlight>
              <a:latin typeface="Times New Roman"/>
              <a:ea typeface="Times New Roman"/>
              <a:cs typeface="Times New Roman"/>
              <a:sym typeface="Times New Roman"/>
            </a:endParaRPr>
          </a:p>
        </p:txBody>
      </p:sp>
      <p:pic>
        <p:nvPicPr>
          <p:cNvPr id="298" name="Google Shape;298;p50"/>
          <p:cNvPicPr preferRelativeResize="0"/>
          <p:nvPr/>
        </p:nvPicPr>
        <p:blipFill>
          <a:blip r:embed="rId3">
            <a:alphaModFix/>
          </a:blip>
          <a:stretch>
            <a:fillRect/>
          </a:stretch>
        </p:blipFill>
        <p:spPr>
          <a:xfrm>
            <a:off x="4891850" y="2239895"/>
            <a:ext cx="4252150" cy="2853575"/>
          </a:xfrm>
          <a:prstGeom prst="rect">
            <a:avLst/>
          </a:prstGeom>
          <a:noFill/>
          <a:ln>
            <a:noFill/>
          </a:ln>
        </p:spPr>
      </p:pic>
      <p:sp>
        <p:nvSpPr>
          <p:cNvPr id="299" name="Google Shape;299;p50"/>
          <p:cNvSpPr txBox="1"/>
          <p:nvPr/>
        </p:nvSpPr>
        <p:spPr>
          <a:xfrm>
            <a:off x="165300" y="2679425"/>
            <a:ext cx="5056500" cy="21639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It’s very easy for information to just flow along it unchanged.</a:t>
            </a:r>
            <a:endParaRPr sz="2200">
              <a:solidFill>
                <a:schemeClr val="dk1"/>
              </a:solidFill>
              <a:highlight>
                <a:srgbClr val="FFFFFF"/>
              </a:highlight>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The LSTM does have the ability to remove or add information to the cell state, carefully regulated by structures called gates.</a:t>
            </a:r>
            <a:endParaRPr sz="2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1"/>
          <p:cNvSpPr txBox="1"/>
          <p:nvPr>
            <p:ph type="title"/>
          </p:nvPr>
        </p:nvSpPr>
        <p:spPr>
          <a:xfrm>
            <a:off x="192100" y="1731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Gates in LSTM cell</a:t>
            </a:r>
            <a:endParaRPr/>
          </a:p>
        </p:txBody>
      </p:sp>
      <p:sp>
        <p:nvSpPr>
          <p:cNvPr id="305" name="Google Shape;305;p51"/>
          <p:cNvSpPr txBox="1"/>
          <p:nvPr>
            <p:ph idx="1" type="body"/>
          </p:nvPr>
        </p:nvSpPr>
        <p:spPr>
          <a:xfrm>
            <a:off x="192100" y="906900"/>
            <a:ext cx="8640300" cy="36621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Char char="●"/>
            </a:pPr>
            <a:r>
              <a:rPr lang="en" sz="2200">
                <a:solidFill>
                  <a:schemeClr val="dk1"/>
                </a:solidFill>
                <a:highlight>
                  <a:srgbClr val="FFFFFF"/>
                </a:highlight>
              </a:rPr>
              <a:t>Gates are a way to optionally let information through. They are composed out of a sigmoid neural net layer and a pointwise multiplication operation.</a:t>
            </a:r>
            <a:endParaRPr sz="2200">
              <a:solidFill>
                <a:schemeClr val="dk1"/>
              </a:solidFill>
              <a:highlight>
                <a:srgbClr val="FFFFFF"/>
              </a:highlight>
            </a:endParaRPr>
          </a:p>
          <a:p>
            <a:pPr indent="-368300" lvl="0" marL="457200" rtl="0" algn="l">
              <a:spcBef>
                <a:spcPts val="0"/>
              </a:spcBef>
              <a:spcAft>
                <a:spcPts val="0"/>
              </a:spcAft>
              <a:buClr>
                <a:schemeClr val="dk1"/>
              </a:buClr>
              <a:buSzPts val="2200"/>
              <a:buChar char="●"/>
            </a:pPr>
            <a:r>
              <a:rPr lang="en" sz="2200">
                <a:solidFill>
                  <a:schemeClr val="dk1"/>
                </a:solidFill>
                <a:highlight>
                  <a:srgbClr val="FFFFFF"/>
                </a:highlight>
              </a:rPr>
              <a:t>The sigmoid layer outputs numbers between zero and one, describing how much of each component should be let through. A value of zero means “let nothing through,” while a value of one means “let everything through!”</a:t>
            </a:r>
            <a:endParaRPr sz="2200">
              <a:solidFill>
                <a:schemeClr val="dk1"/>
              </a:solidFill>
              <a:highlight>
                <a:srgbClr val="FFFFFF"/>
              </a:highlight>
            </a:endParaRPr>
          </a:p>
        </p:txBody>
      </p:sp>
      <p:pic>
        <p:nvPicPr>
          <p:cNvPr id="306" name="Google Shape;306;p51"/>
          <p:cNvPicPr preferRelativeResize="0"/>
          <p:nvPr/>
        </p:nvPicPr>
        <p:blipFill>
          <a:blip r:embed="rId3">
            <a:alphaModFix/>
          </a:blip>
          <a:stretch>
            <a:fillRect/>
          </a:stretch>
        </p:blipFill>
        <p:spPr>
          <a:xfrm>
            <a:off x="7592375" y="3377600"/>
            <a:ext cx="1326650" cy="16795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2"/>
          <p:cNvSpPr txBox="1"/>
          <p:nvPr>
            <p:ph type="title"/>
          </p:nvPr>
        </p:nvSpPr>
        <p:spPr>
          <a:xfrm>
            <a:off x="181225" y="6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t>
            </a:r>
            <a:r>
              <a:rPr lang="en"/>
              <a:t>orget gate</a:t>
            </a:r>
            <a:endParaRPr/>
          </a:p>
        </p:txBody>
      </p:sp>
      <p:sp>
        <p:nvSpPr>
          <p:cNvPr id="312" name="Google Shape;312;p52"/>
          <p:cNvSpPr txBox="1"/>
          <p:nvPr>
            <p:ph idx="1" type="body"/>
          </p:nvPr>
        </p:nvSpPr>
        <p:spPr>
          <a:xfrm>
            <a:off x="181225" y="645288"/>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The first step in our LSTM is to decide what information we’re going to throw away from the cell state. This decision is made by a sigmoid layer called the “</a:t>
            </a:r>
            <a:r>
              <a:rPr b="1" lang="en">
                <a:solidFill>
                  <a:schemeClr val="dk1"/>
                </a:solidFill>
              </a:rPr>
              <a:t>forget gate layer.</a:t>
            </a:r>
            <a:r>
              <a:rPr lang="en">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It looks at h</a:t>
            </a:r>
            <a:r>
              <a:rPr baseline="-25000" lang="en">
                <a:solidFill>
                  <a:schemeClr val="dk1"/>
                </a:solidFill>
              </a:rPr>
              <a:t>t−1</a:t>
            </a:r>
            <a:r>
              <a:rPr lang="en">
                <a:solidFill>
                  <a:schemeClr val="dk1"/>
                </a:solidFill>
              </a:rPr>
              <a:t> and x</a:t>
            </a:r>
            <a:r>
              <a:rPr baseline="-25000" lang="en">
                <a:solidFill>
                  <a:schemeClr val="dk1"/>
                </a:solidFill>
              </a:rPr>
              <a:t>t</a:t>
            </a:r>
            <a:r>
              <a:rPr lang="en">
                <a:solidFill>
                  <a:schemeClr val="dk1"/>
                </a:solidFill>
              </a:rPr>
              <a:t>, and outputs a number between 0 and 1 for each number in the cell state C</a:t>
            </a:r>
            <a:r>
              <a:rPr baseline="-25000" lang="en">
                <a:solidFill>
                  <a:schemeClr val="dk1"/>
                </a:solidFill>
              </a:rPr>
              <a:t>t−1</a:t>
            </a:r>
            <a:r>
              <a:rPr lang="en">
                <a:solidFill>
                  <a:schemeClr val="dk1"/>
                </a:solidFill>
              </a:rPr>
              <a:t>. </a:t>
            </a:r>
            <a:endParaRPr>
              <a:solidFill>
                <a:schemeClr val="dk1"/>
              </a:solidFill>
            </a:endParaRPr>
          </a:p>
        </p:txBody>
      </p:sp>
      <p:pic>
        <p:nvPicPr>
          <p:cNvPr id="313" name="Google Shape;313;p52"/>
          <p:cNvPicPr preferRelativeResize="0"/>
          <p:nvPr/>
        </p:nvPicPr>
        <p:blipFill>
          <a:blip r:embed="rId3">
            <a:alphaModFix/>
          </a:blip>
          <a:stretch>
            <a:fillRect/>
          </a:stretch>
        </p:blipFill>
        <p:spPr>
          <a:xfrm>
            <a:off x="630700" y="2351700"/>
            <a:ext cx="8157824" cy="2791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53"/>
          <p:cNvPicPr preferRelativeResize="0"/>
          <p:nvPr/>
        </p:nvPicPr>
        <p:blipFill>
          <a:blip r:embed="rId3">
            <a:alphaModFix/>
          </a:blip>
          <a:stretch>
            <a:fillRect/>
          </a:stretch>
        </p:blipFill>
        <p:spPr>
          <a:xfrm>
            <a:off x="630700" y="2351700"/>
            <a:ext cx="8157824" cy="2791800"/>
          </a:xfrm>
          <a:prstGeom prst="rect">
            <a:avLst/>
          </a:prstGeom>
          <a:noFill/>
          <a:ln>
            <a:noFill/>
          </a:ln>
        </p:spPr>
      </p:pic>
      <p:sp>
        <p:nvSpPr>
          <p:cNvPr id="319" name="Google Shape;319;p53"/>
          <p:cNvSpPr txBox="1"/>
          <p:nvPr>
            <p:ph type="title"/>
          </p:nvPr>
        </p:nvSpPr>
        <p:spPr>
          <a:xfrm>
            <a:off x="181225" y="6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Forget gate</a:t>
            </a:r>
            <a:endParaRPr/>
          </a:p>
        </p:txBody>
      </p:sp>
      <p:sp>
        <p:nvSpPr>
          <p:cNvPr id="320" name="Google Shape;320;p53"/>
          <p:cNvSpPr txBox="1"/>
          <p:nvPr>
            <p:ph idx="1" type="body"/>
          </p:nvPr>
        </p:nvSpPr>
        <p:spPr>
          <a:xfrm>
            <a:off x="191251" y="645288"/>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 sz="2000">
                <a:solidFill>
                  <a:schemeClr val="dk1"/>
                </a:solidFill>
              </a:rPr>
              <a:t>Gate output ‘1’  represents “completely keep this” while a ‘0’ represents “completely get rid of this.”</a:t>
            </a:r>
            <a:r>
              <a:rPr lang="en" sz="2000">
                <a:solidFill>
                  <a:schemeClr val="dk1"/>
                </a:solidFill>
              </a:rPr>
              <a:t> </a:t>
            </a:r>
            <a:endParaRPr sz="2000">
              <a:solidFill>
                <a:schemeClr val="dk1"/>
              </a:solidFill>
            </a:endParaRPr>
          </a:p>
          <a:p>
            <a:pPr indent="-355600" lvl="0" marL="457200" rtl="0" algn="l">
              <a:spcBef>
                <a:spcPts val="0"/>
              </a:spcBef>
              <a:spcAft>
                <a:spcPts val="0"/>
              </a:spcAft>
              <a:buClr>
                <a:schemeClr val="dk1"/>
              </a:buClr>
              <a:buSzPts val="2000"/>
              <a:buChar char="●"/>
            </a:pPr>
            <a:r>
              <a:rPr i="1" lang="en" sz="2000">
                <a:solidFill>
                  <a:schemeClr val="dk1"/>
                </a:solidFill>
                <a:highlight>
                  <a:srgbClr val="FFFFFF"/>
                </a:highlight>
              </a:rPr>
              <a:t>For language translation:</a:t>
            </a:r>
            <a:r>
              <a:rPr lang="en" sz="2000">
                <a:solidFill>
                  <a:schemeClr val="dk1"/>
                </a:solidFill>
                <a:highlight>
                  <a:srgbClr val="FFFFFF"/>
                </a:highlight>
              </a:rPr>
              <a:t> The cell state might include the gender of the present subject, so that the correct pronouns can be used. When we see a new subject, we want to forget the gender of the old subject.</a:t>
            </a:r>
            <a:endParaRPr sz="20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Input Gate</a:t>
            </a:r>
            <a:endParaRPr/>
          </a:p>
        </p:txBody>
      </p:sp>
      <p:pic>
        <p:nvPicPr>
          <p:cNvPr id="326" name="Google Shape;326;p54"/>
          <p:cNvPicPr preferRelativeResize="0"/>
          <p:nvPr/>
        </p:nvPicPr>
        <p:blipFill rotWithShape="1">
          <a:blip r:embed="rId3">
            <a:alphaModFix/>
          </a:blip>
          <a:srcRect b="0" l="0" r="51721" t="0"/>
          <a:stretch/>
        </p:blipFill>
        <p:spPr>
          <a:xfrm>
            <a:off x="4777850" y="2345425"/>
            <a:ext cx="4366150" cy="2798075"/>
          </a:xfrm>
          <a:prstGeom prst="rect">
            <a:avLst/>
          </a:prstGeom>
          <a:noFill/>
          <a:ln>
            <a:noFill/>
          </a:ln>
        </p:spPr>
      </p:pic>
      <p:sp>
        <p:nvSpPr>
          <p:cNvPr id="327" name="Google Shape;327;p54"/>
          <p:cNvSpPr txBox="1"/>
          <p:nvPr/>
        </p:nvSpPr>
        <p:spPr>
          <a:xfrm>
            <a:off x="159000" y="572700"/>
            <a:ext cx="8985000" cy="11973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The next step is to decide what new information we’re going to store in the cell state. </a:t>
            </a:r>
            <a:endParaRPr sz="2000">
              <a:solidFill>
                <a:schemeClr val="dk1"/>
              </a:solidFill>
              <a:highlight>
                <a:srgbClr val="FFFFFF"/>
              </a:highlight>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 sz="2000">
                <a:solidFill>
                  <a:schemeClr val="dk1"/>
                </a:solidFill>
                <a:highlight>
                  <a:srgbClr val="FFFFFF"/>
                </a:highlight>
                <a:latin typeface="Times New Roman"/>
                <a:ea typeface="Times New Roman"/>
                <a:cs typeface="Times New Roman"/>
                <a:sym typeface="Times New Roman"/>
              </a:rPr>
              <a:t>This has two parts. First, a sigmoid layer called the “input gate layer” decides which values we’ll update. Next, a tanh layer creates a vector of new candidate values,  C</a:t>
            </a:r>
            <a:r>
              <a:rPr baseline="-25000" lang="en" sz="2000">
                <a:solidFill>
                  <a:schemeClr val="dk1"/>
                </a:solidFill>
                <a:highlight>
                  <a:srgbClr val="FFFFFF"/>
                </a:highlight>
                <a:latin typeface="Times New Roman"/>
                <a:ea typeface="Times New Roman"/>
                <a:cs typeface="Times New Roman"/>
                <a:sym typeface="Times New Roman"/>
              </a:rPr>
              <a:t>t</a:t>
            </a:r>
            <a:r>
              <a:rPr lang="en" sz="2000">
                <a:solidFill>
                  <a:schemeClr val="dk1"/>
                </a:solidFill>
                <a:highlight>
                  <a:srgbClr val="FFFFFF"/>
                </a:highlight>
                <a:latin typeface="Times New Roman"/>
                <a:ea typeface="Times New Roman"/>
                <a:cs typeface="Times New Roman"/>
                <a:sym typeface="Times New Roman"/>
              </a:rPr>
              <a:t>, that could be added to the state. In the next step, we’ll combine these two to create an update to the state.</a:t>
            </a:r>
            <a:endParaRPr sz="2000">
              <a:solidFill>
                <a:schemeClr val="dk1"/>
              </a:solidFill>
              <a:latin typeface="Times New Roman"/>
              <a:ea typeface="Times New Roman"/>
              <a:cs typeface="Times New Roman"/>
              <a:sym typeface="Times New Roman"/>
            </a:endParaRPr>
          </a:p>
        </p:txBody>
      </p:sp>
      <p:pic>
        <p:nvPicPr>
          <p:cNvPr id="328" name="Google Shape;328;p54"/>
          <p:cNvPicPr preferRelativeResize="0"/>
          <p:nvPr/>
        </p:nvPicPr>
        <p:blipFill>
          <a:blip r:embed="rId4">
            <a:alphaModFix/>
          </a:blip>
          <a:stretch>
            <a:fillRect/>
          </a:stretch>
        </p:blipFill>
        <p:spPr>
          <a:xfrm>
            <a:off x="1420388" y="2022094"/>
            <a:ext cx="329175" cy="416125"/>
          </a:xfrm>
          <a:prstGeom prst="rect">
            <a:avLst/>
          </a:prstGeom>
          <a:noFill/>
          <a:ln>
            <a:noFill/>
          </a:ln>
        </p:spPr>
      </p:pic>
      <p:sp>
        <p:nvSpPr>
          <p:cNvPr id="329" name="Google Shape;329;p54"/>
          <p:cNvSpPr txBox="1"/>
          <p:nvPr/>
        </p:nvSpPr>
        <p:spPr>
          <a:xfrm>
            <a:off x="159000" y="2948375"/>
            <a:ext cx="4456800" cy="21060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In the example of our language model, we’d want to add the gender of the new subject to the cell state, to replace the old one we’re forgetting.</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Input Gate</a:t>
            </a:r>
            <a:endParaRPr/>
          </a:p>
          <a:p>
            <a:pPr indent="0" lvl="0" marL="0" rtl="0" algn="l">
              <a:spcBef>
                <a:spcPts val="0"/>
              </a:spcBef>
              <a:spcAft>
                <a:spcPts val="0"/>
              </a:spcAft>
              <a:buNone/>
            </a:pPr>
            <a:r>
              <a:t/>
            </a:r>
            <a:endParaRPr/>
          </a:p>
        </p:txBody>
      </p:sp>
      <p:sp>
        <p:nvSpPr>
          <p:cNvPr id="335" name="Google Shape;335;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36" name="Google Shape;336;p55"/>
          <p:cNvPicPr preferRelativeResize="0"/>
          <p:nvPr/>
        </p:nvPicPr>
        <p:blipFill>
          <a:blip r:embed="rId3">
            <a:alphaModFix/>
          </a:blip>
          <a:stretch>
            <a:fillRect/>
          </a:stretch>
        </p:blipFill>
        <p:spPr>
          <a:xfrm>
            <a:off x="0" y="912454"/>
            <a:ext cx="9144000" cy="282919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type="title"/>
          </p:nvPr>
        </p:nvSpPr>
        <p:spPr>
          <a:xfrm>
            <a:off x="495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Update Cell Sate</a:t>
            </a:r>
            <a:endParaRPr/>
          </a:p>
        </p:txBody>
      </p:sp>
      <p:sp>
        <p:nvSpPr>
          <p:cNvPr id="342" name="Google Shape;342;p56"/>
          <p:cNvSpPr txBox="1"/>
          <p:nvPr>
            <p:ph idx="1" type="body"/>
          </p:nvPr>
        </p:nvSpPr>
        <p:spPr>
          <a:xfrm>
            <a:off x="49550" y="572700"/>
            <a:ext cx="8520600" cy="9453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rgbClr val="333333"/>
              </a:buClr>
              <a:buSzPts val="2000"/>
              <a:buFont typeface="Times New Roman"/>
              <a:buChar char="●"/>
            </a:pPr>
            <a:r>
              <a:rPr lang="en" sz="2000">
                <a:solidFill>
                  <a:srgbClr val="333333"/>
                </a:solidFill>
                <a:highlight>
                  <a:srgbClr val="FFFFFF"/>
                </a:highlight>
                <a:latin typeface="Times New Roman"/>
                <a:ea typeface="Times New Roman"/>
                <a:cs typeface="Times New Roman"/>
                <a:sym typeface="Times New Roman"/>
              </a:rPr>
              <a:t>Now it’s now time to update the old cell state, C</a:t>
            </a:r>
            <a:r>
              <a:rPr baseline="-25000" lang="en" sz="2000">
                <a:solidFill>
                  <a:srgbClr val="333333"/>
                </a:solidFill>
                <a:highlight>
                  <a:srgbClr val="FFFFFF"/>
                </a:highlight>
                <a:latin typeface="Times New Roman"/>
                <a:ea typeface="Times New Roman"/>
                <a:cs typeface="Times New Roman"/>
                <a:sym typeface="Times New Roman"/>
              </a:rPr>
              <a:t>t−1</a:t>
            </a:r>
            <a:r>
              <a:rPr lang="en" sz="2000">
                <a:solidFill>
                  <a:srgbClr val="333333"/>
                </a:solidFill>
                <a:highlight>
                  <a:srgbClr val="FFFFFF"/>
                </a:highlight>
                <a:latin typeface="Times New Roman"/>
                <a:ea typeface="Times New Roman"/>
                <a:cs typeface="Times New Roman"/>
                <a:sym typeface="Times New Roman"/>
              </a:rPr>
              <a:t>, into the new cell state C</a:t>
            </a:r>
            <a:r>
              <a:rPr baseline="-25000" lang="en" sz="2000">
                <a:solidFill>
                  <a:srgbClr val="333333"/>
                </a:solidFill>
                <a:highlight>
                  <a:srgbClr val="FFFFFF"/>
                </a:highlight>
                <a:latin typeface="Times New Roman"/>
                <a:ea typeface="Times New Roman"/>
                <a:cs typeface="Times New Roman"/>
                <a:sym typeface="Times New Roman"/>
              </a:rPr>
              <a:t>t</a:t>
            </a:r>
            <a:r>
              <a:rPr lang="en" sz="2000">
                <a:solidFill>
                  <a:srgbClr val="333333"/>
                </a:solidFill>
                <a:highlight>
                  <a:srgbClr val="FFFFFF"/>
                </a:highlight>
                <a:latin typeface="Times New Roman"/>
                <a:ea typeface="Times New Roman"/>
                <a:cs typeface="Times New Roman"/>
                <a:sym typeface="Times New Roman"/>
              </a:rPr>
              <a:t>.</a:t>
            </a:r>
            <a:endParaRPr sz="2000">
              <a:solidFill>
                <a:srgbClr val="333333"/>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333333"/>
              </a:buClr>
              <a:buSzPts val="2000"/>
              <a:buFont typeface="Times New Roman"/>
              <a:buChar char="●"/>
            </a:pPr>
            <a:r>
              <a:rPr lang="en" sz="2000">
                <a:solidFill>
                  <a:srgbClr val="333333"/>
                </a:solidFill>
                <a:highlight>
                  <a:srgbClr val="FFFFFF"/>
                </a:highlight>
                <a:latin typeface="Times New Roman"/>
                <a:ea typeface="Times New Roman"/>
                <a:cs typeface="Times New Roman"/>
                <a:sym typeface="Times New Roman"/>
              </a:rPr>
              <a:t>The previous steps already decided what to do, we just need to actually do it.</a:t>
            </a:r>
            <a:endParaRPr sz="2000">
              <a:latin typeface="Times New Roman"/>
              <a:ea typeface="Times New Roman"/>
              <a:cs typeface="Times New Roman"/>
              <a:sym typeface="Times New Roman"/>
            </a:endParaRPr>
          </a:p>
        </p:txBody>
      </p:sp>
      <p:pic>
        <p:nvPicPr>
          <p:cNvPr id="343" name="Google Shape;343;p56"/>
          <p:cNvPicPr preferRelativeResize="0"/>
          <p:nvPr/>
        </p:nvPicPr>
        <p:blipFill>
          <a:blip r:embed="rId3">
            <a:alphaModFix/>
          </a:blip>
          <a:stretch>
            <a:fillRect/>
          </a:stretch>
        </p:blipFill>
        <p:spPr>
          <a:xfrm>
            <a:off x="0" y="1854325"/>
            <a:ext cx="9143999" cy="3269941"/>
          </a:xfrm>
          <a:prstGeom prst="rect">
            <a:avLst/>
          </a:prstGeom>
          <a:noFill/>
          <a:ln>
            <a:noFill/>
          </a:ln>
        </p:spPr>
      </p:pic>
      <p:pic>
        <p:nvPicPr>
          <p:cNvPr id="344" name="Google Shape;344;p56"/>
          <p:cNvPicPr preferRelativeResize="0"/>
          <p:nvPr/>
        </p:nvPicPr>
        <p:blipFill>
          <a:blip r:embed="rId4">
            <a:alphaModFix/>
          </a:blip>
          <a:stretch>
            <a:fillRect/>
          </a:stretch>
        </p:blipFill>
        <p:spPr>
          <a:xfrm>
            <a:off x="0" y="1470592"/>
            <a:ext cx="9144000" cy="91896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ph type="title"/>
          </p:nvPr>
        </p:nvSpPr>
        <p:spPr>
          <a:xfrm>
            <a:off x="495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50" name="Google Shape;350;p57"/>
          <p:cNvSpPr txBox="1"/>
          <p:nvPr>
            <p:ph idx="1" type="body"/>
          </p:nvPr>
        </p:nvSpPr>
        <p:spPr>
          <a:xfrm>
            <a:off x="49550" y="572700"/>
            <a:ext cx="9094500" cy="9453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Clr>
                <a:srgbClr val="333333"/>
              </a:buClr>
              <a:buSzPts val="1900"/>
              <a:buFont typeface="Times New Roman"/>
              <a:buChar char="●"/>
            </a:pPr>
            <a:r>
              <a:rPr lang="en" sz="1900">
                <a:solidFill>
                  <a:srgbClr val="333333"/>
                </a:solidFill>
                <a:highlight>
                  <a:srgbClr val="FFFFFF"/>
                </a:highlight>
                <a:latin typeface="Times New Roman"/>
                <a:ea typeface="Times New Roman"/>
                <a:cs typeface="Times New Roman"/>
                <a:sym typeface="Times New Roman"/>
              </a:rPr>
              <a:t>In the case of the language model, this is where we’d actually drop the information about the old subject’s gender and add the new information, as we decided in the previous steps.</a:t>
            </a:r>
            <a:endParaRPr sz="1900">
              <a:solidFill>
                <a:srgbClr val="333333"/>
              </a:solidFill>
              <a:highlight>
                <a:srgbClr val="FFFFFF"/>
              </a:highlight>
              <a:latin typeface="Times New Roman"/>
              <a:ea typeface="Times New Roman"/>
              <a:cs typeface="Times New Roman"/>
              <a:sym typeface="Times New Roman"/>
            </a:endParaRPr>
          </a:p>
        </p:txBody>
      </p:sp>
      <p:pic>
        <p:nvPicPr>
          <p:cNvPr id="351" name="Google Shape;351;p57"/>
          <p:cNvPicPr preferRelativeResize="0"/>
          <p:nvPr/>
        </p:nvPicPr>
        <p:blipFill>
          <a:blip r:embed="rId3">
            <a:alphaModFix/>
          </a:blip>
          <a:stretch>
            <a:fillRect/>
          </a:stretch>
        </p:blipFill>
        <p:spPr>
          <a:xfrm>
            <a:off x="2169848" y="2670300"/>
            <a:ext cx="6916001" cy="2473200"/>
          </a:xfrm>
          <a:prstGeom prst="rect">
            <a:avLst/>
          </a:prstGeom>
          <a:noFill/>
          <a:ln>
            <a:noFill/>
          </a:ln>
        </p:spPr>
      </p:pic>
      <p:pic>
        <p:nvPicPr>
          <p:cNvPr id="352" name="Google Shape;352;p57"/>
          <p:cNvPicPr preferRelativeResize="0"/>
          <p:nvPr/>
        </p:nvPicPr>
        <p:blipFill>
          <a:blip r:embed="rId4">
            <a:alphaModFix/>
          </a:blip>
          <a:stretch>
            <a:fillRect/>
          </a:stretch>
        </p:blipFill>
        <p:spPr>
          <a:xfrm>
            <a:off x="0" y="1751329"/>
            <a:ext cx="9144000" cy="91896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8"/>
          <p:cNvSpPr txBox="1"/>
          <p:nvPr>
            <p:ph type="title"/>
          </p:nvPr>
        </p:nvSpPr>
        <p:spPr>
          <a:xfrm>
            <a:off x="1104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Outpt Gate</a:t>
            </a:r>
            <a:endParaRPr/>
          </a:p>
        </p:txBody>
      </p:sp>
      <p:sp>
        <p:nvSpPr>
          <p:cNvPr id="358" name="Google Shape;358;p58"/>
          <p:cNvSpPr txBox="1"/>
          <p:nvPr>
            <p:ph idx="1" type="body"/>
          </p:nvPr>
        </p:nvSpPr>
        <p:spPr>
          <a:xfrm>
            <a:off x="110450" y="572700"/>
            <a:ext cx="8955300" cy="15903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rgbClr val="333333"/>
              </a:buClr>
              <a:buSzPts val="2000"/>
              <a:buFont typeface="Times New Roman"/>
              <a:buChar char="●"/>
            </a:pPr>
            <a:r>
              <a:rPr lang="en" sz="2000">
                <a:solidFill>
                  <a:srgbClr val="333333"/>
                </a:solidFill>
                <a:highlight>
                  <a:srgbClr val="FFFFFF"/>
                </a:highlight>
                <a:latin typeface="Times New Roman"/>
                <a:ea typeface="Times New Roman"/>
                <a:cs typeface="Times New Roman"/>
                <a:sym typeface="Times New Roman"/>
              </a:rPr>
              <a:t>Finally, we need to decide what we’re going to output. This output will be based on our cell state, but will be a filtered version. First, we run a sigmoid layer which decides what parts of the cell state we’re going to output. </a:t>
            </a:r>
            <a:endParaRPr sz="2000">
              <a:latin typeface="Times New Roman"/>
              <a:ea typeface="Times New Roman"/>
              <a:cs typeface="Times New Roman"/>
              <a:sym typeface="Times New Roman"/>
            </a:endParaRPr>
          </a:p>
        </p:txBody>
      </p:sp>
      <p:pic>
        <p:nvPicPr>
          <p:cNvPr id="359" name="Google Shape;359;p58"/>
          <p:cNvPicPr preferRelativeResize="0"/>
          <p:nvPr/>
        </p:nvPicPr>
        <p:blipFill rotWithShape="1">
          <a:blip r:embed="rId3">
            <a:alphaModFix/>
          </a:blip>
          <a:srcRect b="0" l="0" r="48773" t="0"/>
          <a:stretch/>
        </p:blipFill>
        <p:spPr>
          <a:xfrm>
            <a:off x="4381450" y="2163025"/>
            <a:ext cx="4684301" cy="3036550"/>
          </a:xfrm>
          <a:prstGeom prst="rect">
            <a:avLst/>
          </a:prstGeom>
          <a:noFill/>
          <a:ln>
            <a:noFill/>
          </a:ln>
        </p:spPr>
      </p:pic>
      <p:sp>
        <p:nvSpPr>
          <p:cNvPr id="360" name="Google Shape;360;p58"/>
          <p:cNvSpPr txBox="1"/>
          <p:nvPr/>
        </p:nvSpPr>
        <p:spPr>
          <a:xfrm>
            <a:off x="162425" y="1967175"/>
            <a:ext cx="4218900" cy="31764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333333"/>
              </a:buClr>
              <a:buSzPts val="2000"/>
              <a:buFont typeface="Times New Roman"/>
              <a:buChar char="●"/>
            </a:pPr>
            <a:r>
              <a:rPr lang="en" sz="2000">
                <a:solidFill>
                  <a:srgbClr val="333333"/>
                </a:solidFill>
                <a:highlight>
                  <a:srgbClr val="FFFFFF"/>
                </a:highlight>
                <a:latin typeface="Times New Roman"/>
                <a:ea typeface="Times New Roman"/>
                <a:cs typeface="Times New Roman"/>
                <a:sym typeface="Times New Roman"/>
              </a:rPr>
              <a:t>Then, we put the cell state through </a:t>
            </a:r>
            <a:endParaRPr sz="2000">
              <a:solidFill>
                <a:srgbClr val="333333"/>
              </a:solidFill>
              <a:highlight>
                <a:srgbClr val="FFFFFF"/>
              </a:highlight>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i="1" lang="en" sz="2000">
                <a:solidFill>
                  <a:srgbClr val="333333"/>
                </a:solidFill>
                <a:highlight>
                  <a:srgbClr val="FFFFFF"/>
                </a:highlight>
                <a:latin typeface="Times New Roman"/>
                <a:ea typeface="Times New Roman"/>
                <a:cs typeface="Times New Roman"/>
                <a:sym typeface="Times New Roman"/>
              </a:rPr>
              <a:t>tanh</a:t>
            </a:r>
            <a:r>
              <a:rPr lang="en" sz="2000">
                <a:solidFill>
                  <a:srgbClr val="333333"/>
                </a:solidFill>
                <a:highlight>
                  <a:srgbClr val="FFFFFF"/>
                </a:highlight>
                <a:latin typeface="Times New Roman"/>
                <a:ea typeface="Times New Roman"/>
                <a:cs typeface="Times New Roman"/>
                <a:sym typeface="Times New Roman"/>
              </a:rPr>
              <a:t> (to push the values to be between −1 and 1) and multiply it by the output of the sigmoid gate, so that we only output the parts we decided to.</a:t>
            </a: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9"/>
          <p:cNvSpPr txBox="1"/>
          <p:nvPr>
            <p:ph type="title"/>
          </p:nvPr>
        </p:nvSpPr>
        <p:spPr>
          <a:xfrm>
            <a:off x="1104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Outpt Gate</a:t>
            </a:r>
            <a:endParaRPr/>
          </a:p>
        </p:txBody>
      </p:sp>
      <p:sp>
        <p:nvSpPr>
          <p:cNvPr id="366" name="Google Shape;366;p59"/>
          <p:cNvSpPr txBox="1"/>
          <p:nvPr>
            <p:ph idx="1" type="body"/>
          </p:nvPr>
        </p:nvSpPr>
        <p:spPr>
          <a:xfrm>
            <a:off x="110450" y="572700"/>
            <a:ext cx="89553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rgbClr val="333333"/>
              </a:buClr>
              <a:buSzPts val="2000"/>
              <a:buFont typeface="Times New Roman"/>
              <a:buChar char="●"/>
            </a:pPr>
            <a:r>
              <a:rPr lang="en" sz="2000">
                <a:solidFill>
                  <a:srgbClr val="333333"/>
                </a:solidFill>
                <a:highlight>
                  <a:srgbClr val="FFFFFF"/>
                </a:highlight>
                <a:latin typeface="Times New Roman"/>
                <a:ea typeface="Times New Roman"/>
                <a:cs typeface="Times New Roman"/>
                <a:sym typeface="Times New Roman"/>
              </a:rPr>
              <a:t>For the language model example, since it just saw a subject, it might want to output information relevant to a verb, in case that’s what is coming next. For example, it might output whether the subject is singular or plural, so that we know what form a verb should be conjugated into if that’s what follows next.</a:t>
            </a:r>
            <a:endParaRPr sz="2000">
              <a:solidFill>
                <a:srgbClr val="333333"/>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333333"/>
              </a:buClr>
              <a:buSzPts val="2000"/>
              <a:buFont typeface="Times New Roman"/>
              <a:buChar char="●"/>
            </a:pPr>
            <a:r>
              <a:t/>
            </a:r>
            <a:endParaRPr sz="2000">
              <a:solidFill>
                <a:srgbClr val="333333"/>
              </a:solidFill>
              <a:highlight>
                <a:srgbClr val="FFFFFF"/>
              </a:highlight>
              <a:latin typeface="Times New Roman"/>
              <a:ea typeface="Times New Roman"/>
              <a:cs typeface="Times New Roman"/>
              <a:sym typeface="Times New Roman"/>
            </a:endParaRPr>
          </a:p>
          <a:p>
            <a:pPr indent="-355600" lvl="0" marL="457200" rtl="0" algn="l">
              <a:spcBef>
                <a:spcPts val="0"/>
              </a:spcBef>
              <a:spcAft>
                <a:spcPts val="0"/>
              </a:spcAft>
              <a:buClr>
                <a:srgbClr val="333333"/>
              </a:buClr>
              <a:buSzPts val="2000"/>
              <a:buFont typeface="Times New Roman"/>
              <a:buChar char="●"/>
            </a:pPr>
            <a:r>
              <a:rPr lang="en" sz="2000">
                <a:solidFill>
                  <a:srgbClr val="333333"/>
                </a:solidFill>
                <a:highlight>
                  <a:srgbClr val="FFFFFF"/>
                </a:highlight>
                <a:latin typeface="Times New Roman"/>
                <a:ea typeface="Times New Roman"/>
                <a:cs typeface="Times New Roman"/>
                <a:sym typeface="Times New Roman"/>
              </a:rPr>
              <a:t>tanh (to push the values to be between −1 and 1) and multiply it by the output of the sigmoid gate, so that we only output the parts we decided to.</a:t>
            </a:r>
            <a:endParaRPr sz="2000">
              <a:latin typeface="Times New Roman"/>
              <a:ea typeface="Times New Roman"/>
              <a:cs typeface="Times New Roman"/>
              <a:sym typeface="Times New Roman"/>
            </a:endParaRPr>
          </a:p>
        </p:txBody>
      </p:sp>
      <p:pic>
        <p:nvPicPr>
          <p:cNvPr id="367" name="Google Shape;367;p59"/>
          <p:cNvPicPr preferRelativeResize="0"/>
          <p:nvPr/>
        </p:nvPicPr>
        <p:blipFill>
          <a:blip r:embed="rId3">
            <a:alphaModFix/>
          </a:blip>
          <a:stretch>
            <a:fillRect/>
          </a:stretch>
        </p:blipFill>
        <p:spPr>
          <a:xfrm>
            <a:off x="0" y="2062748"/>
            <a:ext cx="9144000" cy="30365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60"/>
          <p:cNvPicPr preferRelativeResize="0"/>
          <p:nvPr/>
        </p:nvPicPr>
        <p:blipFill>
          <a:blip r:embed="rId3">
            <a:alphaModFix/>
          </a:blip>
          <a:stretch>
            <a:fillRect/>
          </a:stretch>
        </p:blipFill>
        <p:spPr>
          <a:xfrm>
            <a:off x="347725" y="605850"/>
            <a:ext cx="7967674" cy="38209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1"/>
          <p:cNvSpPr txBox="1"/>
          <p:nvPr>
            <p:ph type="title"/>
          </p:nvPr>
        </p:nvSpPr>
        <p:spPr>
          <a:xfrm>
            <a:off x="141075" y="108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Versus Inference</a:t>
            </a:r>
            <a:endParaRPr/>
          </a:p>
        </p:txBody>
      </p:sp>
      <p:sp>
        <p:nvSpPr>
          <p:cNvPr id="378" name="Google Shape;378;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79" name="Google Shape;379;p61"/>
          <p:cNvPicPr preferRelativeResize="0"/>
          <p:nvPr/>
        </p:nvPicPr>
        <p:blipFill>
          <a:blip r:embed="rId3">
            <a:alphaModFix/>
          </a:blip>
          <a:stretch>
            <a:fillRect/>
          </a:stretch>
        </p:blipFill>
        <p:spPr>
          <a:xfrm>
            <a:off x="54275" y="1126468"/>
            <a:ext cx="9144000" cy="346841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62"/>
          <p:cNvPicPr preferRelativeResize="0"/>
          <p:nvPr/>
        </p:nvPicPr>
        <p:blipFill>
          <a:blip r:embed="rId3">
            <a:alphaModFix/>
          </a:blip>
          <a:stretch>
            <a:fillRect/>
          </a:stretch>
        </p:blipFill>
        <p:spPr>
          <a:xfrm>
            <a:off x="2735551" y="-16923"/>
            <a:ext cx="6307974" cy="4444250"/>
          </a:xfrm>
          <a:prstGeom prst="rect">
            <a:avLst/>
          </a:prstGeom>
          <a:noFill/>
          <a:ln>
            <a:noFill/>
          </a:ln>
        </p:spPr>
      </p:pic>
      <p:sp>
        <p:nvSpPr>
          <p:cNvPr id="385" name="Google Shape;385;p62"/>
          <p:cNvSpPr txBox="1"/>
          <p:nvPr/>
        </p:nvSpPr>
        <p:spPr>
          <a:xfrm>
            <a:off x="32554" y="4405600"/>
            <a:ext cx="9144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Fig: </a:t>
            </a:r>
            <a:r>
              <a:rPr lang="en"/>
              <a:t>TPU Block Diagram. The PCIe bus is Gen3 16. The main computation part is the light-shaded Matrix Multiply Unit in the upper-right corner. Its inputs are the medium-shaded Weight FIFO and the medium-shaded Unified Buffer and its output is the medium-shaded Accumulators. </a:t>
            </a:r>
            <a:endParaRPr/>
          </a:p>
        </p:txBody>
      </p:sp>
      <p:sp>
        <p:nvSpPr>
          <p:cNvPr id="386" name="Google Shape;386;p62"/>
          <p:cNvSpPr txBox="1"/>
          <p:nvPr/>
        </p:nvSpPr>
        <p:spPr>
          <a:xfrm>
            <a:off x="12025" y="84225"/>
            <a:ext cx="2907600" cy="10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Google TPU</a:t>
            </a:r>
            <a:endParaRPr sz="1800">
              <a:solidFill>
                <a:schemeClr val="dk2"/>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63"/>
          <p:cNvPicPr preferRelativeResize="0"/>
          <p:nvPr/>
        </p:nvPicPr>
        <p:blipFill>
          <a:blip r:embed="rId3">
            <a:alphaModFix/>
          </a:blip>
          <a:stretch>
            <a:fillRect/>
          </a:stretch>
        </p:blipFill>
        <p:spPr>
          <a:xfrm>
            <a:off x="0" y="332299"/>
            <a:ext cx="9144000" cy="462939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4"/>
          <p:cNvSpPr txBox="1"/>
          <p:nvPr>
            <p:ph type="title"/>
          </p:nvPr>
        </p:nvSpPr>
        <p:spPr>
          <a:xfrm>
            <a:off x="-2987" y="2182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Systolic data flow of the Matrix Multiply Unit.</a:t>
            </a:r>
            <a:endParaRPr/>
          </a:p>
        </p:txBody>
      </p:sp>
      <p:pic>
        <p:nvPicPr>
          <p:cNvPr id="397" name="Google Shape;397;p64"/>
          <p:cNvPicPr preferRelativeResize="0"/>
          <p:nvPr/>
        </p:nvPicPr>
        <p:blipFill>
          <a:blip r:embed="rId3">
            <a:alphaModFix/>
          </a:blip>
          <a:stretch>
            <a:fillRect/>
          </a:stretch>
        </p:blipFill>
        <p:spPr>
          <a:xfrm>
            <a:off x="2938376" y="536050"/>
            <a:ext cx="6205626" cy="460744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5"/>
          <p:cNvSpPr txBox="1"/>
          <p:nvPr>
            <p:ph type="title"/>
          </p:nvPr>
        </p:nvSpPr>
        <p:spPr>
          <a:xfrm>
            <a:off x="94675" y="2182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Floor plan of TPU die</a:t>
            </a:r>
            <a:endParaRPr/>
          </a:p>
        </p:txBody>
      </p:sp>
      <p:sp>
        <p:nvSpPr>
          <p:cNvPr id="403" name="Google Shape;403;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04" name="Google Shape;404;p65"/>
          <p:cNvPicPr preferRelativeResize="0"/>
          <p:nvPr/>
        </p:nvPicPr>
        <p:blipFill>
          <a:blip r:embed="rId3">
            <a:alphaModFix/>
          </a:blip>
          <a:stretch>
            <a:fillRect/>
          </a:stretch>
        </p:blipFill>
        <p:spPr>
          <a:xfrm>
            <a:off x="3214150" y="534450"/>
            <a:ext cx="5929851" cy="460905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6"/>
          <p:cNvSpPr txBox="1"/>
          <p:nvPr>
            <p:ph type="title"/>
          </p:nvPr>
        </p:nvSpPr>
        <p:spPr>
          <a:xfrm>
            <a:off x="216450" y="106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TPU printed circuit board</a:t>
            </a:r>
            <a:endParaRPr/>
          </a:p>
        </p:txBody>
      </p:sp>
      <p:sp>
        <p:nvSpPr>
          <p:cNvPr id="410" name="Google Shape;410;p66"/>
          <p:cNvSpPr txBox="1"/>
          <p:nvPr>
            <p:ph idx="1" type="body"/>
          </p:nvPr>
        </p:nvSpPr>
        <p:spPr>
          <a:xfrm>
            <a:off x="311700" y="1152475"/>
            <a:ext cx="18072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2000">
                <a:solidFill>
                  <a:schemeClr val="dk1"/>
                </a:solidFill>
                <a:latin typeface="Times New Roman"/>
                <a:ea typeface="Times New Roman"/>
                <a:cs typeface="Times New Roman"/>
                <a:sym typeface="Times New Roman"/>
              </a:rPr>
              <a:t>TPU</a:t>
            </a:r>
            <a:r>
              <a:rPr lang="en" sz="2000">
                <a:solidFill>
                  <a:schemeClr val="dk1"/>
                </a:solidFill>
                <a:latin typeface="Times New Roman"/>
                <a:ea typeface="Times New Roman"/>
                <a:cs typeface="Times New Roman"/>
                <a:sym typeface="Times New Roman"/>
              </a:rPr>
              <a:t> inserted into the slot for an SATA disk</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2000">
                <a:solidFill>
                  <a:schemeClr val="dk1"/>
                </a:solidFill>
                <a:latin typeface="Times New Roman"/>
                <a:ea typeface="Times New Roman"/>
                <a:cs typeface="Times New Roman"/>
                <a:sym typeface="Times New Roman"/>
              </a:rPr>
              <a:t>in a server, but the card uses the PCIe bus.</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2000">
              <a:latin typeface="Times New Roman"/>
              <a:ea typeface="Times New Roman"/>
              <a:cs typeface="Times New Roman"/>
              <a:sym typeface="Times New Roman"/>
            </a:endParaRPr>
          </a:p>
        </p:txBody>
      </p:sp>
      <p:pic>
        <p:nvPicPr>
          <p:cNvPr id="411" name="Google Shape;411;p66"/>
          <p:cNvPicPr preferRelativeResize="0"/>
          <p:nvPr/>
        </p:nvPicPr>
        <p:blipFill>
          <a:blip r:embed="rId3">
            <a:alphaModFix/>
          </a:blip>
          <a:stretch>
            <a:fillRect/>
          </a:stretch>
        </p:blipFill>
        <p:spPr>
          <a:xfrm>
            <a:off x="2227575" y="848638"/>
            <a:ext cx="6858000" cy="41433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17" name="Google Shape;417;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18" name="Google Shape;418;p67"/>
          <p:cNvPicPr preferRelativeResize="0"/>
          <p:nvPr/>
        </p:nvPicPr>
        <p:blipFill>
          <a:blip r:embed="rId3">
            <a:alphaModFix/>
          </a:blip>
          <a:stretch>
            <a:fillRect/>
          </a:stretch>
        </p:blipFill>
        <p:spPr>
          <a:xfrm>
            <a:off x="0" y="1132915"/>
            <a:ext cx="9144001" cy="287767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424" name="Google Shape;424;p6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25" name="Google Shape;425;p68"/>
          <p:cNvPicPr preferRelativeResize="0"/>
          <p:nvPr/>
        </p:nvPicPr>
        <p:blipFill>
          <a:blip r:embed="rId3">
            <a:alphaModFix/>
          </a:blip>
          <a:stretch>
            <a:fillRect/>
          </a:stretch>
        </p:blipFill>
        <p:spPr>
          <a:xfrm>
            <a:off x="0" y="1120430"/>
            <a:ext cx="9143999" cy="290264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