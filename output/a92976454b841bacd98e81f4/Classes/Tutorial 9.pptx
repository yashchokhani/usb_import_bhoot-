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8" r:id="rId2"/>
    <p:sldId id="271" r:id="rId3"/>
    <p:sldId id="259" r:id="rId4"/>
    <p:sldId id="273" r:id="rId5"/>
    <p:sldId id="272" r:id="rId6"/>
    <p:sldId id="260" r:id="rId7"/>
    <p:sldId id="274" r:id="rId8"/>
    <p:sldId id="261" r:id="rId9"/>
    <p:sldId id="265" r:id="rId10"/>
    <p:sldId id="262" r:id="rId11"/>
    <p:sldId id="263" r:id="rId12"/>
    <p:sldId id="275" r:id="rId13"/>
    <p:sldId id="276" r:id="rId14"/>
    <p:sldId id="277" r:id="rId15"/>
    <p:sldId id="264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4" autoAdjust="0"/>
    <p:restoredTop sz="86408" autoAdjust="0"/>
  </p:normalViewPr>
  <p:slideViewPr>
    <p:cSldViewPr snapToGrid="0">
      <p:cViewPr varScale="1">
        <p:scale>
          <a:sx n="58" d="100"/>
          <a:sy n="58" d="100"/>
        </p:scale>
        <p:origin x="836" y="56"/>
      </p:cViewPr>
      <p:guideLst/>
    </p:cSldViewPr>
  </p:slideViewPr>
  <p:outlineViewPr>
    <p:cViewPr>
      <p:scale>
        <a:sx n="75" d="100"/>
        <a:sy n="75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77D64-1EE2-4AA6-A5AD-1343D5D56AF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C8ED6-EB50-4E5D-80BA-D93D1A8955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46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50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72126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537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338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284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13054" y="984503"/>
            <a:ext cx="10609580" cy="114300"/>
          </a:xfrm>
          <a:custGeom>
            <a:avLst/>
            <a:gdLst/>
            <a:ahLst/>
            <a:cxnLst/>
            <a:rect l="l" t="t" r="r" b="b"/>
            <a:pathLst>
              <a:path w="10609580" h="114300">
                <a:moveTo>
                  <a:pt x="10609326" y="0"/>
                </a:moveTo>
                <a:lnTo>
                  <a:pt x="0" y="0"/>
                </a:lnTo>
                <a:lnTo>
                  <a:pt x="0" y="4572"/>
                </a:lnTo>
                <a:lnTo>
                  <a:pt x="0" y="9144"/>
                </a:lnTo>
                <a:lnTo>
                  <a:pt x="0" y="114300"/>
                </a:lnTo>
                <a:lnTo>
                  <a:pt x="6206490" y="114300"/>
                </a:lnTo>
                <a:lnTo>
                  <a:pt x="6206490" y="9144"/>
                </a:lnTo>
                <a:lnTo>
                  <a:pt x="10609326" y="9144"/>
                </a:lnTo>
                <a:lnTo>
                  <a:pt x="10609326" y="0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813053" y="6169914"/>
            <a:ext cx="10565130" cy="3175"/>
          </a:xfrm>
          <a:custGeom>
            <a:avLst/>
            <a:gdLst/>
            <a:ahLst/>
            <a:cxnLst/>
            <a:rect l="l" t="t" r="r" b="b"/>
            <a:pathLst>
              <a:path w="10565130" h="3175">
                <a:moveTo>
                  <a:pt x="10565130" y="3048"/>
                </a:moveTo>
                <a:lnTo>
                  <a:pt x="10565130" y="0"/>
                </a:lnTo>
                <a:lnTo>
                  <a:pt x="0" y="0"/>
                </a:lnTo>
                <a:lnTo>
                  <a:pt x="0" y="3048"/>
                </a:lnTo>
                <a:lnTo>
                  <a:pt x="10565130" y="3048"/>
                </a:lnTo>
                <a:close/>
              </a:path>
            </a:pathLst>
          </a:custGeom>
          <a:solidFill>
            <a:srgbClr val="CB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72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5730875" cy="154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31611" y="6276791"/>
            <a:ext cx="1130300" cy="21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AAMD BITs Pilani 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1794" y="6276028"/>
            <a:ext cx="1085214" cy="21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2988" y="6276028"/>
            <a:ext cx="384399" cy="2146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sz="1200" b="0" i="0" u="none" strike="noStrike" kern="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77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</p:sldLayoutIdLst>
  <p:hf hdr="0" ft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 smtClean="0"/>
              <a:t>Question 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10583488" cy="307777"/>
          </a:xfrm>
        </p:spPr>
        <p:txBody>
          <a:bodyPr/>
          <a:lstStyle/>
          <a:p>
            <a:r>
              <a:rPr lang="en-US" b="1" dirty="0" smtClean="0"/>
              <a:t>Ques </a:t>
            </a:r>
            <a:r>
              <a:rPr lang="en-US" b="1" dirty="0"/>
              <a:t>1</a:t>
            </a:r>
            <a:r>
              <a:rPr lang="en-US" dirty="0"/>
              <a:t>: Use Booth’s algorithm to evaluate −9×−13.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9583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74565" y="1887667"/>
            <a:ext cx="4495113" cy="37007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4756450" y="1892139"/>
            <a:ext cx="7395643" cy="24774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67011" y="3386812"/>
            <a:ext cx="3940161" cy="514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34961" y="2503153"/>
            <a:ext cx="3940161" cy="5141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003038" y="2934844"/>
            <a:ext cx="2335710" cy="104456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86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3910822" y="100708"/>
            <a:ext cx="7988711" cy="608361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50047" y="1279376"/>
            <a:ext cx="2488109" cy="4199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5808743" y="1593332"/>
            <a:ext cx="0" cy="290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353053" y="1588753"/>
            <a:ext cx="0" cy="29041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682709" y="1286571"/>
            <a:ext cx="424496" cy="4199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85" y="0"/>
            <a:ext cx="2869856" cy="137494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580" y="986026"/>
            <a:ext cx="1663786" cy="34926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663" y="-130264"/>
            <a:ext cx="1549480" cy="80014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564926" y="359533"/>
            <a:ext cx="1171467" cy="2827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flipH="1">
            <a:off x="4937761" y="588784"/>
            <a:ext cx="4817326" cy="161915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5687867" y="588784"/>
            <a:ext cx="4490966" cy="163774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6272934" y="584324"/>
            <a:ext cx="4249357" cy="165632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52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184"/>
            <a:ext cx="2654436" cy="140977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377" y="1109435"/>
            <a:ext cx="4679706" cy="240000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898" y="1196825"/>
            <a:ext cx="4899102" cy="21725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87248"/>
            <a:ext cx="3505943" cy="21436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5948" y="4154281"/>
            <a:ext cx="3562533" cy="23051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1393" y="4104425"/>
            <a:ext cx="3954144" cy="244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70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861" y="1316973"/>
            <a:ext cx="8672288" cy="446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03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97" y="1382125"/>
            <a:ext cx="5105662" cy="13780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1016" y="1370932"/>
            <a:ext cx="4102311" cy="21146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9244" y="4020395"/>
            <a:ext cx="3359323" cy="10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3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72" y="1267511"/>
            <a:ext cx="8001411" cy="219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380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815" y="1153625"/>
            <a:ext cx="8058564" cy="489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62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/>
              <a:t>Question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8523144" cy="92333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Ques 2: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Use the restoration method to find 8 divided by 3. </a:t>
            </a:r>
            <a:endParaRPr lang="en-US" dirty="0" smtClean="0">
              <a:latin typeface="fkGroteskNeue"/>
            </a:endParaRPr>
          </a:p>
          <a:p>
            <a:pPr algn="l">
              <a:buFont typeface="+mj-lt"/>
              <a:buAutoNum type="arabicPeriod"/>
            </a:pPr>
            <a:endParaRPr lang="en-US" dirty="0" smtClean="0">
              <a:latin typeface="fkGroteskNeue"/>
            </a:endParaRP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27431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632" y="1492122"/>
            <a:ext cx="4324572" cy="17780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431" y="1648182"/>
            <a:ext cx="5073911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73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13" y="1193048"/>
            <a:ext cx="8160169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807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00" y="1162333"/>
            <a:ext cx="5359675" cy="10541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46" y="2460498"/>
            <a:ext cx="5664491" cy="18923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93" y="4410261"/>
            <a:ext cx="5378726" cy="182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5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45" y="1150853"/>
            <a:ext cx="5302523" cy="179079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97" y="3035673"/>
            <a:ext cx="5264421" cy="17590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00" y="4945285"/>
            <a:ext cx="6121715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36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114" y="1296558"/>
            <a:ext cx="6255071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80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77" y="1483589"/>
            <a:ext cx="3606985" cy="1339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15760" y="1392050"/>
            <a:ext cx="6459667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+mj-lt"/>
              <a:buAutoNum type="arabicPeriod"/>
            </a:pPr>
            <a:r>
              <a:rPr lang="en-US" sz="2000" kern="0" dirty="0">
                <a:solidFill>
                  <a:prstClr val="black"/>
                </a:solidFill>
                <a:latin typeface="fkGroteskNeue"/>
              </a:rPr>
              <a:t>Shift AQ left, subtract divisor from accumulator.</a:t>
            </a:r>
          </a:p>
          <a:p>
            <a:pPr lvl="0">
              <a:buFont typeface="+mj-lt"/>
              <a:buAutoNum type="arabicPeriod"/>
            </a:pPr>
            <a:r>
              <a:rPr lang="en-US" sz="2000" kern="0" dirty="0">
                <a:solidFill>
                  <a:prstClr val="black"/>
                </a:solidFill>
                <a:latin typeface="fkGroteskNeue"/>
              </a:rPr>
              <a:t>If result is negative, undo and set quotient bit 0.</a:t>
            </a:r>
          </a:p>
          <a:p>
            <a:pPr lvl="0">
              <a:buFont typeface="+mj-lt"/>
              <a:buAutoNum type="arabicPeriod"/>
            </a:pPr>
            <a:r>
              <a:rPr lang="en-US" sz="2000" kern="0" dirty="0">
                <a:solidFill>
                  <a:prstClr val="black"/>
                </a:solidFill>
                <a:latin typeface="fkGroteskNeue"/>
              </a:rPr>
              <a:t>If result is positive, keep result and set quotient bit 1.</a:t>
            </a:r>
          </a:p>
          <a:p>
            <a:pPr lvl="0">
              <a:buFont typeface="+mj-lt"/>
              <a:buAutoNum type="arabicPeriod"/>
            </a:pPr>
            <a:r>
              <a:rPr lang="en-US" sz="2000" kern="0" dirty="0">
                <a:solidFill>
                  <a:prstClr val="black"/>
                </a:solidFill>
                <a:latin typeface="fkGroteskNeue"/>
              </a:rPr>
              <a:t>Repeat for all bits.</a:t>
            </a:r>
          </a:p>
          <a:p>
            <a:pPr lvl="0">
              <a:buFont typeface="+mj-lt"/>
              <a:buAutoNum type="arabicPeriod"/>
            </a:pPr>
            <a:r>
              <a:rPr lang="en-US" sz="2000" kern="0" dirty="0">
                <a:solidFill>
                  <a:prstClr val="black"/>
                </a:solidFill>
                <a:latin typeface="fkGroteskNeue"/>
              </a:rPr>
              <a:t>Read registers: Q = quotient, A = remainder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415" y="3851755"/>
            <a:ext cx="5150115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35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/>
              <a:t>Question </a:t>
            </a:r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10085081" cy="615553"/>
          </a:xfrm>
        </p:spPr>
        <p:txBody>
          <a:bodyPr/>
          <a:lstStyle/>
          <a:p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Ques 3: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Use the non-restoration method to find 8 divided by 3.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6906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64" y="1334039"/>
            <a:ext cx="3892750" cy="18352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511" y="1119382"/>
            <a:ext cx="6915505" cy="274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58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33" y="1237173"/>
            <a:ext cx="8083965" cy="427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55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874" y="1268203"/>
            <a:ext cx="3619686" cy="9779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424" y="1282908"/>
            <a:ext cx="5073911" cy="14351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757" y="2663299"/>
            <a:ext cx="8160169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97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347725"/>
            <a:ext cx="10593196" cy="523220"/>
          </a:xfrm>
        </p:spPr>
        <p:txBody>
          <a:bodyPr/>
          <a:lstStyle/>
          <a:p>
            <a:r>
              <a:rPr lang="en-US" dirty="0">
                <a:latin typeface="fkGroteskNeue"/>
              </a:rPr>
              <a:t>Key Points for Slides</a:t>
            </a:r>
            <a:r>
              <a:rPr lang="en-US" dirty="0" smtClean="0">
                <a:latin typeface="fkGroteskNeue"/>
              </a:rPr>
              <a:t>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550" y="1327353"/>
            <a:ext cx="10709071" cy="2154436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 smtClean="0">
                <a:latin typeface="fkGroteskNeue"/>
              </a:rPr>
              <a:t>The </a:t>
            </a:r>
            <a:r>
              <a:rPr lang="en-US" dirty="0">
                <a:latin typeface="fkGroteskNeue"/>
              </a:rPr>
              <a:t>non-restoration method alternates between subtraction and addition based on the sign of accumulator A at each cycle.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If A is negative at the end, correct once by adding 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fkGroteskNeue"/>
              </a:rPr>
              <a:t>Quotient is in Q, remainder is in A</a:t>
            </a:r>
            <a:r>
              <a:rPr lang="en-US" dirty="0" smtClean="0"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latin typeface="fkGroteskNeue"/>
              </a:rPr>
              <a:t>Final Answer: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latin typeface="fkGroteskNeue"/>
              </a:rPr>
              <a:t>Quotient = 2; Remainder = 2; </a:t>
            </a:r>
            <a:r>
              <a:rPr lang="en-US" dirty="0" smtClean="0">
                <a:latin typeface="KaTeX_Main"/>
              </a:rPr>
              <a:t>8÷3=8÷3=2</a:t>
            </a:r>
            <a:r>
              <a:rPr lang="en-US" dirty="0">
                <a:latin typeface="fkGroteskNeue"/>
              </a:rPr>
              <a:t> remainder </a:t>
            </a:r>
            <a:r>
              <a:rPr lang="en-US" dirty="0" smtClean="0">
                <a:latin typeface="KaTeX_Main"/>
              </a:rPr>
              <a:t>2</a:t>
            </a:r>
            <a:endParaRPr lang="en-US" dirty="0">
              <a:latin typeface="fkGroteskNeue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t>Neeraj Mishra</a:t>
            </a:r>
            <a:endParaRPr kumimoji="0" lang="en-US" sz="1200" b="0" i="0" u="none" strike="noStrike" kern="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34620" marR="0" lvl="0" indent="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D60167-4931-47E6-BA6A-407CBD079E47}" type="slidenum">
              <a:rPr kumimoji="0" lang="en-US" sz="1200" b="0" i="0" u="none" strike="noStrike" kern="0" cap="none" spc="-5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</a:rPr>
              <a:pPr marL="13462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3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08644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</TotalTime>
  <Words>208</Words>
  <Application>Microsoft Office PowerPoint</Application>
  <PresentationFormat>Widescreen</PresentationFormat>
  <Paragraphs>57</Paragraphs>
  <Slides>20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fkGroteskNeue</vt:lpstr>
      <vt:lpstr>KaTeX_Main</vt:lpstr>
      <vt:lpstr>Times New Roman</vt:lpstr>
      <vt:lpstr>Verdana</vt:lpstr>
      <vt:lpstr>2_Office Theme</vt:lpstr>
      <vt:lpstr>Question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3</vt:lpstr>
      <vt:lpstr>PowerPoint Presentation</vt:lpstr>
      <vt:lpstr>PowerPoint Presentation</vt:lpstr>
      <vt:lpstr>PowerPoint Presentation</vt:lpstr>
      <vt:lpstr>Key Points for Slides: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11</cp:revision>
  <dcterms:created xsi:type="dcterms:W3CDTF">2025-10-13T11:30:35Z</dcterms:created>
  <dcterms:modified xsi:type="dcterms:W3CDTF">2025-10-14T02:34:47Z</dcterms:modified>
</cp:coreProperties>
</file>