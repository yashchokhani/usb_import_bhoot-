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sldIdLst>
    <p:sldId id="256" r:id="rId2"/>
    <p:sldId id="272" r:id="rId3"/>
    <p:sldId id="282" r:id="rId4"/>
    <p:sldId id="280" r:id="rId5"/>
    <p:sldId id="281" r:id="rId6"/>
    <p:sldId id="283" r:id="rId7"/>
    <p:sldId id="284" r:id="rId8"/>
    <p:sldId id="285" r:id="rId9"/>
    <p:sldId id="257" r:id="rId10"/>
    <p:sldId id="258" r:id="rId11"/>
    <p:sldId id="269" r:id="rId12"/>
    <p:sldId id="275" r:id="rId13"/>
    <p:sldId id="276" r:id="rId14"/>
    <p:sldId id="277" r:id="rId15"/>
    <p:sldId id="278" r:id="rId16"/>
    <p:sldId id="270" r:id="rId17"/>
    <p:sldId id="265" r:id="rId18"/>
    <p:sldId id="259" r:id="rId19"/>
    <p:sldId id="261" r:id="rId20"/>
    <p:sldId id="260" r:id="rId21"/>
    <p:sldId id="262" r:id="rId22"/>
    <p:sldId id="271" r:id="rId23"/>
    <p:sldId id="263" r:id="rId24"/>
    <p:sldId id="264" r:id="rId25"/>
    <p:sldId id="273" r:id="rId26"/>
    <p:sldId id="274" r:id="rId27"/>
    <p:sldId id="286" r:id="rId28"/>
    <p:sldId id="279" r:id="rId29"/>
    <p:sldId id="268" r:id="rId30"/>
    <p:sldId id="266" r:id="rId31"/>
    <p:sldId id="26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7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09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0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8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9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9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41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9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9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54ED1-8BE4-4722-9DE3-3A6CAF4E0C8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944C2-9DB0-45C1-A2AC-860B58850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2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" y="389180"/>
            <a:ext cx="11714480" cy="6142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05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In TTL circuits, the input stage uses a special transistor called a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multi-emitter transistor</a:t>
            </a: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. Instead of using multiple diodes as in Diode-Transistor Logic (DTL), TTL employs a single transistor with multiple emitters—one for each input. This design: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Reduces chip area significantly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Decreases parasitic capacitance, increasing switching speed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Provides better current steering characteristics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5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Each emitter-base junction acts like a diode. When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any input is LOW</a:t>
            </a: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 (logic 0), the corresponding emitter-base junction becomes forward-biased, steering current away from subsequent stages.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1575"/>
              </a:spcBef>
              <a:spcAft>
                <a:spcPts val="525"/>
              </a:spcAft>
            </a:pPr>
            <a:r>
              <a:rPr lang="en-US" sz="2400" b="1" u="sng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Totem-Pole Output Stage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5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The output uses a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totem-pole configuration</a:t>
            </a: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—two transistors (Q3 and Q4) stacked vertically with a diode (D1) between them. This configuration: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Provides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active pull-up</a:t>
            </a: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 (Q3) and </a:t>
            </a:r>
            <a:r>
              <a:rPr lang="en-US" b="1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active pull-down</a:t>
            </a: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 (Q4)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Ensures low output impedance for both HIGH and LOW states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Enables faster switching by actively driving capacitive loads</a:t>
            </a:r>
            <a:endParaRPr lang="en-US" dirty="0" smtClean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ts val="525"/>
              </a:spcBef>
              <a:spcAft>
                <a:spcPts val="525"/>
              </a:spcAft>
              <a:buFont typeface="Symbol" panose="05050102010706020507" pitchFamily="18" charset="2"/>
              <a:buChar char=""/>
              <a:tabLst>
                <a:tab pos="571500" algn="l"/>
              </a:tabLst>
            </a:pPr>
            <a:r>
              <a:rPr lang="en-US" dirty="0" smtClean="0">
                <a:solidFill>
                  <a:srgbClr val="000000"/>
                </a:solidFill>
                <a:effectLst/>
                <a:latin typeface="inter"/>
                <a:ea typeface="inter"/>
                <a:cs typeface="inter"/>
              </a:rPr>
              <a:t>Prevents both transistors from being ON simultaneously (which would create a short circuit through the diode D1)</a:t>
            </a:r>
            <a:endParaRPr lang="en-US" dirty="0"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93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97" y="1921338"/>
            <a:ext cx="4788428" cy="1915371"/>
          </a:xfrm>
          <a:prstGeom prst="rect">
            <a:avLst/>
          </a:prstGeom>
        </p:spPr>
      </p:pic>
      <p:pic>
        <p:nvPicPr>
          <p:cNvPr id="3074" name="Picture 2" descr="Mastering TTL Logic: A Guide to Digital Circuit Desig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1636892"/>
            <a:ext cx="666750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07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62" y="1912653"/>
            <a:ext cx="10088181" cy="417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0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4" y="2146250"/>
            <a:ext cx="8613395" cy="404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2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77631"/>
              </p:ext>
            </p:extLst>
          </p:nvPr>
        </p:nvGraphicFramePr>
        <p:xfrm>
          <a:off x="857054" y="2054188"/>
          <a:ext cx="10515600" cy="21031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4497674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529204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036133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6202813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874252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9823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 Junction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BC Junction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 smtClean="0"/>
                        <a:t>V_BE)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 smtClean="0"/>
                        <a:t>V_CE)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330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Cutoff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Reverse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Reverse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&lt; 0.6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OFF (no current)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930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Active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Forward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Reverse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0.7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Amplifier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4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Saturation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Forward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Forward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0.8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0.2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Fully ON (switch)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990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Reverse Active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Reverse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Forward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&lt; 0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Rarely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97172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492576" y="4501002"/>
            <a:ext cx="8895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digital logic</a:t>
            </a:r>
            <a:r>
              <a:rPr lang="en-US" dirty="0"/>
              <a:t>, we operate BJTs in </a:t>
            </a:r>
            <a:r>
              <a:rPr lang="en-US" b="1" dirty="0"/>
              <a:t>cutoff and saturation</a:t>
            </a:r>
            <a:r>
              <a:rPr lang="en-US" dirty="0"/>
              <a:t> — i.e., treat them as </a:t>
            </a:r>
            <a:r>
              <a:rPr lang="en-US" b="1" dirty="0"/>
              <a:t>binary switches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475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07" y="1933085"/>
            <a:ext cx="6239617" cy="328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4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858798"/>
              </p:ext>
            </p:extLst>
          </p:nvPr>
        </p:nvGraphicFramePr>
        <p:xfrm>
          <a:off x="885334" y="1997627"/>
          <a:ext cx="10515600" cy="21031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6543045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783224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210564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05317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10193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 smtClean="0"/>
                        <a:t>VE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 smtClean="0"/>
                        <a:t>VB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 smtClean="0"/>
                        <a:t>VC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164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Cutoff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&lt; 0.6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Vcc (5 V)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Logic 1 path open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736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Saturation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0.8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0.2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Logic 0 path closed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010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Active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0.7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1–3 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Intermediate, avoided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029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Reverse active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used in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59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01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839" r="5167"/>
          <a:stretch/>
        </p:blipFill>
        <p:spPr>
          <a:xfrm>
            <a:off x="1548725" y="1245758"/>
            <a:ext cx="8656995" cy="548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9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843"/>
            <a:ext cx="10440231" cy="4706723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21563" y="1488440"/>
            <a:ext cx="325120" cy="369332"/>
            <a:chOff x="1722120" y="3164840"/>
            <a:chExt cx="325120" cy="369332"/>
          </a:xfrm>
        </p:grpSpPr>
        <p:sp>
          <p:nvSpPr>
            <p:cNvPr id="5" name="Oval 4"/>
            <p:cNvSpPr/>
            <p:nvPr/>
          </p:nvSpPr>
          <p:spPr>
            <a:xfrm>
              <a:off x="1722120" y="3200400"/>
              <a:ext cx="325120" cy="32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27200" y="316484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67283" y="2179320"/>
            <a:ext cx="325120" cy="369332"/>
            <a:chOff x="1722120" y="3164840"/>
            <a:chExt cx="325120" cy="369332"/>
          </a:xfrm>
        </p:grpSpPr>
        <p:sp>
          <p:nvSpPr>
            <p:cNvPr id="9" name="Oval 8"/>
            <p:cNvSpPr/>
            <p:nvPr/>
          </p:nvSpPr>
          <p:spPr>
            <a:xfrm>
              <a:off x="1722120" y="3200400"/>
              <a:ext cx="325120" cy="32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27200" y="316484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328003" y="1137920"/>
            <a:ext cx="325120" cy="369332"/>
            <a:chOff x="1722120" y="3164840"/>
            <a:chExt cx="325120" cy="369332"/>
          </a:xfrm>
        </p:grpSpPr>
        <p:sp>
          <p:nvSpPr>
            <p:cNvPr id="12" name="Oval 11"/>
            <p:cNvSpPr/>
            <p:nvPr/>
          </p:nvSpPr>
          <p:spPr>
            <a:xfrm>
              <a:off x="1722120" y="3200400"/>
              <a:ext cx="325120" cy="32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27200" y="3164840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267043" y="2001520"/>
            <a:ext cx="332414" cy="369332"/>
            <a:chOff x="1722120" y="3164840"/>
            <a:chExt cx="332414" cy="369332"/>
          </a:xfrm>
        </p:grpSpPr>
        <p:sp>
          <p:nvSpPr>
            <p:cNvPr id="15" name="Oval 14"/>
            <p:cNvSpPr/>
            <p:nvPr/>
          </p:nvSpPr>
          <p:spPr>
            <a:xfrm>
              <a:off x="1722120" y="3200400"/>
              <a:ext cx="325120" cy="3200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27200" y="3164840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-45720" y="4180344"/>
            <a:ext cx="696468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TTL logic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input stage uses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multi-emitter transistors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(each emitter = one input).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input transistor behaves like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wired-AND gate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emitter side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because: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base-emitter junction must be forward-biased (≈ 0.7 V) for current to flow.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</a:t>
            </a:r>
            <a:r>
              <a:rPr kumimoji="0" lang="en-US" altLang="en-US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emitter input is low (0 V), the base-emitter junction conducts and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pulls the base low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cutting off current to the next stage.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Thus, all inputs must be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logic ‘1’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for the transistor to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remain off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and allow output to rise high.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In simpler words: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For a multi-emitter transistor, the output (collector) can go HIGH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only if all emitter inputs are HIGH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Hence, the transistor acts like an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gate.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6880" y="4132779"/>
            <a:ext cx="54051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There are </a:t>
            </a:r>
            <a:r>
              <a:rPr lang="en-US" b="1" dirty="0"/>
              <a:t>two such input transistor groups</a:t>
            </a:r>
            <a:r>
              <a:rPr lang="en-US" dirty="0"/>
              <a:t>, one handling inputs </a:t>
            </a:r>
            <a:r>
              <a:rPr lang="en-US" b="1" dirty="0"/>
              <a:t>A &amp; B</a:t>
            </a:r>
            <a:r>
              <a:rPr lang="en-US" dirty="0"/>
              <a:t>, another handling </a:t>
            </a:r>
            <a:r>
              <a:rPr lang="en-US" b="1" dirty="0"/>
              <a:t>C &amp; 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Their </a:t>
            </a:r>
            <a:r>
              <a:rPr lang="en-US" b="1" dirty="0"/>
              <a:t>collectors are tied together</a:t>
            </a:r>
            <a:r>
              <a:rPr lang="en-US" dirty="0"/>
              <a:t> to a common output transistor.</a:t>
            </a:r>
          </a:p>
          <a:p>
            <a:r>
              <a:rPr lang="en-US" dirty="0"/>
              <a:t>That means: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 1 transistor conducts when both </a:t>
            </a:r>
            <a:r>
              <a:rPr lang="en-US" b="1" dirty="0"/>
              <a:t>A &amp; B are 1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 2 transistor conducts when both </a:t>
            </a:r>
            <a:r>
              <a:rPr lang="en-US" b="1" dirty="0"/>
              <a:t>C &amp; D are 1</a:t>
            </a:r>
            <a:r>
              <a:rPr lang="en-US" dirty="0"/>
              <a:t>.</a:t>
            </a:r>
          </a:p>
          <a:p>
            <a:r>
              <a:rPr lang="en-US" dirty="0"/>
              <a:t>The two collector outputs are </a:t>
            </a:r>
            <a:r>
              <a:rPr lang="en-US" b="1" dirty="0"/>
              <a:t>wired together</a:t>
            </a:r>
            <a:r>
              <a:rPr lang="en-US" dirty="0"/>
              <a:t>, which means the effect is </a:t>
            </a:r>
            <a:r>
              <a:rPr lang="en-US" b="1" dirty="0"/>
              <a:t>OR</a:t>
            </a:r>
            <a:r>
              <a:rPr lang="en-US" dirty="0"/>
              <a:t> between these groups.</a:t>
            </a:r>
          </a:p>
        </p:txBody>
      </p:sp>
    </p:spTree>
    <p:extLst>
      <p:ext uri="{BB962C8B-B14F-4D97-AF65-F5344CB8AC3E}">
        <p14:creationId xmlns:p14="http://schemas.microsoft.com/office/powerpoint/2010/main" val="165965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69435" cy="32761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61200" y="223118"/>
            <a:ext cx="5130800" cy="6583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1050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Analyze the Input Stage (Q1, Q2, Q3, Q4):</a:t>
            </a:r>
            <a:endParaRPr lang="en-US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circuit uses a standard TTL NAND gate structure with multiple-emitter transistors.</a:t>
            </a:r>
            <a:endParaRPr lang="en-US" sz="1600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Q1 has multiple emitters (A, B). Each emitter acts as an input; if any input is LOW (0), Q1 will conduct and clamp the base of Q2.</a:t>
            </a:r>
            <a:endParaRPr lang="en-US" sz="1600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When BOTH A and B are HIGH (1), Q1 does NOT conduct, leaving Q2 base pulled up via resistor.</a:t>
            </a:r>
            <a:endParaRPr lang="en-US" sz="1600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1050"/>
              </a:spcAft>
              <a:buFont typeface="+mj-lt"/>
              <a:buAutoNum type="arabicPeriod"/>
              <a:tabLst>
                <a:tab pos="571500" algn="l"/>
              </a:tabLst>
            </a:pPr>
            <a:r>
              <a:rPr lang="en-US" b="1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NAND Gate Structure:</a:t>
            </a:r>
            <a:endParaRPr lang="en-US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Q2 and Q3 form a phase-splitter and Q4, Q5 provide output drive.</a:t>
            </a:r>
            <a:endParaRPr lang="en-US" sz="1600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output (Y) is LOW only when ALL inputs A, B, and subsequently C (when extending to the next stage in the chain) are HIGH.</a:t>
            </a:r>
            <a:endParaRPr lang="en-US" sz="1600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2100" y="3806493"/>
            <a:ext cx="6096000" cy="2826415"/>
          </a:xfrm>
          <a:prstGeom prst="rect">
            <a:avLst/>
          </a:prstGeom>
        </p:spPr>
        <p:txBody>
          <a:bodyPr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1050"/>
              </a:spcAft>
              <a:tabLst>
                <a:tab pos="571500" algn="l"/>
              </a:tabLst>
            </a:pPr>
            <a:r>
              <a:rPr lang="en-US" sz="2400" b="1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3. Extending to Four Inputs:</a:t>
            </a:r>
            <a:endParaRPr lang="en-US" sz="2400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circuit shown continues with another 2-input NAND (right side: C, D).</a:t>
            </a:r>
            <a:endParaRPr lang="en-US" sz="2000" dirty="0" smtClean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525"/>
              </a:spcBef>
              <a:spcAft>
                <a:spcPts val="525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inter"/>
                <a:ea typeface="inter"/>
                <a:cs typeface="inter"/>
              </a:rPr>
              <a:t>The outputs of two NAND stages (A,B and C,D) are connected to a final NAND.</a:t>
            </a:r>
            <a:endParaRPr lang="en-US" sz="2000" dirty="0"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20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4919"/>
          <a:stretch/>
        </p:blipFill>
        <p:spPr>
          <a:xfrm>
            <a:off x="152401" y="152400"/>
            <a:ext cx="2550160" cy="32761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52240" y="695742"/>
            <a:ext cx="7899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fkGrotesk"/>
              </a:rPr>
              <a:t>Two-Input </a:t>
            </a:r>
            <a:r>
              <a:rPr lang="en-US" dirty="0">
                <a:latin typeface="fkGrotesk"/>
              </a:rPr>
              <a:t>Logic 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Inputs: Points A and B are the logic inputs.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Q1: Acts as a switching transistor triggered by the combination of A and 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Q2 and Q3: Form a typical RTL NAND gate configuration.</a:t>
            </a:r>
          </a:p>
          <a:p>
            <a:r>
              <a:rPr lang="en-US" dirty="0">
                <a:latin typeface="fkGroteskNeue"/>
              </a:rPr>
              <a:t>Operation: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If both A and B are high, Q1 turns on, pulling the base of Q2 low, keeping Q2 off.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If either A or B is low, Q1 is off, so Q2 can turn on, which pulls down the base of Q3.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Q3 is configured as a common-emitter inverter, providing a buffered output to the next stage.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The output across RL (collector of Q3) is thus a logic function (such as NAND or NOR depending on detailed node wiring).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44204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189" r="35639"/>
          <a:stretch/>
        </p:blipFill>
        <p:spPr>
          <a:xfrm>
            <a:off x="497841" y="86360"/>
            <a:ext cx="2484120" cy="32761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10987" y="727839"/>
            <a:ext cx="728909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fkGrotesk"/>
              </a:rPr>
              <a:t>Cascaded 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Q1, Q2, Resistor Network: Similar logic configuration as before, with inputs C and 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Output Tied to Next Section: The output of Q3 here drives the next logic stage, maintaining signal integrity.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Operation: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This block acts as another logic function, often AND or </a:t>
            </a:r>
            <a:r>
              <a:rPr lang="en-US" dirty="0" err="1">
                <a:latin typeface="fkGroteskNeue"/>
              </a:rPr>
              <a:t>OR</a:t>
            </a:r>
            <a:r>
              <a:rPr lang="en-US" dirty="0">
                <a:latin typeface="fkGroteskNeue"/>
              </a:rPr>
              <a:t> depending on the RTL wiring.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The chain ensures that the signal can drive further logic without degradation.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79376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3592"/>
          <a:stretch/>
        </p:blipFill>
        <p:spPr>
          <a:xfrm>
            <a:off x="797560" y="127000"/>
            <a:ext cx="2646635" cy="32761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28920" y="99975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fkGrotesk"/>
              </a:rPr>
              <a:t> </a:t>
            </a:r>
            <a:r>
              <a:rPr lang="en-US" dirty="0">
                <a:latin typeface="fkGrotesk"/>
              </a:rPr>
              <a:t>Final Output 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Inputs: The line driven from the center stage supplies the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Q1 (Input Buffer), Q2, Q3: Forms another logic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Y is the Final Output: This is the logic signal after three stages of processing, showing how a complex Boolean expression can be built from simple transistor-resistor networks.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41822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" y="353209"/>
            <a:ext cx="119227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fkGrotesk"/>
              </a:rPr>
              <a:t>Step-by-Step Process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latin typeface="fkGroteskNeue"/>
              </a:rPr>
              <a:t>Identify Each Stage: The circuit contains three stages, each built with BJTs. Each stage implements a simple combinational logic function (generally NAND or NOR in RTL style).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latin typeface="fkGroteskNeue"/>
              </a:rPr>
              <a:t>Follow Signal Flow: Track how the inputs A, B, C, D affect the state of each transistor and the resulting output at each stage.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latin typeface="fkGroteskNeue"/>
              </a:rPr>
              <a:t>Determine Boolean Expressions: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>
                <a:latin typeface="fkGroteskNeue"/>
              </a:rPr>
              <a:t>Analyze each stage to derive the logical operation it performs (e.g., NAND, AND, NOR, OR).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>
                <a:latin typeface="fkGroteskNeue"/>
              </a:rPr>
              <a:t>Express the output of each stage as a Boolean expression in terms of its inputs.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>
                <a:latin typeface="fkGroteskNeue"/>
              </a:rPr>
              <a:t>Cascade these expressions stage by stage to get the final expression for Y.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latin typeface="fkGroteskNeue"/>
              </a:rPr>
              <a:t>Substitute Values: Once you know the logic function, substitute the values of A, B, C, D to find the output Y for any given input combination</a:t>
            </a:r>
            <a:r>
              <a:rPr lang="en-US" dirty="0" smtClean="0">
                <a:latin typeface="fkGroteskNeue"/>
              </a:rPr>
              <a:t>.</a:t>
            </a:r>
            <a:br>
              <a:rPr lang="en-US" dirty="0" smtClean="0">
                <a:latin typeface="fkGroteskNeue"/>
              </a:rPr>
            </a:br>
            <a:endParaRPr lang="en-US" dirty="0">
              <a:latin typeface="fkGroteskNeue"/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  <a:latin typeface="fkGrotesk"/>
              </a:rPr>
              <a:t>Practical Shortcut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In such RTL circuits, each "Q3" typically inverts the logic from the previous stage.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Many textbook circuits like this implement a combination of NAND/NOR logic. If each block is a NAND, then three stages of NAND (with inverting outputs) can realize complex expressions (e.g., Y = (A·B + C·D) with appropriate connections).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The exact Boolean equation for Y will depend on the input configuration (wiring of A, B, C, D).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50859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948" y="349136"/>
            <a:ext cx="6755271" cy="507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74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84" y="516154"/>
            <a:ext cx="10678376" cy="497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2920"/>
            <a:ext cx="10515600" cy="56740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 smtClean="0"/>
              <a:t>🔸 </a:t>
            </a:r>
            <a:r>
              <a:rPr lang="en-US" sz="1800" b="1" dirty="0" smtClean="0">
                <a:solidFill>
                  <a:srgbClr val="0070C0"/>
                </a:solidFill>
              </a:rPr>
              <a:t>Step 1: Input Pair “A–B” (Emitter Group 1)</a:t>
            </a:r>
          </a:p>
          <a:p>
            <a:r>
              <a:rPr lang="en-US" sz="1800" dirty="0" smtClean="0"/>
              <a:t>A and B feed a </a:t>
            </a:r>
            <a:r>
              <a:rPr lang="en-US" sz="1800" b="1" dirty="0" smtClean="0"/>
              <a:t>multi-emitter transistor</a:t>
            </a:r>
            <a:r>
              <a:rPr lang="en-US" sz="1800" dirty="0" smtClean="0"/>
              <a:t> Q₁.</a:t>
            </a:r>
          </a:p>
          <a:p>
            <a:r>
              <a:rPr lang="en-US" sz="1800" dirty="0" smtClean="0"/>
              <a:t>Only when </a:t>
            </a:r>
            <a:r>
              <a:rPr lang="en-US" sz="1800" b="1" dirty="0" smtClean="0"/>
              <a:t>A = 1</a:t>
            </a:r>
            <a:r>
              <a:rPr lang="en-US" sz="1800" dirty="0" smtClean="0"/>
              <a:t> and </a:t>
            </a:r>
            <a:r>
              <a:rPr lang="en-US" sz="1800" b="1" dirty="0" smtClean="0"/>
              <a:t>B = 1</a:t>
            </a:r>
            <a:r>
              <a:rPr lang="en-US" sz="1800" dirty="0" smtClean="0"/>
              <a:t> are both emitters reverse-biased (no base current path).</a:t>
            </a:r>
          </a:p>
          <a:p>
            <a:r>
              <a:rPr lang="en-US" sz="1800" dirty="0" smtClean="0"/>
              <a:t>Then Q₁’s collector node is </a:t>
            </a:r>
            <a:r>
              <a:rPr lang="en-US" sz="1800" b="1" dirty="0" smtClean="0"/>
              <a:t>pulled high</a:t>
            </a:r>
            <a:r>
              <a:rPr lang="en-US" sz="1800" dirty="0" smtClean="0"/>
              <a:t> via its pull-up path.</a:t>
            </a:r>
          </a:p>
          <a:p>
            <a:pPr marL="0" indent="0">
              <a:buNone/>
            </a:pPr>
            <a:r>
              <a:rPr lang="en-US" sz="1800" dirty="0" smtClean="0"/>
              <a:t>So the logic from this pair is: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Y</a:t>
            </a:r>
            <a:r>
              <a:rPr lang="en-US" sz="1800" baseline="-25000" dirty="0" smtClean="0">
                <a:solidFill>
                  <a:srgbClr val="0070C0"/>
                </a:solidFill>
              </a:rPr>
              <a:t>1</a:t>
            </a:r>
            <a:r>
              <a:rPr lang="en-US" sz="1800" dirty="0" smtClean="0">
                <a:solidFill>
                  <a:srgbClr val="0070C0"/>
                </a:solidFill>
              </a:rPr>
              <a:t>​=A⋅B </a:t>
            </a:r>
          </a:p>
          <a:p>
            <a:pPr marL="0" indent="0">
              <a:buNone/>
            </a:pPr>
            <a:r>
              <a:rPr lang="en-US" sz="1800" dirty="0" smtClean="0"/>
              <a:t>If either A or B = 0, the base-emitter junction conducts, grounding the base, and pulling collector low → output = 0.</a:t>
            </a:r>
          </a:p>
          <a:p>
            <a:pPr marL="0" indent="0">
              <a:buNone/>
            </a:pPr>
            <a:r>
              <a:rPr lang="en-US" sz="1800" b="1" dirty="0" smtClean="0"/>
              <a:t>🔸 Step 2: Input Pair “C–D” (Emitter Group 2)</a:t>
            </a:r>
          </a:p>
          <a:p>
            <a:r>
              <a:rPr lang="en-US" sz="1800" dirty="0" smtClean="0"/>
              <a:t>Similar story for Q₂.</a:t>
            </a:r>
          </a:p>
          <a:p>
            <a:r>
              <a:rPr lang="en-US" sz="1800" dirty="0" smtClean="0"/>
              <a:t>Its collector node is also connected to the same output node.</a:t>
            </a:r>
          </a:p>
          <a:p>
            <a:pPr marL="0" indent="0">
              <a:buNone/>
            </a:pPr>
            <a:r>
              <a:rPr lang="en-US" sz="1800" dirty="0" smtClean="0"/>
              <a:t>This means:</a:t>
            </a:r>
          </a:p>
          <a:p>
            <a:pPr marL="0" indent="0">
              <a:buNone/>
            </a:pPr>
            <a:r>
              <a:rPr lang="en-US" sz="1800" b="1" dirty="0" smtClean="0"/>
              <a:t>Y</a:t>
            </a:r>
            <a:r>
              <a:rPr lang="en-US" sz="1800" b="1" baseline="-25000" dirty="0" smtClean="0"/>
              <a:t>2</a:t>
            </a:r>
            <a:r>
              <a:rPr lang="en-US" sz="1800" b="1" dirty="0" smtClean="0"/>
              <a:t>​=C⋅D</a:t>
            </a:r>
          </a:p>
          <a:p>
            <a:r>
              <a:rPr lang="en-US" sz="1800" b="1" dirty="0" smtClean="0"/>
              <a:t>🔸 Step 3: Combining Collector Outputs</a:t>
            </a:r>
          </a:p>
          <a:p>
            <a:r>
              <a:rPr lang="en-US" sz="1800" dirty="0" smtClean="0"/>
              <a:t>The two collectors are </a:t>
            </a:r>
            <a:r>
              <a:rPr lang="en-US" sz="1800" b="1" dirty="0" smtClean="0"/>
              <a:t>tied together</a:t>
            </a:r>
            <a:r>
              <a:rPr lang="en-US" sz="1800" dirty="0" smtClean="0"/>
              <a:t> — this is a </a:t>
            </a:r>
            <a:r>
              <a:rPr lang="en-US" sz="1800" b="1" dirty="0" smtClean="0"/>
              <a:t>wired-OR connection</a:t>
            </a:r>
            <a:r>
              <a:rPr lang="en-US" sz="1800" dirty="0" smtClean="0"/>
              <a:t> in TTL positive logic.</a:t>
            </a:r>
          </a:p>
          <a:p>
            <a:r>
              <a:rPr lang="en-US" sz="1800" dirty="0" smtClean="0"/>
              <a:t>So if </a:t>
            </a:r>
            <a:r>
              <a:rPr lang="en-US" sz="1800" i="1" dirty="0" smtClean="0"/>
              <a:t>either</a:t>
            </a:r>
            <a:r>
              <a:rPr lang="en-US" sz="1800" dirty="0" smtClean="0"/>
              <a:t> transistor pair allows its collector to go high, the common node goes high.</a:t>
            </a:r>
          </a:p>
          <a:p>
            <a:r>
              <a:rPr lang="en-US" sz="1800" dirty="0" smtClean="0"/>
              <a:t>Thus, the total output is:</a:t>
            </a:r>
          </a:p>
          <a:p>
            <a:pPr marL="0" indent="0">
              <a:buNone/>
            </a:pPr>
            <a:r>
              <a:rPr lang="en-US" sz="1800" dirty="0"/>
              <a:t>  </a:t>
            </a:r>
            <a:r>
              <a:rPr lang="en-US" sz="1800" dirty="0" smtClean="0"/>
              <a:t>                     Y=Y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​+Y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​=(A⋅B)+(C⋅D)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44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398742"/>
              </p:ext>
            </p:extLst>
          </p:nvPr>
        </p:nvGraphicFramePr>
        <p:xfrm>
          <a:off x="965200" y="1801654"/>
          <a:ext cx="10515600" cy="2103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067673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966948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69444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Circuit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Logical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514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Input transistor Q₁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A = 1, B = 1 to go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 </a:t>
                      </a:r>
                      <a:r>
                        <a:rPr lang="en-US" dirty="0" smtClean="0"/>
                        <a:t>A.B 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37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Input transistor Q₂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Requires C = 1, D = 1 to go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(C.D 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816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Collector combination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Common node, either can pull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( (A·B) + (C·D)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746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Final TTL output buffer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Inverts or amplifies depending on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Passes Boolean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349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71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223353"/>
              </p:ext>
            </p:extLst>
          </p:nvPr>
        </p:nvGraphicFramePr>
        <p:xfrm>
          <a:off x="802640" y="1837214"/>
          <a:ext cx="10515600" cy="1828800"/>
        </p:xfrm>
        <a:graphic>
          <a:graphicData uri="http://schemas.openxmlformats.org/drawingml/2006/table">
            <a:tbl>
              <a:tblPr/>
              <a:tblGrid>
                <a:gridCol w="4185920">
                  <a:extLst>
                    <a:ext uri="{9D8B030D-6E8A-4147-A177-3AD203B41FA5}">
                      <a16:colId xmlns:a16="http://schemas.microsoft.com/office/drawing/2014/main" val="1714719824"/>
                    </a:ext>
                  </a:extLst>
                </a:gridCol>
                <a:gridCol w="6329680">
                  <a:extLst>
                    <a:ext uri="{9D8B030D-6E8A-4147-A177-3AD203B41FA5}">
                      <a16:colId xmlns:a16="http://schemas.microsoft.com/office/drawing/2014/main" val="3863564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Physical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Logical 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2848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Each input emitter path (A, B or C, 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 gate (series condition)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781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Collectors tied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OR gate (parallel condition)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4783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Pull-up resistor / transistor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Provides high-level when none conducts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1676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Output transistor (totem pole)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Buffers and defines logic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611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98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(b) Input Thresholds</a:t>
            </a:r>
          </a:p>
          <a:p>
            <a:pPr marL="0" indent="0">
              <a:buNone/>
            </a:pPr>
            <a:r>
              <a:rPr lang="en-US" dirty="0" smtClean="0"/>
              <a:t>We’re told:</a:t>
            </a:r>
          </a:p>
          <a:p>
            <a:r>
              <a:rPr lang="en-US" dirty="0" smtClean="0"/>
              <a:t>Each diode or BJT junction drop ≈ 0.7 V.</a:t>
            </a:r>
          </a:p>
          <a:p>
            <a:r>
              <a:rPr lang="en-US" dirty="0" smtClean="0"/>
              <a:t>V</a:t>
            </a:r>
            <a:r>
              <a:rPr lang="en-US" baseline="-25000" dirty="0" smtClean="0"/>
              <a:t>BE(SAT)</a:t>
            </a:r>
            <a:r>
              <a:rPr lang="en-US" dirty="0" smtClean="0"/>
              <a:t>​=0.7V.</a:t>
            </a:r>
          </a:p>
          <a:p>
            <a:r>
              <a:rPr lang="en-US" dirty="0" smtClean="0"/>
              <a:t>V</a:t>
            </a:r>
            <a:r>
              <a:rPr lang="en-US" baseline="-25000" dirty="0" smtClean="0"/>
              <a:t>1H</a:t>
            </a:r>
            <a:r>
              <a:rPr lang="en-US" dirty="0" smtClean="0"/>
              <a:t>​−V</a:t>
            </a:r>
            <a:r>
              <a:rPr lang="en-US" baseline="-25000" dirty="0" smtClean="0"/>
              <a:t>1L</a:t>
            </a:r>
            <a:r>
              <a:rPr lang="en-US" dirty="0" smtClean="0"/>
              <a:t>​=1.2V.</a:t>
            </a:r>
          </a:p>
          <a:p>
            <a:pPr marL="0" indent="0">
              <a:buNone/>
            </a:pPr>
            <a:r>
              <a:rPr lang="en-US" dirty="0" smtClean="0"/>
              <a:t>The circuit path that defines the </a:t>
            </a:r>
            <a:r>
              <a:rPr lang="en-US" b="1" dirty="0" smtClean="0"/>
              <a:t>threshold voltage (VTH)</a:t>
            </a:r>
            <a:r>
              <a:rPr lang="en-US" dirty="0" smtClean="0"/>
              <a:t> passes through:</a:t>
            </a:r>
          </a:p>
          <a:p>
            <a:r>
              <a:rPr lang="en-US" dirty="0" smtClean="0"/>
              <a:t>One base-emitter junction (0.7 V),</a:t>
            </a:r>
          </a:p>
          <a:p>
            <a:r>
              <a:rPr lang="en-US" dirty="0" smtClean="0"/>
              <a:t>One base-collector diode drop (0.7 V),</a:t>
            </a:r>
          </a:p>
          <a:p>
            <a:r>
              <a:rPr lang="en-US" dirty="0" smtClean="0"/>
              <a:t>And the network voltage differences cancel another 0.7 V drop.</a:t>
            </a:r>
          </a:p>
          <a:p>
            <a:pPr marL="0" indent="0">
              <a:buNone/>
            </a:pPr>
            <a:r>
              <a:rPr lang="en-US" dirty="0" smtClean="0"/>
              <a:t>Hence:</a:t>
            </a:r>
          </a:p>
          <a:p>
            <a:r>
              <a:rPr lang="en-US" dirty="0" smtClean="0"/>
              <a:t>V</a:t>
            </a:r>
            <a:r>
              <a:rPr lang="en-US" baseline="-25000" dirty="0" smtClean="0"/>
              <a:t>TH</a:t>
            </a:r>
            <a:r>
              <a:rPr lang="en-US" dirty="0" smtClean="0"/>
              <a:t>​=0.7+0.7+0.7−0.7=1.4 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315" y="965090"/>
            <a:ext cx="9769685" cy="51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5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175" t="6049" r="4540" b="2738"/>
          <a:stretch/>
        </p:blipFill>
        <p:spPr>
          <a:xfrm>
            <a:off x="1686079" y="604519"/>
            <a:ext cx="7696681" cy="33225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920" y="4287520"/>
            <a:ext cx="7239000" cy="20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3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24" y="1746855"/>
            <a:ext cx="8591992" cy="11494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841" y="2797076"/>
            <a:ext cx="9112718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8694" r="16818"/>
          <a:stretch/>
        </p:blipFill>
        <p:spPr>
          <a:xfrm>
            <a:off x="0" y="0"/>
            <a:ext cx="5085080" cy="28876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195" y="-1"/>
            <a:ext cx="6499856" cy="18961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529" y="2209826"/>
            <a:ext cx="6503489" cy="18257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80" y="3985141"/>
            <a:ext cx="8443155" cy="195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7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49" y="652857"/>
            <a:ext cx="8877756" cy="35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6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8694" r="16818"/>
          <a:stretch/>
        </p:blipFill>
        <p:spPr>
          <a:xfrm>
            <a:off x="891252" y="460286"/>
            <a:ext cx="10274396" cy="583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92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703"/>
            <a:ext cx="8178800" cy="50141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8694" r="16818"/>
          <a:stretch/>
        </p:blipFill>
        <p:spPr>
          <a:xfrm>
            <a:off x="8253848" y="518160"/>
            <a:ext cx="3841632" cy="218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9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480" y="-79653"/>
            <a:ext cx="873252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effectLst/>
                <a:latin typeface="fkGroteskNeue"/>
              </a:rPr>
              <a:t>Circuit Configuration: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Inputs A, B connect to multi-emitter transistor Q1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Input C connects to transistor Q5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Input D connects to transistor Q6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Output stage has totem-pole configuration (Q3, Q4)</a:t>
            </a:r>
          </a:p>
          <a:p>
            <a:r>
              <a:rPr lang="en-US" b="0" i="0" dirty="0" smtClean="0">
                <a:effectLst/>
                <a:latin typeface="fkGrotesk"/>
              </a:rPr>
              <a:t>Step 1: Analyze A-B Input Section</a:t>
            </a:r>
          </a:p>
          <a:p>
            <a:r>
              <a:rPr lang="en-US" b="0" i="0" dirty="0" smtClean="0">
                <a:effectLst/>
                <a:latin typeface="fkGroteskNeue"/>
              </a:rPr>
              <a:t>When A = 0 OR B = 0: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Q1 is ON (saturated)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Q2 is OFF (no base current)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Q2 emitter = LOW, Q2 collector =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Contribution: Does NOT activate Q4</a:t>
            </a:r>
          </a:p>
          <a:p>
            <a:r>
              <a:rPr lang="en-US" b="0" i="0" dirty="0" smtClean="0">
                <a:effectLst/>
                <a:latin typeface="fkGroteskNeue"/>
              </a:rPr>
              <a:t>When A = 1 AND B =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Q1 is OFF (reverse active)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Q2 is ON (saturated)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Q2 emitter = HIGH, Q2 collector =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Contribution: CAN activate Q4 through emitter path</a:t>
            </a:r>
          </a:p>
          <a:p>
            <a:r>
              <a:rPr lang="en-US" b="0" i="0" dirty="0" smtClean="0">
                <a:effectLst/>
                <a:latin typeface="fkGroteskNeue"/>
              </a:rPr>
              <a:t>AB Section Logic Output: Provides HIGH signal when AB = 1</a:t>
            </a:r>
          </a:p>
          <a:p>
            <a:r>
              <a:rPr lang="en-US" b="0" i="0" dirty="0" smtClean="0">
                <a:effectLst/>
                <a:latin typeface="fkGrotesk"/>
              </a:rPr>
              <a:t>Step 2: Analyze C Input Section</a:t>
            </a:r>
          </a:p>
          <a:p>
            <a:r>
              <a:rPr lang="en-US" b="0" i="0" dirty="0" smtClean="0">
                <a:effectLst/>
                <a:latin typeface="fkGroteskNeue"/>
              </a:rPr>
              <a:t>Looking at the circuit, input C directly affects the logic.​</a:t>
            </a:r>
          </a:p>
          <a:p>
            <a:r>
              <a:rPr lang="en-US" b="0" i="0" dirty="0" smtClean="0">
                <a:effectLst/>
                <a:latin typeface="fkGroteskNeue"/>
              </a:rPr>
              <a:t>When C = 0: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Does NOT contribute to pulling output LOW</a:t>
            </a:r>
          </a:p>
          <a:p>
            <a:r>
              <a:rPr lang="en-US" b="0" i="0" dirty="0" smtClean="0">
                <a:effectLst/>
                <a:latin typeface="fkGroteskNeue"/>
              </a:rPr>
              <a:t>When C =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Contributes to activating output 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fkGroteskNeue"/>
              </a:rPr>
              <a:t>Can pull output LOW</a:t>
            </a:r>
            <a:endParaRPr lang="en-US" b="0" i="0" dirty="0">
              <a:effectLst/>
              <a:latin typeface="fkGroteskNeue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187" y="1518920"/>
            <a:ext cx="5829372" cy="246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4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u="sng" dirty="0"/>
              <a:t>(</a:t>
            </a:r>
            <a:r>
              <a:rPr lang="en-US" b="1" u="sng" dirty="0" err="1"/>
              <a:t>i</a:t>
            </a:r>
            <a:r>
              <a:rPr lang="en-US" b="1" u="sng" dirty="0"/>
              <a:t>) ABCD = </a:t>
            </a:r>
            <a:r>
              <a:rPr lang="en-US" b="1" u="sng" dirty="0" smtClean="0"/>
              <a:t>0000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Analysis:</a:t>
            </a:r>
            <a:endParaRPr lang="en-US" dirty="0"/>
          </a:p>
          <a:p>
            <a:pPr lvl="0"/>
            <a:r>
              <a:rPr lang="en-US" dirty="0"/>
              <a:t>A = 0, B = 0 → Q1 ON, Q2 and Q3 OFF → Q4 OFF (upper path inactive)</a:t>
            </a:r>
          </a:p>
          <a:p>
            <a:pPr lvl="0"/>
            <a:r>
              <a:rPr lang="en-US" dirty="0"/>
              <a:t>C = 0, D = 0 → Q5 ON, Q6 OFF → Q4 remains OFF</a:t>
            </a:r>
          </a:p>
          <a:p>
            <a:pPr marL="0" lvl="0" indent="0">
              <a:buNone/>
            </a:pPr>
            <a:r>
              <a:rPr lang="en-US" dirty="0"/>
              <a:t>With Q4 OFF, output is </a:t>
            </a:r>
            <a:r>
              <a:rPr lang="en-US" b="1" dirty="0"/>
              <a:t>pulled HIGH</a:t>
            </a:r>
            <a:r>
              <a:rPr lang="en-US" dirty="0"/>
              <a:t> through pull-up resistor</a:t>
            </a:r>
          </a:p>
          <a:p>
            <a:pPr marL="0" indent="0">
              <a:buNone/>
            </a:pPr>
            <a:r>
              <a:rPr lang="en-US" b="1" dirty="0"/>
              <a:t>Output: Y = 1 (HIGH</a:t>
            </a:r>
            <a:r>
              <a:rPr lang="en-US" b="1" dirty="0" smtClean="0"/>
              <a:t>)</a:t>
            </a:r>
            <a:endParaRPr lang="en-US" u="sng" baseline="30000" dirty="0"/>
          </a:p>
          <a:p>
            <a:pPr marL="0" indent="0">
              <a:buNone/>
            </a:pPr>
            <a:r>
              <a:rPr lang="en-US" b="1" u="sng" dirty="0"/>
              <a:t>(ii) ABCD = </a:t>
            </a:r>
            <a:r>
              <a:rPr lang="en-US" b="1" u="sng" dirty="0" smtClean="0"/>
              <a:t>0011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Analysis:</a:t>
            </a:r>
            <a:endParaRPr lang="en-US" dirty="0"/>
          </a:p>
          <a:p>
            <a:pPr lvl="0"/>
            <a:r>
              <a:rPr lang="en-US" dirty="0"/>
              <a:t>A = 0, B = 0 → Q1 ON, Q2 and Q3 OFF</a:t>
            </a:r>
          </a:p>
          <a:p>
            <a:pPr lvl="0"/>
            <a:r>
              <a:rPr lang="en-US" dirty="0"/>
              <a:t>C = 1, D = 1 → Q5 OFF, Q6 ON → </a:t>
            </a:r>
            <a:r>
              <a:rPr lang="en-US" b="1" dirty="0"/>
              <a:t>Q4 turns ON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When Q4 is ON (saturated), it pulls output to ground</a:t>
            </a:r>
          </a:p>
          <a:p>
            <a:pPr marL="0" indent="0">
              <a:buNone/>
            </a:pPr>
            <a:r>
              <a:rPr lang="en-US" b="1" dirty="0"/>
              <a:t>Output: Y = 0 (LOW) ≈ 0.2 </a:t>
            </a:r>
            <a:r>
              <a:rPr lang="en-US" b="1" dirty="0" smtClean="0"/>
              <a:t>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0.2 V represents V_CE(SAT) of the saturated transistor Q4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699" y="3022493"/>
            <a:ext cx="5300411" cy="224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5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650240"/>
            <a:ext cx="6883400" cy="550640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u="sng" dirty="0"/>
              <a:t>(iii) ABCD = </a:t>
            </a:r>
            <a:r>
              <a:rPr lang="en-US" b="1" u="sng" dirty="0" smtClean="0"/>
              <a:t>0101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Analysis:</a:t>
            </a:r>
            <a:endParaRPr lang="en-US" dirty="0"/>
          </a:p>
          <a:p>
            <a:pPr lvl="0"/>
            <a:r>
              <a:rPr lang="en-US" dirty="0"/>
              <a:t>A = 0, B = 1 → Q1 ON, Q2 and Q3 OFF → Q4 OFF</a:t>
            </a:r>
          </a:p>
          <a:p>
            <a:pPr lvl="0"/>
            <a:r>
              <a:rPr lang="en-US" dirty="0"/>
              <a:t>C = 0, D = 1 → Q5 ON, Q6 OFF → Q4 remains OFF</a:t>
            </a:r>
          </a:p>
          <a:p>
            <a:pPr marL="0" lvl="0" indent="0">
              <a:buNone/>
            </a:pPr>
            <a:r>
              <a:rPr lang="en-US" dirty="0"/>
              <a:t>Both paths keep Q4 OFF, output pulled HIGH</a:t>
            </a:r>
          </a:p>
          <a:p>
            <a:pPr marL="0" indent="0">
              <a:buNone/>
            </a:pPr>
            <a:r>
              <a:rPr lang="en-US" b="1" dirty="0"/>
              <a:t>Output: Y = 1 (HIGH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endParaRPr lang="en-US" u="sng" baseline="30000" dirty="0"/>
          </a:p>
          <a:p>
            <a:pPr marL="0" indent="0">
              <a:buNone/>
            </a:pPr>
            <a:r>
              <a:rPr lang="en-US" b="1" u="sng" dirty="0"/>
              <a:t>(iv) ABCD = </a:t>
            </a:r>
            <a:r>
              <a:rPr lang="en-US" b="1" u="sng" dirty="0" smtClean="0"/>
              <a:t>1111</a:t>
            </a:r>
            <a:endParaRPr lang="en-US" dirty="0"/>
          </a:p>
          <a:p>
            <a:r>
              <a:rPr lang="en-US" b="1" dirty="0"/>
              <a:t>Analysis:</a:t>
            </a:r>
            <a:endParaRPr lang="en-US" dirty="0"/>
          </a:p>
          <a:p>
            <a:pPr lvl="0"/>
            <a:r>
              <a:rPr lang="en-US" dirty="0"/>
              <a:t>A = 1, B = 1 → Q1 OFF, Q2 and Q3 ON → Provides path to activate Q4</a:t>
            </a:r>
          </a:p>
          <a:p>
            <a:pPr lvl="0"/>
            <a:r>
              <a:rPr lang="en-US" dirty="0"/>
              <a:t>C = 1, D = 1 → Q5 OFF, Q6 ON → Also activates Q4</a:t>
            </a:r>
          </a:p>
          <a:p>
            <a:pPr lvl="0"/>
            <a:r>
              <a:rPr lang="en-US" b="1" dirty="0"/>
              <a:t>Both conditions pull Q4 ON</a:t>
            </a:r>
            <a:r>
              <a:rPr lang="en-US" dirty="0"/>
              <a:t> strongly</a:t>
            </a:r>
          </a:p>
          <a:p>
            <a:r>
              <a:rPr lang="en-US" b="1" dirty="0"/>
              <a:t>Output: Y = 0 (LOW) ≈ 0.2 </a:t>
            </a:r>
            <a:r>
              <a:rPr lang="en-US" b="1" dirty="0" smtClean="0"/>
              <a:t>V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467" y="2199640"/>
            <a:ext cx="4925533" cy="208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7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1398</Words>
  <Application>Microsoft Office PowerPoint</Application>
  <PresentationFormat>Widescreen</PresentationFormat>
  <Paragraphs>229</Paragraphs>
  <Slides>31</Slides>
  <Notes>0</Notes>
  <HiddenSlides>11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Calibri</vt:lpstr>
      <vt:lpstr>Calibri Light</vt:lpstr>
      <vt:lpstr>Courier New</vt:lpstr>
      <vt:lpstr>fkGrotesk</vt:lpstr>
      <vt:lpstr>fkGroteskNeue</vt:lpstr>
      <vt:lpstr>Georgia</vt:lpstr>
      <vt:lpstr>inter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  <vt:lpstr>PowerPoint Presentation</vt:lpstr>
      <vt:lpstr>PowerPoint Presentation</vt:lpstr>
      <vt:lpstr>PowerPoint Presentation</vt:lpstr>
      <vt:lpstr>Question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DELL</cp:lastModifiedBy>
  <cp:revision>12</cp:revision>
  <dcterms:created xsi:type="dcterms:W3CDTF">2025-10-27T12:11:51Z</dcterms:created>
  <dcterms:modified xsi:type="dcterms:W3CDTF">2025-10-30T10:46:09Z</dcterms:modified>
</cp:coreProperties>
</file>