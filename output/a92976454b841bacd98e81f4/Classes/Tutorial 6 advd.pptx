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0" r:id="rId6"/>
    <p:sldId id="264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57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5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7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1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1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9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4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27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05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07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3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8B921-1D82-48AA-B02F-3C015D40AA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3071A-26D6-4BE0-A56A-D467D5E6B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3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CMOS Logic </a:t>
            </a:r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184" y="1621553"/>
            <a:ext cx="11789087" cy="4740002"/>
          </a:xfrm>
        </p:spPr>
        <p:txBody>
          <a:bodyPr>
            <a:noAutofit/>
          </a:bodyPr>
          <a:lstStyle/>
          <a:p>
            <a:pPr lvl="1" algn="just"/>
            <a:r>
              <a:rPr lang="en-US" sz="1800" dirty="0" smtClean="0"/>
              <a:t>Fundamentals </a:t>
            </a:r>
            <a:r>
              <a:rPr lang="en-US" sz="1800" dirty="0"/>
              <a:t>and Steps</a:t>
            </a:r>
          </a:p>
          <a:p>
            <a:pPr lvl="1" algn="just"/>
            <a:r>
              <a:rPr lang="en-US" sz="1800" dirty="0"/>
              <a:t>CMOS logic uses pairs of NMOS and PMOS transistors in a complementary arrangement.</a:t>
            </a:r>
          </a:p>
          <a:p>
            <a:pPr lvl="1" algn="just"/>
            <a:r>
              <a:rPr lang="en-US" sz="1800" dirty="0"/>
              <a:t>For a desired function (e.g., using inputs A, B, C, </a:t>
            </a:r>
            <a:r>
              <a:rPr lang="en-US" sz="1800" dirty="0" smtClean="0"/>
              <a:t>D, </a:t>
            </a:r>
            <a:r>
              <a:rPr lang="en-US" sz="1800" dirty="0"/>
              <a:t>and their complements), start by expressing the function as a sum-of-products (SOP) or product-of-sums (POS).</a:t>
            </a:r>
          </a:p>
          <a:p>
            <a:pPr lvl="1" algn="just"/>
            <a:r>
              <a:rPr lang="en-US" sz="1800" dirty="0"/>
              <a:t>The </a:t>
            </a:r>
            <a:r>
              <a:rPr lang="en-US" sz="1800" b="1" dirty="0">
                <a:solidFill>
                  <a:srgbClr val="00B050"/>
                </a:solidFill>
              </a:rPr>
              <a:t>NMOS pull-down network realizes the function directly (SOP terms series, parallel); the PMOS pull-up network implements the logical complement (dual POS; parallel and series reversed).</a:t>
            </a:r>
          </a:p>
          <a:p>
            <a:pPr lvl="1" algn="just"/>
            <a:r>
              <a:rPr lang="en-US" sz="1800" b="1" dirty="0">
                <a:solidFill>
                  <a:srgbClr val="00B050"/>
                </a:solidFill>
              </a:rPr>
              <a:t>Connect NMOS sources to ground, drains to output; PMOS sources to VDD, drains to output. Gates receive </a:t>
            </a:r>
            <a:r>
              <a:rPr lang="en-US" sz="1800" b="1" dirty="0" smtClean="0">
                <a:solidFill>
                  <a:srgbClr val="00B050"/>
                </a:solidFill>
              </a:rPr>
              <a:t>the required </a:t>
            </a:r>
            <a:r>
              <a:rPr lang="en-US" sz="1800" b="1" dirty="0">
                <a:solidFill>
                  <a:srgbClr val="00B050"/>
                </a:solidFill>
              </a:rPr>
              <a:t>logic inputs.</a:t>
            </a:r>
          </a:p>
          <a:p>
            <a:pPr algn="just"/>
            <a:r>
              <a:rPr lang="en-US" sz="2000" dirty="0"/>
              <a:t>Merit</a:t>
            </a:r>
          </a:p>
          <a:p>
            <a:pPr lvl="1" algn="just"/>
            <a:r>
              <a:rPr lang="en-US" sz="1800" dirty="0"/>
              <a:t>Full rail-to-rail output swing, zero static power dissipation in steady-state.</a:t>
            </a:r>
          </a:p>
          <a:p>
            <a:pPr lvl="1" algn="just"/>
            <a:r>
              <a:rPr lang="en-US" sz="1800" dirty="0"/>
              <a:t>High noise margin, robust for digital ICs.</a:t>
            </a:r>
          </a:p>
          <a:p>
            <a:pPr lvl="1" algn="just"/>
            <a:r>
              <a:rPr lang="en-US" sz="1800" dirty="0"/>
              <a:t>Power efficient—significant only during switching.</a:t>
            </a:r>
          </a:p>
          <a:p>
            <a:pPr algn="just"/>
            <a:r>
              <a:rPr lang="en-US" sz="2000" dirty="0"/>
              <a:t>Demerit</a:t>
            </a:r>
          </a:p>
          <a:p>
            <a:pPr lvl="1" algn="just"/>
            <a:r>
              <a:rPr lang="en-US" sz="1800" dirty="0"/>
              <a:t>Larger transistor count compared to other styles for complex functions.</a:t>
            </a:r>
          </a:p>
          <a:p>
            <a:pPr lvl="1" algn="just"/>
            <a:r>
              <a:rPr lang="en-US" sz="1800" dirty="0" smtClean="0"/>
              <a:t>The layout area and capacitance are </a:t>
            </a:r>
            <a:r>
              <a:rPr lang="en-US" sz="1800" dirty="0"/>
              <a:t>high, limiting speed in dense circuits.</a:t>
            </a:r>
          </a:p>
          <a:p>
            <a:pPr marL="0" indent="0" algn="just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198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Pseudo-NMOS Logic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013" y="1590157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Fundamentals </a:t>
            </a:r>
            <a:r>
              <a:rPr lang="en-US" dirty="0"/>
              <a:t>and Steps</a:t>
            </a:r>
          </a:p>
          <a:p>
            <a:pPr lvl="1"/>
            <a:r>
              <a:rPr lang="en-US" dirty="0"/>
              <a:t>Pseudo-NMOS uses a full NMOS pull-down network but only one always-on PMOS as pull-up.</a:t>
            </a:r>
          </a:p>
          <a:p>
            <a:pPr lvl="1"/>
            <a:r>
              <a:rPr lang="en-US" dirty="0"/>
              <a:t>Build the NMOS logic network for the desired function as in CMOS.</a:t>
            </a:r>
          </a:p>
          <a:p>
            <a:pPr lvl="1"/>
            <a:r>
              <a:rPr lang="en-US" dirty="0"/>
              <a:t>Connect the single PMOS to VDD and output, permanently enabled.</a:t>
            </a:r>
          </a:p>
          <a:p>
            <a:pPr lvl="1"/>
            <a:r>
              <a:rPr lang="en-US" dirty="0"/>
              <a:t>The output is pulled high when NMOS is off; pulled down through NMOS stack when function evaluates true.</a:t>
            </a:r>
          </a:p>
          <a:p>
            <a:r>
              <a:rPr lang="en-US" dirty="0"/>
              <a:t>Merit</a:t>
            </a:r>
          </a:p>
          <a:p>
            <a:pPr lvl="1"/>
            <a:r>
              <a:rPr lang="en-US" dirty="0"/>
              <a:t>Lower transistor count, saving area and simplifying layout.</a:t>
            </a:r>
          </a:p>
          <a:p>
            <a:pPr lvl="1"/>
            <a:r>
              <a:rPr lang="en-US" dirty="0"/>
              <a:t>Faster operation for certain gates due to fewer PMOS transistors and smaller output capacitance.</a:t>
            </a:r>
          </a:p>
          <a:p>
            <a:r>
              <a:rPr lang="en-US" dirty="0"/>
              <a:t>Demerit</a:t>
            </a:r>
          </a:p>
          <a:p>
            <a:pPr lvl="1"/>
            <a:r>
              <a:rPr lang="en-US" dirty="0"/>
              <a:t>Not full CMOS; static power dissipation occurs when NMOS and PMOS conduct simultaneously.</a:t>
            </a:r>
          </a:p>
          <a:p>
            <a:pPr lvl="1"/>
            <a:r>
              <a:rPr lang="en-US" dirty="0"/>
              <a:t>Weaker logic '1', reduced noise margin.</a:t>
            </a:r>
          </a:p>
          <a:p>
            <a:pPr lvl="1"/>
            <a:r>
              <a:rPr lang="en-US" dirty="0"/>
              <a:t>Not suitable for low-power or noise-sensitive designs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08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299" y="365125"/>
            <a:ext cx="11522225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DCVSL (Differential </a:t>
            </a:r>
            <a:r>
              <a:rPr lang="en-US" dirty="0" err="1" smtClean="0"/>
              <a:t>Cascode</a:t>
            </a:r>
            <a:r>
              <a:rPr lang="en-US" dirty="0" smtClean="0"/>
              <a:t> Voltage Switch Logic)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8432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Fundamentals </a:t>
            </a:r>
            <a:r>
              <a:rPr lang="en-US" dirty="0"/>
              <a:t>and Steps</a:t>
            </a:r>
          </a:p>
          <a:p>
            <a:pPr lvl="1"/>
            <a:r>
              <a:rPr lang="en-US" dirty="0"/>
              <a:t>DCVSL creates a differential output using complementary NMOS stacks (for F and </a:t>
            </a:r>
            <a:r>
              <a:rPr lang="en-US" dirty="0" smtClean="0"/>
              <a:t>‾</a:t>
            </a:r>
            <a:r>
              <a:rPr lang="en-US" i="1" dirty="0"/>
              <a:t>F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Each output node is connected by its own stack to ground but cross-coupled for feedback with inverters.</a:t>
            </a:r>
          </a:p>
          <a:p>
            <a:pPr lvl="1"/>
            <a:r>
              <a:rPr lang="en-US" dirty="0"/>
              <a:t>Both stacks </a:t>
            </a:r>
            <a:r>
              <a:rPr lang="en-US" dirty="0" smtClean="0"/>
              <a:t>are activated </a:t>
            </a:r>
            <a:r>
              <a:rPr lang="en-US" dirty="0"/>
              <a:t>by complementary inputs; only one output is pulled low, the other remains high.</a:t>
            </a:r>
          </a:p>
          <a:p>
            <a:pPr lvl="1"/>
            <a:r>
              <a:rPr lang="en-US" dirty="0"/>
              <a:t>Cross-coupling enhances speed and robustness, creates push-pull outputs.</a:t>
            </a:r>
          </a:p>
          <a:p>
            <a:r>
              <a:rPr lang="en-US" dirty="0"/>
              <a:t>Merit</a:t>
            </a:r>
          </a:p>
          <a:p>
            <a:pPr lvl="1"/>
            <a:r>
              <a:rPr lang="en-US" dirty="0"/>
              <a:t>Very fast switching, suitable for high-speed </a:t>
            </a:r>
            <a:r>
              <a:rPr lang="en-US" dirty="0" smtClean="0"/>
              <a:t>data paths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Differential operation enables lower single-ended noise susceptibility and higher circuit speed.</a:t>
            </a:r>
          </a:p>
          <a:p>
            <a:r>
              <a:rPr lang="en-US" dirty="0"/>
              <a:t>Demerit</a:t>
            </a:r>
          </a:p>
          <a:p>
            <a:pPr lvl="1"/>
            <a:r>
              <a:rPr lang="en-US" dirty="0"/>
              <a:t>Higher complexity, more </a:t>
            </a:r>
            <a:r>
              <a:rPr lang="en-US" dirty="0" smtClean="0"/>
              <a:t>transistors, </a:t>
            </a:r>
            <a:r>
              <a:rPr lang="en-US" dirty="0"/>
              <a:t>and wiring for cross-coupling.</a:t>
            </a:r>
          </a:p>
          <a:p>
            <a:pPr lvl="1"/>
            <a:r>
              <a:rPr lang="en-US" dirty="0"/>
              <a:t>Increased dynamic power from toggling both outputs.</a:t>
            </a:r>
          </a:p>
          <a:p>
            <a:pPr lvl="1"/>
            <a:r>
              <a:rPr lang="en-US" dirty="0"/>
              <a:t>Less area efficient for low-speed or dense logic blocks.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792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63" y="104005"/>
            <a:ext cx="5982007" cy="18542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02" y="2306800"/>
            <a:ext cx="3988005" cy="40261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686" y="2523675"/>
            <a:ext cx="5391427" cy="3702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8580" y="5337271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46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Table: Logic Family </a:t>
            </a:r>
            <a:r>
              <a:rPr lang="en-US" dirty="0" smtClean="0"/>
              <a:t>Comparison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544307"/>
              </p:ext>
            </p:extLst>
          </p:nvPr>
        </p:nvGraphicFramePr>
        <p:xfrm>
          <a:off x="1632576" y="1825625"/>
          <a:ext cx="8983100" cy="44466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45775">
                  <a:extLst>
                    <a:ext uri="{9D8B030D-6E8A-4147-A177-3AD203B41FA5}">
                      <a16:colId xmlns:a16="http://schemas.microsoft.com/office/drawing/2014/main" val="1654029520"/>
                    </a:ext>
                  </a:extLst>
                </a:gridCol>
                <a:gridCol w="2245775">
                  <a:extLst>
                    <a:ext uri="{9D8B030D-6E8A-4147-A177-3AD203B41FA5}">
                      <a16:colId xmlns:a16="http://schemas.microsoft.com/office/drawing/2014/main" val="317674872"/>
                    </a:ext>
                  </a:extLst>
                </a:gridCol>
                <a:gridCol w="2245775">
                  <a:extLst>
                    <a:ext uri="{9D8B030D-6E8A-4147-A177-3AD203B41FA5}">
                      <a16:colId xmlns:a16="http://schemas.microsoft.com/office/drawing/2014/main" val="947754655"/>
                    </a:ext>
                  </a:extLst>
                </a:gridCol>
                <a:gridCol w="2245775">
                  <a:extLst>
                    <a:ext uri="{9D8B030D-6E8A-4147-A177-3AD203B41FA5}">
                      <a16:colId xmlns:a16="http://schemas.microsoft.com/office/drawing/2014/main" val="3374941970"/>
                    </a:ext>
                  </a:extLst>
                </a:gridCol>
              </a:tblGrid>
              <a:tr h="593786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1" dirty="0">
                          <a:effectLst/>
                        </a:rPr>
                        <a:t>Design Style</a:t>
                      </a:r>
                    </a:p>
                  </a:txBody>
                  <a:tcPr marL="46390" marR="46390" marT="46390" marB="463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1" dirty="0">
                          <a:effectLst/>
                        </a:rPr>
                        <a:t>Steps</a:t>
                      </a:r>
                    </a:p>
                  </a:txBody>
                  <a:tcPr marL="46390" marR="46390" marT="46390" marB="463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1" dirty="0">
                          <a:effectLst/>
                        </a:rPr>
                        <a:t>Merit</a:t>
                      </a:r>
                    </a:p>
                  </a:txBody>
                  <a:tcPr marL="46390" marR="46390" marT="46390" marB="463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1" dirty="0">
                          <a:effectLst/>
                        </a:rPr>
                        <a:t>Demerit</a:t>
                      </a:r>
                    </a:p>
                  </a:txBody>
                  <a:tcPr marL="46390" marR="46390" marT="46390" marB="463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092469"/>
                  </a:ext>
                </a:extLst>
              </a:tr>
              <a:tr h="1085515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 b="1" dirty="0">
                          <a:effectLst/>
                        </a:rPr>
                        <a:t>CMOS</a:t>
                      </a:r>
                    </a:p>
                  </a:txBody>
                  <a:tcPr marL="46390" marR="46390" marT="41751" marB="4175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 dirty="0">
                          <a:effectLst/>
                        </a:rPr>
                        <a:t>SOP/POS build; dual networks</a:t>
                      </a:r>
                    </a:p>
                  </a:txBody>
                  <a:tcPr marL="46390" marR="46390" marT="41751" marB="41751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 dirty="0">
                          <a:effectLst/>
                        </a:rPr>
                        <a:t>High noise margin, no static power</a:t>
                      </a:r>
                    </a:p>
                  </a:txBody>
                  <a:tcPr marL="46390" marR="46390" marT="41751" marB="41751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 dirty="0">
                          <a:effectLst/>
                        </a:rPr>
                        <a:t>More devices, larger area</a:t>
                      </a:r>
                    </a:p>
                  </a:txBody>
                  <a:tcPr marL="46390" marR="46390" marT="41751" marB="41751" anchor="ctr"/>
                </a:tc>
                <a:extLst>
                  <a:ext uri="{0D108BD9-81ED-4DB2-BD59-A6C34878D82A}">
                    <a16:rowId xmlns:a16="http://schemas.microsoft.com/office/drawing/2014/main" val="1199466881"/>
                  </a:ext>
                </a:extLst>
              </a:tr>
              <a:tr h="1336018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 b="1" dirty="0">
                          <a:effectLst/>
                        </a:rPr>
                        <a:t>Pseudo-NMOS</a:t>
                      </a:r>
                    </a:p>
                  </a:txBody>
                  <a:tcPr marL="46390" marR="46390" marT="41751" marB="4175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 dirty="0">
                          <a:effectLst/>
                        </a:rPr>
                        <a:t>SOP network; single PMOS load</a:t>
                      </a:r>
                    </a:p>
                  </a:txBody>
                  <a:tcPr marL="46390" marR="46390" marT="41751" marB="41751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 dirty="0">
                          <a:effectLst/>
                        </a:rPr>
                        <a:t>Fewer devices, faster</a:t>
                      </a:r>
                    </a:p>
                  </a:txBody>
                  <a:tcPr marL="46390" marR="46390" marT="41751" marB="41751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>
                          <a:effectLst/>
                        </a:rPr>
                        <a:t>Static power, lower noise margin</a:t>
                      </a:r>
                    </a:p>
                  </a:txBody>
                  <a:tcPr marL="46390" marR="46390" marT="41751" marB="41751" anchor="ctr"/>
                </a:tc>
                <a:extLst>
                  <a:ext uri="{0D108BD9-81ED-4DB2-BD59-A6C34878D82A}">
                    <a16:rowId xmlns:a16="http://schemas.microsoft.com/office/drawing/2014/main" val="399909153"/>
                  </a:ext>
                </a:extLst>
              </a:tr>
              <a:tr h="1336018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 b="1" dirty="0">
                          <a:effectLst/>
                        </a:rPr>
                        <a:t>DCVSL</a:t>
                      </a:r>
                    </a:p>
                  </a:txBody>
                  <a:tcPr marL="46390" marR="46390" marT="41751" marB="4175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>
                          <a:effectLst/>
                        </a:rPr>
                        <a:t>Dual stacks; cross-coupled diff</a:t>
                      </a:r>
                    </a:p>
                  </a:txBody>
                  <a:tcPr marL="46390" marR="46390" marT="41751" marB="41751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 dirty="0">
                          <a:effectLst/>
                        </a:rPr>
                        <a:t>Fast, differential, robust</a:t>
                      </a:r>
                    </a:p>
                  </a:txBody>
                  <a:tcPr marL="46390" marR="46390" marT="41751" marB="41751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2400" dirty="0">
                          <a:effectLst/>
                        </a:rPr>
                        <a:t>Complex, high dynamic power</a:t>
                      </a:r>
                    </a:p>
                  </a:txBody>
                  <a:tcPr marL="46390" marR="46390" marT="41751" marB="41751" anchor="ctr"/>
                </a:tc>
                <a:extLst>
                  <a:ext uri="{0D108BD9-81ED-4DB2-BD59-A6C34878D82A}">
                    <a16:rowId xmlns:a16="http://schemas.microsoft.com/office/drawing/2014/main" val="1221409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80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418" y="2110043"/>
            <a:ext cx="4483330" cy="41213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67" y="438858"/>
            <a:ext cx="6026460" cy="106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50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049" y="19244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Sizing for Output Resistance </a:t>
            </a:r>
            <a:r>
              <a:rPr lang="en-US" dirty="0" smtClean="0"/>
              <a:t>Equivalence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067" y="1501352"/>
            <a:ext cx="7231706" cy="529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627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669" y="1731879"/>
            <a:ext cx="7982360" cy="507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28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386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CMOS Logic Design</vt:lpstr>
      <vt:lpstr>Pseudo-NMOS Logic Design</vt:lpstr>
      <vt:lpstr>DCVSL (Differential Cascode Voltage Switch Logic)</vt:lpstr>
      <vt:lpstr>PowerPoint Presentation</vt:lpstr>
      <vt:lpstr>Summary Table: Logic Family Comparison</vt:lpstr>
      <vt:lpstr>PowerPoint Presentation</vt:lpstr>
      <vt:lpstr>Sizing for Output Resistance Equivalence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8</cp:revision>
  <dcterms:created xsi:type="dcterms:W3CDTF">2025-09-23T13:35:45Z</dcterms:created>
  <dcterms:modified xsi:type="dcterms:W3CDTF">2025-09-24T02:31:01Z</dcterms:modified>
</cp:coreProperties>
</file>