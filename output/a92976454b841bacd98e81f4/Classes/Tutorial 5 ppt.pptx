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83" r:id="rId6"/>
    <p:sldId id="284" r:id="rId7"/>
    <p:sldId id="285" r:id="rId8"/>
    <p:sldId id="286" r:id="rId9"/>
    <p:sldId id="287" r:id="rId10"/>
    <p:sldId id="288" r:id="rId11"/>
    <p:sldId id="289" r:id="rId12"/>
    <p:sldId id="294" r:id="rId13"/>
    <p:sldId id="260" r:id="rId14"/>
    <p:sldId id="293" r:id="rId15"/>
    <p:sldId id="290" r:id="rId16"/>
    <p:sldId id="291" r:id="rId17"/>
    <p:sldId id="292" r:id="rId18"/>
    <p:sldId id="268" r:id="rId19"/>
    <p:sldId id="269" r:id="rId20"/>
    <p:sldId id="270" r:id="rId21"/>
    <p:sldId id="263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64" r:id="rId30"/>
    <p:sldId id="278" r:id="rId31"/>
    <p:sldId id="281" r:id="rId32"/>
    <p:sldId id="265" r:id="rId33"/>
    <p:sldId id="279" r:id="rId34"/>
    <p:sldId id="280" r:id="rId35"/>
    <p:sldId id="266" r:id="rId36"/>
    <p:sldId id="267" r:id="rId37"/>
    <p:sldId id="282" r:id="rId3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335" autoAdjust="0"/>
    <p:restoredTop sz="94660"/>
  </p:normalViewPr>
  <p:slideViewPr>
    <p:cSldViewPr snapToGrid="0">
      <p:cViewPr>
        <p:scale>
          <a:sx n="66" d="100"/>
          <a:sy n="66" d="100"/>
        </p:scale>
        <p:origin x="428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B5EED1-DDBD-1D1D-828E-A048AE41EF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D1F669-FE2B-B021-4DD1-F77D6B9FC9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6D79AE-567D-7D4D-2A1F-9A9848A458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859F89-B797-491D-B186-22C982D8AD1A}" type="datetimeFigureOut">
              <a:rPr lang="en-IN" smtClean="0"/>
              <a:t>08-09-2025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ADED3B-32EE-70A1-9294-E8EC7A1266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263F74-1A68-7D1A-40A6-FC90F26E7E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A11EC-844E-4A2E-9CEE-7DC40D9E32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10401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8A3A31-A1DE-751F-B203-0E04C7CBB0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6C340B-5DAF-E1DF-4998-D58A0E7ED5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53739A-331B-74ED-5840-1BC02AAC4A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859F89-B797-491D-B186-22C982D8AD1A}" type="datetimeFigureOut">
              <a:rPr lang="en-IN" smtClean="0"/>
              <a:t>08-09-2025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40A015-2FEF-E163-6DB0-0644EE2164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613A35-16F8-0E99-61FB-F5F2C0A2B6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A11EC-844E-4A2E-9CEE-7DC40D9E32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55678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EBDB7D-22DE-519E-F314-C27FA2C7FC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43DB91-F947-F402-159D-32492D3242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3C1773-FE13-BAA3-4AB8-F0061B3D3A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859F89-B797-491D-B186-22C982D8AD1A}" type="datetimeFigureOut">
              <a:rPr lang="en-IN" smtClean="0"/>
              <a:t>08-09-2025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467300-B2FF-27B2-6069-C9858E7926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369F13-98CB-C46E-7DCA-99E9E1B4EF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A11EC-844E-4A2E-9CEE-7DC40D9E32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42211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BFF2C4-908D-2F3E-26D4-72D9DFB0BE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8EF818-A529-0287-7C5B-958094ED04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ACC64A-7A86-EC35-63E2-D434C52A50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4E0639-117C-1E45-ED36-C0A405E03A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859F89-B797-491D-B186-22C982D8AD1A}" type="datetimeFigureOut">
              <a:rPr lang="en-IN" smtClean="0"/>
              <a:t>08-09-2025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98BDF1-1CE0-CB72-1545-17D2925895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1F5C8A-AF34-6712-A9E3-DFAD614022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A11EC-844E-4A2E-9CEE-7DC40D9E32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12285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B5AE45-1864-8976-D668-BEE1978A24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835889-22A8-2C7A-AF7E-938DF7ACE6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450DC86-E608-BD5F-D52A-44F2377267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0560B0D-21B5-6DF5-A5DA-28FB589A3C5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0A9B3F8-6426-FC27-6580-F1EFFE56B71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D785F6B-7025-6DE7-D14E-682D5308B8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859F89-B797-491D-B186-22C982D8AD1A}" type="datetimeFigureOut">
              <a:rPr lang="en-IN" smtClean="0"/>
              <a:t>08-09-2025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0BAE3B4-AA88-2C82-691F-CD4325DB4A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90D0F90-CD4C-BBC6-15D9-BAE852590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A11EC-844E-4A2E-9CEE-7DC40D9E32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57370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BB6808-AAFB-0518-B7FA-E1041F4B51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1C68EF-5349-7BE1-12C5-00202AFEF9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859F89-B797-491D-B186-22C982D8AD1A}" type="datetimeFigureOut">
              <a:rPr lang="en-IN" smtClean="0"/>
              <a:t>08-09-2025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85F71FB-0866-EE21-C274-095D22D438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443D896-CB65-F018-15C4-BAEE3FBA2D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A11EC-844E-4A2E-9CEE-7DC40D9E32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33029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57BABF6-020F-219C-B666-935888B05C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859F89-B797-491D-B186-22C982D8AD1A}" type="datetimeFigureOut">
              <a:rPr lang="en-IN" smtClean="0"/>
              <a:t>08-09-2025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5DCA550-2785-97E8-5C95-1D7429C8A9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AFCBFD-992A-6B06-1314-DACEAE9FA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A11EC-844E-4A2E-9CEE-7DC40D9E32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16700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1CCFB6-E38B-5863-1EEB-86DD468E3A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54F161-6345-C434-12FD-C84E012C3B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3F5454-46DC-C7A2-4C58-96F4BF8301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36A1B2-5A46-F355-D226-6FF316A934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859F89-B797-491D-B186-22C982D8AD1A}" type="datetimeFigureOut">
              <a:rPr lang="en-IN" smtClean="0"/>
              <a:t>08-09-2025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4B68DB-4FF6-A970-DBB7-4944388796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85A3F0-E652-FABD-6B5C-E1A74DFCA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A11EC-844E-4A2E-9CEE-7DC40D9E32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6790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5E4D46-D0E7-1981-CBE7-41165B2498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573B5A3-9A12-4791-D4A0-95E823B7EF1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693CB2-0DBE-EBD5-1BA7-3F391FFE6F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F01985-2AF3-14C8-D938-03DE86C848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859F89-B797-491D-B186-22C982D8AD1A}" type="datetimeFigureOut">
              <a:rPr lang="en-IN" smtClean="0"/>
              <a:t>08-09-2025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60C231-C113-39C4-6C6A-94C1E08CE1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173D6E-560D-AC5D-5B20-2DC64728D4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A11EC-844E-4A2E-9CEE-7DC40D9E32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96689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A69571-FB0B-F318-A5BD-FA40221524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C49CC2-DDA1-B254-D1F7-544B3256AC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4E5024-FB68-F052-95BD-057539C3EA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859F89-B797-491D-B186-22C982D8AD1A}" type="datetimeFigureOut">
              <a:rPr lang="en-IN" smtClean="0"/>
              <a:t>08-09-2025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4E6374-F080-DE9D-6BC1-7FF99A48CF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9685C9-EB38-FA4A-82FA-78389E20C7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A11EC-844E-4A2E-9CEE-7DC40D9E32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16817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CEEA3C9-3B55-E0A3-AB01-E8F874BA5CF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07E986C-38E4-9E6C-4A96-7F978ED262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85BADB-2973-EDE9-99F2-FF7A34344A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859F89-B797-491D-B186-22C982D8AD1A}" type="datetimeFigureOut">
              <a:rPr lang="en-IN" smtClean="0"/>
              <a:t>08-09-2025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9571D6-5F58-9D93-1D8C-6240CE14D4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DFC0E1-8F5C-A276-0FBB-D9AB7A23D2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A11EC-844E-4A2E-9CEE-7DC40D9E32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61780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8BA7A93-C146-1D7D-8066-8B17667DFF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86FF76-C776-80F4-65E9-CF775E58B0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08A4FA-4696-D9BD-51F0-7346CD6DE9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859F89-B797-491D-B186-22C982D8AD1A}" type="datetimeFigureOut">
              <a:rPr lang="en-IN" smtClean="0"/>
              <a:t>08-09-2025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C940DD-BA5A-8718-3B26-D3894C279D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0678CD-E516-49B8-A5A2-D76520ABFB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CA11EC-844E-4A2E-9CEE-7DC40D9E32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82869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0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2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36.png"/><Relationship Id="rId7" Type="http://schemas.openxmlformats.org/officeDocument/2006/relationships/image" Target="../media/image230.png"/><Relationship Id="rId2" Type="http://schemas.openxmlformats.org/officeDocument/2006/relationships/image" Target="../media/image18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0.png"/><Relationship Id="rId5" Type="http://schemas.openxmlformats.org/officeDocument/2006/relationships/image" Target="../media/image210.png"/><Relationship Id="rId4" Type="http://schemas.openxmlformats.org/officeDocument/2006/relationships/image" Target="../media/image200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0.png"/><Relationship Id="rId7" Type="http://schemas.openxmlformats.org/officeDocument/2006/relationships/image" Target="../media/image230.png"/><Relationship Id="rId2" Type="http://schemas.openxmlformats.org/officeDocument/2006/relationships/image" Target="../media/image24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0.png"/><Relationship Id="rId5" Type="http://schemas.openxmlformats.org/officeDocument/2006/relationships/image" Target="../media/image210.png"/><Relationship Id="rId4" Type="http://schemas.openxmlformats.org/officeDocument/2006/relationships/image" Target="../media/image200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0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28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7.png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Subtitle 2">
                <a:extLst>
                  <a:ext uri="{FF2B5EF4-FFF2-40B4-BE49-F238E27FC236}">
                    <a16:creationId xmlns:a16="http://schemas.microsoft.com/office/drawing/2014/main" id="{2540E5C2-1A5D-B4FF-2CE5-898DEFB7E863}"/>
                  </a:ext>
                </a:extLst>
              </p:cNvPr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1524000" y="1240971"/>
                <a:ext cx="9144000" cy="4376058"/>
              </a:xfrm>
            </p:spPr>
            <p:txBody>
              <a:bodyPr>
                <a:normAutofit/>
              </a:bodyPr>
              <a:lstStyle/>
              <a:p>
                <a:pPr algn="just"/>
                <a:r>
                  <a:rPr lang="en-US" sz="2800" dirty="0" smtClean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Ques 1: </a:t>
                </a:r>
                <a:r>
                  <a:rPr lang="en-US" sz="2800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Given a Boolean function</a:t>
                </a:r>
              </a:p>
              <a:p>
                <a:endParaRPr lang="en-IN" sz="2800" dirty="0">
                  <a:solidFill>
                    <a:srgbClr val="00206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</m:d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subHide m:val="on"/>
                          <m:supHide m:val="on"/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  <m:d>
                            <m:d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0,1, 5, 7, 11, 14</m:t>
                              </m:r>
                            </m:e>
                          </m:d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(12, 15)</m:t>
                          </m:r>
                        </m:e>
                      </m:nary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50000"/>
                  </a:lnSpc>
                </a:pPr>
                <a:r>
                  <a:rPr lang="en-US" sz="2800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Implement the function with a minimal network of 2:1 multiplexer. Consider that true and false forms of inputs are available.</a:t>
                </a:r>
                <a:endParaRPr lang="en-IN" sz="2800" dirty="0">
                  <a:solidFill>
                    <a:srgbClr val="00206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Subtitle 2">
                <a:extLst>
                  <a:ext uri="{FF2B5EF4-FFF2-40B4-BE49-F238E27FC236}">
                    <a16:creationId xmlns:a16="http://schemas.microsoft.com/office/drawing/2014/main" id="{2540E5C2-1A5D-B4FF-2CE5-898DEFB7E86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1524000" y="1240971"/>
                <a:ext cx="9144000" cy="4376058"/>
              </a:xfrm>
              <a:blipFill>
                <a:blip r:embed="rId2"/>
                <a:stretch>
                  <a:fillRect l="-1333" t="-2510" r="-133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602364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84DDD6DB-7EFD-5DCA-2F8A-1F7E11BB5AB8}"/>
                  </a:ext>
                </a:extLst>
              </p:cNvPr>
              <p:cNvSpPr txBox="1"/>
              <p:nvPr/>
            </p:nvSpPr>
            <p:spPr>
              <a:xfrm>
                <a:off x="1457386" y="345452"/>
                <a:ext cx="9277224" cy="9866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IN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</m:d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subHide m:val="on"/>
                          <m:supHide m:val="on"/>
                          <m:ctrlPr>
                            <a:rPr lang="en-IN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  <m:d>
                            <m:dPr>
                              <m:ctrlPr>
                                <a:rPr lang="en-IN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0,1, 5, 7, 11, 14</m:t>
                              </m:r>
                            </m:e>
                          </m:d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(12, 15)</m:t>
                          </m:r>
                        </m:e>
                      </m:nary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84DDD6DB-7EFD-5DCA-2F8A-1F7E11BB5A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57386" y="345452"/>
                <a:ext cx="9277224" cy="98668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4D3026E-B155-6A45-5E1D-C15DC9D7D7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6046486"/>
              </p:ext>
            </p:extLst>
          </p:nvPr>
        </p:nvGraphicFramePr>
        <p:xfrm>
          <a:off x="4140283" y="2253611"/>
          <a:ext cx="3911432" cy="3108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77858">
                  <a:extLst>
                    <a:ext uri="{9D8B030D-6E8A-4147-A177-3AD203B41FA5}">
                      <a16:colId xmlns:a16="http://schemas.microsoft.com/office/drawing/2014/main" val="1467204976"/>
                    </a:ext>
                  </a:extLst>
                </a:gridCol>
                <a:gridCol w="977858">
                  <a:extLst>
                    <a:ext uri="{9D8B030D-6E8A-4147-A177-3AD203B41FA5}">
                      <a16:colId xmlns:a16="http://schemas.microsoft.com/office/drawing/2014/main" val="848200218"/>
                    </a:ext>
                  </a:extLst>
                </a:gridCol>
                <a:gridCol w="977858">
                  <a:extLst>
                    <a:ext uri="{9D8B030D-6E8A-4147-A177-3AD203B41FA5}">
                      <a16:colId xmlns:a16="http://schemas.microsoft.com/office/drawing/2014/main" val="137612723"/>
                    </a:ext>
                  </a:extLst>
                </a:gridCol>
                <a:gridCol w="977858">
                  <a:extLst>
                    <a:ext uri="{9D8B030D-6E8A-4147-A177-3AD203B41FA5}">
                      <a16:colId xmlns:a16="http://schemas.microsoft.com/office/drawing/2014/main" val="2287830879"/>
                    </a:ext>
                  </a:extLst>
                </a:gridCol>
              </a:tblGrid>
              <a:tr h="770579">
                <a:tc>
                  <a:txBody>
                    <a:bodyPr/>
                    <a:lstStyle/>
                    <a:p>
                      <a:pPr algn="ctr">
                        <a:lnSpc>
                          <a:spcPct val="250000"/>
                        </a:lnSpc>
                      </a:pPr>
                      <a:r>
                        <a:rPr lang="en-IN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50000"/>
                        </a:lnSpc>
                      </a:pPr>
                      <a:r>
                        <a:rPr lang="en-IN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50000"/>
                        </a:lnSpc>
                      </a:pPr>
                      <a:r>
                        <a:rPr lang="en-IN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50000"/>
                        </a:lnSpc>
                      </a:pPr>
                      <a:r>
                        <a:rPr lang="en-IN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254528"/>
                  </a:ext>
                </a:extLst>
              </a:tr>
              <a:tr h="770579">
                <a:tc>
                  <a:txBody>
                    <a:bodyPr/>
                    <a:lstStyle/>
                    <a:p>
                      <a:pPr algn="ctr">
                        <a:lnSpc>
                          <a:spcPct val="250000"/>
                        </a:lnSpc>
                      </a:pPr>
                      <a:r>
                        <a:rPr lang="en-IN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50000"/>
                        </a:lnSpc>
                      </a:pPr>
                      <a:r>
                        <a:rPr lang="en-IN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50000"/>
                        </a:lnSpc>
                      </a:pPr>
                      <a:r>
                        <a:rPr lang="en-IN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50000"/>
                        </a:lnSpc>
                      </a:pPr>
                      <a:r>
                        <a:rPr lang="en-IN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4779834"/>
                  </a:ext>
                </a:extLst>
              </a:tr>
              <a:tr h="770579">
                <a:tc>
                  <a:txBody>
                    <a:bodyPr/>
                    <a:lstStyle/>
                    <a:p>
                      <a:pPr algn="ctr">
                        <a:lnSpc>
                          <a:spcPct val="250000"/>
                        </a:lnSpc>
                      </a:pPr>
                      <a:r>
                        <a:rPr lang="en-IN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50000"/>
                        </a:lnSpc>
                      </a:pPr>
                      <a:r>
                        <a:rPr lang="en-IN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50000"/>
                        </a:lnSpc>
                      </a:pPr>
                      <a:r>
                        <a:rPr lang="en-IN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50000"/>
                        </a:lnSpc>
                      </a:pPr>
                      <a:r>
                        <a:rPr lang="en-IN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6854168"/>
                  </a:ext>
                </a:extLst>
              </a:tr>
              <a:tr h="770579">
                <a:tc>
                  <a:txBody>
                    <a:bodyPr/>
                    <a:lstStyle/>
                    <a:p>
                      <a:pPr algn="ctr">
                        <a:lnSpc>
                          <a:spcPct val="250000"/>
                        </a:lnSpc>
                      </a:pPr>
                      <a:r>
                        <a:rPr lang="en-IN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50000"/>
                        </a:lnSpc>
                      </a:pPr>
                      <a:r>
                        <a:rPr lang="en-IN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50000"/>
                        </a:lnSpc>
                      </a:pPr>
                      <a:r>
                        <a:rPr lang="en-IN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50000"/>
                        </a:lnSpc>
                      </a:pPr>
                      <a:r>
                        <a:rPr lang="en-IN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2077985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57CAA3C1-1177-BAF9-1290-B8F8C1F1CF66}"/>
              </a:ext>
            </a:extLst>
          </p:cNvPr>
          <p:cNvSpPr txBox="1"/>
          <p:nvPr/>
        </p:nvSpPr>
        <p:spPr>
          <a:xfrm>
            <a:off x="4140283" y="1813650"/>
            <a:ext cx="39114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      00              01             11               10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95A4D6A-D800-A42A-F59C-108DACEE44A9}"/>
              </a:ext>
            </a:extLst>
          </p:cNvPr>
          <p:cNvSpPr/>
          <p:nvPr/>
        </p:nvSpPr>
        <p:spPr>
          <a:xfrm>
            <a:off x="4365784" y="2452041"/>
            <a:ext cx="1519963" cy="490506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9621464-F05F-543C-E220-7B5E1A696E5C}"/>
              </a:ext>
            </a:extLst>
          </p:cNvPr>
          <p:cNvSpPr/>
          <p:nvPr/>
        </p:nvSpPr>
        <p:spPr>
          <a:xfrm>
            <a:off x="5336017" y="3221610"/>
            <a:ext cx="1519963" cy="490506"/>
          </a:xfrm>
          <a:prstGeom prst="rect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3F387F3-361C-619F-6F84-BDA250DA329C}"/>
              </a:ext>
            </a:extLst>
          </p:cNvPr>
          <p:cNvSpPr/>
          <p:nvPr/>
        </p:nvSpPr>
        <p:spPr>
          <a:xfrm>
            <a:off x="3953897" y="3975364"/>
            <a:ext cx="968709" cy="490506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2E95F06-5648-0191-A74A-B0ECAED77528}"/>
              </a:ext>
            </a:extLst>
          </p:cNvPr>
          <p:cNvSpPr/>
          <p:nvPr/>
        </p:nvSpPr>
        <p:spPr>
          <a:xfrm>
            <a:off x="7269392" y="3986314"/>
            <a:ext cx="968709" cy="490506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BCE8AC8-8D16-CF14-6155-52070EC6D9A4}"/>
              </a:ext>
            </a:extLst>
          </p:cNvPr>
          <p:cNvSpPr/>
          <p:nvPr/>
        </p:nvSpPr>
        <p:spPr>
          <a:xfrm rot="5400000">
            <a:off x="5985098" y="4370304"/>
            <a:ext cx="1251257" cy="490506"/>
          </a:xfrm>
          <a:prstGeom prst="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FAE55EB-99B9-C858-3178-D9E74C931845}"/>
              </a:ext>
            </a:extLst>
          </p:cNvPr>
          <p:cNvCxnSpPr>
            <a:cxnSpLocks/>
          </p:cNvCxnSpPr>
          <p:nvPr/>
        </p:nvCxnSpPr>
        <p:spPr>
          <a:xfrm flipH="1" flipV="1">
            <a:off x="3512457" y="1813650"/>
            <a:ext cx="627826" cy="433633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328ED561-3837-5653-64A2-926B536815FC}"/>
              </a:ext>
            </a:extLst>
          </p:cNvPr>
          <p:cNvSpPr txBox="1"/>
          <p:nvPr/>
        </p:nvSpPr>
        <p:spPr>
          <a:xfrm>
            <a:off x="3621903" y="2149732"/>
            <a:ext cx="518379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  <a:p>
            <a:r>
              <a:rPr lang="en-IN" dirty="0"/>
              <a:t>00</a:t>
            </a:r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01</a:t>
            </a:r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11</a:t>
            </a:r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10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26D6F76-319B-E919-584D-708B92B4C181}"/>
              </a:ext>
            </a:extLst>
          </p:cNvPr>
          <p:cNvSpPr txBox="1"/>
          <p:nvPr/>
        </p:nvSpPr>
        <p:spPr>
          <a:xfrm>
            <a:off x="3740851" y="1643252"/>
            <a:ext cx="6249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cd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613FE13-7DEF-1271-A700-41544507B637}"/>
              </a:ext>
            </a:extLst>
          </p:cNvPr>
          <p:cNvSpPr txBox="1"/>
          <p:nvPr/>
        </p:nvSpPr>
        <p:spPr>
          <a:xfrm>
            <a:off x="3360879" y="1995311"/>
            <a:ext cx="6249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ab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BDCFF01A-4DC7-F582-DD1E-A61987C1830A}"/>
              </a:ext>
            </a:extLst>
          </p:cNvPr>
          <p:cNvCxnSpPr>
            <a:cxnSpLocks/>
          </p:cNvCxnSpPr>
          <p:nvPr/>
        </p:nvCxnSpPr>
        <p:spPr>
          <a:xfrm flipH="1">
            <a:off x="3005140" y="2791146"/>
            <a:ext cx="1471422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A6E9A1E0-56B0-F92C-B84C-A1D0F2682716}"/>
              </a:ext>
            </a:extLst>
          </p:cNvPr>
          <p:cNvCxnSpPr>
            <a:cxnSpLocks/>
          </p:cNvCxnSpPr>
          <p:nvPr/>
        </p:nvCxnSpPr>
        <p:spPr>
          <a:xfrm>
            <a:off x="6684790" y="3369534"/>
            <a:ext cx="1859078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81C771ED-E8DF-A318-D692-9E7406A62C65}"/>
              </a:ext>
            </a:extLst>
          </p:cNvPr>
          <p:cNvCxnSpPr>
            <a:cxnSpLocks/>
            <a:endCxn id="45" idx="3"/>
          </p:cNvCxnSpPr>
          <p:nvPr/>
        </p:nvCxnSpPr>
        <p:spPr>
          <a:xfrm flipH="1">
            <a:off x="2998820" y="4376746"/>
            <a:ext cx="1141462" cy="4719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808770B6-3733-1EC3-059C-2B67ABCB29CF}"/>
              </a:ext>
            </a:extLst>
          </p:cNvPr>
          <p:cNvCxnSpPr>
            <a:cxnSpLocks/>
            <a:endCxn id="47" idx="1"/>
          </p:cNvCxnSpPr>
          <p:nvPr/>
        </p:nvCxnSpPr>
        <p:spPr>
          <a:xfrm>
            <a:off x="6749183" y="4765023"/>
            <a:ext cx="1715350" cy="4616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584B26D2-4E33-5216-1673-B2A6F709F774}"/>
                  </a:ext>
                </a:extLst>
              </p:cNvPr>
              <p:cNvSpPr txBox="1"/>
              <p:nvPr/>
            </p:nvSpPr>
            <p:spPr>
              <a:xfrm>
                <a:off x="2386603" y="2603434"/>
                <a:ext cx="680127" cy="46980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IN" sz="24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4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acc>
                      <m:acc>
                        <m:accPr>
                          <m:chr m:val="̅"/>
                          <m:ctrlPr>
                            <a:rPr lang="en-IN" sz="24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4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acc>
                      <m:acc>
                        <m:accPr>
                          <m:chr m:val="̅"/>
                          <m:ctrlPr>
                            <a:rPr lang="en-IN" sz="24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4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</m:acc>
                    </m:oMath>
                  </m:oMathPara>
                </a14:m>
                <a:endParaRPr lang="en-IN" sz="24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584B26D2-4E33-5216-1673-B2A6F709F7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86603" y="2603434"/>
                <a:ext cx="680127" cy="469809"/>
              </a:xfrm>
              <a:prstGeom prst="rect">
                <a:avLst/>
              </a:prstGeom>
              <a:blipFill>
                <a:blip r:embed="rId3"/>
                <a:stretch>
                  <a:fillRect r="-576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0AFEBA13-472F-830E-0B6A-12C82F505F65}"/>
                  </a:ext>
                </a:extLst>
              </p:cNvPr>
              <p:cNvSpPr txBox="1"/>
              <p:nvPr/>
            </p:nvSpPr>
            <p:spPr>
              <a:xfrm>
                <a:off x="2318693" y="4189034"/>
                <a:ext cx="680127" cy="46980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𝑎𝑏</m:t>
                      </m:r>
                      <m:acc>
                        <m:accPr>
                          <m:chr m:val="̅"/>
                          <m:ctrlPr>
                            <a:rPr lang="en-IN" sz="24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4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</m:acc>
                    </m:oMath>
                  </m:oMathPara>
                </a14:m>
                <a:endParaRPr lang="en-IN" sz="24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0AFEBA13-472F-830E-0B6A-12C82F505F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18693" y="4189034"/>
                <a:ext cx="680127" cy="469809"/>
              </a:xfrm>
              <a:prstGeom prst="rect">
                <a:avLst/>
              </a:prstGeom>
              <a:blipFill>
                <a:blip r:embed="rId4"/>
                <a:stretch>
                  <a:fillRect l="-2679" r="-5982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CDB1DF87-120C-BAFF-AC1B-04C831C28FDD}"/>
                  </a:ext>
                </a:extLst>
              </p:cNvPr>
              <p:cNvSpPr txBox="1"/>
              <p:nvPr/>
            </p:nvSpPr>
            <p:spPr>
              <a:xfrm>
                <a:off x="8464533" y="3182343"/>
                <a:ext cx="68012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IN" sz="24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4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acc>
                      <m:r>
                        <a:rPr lang="en-US" sz="24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𝑏𝑑</m:t>
                      </m:r>
                    </m:oMath>
                  </m:oMathPara>
                </a14:m>
                <a:endParaRPr lang="en-IN" sz="24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CDB1DF87-120C-BAFF-AC1B-04C831C28F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64533" y="3182343"/>
                <a:ext cx="680127" cy="461665"/>
              </a:xfrm>
              <a:prstGeom prst="rect">
                <a:avLst/>
              </a:prstGeom>
              <a:blipFill>
                <a:blip r:embed="rId5"/>
                <a:stretch>
                  <a:fillRect r="-630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B5EFD04F-BC6C-F829-0B20-DD42B725FB85}"/>
                  </a:ext>
                </a:extLst>
              </p:cNvPr>
              <p:cNvSpPr txBox="1"/>
              <p:nvPr/>
            </p:nvSpPr>
            <p:spPr>
              <a:xfrm>
                <a:off x="8464533" y="4580357"/>
                <a:ext cx="68012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𝑎𝑐𝑑</m:t>
                      </m:r>
                    </m:oMath>
                  </m:oMathPara>
                </a14:m>
                <a:endParaRPr lang="en-IN" sz="24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B5EFD04F-BC6C-F829-0B20-DD42B725FB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64533" y="4580357"/>
                <a:ext cx="680127" cy="461665"/>
              </a:xfrm>
              <a:prstGeom prst="rect">
                <a:avLst/>
              </a:prstGeom>
              <a:blipFill>
                <a:blip r:embed="rId6"/>
                <a:stretch>
                  <a:fillRect l="-2703" r="-180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16FB5682-C508-62FE-8B0A-61801014497D}"/>
                  </a:ext>
                </a:extLst>
              </p:cNvPr>
              <p:cNvSpPr txBox="1"/>
              <p:nvPr/>
            </p:nvSpPr>
            <p:spPr>
              <a:xfrm>
                <a:off x="3360879" y="5825282"/>
                <a:ext cx="5649856" cy="4700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𝒇</m:t>
                      </m:r>
                      <m:r>
                        <a:rPr lang="en-IN" sz="24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IN" sz="24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IN" sz="24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IN" sz="24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𝒃</m:t>
                      </m:r>
                      <m:r>
                        <a:rPr lang="en-IN" sz="24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IN" sz="24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𝒄</m:t>
                      </m:r>
                      <m:r>
                        <a:rPr lang="en-IN" sz="24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IN" sz="24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𝒅</m:t>
                      </m:r>
                      <m:r>
                        <a:rPr lang="en-IN" sz="24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acc>
                        <m:accPr>
                          <m:chr m:val="̅"/>
                          <m:ctrlPr>
                            <a:rPr lang="en-IN" sz="24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4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</m:acc>
                      <m:acc>
                        <m:accPr>
                          <m:chr m:val="̅"/>
                          <m:ctrlPr>
                            <a:rPr lang="en-IN" sz="24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4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</m:acc>
                      <m:acc>
                        <m:accPr>
                          <m:chr m:val="̅"/>
                          <m:ctrlPr>
                            <a:rPr lang="en-IN" sz="24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4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𝒄</m:t>
                          </m:r>
                        </m:e>
                      </m:acc>
                      <m:r>
                        <a:rPr lang="en-US" sz="2400" b="1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̅"/>
                          <m:ctrlPr>
                            <a:rPr lang="en-IN" sz="24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4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</m:acc>
                      <m:r>
                        <a:rPr lang="en-US" sz="2400" b="1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𝒃𝒅</m:t>
                      </m:r>
                      <m:r>
                        <a:rPr lang="en-US" sz="2400" b="1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1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𝒂𝒃</m:t>
                      </m:r>
                      <m:acc>
                        <m:accPr>
                          <m:chr m:val="̅"/>
                          <m:ctrlPr>
                            <a:rPr lang="en-IN" sz="24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4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𝒅</m:t>
                          </m:r>
                        </m:e>
                      </m:acc>
                      <m:r>
                        <a:rPr lang="en-US" sz="2400" b="1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1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𝒂𝒄𝒅</m:t>
                      </m:r>
                    </m:oMath>
                  </m:oMathPara>
                </a14:m>
                <a:endParaRPr lang="en-IN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16FB5682-C508-62FE-8B0A-6180101449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60879" y="5825282"/>
                <a:ext cx="5649856" cy="470065"/>
              </a:xfrm>
              <a:prstGeom prst="rect">
                <a:avLst/>
              </a:prstGeom>
              <a:blipFill>
                <a:blip r:embed="rId7"/>
                <a:stretch>
                  <a:fillRect b="-1818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688792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4" grpId="0" animBg="1"/>
      <p:bldP spid="17" grpId="0" animBg="1"/>
      <p:bldP spid="18" grpId="0" animBg="1"/>
      <p:bldP spid="19" grpId="0" animBg="1"/>
      <p:bldP spid="44" grpId="0"/>
      <p:bldP spid="45" grpId="0"/>
      <p:bldP spid="46" grpId="0"/>
      <p:bldP spid="4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047D4482-19F3-6748-05EE-7E5AD81689EA}"/>
                  </a:ext>
                </a:extLst>
              </p:cNvPr>
              <p:cNvSpPr txBox="1"/>
              <p:nvPr/>
            </p:nvSpPr>
            <p:spPr>
              <a:xfrm>
                <a:off x="5584372" y="176521"/>
                <a:ext cx="5170713" cy="65857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24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en-IN" sz="24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400" b="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acc>
                      <m:acc>
                        <m:accPr>
                          <m:chr m:val="̅"/>
                          <m:ctrlPr>
                            <a:rPr lang="en-IN" sz="24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400" b="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acc>
                      <m:acc>
                        <m:accPr>
                          <m:chr m:val="̅"/>
                          <m:ctrlPr>
                            <a:rPr lang="en-IN" sz="24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400" b="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</m:acc>
                      <m:r>
                        <a:rPr lang="en-US" sz="2400" b="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̅"/>
                          <m:ctrlPr>
                            <a:rPr lang="en-IN" sz="24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400" b="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acc>
                      <m:r>
                        <a:rPr lang="en-US" sz="2400" b="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𝑏𝑑</m:t>
                      </m:r>
                      <m:r>
                        <a:rPr lang="en-US" sz="2400" b="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𝑎𝑏</m:t>
                      </m:r>
                      <m:acc>
                        <m:accPr>
                          <m:chr m:val="̅"/>
                          <m:ctrlPr>
                            <a:rPr lang="en-IN" sz="24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400" b="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</m:acc>
                      <m:r>
                        <a:rPr lang="en-US" sz="2400" b="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𝑎𝑐𝑑</m:t>
                      </m:r>
                    </m:oMath>
                  </m:oMathPara>
                </a14:m>
                <a:endParaRPr lang="en-IN" sz="24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047D4482-19F3-6748-05EE-7E5AD81689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84372" y="176521"/>
                <a:ext cx="5170713" cy="65857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9" name="Group 18"/>
          <p:cNvGrpSpPr/>
          <p:nvPr/>
        </p:nvGrpSpPr>
        <p:grpSpPr>
          <a:xfrm>
            <a:off x="3747634" y="1625600"/>
            <a:ext cx="4358583" cy="3732164"/>
            <a:chOff x="3747634" y="1625600"/>
            <a:chExt cx="4358583" cy="373216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35983206-6421-FE8D-B2AA-C0D41374B2E3}"/>
                    </a:ext>
                  </a:extLst>
                </p:cNvPr>
                <p:cNvSpPr txBox="1"/>
                <p:nvPr/>
              </p:nvSpPr>
              <p:spPr>
                <a:xfrm>
                  <a:off x="5584372" y="3813012"/>
                  <a:ext cx="522514" cy="369332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400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IN" sz="2400" i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IN" sz="2400" dirty="0"/>
                </a:p>
              </p:txBody>
            </p:sp>
          </mc:Choice>
          <mc:Fallback xmlns=""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35983206-6421-FE8D-B2AA-C0D41374B2E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84372" y="3813012"/>
                  <a:ext cx="522514" cy="369332"/>
                </a:xfrm>
                <a:prstGeom prst="rect">
                  <a:avLst/>
                </a:prstGeom>
                <a:blipFill>
                  <a:blip r:embed="rId3"/>
                  <a:stretch>
                    <a:fillRect b="-13115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9" name="Group 8"/>
            <p:cNvGrpSpPr/>
            <p:nvPr/>
          </p:nvGrpSpPr>
          <p:grpSpPr>
            <a:xfrm>
              <a:off x="3747634" y="1625600"/>
              <a:ext cx="4358583" cy="3732164"/>
              <a:chOff x="3747634" y="1625600"/>
              <a:chExt cx="4358583" cy="3732164"/>
            </a:xfrm>
          </p:grpSpPr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7D6A0C65-53FE-957E-B93E-4AA476F621D8}"/>
                  </a:ext>
                </a:extLst>
              </p:cNvPr>
              <p:cNvSpPr/>
              <p:nvPr/>
            </p:nvSpPr>
            <p:spPr>
              <a:xfrm>
                <a:off x="4971143" y="2333170"/>
                <a:ext cx="1727200" cy="1872343"/>
              </a:xfrm>
              <a:prstGeom prst="rect">
                <a:avLst/>
              </a:prstGeom>
              <a:noFill/>
              <a:ln w="31750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B54FC6F-6B4E-B299-C3EF-C1EE127F2B97}"/>
                  </a:ext>
                </a:extLst>
              </p:cNvPr>
              <p:cNvSpPr txBox="1"/>
              <p:nvPr/>
            </p:nvSpPr>
            <p:spPr>
              <a:xfrm>
                <a:off x="4971143" y="2500537"/>
                <a:ext cx="544286" cy="15696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sz="2400" dirty="0"/>
                  <a:t>0</a:t>
                </a:r>
              </a:p>
              <a:p>
                <a:pPr algn="ctr"/>
                <a:endParaRPr lang="en-IN" sz="2400" dirty="0"/>
              </a:p>
              <a:p>
                <a:pPr algn="ctr"/>
                <a:endParaRPr lang="en-IN" sz="2400" dirty="0"/>
              </a:p>
              <a:p>
                <a:pPr algn="ctr"/>
                <a:r>
                  <a:rPr lang="en-IN" sz="2400" dirty="0"/>
                  <a:t>1</a:t>
                </a:r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98C3E333-C66D-059B-84A8-C5157E03E973}"/>
                  </a:ext>
                </a:extLst>
              </p:cNvPr>
              <p:cNvSpPr txBox="1"/>
              <p:nvPr/>
            </p:nvSpPr>
            <p:spPr>
              <a:xfrm>
                <a:off x="5308600" y="2962201"/>
                <a:ext cx="1052285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dirty="0"/>
                  <a:t>2:1</a:t>
                </a:r>
              </a:p>
              <a:p>
                <a:pPr algn="ctr"/>
                <a:r>
                  <a:rPr lang="en-IN" dirty="0"/>
                  <a:t>MUX</a:t>
                </a:r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BFC1B549-581E-095D-92BF-DE2182A964BD}"/>
                  </a:ext>
                </a:extLst>
              </p:cNvPr>
              <p:cNvSpPr txBox="1"/>
              <p:nvPr/>
            </p:nvSpPr>
            <p:spPr>
              <a:xfrm>
                <a:off x="6288314" y="3054533"/>
                <a:ext cx="41002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sz="2400" dirty="0"/>
                  <a:t>Y</a:t>
                </a:r>
              </a:p>
            </p:txBody>
          </p:sp>
          <p:cxnSp>
            <p:nvCxnSpPr>
              <p:cNvPr id="22" name="Straight Arrow Connector 21">
                <a:extLst>
                  <a:ext uri="{FF2B5EF4-FFF2-40B4-BE49-F238E27FC236}">
                    <a16:creationId xmlns:a16="http://schemas.microsoft.com/office/drawing/2014/main" id="{D09CD3D5-55CF-5999-86C6-7FE6860E14AA}"/>
                  </a:ext>
                </a:extLst>
              </p:cNvPr>
              <p:cNvCxnSpPr>
                <a:stCxn id="17" idx="3"/>
              </p:cNvCxnSpPr>
              <p:nvPr/>
            </p:nvCxnSpPr>
            <p:spPr>
              <a:xfrm flipV="1">
                <a:off x="6698342" y="3285365"/>
                <a:ext cx="972458" cy="1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3" name="Straight Arrow Connector 22">
                <a:extLst>
                  <a:ext uri="{FF2B5EF4-FFF2-40B4-BE49-F238E27FC236}">
                    <a16:creationId xmlns:a16="http://schemas.microsoft.com/office/drawing/2014/main" id="{B7DFB118-AD91-6784-2600-59400CC8CF9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834742" y="4205513"/>
                <a:ext cx="0" cy="649512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38B45647-649C-85A3-4DA5-2C573F1B2883}"/>
                  </a:ext>
                </a:extLst>
              </p:cNvPr>
              <p:cNvSpPr txBox="1"/>
              <p:nvPr/>
            </p:nvSpPr>
            <p:spPr>
              <a:xfrm>
                <a:off x="5553532" y="4834544"/>
                <a:ext cx="576934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sz="2800" i="1" dirty="0"/>
                  <a:t>a</a:t>
                </a:r>
              </a:p>
            </p:txBody>
          </p:sp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5E9DE46F-5ADE-9A7F-2D13-5F02745CA0FE}"/>
                  </a:ext>
                </a:extLst>
              </p:cNvPr>
              <p:cNvSpPr txBox="1"/>
              <p:nvPr/>
            </p:nvSpPr>
            <p:spPr>
              <a:xfrm>
                <a:off x="7529283" y="3023755"/>
                <a:ext cx="576934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sz="2800" dirty="0"/>
                  <a:t>f</a:t>
                </a:r>
              </a:p>
            </p:txBody>
          </p:sp>
          <p:cxnSp>
            <p:nvCxnSpPr>
              <p:cNvPr id="52" name="Straight Arrow Connector 51">
                <a:extLst>
                  <a:ext uri="{FF2B5EF4-FFF2-40B4-BE49-F238E27FC236}">
                    <a16:creationId xmlns:a16="http://schemas.microsoft.com/office/drawing/2014/main" id="{B6EE385C-AD39-8F51-8012-7FE16F51663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448629" y="3831154"/>
                <a:ext cx="522514" cy="0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6" name="Straight Arrow Connector 55">
                <a:extLst>
                  <a:ext uri="{FF2B5EF4-FFF2-40B4-BE49-F238E27FC236}">
                    <a16:creationId xmlns:a16="http://schemas.microsoft.com/office/drawing/2014/main" id="{F103C375-7A3D-6B36-EF67-4B57459ADA1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448629" y="2720812"/>
                <a:ext cx="522514" cy="0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7" name="Straight Connector 56">
                <a:extLst>
                  <a:ext uri="{FF2B5EF4-FFF2-40B4-BE49-F238E27FC236}">
                    <a16:creationId xmlns:a16="http://schemas.microsoft.com/office/drawing/2014/main" id="{3592DD62-04CB-8FB8-F535-7E0FE2BB4C2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751943" y="1625600"/>
                <a:ext cx="726165" cy="0"/>
              </a:xfrm>
              <a:prstGeom prst="line">
                <a:avLst/>
              </a:prstGeom>
              <a:ln w="317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Straight Connector 58">
                <a:extLst>
                  <a:ext uri="{FF2B5EF4-FFF2-40B4-BE49-F238E27FC236}">
                    <a16:creationId xmlns:a16="http://schemas.microsoft.com/office/drawing/2014/main" id="{385A7E59-F93C-E575-0A38-BB0D37B0F3D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463594" y="1625600"/>
                <a:ext cx="0" cy="1095212"/>
              </a:xfrm>
              <a:prstGeom prst="line">
                <a:avLst/>
              </a:prstGeom>
              <a:ln w="317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5" name="Straight Connector 74">
                <a:extLst>
                  <a:ext uri="{FF2B5EF4-FFF2-40B4-BE49-F238E27FC236}">
                    <a16:creationId xmlns:a16="http://schemas.microsoft.com/office/drawing/2014/main" id="{51F1F12D-2017-14F5-2632-E7F70DA0C24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747634" y="4845683"/>
                <a:ext cx="726165" cy="0"/>
              </a:xfrm>
              <a:prstGeom prst="line">
                <a:avLst/>
              </a:prstGeom>
              <a:ln w="317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Straight Connector 75">
                <a:extLst>
                  <a:ext uri="{FF2B5EF4-FFF2-40B4-BE49-F238E27FC236}">
                    <a16:creationId xmlns:a16="http://schemas.microsoft.com/office/drawing/2014/main" id="{8341BE2B-7EC8-4060-46E4-81EDAC863FF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4448629" y="3813012"/>
                <a:ext cx="10656" cy="1042013"/>
              </a:xfrm>
              <a:prstGeom prst="line">
                <a:avLst/>
              </a:prstGeom>
              <a:ln w="317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4" name="Group 3"/>
          <p:cNvGrpSpPr/>
          <p:nvPr/>
        </p:nvGrpSpPr>
        <p:grpSpPr>
          <a:xfrm>
            <a:off x="856343" y="689428"/>
            <a:ext cx="2881086" cy="2636525"/>
            <a:chOff x="856343" y="689428"/>
            <a:chExt cx="2881086" cy="2636525"/>
          </a:xfrm>
        </p:grpSpPr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D8B4863C-2B77-1012-0C83-82E70755578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19400" y="2561771"/>
              <a:ext cx="0" cy="501579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grpSp>
          <p:nvGrpSpPr>
            <p:cNvPr id="3" name="Group 2"/>
            <p:cNvGrpSpPr/>
            <p:nvPr/>
          </p:nvGrpSpPr>
          <p:grpSpPr>
            <a:xfrm>
              <a:off x="856343" y="689428"/>
              <a:ext cx="2881086" cy="2636525"/>
              <a:chOff x="856343" y="689428"/>
              <a:chExt cx="2881086" cy="2636525"/>
            </a:xfrm>
          </p:grpSpPr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5F0798F1-7FE7-BB56-079D-B7167FA46B4F}"/>
                  </a:ext>
                </a:extLst>
              </p:cNvPr>
              <p:cNvSpPr/>
              <p:nvPr/>
            </p:nvSpPr>
            <p:spPr>
              <a:xfrm>
                <a:off x="2010229" y="689428"/>
                <a:ext cx="1727200" cy="1872343"/>
              </a:xfrm>
              <a:prstGeom prst="rect">
                <a:avLst/>
              </a:prstGeom>
              <a:noFill/>
              <a:ln w="31750" cap="flat" cmpd="sng" algn="ctr">
                <a:solidFill>
                  <a:srgbClr val="00B05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87EA9C8-3263-6147-CFE6-B04DF840F0DF}"/>
                  </a:ext>
                </a:extLst>
              </p:cNvPr>
              <p:cNvSpPr txBox="1"/>
              <p:nvPr/>
            </p:nvSpPr>
            <p:spPr>
              <a:xfrm>
                <a:off x="2024743" y="853167"/>
                <a:ext cx="544286" cy="15696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sz="2400" dirty="0"/>
                  <a:t>0</a:t>
                </a:r>
              </a:p>
              <a:p>
                <a:pPr algn="ctr"/>
                <a:endParaRPr lang="en-IN" sz="2400" dirty="0"/>
              </a:p>
              <a:p>
                <a:pPr algn="ctr"/>
                <a:endParaRPr lang="en-IN" sz="2400" dirty="0"/>
              </a:p>
              <a:p>
                <a:pPr algn="ctr"/>
                <a:r>
                  <a:rPr lang="en-IN" sz="2400" dirty="0"/>
                  <a:t>1</a:t>
                </a: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3E5D816E-6626-A544-BC97-74B3C25BABA4}"/>
                  </a:ext>
                </a:extLst>
              </p:cNvPr>
              <p:cNvSpPr txBox="1"/>
              <p:nvPr/>
            </p:nvSpPr>
            <p:spPr>
              <a:xfrm>
                <a:off x="2347686" y="1302433"/>
                <a:ext cx="1052285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dirty="0"/>
                  <a:t>2:1</a:t>
                </a:r>
              </a:p>
              <a:p>
                <a:pPr algn="ctr"/>
                <a:r>
                  <a:rPr lang="en-IN" dirty="0"/>
                  <a:t>MUX</a:t>
                </a: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0A8A07C0-4FDB-D7CE-0E02-B30D29D660DE}"/>
                  </a:ext>
                </a:extLst>
              </p:cNvPr>
              <p:cNvSpPr txBox="1"/>
              <p:nvPr/>
            </p:nvSpPr>
            <p:spPr>
              <a:xfrm>
                <a:off x="3327401" y="1394765"/>
                <a:ext cx="41002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sz="2400" dirty="0"/>
                  <a:t>Y</a:t>
                </a:r>
              </a:p>
            </p:txBody>
          </p:sp>
          <p:cxnSp>
            <p:nvCxnSpPr>
              <p:cNvPr id="29" name="Straight Arrow Connector 28">
                <a:extLst>
                  <a:ext uri="{FF2B5EF4-FFF2-40B4-BE49-F238E27FC236}">
                    <a16:creationId xmlns:a16="http://schemas.microsoft.com/office/drawing/2014/main" id="{8077D42B-5A99-E0B3-B6AB-9407FEFB386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364343" y="1086452"/>
                <a:ext cx="638629" cy="0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2" name="Straight Arrow Connector 31">
                <a:extLst>
                  <a:ext uri="{FF2B5EF4-FFF2-40B4-BE49-F238E27FC236}">
                    <a16:creationId xmlns:a16="http://schemas.microsoft.com/office/drawing/2014/main" id="{B4B16C59-2A28-FFDA-187E-EFEC45F5058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364343" y="2145994"/>
                <a:ext cx="638629" cy="0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8" name="Straight Connector 37">
                <a:extLst>
                  <a:ext uri="{FF2B5EF4-FFF2-40B4-BE49-F238E27FC236}">
                    <a16:creationId xmlns:a16="http://schemas.microsoft.com/office/drawing/2014/main" id="{292973D5-6748-EF92-297C-D0AB2BB41A08}"/>
                  </a:ext>
                </a:extLst>
              </p:cNvPr>
              <p:cNvCxnSpPr/>
              <p:nvPr/>
            </p:nvCxnSpPr>
            <p:spPr>
              <a:xfrm flipH="1">
                <a:off x="1908628" y="3063350"/>
                <a:ext cx="928914" cy="0"/>
              </a:xfrm>
              <a:prstGeom prst="line">
                <a:avLst/>
              </a:prstGeom>
              <a:ln w="317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5" name="TextBox 44">
                    <a:extLst>
                      <a:ext uri="{FF2B5EF4-FFF2-40B4-BE49-F238E27FC236}">
                        <a16:creationId xmlns:a16="http://schemas.microsoft.com/office/drawing/2014/main" id="{94EFA2F6-C335-BD5A-57C3-341AB36AD880}"/>
                      </a:ext>
                    </a:extLst>
                  </p:cNvPr>
                  <p:cNvSpPr txBox="1"/>
                  <p:nvPr/>
                </p:nvSpPr>
                <p:spPr>
                  <a:xfrm>
                    <a:off x="2576285" y="2145994"/>
                    <a:ext cx="522514" cy="369332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IN" sz="2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4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IN" sz="2400" i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oMath>
                      </m:oMathPara>
                    </a14:m>
                    <a:endParaRPr lang="en-IN" sz="2400" dirty="0"/>
                  </a:p>
                </p:txBody>
              </p:sp>
            </mc:Choice>
            <mc:Fallback xmlns="">
              <p:sp>
                <p:nvSpPr>
                  <p:cNvPr id="45" name="TextBox 44">
                    <a:extLst>
                      <a:ext uri="{FF2B5EF4-FFF2-40B4-BE49-F238E27FC236}">
                        <a16:creationId xmlns:a16="http://schemas.microsoft.com/office/drawing/2014/main" id="{94EFA2F6-C335-BD5A-57C3-341AB36AD88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576285" y="2145994"/>
                    <a:ext cx="522514" cy="369332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b="-13115"/>
                    </a:stretch>
                  </a:blipFill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CA187ADE-0E9D-4F7B-1CFF-D4E62FEC48F9}"/>
                  </a:ext>
                </a:extLst>
              </p:cNvPr>
              <p:cNvSpPr txBox="1"/>
              <p:nvPr/>
            </p:nvSpPr>
            <p:spPr>
              <a:xfrm>
                <a:off x="1426037" y="2802733"/>
                <a:ext cx="576934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sz="2800" i="1" dirty="0"/>
                  <a:t>b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2" name="TextBox 81">
                    <a:extLst>
                      <a:ext uri="{FF2B5EF4-FFF2-40B4-BE49-F238E27FC236}">
                        <a16:creationId xmlns:a16="http://schemas.microsoft.com/office/drawing/2014/main" id="{1643E44D-B1EE-6EB1-DBCF-0AF65BCEF4DF}"/>
                      </a:ext>
                    </a:extLst>
                  </p:cNvPr>
                  <p:cNvSpPr txBox="1"/>
                  <p:nvPr/>
                </p:nvSpPr>
                <p:spPr>
                  <a:xfrm>
                    <a:off x="870875" y="779213"/>
                    <a:ext cx="576934" cy="52322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acc>
                            <m:accPr>
                              <m:chr m:val="̅"/>
                              <m:ctrlPr>
                                <a:rPr lang="en-IN" sz="280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800" b="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</m:acc>
                        </m:oMath>
                      </m:oMathPara>
                    </a14:m>
                    <a:endParaRPr lang="en-IN" sz="2800" dirty="0"/>
                  </a:p>
                </p:txBody>
              </p:sp>
            </mc:Choice>
            <mc:Fallback xmlns="">
              <p:sp>
                <p:nvSpPr>
                  <p:cNvPr id="82" name="TextBox 81">
                    <a:extLst>
                      <a:ext uri="{FF2B5EF4-FFF2-40B4-BE49-F238E27FC236}">
                        <a16:creationId xmlns:a16="http://schemas.microsoft.com/office/drawing/2014/main" id="{1643E44D-B1EE-6EB1-DBCF-0AF65BCEF4D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70875" y="779213"/>
                    <a:ext cx="576934" cy="523220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7BD928AC-1EAF-A6A3-36DC-F06463FCB83E}"/>
                  </a:ext>
                </a:extLst>
              </p:cNvPr>
              <p:cNvSpPr txBox="1"/>
              <p:nvPr/>
            </p:nvSpPr>
            <p:spPr>
              <a:xfrm>
                <a:off x="856343" y="1882298"/>
                <a:ext cx="576934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sz="2800" i="1" dirty="0"/>
                  <a:t>d</a:t>
                </a:r>
              </a:p>
            </p:txBody>
          </p:sp>
        </p:grpSp>
      </p:grpSp>
      <p:grpSp>
        <p:nvGrpSpPr>
          <p:cNvPr id="6" name="Group 5"/>
          <p:cNvGrpSpPr/>
          <p:nvPr/>
        </p:nvGrpSpPr>
        <p:grpSpPr>
          <a:xfrm>
            <a:off x="870875" y="3853543"/>
            <a:ext cx="2881068" cy="2635532"/>
            <a:chOff x="870875" y="3853543"/>
            <a:chExt cx="2881068" cy="2635532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F71C8221-2DDD-F5F7-9912-B31318996D96}"/>
                </a:ext>
              </a:extLst>
            </p:cNvPr>
            <p:cNvSpPr/>
            <p:nvPr/>
          </p:nvSpPr>
          <p:spPr>
            <a:xfrm>
              <a:off x="2010229" y="3853543"/>
              <a:ext cx="1727200" cy="1872343"/>
            </a:xfrm>
            <a:prstGeom prst="rect">
              <a:avLst/>
            </a:prstGeom>
            <a:noFill/>
            <a:ln w="31750" cap="flat" cmpd="sng" algn="ctr">
              <a:solidFill>
                <a:srgbClr val="00B0F0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rgbClr val="00B0F0"/>
                </a:solidFill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7B503928-9C92-E7E8-1D29-EBCFA754BAC4}"/>
                </a:ext>
              </a:extLst>
            </p:cNvPr>
            <p:cNvSpPr txBox="1"/>
            <p:nvPr/>
          </p:nvSpPr>
          <p:spPr>
            <a:xfrm>
              <a:off x="2024743" y="4004884"/>
              <a:ext cx="544286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2400" dirty="0"/>
                <a:t>0</a:t>
              </a:r>
            </a:p>
            <a:p>
              <a:pPr algn="ctr"/>
              <a:endParaRPr lang="en-IN" sz="2400" dirty="0"/>
            </a:p>
            <a:p>
              <a:pPr algn="ctr"/>
              <a:endParaRPr lang="en-IN" sz="2400" dirty="0"/>
            </a:p>
            <a:p>
              <a:pPr algn="ctr"/>
              <a:r>
                <a:rPr lang="en-IN" sz="2400" dirty="0"/>
                <a:t>1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C64CEC1D-643D-8CD1-DE2D-1379EAFC4AD9}"/>
                </a:ext>
              </a:extLst>
            </p:cNvPr>
            <p:cNvSpPr txBox="1"/>
            <p:nvPr/>
          </p:nvSpPr>
          <p:spPr>
            <a:xfrm>
              <a:off x="2347686" y="4466548"/>
              <a:ext cx="105228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dirty="0"/>
                <a:t>2:1</a:t>
              </a:r>
            </a:p>
            <a:p>
              <a:pPr algn="ctr"/>
              <a:r>
                <a:rPr lang="en-IN" dirty="0"/>
                <a:t>MUX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4D8EAA12-913B-942F-FDB2-D8514653D94C}"/>
                </a:ext>
              </a:extLst>
            </p:cNvPr>
            <p:cNvSpPr txBox="1"/>
            <p:nvPr/>
          </p:nvSpPr>
          <p:spPr>
            <a:xfrm>
              <a:off x="3341915" y="4558880"/>
              <a:ext cx="41002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2400" dirty="0"/>
                <a:t>Y</a:t>
              </a:r>
            </a:p>
          </p:txBody>
        </p: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FE1C962B-9366-23E7-BB5B-6F6D42B5F90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15771" y="5725886"/>
              <a:ext cx="0" cy="501579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48F8161C-DFD5-F53C-AA39-8DB0C471A4E8}"/>
                </a:ext>
              </a:extLst>
            </p:cNvPr>
            <p:cNvCxnSpPr>
              <a:cxnSpLocks/>
            </p:cNvCxnSpPr>
            <p:nvPr/>
          </p:nvCxnSpPr>
          <p:spPr>
            <a:xfrm>
              <a:off x="1364342" y="4243309"/>
              <a:ext cx="638629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A92E21DA-73E6-8C3D-F35B-D7366CEEB766}"/>
                </a:ext>
              </a:extLst>
            </p:cNvPr>
            <p:cNvCxnSpPr>
              <a:cxnSpLocks/>
            </p:cNvCxnSpPr>
            <p:nvPr/>
          </p:nvCxnSpPr>
          <p:spPr>
            <a:xfrm>
              <a:off x="1371600" y="5346395"/>
              <a:ext cx="638629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3B1232D9-172C-3DA1-9B60-48D2798963A1}"/>
                </a:ext>
              </a:extLst>
            </p:cNvPr>
            <p:cNvCxnSpPr/>
            <p:nvPr/>
          </p:nvCxnSpPr>
          <p:spPr>
            <a:xfrm flipH="1">
              <a:off x="1908628" y="6228301"/>
              <a:ext cx="928914" cy="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7A05DAF7-CA8C-913A-7C2D-B8666AB31D04}"/>
                    </a:ext>
                  </a:extLst>
                </p:cNvPr>
                <p:cNvSpPr txBox="1"/>
                <p:nvPr/>
              </p:nvSpPr>
              <p:spPr>
                <a:xfrm>
                  <a:off x="2583543" y="5290013"/>
                  <a:ext cx="522514" cy="369332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400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IN" sz="2400" i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IN" sz="2400" dirty="0"/>
                </a:p>
              </p:txBody>
            </p:sp>
          </mc:Choice>
          <mc:Fallback xmlns="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7A05DAF7-CA8C-913A-7C2D-B8666AB31D0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83543" y="5290013"/>
                  <a:ext cx="522514" cy="369332"/>
                </a:xfrm>
                <a:prstGeom prst="rect">
                  <a:avLst/>
                </a:prstGeom>
                <a:blipFill>
                  <a:blip r:embed="rId6"/>
                  <a:stretch>
                    <a:fillRect b="-15000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86E5982F-B567-786C-57FA-3563B097830F}"/>
                </a:ext>
              </a:extLst>
            </p:cNvPr>
            <p:cNvSpPr txBox="1"/>
            <p:nvPr/>
          </p:nvSpPr>
          <p:spPr>
            <a:xfrm>
              <a:off x="1447809" y="5965855"/>
              <a:ext cx="57693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2800" i="1" dirty="0"/>
                <a:t>d</a:t>
              </a:r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4819E7E1-BC99-1B32-8730-532E9C424DFC}"/>
                </a:ext>
              </a:extLst>
            </p:cNvPr>
            <p:cNvSpPr txBox="1"/>
            <p:nvPr/>
          </p:nvSpPr>
          <p:spPr>
            <a:xfrm>
              <a:off x="870875" y="3943903"/>
              <a:ext cx="57693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2800" i="1" dirty="0"/>
                <a:t>b</a:t>
              </a:r>
            </a:p>
          </p:txBody>
        </p: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4C72FECF-B2AB-61C4-98A6-546CCC693B25}"/>
                </a:ext>
              </a:extLst>
            </p:cNvPr>
            <p:cNvSpPr txBox="1"/>
            <p:nvPr/>
          </p:nvSpPr>
          <p:spPr>
            <a:xfrm>
              <a:off x="873586" y="5079519"/>
              <a:ext cx="57693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2800" i="1" dirty="0"/>
                <a:t>c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6130466" y="973301"/>
                <a:ext cx="4378234" cy="50917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2400" i="1" dirty="0">
                    <a:solidFill>
                      <a:srgbClr val="002060"/>
                    </a:solidFill>
                  </a:rPr>
                  <a:t>f  = 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IN" sz="24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d>
                      <m:dPr>
                        <m:ctrlPr>
                          <a:rPr lang="en-IN" sz="24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en-IN" sz="240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4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acc>
                        <m:acc>
                          <m:accPr>
                            <m:chr m:val="̅"/>
                            <m:ctrlPr>
                              <a:rPr lang="en-IN" sz="24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4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</m:acc>
                        <m:r>
                          <a:rPr lang="en-IN" sz="24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𝑏𝑑</m:t>
                        </m:r>
                      </m:e>
                    </m:d>
                    <m:r>
                      <a:rPr lang="en-IN" sz="24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acc>
                      <m:accPr>
                        <m:chr m:val="̅"/>
                        <m:ctrlPr>
                          <a:rPr lang="en-IN" sz="2400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acc>
                    <m:r>
                      <a:rPr lang="en-IN" sz="2400" i="1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 +</m:t>
                    </m:r>
                    <m:r>
                      <a:rPr lang="en-IN" sz="2400" i="1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𝑐𝑑</m:t>
                    </m:r>
                    <m:r>
                      <a:rPr lang="en-IN" sz="24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IN" sz="2400" i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30466" y="973301"/>
                <a:ext cx="4378234" cy="509178"/>
              </a:xfrm>
              <a:prstGeom prst="rect">
                <a:avLst/>
              </a:prstGeom>
              <a:blipFill>
                <a:blip r:embed="rId7"/>
                <a:stretch>
                  <a:fillRect l="-2228" t="-3614" b="-2409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189762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008B4689-ECDE-6C1E-F891-2D42311108B5}"/>
                  </a:ext>
                </a:extLst>
              </p:cNvPr>
              <p:cNvSpPr txBox="1"/>
              <p:nvPr/>
            </p:nvSpPr>
            <p:spPr>
              <a:xfrm>
                <a:off x="579120" y="217714"/>
                <a:ext cx="11165839" cy="183999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50000"/>
                  </a:lnSpc>
                </a:pPr>
                <a:r>
                  <a:rPr lang="en-US" sz="2400" dirty="0" smtClean="0">
                    <a:solidFill>
                      <a:schemeClr val="accent1">
                        <a:lumMod val="7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Ques 2: </a:t>
                </a:r>
                <a:r>
                  <a:rPr lang="en-US" sz="2400" dirty="0">
                    <a:solidFill>
                      <a:schemeClr val="accent1">
                        <a:lumMod val="7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 the sequential circuit shown below,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400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sz="2400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𝑝𝑑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accent1">
                        <a:lumMod val="7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the propagation delay,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400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sz="2400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𝑠𝑒𝑡𝑢𝑝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accent1">
                        <a:lumMod val="7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the setup time,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400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sz="2400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h𝑜𝑙𝑑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accent1">
                        <a:lumMod val="7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the hold time. Find the maximum clock frequency at which this circuit can operate reliably.</a:t>
                </a:r>
                <a:endParaRPr lang="en-IN" sz="2400" dirty="0">
                  <a:solidFill>
                    <a:schemeClr val="accent1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008B4689-ECDE-6C1E-F891-2D42311108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9120" y="217714"/>
                <a:ext cx="11165839" cy="1839991"/>
              </a:xfrm>
              <a:prstGeom prst="rect">
                <a:avLst/>
              </a:prstGeom>
              <a:blipFill>
                <a:blip r:embed="rId2"/>
                <a:stretch>
                  <a:fillRect l="-819" r="-819" b="-66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5" name="Picture 14">
            <a:extLst>
              <a:ext uri="{FF2B5EF4-FFF2-40B4-BE49-F238E27FC236}">
                <a16:creationId xmlns:a16="http://schemas.microsoft.com/office/drawing/2014/main" id="{5B9663B9-430B-BBFD-581E-2CD1BF8A56A1}"/>
              </a:ext>
            </a:extLst>
          </p:cNvPr>
          <p:cNvPicPr>
            <a:picLocks noChangeAspect="1"/>
          </p:cNvPicPr>
          <p:nvPr/>
        </p:nvPicPr>
        <p:blipFill>
          <a:blip r:embed="rId3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89513" y="2235200"/>
            <a:ext cx="5812972" cy="4405086"/>
          </a:xfrm>
          <a:prstGeom prst="rect">
            <a:avLst/>
          </a:prstGeom>
          <a:effectLst>
            <a:glow>
              <a:schemeClr val="accent1"/>
            </a:glow>
          </a:effectLst>
        </p:spPr>
      </p:pic>
    </p:spTree>
    <p:extLst>
      <p:ext uri="{BB962C8B-B14F-4D97-AF65-F5344CB8AC3E}">
        <p14:creationId xmlns:p14="http://schemas.microsoft.com/office/powerpoint/2010/main" val="41275167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68960" y="383461"/>
            <a:ext cx="11236960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endParaRPr lang="en-US" sz="2400" dirty="0" smtClean="0"/>
          </a:p>
          <a:p>
            <a:r>
              <a:rPr lang="en-US" sz="3600" b="1" dirty="0" smtClean="0"/>
              <a:t>Imagine </a:t>
            </a:r>
            <a:r>
              <a:rPr lang="en-US" sz="3600" b="1" dirty="0"/>
              <a:t>a Race with Baton </a:t>
            </a:r>
            <a:r>
              <a:rPr lang="en-US" sz="3600" b="1" dirty="0" smtClean="0"/>
              <a:t>Passing</a:t>
            </a:r>
          </a:p>
          <a:p>
            <a:endParaRPr lang="en-US" sz="3600" b="1" dirty="0"/>
          </a:p>
          <a:p>
            <a:r>
              <a:rPr lang="en-US" sz="2400" dirty="0"/>
              <a:t>Think of this problem like a </a:t>
            </a:r>
            <a:r>
              <a:rPr lang="en-US" sz="2400" b="1" dirty="0"/>
              <a:t>relay race</a:t>
            </a:r>
            <a:r>
              <a:rPr lang="en-US" sz="2400" dirty="0"/>
              <a:t> where runners pass a baton (data) from one runner (flip-flop) to another</a:t>
            </a:r>
            <a:r>
              <a:rPr lang="en-US" sz="2400" dirty="0" smtClean="0"/>
              <a:t>.</a:t>
            </a:r>
          </a:p>
          <a:p>
            <a:endParaRPr lang="en-US" sz="2400" dirty="0"/>
          </a:p>
        </p:txBody>
      </p:sp>
      <p:sp>
        <p:nvSpPr>
          <p:cNvPr id="3" name="Rounded Rectangle 2"/>
          <p:cNvSpPr/>
          <p:nvPr/>
        </p:nvSpPr>
        <p:spPr>
          <a:xfrm>
            <a:off x="461246" y="2852443"/>
            <a:ext cx="7998978" cy="1747880"/>
          </a:xfrm>
          <a:prstGeom prst="round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ounded Rectangle 3"/>
          <p:cNvSpPr/>
          <p:nvPr/>
        </p:nvSpPr>
        <p:spPr>
          <a:xfrm>
            <a:off x="439666" y="4712262"/>
            <a:ext cx="7725198" cy="1486237"/>
          </a:xfrm>
          <a:prstGeom prst="round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644665" y="4893240"/>
            <a:ext cx="9183111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If these rules aren’t followed: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The baton might be dropped → this is like incorrect data.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The next runner might not be ready → the system fails.</a:t>
            </a:r>
            <a:endParaRPr lang="en-US" sz="2400" dirty="0"/>
          </a:p>
        </p:txBody>
      </p:sp>
      <p:sp>
        <p:nvSpPr>
          <p:cNvPr id="6" name="Rectangle 5"/>
          <p:cNvSpPr/>
          <p:nvPr/>
        </p:nvSpPr>
        <p:spPr>
          <a:xfrm>
            <a:off x="490917" y="2830077"/>
            <a:ext cx="8203976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Each runner needs some time to reach the next runner → this is the </a:t>
            </a:r>
            <a:r>
              <a:rPr lang="en-US" b="1" dirty="0"/>
              <a:t>propagation delay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 next runner must be ready and standing properly to receive the baton → this is the </a:t>
            </a:r>
            <a:r>
              <a:rPr lang="en-US" b="1" dirty="0"/>
              <a:t>setup time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After receiving the baton, the next runner must hold it securely for a little while before starting to run → this is the </a:t>
            </a:r>
            <a:r>
              <a:rPr lang="en-US" b="1" dirty="0"/>
              <a:t>hold time</a:t>
            </a:r>
            <a:r>
              <a:rPr lang="en-US" dirty="0"/>
              <a:t>.</a:t>
            </a:r>
          </a:p>
        </p:txBody>
      </p:sp>
      <p:pic>
        <p:nvPicPr>
          <p:cNvPr id="6148" name="Picture 4" descr="Generated imag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62975" y="2443692"/>
            <a:ext cx="2988027" cy="44820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250628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animBg="1"/>
      <p:bldP spid="4" grpId="0" animBg="1"/>
      <p:bldP spid="5" grpId="0"/>
      <p:bldP spid="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9731587"/>
              </p:ext>
            </p:extLst>
          </p:nvPr>
        </p:nvGraphicFramePr>
        <p:xfrm>
          <a:off x="777240" y="446246"/>
          <a:ext cx="10515600" cy="1212152"/>
        </p:xfrm>
        <a:graphic>
          <a:graphicData uri="http://schemas.openxmlformats.org/drawingml/2006/table">
            <a:tbl>
              <a:tblPr firstRow="1" firstCol="1" bandRow="1"/>
              <a:tblGrid>
                <a:gridCol w="5257800">
                  <a:extLst>
                    <a:ext uri="{9D8B030D-6E8A-4147-A177-3AD203B41FA5}">
                      <a16:colId xmlns:a16="http://schemas.microsoft.com/office/drawing/2014/main" val="1836361444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359889715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Term</a:t>
                      </a:r>
                      <a:endParaRPr lang="en-US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What it means in the relay race analogy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455248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Propagation delay (tₚd)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Time the runner takes to reach the next runner with the baton.</a:t>
                      </a:r>
                      <a:endParaRPr lang="en-US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15449626"/>
                  </a:ext>
                </a:extLst>
              </a:tr>
            </a:tbl>
          </a:graphicData>
        </a:graphic>
      </p:graphicFrame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838200" y="1825625"/>
          <a:ext cx="10515600" cy="801751"/>
        </p:xfrm>
        <a:graphic>
          <a:graphicData uri="http://schemas.openxmlformats.org/drawingml/2006/table">
            <a:tbl>
              <a:tblPr firstRow="1" firstCol="1" bandRow="1"/>
              <a:tblGrid>
                <a:gridCol w="5257800">
                  <a:extLst>
                    <a:ext uri="{9D8B030D-6E8A-4147-A177-3AD203B41FA5}">
                      <a16:colId xmlns:a16="http://schemas.microsoft.com/office/drawing/2014/main" val="2393563979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412750619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Setup time (tₛₑₜᵤₚ)</a:t>
                      </a:r>
                      <a:endParaRPr lang="en-US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Time before the baton is passed where the next runner must be ready and stable.</a:t>
                      </a:r>
                      <a:endParaRPr lang="en-US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44638750"/>
                  </a:ext>
                </a:extLst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7865089"/>
              </p:ext>
            </p:extLst>
          </p:nvPr>
        </p:nvGraphicFramePr>
        <p:xfrm>
          <a:off x="880533" y="2816225"/>
          <a:ext cx="10515600" cy="1193102"/>
        </p:xfrm>
        <a:graphic>
          <a:graphicData uri="http://schemas.openxmlformats.org/drawingml/2006/table">
            <a:tbl>
              <a:tblPr firstRow="1" firstCol="1" bandRow="1"/>
              <a:tblGrid>
                <a:gridCol w="5257800">
                  <a:extLst>
                    <a:ext uri="{9D8B030D-6E8A-4147-A177-3AD203B41FA5}">
                      <a16:colId xmlns:a16="http://schemas.microsoft.com/office/drawing/2014/main" val="236345141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7467671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Hold time (tₕₒₗd)</a:t>
                      </a:r>
                      <a:endParaRPr lang="en-US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Time after receiving the baton where the next runner must hold it safely before running.</a:t>
                      </a:r>
                      <a:endParaRPr lang="en-US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657138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599455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38480" y="318760"/>
            <a:ext cx="11450320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/>
              <a:t>The Sequential Circuit – How It Works</a:t>
            </a:r>
          </a:p>
          <a:p>
            <a:r>
              <a:rPr lang="en-US" sz="2800" dirty="0"/>
              <a:t>Imagine: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b="1" dirty="0"/>
              <a:t>Flip-Flop 1</a:t>
            </a:r>
            <a:r>
              <a:rPr lang="en-US" sz="2800" dirty="0"/>
              <a:t> is the first runner.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b="1" dirty="0"/>
              <a:t>Flip-Flop 2</a:t>
            </a:r>
            <a:r>
              <a:rPr lang="en-US" sz="2800" dirty="0"/>
              <a:t> is the second runner</a:t>
            </a:r>
            <a:r>
              <a:rPr lang="en-US" sz="2800" dirty="0" smtClean="0"/>
              <a:t>.</a:t>
            </a:r>
            <a:endParaRPr lang="en-US" sz="2800" dirty="0"/>
          </a:p>
        </p:txBody>
      </p:sp>
      <p:sp>
        <p:nvSpPr>
          <p:cNvPr id="3" name="Rectangle 2"/>
          <p:cNvSpPr/>
          <p:nvPr/>
        </p:nvSpPr>
        <p:spPr>
          <a:xfrm>
            <a:off x="414865" y="3841803"/>
            <a:ext cx="11167535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800" dirty="0"/>
              <a:t>The clock is like the whistle that tells runners when to start running.</a:t>
            </a:r>
          </a:p>
          <a:p>
            <a:pPr algn="just"/>
            <a:r>
              <a:rPr lang="en-US" sz="2800" dirty="0"/>
              <a:t>If the baton reaches the next runner too fast or too slow, the race will be disqualified → this is why we must calculate the </a:t>
            </a:r>
            <a:r>
              <a:rPr lang="en-US" sz="2800" b="1" dirty="0"/>
              <a:t>maximum clock frequency</a:t>
            </a:r>
            <a:r>
              <a:rPr lang="en-US" sz="2800" dirty="0"/>
              <a:t> so everything runs smoothly.</a:t>
            </a:r>
            <a:endParaRPr lang="en-US" sz="2800" dirty="0"/>
          </a:p>
        </p:txBody>
      </p:sp>
      <p:sp>
        <p:nvSpPr>
          <p:cNvPr id="4" name="Rectangle 3"/>
          <p:cNvSpPr/>
          <p:nvPr/>
        </p:nvSpPr>
        <p:spPr>
          <a:xfrm>
            <a:off x="448732" y="2586335"/>
            <a:ext cx="10905067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The baton travels through some hurdles (logic gates), which slow it down — these are the </a:t>
            </a:r>
            <a:r>
              <a:rPr lang="en-US" sz="2800" b="1" dirty="0"/>
              <a:t>propagation delays of logic gates</a:t>
            </a:r>
            <a:r>
              <a:rPr lang="en-US" sz="2800" dirty="0"/>
              <a:t>.</a:t>
            </a:r>
            <a:endParaRPr lang="en-US" sz="2800" dirty="0"/>
          </a:p>
        </p:txBody>
      </p:sp>
      <p:sp>
        <p:nvSpPr>
          <p:cNvPr id="5" name="Rounded Rectangle 4"/>
          <p:cNvSpPr/>
          <p:nvPr/>
        </p:nvSpPr>
        <p:spPr>
          <a:xfrm>
            <a:off x="266513" y="371710"/>
            <a:ext cx="6108887" cy="1747880"/>
          </a:xfrm>
          <a:prstGeom prst="round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274980" y="2412177"/>
            <a:ext cx="11112687" cy="1220023"/>
          </a:xfrm>
          <a:prstGeom prst="round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ed Rectangle 6"/>
          <p:cNvSpPr/>
          <p:nvPr/>
        </p:nvSpPr>
        <p:spPr>
          <a:xfrm>
            <a:off x="351180" y="3885377"/>
            <a:ext cx="11366687" cy="1956623"/>
          </a:xfrm>
          <a:prstGeom prst="round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64117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165299"/>
            <a:ext cx="11643360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In a race between two runners, the baton passing rules are: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Runner 1</a:t>
            </a:r>
            <a:r>
              <a:rPr lang="en-US" sz="2400" dirty="0"/>
              <a:t> takes </a:t>
            </a:r>
            <a:r>
              <a:rPr lang="en-US" sz="2400" b="1" dirty="0"/>
              <a:t>4 seconds</a:t>
            </a:r>
            <a:r>
              <a:rPr lang="en-US" sz="2400" dirty="0"/>
              <a:t> to reach the next runner.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The hurdles between them add </a:t>
            </a:r>
            <a:r>
              <a:rPr lang="en-US" sz="2400" b="1" dirty="0"/>
              <a:t>3 seconds</a:t>
            </a:r>
            <a:r>
              <a:rPr lang="en-US" sz="2400" dirty="0"/>
              <a:t> of delay.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The next runner must be ready </a:t>
            </a:r>
            <a:r>
              <a:rPr lang="en-US" sz="2400" b="1" dirty="0"/>
              <a:t>2 seconds before</a:t>
            </a:r>
            <a:r>
              <a:rPr lang="en-US" sz="2400" dirty="0"/>
              <a:t> receiving the baton.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After receiving the baton, the next runner must hold it for at least </a:t>
            </a:r>
            <a:r>
              <a:rPr lang="en-US" sz="2400" b="1" dirty="0"/>
              <a:t>1 second</a:t>
            </a:r>
            <a:r>
              <a:rPr lang="en-US" sz="2400" dirty="0"/>
              <a:t> before running.</a:t>
            </a:r>
          </a:p>
          <a:p>
            <a:r>
              <a:rPr lang="en-US" sz="2400" dirty="0"/>
              <a:t>Find the </a:t>
            </a:r>
            <a:r>
              <a:rPr lang="en-US" sz="2400" b="1" dirty="0"/>
              <a:t>minimum total time</a:t>
            </a:r>
            <a:r>
              <a:rPr lang="en-US" sz="2400" dirty="0"/>
              <a:t> the race must allow for the baton to be safely passed without errors.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568" y="3394023"/>
            <a:ext cx="8013270" cy="2539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8355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027" y="182818"/>
            <a:ext cx="6471090" cy="2783902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62560" y="3476397"/>
            <a:ext cx="6096000" cy="267765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400" b="1" dirty="0"/>
              <a:t>Relating Back to Electronics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The baton = </a:t>
            </a:r>
            <a:r>
              <a:rPr lang="en-US" sz="2400" b="1" dirty="0"/>
              <a:t>data</a:t>
            </a:r>
            <a:r>
              <a:rPr lang="en-US" sz="24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The runners = </a:t>
            </a:r>
            <a:r>
              <a:rPr lang="en-US" sz="2400" b="1" dirty="0"/>
              <a:t>flip-flops</a:t>
            </a:r>
            <a:r>
              <a:rPr lang="en-US" sz="24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The hurdles = </a:t>
            </a:r>
            <a:r>
              <a:rPr lang="en-US" sz="2400" b="1" dirty="0"/>
              <a:t>logic gates</a:t>
            </a:r>
            <a:r>
              <a:rPr lang="en-US" sz="24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The clock = </a:t>
            </a:r>
            <a:r>
              <a:rPr lang="en-US" sz="2400" b="1" dirty="0"/>
              <a:t>timing signal</a:t>
            </a:r>
            <a:r>
              <a:rPr lang="en-US" sz="2400" dirty="0"/>
              <a:t> telling when to pass data.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If timing is wrong → the circuit fails!</a:t>
            </a:r>
          </a:p>
        </p:txBody>
      </p:sp>
    </p:spTree>
    <p:extLst>
      <p:ext uri="{BB962C8B-B14F-4D97-AF65-F5344CB8AC3E}">
        <p14:creationId xmlns:p14="http://schemas.microsoft.com/office/powerpoint/2010/main" val="9292190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51840" y="281861"/>
            <a:ext cx="10698480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✔ A sequential circuit is like a relay race where data is passed from one flip-flop to another.</a:t>
            </a:r>
          </a:p>
          <a:p>
            <a:r>
              <a:rPr lang="en-US" sz="2400" dirty="0"/>
              <a:t>✔ The baton (data) takes time to travel — this is </a:t>
            </a:r>
            <a:r>
              <a:rPr lang="en-US" sz="2400" b="1" dirty="0"/>
              <a:t>propagation delay</a:t>
            </a:r>
            <a:r>
              <a:rPr lang="en-US" sz="2400" dirty="0"/>
              <a:t>.</a:t>
            </a:r>
          </a:p>
          <a:p>
            <a:r>
              <a:rPr lang="en-US" sz="2400" dirty="0"/>
              <a:t>✔ The next runner must be ready before the baton arrives — this is </a:t>
            </a:r>
            <a:r>
              <a:rPr lang="en-US" sz="2400" b="1" dirty="0"/>
              <a:t>setup time</a:t>
            </a:r>
            <a:r>
              <a:rPr lang="en-US" sz="2400" dirty="0"/>
              <a:t>.</a:t>
            </a:r>
          </a:p>
          <a:p>
            <a:r>
              <a:rPr lang="en-US" sz="2400" dirty="0"/>
              <a:t>✔ After receiving the baton, it must be held securely before the next move — this is </a:t>
            </a:r>
            <a:r>
              <a:rPr lang="en-US" sz="2400" b="1" dirty="0"/>
              <a:t>hold time</a:t>
            </a:r>
            <a:r>
              <a:rPr lang="en-US" sz="2400" dirty="0"/>
              <a:t>.</a:t>
            </a:r>
          </a:p>
          <a:p>
            <a:r>
              <a:rPr lang="en-US" sz="2400" dirty="0"/>
              <a:t>✔ The clock determines when the baton is passed. It must be slow enough to meet setup requirements but not too fast to violate hold time.</a:t>
            </a:r>
          </a:p>
          <a:p>
            <a:r>
              <a:rPr lang="en-US" sz="2400" dirty="0"/>
              <a:t>✔ These rules ensure that digital circuits work reliably without errors.</a:t>
            </a:r>
          </a:p>
        </p:txBody>
      </p:sp>
    </p:spTree>
    <p:extLst>
      <p:ext uri="{BB962C8B-B14F-4D97-AF65-F5344CB8AC3E}">
        <p14:creationId xmlns:p14="http://schemas.microsoft.com/office/powerpoint/2010/main" val="2896042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008B4689-ECDE-6C1E-F891-2D42311108B5}"/>
                  </a:ext>
                </a:extLst>
              </p:cNvPr>
              <p:cNvSpPr txBox="1"/>
              <p:nvPr/>
            </p:nvSpPr>
            <p:spPr>
              <a:xfrm>
                <a:off x="579120" y="217714"/>
                <a:ext cx="11165839" cy="183999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50000"/>
                  </a:lnSpc>
                </a:pPr>
                <a:r>
                  <a:rPr lang="en-US" sz="2400" dirty="0" smtClean="0">
                    <a:solidFill>
                      <a:schemeClr val="accent1">
                        <a:lumMod val="7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Ques 2: </a:t>
                </a:r>
                <a:r>
                  <a:rPr lang="en-US" sz="2400" dirty="0">
                    <a:solidFill>
                      <a:schemeClr val="accent1">
                        <a:lumMod val="7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 the sequential circuit shown below,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400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sz="2400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𝑝𝑑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accent1">
                        <a:lumMod val="7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the propagation delay,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400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sz="2400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𝑠𝑒𝑡𝑢𝑝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accent1">
                        <a:lumMod val="7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the setup time,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400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sz="2400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h𝑜𝑙𝑑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accent1">
                        <a:lumMod val="7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the hold time. Find the maximum clock frequency at which this circuit can operate reliably.</a:t>
                </a:r>
                <a:endParaRPr lang="en-IN" sz="2400" dirty="0">
                  <a:solidFill>
                    <a:schemeClr val="accent1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008B4689-ECDE-6C1E-F891-2D42311108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9120" y="217714"/>
                <a:ext cx="11165839" cy="1839991"/>
              </a:xfrm>
              <a:prstGeom prst="rect">
                <a:avLst/>
              </a:prstGeom>
              <a:blipFill>
                <a:blip r:embed="rId2"/>
                <a:stretch>
                  <a:fillRect l="-819" r="-819" b="-66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5" name="Picture 14">
            <a:extLst>
              <a:ext uri="{FF2B5EF4-FFF2-40B4-BE49-F238E27FC236}">
                <a16:creationId xmlns:a16="http://schemas.microsoft.com/office/drawing/2014/main" id="{5B9663B9-430B-BBFD-581E-2CD1BF8A56A1}"/>
              </a:ext>
            </a:extLst>
          </p:cNvPr>
          <p:cNvPicPr>
            <a:picLocks noChangeAspect="1"/>
          </p:cNvPicPr>
          <p:nvPr/>
        </p:nvPicPr>
        <p:blipFill>
          <a:blip r:embed="rId3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3711" y="2071570"/>
            <a:ext cx="5812972" cy="4405086"/>
          </a:xfrm>
          <a:prstGeom prst="rect">
            <a:avLst/>
          </a:prstGeom>
          <a:effectLst>
            <a:glow>
              <a:schemeClr val="accent1"/>
            </a:glow>
          </a:effectLst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37779" y="2118374"/>
            <a:ext cx="2550010" cy="4367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15948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62013" y="1305342"/>
            <a:ext cx="11415562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🔑 1. Propagation Delay (</a:t>
            </a:r>
            <a:r>
              <a:rPr lang="en-US" b="1" dirty="0" err="1"/>
              <a:t>tₚd</a:t>
            </a:r>
            <a:r>
              <a:rPr lang="en-US" b="1" dirty="0"/>
              <a:t>)</a:t>
            </a:r>
          </a:p>
          <a:p>
            <a:r>
              <a:rPr lang="en-US" dirty="0"/>
              <a:t>This is like the time it takes for data to travel from one point to another after a signal is applied.</a:t>
            </a:r>
            <a:br>
              <a:rPr lang="en-US" dirty="0"/>
            </a:br>
            <a:r>
              <a:rPr lang="en-US" b="1" dirty="0"/>
              <a:t>Analogy:</a:t>
            </a:r>
            <a:r>
              <a:rPr lang="en-US" dirty="0"/>
              <a:t> You send a message to a friend, but it takes a few seconds to reach them — that's propagation delay.</a:t>
            </a:r>
          </a:p>
          <a:p>
            <a:r>
              <a:rPr lang="en-US" b="1" dirty="0"/>
              <a:t>🔑 2. Setup Time (tₛₑₜᵤₚ)</a:t>
            </a:r>
          </a:p>
          <a:p>
            <a:r>
              <a:rPr lang="en-US" dirty="0"/>
              <a:t>Before a clock pulse comes, data must already be stable and ready.</a:t>
            </a:r>
            <a:br>
              <a:rPr lang="en-US" dirty="0"/>
            </a:br>
            <a:r>
              <a:rPr lang="en-US" b="1" dirty="0"/>
              <a:t>Analogy:</a:t>
            </a:r>
            <a:r>
              <a:rPr lang="en-US" dirty="0"/>
              <a:t> If you're about to catch a ball, you need to have your hands in position before the ball arrives.</a:t>
            </a:r>
          </a:p>
          <a:p>
            <a:r>
              <a:rPr lang="en-US" b="1" dirty="0"/>
              <a:t>🔑 3. Hold Time (tₕₒₗd)</a:t>
            </a:r>
          </a:p>
          <a:p>
            <a:r>
              <a:rPr lang="en-US" dirty="0"/>
              <a:t>After the clock pulse comes, the data must stay stable for a little while so the flip-flop can correctly latch it.</a:t>
            </a:r>
            <a:br>
              <a:rPr lang="en-US" dirty="0"/>
            </a:br>
            <a:r>
              <a:rPr lang="en-US" b="1" dirty="0"/>
              <a:t>Analogy:</a:t>
            </a:r>
            <a:r>
              <a:rPr lang="en-US" dirty="0"/>
              <a:t> After catching the ball, you need to hold it for a short time before throwing it again.</a:t>
            </a:r>
          </a:p>
        </p:txBody>
      </p:sp>
    </p:spTree>
    <p:extLst>
      <p:ext uri="{BB962C8B-B14F-4D97-AF65-F5344CB8AC3E}">
        <p14:creationId xmlns:p14="http://schemas.microsoft.com/office/powerpoint/2010/main" val="1872258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3BE3A86-843F-DCF5-EACB-9BC3568B8C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7533"/>
          <a:stretch>
            <a:fillRect/>
          </a:stretch>
        </p:blipFill>
        <p:spPr>
          <a:xfrm>
            <a:off x="1491343" y="416560"/>
            <a:ext cx="8294914" cy="231185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59650E9-C003-118A-3EFD-46B0807DF71A}"/>
              </a:ext>
            </a:extLst>
          </p:cNvPr>
          <p:cNvSpPr txBox="1"/>
          <p:nvPr/>
        </p:nvSpPr>
        <p:spPr>
          <a:xfrm>
            <a:off x="1061720" y="3290388"/>
            <a:ext cx="1046988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800" b="1" u="sng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Setup Time:</a:t>
            </a:r>
            <a:r>
              <a:rPr lang="en-US" sz="2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is the amount of time for which the data at the synchronous input must be stable before the active edge of the clock.</a:t>
            </a:r>
          </a:p>
          <a:p>
            <a:pPr algn="just">
              <a:lnSpc>
                <a:spcPct val="150000"/>
              </a:lnSpc>
            </a:pPr>
            <a:r>
              <a:rPr lang="en-US" sz="2800" b="1" u="sng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Hold Time:</a:t>
            </a:r>
            <a:r>
              <a:rPr lang="en-US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It is the amount of time for which the data of the synchronous input must be stable after the active edge of the clock</a:t>
            </a:r>
            <a:r>
              <a:rPr lang="en-US" sz="28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8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942313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713" y="338715"/>
            <a:ext cx="9886698" cy="5855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01189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9800" y="174561"/>
            <a:ext cx="9414067" cy="3089869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1942" y="3531600"/>
            <a:ext cx="9331784" cy="2852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58678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815" y="96267"/>
            <a:ext cx="8936259" cy="1884933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483" y="2208691"/>
            <a:ext cx="7242317" cy="2637376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284" y="5019642"/>
            <a:ext cx="6727582" cy="1516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85626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952" y="459934"/>
            <a:ext cx="11487454" cy="4246819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6110" y="5049536"/>
            <a:ext cx="10958984" cy="1062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96332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50240" y="559415"/>
            <a:ext cx="112776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Maximum clock frequency = </a:t>
            </a:r>
            <a:r>
              <a:rPr lang="en-US" sz="24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minimum time after which the next </a:t>
            </a:r>
            <a:r>
              <a:rPr lang="en-US" sz="24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clock </a:t>
            </a:r>
            <a:r>
              <a:rPr lang="en-US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edge </a:t>
            </a:r>
            <a:r>
              <a:rPr lang="en-US" sz="24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arrives</a:t>
            </a:r>
            <a:endParaRPr lang="en-US" sz="24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650240" y="1305645"/>
            <a:ext cx="2296654" cy="57996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 Flip-Flop 1:</a:t>
            </a:r>
          </a:p>
        </p:txBody>
      </p:sp>
      <p:sp>
        <p:nvSpPr>
          <p:cNvPr id="4" name="Rectangle 3"/>
          <p:cNvSpPr/>
          <p:nvPr/>
        </p:nvSpPr>
        <p:spPr>
          <a:xfrm>
            <a:off x="650240" y="1885612"/>
            <a:ext cx="999744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After the arrival of a clock edge, the output becomes stable after </a:t>
            </a:r>
            <a:r>
              <a:rPr lang="en-US" sz="24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3200" baseline="-100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pd</a:t>
            </a:r>
            <a:r>
              <a:rPr lang="en-US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24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 </a:t>
            </a:r>
            <a:r>
              <a:rPr lang="en-US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ns.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output is then passed through on XOR gate and a NAND gate.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net delay will be: 3ns + 2ns + </a:t>
            </a:r>
            <a:r>
              <a:rPr lang="en-US" sz="24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2ns</a:t>
            </a:r>
            <a:r>
              <a:rPr lang="en-US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7ns</a:t>
            </a:r>
            <a:endParaRPr lang="en-US" sz="24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50240" y="3756075"/>
            <a:ext cx="1067816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</a:t>
            </a:r>
            <a:r>
              <a:rPr lang="en-US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 from the NAND gate after 7 </a:t>
            </a:r>
            <a:r>
              <a:rPr lang="en-US" sz="24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nsec</a:t>
            </a:r>
            <a:r>
              <a:rPr lang="en-US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must remain stable for at least </a:t>
            </a:r>
            <a:r>
              <a:rPr lang="en-US" sz="24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3200" baseline="-100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setup</a:t>
            </a:r>
            <a:r>
              <a:rPr lang="en-US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time </a:t>
            </a:r>
            <a:r>
              <a:rPr lang="en-US" sz="24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 FF2</a:t>
            </a:r>
            <a:endParaRPr lang="en-IN" sz="24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50240" y="4587072"/>
            <a:ext cx="1067816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So, the minimum time after which the next clock edge should arrive at </a:t>
            </a:r>
            <a:r>
              <a:rPr lang="en-US" sz="24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FF 1 is</a:t>
            </a:r>
            <a:endParaRPr lang="en-US" sz="24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3200" baseline="-10000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</a:t>
            </a:r>
            <a:r>
              <a:rPr lang="en-US" sz="24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24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FF1</a:t>
            </a:r>
            <a:r>
              <a:rPr lang="en-US" sz="24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7 ns +</a:t>
            </a:r>
            <a:r>
              <a:rPr lang="en-US" sz="24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4ns</a:t>
            </a:r>
            <a:r>
              <a:rPr lang="en-US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11 ns</a:t>
            </a:r>
            <a:endParaRPr lang="en-US" sz="24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735278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650240" y="503005"/>
            <a:ext cx="229665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 Flip-Flop </a:t>
            </a:r>
            <a:r>
              <a:rPr lang="en-US" sz="2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2:</a:t>
            </a:r>
            <a:endParaRPr lang="en-US" sz="24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50240" y="1149336"/>
            <a:ext cx="999744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After the arrival of a clock edge, the output becomes stable after </a:t>
            </a:r>
            <a:r>
              <a:rPr lang="en-US" sz="24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3200" baseline="-100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pd</a:t>
            </a:r>
            <a:r>
              <a:rPr lang="en-US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3 ns.</a:t>
            </a:r>
          </a:p>
          <a:p>
            <a:pPr>
              <a:lnSpc>
                <a:spcPct val="150000"/>
              </a:lnSpc>
            </a:pPr>
            <a:r>
              <a:rPr lang="en-US" sz="24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 of </a:t>
            </a:r>
            <a:r>
              <a:rPr lang="en-US" sz="24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FF2 </a:t>
            </a:r>
            <a:r>
              <a:rPr lang="en-US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 the input to FF1, this output after </a:t>
            </a:r>
            <a:r>
              <a:rPr lang="en-US" sz="24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tpd</a:t>
            </a:r>
            <a:r>
              <a:rPr lang="en-US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8 ns must remain stable for at least (</a:t>
            </a:r>
            <a:r>
              <a:rPr lang="en-US" sz="24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2400" baseline="-250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setup</a:t>
            </a:r>
            <a:r>
              <a:rPr lang="en-US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time of </a:t>
            </a:r>
            <a:r>
              <a:rPr lang="en-US" sz="24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FF1</a:t>
            </a:r>
            <a:r>
              <a:rPr lang="en-US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i.e.. for 5 ns, before the next clock edge should arrive at FF1.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minimum time after which the next clock should arrive at FF1 should be:</a:t>
            </a:r>
          </a:p>
        </p:txBody>
      </p:sp>
      <p:sp>
        <p:nvSpPr>
          <p:cNvPr id="7" name="Rectangle 6"/>
          <p:cNvSpPr/>
          <p:nvPr/>
        </p:nvSpPr>
        <p:spPr>
          <a:xfrm>
            <a:off x="762000" y="3932535"/>
            <a:ext cx="6096000" cy="579967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2400" baseline="-10000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</a:t>
            </a:r>
            <a:r>
              <a:rPr lang="en-US" sz="24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24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FF2</a:t>
            </a:r>
            <a:r>
              <a:rPr lang="en-US" sz="24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8 ns + </a:t>
            </a:r>
            <a:r>
              <a:rPr lang="en-US" sz="24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5ns = </a:t>
            </a:r>
            <a:r>
              <a:rPr lang="en-US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13 </a:t>
            </a:r>
            <a:r>
              <a:rPr lang="en-US" sz="2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ns</a:t>
            </a:r>
            <a:endParaRPr lang="en-US" sz="24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915262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7689" y="490974"/>
            <a:ext cx="821814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the </a:t>
            </a:r>
            <a:r>
              <a:rPr lang="en-US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given circuit to operate reliably, the </a:t>
            </a:r>
            <a:r>
              <a:rPr lang="en-US" sz="24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minimum clock </a:t>
            </a:r>
            <a:r>
              <a:rPr lang="en-US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time </a:t>
            </a:r>
            <a:endParaRPr lang="en-IN" sz="24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2746604" y="1041485"/>
            <a:ext cx="567174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2400" baseline="-100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</a:t>
            </a:r>
            <a:r>
              <a:rPr lang="en-US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24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CLK</a:t>
            </a:r>
            <a:r>
              <a:rPr lang="en-US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max[(</a:t>
            </a:r>
            <a:r>
              <a:rPr lang="en-US" sz="24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2400" baseline="-100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</a:t>
            </a:r>
            <a:r>
              <a:rPr lang="en-US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24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FF1</a:t>
            </a:r>
            <a:r>
              <a:rPr lang="en-US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, (</a:t>
            </a:r>
            <a:r>
              <a:rPr lang="en-US" sz="24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2400" baseline="-100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</a:t>
            </a:r>
            <a:r>
              <a:rPr lang="en-US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24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FF2</a:t>
            </a:r>
            <a:r>
              <a:rPr lang="en-US" sz="24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 = 13 ns</a:t>
            </a:r>
            <a:endParaRPr lang="en-US" sz="24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71093" y="2137973"/>
                <a:ext cx="6096000" cy="2208553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sz="2400" dirty="0" smtClean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maximum clock frequency will be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2400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sz="2400" dirty="0" err="1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</a:t>
                </a:r>
                <a:r>
                  <a:rPr lang="en-US" sz="2400" baseline="-10000" dirty="0" err="1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clk</a:t>
                </a:r>
                <a:r>
                  <a:rPr lang="en-US" sz="2400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)max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24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d>
                          <m:dPr>
                            <m:ctrlPr>
                              <a:rPr lang="en-IN" sz="24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  <m:r>
                              <a:rPr lang="en-IN" sz="2400" i="1" baseline="-250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𝑚𝑖𝑛</m:t>
                            </m:r>
                          </m:e>
                        </m:d>
                        <m:r>
                          <a:rPr lang="en-IN" sz="2400" i="1" baseline="-250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𝐶𝐿𝐾</m:t>
                        </m:r>
                      </m:den>
                    </m:f>
                  </m:oMath>
                </a14:m>
                <a:endParaRPr lang="en-IN" sz="2400" dirty="0">
                  <a:solidFill>
                    <a:srgbClr val="00206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sz="2400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sz="2400" dirty="0" err="1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</a:t>
                </a:r>
                <a:r>
                  <a:rPr lang="en-US" sz="2400" baseline="-10000" dirty="0" err="1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clk</a:t>
                </a:r>
                <a:r>
                  <a:rPr lang="en-US" sz="2400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)max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13 </m:t>
                        </m:r>
                        <m:r>
                          <m:rPr>
                            <m:sty m:val="p"/>
                          </m:rPr>
                          <a:rPr lang="en-IN" sz="24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ns</m:t>
                        </m:r>
                      </m:den>
                    </m:f>
                    <m:r>
                      <a:rPr lang="en-IN" sz="24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=</m:t>
                    </m:r>
                    <m:r>
                      <a:rPr lang="en-I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I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𝟕𝟔</m:t>
                    </m:r>
                    <m:r>
                      <a:rPr lang="en-I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I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𝟗𝟐</m:t>
                    </m:r>
                    <m:r>
                      <a:rPr lang="en-I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I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𝑴𝑯𝒛</m:t>
                    </m:r>
                  </m:oMath>
                </a14:m>
                <a:endParaRPr lang="en-IN" sz="2400" b="1" dirty="0">
                  <a:solidFill>
                    <a:srgbClr val="00206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1093" y="2137973"/>
                <a:ext cx="6096000" cy="2208553"/>
              </a:xfrm>
              <a:prstGeom prst="rect">
                <a:avLst/>
              </a:prstGeom>
              <a:blipFill>
                <a:blip r:embed="rId2"/>
                <a:stretch>
                  <a:fillRect l="-1500" b="-165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558987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8B94C92-F53A-4A69-CA94-2C16D94DDA6A}"/>
              </a:ext>
            </a:extLst>
          </p:cNvPr>
          <p:cNvSpPr txBox="1"/>
          <p:nvPr/>
        </p:nvSpPr>
        <p:spPr>
          <a:xfrm>
            <a:off x="1338217" y="459416"/>
            <a:ext cx="6840583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Ques 4: Transform the S-R flip flop to</a:t>
            </a:r>
          </a:p>
          <a:p>
            <a:pPr marL="971550" lvl="1" indent="-514350" algn="just">
              <a:buFont typeface="+mj-lt"/>
              <a:buAutoNum type="alphaLcParenR"/>
            </a:pPr>
            <a:r>
              <a:rPr lang="en-US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 flip flop</a:t>
            </a:r>
            <a:endParaRPr lang="en-IN" sz="28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71550" lvl="1" indent="-514350" algn="just">
              <a:buFont typeface="+mj-lt"/>
              <a:buAutoNum type="alphaLcParenR"/>
            </a:pPr>
            <a:r>
              <a:rPr lang="en-US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J-K flip flop</a:t>
            </a:r>
            <a:endParaRPr lang="en-IN" sz="28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71550" lvl="1" indent="-514350" algn="just">
              <a:buFont typeface="+mj-lt"/>
              <a:buAutoNum type="alphaLcParenR"/>
            </a:pPr>
            <a:r>
              <a:rPr lang="en-US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 flip flop</a:t>
            </a:r>
            <a:endParaRPr lang="en-IN" sz="28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AB83597-63D7-467F-0795-458018AB606E}"/>
                  </a:ext>
                </a:extLst>
              </p:cNvPr>
              <p:cNvSpPr txBox="1"/>
              <p:nvPr/>
            </p:nvSpPr>
            <p:spPr>
              <a:xfrm>
                <a:off x="976810" y="2938377"/>
                <a:ext cx="10116458" cy="24327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IN" sz="2400" dirty="0" smtClean="0">
                    <a:solidFill>
                      <a:srgbClr val="002060"/>
                    </a:solidFill>
                  </a:rPr>
                  <a:t>Characteristics equation of SR Flip-flop: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S</m:t>
                    </m:r>
                    <m:r>
                      <a:rPr lang="en-IN" sz="24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+ </m:t>
                    </m:r>
                    <m:bar>
                      <m:barPr>
                        <m:pos m:val="top"/>
                        <m:ctrlPr>
                          <a:rPr lang="en-IN" sz="24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m:rPr>
                            <m:sty m:val="p"/>
                          </m:rPr>
                          <a:rPr lang="en-IN" sz="24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R</m:t>
                        </m:r>
                      </m:e>
                    </m:bar>
                    <m:r>
                      <a:rPr lang="en-IN" sz="24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IN" sz="24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24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Q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IN" sz="24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  <m:r>
                      <a:rPr lang="en-IN" sz="24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= </m:t>
                    </m:r>
                    <m:sSub>
                      <m:sSubPr>
                        <m:ctrlPr>
                          <a:rPr lang="en-IN" sz="24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24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Q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IN" sz="24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  <m:r>
                          <a:rPr lang="en-IN" sz="24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lang="en-IN" sz="2400" dirty="0">
                    <a:solidFill>
                      <a:srgbClr val="002060"/>
                    </a:solidFill>
                  </a:rPr>
                  <a:t>      (applied S.R = 0)</a:t>
                </a:r>
              </a:p>
              <a:p>
                <a:pPr>
                  <a:lnSpc>
                    <a:spcPct val="150000"/>
                  </a:lnSpc>
                </a:pPr>
                <a:r>
                  <a:rPr lang="en-IN" sz="2400" dirty="0">
                    <a:solidFill>
                      <a:srgbClr val="002060"/>
                    </a:solidFill>
                  </a:rPr>
                  <a:t>Characteristics equation of T Flip-flop: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T</m:t>
                    </m:r>
                    <m:r>
                      <a:rPr lang="en-IN" sz="24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+ </m:t>
                    </m:r>
                    <m:sSub>
                      <m:sSubPr>
                        <m:ctrlPr>
                          <a:rPr lang="en-IN" sz="24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24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Q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IN" sz="24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  <m:r>
                      <a:rPr lang="en-IN" sz="24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= </m:t>
                    </m:r>
                    <m:sSub>
                      <m:sSubPr>
                        <m:ctrlPr>
                          <a:rPr lang="en-IN" sz="24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24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Q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IN" sz="24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  <m:r>
                          <a:rPr lang="en-IN" sz="24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endParaRPr lang="en-IN" sz="2400" dirty="0">
                  <a:solidFill>
                    <a:srgbClr val="002060"/>
                  </a:solidFill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IN" sz="2400" dirty="0">
                    <a:solidFill>
                      <a:srgbClr val="002060"/>
                    </a:solidFill>
                  </a:rPr>
                  <a:t>Characteristics equation of JK Flip-flop: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J</m:t>
                    </m:r>
                    <m:sSub>
                      <m:sSubPr>
                        <m:ctrlPr>
                          <a:rPr lang="en-IN" sz="24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4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bar>
                          <m:barPr>
                            <m:pos m:val="top"/>
                            <m:ctrlPr>
                              <a:rPr lang="en-IN" sz="24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m:rPr>
                                <m:sty m:val="p"/>
                              </m:rPr>
                              <a:rPr lang="en-IN" sz="24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Q</m:t>
                            </m:r>
                          </m:e>
                        </m:bar>
                      </m:e>
                      <m:sub>
                        <m:r>
                          <m:rPr>
                            <m:sty m:val="p"/>
                          </m:rPr>
                          <a:rPr lang="en-IN" sz="24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  <m:r>
                      <a:rPr lang="en-IN" sz="24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+ </m:t>
                    </m:r>
                    <m:bar>
                      <m:barPr>
                        <m:pos m:val="top"/>
                        <m:ctrlPr>
                          <a:rPr lang="en-IN" sz="24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m:rPr>
                            <m:sty m:val="p"/>
                          </m:rPr>
                          <a:rPr lang="en-IN" sz="24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K</m:t>
                        </m:r>
                      </m:e>
                    </m:bar>
                    <m:sSub>
                      <m:sSubPr>
                        <m:ctrlPr>
                          <a:rPr lang="en-IN" sz="24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24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Q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IN" sz="24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  <m:r>
                      <a:rPr lang="en-IN" sz="24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= </m:t>
                    </m:r>
                    <m:sSub>
                      <m:sSubPr>
                        <m:ctrlPr>
                          <a:rPr lang="en-IN" sz="24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24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Q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IN" sz="24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  <m:r>
                          <a:rPr lang="en-IN" sz="24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endParaRPr lang="en-IN" sz="2400" dirty="0">
                  <a:solidFill>
                    <a:srgbClr val="002060"/>
                  </a:solidFill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IN" sz="2400" dirty="0">
                    <a:solidFill>
                      <a:srgbClr val="002060"/>
                    </a:solidFill>
                  </a:rPr>
                  <a:t>Characteristics equation of D Flip-flop: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40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24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a:rPr lang="en-IN" sz="24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 = </m:t>
                        </m:r>
                        <m:r>
                          <m:rPr>
                            <m:sty m:val="p"/>
                          </m:rPr>
                          <a:rPr lang="en-IN" sz="24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Q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IN" sz="24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  <m:r>
                          <a:rPr lang="en-IN" sz="24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endParaRPr lang="en-IN" sz="24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AB83597-63D7-467F-0795-458018AB60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6810" y="2938377"/>
                <a:ext cx="10116458" cy="2432782"/>
              </a:xfrm>
              <a:prstGeom prst="rect">
                <a:avLst/>
              </a:prstGeom>
              <a:blipFill>
                <a:blip r:embed="rId2"/>
                <a:stretch>
                  <a:fillRect l="-904" b="-476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48162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66708" y="125214"/>
            <a:ext cx="339695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/>
              <a:t>1. What is a Flip-Flop?</a:t>
            </a:r>
          </a:p>
        </p:txBody>
      </p:sp>
      <p:sp>
        <p:nvSpPr>
          <p:cNvPr id="4" name="Rectangle 3"/>
          <p:cNvSpPr/>
          <p:nvPr/>
        </p:nvSpPr>
        <p:spPr>
          <a:xfrm>
            <a:off x="375385" y="835103"/>
            <a:ext cx="11420375" cy="53181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sz="28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28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flip-flop</a:t>
            </a:r>
            <a:r>
              <a:rPr lang="en-US" sz="28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is a basic building block in digital electronics. It’s a circuit that stores </a:t>
            </a:r>
            <a:r>
              <a:rPr lang="en-US" sz="28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one bit</a:t>
            </a:r>
            <a:r>
              <a:rPr lang="en-US" sz="28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of information – meaning it holds either a </a:t>
            </a:r>
            <a:r>
              <a:rPr lang="en-US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sz="28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or a </a:t>
            </a:r>
            <a:r>
              <a:rPr lang="en-US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28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sz="28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You can think of a flip-flop as a small memory cell, similar to how you might turn a light switch on or off and it stays in that position until you change it again. A flip-flop holds its state until it is told to change.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sz="28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Real-world analogy: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sz="28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Imagine a </a:t>
            </a:r>
            <a:r>
              <a:rPr lang="en-US" sz="28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bucket</a:t>
            </a:r>
            <a:r>
              <a:rPr lang="en-US" sz="28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8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If you put water in it → it’s full → that’s like storing </a:t>
            </a:r>
            <a:r>
              <a:rPr lang="en-US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28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8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If you empty it → it’s empty → that’s like storing </a:t>
            </a:r>
            <a:r>
              <a:rPr lang="en-US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sz="28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sz="28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flip-flop “remembers” whether it was full or empty.</a:t>
            </a:r>
            <a:endParaRPr lang="en-US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5089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99675" y="94734"/>
            <a:ext cx="326275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/>
              <a:t>What is an S-R Flip-Flop?</a:t>
            </a:r>
          </a:p>
        </p:txBody>
      </p:sp>
      <p:sp>
        <p:nvSpPr>
          <p:cNvPr id="3" name="Rectangle 2"/>
          <p:cNvSpPr/>
          <p:nvPr/>
        </p:nvSpPr>
        <p:spPr>
          <a:xfrm>
            <a:off x="121920" y="569187"/>
            <a:ext cx="6096000" cy="3774367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Set-Reset (S-R) flip-flop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is one of the simplest types of flip-flops.</a:t>
            </a:r>
            <a:endParaRPr lang="en-US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It has:</a:t>
            </a:r>
            <a:endParaRPr lang="en-US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Two inputs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 (Set)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Tells the flip-flop to store a </a:t>
            </a:r>
            <a:r>
              <a:rPr lang="en-US" sz="1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 (Reset)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Tells the flip-flop to store a </a:t>
            </a:r>
            <a:r>
              <a:rPr lang="en-US" sz="1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Two outputs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The current state (either </a:t>
            </a:r>
            <a:r>
              <a:rPr lang="en-US" sz="1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or </a:t>
            </a:r>
            <a:r>
              <a:rPr lang="en-US" sz="1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).</a:t>
            </a:r>
            <a:endParaRPr lang="en-US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Q̅ (Q-bar)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The opposite of </a:t>
            </a:r>
            <a:r>
              <a:rPr lang="en-US" sz="1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0028" y="3563061"/>
            <a:ext cx="7302875" cy="3073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64941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61243" y="257294"/>
            <a:ext cx="473950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/>
              <a:t>3. What is a Characteristic Equation?</a:t>
            </a:r>
          </a:p>
        </p:txBody>
      </p:sp>
      <p:sp>
        <p:nvSpPr>
          <p:cNvPr id="3" name="Rectangle 2"/>
          <p:cNvSpPr/>
          <p:nvPr/>
        </p:nvSpPr>
        <p:spPr>
          <a:xfrm>
            <a:off x="396240" y="843895"/>
            <a:ext cx="1146048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The </a:t>
            </a:r>
            <a:r>
              <a:rPr lang="en-US" b="1" dirty="0"/>
              <a:t>characteristic equation</a:t>
            </a:r>
            <a:r>
              <a:rPr lang="en-US" dirty="0"/>
              <a:t> is a mathematical way to express how the flip-flop's output changes based on its inputs.</a:t>
            </a:r>
          </a:p>
          <a:p>
            <a:r>
              <a:rPr lang="en-US" dirty="0"/>
              <a:t>For the </a:t>
            </a:r>
            <a:r>
              <a:rPr lang="en-US" b="1" dirty="0"/>
              <a:t>S-R flip-flop</a:t>
            </a:r>
            <a:r>
              <a:rPr lang="en-US" dirty="0"/>
              <a:t>, the equation is: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6170" y="1541132"/>
            <a:ext cx="1973127" cy="531507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78160" y="2265015"/>
            <a:ext cx="3795783" cy="174818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93283" y="4312254"/>
            <a:ext cx="6312952" cy="1824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20310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90047" y="236974"/>
            <a:ext cx="442133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/>
              <a:t>Why Transform the S-R Flip-Flop?</a:t>
            </a:r>
          </a:p>
        </p:txBody>
      </p:sp>
      <p:sp>
        <p:nvSpPr>
          <p:cNvPr id="3" name="Rectangle 2"/>
          <p:cNvSpPr/>
          <p:nvPr/>
        </p:nvSpPr>
        <p:spPr>
          <a:xfrm>
            <a:off x="413887" y="921814"/>
            <a:ext cx="11309149" cy="476220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Although simple, the S-R flip-flop has problems: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Both inputs being </a:t>
            </a:r>
            <a:r>
              <a:rPr lang="en-US" sz="1600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causes an invalid state.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It’s not suitable for many applications.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So, engineers use </a:t>
            </a:r>
            <a:r>
              <a:rPr lang="en-US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other types of flip-flops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that are easier to control and avoid undefined behavior. These include: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 flip-flop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(Toggle)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J-K flip-flop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 flip-flop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(Data or Delay)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But instead of designing them from scratch, we can </a:t>
            </a:r>
            <a:r>
              <a:rPr lang="en-US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modify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the S-R flip-flop by carefully defining how its inputs are connected.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475016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38382" y="247134"/>
            <a:ext cx="407444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Transforming S-R to T Flip-Flop</a:t>
            </a:r>
          </a:p>
        </p:txBody>
      </p:sp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211756" y="1035034"/>
            <a:ext cx="11225830" cy="32265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25392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en-US" altLang="en-US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What is a T flip-flop?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457200" algn="l"/>
              </a:tabLst>
            </a:pPr>
            <a:r>
              <a:rPr kumimoji="0" lang="en-US" altLang="en-US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T (Toggle)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flip-flop changes its state when 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T = 1</a:t>
            </a:r>
            <a:r>
              <a:rPr kumimoji="0" lang="en-US" altLang="en-US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457200" algn="l"/>
              </a:tabLst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If 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T = 0</a:t>
            </a:r>
            <a:r>
              <a:rPr kumimoji="0" lang="en-US" altLang="en-US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, 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it stays in the same state.</a:t>
            </a:r>
            <a:endParaRPr kumimoji="0" lang="en-US" altLang="en-US" sz="2400" b="0" i="1" u="none" strike="noStrike" cap="none" normalizeH="0" baseline="0" dirty="0" smtClean="0">
              <a:ln>
                <a:noFill/>
              </a:ln>
              <a:solidFill>
                <a:srgbClr val="2E74B5"/>
              </a:solidFill>
              <a:effectLst/>
              <a:latin typeface="Calibri Light" panose="020F03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en-US" altLang="en-US" sz="2400" b="0" i="1" u="none" strike="noStrike" cap="none" normalizeH="0" baseline="0" dirty="0" smtClean="0">
                <a:ln>
                  <a:noFill/>
                </a:ln>
                <a:solidFill>
                  <a:srgbClr val="2E74B5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Real-world analogy: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A T flip-flop like a </a:t>
            </a:r>
            <a:r>
              <a:rPr kumimoji="0" lang="en-US" altLang="en-US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light switch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457200" algn="l"/>
              </a:tabLst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If you press it → it changes from ON to OFF or OFF to ON → toggles.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457200" algn="l"/>
              </a:tabLst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If you don’t press it → stays the same.</a:t>
            </a:r>
            <a:endParaRPr kumimoji="0" lang="en-US" altLang="en-US" sz="4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05557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502" y="230464"/>
            <a:ext cx="8151593" cy="2724492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479" y="4062486"/>
            <a:ext cx="8326185" cy="2655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22750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615" y="405077"/>
            <a:ext cx="8314313" cy="3541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27193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1CE531D-E090-DF3D-96A2-536449FD7711}"/>
              </a:ext>
            </a:extLst>
          </p:cNvPr>
          <p:cNvSpPr txBox="1"/>
          <p:nvPr/>
        </p:nvSpPr>
        <p:spPr>
          <a:xfrm>
            <a:off x="3563257" y="139281"/>
            <a:ext cx="50654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dirty="0">
                <a:solidFill>
                  <a:schemeClr val="accent1">
                    <a:lumMod val="75000"/>
                  </a:schemeClr>
                </a:solidFill>
              </a:rPr>
              <a:t>Transforming SR Flip-flop to T Flip-flop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F70EDB99-542B-7BE9-6475-DADF96A6193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28181639"/>
                  </p:ext>
                </p:extLst>
              </p:nvPr>
            </p:nvGraphicFramePr>
            <p:xfrm>
              <a:off x="2032000" y="727205"/>
              <a:ext cx="8128000" cy="2701795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625600">
                      <a:extLst>
                        <a:ext uri="{9D8B030D-6E8A-4147-A177-3AD203B41FA5}">
                          <a16:colId xmlns:a16="http://schemas.microsoft.com/office/drawing/2014/main" val="3835690168"/>
                        </a:ext>
                      </a:extLst>
                    </a:gridCol>
                    <a:gridCol w="1625600">
                      <a:extLst>
                        <a:ext uri="{9D8B030D-6E8A-4147-A177-3AD203B41FA5}">
                          <a16:colId xmlns:a16="http://schemas.microsoft.com/office/drawing/2014/main" val="3009049231"/>
                        </a:ext>
                      </a:extLst>
                    </a:gridCol>
                    <a:gridCol w="1625600">
                      <a:extLst>
                        <a:ext uri="{9D8B030D-6E8A-4147-A177-3AD203B41FA5}">
                          <a16:colId xmlns:a16="http://schemas.microsoft.com/office/drawing/2014/main" val="1811884302"/>
                        </a:ext>
                      </a:extLst>
                    </a:gridCol>
                    <a:gridCol w="1625600">
                      <a:extLst>
                        <a:ext uri="{9D8B030D-6E8A-4147-A177-3AD203B41FA5}">
                          <a16:colId xmlns:a16="http://schemas.microsoft.com/office/drawing/2014/main" val="2067674433"/>
                        </a:ext>
                      </a:extLst>
                    </a:gridCol>
                    <a:gridCol w="1625600">
                      <a:extLst>
                        <a:ext uri="{9D8B030D-6E8A-4147-A177-3AD203B41FA5}">
                          <a16:colId xmlns:a16="http://schemas.microsoft.com/office/drawing/2014/main" val="2686574945"/>
                        </a:ext>
                      </a:extLst>
                    </a:gridCol>
                  </a:tblGrid>
                  <a:tr h="400151">
                    <a:tc gridSpan="3">
                      <a:txBody>
                        <a:bodyPr/>
                        <a:lstStyle/>
                        <a:p>
                          <a:pPr algn="ctr"/>
                          <a:r>
                            <a:rPr lang="en-IN" sz="2000" dirty="0"/>
                            <a:t>Characteristic Table of T Flip-flop</a:t>
                          </a: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IN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IN" dirty="0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IN" sz="2000" dirty="0"/>
                            <a:t>Excitation Table of SR Flip-flop</a:t>
                          </a: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IN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46624247"/>
                      </a:ext>
                    </a:extLst>
                  </a:tr>
                  <a:tr h="40015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000" b="1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IN" sz="20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sz="2000" b="1" i="1" smtClean="0">
                                        <a:latin typeface="Cambria Math" panose="02040503050406030204" pitchFamily="18" charset="0"/>
                                      </a:rPr>
                                      <m:t>𝑸</m:t>
                                    </m:r>
                                  </m:e>
                                  <m:sub>
                                    <m:r>
                                      <a:rPr lang="en-IN" sz="2000" b="1" i="1" smtClean="0">
                                        <a:latin typeface="Cambria Math" panose="02040503050406030204" pitchFamily="18" charset="0"/>
                                      </a:rPr>
                                      <m:t>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IN" sz="20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IN" sz="20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sz="2000" b="1" i="1" smtClean="0">
                                        <a:latin typeface="Cambria Math" panose="02040503050406030204" pitchFamily="18" charset="0"/>
                                      </a:rPr>
                                      <m:t>𝑸</m:t>
                                    </m:r>
                                  </m:e>
                                  <m:sub>
                                    <m:r>
                                      <a:rPr lang="en-IN" sz="2000" b="1" i="1" smtClean="0">
                                        <a:latin typeface="Cambria Math" panose="02040503050406030204" pitchFamily="18" charset="0"/>
                                      </a:rPr>
                                      <m:t>𝒏</m:t>
                                    </m:r>
                                    <m:r>
                                      <a:rPr lang="en-IN" sz="2000" b="1" i="1" smtClean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IN" sz="2000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IN" sz="20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000" b="1" dirty="0"/>
                            <a:t>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000" b="1" dirty="0"/>
                            <a:t>R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17799471"/>
                      </a:ext>
                    </a:extLst>
                  </a:tr>
                  <a:tr h="40015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000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000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000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000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000" dirty="0"/>
                            <a:t>X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46545989"/>
                      </a:ext>
                    </a:extLst>
                  </a:tr>
                  <a:tr h="40015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000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000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000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000" dirty="0"/>
                            <a:t>X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000" dirty="0"/>
                            <a:t>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989427368"/>
                      </a:ext>
                    </a:extLst>
                  </a:tr>
                  <a:tr h="40015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000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000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000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000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000" dirty="0"/>
                            <a:t>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88434001"/>
                      </a:ext>
                    </a:extLst>
                  </a:tr>
                  <a:tr h="40015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000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000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000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000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000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99225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F70EDB99-542B-7BE9-6475-DADF96A6193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28181639"/>
                  </p:ext>
                </p:extLst>
              </p:nvPr>
            </p:nvGraphicFramePr>
            <p:xfrm>
              <a:off x="2032000" y="727205"/>
              <a:ext cx="8128000" cy="2701795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625600">
                      <a:extLst>
                        <a:ext uri="{9D8B030D-6E8A-4147-A177-3AD203B41FA5}">
                          <a16:colId xmlns:a16="http://schemas.microsoft.com/office/drawing/2014/main" val="3835690168"/>
                        </a:ext>
                      </a:extLst>
                    </a:gridCol>
                    <a:gridCol w="1625600">
                      <a:extLst>
                        <a:ext uri="{9D8B030D-6E8A-4147-A177-3AD203B41FA5}">
                          <a16:colId xmlns:a16="http://schemas.microsoft.com/office/drawing/2014/main" val="3009049231"/>
                        </a:ext>
                      </a:extLst>
                    </a:gridCol>
                    <a:gridCol w="1625600">
                      <a:extLst>
                        <a:ext uri="{9D8B030D-6E8A-4147-A177-3AD203B41FA5}">
                          <a16:colId xmlns:a16="http://schemas.microsoft.com/office/drawing/2014/main" val="1811884302"/>
                        </a:ext>
                      </a:extLst>
                    </a:gridCol>
                    <a:gridCol w="1625600">
                      <a:extLst>
                        <a:ext uri="{9D8B030D-6E8A-4147-A177-3AD203B41FA5}">
                          <a16:colId xmlns:a16="http://schemas.microsoft.com/office/drawing/2014/main" val="2067674433"/>
                        </a:ext>
                      </a:extLst>
                    </a:gridCol>
                    <a:gridCol w="1625600">
                      <a:extLst>
                        <a:ext uri="{9D8B030D-6E8A-4147-A177-3AD203B41FA5}">
                          <a16:colId xmlns:a16="http://schemas.microsoft.com/office/drawing/2014/main" val="2686574945"/>
                        </a:ext>
                      </a:extLst>
                    </a:gridCol>
                  </a:tblGrid>
                  <a:tr h="701040">
                    <a:tc gridSpan="3">
                      <a:txBody>
                        <a:bodyPr/>
                        <a:lstStyle/>
                        <a:p>
                          <a:pPr algn="ctr"/>
                          <a:r>
                            <a:rPr lang="en-IN" sz="2000" dirty="0"/>
                            <a:t>Characteristic Table of T Flip-flop</a:t>
                          </a: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IN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IN" dirty="0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IN" sz="2000" dirty="0"/>
                            <a:t>Excitation Table of SR Flip-flop</a:t>
                          </a: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IN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46624247"/>
                      </a:ext>
                    </a:extLst>
                  </a:tr>
                  <a:tr h="40015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000" b="1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0375" t="-181818" r="-300375" b="-42424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1128" t="-181818" r="-201504" b="-42424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000" b="1" dirty="0"/>
                            <a:t>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000" b="1" dirty="0"/>
                            <a:t>R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17799471"/>
                      </a:ext>
                    </a:extLst>
                  </a:tr>
                  <a:tr h="40015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000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000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000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000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000" dirty="0"/>
                            <a:t>X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46545989"/>
                      </a:ext>
                    </a:extLst>
                  </a:tr>
                  <a:tr h="40015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000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000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000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000" dirty="0"/>
                            <a:t>X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000" dirty="0"/>
                            <a:t>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989427368"/>
                      </a:ext>
                    </a:extLst>
                  </a:tr>
                  <a:tr h="40015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000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000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000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000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000" dirty="0"/>
                            <a:t>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88434001"/>
                      </a:ext>
                    </a:extLst>
                  </a:tr>
                  <a:tr h="40015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000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000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000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000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000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992258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662BD7B-3F8E-3B3D-4D62-2AE7B2B6FB59}"/>
                  </a:ext>
                </a:extLst>
              </p:cNvPr>
              <p:cNvSpPr txBox="1"/>
              <p:nvPr/>
            </p:nvSpPr>
            <p:spPr>
              <a:xfrm>
                <a:off x="1569162" y="3499242"/>
                <a:ext cx="3715658" cy="16131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2400" dirty="0"/>
                  <a:t>Solving K-map for S and R separately with T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2400" b="0" i="1" smtClean="0">
                            <a:latin typeface="Cambria Math" panose="02040503050406030204" pitchFamily="18" charset="0"/>
                          </a:rPr>
                          <m:t>Q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IN" sz="2400" b="0" i="1" smtClean="0"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</m:oMath>
                </a14:m>
                <a:r>
                  <a:rPr lang="en-IN" sz="2400" dirty="0"/>
                  <a:t> as inputs, we get:</a:t>
                </a:r>
              </a:p>
              <a:p>
                <a14:m>
                  <m:oMath xmlns:m="http://schemas.openxmlformats.org/officeDocument/2006/math">
                    <m:r>
                      <a:rPr lang="en-IN" sz="2400" b="1" i="1" smtClean="0">
                        <a:latin typeface="Cambria Math" panose="02040503050406030204" pitchFamily="18" charset="0"/>
                      </a:rPr>
                      <m:t>𝑺</m:t>
                    </m:r>
                    <m:r>
                      <a:rPr lang="en-IN" sz="2400" b="1" i="1" smtClean="0">
                        <a:latin typeface="Cambria Math" panose="02040503050406030204" pitchFamily="18" charset="0"/>
                      </a:rPr>
                      <m:t> = </m:t>
                    </m:r>
                    <m:r>
                      <a:rPr lang="en-IN" sz="2400" b="1" i="1" smtClean="0">
                        <a:latin typeface="Cambria Math" panose="02040503050406030204" pitchFamily="18" charset="0"/>
                      </a:rPr>
                      <m:t>𝑻</m:t>
                    </m:r>
                    <m:r>
                      <a:rPr lang="en-IN" sz="2400" b="1" i="1" smtClean="0">
                        <a:latin typeface="Cambria Math" panose="02040503050406030204" pitchFamily="18" charset="0"/>
                      </a:rPr>
                      <m:t> </m:t>
                    </m:r>
                    <m:bar>
                      <m:barPr>
                        <m:pos m:val="top"/>
                        <m:ctrlPr>
                          <a:rPr lang="en-IN" sz="2400" b="1" i="1" smtClean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sSub>
                          <m:sSubPr>
                            <m:ctrlPr>
                              <a:rPr lang="en-IN" sz="24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400" b="1" i="1" smtClean="0">
                                <a:latin typeface="Cambria Math" panose="02040503050406030204" pitchFamily="18" charset="0"/>
                              </a:rPr>
                              <m:t>𝑸</m:t>
                            </m:r>
                          </m:e>
                          <m:sub>
                            <m:r>
                              <a:rPr lang="en-IN" sz="2400" b="1" i="1" smtClean="0">
                                <a:latin typeface="Cambria Math" panose="02040503050406030204" pitchFamily="18" charset="0"/>
                              </a:rPr>
                              <m:t>𝒏</m:t>
                            </m:r>
                          </m:sub>
                        </m:sSub>
                      </m:e>
                    </m:bar>
                  </m:oMath>
                </a14:m>
                <a:r>
                  <a:rPr lang="en-IN" sz="2400" b="1" dirty="0"/>
                  <a:t>  </a:t>
                </a:r>
                <a:r>
                  <a:rPr lang="en-IN" sz="2400" dirty="0"/>
                  <a:t>and </a:t>
                </a:r>
                <a14:m>
                  <m:oMath xmlns:m="http://schemas.openxmlformats.org/officeDocument/2006/math">
                    <m:r>
                      <a:rPr lang="en-IN" sz="2400" b="1" i="1" smtClean="0">
                        <a:latin typeface="Cambria Math" panose="02040503050406030204" pitchFamily="18" charset="0"/>
                      </a:rPr>
                      <m:t>𝑹</m:t>
                    </m:r>
                    <m:r>
                      <a:rPr lang="en-IN" sz="2400" b="1" i="1" smtClean="0">
                        <a:latin typeface="Cambria Math" panose="02040503050406030204" pitchFamily="18" charset="0"/>
                      </a:rPr>
                      <m:t> = </m:t>
                    </m:r>
                    <m:r>
                      <a:rPr lang="en-IN" sz="2400" b="1" i="1" smtClean="0">
                        <a:latin typeface="Cambria Math" panose="02040503050406030204" pitchFamily="18" charset="0"/>
                      </a:rPr>
                      <m:t>𝑻</m:t>
                    </m:r>
                    <m:sSub>
                      <m:sSubPr>
                        <m:ctrlPr>
                          <a:rPr lang="en-IN" sz="24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400" b="1" i="1" smtClean="0">
                            <a:latin typeface="Cambria Math" panose="02040503050406030204" pitchFamily="18" charset="0"/>
                          </a:rPr>
                          <m:t>𝑸</m:t>
                        </m:r>
                      </m:e>
                      <m:sub>
                        <m:r>
                          <a:rPr lang="en-IN" sz="2400" b="1" i="1" smtClean="0">
                            <a:latin typeface="Cambria Math" panose="02040503050406030204" pitchFamily="18" charset="0"/>
                          </a:rPr>
                          <m:t>𝒏</m:t>
                        </m:r>
                      </m:sub>
                    </m:sSub>
                  </m:oMath>
                </a14:m>
                <a:endParaRPr lang="en-IN" sz="2400" b="1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662BD7B-3F8E-3B3D-4D62-2AE7B2B6FB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69162" y="3499242"/>
                <a:ext cx="3715658" cy="1613199"/>
              </a:xfrm>
              <a:prstGeom prst="rect">
                <a:avLst/>
              </a:prstGeom>
              <a:blipFill>
                <a:blip r:embed="rId3"/>
                <a:stretch>
                  <a:fillRect l="-2459" t="-3019" r="-1148" b="-75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4">
            <a:extLst>
              <a:ext uri="{FF2B5EF4-FFF2-40B4-BE49-F238E27FC236}">
                <a16:creationId xmlns:a16="http://schemas.microsoft.com/office/drawing/2014/main" id="{37F8F933-1A47-E520-C824-EF65D868BB1C}"/>
              </a:ext>
            </a:extLst>
          </p:cNvPr>
          <p:cNvSpPr/>
          <p:nvPr/>
        </p:nvSpPr>
        <p:spPr>
          <a:xfrm>
            <a:off x="8033657" y="4027714"/>
            <a:ext cx="1560286" cy="2103081"/>
          </a:xfrm>
          <a:prstGeom prst="rect">
            <a:avLst/>
          </a:prstGeom>
          <a:noFill/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3A64A7D-AF12-6EF7-F058-51913CF2BA1E}"/>
              </a:ext>
            </a:extLst>
          </p:cNvPr>
          <p:cNvSpPr txBox="1"/>
          <p:nvPr/>
        </p:nvSpPr>
        <p:spPr>
          <a:xfrm>
            <a:off x="8033657" y="4201886"/>
            <a:ext cx="2902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/>
              <a:t>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938B30D-E041-0BB5-9F8D-24B6D14C9684}"/>
              </a:ext>
            </a:extLst>
          </p:cNvPr>
          <p:cNvSpPr txBox="1"/>
          <p:nvPr/>
        </p:nvSpPr>
        <p:spPr>
          <a:xfrm>
            <a:off x="8033657" y="5508171"/>
            <a:ext cx="2902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/>
              <a:t>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35B862B-8996-C5AC-AD50-FA820B188F6A}"/>
                  </a:ext>
                </a:extLst>
              </p:cNvPr>
              <p:cNvSpPr txBox="1"/>
              <p:nvPr/>
            </p:nvSpPr>
            <p:spPr>
              <a:xfrm>
                <a:off x="9114972" y="4201886"/>
                <a:ext cx="29028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Q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n</m:t>
                          </m:r>
                        </m:sub>
                      </m:sSub>
                    </m:oMath>
                  </m:oMathPara>
                </a14:m>
                <a:endParaRPr lang="en-IN" sz="24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35B862B-8996-C5AC-AD50-FA820B188F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14972" y="4201886"/>
                <a:ext cx="290286" cy="461665"/>
              </a:xfrm>
              <a:prstGeom prst="rect">
                <a:avLst/>
              </a:prstGeom>
              <a:blipFill>
                <a:blip r:embed="rId4"/>
                <a:stretch>
                  <a:fillRect l="-14583" r="-72917" b="-131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1C5B63A-448D-1477-3FE6-E227158F4FA1}"/>
                  </a:ext>
                </a:extLst>
              </p:cNvPr>
              <p:cNvSpPr txBox="1"/>
              <p:nvPr/>
            </p:nvSpPr>
            <p:spPr>
              <a:xfrm>
                <a:off x="9064172" y="5508171"/>
                <a:ext cx="290286" cy="50520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ar>
                        <m:barPr>
                          <m:pos m:val="top"/>
                          <m:ctrlPr>
                            <a:rPr lang="en-IN" sz="2400" i="1" smtClean="0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sSub>
                            <m:sSubPr>
                              <m:ctrlPr>
                                <a:rPr lang="en-IN" sz="2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Q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</m:sub>
                          </m:sSub>
                        </m:e>
                      </m:bar>
                    </m:oMath>
                  </m:oMathPara>
                </a14:m>
                <a:endParaRPr lang="en-IN" sz="24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1C5B63A-448D-1477-3FE6-E227158F4F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64172" y="5508171"/>
                <a:ext cx="290286" cy="505203"/>
              </a:xfrm>
              <a:prstGeom prst="rect">
                <a:avLst/>
              </a:prstGeom>
              <a:blipFill>
                <a:blip r:embed="rId5"/>
                <a:stretch>
                  <a:fillRect r="-5625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Flowchart: Delay 9">
            <a:extLst>
              <a:ext uri="{FF2B5EF4-FFF2-40B4-BE49-F238E27FC236}">
                <a16:creationId xmlns:a16="http://schemas.microsoft.com/office/drawing/2014/main" id="{64DEFC57-17BE-7C00-CB6E-4C534C97C479}"/>
              </a:ext>
            </a:extLst>
          </p:cNvPr>
          <p:cNvSpPr/>
          <p:nvPr/>
        </p:nvSpPr>
        <p:spPr>
          <a:xfrm>
            <a:off x="6502398" y="4171462"/>
            <a:ext cx="500743" cy="522514"/>
          </a:xfrm>
          <a:prstGeom prst="flowChartDelay">
            <a:avLst/>
          </a:prstGeom>
          <a:noFill/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Flowchart: Delay 10">
            <a:extLst>
              <a:ext uri="{FF2B5EF4-FFF2-40B4-BE49-F238E27FC236}">
                <a16:creationId xmlns:a16="http://schemas.microsoft.com/office/drawing/2014/main" id="{BBC0F8C5-698F-FECC-25CD-97B20CAE475E}"/>
              </a:ext>
            </a:extLst>
          </p:cNvPr>
          <p:cNvSpPr/>
          <p:nvPr/>
        </p:nvSpPr>
        <p:spPr>
          <a:xfrm>
            <a:off x="6502399" y="5477746"/>
            <a:ext cx="500743" cy="522514"/>
          </a:xfrm>
          <a:prstGeom prst="flowChartDelay">
            <a:avLst/>
          </a:prstGeom>
          <a:noFill/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BB04DFC-D252-1203-4620-F583D18BF7A7}"/>
              </a:ext>
            </a:extLst>
          </p:cNvPr>
          <p:cNvCxnSpPr>
            <a:cxnSpLocks/>
            <a:stCxn id="10" idx="3"/>
            <a:endCxn id="6" idx="1"/>
          </p:cNvCxnSpPr>
          <p:nvPr/>
        </p:nvCxnSpPr>
        <p:spPr>
          <a:xfrm>
            <a:off x="7003141" y="4432719"/>
            <a:ext cx="1030516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5A90DCF3-6F72-60DE-3DC7-691F77A0A04D}"/>
              </a:ext>
            </a:extLst>
          </p:cNvPr>
          <p:cNvCxnSpPr>
            <a:cxnSpLocks/>
          </p:cNvCxnSpPr>
          <p:nvPr/>
        </p:nvCxnSpPr>
        <p:spPr>
          <a:xfrm>
            <a:off x="7003141" y="5739003"/>
            <a:ext cx="1030516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A4027347-B06A-C5D3-EF54-920048225A19}"/>
              </a:ext>
            </a:extLst>
          </p:cNvPr>
          <p:cNvCxnSpPr>
            <a:cxnSpLocks/>
          </p:cNvCxnSpPr>
          <p:nvPr/>
        </p:nvCxnSpPr>
        <p:spPr>
          <a:xfrm>
            <a:off x="6134822" y="4559104"/>
            <a:ext cx="7259" cy="102635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CC8FB1FB-7057-20E1-F008-B88FA7F20999}"/>
              </a:ext>
            </a:extLst>
          </p:cNvPr>
          <p:cNvCxnSpPr>
            <a:cxnSpLocks/>
          </p:cNvCxnSpPr>
          <p:nvPr/>
        </p:nvCxnSpPr>
        <p:spPr>
          <a:xfrm>
            <a:off x="6142081" y="4566724"/>
            <a:ext cx="360317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879AA724-326B-1885-DEE2-41BE83BB5E48}"/>
              </a:ext>
            </a:extLst>
          </p:cNvPr>
          <p:cNvCxnSpPr>
            <a:cxnSpLocks/>
          </p:cNvCxnSpPr>
          <p:nvPr/>
        </p:nvCxnSpPr>
        <p:spPr>
          <a:xfrm flipV="1">
            <a:off x="6134822" y="5583994"/>
            <a:ext cx="367575" cy="146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747F562A-DC23-A6ED-D44E-D82CEB1DDD0B}"/>
              </a:ext>
            </a:extLst>
          </p:cNvPr>
          <p:cNvCxnSpPr>
            <a:cxnSpLocks/>
          </p:cNvCxnSpPr>
          <p:nvPr/>
        </p:nvCxnSpPr>
        <p:spPr>
          <a:xfrm>
            <a:off x="6142081" y="4292404"/>
            <a:ext cx="360317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C426EFE1-9265-814D-0AFF-BEA3164893CE}"/>
              </a:ext>
            </a:extLst>
          </p:cNvPr>
          <p:cNvCxnSpPr>
            <a:cxnSpLocks/>
          </p:cNvCxnSpPr>
          <p:nvPr/>
        </p:nvCxnSpPr>
        <p:spPr>
          <a:xfrm>
            <a:off x="6155140" y="5884984"/>
            <a:ext cx="360317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2B895311-5F94-92E3-0415-8492208276E2}"/>
              </a:ext>
            </a:extLst>
          </p:cNvPr>
          <p:cNvCxnSpPr>
            <a:cxnSpLocks/>
          </p:cNvCxnSpPr>
          <p:nvPr/>
        </p:nvCxnSpPr>
        <p:spPr>
          <a:xfrm>
            <a:off x="9593943" y="4432718"/>
            <a:ext cx="360317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183131FD-0276-0C1F-DF6E-C9C50BCBDD23}"/>
              </a:ext>
            </a:extLst>
          </p:cNvPr>
          <p:cNvCxnSpPr>
            <a:cxnSpLocks/>
          </p:cNvCxnSpPr>
          <p:nvPr/>
        </p:nvCxnSpPr>
        <p:spPr>
          <a:xfrm>
            <a:off x="9593942" y="5709724"/>
            <a:ext cx="609238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37074D99-3898-99D9-BFDD-352638BDF722}"/>
              </a:ext>
            </a:extLst>
          </p:cNvPr>
          <p:cNvCxnSpPr>
            <a:cxnSpLocks/>
          </p:cNvCxnSpPr>
          <p:nvPr/>
        </p:nvCxnSpPr>
        <p:spPr>
          <a:xfrm>
            <a:off x="9941009" y="4432718"/>
            <a:ext cx="0" cy="205571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321EA6E4-2E7D-8973-EDC1-9973462048AD}"/>
              </a:ext>
            </a:extLst>
          </p:cNvPr>
          <p:cNvCxnSpPr>
            <a:cxnSpLocks/>
          </p:cNvCxnSpPr>
          <p:nvPr/>
        </p:nvCxnSpPr>
        <p:spPr>
          <a:xfrm>
            <a:off x="10196279" y="3654012"/>
            <a:ext cx="0" cy="205571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DF06C650-7B78-E1C8-7FA2-42BC6C7800A6}"/>
              </a:ext>
            </a:extLst>
          </p:cNvPr>
          <p:cNvCxnSpPr>
            <a:cxnSpLocks/>
          </p:cNvCxnSpPr>
          <p:nvPr/>
        </p:nvCxnSpPr>
        <p:spPr>
          <a:xfrm>
            <a:off x="6149340" y="3649736"/>
            <a:ext cx="4046939" cy="1358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9E20681D-BC14-B81A-D92E-8E941857BE7C}"/>
              </a:ext>
            </a:extLst>
          </p:cNvPr>
          <p:cNvCxnSpPr>
            <a:cxnSpLocks/>
          </p:cNvCxnSpPr>
          <p:nvPr/>
        </p:nvCxnSpPr>
        <p:spPr>
          <a:xfrm flipH="1">
            <a:off x="6149340" y="3654012"/>
            <a:ext cx="5800" cy="63839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70FD8CAF-01C6-F0B8-7698-0EFC8634F526}"/>
              </a:ext>
            </a:extLst>
          </p:cNvPr>
          <p:cNvCxnSpPr>
            <a:cxnSpLocks/>
          </p:cNvCxnSpPr>
          <p:nvPr/>
        </p:nvCxnSpPr>
        <p:spPr>
          <a:xfrm flipV="1">
            <a:off x="6160409" y="6489063"/>
            <a:ext cx="3793851" cy="1893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5EC12998-56F1-159F-83AD-3F5D09C117D7}"/>
              </a:ext>
            </a:extLst>
          </p:cNvPr>
          <p:cNvCxnSpPr>
            <a:cxnSpLocks/>
          </p:cNvCxnSpPr>
          <p:nvPr/>
        </p:nvCxnSpPr>
        <p:spPr>
          <a:xfrm>
            <a:off x="6166209" y="5884984"/>
            <a:ext cx="0" cy="61354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DCF8293D-8CAD-5918-A9A7-EB8F21CF3FEB}"/>
              </a:ext>
            </a:extLst>
          </p:cNvPr>
          <p:cNvCxnSpPr>
            <a:cxnSpLocks/>
          </p:cNvCxnSpPr>
          <p:nvPr/>
        </p:nvCxnSpPr>
        <p:spPr>
          <a:xfrm>
            <a:off x="9941009" y="4432718"/>
            <a:ext cx="536491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96B56898-073E-E71F-0C21-B9452191C374}"/>
              </a:ext>
            </a:extLst>
          </p:cNvPr>
          <p:cNvCxnSpPr>
            <a:cxnSpLocks/>
          </p:cNvCxnSpPr>
          <p:nvPr/>
        </p:nvCxnSpPr>
        <p:spPr>
          <a:xfrm>
            <a:off x="9954260" y="5709724"/>
            <a:ext cx="536491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EF43673F-73BE-9F7D-FAB1-7EDDE86EA04F}"/>
              </a:ext>
            </a:extLst>
          </p:cNvPr>
          <p:cNvCxnSpPr>
            <a:cxnSpLocks/>
          </p:cNvCxnSpPr>
          <p:nvPr/>
        </p:nvCxnSpPr>
        <p:spPr>
          <a:xfrm>
            <a:off x="5781764" y="5027734"/>
            <a:ext cx="360317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A323B1FC-EF8D-1B3E-8AE9-B66D32746F27}"/>
                  </a:ext>
                </a:extLst>
              </p:cNvPr>
              <p:cNvSpPr txBox="1"/>
              <p:nvPr/>
            </p:nvSpPr>
            <p:spPr>
              <a:xfrm>
                <a:off x="5500544" y="4835831"/>
                <a:ext cx="313100" cy="38380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sz="2400" b="0" i="1" smtClean="0">
                          <a:latin typeface="Cambria Math" panose="02040503050406030204" pitchFamily="18" charset="0"/>
                        </a:rPr>
                        <m:t>T</m:t>
                      </m:r>
                    </m:oMath>
                  </m:oMathPara>
                </a14:m>
                <a:endParaRPr lang="en-IN" sz="2400" dirty="0"/>
              </a:p>
            </p:txBody>
          </p:sp>
        </mc:Choice>
        <mc:Fallback xmlns="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A323B1FC-EF8D-1B3E-8AE9-B66D32746F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00544" y="4835831"/>
                <a:ext cx="313100" cy="383806"/>
              </a:xfrm>
              <a:prstGeom prst="rect">
                <a:avLst/>
              </a:prstGeom>
              <a:blipFill>
                <a:blip r:embed="rId6"/>
                <a:stretch>
                  <a:fillRect l="-11538" r="-13462" b="-317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8" name="Oval 57">
            <a:extLst>
              <a:ext uri="{FF2B5EF4-FFF2-40B4-BE49-F238E27FC236}">
                <a16:creationId xmlns:a16="http://schemas.microsoft.com/office/drawing/2014/main" id="{2DDEAD46-A83E-CF19-2ACB-0FEA113B5465}"/>
              </a:ext>
            </a:extLst>
          </p:cNvPr>
          <p:cNvSpPr/>
          <p:nvPr/>
        </p:nvSpPr>
        <p:spPr>
          <a:xfrm>
            <a:off x="9895459" y="4396307"/>
            <a:ext cx="91100" cy="91440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E9A97009-B97A-1A4C-5AB6-5E4BB8889643}"/>
              </a:ext>
            </a:extLst>
          </p:cNvPr>
          <p:cNvSpPr/>
          <p:nvPr/>
        </p:nvSpPr>
        <p:spPr>
          <a:xfrm>
            <a:off x="6090970" y="4990702"/>
            <a:ext cx="91100" cy="91440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41A3B7AD-5824-D4F9-424C-455326201990}"/>
              </a:ext>
            </a:extLst>
          </p:cNvPr>
          <p:cNvSpPr/>
          <p:nvPr/>
        </p:nvSpPr>
        <p:spPr>
          <a:xfrm>
            <a:off x="10150729" y="5654695"/>
            <a:ext cx="91100" cy="91440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1" name="Isosceles Triangle 60">
            <a:extLst>
              <a:ext uri="{FF2B5EF4-FFF2-40B4-BE49-F238E27FC236}">
                <a16:creationId xmlns:a16="http://schemas.microsoft.com/office/drawing/2014/main" id="{DE0168C4-3832-CCC5-C2E9-006BEE818C68}"/>
              </a:ext>
            </a:extLst>
          </p:cNvPr>
          <p:cNvSpPr/>
          <p:nvPr/>
        </p:nvSpPr>
        <p:spPr>
          <a:xfrm rot="5400000">
            <a:off x="7953179" y="4934242"/>
            <a:ext cx="362336" cy="176547"/>
          </a:xfrm>
          <a:prstGeom prst="triangle">
            <a:avLst/>
          </a:prstGeom>
          <a:noFill/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80991202-4CDC-30FA-B537-9C5320FD2E10}"/>
              </a:ext>
            </a:extLst>
          </p:cNvPr>
          <p:cNvCxnSpPr>
            <a:cxnSpLocks/>
          </p:cNvCxnSpPr>
          <p:nvPr/>
        </p:nvCxnSpPr>
        <p:spPr>
          <a:xfrm>
            <a:off x="7520843" y="5027447"/>
            <a:ext cx="536491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E8184B74-9C99-6C83-1DD7-317FDFA6245C}"/>
                  </a:ext>
                </a:extLst>
              </p:cNvPr>
              <p:cNvSpPr txBox="1"/>
              <p:nvPr/>
            </p:nvSpPr>
            <p:spPr>
              <a:xfrm>
                <a:off x="6994157" y="4884924"/>
                <a:ext cx="542833" cy="64633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𝐶𝐿𝐾</m:t>
                      </m:r>
                    </m:oMath>
                  </m:oMathPara>
                </a14:m>
                <a:endParaRPr lang="en-IN" b="0" dirty="0"/>
              </a:p>
              <a:p>
                <a:endParaRPr lang="en-IN" sz="2400" dirty="0"/>
              </a:p>
            </p:txBody>
          </p:sp>
        </mc:Choice>
        <mc:Fallback xmlns="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E8184B74-9C99-6C83-1DD7-317FDFA624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94157" y="4884924"/>
                <a:ext cx="542833" cy="646331"/>
              </a:xfrm>
              <a:prstGeom prst="rect">
                <a:avLst/>
              </a:prstGeom>
              <a:blipFill>
                <a:blip r:embed="rId7"/>
                <a:stretch>
                  <a:fillRect l="-4494" r="-449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Picture 1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89694" y="5285350"/>
            <a:ext cx="3225008" cy="1312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35552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animBg="1"/>
      <p:bldP spid="6" grpId="0"/>
      <p:bldP spid="7" grpId="0"/>
      <p:bldP spid="8" grpId="0"/>
      <p:bldP spid="9" grpId="0"/>
      <p:bldP spid="10" grpId="0" animBg="1"/>
      <p:bldP spid="11" grpId="0" animBg="1"/>
      <p:bldP spid="57" grpId="0"/>
      <p:bldP spid="58" grpId="0" animBg="1"/>
      <p:bldP spid="59" grpId="0" animBg="1"/>
      <p:bldP spid="60" grpId="0" animBg="1"/>
      <p:bldP spid="61" grpId="0" animBg="1"/>
      <p:bldP spid="65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9954" y="267454"/>
            <a:ext cx="543084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</a:rPr>
              <a:t>Transforming S-R to D Flip-Flop</a:t>
            </a:r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13281" y="1069266"/>
            <a:ext cx="12178719" cy="21185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25392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en-US" altLang="en-US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What is a D flip-flop?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457200" algn="l"/>
              </a:tabLst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The </a:t>
            </a:r>
            <a:r>
              <a:rPr kumimoji="0" lang="en-US" altLang="en-US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D (Data or Delay)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flip-flop stores the value of the input 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D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 directly into 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Q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457200" algn="l"/>
              </a:tabLst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It’s simple and used in memory elements like registers.</a:t>
            </a:r>
            <a:endParaRPr kumimoji="0" lang="en-US" altLang="en-US" sz="2400" b="0" i="1" u="none" strike="noStrike" cap="none" normalizeH="0" baseline="0" dirty="0" smtClean="0">
              <a:ln>
                <a:noFill/>
              </a:ln>
              <a:solidFill>
                <a:srgbClr val="2E74B5"/>
              </a:solidFill>
              <a:effectLst/>
              <a:latin typeface="Calibri Light" panose="020F03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en-US" altLang="en-US" sz="2400" b="0" i="1" u="none" strike="noStrike" cap="none" normalizeH="0" baseline="0" dirty="0" smtClean="0">
                <a:ln>
                  <a:noFill/>
                </a:ln>
                <a:solidFill>
                  <a:srgbClr val="2E74B5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Real-world analogy: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You press a button, and the state is stored as it is → no calculations needed.</a:t>
            </a:r>
            <a:endParaRPr kumimoji="0" lang="en-US" altLang="en-US" sz="4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300" y="3592797"/>
            <a:ext cx="7113275" cy="1924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08884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444" y="402554"/>
            <a:ext cx="6390947" cy="211712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769" y="2894285"/>
            <a:ext cx="5362996" cy="2642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92809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7C4A3C-F495-6287-6933-CD6E94F29A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A54079F-841E-9FB4-88A0-D45AC098249A}"/>
              </a:ext>
            </a:extLst>
          </p:cNvPr>
          <p:cNvSpPr txBox="1"/>
          <p:nvPr/>
        </p:nvSpPr>
        <p:spPr>
          <a:xfrm>
            <a:off x="3563257" y="139281"/>
            <a:ext cx="50654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Transforming SR Flip-flop to D Flip-flop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9F9422E9-76D4-AA7F-4AEF-5B46133B499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41698501"/>
                  </p:ext>
                </p:extLst>
              </p:nvPr>
            </p:nvGraphicFramePr>
            <p:xfrm>
              <a:off x="2032000" y="727205"/>
              <a:ext cx="8128000" cy="2701795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625600">
                      <a:extLst>
                        <a:ext uri="{9D8B030D-6E8A-4147-A177-3AD203B41FA5}">
                          <a16:colId xmlns:a16="http://schemas.microsoft.com/office/drawing/2014/main" val="3835690168"/>
                        </a:ext>
                      </a:extLst>
                    </a:gridCol>
                    <a:gridCol w="1625600">
                      <a:extLst>
                        <a:ext uri="{9D8B030D-6E8A-4147-A177-3AD203B41FA5}">
                          <a16:colId xmlns:a16="http://schemas.microsoft.com/office/drawing/2014/main" val="3009049231"/>
                        </a:ext>
                      </a:extLst>
                    </a:gridCol>
                    <a:gridCol w="1625600">
                      <a:extLst>
                        <a:ext uri="{9D8B030D-6E8A-4147-A177-3AD203B41FA5}">
                          <a16:colId xmlns:a16="http://schemas.microsoft.com/office/drawing/2014/main" val="1811884302"/>
                        </a:ext>
                      </a:extLst>
                    </a:gridCol>
                    <a:gridCol w="1625600">
                      <a:extLst>
                        <a:ext uri="{9D8B030D-6E8A-4147-A177-3AD203B41FA5}">
                          <a16:colId xmlns:a16="http://schemas.microsoft.com/office/drawing/2014/main" val="2067674433"/>
                        </a:ext>
                      </a:extLst>
                    </a:gridCol>
                    <a:gridCol w="1625600">
                      <a:extLst>
                        <a:ext uri="{9D8B030D-6E8A-4147-A177-3AD203B41FA5}">
                          <a16:colId xmlns:a16="http://schemas.microsoft.com/office/drawing/2014/main" val="2686574945"/>
                        </a:ext>
                      </a:extLst>
                    </a:gridCol>
                  </a:tblGrid>
                  <a:tr h="400151">
                    <a:tc gridSpan="3">
                      <a:txBody>
                        <a:bodyPr/>
                        <a:lstStyle/>
                        <a:p>
                          <a:pPr algn="ctr"/>
                          <a:r>
                            <a:rPr lang="en-IN" sz="2000" dirty="0"/>
                            <a:t>Characteristic Table of D Flip-flop</a:t>
                          </a: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IN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IN" dirty="0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IN" sz="2000" dirty="0"/>
                            <a:t>Excitation Table of SR Flip-flop</a:t>
                          </a: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IN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46624247"/>
                      </a:ext>
                    </a:extLst>
                  </a:tr>
                  <a:tr h="40015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000" b="1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IN" sz="20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sz="2000" b="1" i="1" smtClean="0">
                                        <a:latin typeface="Cambria Math" panose="02040503050406030204" pitchFamily="18" charset="0"/>
                                      </a:rPr>
                                      <m:t>𝑸</m:t>
                                    </m:r>
                                  </m:e>
                                  <m:sub>
                                    <m:r>
                                      <a:rPr lang="en-IN" sz="2000" b="1" i="1" smtClean="0">
                                        <a:latin typeface="Cambria Math" panose="02040503050406030204" pitchFamily="18" charset="0"/>
                                      </a:rPr>
                                      <m:t>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IN" sz="20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IN" sz="20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sz="2000" b="1" i="1" smtClean="0">
                                        <a:latin typeface="Cambria Math" panose="02040503050406030204" pitchFamily="18" charset="0"/>
                                      </a:rPr>
                                      <m:t>𝑸</m:t>
                                    </m:r>
                                  </m:e>
                                  <m:sub>
                                    <m:r>
                                      <a:rPr lang="en-IN" sz="2000" b="1" i="1" smtClean="0">
                                        <a:latin typeface="Cambria Math" panose="02040503050406030204" pitchFamily="18" charset="0"/>
                                      </a:rPr>
                                      <m:t>𝒏</m:t>
                                    </m:r>
                                    <m:r>
                                      <a:rPr lang="en-IN" sz="2000" b="1" i="1" smtClean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IN" sz="2000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IN" sz="20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000" b="1" dirty="0"/>
                            <a:t>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000" b="1" dirty="0"/>
                            <a:t>R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17799471"/>
                      </a:ext>
                    </a:extLst>
                  </a:tr>
                  <a:tr h="40015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000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000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000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000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000" dirty="0"/>
                            <a:t>X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46545989"/>
                      </a:ext>
                    </a:extLst>
                  </a:tr>
                  <a:tr h="40015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000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000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000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000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000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989427368"/>
                      </a:ext>
                    </a:extLst>
                  </a:tr>
                  <a:tr h="40015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000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000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000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000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000" dirty="0"/>
                            <a:t>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88434001"/>
                      </a:ext>
                    </a:extLst>
                  </a:tr>
                  <a:tr h="40015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000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000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000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000" dirty="0"/>
                            <a:t>X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000" dirty="0"/>
                            <a:t>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99225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9F9422E9-76D4-AA7F-4AEF-5B46133B499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41698501"/>
                  </p:ext>
                </p:extLst>
              </p:nvPr>
            </p:nvGraphicFramePr>
            <p:xfrm>
              <a:off x="2032000" y="727205"/>
              <a:ext cx="8128000" cy="2701795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625600">
                      <a:extLst>
                        <a:ext uri="{9D8B030D-6E8A-4147-A177-3AD203B41FA5}">
                          <a16:colId xmlns:a16="http://schemas.microsoft.com/office/drawing/2014/main" val="3835690168"/>
                        </a:ext>
                      </a:extLst>
                    </a:gridCol>
                    <a:gridCol w="1625600">
                      <a:extLst>
                        <a:ext uri="{9D8B030D-6E8A-4147-A177-3AD203B41FA5}">
                          <a16:colId xmlns:a16="http://schemas.microsoft.com/office/drawing/2014/main" val="3009049231"/>
                        </a:ext>
                      </a:extLst>
                    </a:gridCol>
                    <a:gridCol w="1625600">
                      <a:extLst>
                        <a:ext uri="{9D8B030D-6E8A-4147-A177-3AD203B41FA5}">
                          <a16:colId xmlns:a16="http://schemas.microsoft.com/office/drawing/2014/main" val="1811884302"/>
                        </a:ext>
                      </a:extLst>
                    </a:gridCol>
                    <a:gridCol w="1625600">
                      <a:extLst>
                        <a:ext uri="{9D8B030D-6E8A-4147-A177-3AD203B41FA5}">
                          <a16:colId xmlns:a16="http://schemas.microsoft.com/office/drawing/2014/main" val="2067674433"/>
                        </a:ext>
                      </a:extLst>
                    </a:gridCol>
                    <a:gridCol w="1625600">
                      <a:extLst>
                        <a:ext uri="{9D8B030D-6E8A-4147-A177-3AD203B41FA5}">
                          <a16:colId xmlns:a16="http://schemas.microsoft.com/office/drawing/2014/main" val="2686574945"/>
                        </a:ext>
                      </a:extLst>
                    </a:gridCol>
                  </a:tblGrid>
                  <a:tr h="701040">
                    <a:tc gridSpan="3">
                      <a:txBody>
                        <a:bodyPr/>
                        <a:lstStyle/>
                        <a:p>
                          <a:pPr algn="ctr"/>
                          <a:r>
                            <a:rPr lang="en-IN" sz="2000" dirty="0"/>
                            <a:t>Characteristic Table of D Flip-flop</a:t>
                          </a: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IN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IN" dirty="0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IN" sz="2000" dirty="0"/>
                            <a:t>Excitation Table of SR Flip-flop</a:t>
                          </a: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IN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46624247"/>
                      </a:ext>
                    </a:extLst>
                  </a:tr>
                  <a:tr h="40015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000" b="1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0375" t="-181818" r="-300375" b="-42424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1128" t="-181818" r="-201504" b="-42424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000" b="1" dirty="0"/>
                            <a:t>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000" b="1" dirty="0"/>
                            <a:t>R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17799471"/>
                      </a:ext>
                    </a:extLst>
                  </a:tr>
                  <a:tr h="40015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000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000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000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000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000" dirty="0"/>
                            <a:t>X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46545989"/>
                      </a:ext>
                    </a:extLst>
                  </a:tr>
                  <a:tr h="40015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000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000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000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000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000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989427368"/>
                      </a:ext>
                    </a:extLst>
                  </a:tr>
                  <a:tr h="40015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000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000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000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000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000" dirty="0"/>
                            <a:t>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88434001"/>
                      </a:ext>
                    </a:extLst>
                  </a:tr>
                  <a:tr h="40015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000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000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000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000" dirty="0"/>
                            <a:t>X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000" dirty="0"/>
                            <a:t>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992258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6FEC0B6-8F01-2F69-D6DE-3CE9B28BC3CF}"/>
                  </a:ext>
                </a:extLst>
              </p:cNvPr>
              <p:cNvSpPr txBox="1"/>
              <p:nvPr/>
            </p:nvSpPr>
            <p:spPr>
              <a:xfrm>
                <a:off x="1604728" y="4268088"/>
                <a:ext cx="3715658" cy="16450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I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Solving K-map for S and R separately with D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I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kumimoji="0" lang="en-I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Q</m:t>
                        </m:r>
                      </m:e>
                      <m:sub>
                        <m:r>
                          <m:rPr>
                            <m:sty m:val="p"/>
                          </m:rPr>
                          <a:rPr kumimoji="0" lang="en-I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n</m:t>
                        </m:r>
                      </m:sub>
                    </m:sSub>
                  </m:oMath>
                </a14:m>
                <a:r>
                  <a:rPr kumimoji="0" lang="en-I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as inputs, we get: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r>
                      <a:rPr kumimoji="0" lang="en-IN" sz="24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𝑺</m:t>
                    </m:r>
                    <m:r>
                      <a:rPr kumimoji="0" lang="en-IN" sz="24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 = </m:t>
                    </m:r>
                    <m:r>
                      <a:rPr kumimoji="0" lang="en-IN" sz="24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𝑫</m:t>
                    </m:r>
                  </m:oMath>
                </a14:m>
                <a:r>
                  <a:rPr kumimoji="0" lang="en-IN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</a:t>
                </a:r>
                <a:r>
                  <a:rPr kumimoji="0" lang="en-I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and </a:t>
                </a:r>
                <a14:m>
                  <m:oMath xmlns:m="http://schemas.openxmlformats.org/officeDocument/2006/math">
                    <m:r>
                      <a:rPr kumimoji="0" lang="en-IN" sz="24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𝑹</m:t>
                    </m:r>
                    <m:r>
                      <a:rPr kumimoji="0" lang="en-IN" sz="24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 = </m:t>
                    </m:r>
                    <m:bar>
                      <m:barPr>
                        <m:pos m:val="top"/>
                        <m:ctrlPr>
                          <a:rPr kumimoji="0" lang="en-IN" sz="24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barPr>
                      <m:e>
                        <m:r>
                          <a:rPr kumimoji="0" lang="en-IN" sz="24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𝑫</m:t>
                        </m:r>
                      </m:e>
                    </m:bar>
                  </m:oMath>
                </a14:m>
                <a:endParaRPr kumimoji="0" lang="en-IN" sz="24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6FEC0B6-8F01-2F69-D6DE-3CE9B28BC3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4728" y="4268088"/>
                <a:ext cx="3715658" cy="1645066"/>
              </a:xfrm>
              <a:prstGeom prst="rect">
                <a:avLst/>
              </a:prstGeom>
              <a:blipFill>
                <a:blip r:embed="rId3"/>
                <a:stretch>
                  <a:fillRect l="-2459" t="-2963" r="-2131" b="-555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4">
            <a:extLst>
              <a:ext uri="{FF2B5EF4-FFF2-40B4-BE49-F238E27FC236}">
                <a16:creationId xmlns:a16="http://schemas.microsoft.com/office/drawing/2014/main" id="{F5CA3B31-723B-FCCA-5568-47D683110C45}"/>
              </a:ext>
            </a:extLst>
          </p:cNvPr>
          <p:cNvSpPr/>
          <p:nvPr/>
        </p:nvSpPr>
        <p:spPr>
          <a:xfrm>
            <a:off x="8033657" y="4027714"/>
            <a:ext cx="1560286" cy="2103081"/>
          </a:xfrm>
          <a:prstGeom prst="rect">
            <a:avLst/>
          </a:prstGeom>
          <a:noFill/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4DF7DD1-859F-A70D-0E8F-82BCDEA5E80C}"/>
              </a:ext>
            </a:extLst>
          </p:cNvPr>
          <p:cNvSpPr txBox="1"/>
          <p:nvPr/>
        </p:nvSpPr>
        <p:spPr>
          <a:xfrm>
            <a:off x="8033657" y="4201886"/>
            <a:ext cx="2902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FDBEF58-2B99-F240-32C7-C8E9C28DA009}"/>
              </a:ext>
            </a:extLst>
          </p:cNvPr>
          <p:cNvSpPr txBox="1"/>
          <p:nvPr/>
        </p:nvSpPr>
        <p:spPr>
          <a:xfrm>
            <a:off x="8033657" y="5508171"/>
            <a:ext cx="2902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2400" dirty="0">
                <a:solidFill>
                  <a:prstClr val="black"/>
                </a:solidFill>
                <a:latin typeface="Calibri" panose="020F0502020204030204"/>
              </a:rPr>
              <a:t>R</a:t>
            </a:r>
            <a:endParaRPr kumimoji="0" lang="en-I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BD41FF6-D55C-80F1-F95E-3E84853B5183}"/>
                  </a:ext>
                </a:extLst>
              </p:cNvPr>
              <p:cNvSpPr txBox="1"/>
              <p:nvPr/>
            </p:nvSpPr>
            <p:spPr>
              <a:xfrm>
                <a:off x="9114972" y="4201886"/>
                <a:ext cx="29028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I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kumimoji="0" lang="en-I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Q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kumimoji="0" lang="en-I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n</m:t>
                          </m:r>
                        </m:sub>
                      </m:sSub>
                    </m:oMath>
                  </m:oMathPara>
                </a14:m>
                <a:endParaRPr kumimoji="0" lang="en-IN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BD41FF6-D55C-80F1-F95E-3E84853B51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14972" y="4201886"/>
                <a:ext cx="290286" cy="461665"/>
              </a:xfrm>
              <a:prstGeom prst="rect">
                <a:avLst/>
              </a:prstGeom>
              <a:blipFill>
                <a:blip r:embed="rId4"/>
                <a:stretch>
                  <a:fillRect l="-14583" r="-72917" b="-131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186C7FD-A764-7B50-430F-4981C51FF0CA}"/>
                  </a:ext>
                </a:extLst>
              </p:cNvPr>
              <p:cNvSpPr txBox="1"/>
              <p:nvPr/>
            </p:nvSpPr>
            <p:spPr>
              <a:xfrm>
                <a:off x="9064172" y="5508171"/>
                <a:ext cx="290286" cy="50520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ar>
                        <m:barPr>
                          <m:pos m:val="top"/>
                          <m:ctrlPr>
                            <a:rPr kumimoji="0" lang="en-I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barPr>
                        <m:e>
                          <m:sSub>
                            <m:sSubPr>
                              <m:ctrlPr>
                                <a:rPr kumimoji="0" lang="en-IN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kumimoji="0" lang="en-IN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Q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kumimoji="0" lang="en-IN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n</m:t>
                              </m:r>
                            </m:sub>
                          </m:sSub>
                        </m:e>
                      </m:bar>
                    </m:oMath>
                  </m:oMathPara>
                </a14:m>
                <a:endParaRPr kumimoji="0" lang="en-IN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186C7FD-A764-7B50-430F-4981C51FF0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64172" y="5508171"/>
                <a:ext cx="290286" cy="505203"/>
              </a:xfrm>
              <a:prstGeom prst="rect">
                <a:avLst/>
              </a:prstGeom>
              <a:blipFill>
                <a:blip r:embed="rId5"/>
                <a:stretch>
                  <a:fillRect r="-5625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A3E639A-CC9A-C80E-32B4-417B7AF151B5}"/>
              </a:ext>
            </a:extLst>
          </p:cNvPr>
          <p:cNvCxnSpPr>
            <a:cxnSpLocks/>
            <a:endCxn id="6" idx="1"/>
          </p:cNvCxnSpPr>
          <p:nvPr/>
        </p:nvCxnSpPr>
        <p:spPr>
          <a:xfrm>
            <a:off x="7003141" y="4432719"/>
            <a:ext cx="1030516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11A1BE89-6E1A-95D5-1BA9-24AEB1D14109}"/>
              </a:ext>
            </a:extLst>
          </p:cNvPr>
          <p:cNvCxnSpPr>
            <a:cxnSpLocks/>
          </p:cNvCxnSpPr>
          <p:nvPr/>
        </p:nvCxnSpPr>
        <p:spPr>
          <a:xfrm>
            <a:off x="7003141" y="5739003"/>
            <a:ext cx="1030516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4F1D57B3-F29B-3BAB-CE50-3045BC8872B4}"/>
              </a:ext>
            </a:extLst>
          </p:cNvPr>
          <p:cNvCxnSpPr>
            <a:cxnSpLocks/>
          </p:cNvCxnSpPr>
          <p:nvPr/>
        </p:nvCxnSpPr>
        <p:spPr>
          <a:xfrm>
            <a:off x="6142081" y="4437478"/>
            <a:ext cx="0" cy="130628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174CDB58-1813-2E07-B01A-1ED3D9839179}"/>
              </a:ext>
            </a:extLst>
          </p:cNvPr>
          <p:cNvCxnSpPr>
            <a:cxnSpLocks/>
          </p:cNvCxnSpPr>
          <p:nvPr/>
        </p:nvCxnSpPr>
        <p:spPr>
          <a:xfrm>
            <a:off x="9593943" y="4432718"/>
            <a:ext cx="360317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BB54EDBE-54FA-B15E-D083-074A631BD84E}"/>
              </a:ext>
            </a:extLst>
          </p:cNvPr>
          <p:cNvCxnSpPr>
            <a:cxnSpLocks/>
          </p:cNvCxnSpPr>
          <p:nvPr/>
        </p:nvCxnSpPr>
        <p:spPr>
          <a:xfrm>
            <a:off x="9593942" y="5709724"/>
            <a:ext cx="609238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9096091F-9E8F-B4F9-455A-42ABD2824E0E}"/>
              </a:ext>
            </a:extLst>
          </p:cNvPr>
          <p:cNvCxnSpPr>
            <a:cxnSpLocks/>
          </p:cNvCxnSpPr>
          <p:nvPr/>
        </p:nvCxnSpPr>
        <p:spPr>
          <a:xfrm>
            <a:off x="9941009" y="4432718"/>
            <a:ext cx="536491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8C564349-2AFE-0FB5-2A80-A9DB69B37F4A}"/>
              </a:ext>
            </a:extLst>
          </p:cNvPr>
          <p:cNvCxnSpPr>
            <a:cxnSpLocks/>
          </p:cNvCxnSpPr>
          <p:nvPr/>
        </p:nvCxnSpPr>
        <p:spPr>
          <a:xfrm>
            <a:off x="9954260" y="5709724"/>
            <a:ext cx="536491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35A5C94E-93CC-A9A1-0B53-6F7C8DE80AC1}"/>
              </a:ext>
            </a:extLst>
          </p:cNvPr>
          <p:cNvCxnSpPr>
            <a:cxnSpLocks/>
          </p:cNvCxnSpPr>
          <p:nvPr/>
        </p:nvCxnSpPr>
        <p:spPr>
          <a:xfrm>
            <a:off x="5781764" y="5027734"/>
            <a:ext cx="360317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71654AF2-998C-DA8D-0C05-2A2D7B5A87A5}"/>
                  </a:ext>
                </a:extLst>
              </p:cNvPr>
              <p:cNvSpPr txBox="1"/>
              <p:nvPr/>
            </p:nvSpPr>
            <p:spPr>
              <a:xfrm>
                <a:off x="5500544" y="4835831"/>
                <a:ext cx="313100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0" lang="en-IN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D</m:t>
                      </m:r>
                    </m:oMath>
                  </m:oMathPara>
                </a14:m>
                <a:endParaRPr kumimoji="0" lang="en-IN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71654AF2-998C-DA8D-0C05-2A2D7B5A87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00544" y="4835831"/>
                <a:ext cx="313100" cy="369332"/>
              </a:xfrm>
              <a:prstGeom prst="rect">
                <a:avLst/>
              </a:prstGeom>
              <a:blipFill>
                <a:blip r:embed="rId6"/>
                <a:stretch>
                  <a:fillRect l="-15385" r="-15385" b="-655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9" name="Oval 58">
            <a:extLst>
              <a:ext uri="{FF2B5EF4-FFF2-40B4-BE49-F238E27FC236}">
                <a16:creationId xmlns:a16="http://schemas.microsoft.com/office/drawing/2014/main" id="{1DB5FDC0-E802-4F44-5DE4-A1266114B202}"/>
              </a:ext>
            </a:extLst>
          </p:cNvPr>
          <p:cNvSpPr/>
          <p:nvPr/>
        </p:nvSpPr>
        <p:spPr>
          <a:xfrm>
            <a:off x="6090970" y="4990702"/>
            <a:ext cx="91100" cy="91440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Isosceles Triangle 11">
            <a:extLst>
              <a:ext uri="{FF2B5EF4-FFF2-40B4-BE49-F238E27FC236}">
                <a16:creationId xmlns:a16="http://schemas.microsoft.com/office/drawing/2014/main" id="{07C38671-C6A6-424E-36AC-07C4F2F33FB2}"/>
              </a:ext>
            </a:extLst>
          </p:cNvPr>
          <p:cNvSpPr/>
          <p:nvPr/>
        </p:nvSpPr>
        <p:spPr>
          <a:xfrm rot="5400000">
            <a:off x="6328013" y="5510975"/>
            <a:ext cx="500743" cy="460521"/>
          </a:xfrm>
          <a:prstGeom prst="triangle">
            <a:avLst/>
          </a:prstGeom>
          <a:noFill/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BE7AB86F-A2B6-4195-9FF5-FF34C9F01297}"/>
              </a:ext>
            </a:extLst>
          </p:cNvPr>
          <p:cNvSpPr/>
          <p:nvPr/>
        </p:nvSpPr>
        <p:spPr>
          <a:xfrm>
            <a:off x="6808646" y="5663661"/>
            <a:ext cx="186149" cy="150683"/>
          </a:xfrm>
          <a:prstGeom prst="ellipse">
            <a:avLst/>
          </a:prstGeom>
          <a:noFill/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8BA9C61-D233-F8B8-E575-DFD32E7E0E45}"/>
              </a:ext>
            </a:extLst>
          </p:cNvPr>
          <p:cNvCxnSpPr>
            <a:cxnSpLocks/>
          </p:cNvCxnSpPr>
          <p:nvPr/>
        </p:nvCxnSpPr>
        <p:spPr>
          <a:xfrm>
            <a:off x="6134822" y="4432717"/>
            <a:ext cx="1030516" cy="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A1222986-4B1C-35ED-0EE4-A7744C0A4987}"/>
              </a:ext>
            </a:extLst>
          </p:cNvPr>
          <p:cNvCxnSpPr>
            <a:cxnSpLocks/>
          </p:cNvCxnSpPr>
          <p:nvPr/>
        </p:nvCxnSpPr>
        <p:spPr>
          <a:xfrm>
            <a:off x="6134822" y="5739002"/>
            <a:ext cx="213302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4CE77789-F2D3-18B1-6FC4-E46E4B552ADA}"/>
              </a:ext>
            </a:extLst>
          </p:cNvPr>
          <p:cNvCxnSpPr>
            <a:cxnSpLocks/>
          </p:cNvCxnSpPr>
          <p:nvPr/>
        </p:nvCxnSpPr>
        <p:spPr>
          <a:xfrm>
            <a:off x="7003141" y="5739003"/>
            <a:ext cx="1030516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Isosceles Triangle 27">
            <a:extLst>
              <a:ext uri="{FF2B5EF4-FFF2-40B4-BE49-F238E27FC236}">
                <a16:creationId xmlns:a16="http://schemas.microsoft.com/office/drawing/2014/main" id="{A0F4E607-4948-2AF8-1490-0CD580F4893B}"/>
              </a:ext>
            </a:extLst>
          </p:cNvPr>
          <p:cNvSpPr/>
          <p:nvPr/>
        </p:nvSpPr>
        <p:spPr>
          <a:xfrm rot="5400000">
            <a:off x="7953179" y="4934242"/>
            <a:ext cx="362336" cy="176547"/>
          </a:xfrm>
          <a:prstGeom prst="triangle">
            <a:avLst/>
          </a:prstGeom>
          <a:noFill/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4396A270-6766-AA6F-8D7E-BEA8D6BA198B}"/>
              </a:ext>
            </a:extLst>
          </p:cNvPr>
          <p:cNvCxnSpPr>
            <a:cxnSpLocks/>
          </p:cNvCxnSpPr>
          <p:nvPr/>
        </p:nvCxnSpPr>
        <p:spPr>
          <a:xfrm>
            <a:off x="7520843" y="5027447"/>
            <a:ext cx="536491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23F68058-6011-1034-6228-1F113DA266A6}"/>
                  </a:ext>
                </a:extLst>
              </p:cNvPr>
              <p:cNvSpPr txBox="1"/>
              <p:nvPr/>
            </p:nvSpPr>
            <p:spPr>
              <a:xfrm>
                <a:off x="6994157" y="4884924"/>
                <a:ext cx="542833" cy="64633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𝐶𝐿𝐾</m:t>
                      </m:r>
                    </m:oMath>
                  </m:oMathPara>
                </a14:m>
                <a:endParaRPr lang="en-IN" b="0" dirty="0"/>
              </a:p>
              <a:p>
                <a:endParaRPr lang="en-IN" sz="2400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23F68058-6011-1034-6228-1F113DA266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94157" y="4884924"/>
                <a:ext cx="542833" cy="646331"/>
              </a:xfrm>
              <a:prstGeom prst="rect">
                <a:avLst/>
              </a:prstGeom>
              <a:blipFill>
                <a:blip r:embed="rId7"/>
                <a:stretch>
                  <a:fillRect l="-4494" r="-449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879806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animBg="1"/>
      <p:bldP spid="6" grpId="0"/>
      <p:bldP spid="7" grpId="0"/>
      <p:bldP spid="8" grpId="0"/>
      <p:bldP spid="9" grpId="0"/>
      <p:bldP spid="57" grpId="0"/>
      <p:bldP spid="59" grpId="0" animBg="1"/>
      <p:bldP spid="12" grpId="0" animBg="1"/>
      <p:bldP spid="14" grpId="0" animBg="1"/>
      <p:bldP spid="28" grpId="0" animBg="1"/>
      <p:bldP spid="35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95920" y="318254"/>
            <a:ext cx="428764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Transforming S-R to J-K Flip-Flop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479" y="754332"/>
            <a:ext cx="8111905" cy="3096308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206" y="3872183"/>
            <a:ext cx="6884793" cy="2611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37188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768" y="348574"/>
            <a:ext cx="7010186" cy="2414946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153" y="3042872"/>
            <a:ext cx="8973024" cy="2697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705434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9AB822-48AB-2DC0-5005-0C7954A753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AD72C68-B8A0-AAB5-7A84-7017DD331D2D}"/>
              </a:ext>
            </a:extLst>
          </p:cNvPr>
          <p:cNvSpPr txBox="1"/>
          <p:nvPr/>
        </p:nvSpPr>
        <p:spPr>
          <a:xfrm>
            <a:off x="3563257" y="448374"/>
            <a:ext cx="50654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Transforming SR Flip-flop to JK Flip-flop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" name="Table 9">
                <a:extLst>
                  <a:ext uri="{FF2B5EF4-FFF2-40B4-BE49-F238E27FC236}">
                    <a16:creationId xmlns:a16="http://schemas.microsoft.com/office/drawing/2014/main" id="{10FE054F-3092-6570-7398-13BAEEBD18A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55440533"/>
                  </p:ext>
                </p:extLst>
              </p:nvPr>
            </p:nvGraphicFramePr>
            <p:xfrm>
              <a:off x="2031999" y="1427480"/>
              <a:ext cx="8128002" cy="400304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354667">
                      <a:extLst>
                        <a:ext uri="{9D8B030D-6E8A-4147-A177-3AD203B41FA5}">
                          <a16:colId xmlns:a16="http://schemas.microsoft.com/office/drawing/2014/main" val="3656108791"/>
                        </a:ext>
                      </a:extLst>
                    </a:gridCol>
                    <a:gridCol w="1354667">
                      <a:extLst>
                        <a:ext uri="{9D8B030D-6E8A-4147-A177-3AD203B41FA5}">
                          <a16:colId xmlns:a16="http://schemas.microsoft.com/office/drawing/2014/main" val="3600559044"/>
                        </a:ext>
                      </a:extLst>
                    </a:gridCol>
                    <a:gridCol w="1354667">
                      <a:extLst>
                        <a:ext uri="{9D8B030D-6E8A-4147-A177-3AD203B41FA5}">
                          <a16:colId xmlns:a16="http://schemas.microsoft.com/office/drawing/2014/main" val="3939394099"/>
                        </a:ext>
                      </a:extLst>
                    </a:gridCol>
                    <a:gridCol w="1354667">
                      <a:extLst>
                        <a:ext uri="{9D8B030D-6E8A-4147-A177-3AD203B41FA5}">
                          <a16:colId xmlns:a16="http://schemas.microsoft.com/office/drawing/2014/main" val="1551435698"/>
                        </a:ext>
                      </a:extLst>
                    </a:gridCol>
                    <a:gridCol w="1354667">
                      <a:extLst>
                        <a:ext uri="{9D8B030D-6E8A-4147-A177-3AD203B41FA5}">
                          <a16:colId xmlns:a16="http://schemas.microsoft.com/office/drawing/2014/main" val="3661568558"/>
                        </a:ext>
                      </a:extLst>
                    </a:gridCol>
                    <a:gridCol w="1354667">
                      <a:extLst>
                        <a:ext uri="{9D8B030D-6E8A-4147-A177-3AD203B41FA5}">
                          <a16:colId xmlns:a16="http://schemas.microsoft.com/office/drawing/2014/main" val="986477411"/>
                        </a:ext>
                      </a:extLst>
                    </a:gridCol>
                  </a:tblGrid>
                  <a:tr h="370840">
                    <a:tc gridSpan="4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IN" sz="1800" dirty="0"/>
                            <a:t>Characteristic Table of JK Flip-flop</a:t>
                          </a: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IN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IN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IN" dirty="0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IN" sz="1800" dirty="0"/>
                            <a:t>Excitation Table of SR Flip-flop</a:t>
                          </a: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IN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0351072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000" b="1" dirty="0"/>
                            <a:t>J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000" b="1" dirty="0"/>
                            <a:t>K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IN" sz="20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sz="2000" b="1" i="1" smtClean="0">
                                        <a:latin typeface="Cambria Math" panose="02040503050406030204" pitchFamily="18" charset="0"/>
                                      </a:rPr>
                                      <m:t>𝑸</m:t>
                                    </m:r>
                                  </m:e>
                                  <m:sub>
                                    <m:r>
                                      <a:rPr lang="en-IN" sz="2000" b="1" i="1" smtClean="0">
                                        <a:latin typeface="Cambria Math" panose="02040503050406030204" pitchFamily="18" charset="0"/>
                                      </a:rPr>
                                      <m:t>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IN" sz="20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IN" sz="20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sz="2000" b="1" i="1" smtClean="0">
                                        <a:latin typeface="Cambria Math" panose="02040503050406030204" pitchFamily="18" charset="0"/>
                                      </a:rPr>
                                      <m:t>𝑸</m:t>
                                    </m:r>
                                  </m:e>
                                  <m:sub>
                                    <m:r>
                                      <a:rPr lang="en-IN" sz="2000" b="1" i="1" smtClean="0">
                                        <a:latin typeface="Cambria Math" panose="02040503050406030204" pitchFamily="18" charset="0"/>
                                      </a:rPr>
                                      <m:t>𝒏</m:t>
                                    </m:r>
                                    <m:r>
                                      <a:rPr lang="en-IN" sz="2000" b="1" i="1" smtClean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IN" sz="2000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IN" sz="20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000" b="1" dirty="0"/>
                            <a:t>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000" b="1" dirty="0"/>
                            <a:t>R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5258699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/>
                            <a:t>X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9021254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/>
                            <a:t>X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/>
                            <a:t>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4870207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/>
                            <a:t>X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1267251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915125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/>
                            <a:t>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8161651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/>
                            <a:t>X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/>
                            <a:t>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8634162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/>
                            <a:t>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4989537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7818711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0" name="Table 9">
                <a:extLst>
                  <a:ext uri="{FF2B5EF4-FFF2-40B4-BE49-F238E27FC236}">
                    <a16:creationId xmlns:a16="http://schemas.microsoft.com/office/drawing/2014/main" id="{10FE054F-3092-6570-7398-13BAEEBD18A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55440533"/>
                  </p:ext>
                </p:extLst>
              </p:nvPr>
            </p:nvGraphicFramePr>
            <p:xfrm>
              <a:off x="2031999" y="1427480"/>
              <a:ext cx="8128002" cy="400304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354667">
                      <a:extLst>
                        <a:ext uri="{9D8B030D-6E8A-4147-A177-3AD203B41FA5}">
                          <a16:colId xmlns:a16="http://schemas.microsoft.com/office/drawing/2014/main" val="3656108791"/>
                        </a:ext>
                      </a:extLst>
                    </a:gridCol>
                    <a:gridCol w="1354667">
                      <a:extLst>
                        <a:ext uri="{9D8B030D-6E8A-4147-A177-3AD203B41FA5}">
                          <a16:colId xmlns:a16="http://schemas.microsoft.com/office/drawing/2014/main" val="3600559044"/>
                        </a:ext>
                      </a:extLst>
                    </a:gridCol>
                    <a:gridCol w="1354667">
                      <a:extLst>
                        <a:ext uri="{9D8B030D-6E8A-4147-A177-3AD203B41FA5}">
                          <a16:colId xmlns:a16="http://schemas.microsoft.com/office/drawing/2014/main" val="3939394099"/>
                        </a:ext>
                      </a:extLst>
                    </a:gridCol>
                    <a:gridCol w="1354667">
                      <a:extLst>
                        <a:ext uri="{9D8B030D-6E8A-4147-A177-3AD203B41FA5}">
                          <a16:colId xmlns:a16="http://schemas.microsoft.com/office/drawing/2014/main" val="1551435698"/>
                        </a:ext>
                      </a:extLst>
                    </a:gridCol>
                    <a:gridCol w="1354667">
                      <a:extLst>
                        <a:ext uri="{9D8B030D-6E8A-4147-A177-3AD203B41FA5}">
                          <a16:colId xmlns:a16="http://schemas.microsoft.com/office/drawing/2014/main" val="3661568558"/>
                        </a:ext>
                      </a:extLst>
                    </a:gridCol>
                    <a:gridCol w="1354667">
                      <a:extLst>
                        <a:ext uri="{9D8B030D-6E8A-4147-A177-3AD203B41FA5}">
                          <a16:colId xmlns:a16="http://schemas.microsoft.com/office/drawing/2014/main" val="986477411"/>
                        </a:ext>
                      </a:extLst>
                    </a:gridCol>
                  </a:tblGrid>
                  <a:tr h="640080">
                    <a:tc gridSpan="4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IN" sz="1800" dirty="0"/>
                            <a:t>Characteristic Table of JK Flip-flop</a:t>
                          </a: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IN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IN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IN" dirty="0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IN" sz="1800" dirty="0"/>
                            <a:t>Excitation Table of SR Flip-flop</a:t>
                          </a: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IN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03510721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000" b="1" dirty="0"/>
                            <a:t>J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000" b="1" dirty="0"/>
                            <a:t>K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901" t="-169231" r="-301351" b="-77230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00901" t="-169231" r="-201351" b="-77230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000" b="1" dirty="0"/>
                            <a:t>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000" b="1" dirty="0"/>
                            <a:t>R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5258699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/>
                            <a:t>X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9021254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/>
                            <a:t>X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/>
                            <a:t>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4870207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/>
                            <a:t>X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1267251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915125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/>
                            <a:t>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8161651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/>
                            <a:t>X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/>
                            <a:t>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8634162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/>
                            <a:t>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4989537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78187119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804750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605A52E7-5F00-97BB-0859-59A7F0E29F1E}"/>
                  </a:ext>
                </a:extLst>
              </p:cNvPr>
              <p:cNvSpPr txBox="1"/>
              <p:nvPr/>
            </p:nvSpPr>
            <p:spPr>
              <a:xfrm>
                <a:off x="2065645" y="468121"/>
                <a:ext cx="8048728" cy="12757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I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Solving K-map for S and R separately with D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I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kumimoji="0" lang="en-I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Q</m:t>
                        </m:r>
                      </m:e>
                      <m:sub>
                        <m:r>
                          <m:rPr>
                            <m:sty m:val="p"/>
                          </m:rPr>
                          <a:rPr kumimoji="0" lang="en-I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n</m:t>
                        </m:r>
                      </m:sub>
                    </m:sSub>
                  </m:oMath>
                </a14:m>
                <a:r>
                  <a:rPr kumimoji="0" lang="en-I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as inputs, we get:</a:t>
                </a:r>
              </a:p>
              <a:p>
                <a:pPr lvl="0" algn="ctr"/>
                <a14:m>
                  <m:oMath xmlns:m="http://schemas.openxmlformats.org/officeDocument/2006/math">
                    <m:r>
                      <a:rPr kumimoji="0" lang="en-IN" sz="24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𝑺</m:t>
                    </m:r>
                    <m:r>
                      <a:rPr kumimoji="0" lang="en-IN" sz="24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 = </m:t>
                    </m:r>
                    <m:r>
                      <a:rPr kumimoji="0" lang="en-IN" sz="24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𝑱</m:t>
                    </m:r>
                    <m:bar>
                      <m:barPr>
                        <m:pos m:val="top"/>
                        <m:ctrlPr>
                          <a:rPr kumimoji="0" lang="en-IN" sz="24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sSub>
                          <m:sSubPr>
                            <m:ctrlPr>
                              <a:rPr lang="en-IN" sz="2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4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IN" sz="2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𝑸</m:t>
                            </m:r>
                          </m:e>
                          <m:sub>
                            <m:r>
                              <a:rPr lang="en-IN" sz="2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𝒏</m:t>
                            </m:r>
                          </m:sub>
                        </m:sSub>
                      </m:e>
                    </m:bar>
                  </m:oMath>
                </a14:m>
                <a:r>
                  <a:rPr kumimoji="0" lang="en-IN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/>
                  </a:rPr>
                  <a:t> </a:t>
                </a:r>
                <a:r>
                  <a:rPr kumimoji="0" lang="en-I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and </a:t>
                </a:r>
                <a14:m>
                  <m:oMath xmlns:m="http://schemas.openxmlformats.org/officeDocument/2006/math">
                    <m:r>
                      <a:rPr kumimoji="0" lang="en-IN" sz="24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𝑹</m:t>
                    </m:r>
                    <m:r>
                      <a:rPr kumimoji="0" lang="en-IN" sz="24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 = </m:t>
                    </m:r>
                    <m:r>
                      <a:rPr kumimoji="0" lang="en-IN" sz="24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𝑲</m:t>
                    </m:r>
                    <m:r>
                      <a:rPr kumimoji="0" lang="en-IN" sz="24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 </m:t>
                    </m:r>
                    <m:sSub>
                      <m:sSubPr>
                        <m:ctrlPr>
                          <a:rPr kumimoji="0" lang="en-IN" sz="24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kumimoji="0" lang="en-IN" sz="24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𝑸</m:t>
                        </m:r>
                      </m:e>
                      <m:sub>
                        <m:r>
                          <a:rPr kumimoji="0" lang="en-IN" sz="24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𝒏</m:t>
                        </m:r>
                      </m:sub>
                    </m:sSub>
                  </m:oMath>
                </a14:m>
                <a:r>
                  <a:rPr kumimoji="0" lang="en-IN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</a:t>
                </a: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605A52E7-5F00-97BB-0859-59A7F0E29F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5645" y="468121"/>
                <a:ext cx="8048728" cy="1275734"/>
              </a:xfrm>
              <a:prstGeom prst="rect">
                <a:avLst/>
              </a:prstGeom>
              <a:blipFill>
                <a:blip r:embed="rId2"/>
                <a:stretch>
                  <a:fillRect l="-1212" t="-3828" b="-765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Rectangle 22">
            <a:extLst>
              <a:ext uri="{FF2B5EF4-FFF2-40B4-BE49-F238E27FC236}">
                <a16:creationId xmlns:a16="http://schemas.microsoft.com/office/drawing/2014/main" id="{1FCE1D01-261A-6590-7C14-C35385CB9853}"/>
              </a:ext>
            </a:extLst>
          </p:cNvPr>
          <p:cNvSpPr/>
          <p:nvPr/>
        </p:nvSpPr>
        <p:spPr>
          <a:xfrm>
            <a:off x="7442773" y="3174320"/>
            <a:ext cx="1560286" cy="2103081"/>
          </a:xfrm>
          <a:prstGeom prst="rect">
            <a:avLst/>
          </a:prstGeom>
          <a:noFill/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4D15FBA-CD86-3FAA-1EB2-E4485B9DBB07}"/>
              </a:ext>
            </a:extLst>
          </p:cNvPr>
          <p:cNvSpPr txBox="1"/>
          <p:nvPr/>
        </p:nvSpPr>
        <p:spPr>
          <a:xfrm>
            <a:off x="7442773" y="3348492"/>
            <a:ext cx="2902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/>
              <a:t>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E19FF43-96AF-09FB-BB5F-8F540ADD5E14}"/>
              </a:ext>
            </a:extLst>
          </p:cNvPr>
          <p:cNvSpPr txBox="1"/>
          <p:nvPr/>
        </p:nvSpPr>
        <p:spPr>
          <a:xfrm>
            <a:off x="7442773" y="4654777"/>
            <a:ext cx="2902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/>
              <a:t>R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D9D61ED7-28AB-4161-C072-28D856E92A0C}"/>
                  </a:ext>
                </a:extLst>
              </p:cNvPr>
              <p:cNvSpPr txBox="1"/>
              <p:nvPr/>
            </p:nvSpPr>
            <p:spPr>
              <a:xfrm>
                <a:off x="8524088" y="3348492"/>
                <a:ext cx="29028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Q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n</m:t>
                          </m:r>
                        </m:sub>
                      </m:sSub>
                    </m:oMath>
                  </m:oMathPara>
                </a14:m>
                <a:endParaRPr lang="en-IN" sz="2400" dirty="0"/>
              </a:p>
            </p:txBody>
          </p:sp>
        </mc:Choice>
        <mc:Fallback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D9D61ED7-28AB-4161-C072-28D856E92A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24088" y="3348492"/>
                <a:ext cx="290286" cy="461665"/>
              </a:xfrm>
              <a:prstGeom prst="rect">
                <a:avLst/>
              </a:prstGeom>
              <a:blipFill>
                <a:blip r:embed="rId3"/>
                <a:stretch>
                  <a:fillRect l="-14583" r="-72917" b="-131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B547A5E8-6002-F87C-099A-066EFF185F77}"/>
                  </a:ext>
                </a:extLst>
              </p:cNvPr>
              <p:cNvSpPr txBox="1"/>
              <p:nvPr/>
            </p:nvSpPr>
            <p:spPr>
              <a:xfrm>
                <a:off x="8473288" y="4654777"/>
                <a:ext cx="290286" cy="50520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ar>
                        <m:barPr>
                          <m:pos m:val="top"/>
                          <m:ctrlPr>
                            <a:rPr lang="en-IN" sz="2400" i="1" smtClean="0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sSub>
                            <m:sSubPr>
                              <m:ctrlPr>
                                <a:rPr lang="en-IN" sz="2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Q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</m:sub>
                          </m:sSub>
                        </m:e>
                      </m:bar>
                    </m:oMath>
                  </m:oMathPara>
                </a14:m>
                <a:endParaRPr lang="en-IN" sz="2400" dirty="0"/>
              </a:p>
            </p:txBody>
          </p:sp>
        </mc:Choice>
        <mc:Fallback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B547A5E8-6002-F87C-099A-066EFF185F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73288" y="4654777"/>
                <a:ext cx="290286" cy="505203"/>
              </a:xfrm>
              <a:prstGeom prst="rect">
                <a:avLst/>
              </a:prstGeom>
              <a:blipFill>
                <a:blip r:embed="rId4"/>
                <a:stretch>
                  <a:fillRect r="-562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Flowchart: Delay 27">
            <a:extLst>
              <a:ext uri="{FF2B5EF4-FFF2-40B4-BE49-F238E27FC236}">
                <a16:creationId xmlns:a16="http://schemas.microsoft.com/office/drawing/2014/main" id="{22A06DD6-87E3-C6AB-7045-6EB98A5B6FA9}"/>
              </a:ext>
            </a:extLst>
          </p:cNvPr>
          <p:cNvSpPr/>
          <p:nvPr/>
        </p:nvSpPr>
        <p:spPr>
          <a:xfrm>
            <a:off x="5911514" y="3318068"/>
            <a:ext cx="500743" cy="522514"/>
          </a:xfrm>
          <a:prstGeom prst="flowChartDelay">
            <a:avLst/>
          </a:prstGeom>
          <a:noFill/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9" name="Flowchart: Delay 28">
            <a:extLst>
              <a:ext uri="{FF2B5EF4-FFF2-40B4-BE49-F238E27FC236}">
                <a16:creationId xmlns:a16="http://schemas.microsoft.com/office/drawing/2014/main" id="{9A98C81C-9BAC-9DA6-B4E0-5499C26E6A34}"/>
              </a:ext>
            </a:extLst>
          </p:cNvPr>
          <p:cNvSpPr/>
          <p:nvPr/>
        </p:nvSpPr>
        <p:spPr>
          <a:xfrm>
            <a:off x="5911515" y="4624352"/>
            <a:ext cx="500743" cy="522514"/>
          </a:xfrm>
          <a:prstGeom prst="flowChartDelay">
            <a:avLst/>
          </a:prstGeom>
          <a:noFill/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D9DEBA83-AF7A-3227-678A-376BEB103293}"/>
              </a:ext>
            </a:extLst>
          </p:cNvPr>
          <p:cNvCxnSpPr>
            <a:cxnSpLocks/>
            <a:stCxn id="28" idx="3"/>
            <a:endCxn id="24" idx="1"/>
          </p:cNvCxnSpPr>
          <p:nvPr/>
        </p:nvCxnSpPr>
        <p:spPr>
          <a:xfrm>
            <a:off x="6412257" y="3579325"/>
            <a:ext cx="1030516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025DB27C-42F3-B657-8DB6-2E7DA68EE0AE}"/>
              </a:ext>
            </a:extLst>
          </p:cNvPr>
          <p:cNvCxnSpPr>
            <a:cxnSpLocks/>
          </p:cNvCxnSpPr>
          <p:nvPr/>
        </p:nvCxnSpPr>
        <p:spPr>
          <a:xfrm>
            <a:off x="6412257" y="4885609"/>
            <a:ext cx="1030516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89774765-1C3E-D5FC-5478-A69D592E1070}"/>
              </a:ext>
            </a:extLst>
          </p:cNvPr>
          <p:cNvCxnSpPr>
            <a:cxnSpLocks/>
          </p:cNvCxnSpPr>
          <p:nvPr/>
        </p:nvCxnSpPr>
        <p:spPr>
          <a:xfrm>
            <a:off x="4921274" y="3713330"/>
            <a:ext cx="99024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3786DA29-2DCD-E78B-353F-D49B376C5A7B}"/>
              </a:ext>
            </a:extLst>
          </p:cNvPr>
          <p:cNvCxnSpPr>
            <a:cxnSpLocks/>
          </p:cNvCxnSpPr>
          <p:nvPr/>
        </p:nvCxnSpPr>
        <p:spPr>
          <a:xfrm>
            <a:off x="4921274" y="4730600"/>
            <a:ext cx="990239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3B500AF8-D121-2080-6DB2-ED8F7D7C4DEA}"/>
              </a:ext>
            </a:extLst>
          </p:cNvPr>
          <p:cNvCxnSpPr>
            <a:cxnSpLocks/>
          </p:cNvCxnSpPr>
          <p:nvPr/>
        </p:nvCxnSpPr>
        <p:spPr>
          <a:xfrm>
            <a:off x="5551197" y="3439010"/>
            <a:ext cx="360317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A0A8F4EB-89B8-6F4D-CF5F-EAC8362AC7DC}"/>
              </a:ext>
            </a:extLst>
          </p:cNvPr>
          <p:cNvCxnSpPr>
            <a:cxnSpLocks/>
          </p:cNvCxnSpPr>
          <p:nvPr/>
        </p:nvCxnSpPr>
        <p:spPr>
          <a:xfrm>
            <a:off x="5564256" y="5031590"/>
            <a:ext cx="360317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C87F1FD1-060A-3C56-5B0D-978D688D4039}"/>
              </a:ext>
            </a:extLst>
          </p:cNvPr>
          <p:cNvCxnSpPr>
            <a:cxnSpLocks/>
          </p:cNvCxnSpPr>
          <p:nvPr/>
        </p:nvCxnSpPr>
        <p:spPr>
          <a:xfrm>
            <a:off x="9003059" y="3579324"/>
            <a:ext cx="360317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8379FBDC-2B51-BF94-49E2-7C6A3C83B0A7}"/>
              </a:ext>
            </a:extLst>
          </p:cNvPr>
          <p:cNvCxnSpPr>
            <a:cxnSpLocks/>
          </p:cNvCxnSpPr>
          <p:nvPr/>
        </p:nvCxnSpPr>
        <p:spPr>
          <a:xfrm>
            <a:off x="9003058" y="4856330"/>
            <a:ext cx="609238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4C166F28-24A9-CA8A-5238-2A13676E05F5}"/>
              </a:ext>
            </a:extLst>
          </p:cNvPr>
          <p:cNvCxnSpPr>
            <a:cxnSpLocks/>
          </p:cNvCxnSpPr>
          <p:nvPr/>
        </p:nvCxnSpPr>
        <p:spPr>
          <a:xfrm>
            <a:off x="9350125" y="3579324"/>
            <a:ext cx="0" cy="205571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50557CC5-E9BA-F114-4B23-DDB011151B8D}"/>
              </a:ext>
            </a:extLst>
          </p:cNvPr>
          <p:cNvCxnSpPr>
            <a:cxnSpLocks/>
          </p:cNvCxnSpPr>
          <p:nvPr/>
        </p:nvCxnSpPr>
        <p:spPr>
          <a:xfrm>
            <a:off x="9605395" y="2800618"/>
            <a:ext cx="0" cy="205571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2FEF41B9-9732-BBE1-12FB-A8785F311B5D}"/>
              </a:ext>
            </a:extLst>
          </p:cNvPr>
          <p:cNvCxnSpPr>
            <a:cxnSpLocks/>
          </p:cNvCxnSpPr>
          <p:nvPr/>
        </p:nvCxnSpPr>
        <p:spPr>
          <a:xfrm>
            <a:off x="5558456" y="2796342"/>
            <a:ext cx="4046939" cy="1358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B3D8DF2D-EFE8-AFDE-4E04-35C9F5D0B359}"/>
              </a:ext>
            </a:extLst>
          </p:cNvPr>
          <p:cNvCxnSpPr>
            <a:cxnSpLocks/>
          </p:cNvCxnSpPr>
          <p:nvPr/>
        </p:nvCxnSpPr>
        <p:spPr>
          <a:xfrm flipH="1">
            <a:off x="5558456" y="2800618"/>
            <a:ext cx="5800" cy="63839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B1095506-280B-F5D1-8893-E06BA32FF59E}"/>
              </a:ext>
            </a:extLst>
          </p:cNvPr>
          <p:cNvCxnSpPr>
            <a:cxnSpLocks/>
          </p:cNvCxnSpPr>
          <p:nvPr/>
        </p:nvCxnSpPr>
        <p:spPr>
          <a:xfrm flipV="1">
            <a:off x="5569525" y="5635669"/>
            <a:ext cx="3793851" cy="1893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5A1E874B-DB50-CBC6-CB0D-A8726EEB5DB4}"/>
              </a:ext>
            </a:extLst>
          </p:cNvPr>
          <p:cNvCxnSpPr>
            <a:cxnSpLocks/>
          </p:cNvCxnSpPr>
          <p:nvPr/>
        </p:nvCxnSpPr>
        <p:spPr>
          <a:xfrm>
            <a:off x="5575325" y="5031590"/>
            <a:ext cx="0" cy="61354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27954A16-2214-134A-7BB7-A6F9AB981C0E}"/>
              </a:ext>
            </a:extLst>
          </p:cNvPr>
          <p:cNvCxnSpPr>
            <a:cxnSpLocks/>
          </p:cNvCxnSpPr>
          <p:nvPr/>
        </p:nvCxnSpPr>
        <p:spPr>
          <a:xfrm>
            <a:off x="9350125" y="3579324"/>
            <a:ext cx="536491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83EFE1BC-7F64-5A4C-79BE-A6ABD8C6B518}"/>
              </a:ext>
            </a:extLst>
          </p:cNvPr>
          <p:cNvCxnSpPr>
            <a:cxnSpLocks/>
          </p:cNvCxnSpPr>
          <p:nvPr/>
        </p:nvCxnSpPr>
        <p:spPr>
          <a:xfrm>
            <a:off x="9363376" y="4856330"/>
            <a:ext cx="536491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Oval 48">
            <a:extLst>
              <a:ext uri="{FF2B5EF4-FFF2-40B4-BE49-F238E27FC236}">
                <a16:creationId xmlns:a16="http://schemas.microsoft.com/office/drawing/2014/main" id="{D2A68B1F-6025-0F21-C120-B63AA01B5B5C}"/>
              </a:ext>
            </a:extLst>
          </p:cNvPr>
          <p:cNvSpPr/>
          <p:nvPr/>
        </p:nvSpPr>
        <p:spPr>
          <a:xfrm>
            <a:off x="9304575" y="3542913"/>
            <a:ext cx="91100" cy="91440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79AEBFE3-9267-15BB-4932-7D6D2AB0E9B0}"/>
              </a:ext>
            </a:extLst>
          </p:cNvPr>
          <p:cNvSpPr/>
          <p:nvPr/>
        </p:nvSpPr>
        <p:spPr>
          <a:xfrm>
            <a:off x="9559845" y="4801301"/>
            <a:ext cx="91100" cy="91440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04F18019-6813-4898-BC80-CDEFFCCB40A4}"/>
              </a:ext>
            </a:extLst>
          </p:cNvPr>
          <p:cNvSpPr txBox="1"/>
          <p:nvPr/>
        </p:nvSpPr>
        <p:spPr>
          <a:xfrm>
            <a:off x="4608708" y="3477127"/>
            <a:ext cx="2802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i="1" dirty="0"/>
              <a:t>J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3118CEB5-F3BB-4AB5-4B9B-9B44326D86FA}"/>
              </a:ext>
            </a:extLst>
          </p:cNvPr>
          <p:cNvSpPr txBox="1"/>
          <p:nvPr/>
        </p:nvSpPr>
        <p:spPr>
          <a:xfrm>
            <a:off x="4612016" y="4499767"/>
            <a:ext cx="2802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i="1" dirty="0"/>
              <a:t>K</a:t>
            </a:r>
          </a:p>
        </p:txBody>
      </p:sp>
      <p:sp>
        <p:nvSpPr>
          <p:cNvPr id="86" name="Isosceles Triangle 85">
            <a:extLst>
              <a:ext uri="{FF2B5EF4-FFF2-40B4-BE49-F238E27FC236}">
                <a16:creationId xmlns:a16="http://schemas.microsoft.com/office/drawing/2014/main" id="{2E64A867-1854-3078-2D43-AE87168522C5}"/>
              </a:ext>
            </a:extLst>
          </p:cNvPr>
          <p:cNvSpPr/>
          <p:nvPr/>
        </p:nvSpPr>
        <p:spPr>
          <a:xfrm rot="5400000">
            <a:off x="7349417" y="4127365"/>
            <a:ext cx="362336" cy="176547"/>
          </a:xfrm>
          <a:prstGeom prst="triangle">
            <a:avLst/>
          </a:prstGeom>
          <a:noFill/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6C8B77A9-6B9E-A50E-750D-9D584C30EF38}"/>
              </a:ext>
            </a:extLst>
          </p:cNvPr>
          <p:cNvCxnSpPr>
            <a:cxnSpLocks/>
          </p:cNvCxnSpPr>
          <p:nvPr/>
        </p:nvCxnSpPr>
        <p:spPr>
          <a:xfrm>
            <a:off x="6917081" y="4220570"/>
            <a:ext cx="536491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F6E9D9CB-F8CA-01F2-5CDB-901F3BFEA2D3}"/>
                  </a:ext>
                </a:extLst>
              </p:cNvPr>
              <p:cNvSpPr txBox="1"/>
              <p:nvPr/>
            </p:nvSpPr>
            <p:spPr>
              <a:xfrm>
                <a:off x="6396834" y="4078047"/>
                <a:ext cx="542833" cy="64633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𝐶𝐿𝐾</m:t>
                      </m:r>
                    </m:oMath>
                  </m:oMathPara>
                </a14:m>
                <a:endParaRPr lang="en-IN" b="0" dirty="0"/>
              </a:p>
              <a:p>
                <a:endParaRPr lang="en-IN" sz="2400" dirty="0"/>
              </a:p>
            </p:txBody>
          </p:sp>
        </mc:Choice>
        <mc:Fallback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F6E9D9CB-F8CA-01F2-5CDB-901F3BFEA2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96834" y="4078047"/>
                <a:ext cx="542833" cy="646331"/>
              </a:xfrm>
              <a:prstGeom prst="rect">
                <a:avLst/>
              </a:prstGeom>
              <a:blipFill>
                <a:blip r:embed="rId5"/>
                <a:stretch>
                  <a:fillRect l="-4494" r="-44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7" name="Picture 4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0283" y="5208347"/>
            <a:ext cx="3225008" cy="1312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11214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/>
      <p:bldP spid="25" grpId="0"/>
      <p:bldP spid="26" grpId="0"/>
      <p:bldP spid="27" grpId="0"/>
      <p:bldP spid="28" grpId="0" animBg="1"/>
      <p:bldP spid="29" grpId="0" animBg="1"/>
      <p:bldP spid="49" grpId="0" animBg="1"/>
      <p:bldP spid="51" grpId="0" animBg="1"/>
      <p:bldP spid="83" grpId="0"/>
      <p:bldP spid="84" grpId="0"/>
      <p:bldP spid="86" grpId="0" animBg="1"/>
      <p:bldP spid="88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40239" y="186174"/>
            <a:ext cx="231332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Final Thoughts</a:t>
            </a:r>
          </a:p>
        </p:txBody>
      </p:sp>
      <p:sp>
        <p:nvSpPr>
          <p:cNvPr id="3" name="Rectangle 2"/>
          <p:cNvSpPr/>
          <p:nvPr/>
        </p:nvSpPr>
        <p:spPr>
          <a:xfrm>
            <a:off x="386080" y="1046553"/>
            <a:ext cx="10993120" cy="4351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400" dirty="0">
                <a:latin typeface="Segoe UI Symbol" panose="020B0502040204020203" pitchFamily="34" charset="0"/>
                <a:ea typeface="Times New Roman" panose="02020603050405020304" pitchFamily="18" charset="0"/>
                <a:cs typeface="Segoe UI Symbol" panose="020B0502040204020203" pitchFamily="34" charset="0"/>
              </a:rPr>
              <a:t>✔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Flip-flops are essential for memory and state retention in digital circuits.</a:t>
            </a:r>
            <a:b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Segoe UI Symbol" panose="020B0502040204020203" pitchFamily="34" charset="0"/>
                <a:ea typeface="Times New Roman" panose="02020603050405020304" pitchFamily="18" charset="0"/>
                <a:cs typeface="Segoe UI Symbol" panose="020B0502040204020203" pitchFamily="34" charset="0"/>
              </a:rPr>
              <a:t>✔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The S-R flip-flop is the foundation but has limitations due to undefined states.</a:t>
            </a:r>
            <a:b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Segoe UI Symbol" panose="020B0502040204020203" pitchFamily="34" charset="0"/>
                <a:ea typeface="Times New Roman" panose="02020603050405020304" pitchFamily="18" charset="0"/>
                <a:cs typeface="Segoe UI Symbol" panose="020B0502040204020203" pitchFamily="34" charset="0"/>
              </a:rPr>
              <a:t>✔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By adjusting how the inputs </a:t>
            </a:r>
            <a:r>
              <a:rPr lang="en-US" sz="1600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1600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are connected, you can create more advanced flip-flops: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 flip-flop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toggles based on its state.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J-K flip-flop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eliminates invalid states and allows toggling when both inputs are active.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 flip-flop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simply stores data reliably.</a:t>
            </a:r>
            <a:b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Segoe UI Symbol" panose="020B0502040204020203" pitchFamily="34" charset="0"/>
                <a:ea typeface="Times New Roman" panose="02020603050405020304" pitchFamily="18" charset="0"/>
                <a:cs typeface="Segoe UI Symbol" panose="020B0502040204020203" pitchFamily="34" charset="0"/>
              </a:rPr>
              <a:t>✔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Understanding these transformations is key for designing more complex digital systems like counters, registers, and processors.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25808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1259</TotalTime>
  <Words>1656</Words>
  <Application>Microsoft Office PowerPoint</Application>
  <PresentationFormat>Widescreen</PresentationFormat>
  <Paragraphs>340</Paragraphs>
  <Slides>37</Slides>
  <Notes>0</Notes>
  <HiddenSlides>3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7" baseType="lpstr">
      <vt:lpstr>Arial</vt:lpstr>
      <vt:lpstr>Arial Unicode MS</vt:lpstr>
      <vt:lpstr>Calibri</vt:lpstr>
      <vt:lpstr>Calibri Light</vt:lpstr>
      <vt:lpstr>Cambria Math</vt:lpstr>
      <vt:lpstr>Courier New</vt:lpstr>
      <vt:lpstr>Segoe UI Symbol</vt:lpstr>
      <vt:lpstr>Symbol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Abhijat Tiwari</dc:creator>
  <cp:lastModifiedBy>Neeraj Mishra</cp:lastModifiedBy>
  <cp:revision>63</cp:revision>
  <dcterms:created xsi:type="dcterms:W3CDTF">2025-09-04T17:58:01Z</dcterms:created>
  <dcterms:modified xsi:type="dcterms:W3CDTF">2025-09-09T02:31:21Z</dcterms:modified>
</cp:coreProperties>
</file>