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310" r:id="rId6"/>
    <p:sldId id="259" r:id="rId7"/>
    <p:sldId id="260" r:id="rId8"/>
    <p:sldId id="311" r:id="rId9"/>
    <p:sldId id="312" r:id="rId10"/>
    <p:sldId id="305" r:id="rId11"/>
    <p:sldId id="306" r:id="rId12"/>
    <p:sldId id="307" r:id="rId13"/>
    <p:sldId id="308" r:id="rId14"/>
    <p:sldId id="309" r:id="rId15"/>
    <p:sldId id="313" r:id="rId16"/>
    <p:sldId id="314" r:id="rId17"/>
    <p:sldId id="315" r:id="rId18"/>
    <p:sldId id="316" r:id="rId19"/>
    <p:sldId id="317" r:id="rId20"/>
    <p:sldId id="318" r:id="rId21"/>
    <p:sldId id="320" r:id="rId22"/>
    <p:sldId id="321" r:id="rId23"/>
    <p:sldId id="322" r:id="rId24"/>
    <p:sldId id="323" r:id="rId25"/>
    <p:sldId id="324" r:id="rId26"/>
    <p:sldId id="261" r:id="rId27"/>
    <p:sldId id="262" r:id="rId28"/>
    <p:sldId id="263" r:id="rId29"/>
    <p:sldId id="325" r:id="rId30"/>
    <p:sldId id="333" r:id="rId31"/>
    <p:sldId id="334" r:id="rId32"/>
    <p:sldId id="335" r:id="rId33"/>
    <p:sldId id="326" r:id="rId34"/>
    <p:sldId id="327" r:id="rId35"/>
    <p:sldId id="336" r:id="rId36"/>
    <p:sldId id="337" r:id="rId37"/>
    <p:sldId id="328" r:id="rId38"/>
    <p:sldId id="338" r:id="rId39"/>
    <p:sldId id="329" r:id="rId40"/>
    <p:sldId id="339" r:id="rId41"/>
    <p:sldId id="330" r:id="rId42"/>
    <p:sldId id="331" r:id="rId43"/>
    <p:sldId id="340" r:id="rId44"/>
    <p:sldId id="332" r:id="rId45"/>
    <p:sldId id="341" r:id="rId46"/>
    <p:sldId id="342" r:id="rId47"/>
    <p:sldId id="344" r:id="rId48"/>
    <p:sldId id="345" r:id="rId49"/>
    <p:sldId id="346" r:id="rId50"/>
    <p:sldId id="264" r:id="rId51"/>
    <p:sldId id="265" r:id="rId52"/>
    <p:sldId id="266" r:id="rId53"/>
    <p:sldId id="267" r:id="rId54"/>
    <p:sldId id="268" r:id="rId55"/>
    <p:sldId id="269" r:id="rId56"/>
    <p:sldId id="270" r:id="rId57"/>
    <p:sldId id="271" r:id="rId58"/>
    <p:sldId id="272" r:id="rId59"/>
    <p:sldId id="273" r:id="rId60"/>
    <p:sldId id="274" r:id="rId61"/>
    <p:sldId id="275" r:id="rId62"/>
    <p:sldId id="276" r:id="rId63"/>
    <p:sldId id="277" r:id="rId64"/>
    <p:sldId id="347" r:id="rId65"/>
    <p:sldId id="278" r:id="rId66"/>
    <p:sldId id="279" r:id="rId67"/>
    <p:sldId id="280" r:id="rId68"/>
    <p:sldId id="281" r:id="rId69"/>
    <p:sldId id="282" r:id="rId70"/>
    <p:sldId id="283" r:id="rId71"/>
    <p:sldId id="284" r:id="rId72"/>
    <p:sldId id="285" r:id="rId73"/>
    <p:sldId id="286" r:id="rId74"/>
    <p:sldId id="287" r:id="rId75"/>
    <p:sldId id="288" r:id="rId76"/>
    <p:sldId id="289" r:id="rId77"/>
    <p:sldId id="290" r:id="rId78"/>
    <p:sldId id="291" r:id="rId79"/>
    <p:sldId id="292" r:id="rId80"/>
    <p:sldId id="293" r:id="rId81"/>
    <p:sldId id="294" r:id="rId82"/>
    <p:sldId id="349" r:id="rId83"/>
    <p:sldId id="348" r:id="rId84"/>
    <p:sldId id="295" r:id="rId85"/>
    <p:sldId id="296" r:id="rId86"/>
    <p:sldId id="297" r:id="rId87"/>
    <p:sldId id="298" r:id="rId88"/>
    <p:sldId id="299" r:id="rId89"/>
    <p:sldId id="350" r:id="rId90"/>
    <p:sldId id="351" r:id="rId91"/>
    <p:sldId id="300" r:id="rId92"/>
    <p:sldId id="301" r:id="rId93"/>
    <p:sldId id="302"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4660"/>
  </p:normalViewPr>
  <p:slideViewPr>
    <p:cSldViewPr snapToGrid="0">
      <p:cViewPr>
        <p:scale>
          <a:sx n="75" d="100"/>
          <a:sy n="75" d="100"/>
        </p:scale>
        <p:origin x="248"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758001-6F79-419E-AFDA-5F47311999D1}"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3774451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758001-6F79-419E-AFDA-5F47311999D1}"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92178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3758001-6F79-419E-AFDA-5F47311999D1}"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274071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3758001-6F79-419E-AFDA-5F47311999D1}"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3074511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3758001-6F79-419E-AFDA-5F47311999D1}"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3650641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3758001-6F79-419E-AFDA-5F47311999D1}"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415191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758001-6F79-419E-AFDA-5F47311999D1}"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220266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3758001-6F79-419E-AFDA-5F47311999D1}"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1233992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3758001-6F79-419E-AFDA-5F47311999D1}"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1623874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758001-6F79-419E-AFDA-5F47311999D1}"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2647339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758001-6F79-419E-AFDA-5F47311999D1}"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C59ED-E1A5-4D57-8907-4B949FDD53FA}" type="slidenum">
              <a:rPr lang="en-US" smtClean="0"/>
              <a:t>‹#›</a:t>
            </a:fld>
            <a:endParaRPr lang="en-US"/>
          </a:p>
        </p:txBody>
      </p:sp>
    </p:spTree>
    <p:extLst>
      <p:ext uri="{BB962C8B-B14F-4D97-AF65-F5344CB8AC3E}">
        <p14:creationId xmlns:p14="http://schemas.microsoft.com/office/powerpoint/2010/main" val="3715473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36037" y="-3860"/>
            <a:ext cx="7519924" cy="69723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1" i="0">
                <a:solidFill>
                  <a:schemeClr val="hlink"/>
                </a:solidFill>
                <a:latin typeface="Calibri"/>
                <a:cs typeface="Calibri"/>
              </a:defRPr>
            </a:lvl1pPr>
          </a:lstStyle>
          <a:p>
            <a:pPr marL="12700" marR="0" lvl="0" indent="0" algn="l" defTabSz="914400" rtl="0" eaLnBrk="1" fontAlgn="auto" latinLnBrk="0" hangingPunct="1">
              <a:lnSpc>
                <a:spcPts val="1435"/>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00FF"/>
                </a:solidFill>
                <a:effectLst/>
                <a:uLnTx/>
                <a:uFillTx/>
                <a:latin typeface="Calibri"/>
                <a:ea typeface="+mn-ea"/>
                <a:cs typeface="Calibri"/>
              </a:rPr>
              <a:t>Copyright © 2017 McGraw-Hill Education. All rights reserved. No reproduction or distribution without the prior written consent of McGraw-Hill Education.</a:t>
            </a:r>
            <a:endParaRPr kumimoji="0" sz="1400" b="1" i="0" u="none" strike="noStrike" kern="0" cap="none" spc="-10" normalizeH="0" baseline="0" noProof="0" dirty="0">
              <a:ln>
                <a:noFill/>
              </a:ln>
              <a:solidFill>
                <a:srgbClr val="0000FF"/>
              </a:solidFill>
              <a:effectLst/>
              <a:uLnTx/>
              <a:uFillTx/>
              <a:latin typeface="Calibri"/>
              <a:ea typeface="+mn-ea"/>
              <a:cs typeface="Calibri"/>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0F8DAF0-D3E0-44C8-8CC6-59A92CB13C28}" type="datetime1">
              <a:rPr kumimoji="0" lang="en-US" sz="1800" b="0" i="0" u="none" strike="noStrike" kern="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8/18/2025</a:t>
            </a:fld>
            <a:endParaRPr kumimoji="0" lang="en-US" sz="1800" b="0" i="0" u="none" strike="noStrike" kern="0" cap="none" spc="0" normalizeH="0" baseline="0" noProof="0">
              <a:ln>
                <a:noFill/>
              </a:ln>
              <a:solidFill>
                <a:prstClr val="black">
                  <a:tint val="75000"/>
                </a:prstClr>
              </a:solidFill>
              <a:effectLst/>
              <a:uLnTx/>
              <a:uFillTx/>
              <a:latin typeface="Calibri"/>
              <a:ea typeface="+mn-ea"/>
              <a:cs typeface="+mn-cs"/>
            </a:endParaRPr>
          </a:p>
        </p:txBody>
      </p:sp>
      <p:sp>
        <p:nvSpPr>
          <p:cNvPr id="6" name="Holder 6"/>
          <p:cNvSpPr>
            <a:spLocks noGrp="1"/>
          </p:cNvSpPr>
          <p:nvPr>
            <p:ph type="sldNum" sz="quarter" idx="7"/>
          </p:nvPr>
        </p:nvSpPr>
        <p:spPr/>
        <p:txBody>
          <a:bodyPr lIns="0" tIns="0" rIns="0" bIns="0"/>
          <a:lstStyle>
            <a:lvl1pPr>
              <a:defRPr sz="1400" b="1" i="0">
                <a:solidFill>
                  <a:schemeClr val="hlink"/>
                </a:solidFill>
                <a:latin typeface="Calibri"/>
                <a:cs typeface="Calibri"/>
              </a:defRPr>
            </a:lvl1p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sz="1400" b="1" i="0" u="none" strike="noStrike" kern="0" cap="none" spc="-50" normalizeH="0" baseline="0" noProof="0" dirty="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a:t>
            </a:fld>
            <a:endParaRPr kumimoji="0" sz="1400" b="1" i="0" u="none" strike="noStrike" kern="0" cap="none" spc="-50" normalizeH="0" baseline="0" noProof="0" dirty="0">
              <a:ln>
                <a:noFill/>
              </a:ln>
              <a:solidFill>
                <a:srgbClr val="0000FF"/>
              </a:solidFill>
              <a:effectLst/>
              <a:uLnTx/>
              <a:uFillTx/>
              <a:latin typeface="Calibri"/>
              <a:ea typeface="+mn-ea"/>
              <a:cs typeface="Calibri"/>
            </a:endParaRPr>
          </a:p>
        </p:txBody>
      </p:sp>
    </p:spTree>
    <p:extLst>
      <p:ext uri="{BB962C8B-B14F-4D97-AF65-F5344CB8AC3E}">
        <p14:creationId xmlns:p14="http://schemas.microsoft.com/office/powerpoint/2010/main" val="2918576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1" i="0">
                <a:solidFill>
                  <a:schemeClr val="hlink"/>
                </a:solidFill>
                <a:latin typeface="Calibri"/>
                <a:cs typeface="Calibri"/>
              </a:defRPr>
            </a:lvl1pPr>
          </a:lstStyle>
          <a:p>
            <a:pPr marL="12700" marR="0" lvl="0" indent="0" algn="l" defTabSz="914400" rtl="0" eaLnBrk="1" fontAlgn="auto" latinLnBrk="0" hangingPunct="1">
              <a:lnSpc>
                <a:spcPts val="1435"/>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00FF"/>
                </a:solidFill>
                <a:effectLst/>
                <a:uLnTx/>
                <a:uFillTx/>
                <a:latin typeface="Calibri"/>
                <a:ea typeface="+mn-ea"/>
                <a:cs typeface="Calibri"/>
              </a:rPr>
              <a:t>Copyright © 2017 McGraw-Hill Education. All rights reserved. No reproduction or distribution without the prior written consent of McGraw-Hill Education.</a:t>
            </a:r>
            <a:endParaRPr kumimoji="0" sz="1400" b="1" i="0" u="none" strike="noStrike" kern="0" cap="none" spc="-10" normalizeH="0" baseline="0" noProof="0" dirty="0">
              <a:ln>
                <a:noFill/>
              </a:ln>
              <a:solidFill>
                <a:srgbClr val="0000FF"/>
              </a:solidFill>
              <a:effectLst/>
              <a:uLnTx/>
              <a:uFillTx/>
              <a:latin typeface="Calibri"/>
              <a:ea typeface="+mn-ea"/>
              <a:cs typeface="Calibri"/>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89564AA-4B21-4E99-8229-3577611EF51B}" type="datetime1">
              <a:rPr kumimoji="0" lang="en-US" sz="1800" b="0" i="0" u="none" strike="noStrike" kern="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8/18/2025</a:t>
            </a:fld>
            <a:endParaRPr kumimoji="0" lang="en-US" sz="1800" b="0" i="0" u="none" strike="noStrike" kern="0" cap="none" spc="0" normalizeH="0" baseline="0" noProof="0">
              <a:ln>
                <a:noFill/>
              </a:ln>
              <a:solidFill>
                <a:prstClr val="black">
                  <a:tint val="75000"/>
                </a:prstClr>
              </a:solidFill>
              <a:effectLst/>
              <a:uLnTx/>
              <a:uFillTx/>
              <a:latin typeface="Calibri"/>
              <a:ea typeface="+mn-ea"/>
              <a:cs typeface="+mn-cs"/>
            </a:endParaRPr>
          </a:p>
        </p:txBody>
      </p:sp>
      <p:sp>
        <p:nvSpPr>
          <p:cNvPr id="6" name="Holder 6"/>
          <p:cNvSpPr>
            <a:spLocks noGrp="1"/>
          </p:cNvSpPr>
          <p:nvPr>
            <p:ph type="sldNum" sz="quarter" idx="7"/>
          </p:nvPr>
        </p:nvSpPr>
        <p:spPr/>
        <p:txBody>
          <a:bodyPr lIns="0" tIns="0" rIns="0" bIns="0"/>
          <a:lstStyle>
            <a:lvl1pPr>
              <a:defRPr sz="1400" b="1" i="0">
                <a:solidFill>
                  <a:schemeClr val="hlink"/>
                </a:solidFill>
                <a:latin typeface="Calibri"/>
                <a:cs typeface="Calibri"/>
              </a:defRPr>
            </a:lvl1p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sz="1400" b="1" i="0" u="none" strike="noStrike" kern="0" cap="none" spc="-50" normalizeH="0" baseline="0" noProof="0" dirty="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a:t>
            </a:fld>
            <a:endParaRPr kumimoji="0" sz="1400" b="1" i="0" u="none" strike="noStrike" kern="0" cap="none" spc="-50" normalizeH="0" baseline="0" noProof="0" dirty="0">
              <a:ln>
                <a:noFill/>
              </a:ln>
              <a:solidFill>
                <a:srgbClr val="0000FF"/>
              </a:solidFill>
              <a:effectLst/>
              <a:uLnTx/>
              <a:uFillTx/>
              <a:latin typeface="Calibri"/>
              <a:ea typeface="+mn-ea"/>
              <a:cs typeface="Calibri"/>
            </a:endParaRPr>
          </a:p>
        </p:txBody>
      </p:sp>
    </p:spTree>
    <p:extLst>
      <p:ext uri="{BB962C8B-B14F-4D97-AF65-F5344CB8AC3E}">
        <p14:creationId xmlns:p14="http://schemas.microsoft.com/office/powerpoint/2010/main" val="2690104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chemeClr val="hlink"/>
                </a:solidFill>
                <a:latin typeface="Calibri"/>
                <a:cs typeface="Calibri"/>
              </a:defRPr>
            </a:lvl1pPr>
          </a:lstStyle>
          <a:p>
            <a:pPr marL="12700" marR="0" lvl="0" indent="0" algn="l" defTabSz="914400" rtl="0" eaLnBrk="1" fontAlgn="auto" latinLnBrk="0" hangingPunct="1">
              <a:lnSpc>
                <a:spcPts val="1435"/>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00FF"/>
                </a:solidFill>
                <a:effectLst/>
                <a:uLnTx/>
                <a:uFillTx/>
                <a:latin typeface="Calibri"/>
                <a:ea typeface="+mn-ea"/>
                <a:cs typeface="Calibri"/>
              </a:rPr>
              <a:t>Copyright © 2017 McGraw-Hill Education. All rights reserved. No reproduction or distribution without the prior written consent of McGraw-Hill Education.</a:t>
            </a:r>
            <a:endParaRPr kumimoji="0" sz="1400" b="1" i="0" u="none" strike="noStrike" kern="0" cap="none" spc="-10" normalizeH="0" baseline="0" noProof="0" dirty="0">
              <a:ln>
                <a:noFill/>
              </a:ln>
              <a:solidFill>
                <a:srgbClr val="0000FF"/>
              </a:solidFill>
              <a:effectLst/>
              <a:uLnTx/>
              <a:uFillTx/>
              <a:latin typeface="Calibri"/>
              <a:ea typeface="+mn-ea"/>
              <a:cs typeface="Calibri"/>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63490A4-AED0-421F-B447-3240A4CE6862}" type="datetime1">
              <a:rPr kumimoji="0" lang="en-US" sz="1800" b="0" i="0" u="none" strike="noStrike" kern="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8/18/2025</a:t>
            </a:fld>
            <a:endParaRPr kumimoji="0" lang="en-US" sz="1800" b="0" i="0" u="none" strike="noStrike" kern="0" cap="none" spc="0" normalizeH="0" baseline="0" noProof="0">
              <a:ln>
                <a:noFill/>
              </a:ln>
              <a:solidFill>
                <a:prstClr val="black">
                  <a:tint val="75000"/>
                </a:prstClr>
              </a:solidFill>
              <a:effectLst/>
              <a:uLnTx/>
              <a:uFillTx/>
              <a:latin typeface="Calibri"/>
              <a:ea typeface="+mn-ea"/>
              <a:cs typeface="+mn-cs"/>
            </a:endParaRPr>
          </a:p>
        </p:txBody>
      </p:sp>
      <p:sp>
        <p:nvSpPr>
          <p:cNvPr id="7" name="Holder 7"/>
          <p:cNvSpPr>
            <a:spLocks noGrp="1"/>
          </p:cNvSpPr>
          <p:nvPr>
            <p:ph type="sldNum" sz="quarter" idx="7"/>
          </p:nvPr>
        </p:nvSpPr>
        <p:spPr/>
        <p:txBody>
          <a:bodyPr lIns="0" tIns="0" rIns="0" bIns="0"/>
          <a:lstStyle>
            <a:lvl1pPr>
              <a:defRPr sz="1400" b="1" i="0">
                <a:solidFill>
                  <a:schemeClr val="hlink"/>
                </a:solidFill>
                <a:latin typeface="Calibri"/>
                <a:cs typeface="Calibri"/>
              </a:defRPr>
            </a:lvl1p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sz="1400" b="1" i="0" u="none" strike="noStrike" kern="0" cap="none" spc="-50" normalizeH="0" baseline="0" noProof="0" dirty="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a:t>
            </a:fld>
            <a:endParaRPr kumimoji="0" sz="1400" b="1" i="0" u="none" strike="noStrike" kern="0" cap="none" spc="-50" normalizeH="0" baseline="0" noProof="0" dirty="0">
              <a:ln>
                <a:noFill/>
              </a:ln>
              <a:solidFill>
                <a:srgbClr val="0000FF"/>
              </a:solidFill>
              <a:effectLst/>
              <a:uLnTx/>
              <a:uFillTx/>
              <a:latin typeface="Calibri"/>
              <a:ea typeface="+mn-ea"/>
              <a:cs typeface="Calibri"/>
            </a:endParaRPr>
          </a:p>
        </p:txBody>
      </p:sp>
    </p:spTree>
    <p:extLst>
      <p:ext uri="{BB962C8B-B14F-4D97-AF65-F5344CB8AC3E}">
        <p14:creationId xmlns:p14="http://schemas.microsoft.com/office/powerpoint/2010/main" val="455421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defRPr sz="1400" b="1" i="0">
                <a:solidFill>
                  <a:schemeClr val="hlink"/>
                </a:solidFill>
                <a:latin typeface="Calibri"/>
                <a:cs typeface="Calibri"/>
              </a:defRPr>
            </a:lvl1pPr>
          </a:lstStyle>
          <a:p>
            <a:pPr marL="12700" marR="0" lvl="0" indent="0" algn="l" defTabSz="914400" rtl="0" eaLnBrk="1" fontAlgn="auto" latinLnBrk="0" hangingPunct="1">
              <a:lnSpc>
                <a:spcPts val="1435"/>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00FF"/>
                </a:solidFill>
                <a:effectLst/>
                <a:uLnTx/>
                <a:uFillTx/>
                <a:latin typeface="Calibri"/>
                <a:ea typeface="+mn-ea"/>
                <a:cs typeface="Calibri"/>
              </a:rPr>
              <a:t>Copyright © 2017 McGraw-Hill Education. All rights reserved. No reproduction or distribution without the prior written consent of McGraw-Hill Education.</a:t>
            </a:r>
            <a:endParaRPr kumimoji="0" sz="1400" b="1" i="0" u="none" strike="noStrike" kern="0" cap="none" spc="-10" normalizeH="0" baseline="0" noProof="0" dirty="0">
              <a:ln>
                <a:noFill/>
              </a:ln>
              <a:solidFill>
                <a:srgbClr val="0000FF"/>
              </a:solidFill>
              <a:effectLst/>
              <a:uLnTx/>
              <a:uFillTx/>
              <a:latin typeface="Calibri"/>
              <a:ea typeface="+mn-ea"/>
              <a:cs typeface="Calibri"/>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E3B3671-A783-4FC7-9A36-B6CDE96FC657}" type="datetime1">
              <a:rPr kumimoji="0" lang="en-US" sz="1800" b="0" i="0" u="none" strike="noStrike" kern="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8/18/2025</a:t>
            </a:fld>
            <a:endParaRPr kumimoji="0" lang="en-US" sz="1800" b="0" i="0" u="none" strike="noStrike" kern="0" cap="none" spc="0" normalizeH="0" baseline="0" noProof="0">
              <a:ln>
                <a:noFill/>
              </a:ln>
              <a:solidFill>
                <a:prstClr val="black">
                  <a:tint val="75000"/>
                </a:prstClr>
              </a:solidFill>
              <a:effectLst/>
              <a:uLnTx/>
              <a:uFillTx/>
              <a:latin typeface="Calibri"/>
              <a:ea typeface="+mn-ea"/>
              <a:cs typeface="+mn-cs"/>
            </a:endParaRPr>
          </a:p>
        </p:txBody>
      </p:sp>
      <p:sp>
        <p:nvSpPr>
          <p:cNvPr id="5" name="Holder 5"/>
          <p:cNvSpPr>
            <a:spLocks noGrp="1"/>
          </p:cNvSpPr>
          <p:nvPr>
            <p:ph type="sldNum" sz="quarter" idx="7"/>
          </p:nvPr>
        </p:nvSpPr>
        <p:spPr/>
        <p:txBody>
          <a:bodyPr lIns="0" tIns="0" rIns="0" bIns="0"/>
          <a:lstStyle>
            <a:lvl1pPr>
              <a:defRPr sz="1400" b="1" i="0">
                <a:solidFill>
                  <a:schemeClr val="hlink"/>
                </a:solidFill>
                <a:latin typeface="Calibri"/>
                <a:cs typeface="Calibri"/>
              </a:defRPr>
            </a:lvl1p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sz="1400" b="1" i="0" u="none" strike="noStrike" kern="0" cap="none" spc="-50" normalizeH="0" baseline="0" noProof="0" dirty="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a:t>
            </a:fld>
            <a:endParaRPr kumimoji="0" sz="1400" b="1" i="0" u="none" strike="noStrike" kern="0" cap="none" spc="-50" normalizeH="0" baseline="0" noProof="0" dirty="0">
              <a:ln>
                <a:noFill/>
              </a:ln>
              <a:solidFill>
                <a:srgbClr val="0000FF"/>
              </a:solidFill>
              <a:effectLst/>
              <a:uLnTx/>
              <a:uFillTx/>
              <a:latin typeface="Calibri"/>
              <a:ea typeface="+mn-ea"/>
              <a:cs typeface="Calibri"/>
            </a:endParaRPr>
          </a:p>
        </p:txBody>
      </p:sp>
    </p:spTree>
    <p:extLst>
      <p:ext uri="{BB962C8B-B14F-4D97-AF65-F5344CB8AC3E}">
        <p14:creationId xmlns:p14="http://schemas.microsoft.com/office/powerpoint/2010/main" val="29858541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chemeClr val="hlink"/>
                </a:solidFill>
                <a:latin typeface="Calibri"/>
                <a:cs typeface="Calibri"/>
              </a:defRPr>
            </a:lvl1pPr>
          </a:lstStyle>
          <a:p>
            <a:pPr marL="12700" marR="0" lvl="0" indent="0" algn="l" defTabSz="914400" rtl="0" eaLnBrk="1" fontAlgn="auto" latinLnBrk="0" hangingPunct="1">
              <a:lnSpc>
                <a:spcPts val="1435"/>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00FF"/>
                </a:solidFill>
                <a:effectLst/>
                <a:uLnTx/>
                <a:uFillTx/>
                <a:latin typeface="Calibri"/>
                <a:ea typeface="+mn-ea"/>
                <a:cs typeface="Calibri"/>
              </a:rPr>
              <a:t>Copyright © 2017 McGraw-Hill Education. All rights reserved. No reproduction or distribution without the prior written consent of McGraw-Hill Education.</a:t>
            </a:r>
            <a:endParaRPr kumimoji="0" sz="1400" b="1" i="0" u="none" strike="noStrike" kern="0" cap="none" spc="-10" normalizeH="0" baseline="0" noProof="0" dirty="0">
              <a:ln>
                <a:noFill/>
              </a:ln>
              <a:solidFill>
                <a:srgbClr val="0000FF"/>
              </a:solidFill>
              <a:effectLst/>
              <a:uLnTx/>
              <a:uFillTx/>
              <a:latin typeface="Calibri"/>
              <a:ea typeface="+mn-ea"/>
              <a:cs typeface="Calibri"/>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BA88C2-2B7D-424E-AF0D-885A9F6B4BC4}" type="datetime1">
              <a:rPr kumimoji="0" lang="en-US" sz="1800" b="0" i="0" u="none" strike="noStrike" kern="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8/18/2025</a:t>
            </a:fld>
            <a:endParaRPr kumimoji="0" lang="en-US" sz="1800" b="0" i="0" u="none" strike="noStrike" kern="0" cap="none" spc="0" normalizeH="0" baseline="0" noProof="0">
              <a:ln>
                <a:noFill/>
              </a:ln>
              <a:solidFill>
                <a:prstClr val="black">
                  <a:tint val="75000"/>
                </a:prstClr>
              </a:solidFill>
              <a:effectLst/>
              <a:uLnTx/>
              <a:uFillTx/>
              <a:latin typeface="Calibri"/>
              <a:ea typeface="+mn-ea"/>
              <a:cs typeface="+mn-cs"/>
            </a:endParaRPr>
          </a:p>
        </p:txBody>
      </p:sp>
      <p:sp>
        <p:nvSpPr>
          <p:cNvPr id="4" name="Holder 4"/>
          <p:cNvSpPr>
            <a:spLocks noGrp="1"/>
          </p:cNvSpPr>
          <p:nvPr>
            <p:ph type="sldNum" sz="quarter" idx="7"/>
          </p:nvPr>
        </p:nvSpPr>
        <p:spPr/>
        <p:txBody>
          <a:bodyPr lIns="0" tIns="0" rIns="0" bIns="0"/>
          <a:lstStyle>
            <a:lvl1pPr>
              <a:defRPr sz="1400" b="1" i="0">
                <a:solidFill>
                  <a:schemeClr val="hlink"/>
                </a:solidFill>
                <a:latin typeface="Calibri"/>
                <a:cs typeface="Calibri"/>
              </a:defRPr>
            </a:lvl1p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sz="1400" b="1" i="0" u="none" strike="noStrike" kern="0" cap="none" spc="-50" normalizeH="0" baseline="0" noProof="0" dirty="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a:t>
            </a:fld>
            <a:endParaRPr kumimoji="0" sz="1400" b="1" i="0" u="none" strike="noStrike" kern="0" cap="none" spc="-50" normalizeH="0" baseline="0" noProof="0" dirty="0">
              <a:ln>
                <a:noFill/>
              </a:ln>
              <a:solidFill>
                <a:srgbClr val="0000FF"/>
              </a:solidFill>
              <a:effectLst/>
              <a:uLnTx/>
              <a:uFillTx/>
              <a:latin typeface="Calibri"/>
              <a:ea typeface="+mn-ea"/>
              <a:cs typeface="Calibri"/>
            </a:endParaRPr>
          </a:p>
        </p:txBody>
      </p:sp>
    </p:spTree>
    <p:extLst>
      <p:ext uri="{BB962C8B-B14F-4D97-AF65-F5344CB8AC3E}">
        <p14:creationId xmlns:p14="http://schemas.microsoft.com/office/powerpoint/2010/main" val="2879217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58001-6F79-419E-AFDA-5F47311999D1}" type="datetimeFigureOut">
              <a:rPr lang="en-US" smtClean="0"/>
              <a:t>8/18/2025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1C59ED-E1A5-4D57-8907-4B949FDD53FA}" type="slidenum">
              <a:rPr lang="en-US" smtClean="0"/>
              <a:t>‹#›</a:t>
            </a:fld>
            <a:endParaRPr lang="en-US"/>
          </a:p>
        </p:txBody>
      </p:sp>
    </p:spTree>
    <p:extLst>
      <p:ext uri="{BB962C8B-B14F-4D97-AF65-F5344CB8AC3E}">
        <p14:creationId xmlns:p14="http://schemas.microsoft.com/office/powerpoint/2010/main" val="3140135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46759"/>
            <a:ext cx="12192000" cy="91440"/>
          </a:xfrm>
          <a:custGeom>
            <a:avLst/>
            <a:gdLst/>
            <a:ahLst/>
            <a:cxnLst/>
            <a:rect l="l" t="t" r="r" b="b"/>
            <a:pathLst>
              <a:path w="12192000" h="91440">
                <a:moveTo>
                  <a:pt x="12192000" y="0"/>
                </a:moveTo>
                <a:lnTo>
                  <a:pt x="0" y="0"/>
                </a:lnTo>
                <a:lnTo>
                  <a:pt x="0" y="91439"/>
                </a:lnTo>
                <a:lnTo>
                  <a:pt x="12192000" y="91439"/>
                </a:lnTo>
                <a:lnTo>
                  <a:pt x="12192000" y="0"/>
                </a:lnTo>
                <a:close/>
              </a:path>
            </a:pathLst>
          </a:custGeom>
          <a:solidFill>
            <a:srgbClr val="3333C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231800" y="-3860"/>
            <a:ext cx="11728399" cy="69723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562140" y="1060450"/>
            <a:ext cx="11144250" cy="25908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8739" y="6619595"/>
            <a:ext cx="1222375" cy="204470"/>
          </a:xfrm>
          <a:prstGeom prst="rect">
            <a:avLst/>
          </a:prstGeom>
        </p:spPr>
        <p:txBody>
          <a:bodyPr wrap="square" lIns="0" tIns="0" rIns="0" bIns="0">
            <a:spAutoFit/>
          </a:bodyPr>
          <a:lstStyle>
            <a:lvl1pPr>
              <a:defRPr sz="1400" b="1" i="0">
                <a:solidFill>
                  <a:schemeClr val="hlink"/>
                </a:solidFill>
                <a:latin typeface="Calibri"/>
                <a:cs typeface="Calibri"/>
              </a:defRPr>
            </a:lvl1pPr>
          </a:lstStyle>
          <a:p>
            <a:pPr marL="12700" marR="0" lvl="0" indent="0" algn="l" defTabSz="914400" rtl="0" eaLnBrk="1" fontAlgn="auto" latinLnBrk="0" hangingPunct="1">
              <a:lnSpc>
                <a:spcPts val="1435"/>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00FF"/>
                </a:solidFill>
                <a:effectLst/>
                <a:uLnTx/>
                <a:uFillTx/>
                <a:latin typeface="Calibri"/>
                <a:ea typeface="+mn-ea"/>
                <a:cs typeface="Calibri"/>
              </a:rPr>
              <a:t>Copyright © 2017 McGraw-Hill Education. All rights reserved. No reproduction or distribution without the prior written consent of McGraw-Hill Education.</a:t>
            </a:r>
            <a:endParaRPr kumimoji="0" sz="1400" b="1" i="0" u="none" strike="noStrike" kern="0" cap="none" spc="-10" normalizeH="0" baseline="0" noProof="0" dirty="0">
              <a:ln>
                <a:noFill/>
              </a:ln>
              <a:solidFill>
                <a:srgbClr val="0000FF"/>
              </a:solidFill>
              <a:effectLst/>
              <a:uLnTx/>
              <a:uFillTx/>
              <a:latin typeface="Calibri"/>
              <a:ea typeface="+mn-ea"/>
              <a:cs typeface="Calibri"/>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736408-42F4-40D3-BF75-6CBC943A29DE}" type="datetime1">
              <a:rPr kumimoji="0" lang="en-US" sz="1800" b="0" i="0" u="none" strike="noStrike" kern="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8/18/2025</a:t>
            </a:fld>
            <a:endParaRPr kumimoji="0" lang="en-US" sz="1800" b="0" i="0" u="none" strike="noStrike" kern="0" cap="none" spc="0" normalizeH="0" baseline="0" noProof="0">
              <a:ln>
                <a:noFill/>
              </a:ln>
              <a:solidFill>
                <a:prstClr val="black">
                  <a:tint val="75000"/>
                </a:prstClr>
              </a:solidFill>
              <a:effectLst/>
              <a:uLnTx/>
              <a:uFillTx/>
              <a:latin typeface="Calibri"/>
              <a:ea typeface="+mn-ea"/>
              <a:cs typeface="+mn-cs"/>
            </a:endParaRPr>
          </a:p>
        </p:txBody>
      </p:sp>
      <p:sp>
        <p:nvSpPr>
          <p:cNvPr id="6" name="Holder 6"/>
          <p:cNvSpPr>
            <a:spLocks noGrp="1"/>
          </p:cNvSpPr>
          <p:nvPr>
            <p:ph type="sldNum" sz="quarter" idx="7"/>
          </p:nvPr>
        </p:nvSpPr>
        <p:spPr>
          <a:xfrm>
            <a:off x="4948554" y="6406159"/>
            <a:ext cx="7202805" cy="417829"/>
          </a:xfrm>
          <a:prstGeom prst="rect">
            <a:avLst/>
          </a:prstGeom>
        </p:spPr>
        <p:txBody>
          <a:bodyPr wrap="square" lIns="0" tIns="0" rIns="0" bIns="0">
            <a:spAutoFit/>
          </a:bodyPr>
          <a:lstStyle>
            <a:lvl1pPr>
              <a:defRPr sz="1400" b="1" i="0">
                <a:solidFill>
                  <a:schemeClr val="hlink"/>
                </a:solidFill>
                <a:latin typeface="Calibri"/>
                <a:cs typeface="Calibri"/>
              </a:defRPr>
            </a:lvl1p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sz="1400" b="1" i="0" u="none" strike="noStrike" kern="0" cap="none" spc="-50" normalizeH="0" baseline="0" noProof="0" dirty="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a:t>
            </a:fld>
            <a:endParaRPr kumimoji="0" sz="1400" b="1" i="0" u="none" strike="noStrike" kern="0" cap="none" spc="-50" normalizeH="0" baseline="0" noProof="0" dirty="0">
              <a:ln>
                <a:noFill/>
              </a:ln>
              <a:solidFill>
                <a:srgbClr val="0000FF"/>
              </a:solidFill>
              <a:effectLst/>
              <a:uLnTx/>
              <a:uFillTx/>
              <a:latin typeface="Calibri"/>
              <a:ea typeface="+mn-ea"/>
              <a:cs typeface="Calibri"/>
            </a:endParaRPr>
          </a:p>
        </p:txBody>
      </p:sp>
    </p:spTree>
    <p:extLst>
      <p:ext uri="{BB962C8B-B14F-4D97-AF65-F5344CB8AC3E}">
        <p14:creationId xmlns:p14="http://schemas.microsoft.com/office/powerpoint/2010/main" val="3073952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6.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0.jp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0.jp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0.jp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3.xml"/><Relationship Id="rId4" Type="http://schemas.openxmlformats.org/officeDocument/2006/relationships/image" Target="../media/image94.png"/></Relationships>
</file>

<file path=ppt/slides/_rels/slide8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3.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8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3.xml"/><Relationship Id="rId5" Type="http://schemas.openxmlformats.org/officeDocument/2006/relationships/image" Target="../media/image103.png"/><Relationship Id="rId4" Type="http://schemas.openxmlformats.org/officeDocument/2006/relationships/image" Target="../media/image102.png"/></Relationships>
</file>

<file path=ppt/slides/_rels/slide8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3.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8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3.xml"/><Relationship Id="rId5" Type="http://schemas.openxmlformats.org/officeDocument/2006/relationships/image" Target="../media/image112.png"/><Relationship Id="rId4" Type="http://schemas.openxmlformats.org/officeDocument/2006/relationships/image" Target="../media/image111.png"/></Relationships>
</file>

<file path=ppt/slides/_rels/slide8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13.xml"/><Relationship Id="rId4" Type="http://schemas.openxmlformats.org/officeDocument/2006/relationships/image" Target="../media/image117.png"/></Relationships>
</file>

<file path=ppt/slides/_rels/slide9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3.xml"/><Relationship Id="rId4" Type="http://schemas.openxmlformats.org/officeDocument/2006/relationships/image" Target="../media/image120.png"/></Relationships>
</file>

<file path=ppt/slides/_rels/slide9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90535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xfrm>
            <a:off x="6472555" y="6406159"/>
            <a:ext cx="7202805" cy="205184"/>
          </a:xfrm>
          <a:prstGeom prst="rect">
            <a:avLst/>
          </a:prstGeom>
        </p:spPr>
        <p:txBody>
          <a:bodyPr vert="horz" wrap="square" lIns="0" tIns="0" rIns="0" bIns="0" rtlCol="0">
            <a:spAutoFit/>
          </a:bodyPr>
          <a:lstStyle/>
          <a:p>
            <a:pPr marL="38100" marR="0" lvl="0" indent="0" algn="l" defTabSz="914400" rtl="0" eaLnBrk="1" fontAlgn="auto" latinLnBrk="0" hangingPunct="1">
              <a:lnSpc>
                <a:spcPts val="1645"/>
              </a:lnSpc>
              <a:spcBef>
                <a:spcPts val="0"/>
              </a:spcBef>
              <a:spcAft>
                <a:spcPts val="0"/>
              </a:spcAft>
              <a:buClrTx/>
              <a:buSzTx/>
              <a:buFontTx/>
              <a:buNone/>
              <a:tabLst/>
              <a:defRPr/>
            </a:pPr>
            <a:fld id="{81D60167-4931-47E6-BA6A-407CBD079E47}" type="slidenum">
              <a:rPr kumimoji="0" sz="1400" b="1" i="0" u="none" strike="noStrike" kern="1200" cap="none" spc="-25" normalizeH="0" baseline="0" noProof="0" dirty="0">
                <a:ln>
                  <a:noFill/>
                </a:ln>
                <a:solidFill>
                  <a:srgbClr val="0000FF"/>
                </a:solidFill>
                <a:effectLst/>
                <a:uLnTx/>
                <a:uFillTx/>
                <a:latin typeface="Calibri"/>
                <a:ea typeface="+mn-ea"/>
                <a:cs typeface="Calibri"/>
              </a:rPr>
              <a:pPr marL="38100" marR="0" lvl="0" indent="0" algn="l" defTabSz="914400" rtl="0" eaLnBrk="1" fontAlgn="auto" latinLnBrk="0" hangingPunct="1">
                <a:lnSpc>
                  <a:spcPts val="1645"/>
                </a:lnSpc>
                <a:spcBef>
                  <a:spcPts val="0"/>
                </a:spcBef>
                <a:spcAft>
                  <a:spcPts val="0"/>
                </a:spcAft>
                <a:buClrTx/>
                <a:buSzTx/>
                <a:buFontTx/>
                <a:buNone/>
                <a:tabLst/>
                <a:defRPr/>
              </a:pPr>
              <a:t>2</a:t>
            </a:fld>
            <a:endParaRPr kumimoji="0" sz="1400" b="1" i="0" u="none" strike="noStrike" kern="1200" cap="none" spc="-25" normalizeH="0" baseline="0" noProof="0" dirty="0">
              <a:ln>
                <a:noFill/>
              </a:ln>
              <a:solidFill>
                <a:srgbClr val="0000FF"/>
              </a:solidFill>
              <a:effectLst/>
              <a:uLnTx/>
              <a:uFillTx/>
              <a:latin typeface="Calibri"/>
              <a:ea typeface="+mn-ea"/>
              <a:cs typeface="Calibri"/>
            </a:endParaRPr>
          </a:p>
        </p:txBody>
      </p:sp>
      <p:sp>
        <p:nvSpPr>
          <p:cNvPr id="7" name="Title 6"/>
          <p:cNvSpPr>
            <a:spLocks noGrp="1"/>
          </p:cNvSpPr>
          <p:nvPr>
            <p:ph type="title"/>
          </p:nvPr>
        </p:nvSpPr>
        <p:spPr/>
        <p:txBody>
          <a:bodyPr/>
          <a:lstStyle/>
          <a:p>
            <a:r>
              <a:rPr lang="en-US" dirty="0" smtClean="0"/>
              <a:t>Basic of Restive Load</a:t>
            </a:r>
            <a:endParaRPr lang="en-US" dirty="0"/>
          </a:p>
        </p:txBody>
      </p:sp>
      <p:pic>
        <p:nvPicPr>
          <p:cNvPr id="8" name="Picture 7"/>
          <p:cNvPicPr>
            <a:picLocks noChangeAspect="1"/>
          </p:cNvPicPr>
          <p:nvPr/>
        </p:nvPicPr>
        <p:blipFill>
          <a:blip r:embed="rId2"/>
          <a:stretch>
            <a:fillRect/>
          </a:stretch>
        </p:blipFill>
        <p:spPr>
          <a:xfrm>
            <a:off x="741681" y="901601"/>
            <a:ext cx="10520680" cy="4125857"/>
          </a:xfrm>
          <a:prstGeom prst="rect">
            <a:avLst/>
          </a:prstGeom>
        </p:spPr>
      </p:pic>
      <p:pic>
        <p:nvPicPr>
          <p:cNvPr id="9" name="Picture 8"/>
          <p:cNvPicPr>
            <a:picLocks noChangeAspect="1"/>
          </p:cNvPicPr>
          <p:nvPr/>
        </p:nvPicPr>
        <p:blipFill>
          <a:blip r:embed="rId3"/>
          <a:stretch>
            <a:fillRect/>
          </a:stretch>
        </p:blipFill>
        <p:spPr>
          <a:xfrm>
            <a:off x="736600" y="5023932"/>
            <a:ext cx="10525760" cy="798954"/>
          </a:xfrm>
          <a:prstGeom prst="rect">
            <a:avLst/>
          </a:prstGeom>
        </p:spPr>
      </p:pic>
    </p:spTree>
    <p:extLst>
      <p:ext uri="{BB962C8B-B14F-4D97-AF65-F5344CB8AC3E}">
        <p14:creationId xmlns:p14="http://schemas.microsoft.com/office/powerpoint/2010/main" val="3355602561"/>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of Capacitive Load</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3</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596805" y="988657"/>
            <a:ext cx="5255355" cy="2093081"/>
          </a:xfrm>
          <a:prstGeom prst="rect">
            <a:avLst/>
          </a:prstGeom>
        </p:spPr>
      </p:pic>
      <p:pic>
        <p:nvPicPr>
          <p:cNvPr id="6" name="Picture 5"/>
          <p:cNvPicPr>
            <a:picLocks noChangeAspect="1"/>
          </p:cNvPicPr>
          <p:nvPr/>
        </p:nvPicPr>
        <p:blipFill>
          <a:blip r:embed="rId3"/>
          <a:stretch>
            <a:fillRect/>
          </a:stretch>
        </p:blipFill>
        <p:spPr>
          <a:xfrm>
            <a:off x="582153" y="3601708"/>
            <a:ext cx="9955686" cy="822972"/>
          </a:xfrm>
          <a:prstGeom prst="rect">
            <a:avLst/>
          </a:prstGeom>
        </p:spPr>
      </p:pic>
    </p:spTree>
    <p:extLst>
      <p:ext uri="{BB962C8B-B14F-4D97-AF65-F5344CB8AC3E}">
        <p14:creationId xmlns:p14="http://schemas.microsoft.com/office/powerpoint/2010/main" val="179645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8073" y="188309"/>
            <a:ext cx="6733309" cy="1248181"/>
          </a:xfrm>
          <a:prstGeom prst="rect">
            <a:avLst/>
          </a:prstGeom>
        </p:spPr>
        <p:txBody>
          <a:bodyPr vert="horz" wrap="square" lIns="0" tIns="13360" rIns="0" bIns="0" rtlCol="0">
            <a:spAutoFit/>
          </a:bodyPr>
          <a:lstStyle/>
          <a:p>
            <a:pPr marL="1194160" marR="5090" indent="-1182072">
              <a:spcBef>
                <a:spcPts val="105"/>
              </a:spcBef>
            </a:pPr>
            <a:r>
              <a:rPr sz="4008" dirty="0"/>
              <a:t>Circuit</a:t>
            </a:r>
            <a:r>
              <a:rPr sz="4008" spc="-110" dirty="0"/>
              <a:t> </a:t>
            </a:r>
            <a:r>
              <a:rPr sz="4008" dirty="0"/>
              <a:t>analysis</a:t>
            </a:r>
            <a:r>
              <a:rPr sz="4008" spc="-85" dirty="0"/>
              <a:t> </a:t>
            </a:r>
            <a:r>
              <a:rPr sz="4008" dirty="0"/>
              <a:t>with</a:t>
            </a:r>
            <a:r>
              <a:rPr sz="4008" spc="-105" dirty="0"/>
              <a:t> </a:t>
            </a:r>
            <a:r>
              <a:rPr sz="4008" dirty="0"/>
              <a:t>phasors</a:t>
            </a:r>
            <a:r>
              <a:rPr sz="4008" spc="-95" dirty="0"/>
              <a:t> </a:t>
            </a:r>
            <a:r>
              <a:rPr sz="4008" spc="-25" dirty="0"/>
              <a:t>and </a:t>
            </a:r>
            <a:r>
              <a:rPr sz="4008" dirty="0"/>
              <a:t>complex</a:t>
            </a:r>
            <a:r>
              <a:rPr sz="4008" spc="-145" dirty="0"/>
              <a:t> </a:t>
            </a:r>
            <a:r>
              <a:rPr sz="4008" spc="-10" dirty="0"/>
              <a:t>impedances</a:t>
            </a:r>
            <a:endParaRPr sz="4008"/>
          </a:p>
        </p:txBody>
      </p:sp>
      <p:pic>
        <p:nvPicPr>
          <p:cNvPr id="3" name="object 3"/>
          <p:cNvPicPr/>
          <p:nvPr/>
        </p:nvPicPr>
        <p:blipFill>
          <a:blip r:embed="rId2" cstate="print"/>
          <a:stretch>
            <a:fillRect/>
          </a:stretch>
        </p:blipFill>
        <p:spPr>
          <a:xfrm>
            <a:off x="3562686" y="3179254"/>
            <a:ext cx="4052115" cy="1875108"/>
          </a:xfrm>
          <a:prstGeom prst="rect">
            <a:avLst/>
          </a:prstGeom>
        </p:spPr>
      </p:pic>
      <p:sp>
        <p:nvSpPr>
          <p:cNvPr id="4" name="object 4"/>
          <p:cNvSpPr txBox="1"/>
          <p:nvPr/>
        </p:nvSpPr>
        <p:spPr>
          <a:xfrm>
            <a:off x="7968145" y="5334039"/>
            <a:ext cx="342900" cy="384252"/>
          </a:xfrm>
          <a:prstGeom prst="rect">
            <a:avLst/>
          </a:prstGeom>
        </p:spPr>
        <p:txBody>
          <a:bodyPr vert="horz" wrap="square" lIns="0" tIns="12724" rIns="0" bIns="0" rtlCol="0">
            <a:spAutoFit/>
          </a:bodyPr>
          <a:lstStyle/>
          <a:p>
            <a:pPr marL="12724">
              <a:spcBef>
                <a:spcPts val="100"/>
              </a:spcBef>
            </a:pPr>
            <a:r>
              <a:rPr sz="2354" i="1" spc="-25" dirty="0">
                <a:latin typeface="Arial"/>
                <a:cs typeface="Arial"/>
              </a:rPr>
              <a:t>dv</a:t>
            </a:r>
            <a:endParaRPr sz="2354">
              <a:latin typeface="Arial"/>
              <a:cs typeface="Arial"/>
            </a:endParaRPr>
          </a:p>
        </p:txBody>
      </p:sp>
      <p:sp>
        <p:nvSpPr>
          <p:cNvPr id="5" name="object 5"/>
          <p:cNvSpPr txBox="1"/>
          <p:nvPr/>
        </p:nvSpPr>
        <p:spPr>
          <a:xfrm>
            <a:off x="7957648" y="5531884"/>
            <a:ext cx="603733" cy="608186"/>
          </a:xfrm>
          <a:prstGeom prst="rect">
            <a:avLst/>
          </a:prstGeom>
        </p:spPr>
        <p:txBody>
          <a:bodyPr vert="horz" wrap="square" lIns="0" tIns="15268" rIns="0" bIns="0" rtlCol="0">
            <a:spAutoFit/>
          </a:bodyPr>
          <a:lstStyle/>
          <a:p>
            <a:pPr algn="ctr">
              <a:spcBef>
                <a:spcPts val="120"/>
              </a:spcBef>
              <a:tabLst>
                <a:tab pos="346096" algn="l"/>
              </a:tabLst>
            </a:pPr>
            <a:r>
              <a:rPr sz="1353" i="1" u="sng" dirty="0">
                <a:uFill>
                  <a:solidFill>
                    <a:srgbClr val="000000"/>
                  </a:solidFill>
                </a:uFill>
                <a:latin typeface="Arial"/>
                <a:cs typeface="Arial"/>
              </a:rPr>
              <a:t>	</a:t>
            </a:r>
            <a:r>
              <a:rPr sz="1353" i="1" u="sng" spc="-25" dirty="0">
                <a:uFill>
                  <a:solidFill>
                    <a:srgbClr val="000000"/>
                  </a:solidFill>
                </a:uFill>
                <a:latin typeface="Arial"/>
                <a:cs typeface="Arial"/>
              </a:rPr>
              <a:t>IN</a:t>
            </a:r>
            <a:r>
              <a:rPr sz="1353" i="1" u="sng" spc="501" dirty="0">
                <a:uFill>
                  <a:solidFill>
                    <a:srgbClr val="000000"/>
                  </a:solidFill>
                </a:uFill>
                <a:latin typeface="Arial"/>
                <a:cs typeface="Arial"/>
              </a:rPr>
              <a:t> </a:t>
            </a:r>
            <a:endParaRPr sz="1353">
              <a:latin typeface="Arial"/>
              <a:cs typeface="Arial"/>
            </a:endParaRPr>
          </a:p>
          <a:p>
            <a:pPr marR="22903" algn="ctr">
              <a:spcBef>
                <a:spcPts val="114"/>
              </a:spcBef>
            </a:pPr>
            <a:r>
              <a:rPr sz="2354" i="1" spc="-25" dirty="0">
                <a:latin typeface="Arial"/>
                <a:cs typeface="Arial"/>
              </a:rPr>
              <a:t>dt</a:t>
            </a:r>
            <a:endParaRPr sz="2354">
              <a:latin typeface="Arial"/>
              <a:cs typeface="Arial"/>
            </a:endParaRPr>
          </a:p>
        </p:txBody>
      </p:sp>
      <p:sp>
        <p:nvSpPr>
          <p:cNvPr id="6" name="object 6"/>
          <p:cNvSpPr txBox="1"/>
          <p:nvPr/>
        </p:nvSpPr>
        <p:spPr>
          <a:xfrm>
            <a:off x="7094800" y="5755443"/>
            <a:ext cx="276737" cy="384252"/>
          </a:xfrm>
          <a:prstGeom prst="rect">
            <a:avLst/>
          </a:prstGeom>
        </p:spPr>
        <p:txBody>
          <a:bodyPr vert="horz" wrap="square" lIns="0" tIns="12724" rIns="0" bIns="0" rtlCol="0">
            <a:spAutoFit/>
          </a:bodyPr>
          <a:lstStyle/>
          <a:p>
            <a:pPr marL="12724">
              <a:spcBef>
                <a:spcPts val="100"/>
              </a:spcBef>
            </a:pPr>
            <a:r>
              <a:rPr sz="2354" i="1" spc="-25" dirty="0">
                <a:latin typeface="Arial"/>
                <a:cs typeface="Arial"/>
              </a:rPr>
              <a:t>dt</a:t>
            </a:r>
            <a:endParaRPr sz="2354">
              <a:latin typeface="Arial"/>
              <a:cs typeface="Arial"/>
            </a:endParaRPr>
          </a:p>
        </p:txBody>
      </p:sp>
      <p:sp>
        <p:nvSpPr>
          <p:cNvPr id="7" name="object 7"/>
          <p:cNvSpPr txBox="1"/>
          <p:nvPr/>
        </p:nvSpPr>
        <p:spPr>
          <a:xfrm>
            <a:off x="4538827" y="5531884"/>
            <a:ext cx="982895" cy="608186"/>
          </a:xfrm>
          <a:prstGeom prst="rect">
            <a:avLst/>
          </a:prstGeom>
        </p:spPr>
        <p:txBody>
          <a:bodyPr vert="horz" wrap="square" lIns="0" tIns="15268" rIns="0" bIns="0" rtlCol="0">
            <a:spAutoFit/>
          </a:bodyPr>
          <a:lstStyle/>
          <a:p>
            <a:pPr algn="ctr">
              <a:spcBef>
                <a:spcPts val="120"/>
              </a:spcBef>
              <a:tabLst>
                <a:tab pos="468884" algn="l"/>
              </a:tabLst>
            </a:pPr>
            <a:r>
              <a:rPr sz="1353" i="1" u="sng" dirty="0">
                <a:uFill>
                  <a:solidFill>
                    <a:srgbClr val="000000"/>
                  </a:solidFill>
                </a:uFill>
                <a:latin typeface="Arial"/>
                <a:cs typeface="Arial"/>
              </a:rPr>
              <a:t>	</a:t>
            </a:r>
            <a:r>
              <a:rPr sz="1353" i="1" u="sng" spc="-25" dirty="0">
                <a:uFill>
                  <a:solidFill>
                    <a:srgbClr val="000000"/>
                  </a:solidFill>
                </a:uFill>
                <a:latin typeface="Arial"/>
                <a:cs typeface="Arial"/>
              </a:rPr>
              <a:t>OUT</a:t>
            </a:r>
            <a:r>
              <a:rPr sz="1353" i="1" u="sng" spc="501" dirty="0">
                <a:uFill>
                  <a:solidFill>
                    <a:srgbClr val="000000"/>
                  </a:solidFill>
                </a:uFill>
                <a:latin typeface="Arial"/>
                <a:cs typeface="Arial"/>
              </a:rPr>
              <a:t> </a:t>
            </a:r>
            <a:endParaRPr sz="1353">
              <a:latin typeface="Arial"/>
              <a:cs typeface="Arial"/>
            </a:endParaRPr>
          </a:p>
          <a:p>
            <a:pPr marR="21631" algn="ctr">
              <a:spcBef>
                <a:spcPts val="114"/>
              </a:spcBef>
            </a:pPr>
            <a:r>
              <a:rPr sz="2354" i="1" spc="-10" dirty="0">
                <a:latin typeface="Arial"/>
                <a:cs typeface="Arial"/>
              </a:rPr>
              <a:t>dt</a:t>
            </a:r>
            <a:r>
              <a:rPr sz="2354" i="1" spc="-356" dirty="0">
                <a:latin typeface="Arial"/>
                <a:cs typeface="Arial"/>
              </a:rPr>
              <a:t> </a:t>
            </a:r>
            <a:r>
              <a:rPr sz="2029" spc="-75" baseline="43209" dirty="0">
                <a:latin typeface="Arial MT"/>
                <a:cs typeface="Arial MT"/>
              </a:rPr>
              <a:t>2</a:t>
            </a:r>
            <a:endParaRPr sz="2029" baseline="43209">
              <a:latin typeface="Arial MT"/>
              <a:cs typeface="Arial MT"/>
            </a:endParaRPr>
          </a:p>
        </p:txBody>
      </p:sp>
      <p:sp>
        <p:nvSpPr>
          <p:cNvPr id="8" name="object 8"/>
          <p:cNvSpPr txBox="1"/>
          <p:nvPr/>
        </p:nvSpPr>
        <p:spPr>
          <a:xfrm>
            <a:off x="4550087" y="5334039"/>
            <a:ext cx="522301" cy="384252"/>
          </a:xfrm>
          <a:prstGeom prst="rect">
            <a:avLst/>
          </a:prstGeom>
        </p:spPr>
        <p:txBody>
          <a:bodyPr vert="horz" wrap="square" lIns="0" tIns="12724" rIns="0" bIns="0" rtlCol="0">
            <a:spAutoFit/>
          </a:bodyPr>
          <a:lstStyle/>
          <a:p>
            <a:pPr marL="38172">
              <a:spcBef>
                <a:spcPts val="100"/>
              </a:spcBef>
            </a:pPr>
            <a:r>
              <a:rPr sz="2354" i="1" spc="-20" dirty="0">
                <a:latin typeface="Arial"/>
                <a:cs typeface="Arial"/>
              </a:rPr>
              <a:t>d</a:t>
            </a:r>
            <a:r>
              <a:rPr sz="2354" i="1" spc="-351" dirty="0">
                <a:latin typeface="Arial"/>
                <a:cs typeface="Arial"/>
              </a:rPr>
              <a:t> </a:t>
            </a:r>
            <a:r>
              <a:rPr sz="2029" spc="-37" baseline="43209" dirty="0">
                <a:latin typeface="Arial MT"/>
                <a:cs typeface="Arial MT"/>
              </a:rPr>
              <a:t>2</a:t>
            </a:r>
            <a:r>
              <a:rPr sz="2354" i="1" spc="-25" dirty="0">
                <a:latin typeface="Arial"/>
                <a:cs typeface="Arial"/>
              </a:rPr>
              <a:t>v</a:t>
            </a:r>
            <a:endParaRPr sz="2354">
              <a:latin typeface="Arial"/>
              <a:cs typeface="Arial"/>
            </a:endParaRPr>
          </a:p>
        </p:txBody>
      </p:sp>
      <p:sp>
        <p:nvSpPr>
          <p:cNvPr id="9" name="object 9"/>
          <p:cNvSpPr txBox="1"/>
          <p:nvPr/>
        </p:nvSpPr>
        <p:spPr>
          <a:xfrm>
            <a:off x="3906784" y="5523365"/>
            <a:ext cx="510215" cy="384252"/>
          </a:xfrm>
          <a:prstGeom prst="rect">
            <a:avLst/>
          </a:prstGeom>
        </p:spPr>
        <p:txBody>
          <a:bodyPr vert="horz" wrap="square" lIns="0" tIns="12724" rIns="0" bIns="0" rtlCol="0">
            <a:spAutoFit/>
          </a:bodyPr>
          <a:lstStyle/>
          <a:p>
            <a:pPr marL="12724">
              <a:spcBef>
                <a:spcPts val="100"/>
              </a:spcBef>
            </a:pPr>
            <a:r>
              <a:rPr sz="2354" i="1" spc="-25" dirty="0">
                <a:latin typeface="Arial"/>
                <a:cs typeface="Arial"/>
              </a:rPr>
              <a:t>R</a:t>
            </a:r>
            <a:r>
              <a:rPr sz="2354" i="1" spc="-235" dirty="0">
                <a:latin typeface="Arial"/>
                <a:cs typeface="Arial"/>
              </a:rPr>
              <a:t> </a:t>
            </a:r>
            <a:r>
              <a:rPr sz="2354" i="1" spc="-50" dirty="0">
                <a:latin typeface="Arial"/>
                <a:cs typeface="Arial"/>
              </a:rPr>
              <a:t>C</a:t>
            </a:r>
            <a:endParaRPr sz="2354">
              <a:latin typeface="Arial"/>
              <a:cs typeface="Arial"/>
            </a:endParaRPr>
          </a:p>
        </p:txBody>
      </p:sp>
      <p:sp>
        <p:nvSpPr>
          <p:cNvPr id="10" name="object 10"/>
          <p:cNvSpPr txBox="1"/>
          <p:nvPr/>
        </p:nvSpPr>
        <p:spPr>
          <a:xfrm>
            <a:off x="7711638" y="5523365"/>
            <a:ext cx="189581" cy="384252"/>
          </a:xfrm>
          <a:prstGeom prst="rect">
            <a:avLst/>
          </a:prstGeom>
        </p:spPr>
        <p:txBody>
          <a:bodyPr vert="horz" wrap="square" lIns="0" tIns="12724" rIns="0" bIns="0" rtlCol="0">
            <a:spAutoFit/>
          </a:bodyPr>
          <a:lstStyle/>
          <a:p>
            <a:pPr marL="12724">
              <a:spcBef>
                <a:spcPts val="100"/>
              </a:spcBef>
            </a:pPr>
            <a:r>
              <a:rPr sz="2354" spc="-50" dirty="0">
                <a:latin typeface="Symbol"/>
                <a:cs typeface="Symbol"/>
              </a:rPr>
              <a:t></a:t>
            </a:r>
            <a:endParaRPr sz="2354">
              <a:latin typeface="Symbol"/>
              <a:cs typeface="Symbol"/>
            </a:endParaRPr>
          </a:p>
        </p:txBody>
      </p:sp>
      <p:sp>
        <p:nvSpPr>
          <p:cNvPr id="11" name="object 11"/>
          <p:cNvSpPr txBox="1"/>
          <p:nvPr/>
        </p:nvSpPr>
        <p:spPr>
          <a:xfrm>
            <a:off x="6685610" y="5505043"/>
            <a:ext cx="140595" cy="384252"/>
          </a:xfrm>
          <a:prstGeom prst="rect">
            <a:avLst/>
          </a:prstGeom>
        </p:spPr>
        <p:txBody>
          <a:bodyPr vert="horz" wrap="square" lIns="0" tIns="12724" rIns="0" bIns="0" rtlCol="0">
            <a:spAutoFit/>
          </a:bodyPr>
          <a:lstStyle/>
          <a:p>
            <a:pPr marL="12724">
              <a:spcBef>
                <a:spcPts val="100"/>
              </a:spcBef>
            </a:pPr>
            <a:r>
              <a:rPr sz="2354" spc="-50" dirty="0">
                <a:latin typeface="Symbol"/>
                <a:cs typeface="Symbol"/>
              </a:rPr>
              <a:t></a:t>
            </a:r>
            <a:endParaRPr sz="2354">
              <a:latin typeface="Symbol"/>
              <a:cs typeface="Symbol"/>
            </a:endParaRPr>
          </a:p>
        </p:txBody>
      </p:sp>
      <p:sp>
        <p:nvSpPr>
          <p:cNvPr id="12" name="object 12"/>
          <p:cNvSpPr txBox="1"/>
          <p:nvPr/>
        </p:nvSpPr>
        <p:spPr>
          <a:xfrm>
            <a:off x="6291689" y="5334039"/>
            <a:ext cx="904644" cy="384252"/>
          </a:xfrm>
          <a:prstGeom prst="rect">
            <a:avLst/>
          </a:prstGeom>
        </p:spPr>
        <p:txBody>
          <a:bodyPr vert="horz" wrap="square" lIns="0" tIns="12724" rIns="0" bIns="0" rtlCol="0">
            <a:spAutoFit/>
          </a:bodyPr>
          <a:lstStyle/>
          <a:p>
            <a:pPr marL="12724">
              <a:spcBef>
                <a:spcPts val="100"/>
              </a:spcBef>
              <a:tabLst>
                <a:tab pos="406536" algn="l"/>
              </a:tabLst>
            </a:pPr>
            <a:r>
              <a:rPr sz="2354" i="1" spc="-50" dirty="0">
                <a:latin typeface="Arial"/>
                <a:cs typeface="Arial"/>
              </a:rPr>
              <a:t>C</a:t>
            </a:r>
            <a:r>
              <a:rPr sz="2354" i="1" dirty="0">
                <a:latin typeface="Arial"/>
                <a:cs typeface="Arial"/>
              </a:rPr>
              <a:t>	</a:t>
            </a:r>
            <a:r>
              <a:rPr sz="3532" baseline="3546" dirty="0">
                <a:latin typeface="Symbol"/>
                <a:cs typeface="Symbol"/>
              </a:rPr>
              <a:t></a:t>
            </a:r>
            <a:r>
              <a:rPr sz="3532" spc="-254" baseline="3546" dirty="0">
                <a:latin typeface="Times New Roman"/>
                <a:cs typeface="Times New Roman"/>
              </a:rPr>
              <a:t> </a:t>
            </a:r>
            <a:r>
              <a:rPr sz="2354" i="1" spc="-25" dirty="0">
                <a:latin typeface="Arial"/>
                <a:cs typeface="Arial"/>
              </a:rPr>
              <a:t>dv</a:t>
            </a:r>
            <a:endParaRPr sz="2354">
              <a:latin typeface="Arial"/>
              <a:cs typeface="Arial"/>
            </a:endParaRPr>
          </a:p>
        </p:txBody>
      </p:sp>
      <p:sp>
        <p:nvSpPr>
          <p:cNvPr id="13" name="object 13"/>
          <p:cNvSpPr txBox="1"/>
          <p:nvPr/>
        </p:nvSpPr>
        <p:spPr>
          <a:xfrm>
            <a:off x="5734905" y="5639404"/>
            <a:ext cx="1129216" cy="384252"/>
          </a:xfrm>
          <a:prstGeom prst="rect">
            <a:avLst/>
          </a:prstGeom>
        </p:spPr>
        <p:txBody>
          <a:bodyPr vert="horz" wrap="square" lIns="0" tIns="12724" rIns="0" bIns="0" rtlCol="0">
            <a:spAutoFit/>
          </a:bodyPr>
          <a:lstStyle/>
          <a:p>
            <a:pPr marL="38172">
              <a:spcBef>
                <a:spcPts val="100"/>
              </a:spcBef>
              <a:tabLst>
                <a:tab pos="584674" algn="l"/>
                <a:tab pos="963217" algn="l"/>
              </a:tabLst>
            </a:pPr>
            <a:r>
              <a:rPr sz="2354" spc="-50" dirty="0">
                <a:latin typeface="Symbol"/>
                <a:cs typeface="Symbol"/>
              </a:rPr>
              <a:t></a:t>
            </a:r>
            <a:r>
              <a:rPr sz="2354" dirty="0">
                <a:latin typeface="Times New Roman"/>
                <a:cs typeface="Times New Roman"/>
              </a:rPr>
              <a:t>	</a:t>
            </a:r>
            <a:r>
              <a:rPr sz="3532" i="1" spc="-75" baseline="-21276" dirty="0">
                <a:latin typeface="Arial"/>
                <a:cs typeface="Arial"/>
              </a:rPr>
              <a:t>C</a:t>
            </a:r>
            <a:r>
              <a:rPr sz="3532" i="1" baseline="-21276" dirty="0">
                <a:latin typeface="Arial"/>
                <a:cs typeface="Arial"/>
              </a:rPr>
              <a:t>	</a:t>
            </a:r>
            <a:r>
              <a:rPr sz="2354" spc="-50" dirty="0">
                <a:latin typeface="Symbol"/>
                <a:cs typeface="Symbol"/>
              </a:rPr>
              <a:t></a:t>
            </a:r>
            <a:endParaRPr sz="2354">
              <a:latin typeface="Symbol"/>
              <a:cs typeface="Symbol"/>
            </a:endParaRPr>
          </a:p>
        </p:txBody>
      </p:sp>
      <p:sp>
        <p:nvSpPr>
          <p:cNvPr id="14" name="object 14"/>
          <p:cNvSpPr txBox="1"/>
          <p:nvPr/>
        </p:nvSpPr>
        <p:spPr>
          <a:xfrm>
            <a:off x="5760352" y="5505043"/>
            <a:ext cx="140595" cy="384252"/>
          </a:xfrm>
          <a:prstGeom prst="rect">
            <a:avLst/>
          </a:prstGeom>
        </p:spPr>
        <p:txBody>
          <a:bodyPr vert="horz" wrap="square" lIns="0" tIns="12724" rIns="0" bIns="0" rtlCol="0">
            <a:spAutoFit/>
          </a:bodyPr>
          <a:lstStyle/>
          <a:p>
            <a:pPr marL="12724">
              <a:spcBef>
                <a:spcPts val="100"/>
              </a:spcBef>
            </a:pPr>
            <a:r>
              <a:rPr sz="2354" spc="-50" dirty="0">
                <a:latin typeface="Symbol"/>
                <a:cs typeface="Symbol"/>
              </a:rPr>
              <a:t></a:t>
            </a:r>
            <a:endParaRPr sz="2354">
              <a:latin typeface="Symbol"/>
              <a:cs typeface="Symbol"/>
            </a:endParaRPr>
          </a:p>
        </p:txBody>
      </p:sp>
      <p:sp>
        <p:nvSpPr>
          <p:cNvPr id="15" name="object 15"/>
          <p:cNvSpPr txBox="1"/>
          <p:nvPr/>
        </p:nvSpPr>
        <p:spPr>
          <a:xfrm>
            <a:off x="5760352" y="5315717"/>
            <a:ext cx="140595" cy="384252"/>
          </a:xfrm>
          <a:prstGeom prst="rect">
            <a:avLst/>
          </a:prstGeom>
        </p:spPr>
        <p:txBody>
          <a:bodyPr vert="horz" wrap="square" lIns="0" tIns="12724" rIns="0" bIns="0" rtlCol="0">
            <a:spAutoFit/>
          </a:bodyPr>
          <a:lstStyle/>
          <a:p>
            <a:pPr marL="12724">
              <a:spcBef>
                <a:spcPts val="100"/>
              </a:spcBef>
            </a:pPr>
            <a:r>
              <a:rPr sz="2354" spc="-50" dirty="0">
                <a:latin typeface="Symbol"/>
                <a:cs typeface="Symbol"/>
              </a:rPr>
              <a:t></a:t>
            </a:r>
            <a:endParaRPr sz="2354">
              <a:latin typeface="Symbol"/>
              <a:cs typeface="Symbol"/>
            </a:endParaRPr>
          </a:p>
        </p:txBody>
      </p:sp>
      <p:sp>
        <p:nvSpPr>
          <p:cNvPr id="16" name="object 16"/>
          <p:cNvSpPr txBox="1"/>
          <p:nvPr/>
        </p:nvSpPr>
        <p:spPr>
          <a:xfrm>
            <a:off x="5760352" y="5831784"/>
            <a:ext cx="1065598" cy="384252"/>
          </a:xfrm>
          <a:prstGeom prst="rect">
            <a:avLst/>
          </a:prstGeom>
        </p:spPr>
        <p:txBody>
          <a:bodyPr vert="horz" wrap="square" lIns="0" tIns="12724" rIns="0" bIns="0" rtlCol="0">
            <a:spAutoFit/>
          </a:bodyPr>
          <a:lstStyle/>
          <a:p>
            <a:pPr marL="12724">
              <a:spcBef>
                <a:spcPts val="100"/>
              </a:spcBef>
              <a:tabLst>
                <a:tab pos="763448" algn="l"/>
              </a:tabLst>
            </a:pPr>
            <a:r>
              <a:rPr sz="2354" spc="-50" dirty="0">
                <a:latin typeface="Symbol"/>
                <a:cs typeface="Symbol"/>
              </a:rPr>
              <a:t></a:t>
            </a:r>
            <a:r>
              <a:rPr sz="2354" dirty="0">
                <a:latin typeface="Times New Roman"/>
                <a:cs typeface="Times New Roman"/>
              </a:rPr>
              <a:t>	</a:t>
            </a:r>
            <a:r>
              <a:rPr sz="1353" dirty="0">
                <a:latin typeface="Arial MT"/>
                <a:cs typeface="Arial MT"/>
              </a:rPr>
              <a:t>1</a:t>
            </a:r>
            <a:r>
              <a:rPr sz="1353" spc="235" dirty="0">
                <a:latin typeface="Arial MT"/>
                <a:cs typeface="Arial MT"/>
              </a:rPr>
              <a:t> </a:t>
            </a:r>
            <a:r>
              <a:rPr sz="2354" spc="-50" dirty="0">
                <a:latin typeface="Symbol"/>
                <a:cs typeface="Symbol"/>
              </a:rPr>
              <a:t></a:t>
            </a:r>
            <a:endParaRPr sz="2354">
              <a:latin typeface="Symbol"/>
              <a:cs typeface="Symbol"/>
            </a:endParaRPr>
          </a:p>
        </p:txBody>
      </p:sp>
      <p:sp>
        <p:nvSpPr>
          <p:cNvPr id="17" name="object 17"/>
          <p:cNvSpPr txBox="1"/>
          <p:nvPr/>
        </p:nvSpPr>
        <p:spPr>
          <a:xfrm>
            <a:off x="6294170" y="5531885"/>
            <a:ext cx="1354423" cy="224002"/>
          </a:xfrm>
          <a:prstGeom prst="rect">
            <a:avLst/>
          </a:prstGeom>
        </p:spPr>
        <p:txBody>
          <a:bodyPr vert="horz" wrap="square" lIns="0" tIns="15268" rIns="0" bIns="0" rtlCol="0">
            <a:spAutoFit/>
          </a:bodyPr>
          <a:lstStyle/>
          <a:p>
            <a:pPr marL="12724">
              <a:spcBef>
                <a:spcPts val="120"/>
              </a:spcBef>
              <a:tabLst>
                <a:tab pos="226490" algn="l"/>
                <a:tab pos="562407" algn="l"/>
                <a:tab pos="901504" algn="l"/>
              </a:tabLst>
            </a:pPr>
            <a:r>
              <a:rPr sz="1353" u="sng" dirty="0">
                <a:uFill>
                  <a:solidFill>
                    <a:srgbClr val="000000"/>
                  </a:solidFill>
                </a:uFill>
                <a:latin typeface="Arial MT"/>
                <a:cs typeface="Arial MT"/>
              </a:rPr>
              <a:t>	</a:t>
            </a:r>
            <a:r>
              <a:rPr sz="1353" u="sng" spc="-50" dirty="0">
                <a:uFill>
                  <a:solidFill>
                    <a:srgbClr val="000000"/>
                  </a:solidFill>
                </a:uFill>
                <a:latin typeface="Arial MT"/>
                <a:cs typeface="Arial MT"/>
              </a:rPr>
              <a:t>2</a:t>
            </a:r>
            <a:r>
              <a:rPr sz="1353" dirty="0">
                <a:latin typeface="Arial MT"/>
                <a:cs typeface="Arial MT"/>
              </a:rPr>
              <a:t>	</a:t>
            </a:r>
            <a:r>
              <a:rPr sz="1353" i="1" u="sng" dirty="0">
                <a:uFill>
                  <a:solidFill>
                    <a:srgbClr val="000000"/>
                  </a:solidFill>
                </a:uFill>
                <a:latin typeface="Arial"/>
                <a:cs typeface="Arial"/>
              </a:rPr>
              <a:t>	</a:t>
            </a:r>
            <a:r>
              <a:rPr sz="1353" i="1" u="sng" spc="-25" dirty="0">
                <a:uFill>
                  <a:solidFill>
                    <a:srgbClr val="000000"/>
                  </a:solidFill>
                </a:uFill>
                <a:latin typeface="Arial"/>
                <a:cs typeface="Arial"/>
              </a:rPr>
              <a:t>OUT</a:t>
            </a:r>
            <a:r>
              <a:rPr sz="1353" i="1" u="sng" spc="501" dirty="0">
                <a:uFill>
                  <a:solidFill>
                    <a:srgbClr val="000000"/>
                  </a:solidFill>
                </a:uFill>
                <a:latin typeface="Arial"/>
                <a:cs typeface="Arial"/>
              </a:rPr>
              <a:t> </a:t>
            </a:r>
            <a:endParaRPr sz="1353">
              <a:latin typeface="Arial"/>
              <a:cs typeface="Arial"/>
            </a:endParaRPr>
          </a:p>
        </p:txBody>
      </p:sp>
      <p:sp>
        <p:nvSpPr>
          <p:cNvPr id="18" name="object 18"/>
          <p:cNvSpPr txBox="1"/>
          <p:nvPr/>
        </p:nvSpPr>
        <p:spPr>
          <a:xfrm>
            <a:off x="5540489" y="5523365"/>
            <a:ext cx="711883" cy="384252"/>
          </a:xfrm>
          <a:prstGeom prst="rect">
            <a:avLst/>
          </a:prstGeom>
        </p:spPr>
        <p:txBody>
          <a:bodyPr vert="horz" wrap="square" lIns="0" tIns="12724" rIns="0" bIns="0" rtlCol="0">
            <a:spAutoFit/>
          </a:bodyPr>
          <a:lstStyle/>
          <a:p>
            <a:pPr marL="12724">
              <a:spcBef>
                <a:spcPts val="100"/>
              </a:spcBef>
              <a:tabLst>
                <a:tab pos="351186" algn="l"/>
              </a:tabLst>
            </a:pPr>
            <a:r>
              <a:rPr sz="2354" spc="-50" dirty="0">
                <a:latin typeface="Symbol"/>
                <a:cs typeface="Symbol"/>
              </a:rPr>
              <a:t></a:t>
            </a:r>
            <a:r>
              <a:rPr sz="2354" dirty="0">
                <a:latin typeface="Times New Roman"/>
                <a:cs typeface="Times New Roman"/>
              </a:rPr>
              <a:t>	</a:t>
            </a:r>
            <a:r>
              <a:rPr sz="2354" spc="30" dirty="0">
                <a:latin typeface="Arial MT"/>
                <a:cs typeface="Arial MT"/>
              </a:rPr>
              <a:t>1</a:t>
            </a:r>
            <a:r>
              <a:rPr sz="2354" spc="30" dirty="0">
                <a:latin typeface="Symbol"/>
                <a:cs typeface="Symbol"/>
              </a:rPr>
              <a:t></a:t>
            </a:r>
            <a:endParaRPr sz="2354">
              <a:latin typeface="Symbol"/>
              <a:cs typeface="Symbol"/>
            </a:endParaRPr>
          </a:p>
        </p:txBody>
      </p:sp>
      <p:sp>
        <p:nvSpPr>
          <p:cNvPr id="19" name="object 19"/>
          <p:cNvSpPr txBox="1"/>
          <p:nvPr/>
        </p:nvSpPr>
        <p:spPr>
          <a:xfrm>
            <a:off x="4111379" y="5721211"/>
            <a:ext cx="403337" cy="224002"/>
          </a:xfrm>
          <a:prstGeom prst="rect">
            <a:avLst/>
          </a:prstGeom>
        </p:spPr>
        <p:txBody>
          <a:bodyPr vert="horz" wrap="square" lIns="0" tIns="15268" rIns="0" bIns="0" rtlCol="0">
            <a:spAutoFit/>
          </a:bodyPr>
          <a:lstStyle/>
          <a:p>
            <a:pPr marL="12724">
              <a:spcBef>
                <a:spcPts val="120"/>
              </a:spcBef>
              <a:tabLst>
                <a:tab pos="293291" algn="l"/>
              </a:tabLst>
            </a:pPr>
            <a:r>
              <a:rPr sz="1353" spc="-50" dirty="0">
                <a:latin typeface="Arial MT"/>
                <a:cs typeface="Arial MT"/>
              </a:rPr>
              <a:t>1</a:t>
            </a:r>
            <a:r>
              <a:rPr sz="1353" dirty="0">
                <a:latin typeface="Arial MT"/>
                <a:cs typeface="Arial MT"/>
              </a:rPr>
              <a:t>	</a:t>
            </a:r>
            <a:r>
              <a:rPr sz="1353" spc="-50" dirty="0">
                <a:latin typeface="Arial MT"/>
                <a:cs typeface="Arial MT"/>
              </a:rPr>
              <a:t>2</a:t>
            </a:r>
            <a:endParaRPr sz="1353">
              <a:latin typeface="Arial MT"/>
              <a:cs typeface="Arial MT"/>
            </a:endParaRPr>
          </a:p>
        </p:txBody>
      </p:sp>
      <p:sp>
        <p:nvSpPr>
          <p:cNvPr id="20" name="object 20"/>
          <p:cNvSpPr txBox="1"/>
          <p:nvPr/>
        </p:nvSpPr>
        <p:spPr>
          <a:xfrm>
            <a:off x="1964150" y="1767048"/>
            <a:ext cx="7309050" cy="1124763"/>
          </a:xfrm>
          <a:prstGeom prst="rect">
            <a:avLst/>
          </a:prstGeom>
        </p:spPr>
        <p:txBody>
          <a:bodyPr vert="horz" wrap="square" lIns="0" tIns="12724" rIns="0" bIns="0" rtlCol="0">
            <a:spAutoFit/>
          </a:bodyPr>
          <a:lstStyle/>
          <a:p>
            <a:pPr marL="25448" marR="17814">
              <a:spcBef>
                <a:spcPts val="100"/>
              </a:spcBef>
            </a:pPr>
            <a:r>
              <a:rPr sz="2405" dirty="0">
                <a:latin typeface="Calibri"/>
                <a:cs typeface="Calibri"/>
              </a:rPr>
              <a:t>What</a:t>
            </a:r>
            <a:r>
              <a:rPr sz="2405" spc="-55" dirty="0">
                <a:latin typeface="Calibri"/>
                <a:cs typeface="Calibri"/>
              </a:rPr>
              <a:t> </a:t>
            </a:r>
            <a:r>
              <a:rPr sz="2405" dirty="0">
                <a:latin typeface="Calibri"/>
                <a:cs typeface="Calibri"/>
              </a:rPr>
              <a:t>is</a:t>
            </a:r>
            <a:r>
              <a:rPr sz="2405" spc="-30" dirty="0">
                <a:latin typeface="Calibri"/>
                <a:cs typeface="Calibri"/>
              </a:rPr>
              <a:t> </a:t>
            </a:r>
            <a:r>
              <a:rPr sz="2405" dirty="0">
                <a:latin typeface="Calibri"/>
                <a:cs typeface="Calibri"/>
              </a:rPr>
              <a:t>the</a:t>
            </a:r>
            <a:r>
              <a:rPr sz="2405" spc="-55" dirty="0">
                <a:latin typeface="Calibri"/>
                <a:cs typeface="Calibri"/>
              </a:rPr>
              <a:t> </a:t>
            </a:r>
            <a:r>
              <a:rPr sz="2405" dirty="0">
                <a:latin typeface="Calibri"/>
                <a:cs typeface="Calibri"/>
              </a:rPr>
              <a:t>amplitude</a:t>
            </a:r>
            <a:r>
              <a:rPr sz="2405" spc="-85" dirty="0">
                <a:latin typeface="Calibri"/>
                <a:cs typeface="Calibri"/>
              </a:rPr>
              <a:t> </a:t>
            </a:r>
            <a:r>
              <a:rPr sz="2405" dirty="0">
                <a:latin typeface="Calibri"/>
                <a:cs typeface="Calibri"/>
              </a:rPr>
              <a:t>and</a:t>
            </a:r>
            <a:r>
              <a:rPr sz="2405" spc="-30" dirty="0">
                <a:latin typeface="Calibri"/>
                <a:cs typeface="Calibri"/>
              </a:rPr>
              <a:t> </a:t>
            </a:r>
            <a:r>
              <a:rPr sz="2405" dirty="0">
                <a:latin typeface="Calibri"/>
                <a:cs typeface="Calibri"/>
              </a:rPr>
              <a:t>phase</a:t>
            </a:r>
            <a:r>
              <a:rPr sz="2405" spc="-60" dirty="0">
                <a:latin typeface="Calibri"/>
                <a:cs typeface="Calibri"/>
              </a:rPr>
              <a:t> </a:t>
            </a:r>
            <a:r>
              <a:rPr sz="2405" dirty="0">
                <a:latin typeface="Calibri"/>
                <a:cs typeface="Calibri"/>
              </a:rPr>
              <a:t>of</a:t>
            </a:r>
            <a:r>
              <a:rPr sz="2405" spc="-30" dirty="0">
                <a:latin typeface="Calibri"/>
                <a:cs typeface="Calibri"/>
              </a:rPr>
              <a:t> </a:t>
            </a:r>
            <a:r>
              <a:rPr sz="2405" dirty="0">
                <a:latin typeface="Calibri"/>
                <a:cs typeface="Calibri"/>
              </a:rPr>
              <a:t>the</a:t>
            </a:r>
            <a:r>
              <a:rPr sz="2405" spc="-60" dirty="0">
                <a:latin typeface="Calibri"/>
                <a:cs typeface="Calibri"/>
              </a:rPr>
              <a:t> </a:t>
            </a:r>
            <a:r>
              <a:rPr sz="2405" dirty="0">
                <a:latin typeface="Calibri"/>
                <a:cs typeface="Calibri"/>
              </a:rPr>
              <a:t>sinusoidal</a:t>
            </a:r>
            <a:r>
              <a:rPr sz="2405" spc="-65" dirty="0">
                <a:latin typeface="Calibri"/>
                <a:cs typeface="Calibri"/>
              </a:rPr>
              <a:t> </a:t>
            </a:r>
            <a:r>
              <a:rPr sz="2405" spc="-10" dirty="0">
                <a:latin typeface="Calibri"/>
                <a:cs typeface="Calibri"/>
              </a:rPr>
              <a:t>output </a:t>
            </a:r>
            <a:r>
              <a:rPr sz="2405" dirty="0">
                <a:latin typeface="Calibri"/>
                <a:cs typeface="Calibri"/>
              </a:rPr>
              <a:t>voltage</a:t>
            </a:r>
            <a:r>
              <a:rPr sz="2405" spc="-70" dirty="0">
                <a:latin typeface="Calibri"/>
                <a:cs typeface="Calibri"/>
              </a:rPr>
              <a:t> </a:t>
            </a:r>
            <a:r>
              <a:rPr sz="2405" dirty="0">
                <a:latin typeface="Calibri"/>
                <a:cs typeface="Calibri"/>
              </a:rPr>
              <a:t>for</a:t>
            </a:r>
            <a:r>
              <a:rPr sz="2405" spc="-45" dirty="0">
                <a:latin typeface="Calibri"/>
                <a:cs typeface="Calibri"/>
              </a:rPr>
              <a:t> </a:t>
            </a:r>
            <a:r>
              <a:rPr sz="2405" spc="-30" dirty="0">
                <a:latin typeface="Calibri"/>
                <a:cs typeface="Calibri"/>
              </a:rPr>
              <a:t>C1=10nF,</a:t>
            </a:r>
            <a:r>
              <a:rPr sz="2405" spc="-95" dirty="0">
                <a:latin typeface="Calibri"/>
                <a:cs typeface="Calibri"/>
              </a:rPr>
              <a:t> </a:t>
            </a:r>
            <a:r>
              <a:rPr sz="2405" spc="-30" dirty="0">
                <a:latin typeface="Calibri"/>
                <a:cs typeface="Calibri"/>
              </a:rPr>
              <a:t>C2=20nF,</a:t>
            </a:r>
            <a:r>
              <a:rPr sz="2405" spc="-75" dirty="0">
                <a:latin typeface="Calibri"/>
                <a:cs typeface="Calibri"/>
              </a:rPr>
              <a:t> </a:t>
            </a:r>
            <a:r>
              <a:rPr sz="2405" dirty="0">
                <a:latin typeface="Calibri"/>
                <a:cs typeface="Calibri"/>
              </a:rPr>
              <a:t>R1=10kΩ</a:t>
            </a:r>
            <a:r>
              <a:rPr sz="2405" spc="-60" dirty="0">
                <a:latin typeface="Calibri"/>
                <a:cs typeface="Calibri"/>
              </a:rPr>
              <a:t> </a:t>
            </a:r>
            <a:r>
              <a:rPr sz="2405" dirty="0">
                <a:latin typeface="Calibri"/>
                <a:cs typeface="Calibri"/>
              </a:rPr>
              <a:t>and</a:t>
            </a:r>
            <a:r>
              <a:rPr sz="2405" spc="-40" dirty="0">
                <a:latin typeface="Calibri"/>
                <a:cs typeface="Calibri"/>
              </a:rPr>
              <a:t> </a:t>
            </a:r>
            <a:r>
              <a:rPr sz="2405" dirty="0">
                <a:latin typeface="Calibri"/>
                <a:cs typeface="Calibri"/>
              </a:rPr>
              <a:t>v</a:t>
            </a:r>
            <a:r>
              <a:rPr sz="2405" baseline="-20833" dirty="0">
                <a:latin typeface="Calibri"/>
                <a:cs typeface="Calibri"/>
              </a:rPr>
              <a:t>IN</a:t>
            </a:r>
            <a:r>
              <a:rPr sz="2405" spc="187" baseline="-20833" dirty="0">
                <a:latin typeface="Calibri"/>
                <a:cs typeface="Calibri"/>
              </a:rPr>
              <a:t> </a:t>
            </a:r>
            <a:r>
              <a:rPr sz="2405" dirty="0">
                <a:latin typeface="Calibri"/>
                <a:cs typeface="Calibri"/>
              </a:rPr>
              <a:t>a</a:t>
            </a:r>
            <a:r>
              <a:rPr sz="2405" spc="-30" dirty="0">
                <a:latin typeface="Calibri"/>
                <a:cs typeface="Calibri"/>
              </a:rPr>
              <a:t> </a:t>
            </a:r>
            <a:r>
              <a:rPr sz="2405" spc="-10" dirty="0">
                <a:latin typeface="Calibri"/>
                <a:cs typeface="Calibri"/>
              </a:rPr>
              <a:t>sinewave </a:t>
            </a:r>
            <a:r>
              <a:rPr sz="2405" dirty="0">
                <a:latin typeface="Calibri"/>
                <a:cs typeface="Calibri"/>
              </a:rPr>
              <a:t>with</a:t>
            </a:r>
            <a:r>
              <a:rPr sz="2405" spc="-30" dirty="0">
                <a:latin typeface="Calibri"/>
                <a:cs typeface="Calibri"/>
              </a:rPr>
              <a:t> </a:t>
            </a:r>
            <a:r>
              <a:rPr sz="2405" spc="-10" dirty="0">
                <a:latin typeface="Calibri"/>
                <a:cs typeface="Calibri"/>
              </a:rPr>
              <a:t>frequency</a:t>
            </a:r>
            <a:r>
              <a:rPr sz="2405" spc="-70" dirty="0">
                <a:latin typeface="Calibri"/>
                <a:cs typeface="Calibri"/>
              </a:rPr>
              <a:t> </a:t>
            </a:r>
            <a:r>
              <a:rPr sz="2405" dirty="0">
                <a:latin typeface="Calibri"/>
                <a:cs typeface="Calibri"/>
              </a:rPr>
              <a:t>1kHz</a:t>
            </a:r>
            <a:r>
              <a:rPr sz="2405" spc="-30" dirty="0">
                <a:latin typeface="Calibri"/>
                <a:cs typeface="Calibri"/>
              </a:rPr>
              <a:t> </a:t>
            </a:r>
            <a:r>
              <a:rPr sz="2405" dirty="0">
                <a:latin typeface="Calibri"/>
                <a:cs typeface="Calibri"/>
              </a:rPr>
              <a:t>and</a:t>
            </a:r>
            <a:r>
              <a:rPr sz="2405" spc="-50" dirty="0">
                <a:latin typeface="Calibri"/>
                <a:cs typeface="Calibri"/>
              </a:rPr>
              <a:t> </a:t>
            </a:r>
            <a:r>
              <a:rPr sz="2405" dirty="0">
                <a:latin typeface="Calibri"/>
                <a:cs typeface="Calibri"/>
              </a:rPr>
              <a:t>amplitude</a:t>
            </a:r>
            <a:r>
              <a:rPr sz="2405" spc="-85" dirty="0">
                <a:latin typeface="Calibri"/>
                <a:cs typeface="Calibri"/>
              </a:rPr>
              <a:t> </a:t>
            </a:r>
            <a:r>
              <a:rPr sz="2405" spc="-25" dirty="0">
                <a:latin typeface="Calibri"/>
                <a:cs typeface="Calibri"/>
              </a:rPr>
              <a:t>1V?</a:t>
            </a:r>
            <a:endParaRPr sz="2405">
              <a:latin typeface="Calibri"/>
              <a:cs typeface="Calibri"/>
            </a:endParaRPr>
          </a:p>
        </p:txBody>
      </p:sp>
      <p:pic>
        <p:nvPicPr>
          <p:cNvPr id="21" name="object 21"/>
          <p:cNvPicPr/>
          <p:nvPr/>
        </p:nvPicPr>
        <p:blipFill>
          <a:blip r:embed="rId3" cstate="print"/>
          <a:stretch>
            <a:fillRect/>
          </a:stretch>
        </p:blipFill>
        <p:spPr>
          <a:xfrm>
            <a:off x="2004865" y="4576920"/>
            <a:ext cx="1343608" cy="1853569"/>
          </a:xfrm>
          <a:prstGeom prst="rect">
            <a:avLst/>
          </a:prstGeom>
        </p:spPr>
      </p:pic>
      <p:sp>
        <p:nvSpPr>
          <p:cNvPr id="23" name="object 23"/>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114517">
              <a:spcBef>
                <a:spcPts val="40"/>
              </a:spcBef>
            </a:pPr>
            <a:fld id="{81D60167-4931-47E6-BA6A-407CBD079E47}" type="slidenum">
              <a:rPr spc="-50" dirty="0"/>
              <a:pPr marL="114517">
                <a:spcBef>
                  <a:spcPts val="40"/>
                </a:spcBef>
              </a:pPr>
              <a:t>4</a:t>
            </a:fld>
            <a:endParaRPr spc="-50" dirty="0"/>
          </a:p>
        </p:txBody>
      </p:sp>
    </p:spTree>
    <p:extLst>
      <p:ext uri="{BB962C8B-B14F-4D97-AF65-F5344CB8AC3E}">
        <p14:creationId xmlns:p14="http://schemas.microsoft.com/office/powerpoint/2010/main" val="1055044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622844" y="853405"/>
            <a:ext cx="4934676" cy="1906780"/>
          </a:xfrm>
          <a:prstGeom prst="rect">
            <a:avLst/>
          </a:prstGeom>
        </p:spPr>
      </p:pic>
      <p:pic>
        <p:nvPicPr>
          <p:cNvPr id="6" name="Picture 5"/>
          <p:cNvPicPr>
            <a:picLocks noChangeAspect="1"/>
          </p:cNvPicPr>
          <p:nvPr/>
        </p:nvPicPr>
        <p:blipFill>
          <a:blip r:embed="rId3"/>
          <a:stretch>
            <a:fillRect/>
          </a:stretch>
        </p:blipFill>
        <p:spPr>
          <a:xfrm>
            <a:off x="356117" y="3018134"/>
            <a:ext cx="8775370" cy="1492905"/>
          </a:xfrm>
          <a:prstGeom prst="rect">
            <a:avLst/>
          </a:prstGeom>
        </p:spPr>
      </p:pic>
      <p:pic>
        <p:nvPicPr>
          <p:cNvPr id="8" name="Picture 7"/>
          <p:cNvPicPr>
            <a:picLocks noChangeAspect="1"/>
          </p:cNvPicPr>
          <p:nvPr/>
        </p:nvPicPr>
        <p:blipFill>
          <a:blip r:embed="rId4"/>
          <a:stretch>
            <a:fillRect/>
          </a:stretch>
        </p:blipFill>
        <p:spPr>
          <a:xfrm>
            <a:off x="366899" y="4570708"/>
            <a:ext cx="8801643" cy="1433851"/>
          </a:xfrm>
          <a:prstGeom prst="rect">
            <a:avLst/>
          </a:prstGeom>
        </p:spPr>
      </p:pic>
    </p:spTree>
    <p:extLst>
      <p:ext uri="{BB962C8B-B14F-4D97-AF65-F5344CB8AC3E}">
        <p14:creationId xmlns:p14="http://schemas.microsoft.com/office/powerpoint/2010/main" val="966565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Bode Plot</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811300" y="1011428"/>
            <a:ext cx="9846315" cy="5414771"/>
          </a:xfrm>
          <a:prstGeom prst="rect">
            <a:avLst/>
          </a:prstGeom>
        </p:spPr>
      </p:pic>
    </p:spTree>
    <p:extLst>
      <p:ext uri="{BB962C8B-B14F-4D97-AF65-F5344CB8AC3E}">
        <p14:creationId xmlns:p14="http://schemas.microsoft.com/office/powerpoint/2010/main" val="15710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430657" y="3114218"/>
            <a:ext cx="4397899" cy="2179546"/>
            <a:chOff x="3888838" y="3108451"/>
            <a:chExt cx="4389755" cy="2175510"/>
          </a:xfrm>
        </p:grpSpPr>
        <p:pic>
          <p:nvPicPr>
            <p:cNvPr id="3" name="object 3"/>
            <p:cNvPicPr/>
            <p:nvPr/>
          </p:nvPicPr>
          <p:blipFill>
            <a:blip r:embed="rId2" cstate="print"/>
            <a:stretch>
              <a:fillRect/>
            </a:stretch>
          </p:blipFill>
          <p:spPr>
            <a:xfrm>
              <a:off x="3888838" y="3254014"/>
              <a:ext cx="4389152" cy="2029556"/>
            </a:xfrm>
            <a:prstGeom prst="rect">
              <a:avLst/>
            </a:prstGeom>
          </p:spPr>
        </p:pic>
        <p:sp>
          <p:nvSpPr>
            <p:cNvPr id="4" name="object 4"/>
            <p:cNvSpPr/>
            <p:nvPr/>
          </p:nvSpPr>
          <p:spPr>
            <a:xfrm>
              <a:off x="5074920" y="3108451"/>
              <a:ext cx="1704339" cy="1018540"/>
            </a:xfrm>
            <a:custGeom>
              <a:avLst/>
              <a:gdLst/>
              <a:ahLst/>
              <a:cxnLst/>
              <a:rect l="l" t="t" r="r" b="b"/>
              <a:pathLst>
                <a:path w="1704340" h="1018539">
                  <a:moveTo>
                    <a:pt x="27431" y="838200"/>
                  </a:moveTo>
                  <a:lnTo>
                    <a:pt x="0" y="841248"/>
                  </a:lnTo>
                  <a:lnTo>
                    <a:pt x="3047" y="859536"/>
                  </a:lnTo>
                  <a:lnTo>
                    <a:pt x="6095" y="874776"/>
                  </a:lnTo>
                  <a:lnTo>
                    <a:pt x="9143" y="893064"/>
                  </a:lnTo>
                  <a:lnTo>
                    <a:pt x="15239" y="908304"/>
                  </a:lnTo>
                  <a:lnTo>
                    <a:pt x="18287" y="914400"/>
                  </a:lnTo>
                  <a:lnTo>
                    <a:pt x="39624" y="902208"/>
                  </a:lnTo>
                  <a:lnTo>
                    <a:pt x="36575" y="899160"/>
                  </a:lnTo>
                  <a:lnTo>
                    <a:pt x="27431" y="853440"/>
                  </a:lnTo>
                  <a:lnTo>
                    <a:pt x="27431" y="838200"/>
                  </a:lnTo>
                  <a:close/>
                </a:path>
                <a:path w="1704340" h="1018539">
                  <a:moveTo>
                    <a:pt x="27431" y="737616"/>
                  </a:moveTo>
                  <a:lnTo>
                    <a:pt x="0" y="737616"/>
                  </a:lnTo>
                  <a:lnTo>
                    <a:pt x="0" y="838200"/>
                  </a:lnTo>
                  <a:lnTo>
                    <a:pt x="27431" y="838200"/>
                  </a:lnTo>
                  <a:lnTo>
                    <a:pt x="27431" y="737616"/>
                  </a:lnTo>
                  <a:close/>
                </a:path>
                <a:path w="1704340" h="1018539">
                  <a:moveTo>
                    <a:pt x="27431" y="560832"/>
                  </a:moveTo>
                  <a:lnTo>
                    <a:pt x="0" y="560832"/>
                  </a:lnTo>
                  <a:lnTo>
                    <a:pt x="0" y="661416"/>
                  </a:lnTo>
                  <a:lnTo>
                    <a:pt x="27431" y="661416"/>
                  </a:lnTo>
                  <a:lnTo>
                    <a:pt x="27431" y="560832"/>
                  </a:lnTo>
                  <a:close/>
                </a:path>
                <a:path w="1704340" h="1018539">
                  <a:moveTo>
                    <a:pt x="27431" y="381000"/>
                  </a:moveTo>
                  <a:lnTo>
                    <a:pt x="0" y="381000"/>
                  </a:lnTo>
                  <a:lnTo>
                    <a:pt x="0" y="484632"/>
                  </a:lnTo>
                  <a:lnTo>
                    <a:pt x="27431" y="484632"/>
                  </a:lnTo>
                  <a:lnTo>
                    <a:pt x="27431" y="381000"/>
                  </a:lnTo>
                  <a:close/>
                </a:path>
                <a:path w="1704340" h="1018539">
                  <a:moveTo>
                    <a:pt x="27431" y="204215"/>
                  </a:moveTo>
                  <a:lnTo>
                    <a:pt x="0" y="204215"/>
                  </a:lnTo>
                  <a:lnTo>
                    <a:pt x="0" y="304800"/>
                  </a:lnTo>
                  <a:lnTo>
                    <a:pt x="27431" y="304800"/>
                  </a:lnTo>
                  <a:lnTo>
                    <a:pt x="27431" y="204215"/>
                  </a:lnTo>
                  <a:close/>
                </a:path>
                <a:path w="1704340" h="1018539">
                  <a:moveTo>
                    <a:pt x="70103" y="36575"/>
                  </a:moveTo>
                  <a:lnTo>
                    <a:pt x="51815" y="54863"/>
                  </a:lnTo>
                  <a:lnTo>
                    <a:pt x="42671" y="67056"/>
                  </a:lnTo>
                  <a:lnTo>
                    <a:pt x="30479" y="79248"/>
                  </a:lnTo>
                  <a:lnTo>
                    <a:pt x="21335" y="94487"/>
                  </a:lnTo>
                  <a:lnTo>
                    <a:pt x="9143" y="124968"/>
                  </a:lnTo>
                  <a:lnTo>
                    <a:pt x="33527" y="134112"/>
                  </a:lnTo>
                  <a:lnTo>
                    <a:pt x="39624" y="118872"/>
                  </a:lnTo>
                  <a:lnTo>
                    <a:pt x="45719" y="106680"/>
                  </a:lnTo>
                  <a:lnTo>
                    <a:pt x="51815" y="91439"/>
                  </a:lnTo>
                  <a:lnTo>
                    <a:pt x="60959" y="82296"/>
                  </a:lnTo>
                  <a:lnTo>
                    <a:pt x="70103" y="70103"/>
                  </a:lnTo>
                  <a:lnTo>
                    <a:pt x="82295" y="60960"/>
                  </a:lnTo>
                  <a:lnTo>
                    <a:pt x="85343" y="57912"/>
                  </a:lnTo>
                  <a:lnTo>
                    <a:pt x="70103" y="36575"/>
                  </a:lnTo>
                  <a:close/>
                </a:path>
                <a:path w="1704340" h="1018539">
                  <a:moveTo>
                    <a:pt x="249935" y="0"/>
                  </a:moveTo>
                  <a:lnTo>
                    <a:pt x="176783" y="0"/>
                  </a:lnTo>
                  <a:lnTo>
                    <a:pt x="158495" y="3048"/>
                  </a:lnTo>
                  <a:lnTo>
                    <a:pt x="146303" y="3048"/>
                  </a:lnTo>
                  <a:lnTo>
                    <a:pt x="149351" y="30480"/>
                  </a:lnTo>
                  <a:lnTo>
                    <a:pt x="164591" y="27432"/>
                  </a:lnTo>
                  <a:lnTo>
                    <a:pt x="249935" y="27432"/>
                  </a:lnTo>
                  <a:lnTo>
                    <a:pt x="249935" y="0"/>
                  </a:lnTo>
                  <a:close/>
                </a:path>
                <a:path w="1704340" h="1018539">
                  <a:moveTo>
                    <a:pt x="426719" y="0"/>
                  </a:moveTo>
                  <a:lnTo>
                    <a:pt x="326135" y="0"/>
                  </a:lnTo>
                  <a:lnTo>
                    <a:pt x="326135" y="27432"/>
                  </a:lnTo>
                  <a:lnTo>
                    <a:pt x="426719" y="27432"/>
                  </a:lnTo>
                  <a:lnTo>
                    <a:pt x="426719" y="0"/>
                  </a:lnTo>
                  <a:close/>
                </a:path>
                <a:path w="1704340" h="1018539">
                  <a:moveTo>
                    <a:pt x="606551" y="0"/>
                  </a:moveTo>
                  <a:lnTo>
                    <a:pt x="502919" y="0"/>
                  </a:lnTo>
                  <a:lnTo>
                    <a:pt x="502919" y="27432"/>
                  </a:lnTo>
                  <a:lnTo>
                    <a:pt x="606551" y="27432"/>
                  </a:lnTo>
                  <a:lnTo>
                    <a:pt x="606551" y="0"/>
                  </a:lnTo>
                  <a:close/>
                </a:path>
                <a:path w="1704340" h="1018539">
                  <a:moveTo>
                    <a:pt x="783335" y="0"/>
                  </a:moveTo>
                  <a:lnTo>
                    <a:pt x="682751" y="0"/>
                  </a:lnTo>
                  <a:lnTo>
                    <a:pt x="682751" y="27432"/>
                  </a:lnTo>
                  <a:lnTo>
                    <a:pt x="783335" y="27432"/>
                  </a:lnTo>
                  <a:lnTo>
                    <a:pt x="783335" y="0"/>
                  </a:lnTo>
                  <a:close/>
                </a:path>
                <a:path w="1704340" h="1018539">
                  <a:moveTo>
                    <a:pt x="960119" y="0"/>
                  </a:moveTo>
                  <a:lnTo>
                    <a:pt x="859535" y="0"/>
                  </a:lnTo>
                  <a:lnTo>
                    <a:pt x="859535" y="27432"/>
                  </a:lnTo>
                  <a:lnTo>
                    <a:pt x="960119" y="27432"/>
                  </a:lnTo>
                  <a:lnTo>
                    <a:pt x="960119" y="0"/>
                  </a:lnTo>
                  <a:close/>
                </a:path>
                <a:path w="1704340" h="1018539">
                  <a:moveTo>
                    <a:pt x="1139952" y="0"/>
                  </a:moveTo>
                  <a:lnTo>
                    <a:pt x="1036319" y="0"/>
                  </a:lnTo>
                  <a:lnTo>
                    <a:pt x="1036319" y="27432"/>
                  </a:lnTo>
                  <a:lnTo>
                    <a:pt x="1139952" y="27432"/>
                  </a:lnTo>
                  <a:lnTo>
                    <a:pt x="1139952" y="0"/>
                  </a:lnTo>
                  <a:close/>
                </a:path>
                <a:path w="1704340" h="1018539">
                  <a:moveTo>
                    <a:pt x="1316735" y="0"/>
                  </a:moveTo>
                  <a:lnTo>
                    <a:pt x="1216152" y="0"/>
                  </a:lnTo>
                  <a:lnTo>
                    <a:pt x="1216152" y="27432"/>
                  </a:lnTo>
                  <a:lnTo>
                    <a:pt x="1316735" y="27432"/>
                  </a:lnTo>
                  <a:lnTo>
                    <a:pt x="1316735" y="0"/>
                  </a:lnTo>
                  <a:close/>
                </a:path>
                <a:path w="1704340" h="1018539">
                  <a:moveTo>
                    <a:pt x="1493520" y="0"/>
                  </a:moveTo>
                  <a:lnTo>
                    <a:pt x="1392935" y="0"/>
                  </a:lnTo>
                  <a:lnTo>
                    <a:pt x="1392935" y="27432"/>
                  </a:lnTo>
                  <a:lnTo>
                    <a:pt x="1493520" y="27432"/>
                  </a:lnTo>
                  <a:lnTo>
                    <a:pt x="1493520" y="0"/>
                  </a:lnTo>
                  <a:close/>
                </a:path>
                <a:path w="1704340" h="1018539">
                  <a:moveTo>
                    <a:pt x="1575815" y="9144"/>
                  </a:moveTo>
                  <a:lnTo>
                    <a:pt x="1572768" y="9144"/>
                  </a:lnTo>
                  <a:lnTo>
                    <a:pt x="1566672" y="33527"/>
                  </a:lnTo>
                  <a:lnTo>
                    <a:pt x="1569720" y="33527"/>
                  </a:lnTo>
                  <a:lnTo>
                    <a:pt x="1584959" y="39624"/>
                  </a:lnTo>
                  <a:lnTo>
                    <a:pt x="1609344" y="51815"/>
                  </a:lnTo>
                  <a:lnTo>
                    <a:pt x="1633727" y="70103"/>
                  </a:lnTo>
                  <a:lnTo>
                    <a:pt x="1642872" y="82296"/>
                  </a:lnTo>
                  <a:lnTo>
                    <a:pt x="1664207" y="67056"/>
                  </a:lnTo>
                  <a:lnTo>
                    <a:pt x="1648968" y="51815"/>
                  </a:lnTo>
                  <a:lnTo>
                    <a:pt x="1636776" y="42672"/>
                  </a:lnTo>
                  <a:lnTo>
                    <a:pt x="1624583" y="30480"/>
                  </a:lnTo>
                  <a:lnTo>
                    <a:pt x="1609344" y="21336"/>
                  </a:lnTo>
                  <a:lnTo>
                    <a:pt x="1594103" y="15239"/>
                  </a:lnTo>
                  <a:lnTo>
                    <a:pt x="1575815" y="9144"/>
                  </a:lnTo>
                  <a:close/>
                </a:path>
                <a:path w="1704340" h="1018539">
                  <a:moveTo>
                    <a:pt x="1697735" y="140208"/>
                  </a:moveTo>
                  <a:lnTo>
                    <a:pt x="1673352" y="146303"/>
                  </a:lnTo>
                  <a:lnTo>
                    <a:pt x="1673352" y="149351"/>
                  </a:lnTo>
                  <a:lnTo>
                    <a:pt x="1676400" y="164592"/>
                  </a:lnTo>
                  <a:lnTo>
                    <a:pt x="1676400" y="243839"/>
                  </a:lnTo>
                  <a:lnTo>
                    <a:pt x="1703831" y="243839"/>
                  </a:lnTo>
                  <a:lnTo>
                    <a:pt x="1703831" y="176784"/>
                  </a:lnTo>
                  <a:lnTo>
                    <a:pt x="1700783" y="158496"/>
                  </a:lnTo>
                  <a:lnTo>
                    <a:pt x="1697735" y="143256"/>
                  </a:lnTo>
                  <a:lnTo>
                    <a:pt x="1697735" y="140208"/>
                  </a:lnTo>
                  <a:close/>
                </a:path>
                <a:path w="1704340" h="1018539">
                  <a:moveTo>
                    <a:pt x="1703831" y="320039"/>
                  </a:moveTo>
                  <a:lnTo>
                    <a:pt x="1676400" y="320039"/>
                  </a:lnTo>
                  <a:lnTo>
                    <a:pt x="1676400" y="420624"/>
                  </a:lnTo>
                  <a:lnTo>
                    <a:pt x="1703831" y="420624"/>
                  </a:lnTo>
                  <a:lnTo>
                    <a:pt x="1703831" y="320039"/>
                  </a:lnTo>
                  <a:close/>
                </a:path>
                <a:path w="1704340" h="1018539">
                  <a:moveTo>
                    <a:pt x="1703831" y="496824"/>
                  </a:moveTo>
                  <a:lnTo>
                    <a:pt x="1676400" y="496824"/>
                  </a:lnTo>
                  <a:lnTo>
                    <a:pt x="1676400" y="600456"/>
                  </a:lnTo>
                  <a:lnTo>
                    <a:pt x="1703831" y="600456"/>
                  </a:lnTo>
                  <a:lnTo>
                    <a:pt x="1703831" y="496824"/>
                  </a:lnTo>
                  <a:close/>
                </a:path>
                <a:path w="1704340" h="1018539">
                  <a:moveTo>
                    <a:pt x="1703831" y="676656"/>
                  </a:moveTo>
                  <a:lnTo>
                    <a:pt x="1676400" y="676656"/>
                  </a:lnTo>
                  <a:lnTo>
                    <a:pt x="1676400" y="777240"/>
                  </a:lnTo>
                  <a:lnTo>
                    <a:pt x="1703831" y="777240"/>
                  </a:lnTo>
                  <a:lnTo>
                    <a:pt x="1703831" y="676656"/>
                  </a:lnTo>
                  <a:close/>
                </a:path>
                <a:path w="1704340" h="1018539">
                  <a:moveTo>
                    <a:pt x="1700783" y="853440"/>
                  </a:moveTo>
                  <a:lnTo>
                    <a:pt x="1676400" y="853440"/>
                  </a:lnTo>
                  <a:lnTo>
                    <a:pt x="1676400" y="856488"/>
                  </a:lnTo>
                  <a:lnTo>
                    <a:pt x="1673352" y="871728"/>
                  </a:lnTo>
                  <a:lnTo>
                    <a:pt x="1652015" y="923544"/>
                  </a:lnTo>
                  <a:lnTo>
                    <a:pt x="1639824" y="938784"/>
                  </a:lnTo>
                  <a:lnTo>
                    <a:pt x="1661159" y="954024"/>
                  </a:lnTo>
                  <a:lnTo>
                    <a:pt x="1661159" y="950976"/>
                  </a:lnTo>
                  <a:lnTo>
                    <a:pt x="1673352" y="938784"/>
                  </a:lnTo>
                  <a:lnTo>
                    <a:pt x="1682496" y="923544"/>
                  </a:lnTo>
                  <a:lnTo>
                    <a:pt x="1688591" y="908304"/>
                  </a:lnTo>
                  <a:lnTo>
                    <a:pt x="1694687" y="890016"/>
                  </a:lnTo>
                  <a:lnTo>
                    <a:pt x="1697735" y="874776"/>
                  </a:lnTo>
                  <a:lnTo>
                    <a:pt x="1700783" y="856488"/>
                  </a:lnTo>
                  <a:lnTo>
                    <a:pt x="1700783" y="853440"/>
                  </a:lnTo>
                  <a:close/>
                </a:path>
                <a:path w="1704340" h="1018539">
                  <a:moveTo>
                    <a:pt x="1584959" y="978408"/>
                  </a:moveTo>
                  <a:lnTo>
                    <a:pt x="1569720" y="984504"/>
                  </a:lnTo>
                  <a:lnTo>
                    <a:pt x="1539239" y="990600"/>
                  </a:lnTo>
                  <a:lnTo>
                    <a:pt x="1490472" y="990600"/>
                  </a:lnTo>
                  <a:lnTo>
                    <a:pt x="1490472" y="1018032"/>
                  </a:lnTo>
                  <a:lnTo>
                    <a:pt x="1527048" y="1018032"/>
                  </a:lnTo>
                  <a:lnTo>
                    <a:pt x="1545335" y="1014984"/>
                  </a:lnTo>
                  <a:lnTo>
                    <a:pt x="1560576" y="1011936"/>
                  </a:lnTo>
                  <a:lnTo>
                    <a:pt x="1578863" y="1008888"/>
                  </a:lnTo>
                  <a:lnTo>
                    <a:pt x="1594103" y="1002792"/>
                  </a:lnTo>
                  <a:lnTo>
                    <a:pt x="1584959" y="978408"/>
                  </a:lnTo>
                  <a:close/>
                </a:path>
                <a:path w="1704340" h="1018539">
                  <a:moveTo>
                    <a:pt x="1414271" y="990600"/>
                  </a:moveTo>
                  <a:lnTo>
                    <a:pt x="1313688" y="990600"/>
                  </a:lnTo>
                  <a:lnTo>
                    <a:pt x="1313688" y="1018032"/>
                  </a:lnTo>
                  <a:lnTo>
                    <a:pt x="1414271" y="1018032"/>
                  </a:lnTo>
                  <a:lnTo>
                    <a:pt x="1414271" y="990600"/>
                  </a:lnTo>
                  <a:close/>
                </a:path>
                <a:path w="1704340" h="1018539">
                  <a:moveTo>
                    <a:pt x="1237488" y="990600"/>
                  </a:moveTo>
                  <a:lnTo>
                    <a:pt x="1133855" y="990600"/>
                  </a:lnTo>
                  <a:lnTo>
                    <a:pt x="1133855" y="1018032"/>
                  </a:lnTo>
                  <a:lnTo>
                    <a:pt x="1237488" y="1018032"/>
                  </a:lnTo>
                  <a:lnTo>
                    <a:pt x="1237488" y="990600"/>
                  </a:lnTo>
                  <a:close/>
                </a:path>
                <a:path w="1704340" h="1018539">
                  <a:moveTo>
                    <a:pt x="1057655" y="990600"/>
                  </a:moveTo>
                  <a:lnTo>
                    <a:pt x="957071" y="990600"/>
                  </a:lnTo>
                  <a:lnTo>
                    <a:pt x="957071" y="1018032"/>
                  </a:lnTo>
                  <a:lnTo>
                    <a:pt x="1057655" y="1018032"/>
                  </a:lnTo>
                  <a:lnTo>
                    <a:pt x="1057655" y="990600"/>
                  </a:lnTo>
                  <a:close/>
                </a:path>
                <a:path w="1704340" h="1018539">
                  <a:moveTo>
                    <a:pt x="880871" y="990600"/>
                  </a:moveTo>
                  <a:lnTo>
                    <a:pt x="780288" y="990600"/>
                  </a:lnTo>
                  <a:lnTo>
                    <a:pt x="780288" y="1018032"/>
                  </a:lnTo>
                  <a:lnTo>
                    <a:pt x="880871" y="1018032"/>
                  </a:lnTo>
                  <a:lnTo>
                    <a:pt x="880871" y="990600"/>
                  </a:lnTo>
                  <a:close/>
                </a:path>
                <a:path w="1704340" h="1018539">
                  <a:moveTo>
                    <a:pt x="704088" y="990600"/>
                  </a:moveTo>
                  <a:lnTo>
                    <a:pt x="600455" y="990600"/>
                  </a:lnTo>
                  <a:lnTo>
                    <a:pt x="600455" y="1018032"/>
                  </a:lnTo>
                  <a:lnTo>
                    <a:pt x="704088" y="1018032"/>
                  </a:lnTo>
                  <a:lnTo>
                    <a:pt x="704088" y="990600"/>
                  </a:lnTo>
                  <a:close/>
                </a:path>
                <a:path w="1704340" h="1018539">
                  <a:moveTo>
                    <a:pt x="524255" y="990600"/>
                  </a:moveTo>
                  <a:lnTo>
                    <a:pt x="423671" y="990600"/>
                  </a:lnTo>
                  <a:lnTo>
                    <a:pt x="423671" y="1018032"/>
                  </a:lnTo>
                  <a:lnTo>
                    <a:pt x="524255" y="1018032"/>
                  </a:lnTo>
                  <a:lnTo>
                    <a:pt x="524255" y="990600"/>
                  </a:lnTo>
                  <a:close/>
                </a:path>
                <a:path w="1704340" h="1018539">
                  <a:moveTo>
                    <a:pt x="347471" y="990600"/>
                  </a:moveTo>
                  <a:lnTo>
                    <a:pt x="246887" y="990600"/>
                  </a:lnTo>
                  <a:lnTo>
                    <a:pt x="246887" y="1018032"/>
                  </a:lnTo>
                  <a:lnTo>
                    <a:pt x="347471" y="1018032"/>
                  </a:lnTo>
                  <a:lnTo>
                    <a:pt x="347471" y="990600"/>
                  </a:lnTo>
                  <a:close/>
                </a:path>
                <a:path w="1704340" h="1018539">
                  <a:moveTo>
                    <a:pt x="82295" y="957072"/>
                  </a:moveTo>
                  <a:lnTo>
                    <a:pt x="67055" y="978408"/>
                  </a:lnTo>
                  <a:lnTo>
                    <a:pt x="79247" y="987552"/>
                  </a:lnTo>
                  <a:lnTo>
                    <a:pt x="94487" y="996696"/>
                  </a:lnTo>
                  <a:lnTo>
                    <a:pt x="109727" y="1002792"/>
                  </a:lnTo>
                  <a:lnTo>
                    <a:pt x="128015" y="1008888"/>
                  </a:lnTo>
                  <a:lnTo>
                    <a:pt x="143255" y="1011936"/>
                  </a:lnTo>
                  <a:lnTo>
                    <a:pt x="161543" y="1014984"/>
                  </a:lnTo>
                  <a:lnTo>
                    <a:pt x="167639" y="1014984"/>
                  </a:lnTo>
                  <a:lnTo>
                    <a:pt x="170687" y="990600"/>
                  </a:lnTo>
                  <a:lnTo>
                    <a:pt x="161543" y="990600"/>
                  </a:lnTo>
                  <a:lnTo>
                    <a:pt x="146303" y="987552"/>
                  </a:lnTo>
                  <a:lnTo>
                    <a:pt x="134112" y="984504"/>
                  </a:lnTo>
                  <a:lnTo>
                    <a:pt x="118871" y="978408"/>
                  </a:lnTo>
                  <a:lnTo>
                    <a:pt x="106679" y="972312"/>
                  </a:lnTo>
                  <a:lnTo>
                    <a:pt x="91439" y="966216"/>
                  </a:lnTo>
                  <a:lnTo>
                    <a:pt x="82295" y="957072"/>
                  </a:lnTo>
                  <a:close/>
                </a:path>
              </a:pathLst>
            </a:custGeom>
            <a:solidFill>
              <a:srgbClr val="00AFEF"/>
            </a:solidFill>
          </p:spPr>
          <p:txBody>
            <a:bodyPr wrap="square" lIns="0" tIns="0" rIns="0" bIns="0" rtlCol="0"/>
            <a:lstStyle/>
            <a:p>
              <a:endParaRPr sz="1803"/>
            </a:p>
          </p:txBody>
        </p:sp>
        <p:sp>
          <p:nvSpPr>
            <p:cNvPr id="5" name="object 5"/>
            <p:cNvSpPr/>
            <p:nvPr/>
          </p:nvSpPr>
          <p:spPr>
            <a:xfrm>
              <a:off x="6446520" y="4175251"/>
              <a:ext cx="1323340" cy="789940"/>
            </a:xfrm>
            <a:custGeom>
              <a:avLst/>
              <a:gdLst/>
              <a:ahLst/>
              <a:cxnLst/>
              <a:rect l="l" t="t" r="r" b="b"/>
              <a:pathLst>
                <a:path w="1323340" h="789939">
                  <a:moveTo>
                    <a:pt x="27431" y="548640"/>
                  </a:moveTo>
                  <a:lnTo>
                    <a:pt x="0" y="548640"/>
                  </a:lnTo>
                  <a:lnTo>
                    <a:pt x="0" y="649224"/>
                  </a:lnTo>
                  <a:lnTo>
                    <a:pt x="27431" y="649224"/>
                  </a:lnTo>
                  <a:lnTo>
                    <a:pt x="27431" y="548640"/>
                  </a:lnTo>
                  <a:close/>
                </a:path>
                <a:path w="1323340" h="789939">
                  <a:moveTo>
                    <a:pt x="27431" y="368808"/>
                  </a:moveTo>
                  <a:lnTo>
                    <a:pt x="0" y="368808"/>
                  </a:lnTo>
                  <a:lnTo>
                    <a:pt x="0" y="472440"/>
                  </a:lnTo>
                  <a:lnTo>
                    <a:pt x="27431" y="472440"/>
                  </a:lnTo>
                  <a:lnTo>
                    <a:pt x="27431" y="368808"/>
                  </a:lnTo>
                  <a:close/>
                </a:path>
                <a:path w="1323340" h="789939">
                  <a:moveTo>
                    <a:pt x="27431" y="192024"/>
                  </a:moveTo>
                  <a:lnTo>
                    <a:pt x="0" y="192024"/>
                  </a:lnTo>
                  <a:lnTo>
                    <a:pt x="0" y="292608"/>
                  </a:lnTo>
                  <a:lnTo>
                    <a:pt x="27431" y="292608"/>
                  </a:lnTo>
                  <a:lnTo>
                    <a:pt x="27431" y="192024"/>
                  </a:lnTo>
                  <a:close/>
                </a:path>
                <a:path w="1323340" h="789939">
                  <a:moveTo>
                    <a:pt x="67055" y="21336"/>
                  </a:moveTo>
                  <a:lnTo>
                    <a:pt x="64007" y="24384"/>
                  </a:lnTo>
                  <a:lnTo>
                    <a:pt x="60959" y="24384"/>
                  </a:lnTo>
                  <a:lnTo>
                    <a:pt x="42671" y="39624"/>
                  </a:lnTo>
                  <a:lnTo>
                    <a:pt x="42671" y="42672"/>
                  </a:lnTo>
                  <a:lnTo>
                    <a:pt x="39624" y="42672"/>
                  </a:lnTo>
                  <a:lnTo>
                    <a:pt x="24383" y="60960"/>
                  </a:lnTo>
                  <a:lnTo>
                    <a:pt x="24383" y="64008"/>
                  </a:lnTo>
                  <a:lnTo>
                    <a:pt x="12191" y="85343"/>
                  </a:lnTo>
                  <a:lnTo>
                    <a:pt x="12191" y="88392"/>
                  </a:lnTo>
                  <a:lnTo>
                    <a:pt x="6095" y="100584"/>
                  </a:lnTo>
                  <a:lnTo>
                    <a:pt x="3047" y="112775"/>
                  </a:lnTo>
                  <a:lnTo>
                    <a:pt x="27431" y="118872"/>
                  </a:lnTo>
                  <a:lnTo>
                    <a:pt x="27431" y="115824"/>
                  </a:lnTo>
                  <a:lnTo>
                    <a:pt x="30479" y="106680"/>
                  </a:lnTo>
                  <a:lnTo>
                    <a:pt x="35051" y="97536"/>
                  </a:lnTo>
                  <a:lnTo>
                    <a:pt x="33527" y="97536"/>
                  </a:lnTo>
                  <a:lnTo>
                    <a:pt x="45719" y="76200"/>
                  </a:lnTo>
                  <a:lnTo>
                    <a:pt x="58419" y="60960"/>
                  </a:lnTo>
                  <a:lnTo>
                    <a:pt x="57911" y="60960"/>
                  </a:lnTo>
                  <a:lnTo>
                    <a:pt x="60959" y="57912"/>
                  </a:lnTo>
                  <a:lnTo>
                    <a:pt x="61569" y="57912"/>
                  </a:lnTo>
                  <a:lnTo>
                    <a:pt x="76200" y="45720"/>
                  </a:lnTo>
                  <a:lnTo>
                    <a:pt x="79248" y="45720"/>
                  </a:lnTo>
                  <a:lnTo>
                    <a:pt x="67055" y="21336"/>
                  </a:lnTo>
                  <a:close/>
                </a:path>
                <a:path w="1323340" h="789939">
                  <a:moveTo>
                    <a:pt x="36575" y="94487"/>
                  </a:moveTo>
                  <a:lnTo>
                    <a:pt x="33527" y="97536"/>
                  </a:lnTo>
                  <a:lnTo>
                    <a:pt x="35051" y="97536"/>
                  </a:lnTo>
                  <a:lnTo>
                    <a:pt x="36575" y="94487"/>
                  </a:lnTo>
                  <a:close/>
                </a:path>
                <a:path w="1323340" h="789939">
                  <a:moveTo>
                    <a:pt x="60959" y="57912"/>
                  </a:moveTo>
                  <a:lnTo>
                    <a:pt x="57911" y="60960"/>
                  </a:lnTo>
                  <a:lnTo>
                    <a:pt x="59574" y="59574"/>
                  </a:lnTo>
                  <a:lnTo>
                    <a:pt x="60959" y="57912"/>
                  </a:lnTo>
                  <a:close/>
                </a:path>
                <a:path w="1323340" h="789939">
                  <a:moveTo>
                    <a:pt x="59574" y="59574"/>
                  </a:moveTo>
                  <a:lnTo>
                    <a:pt x="57911" y="60960"/>
                  </a:lnTo>
                  <a:lnTo>
                    <a:pt x="58419" y="60960"/>
                  </a:lnTo>
                  <a:lnTo>
                    <a:pt x="59574" y="59574"/>
                  </a:lnTo>
                  <a:close/>
                </a:path>
                <a:path w="1323340" h="789939">
                  <a:moveTo>
                    <a:pt x="61569" y="57912"/>
                  </a:moveTo>
                  <a:lnTo>
                    <a:pt x="60959" y="57912"/>
                  </a:lnTo>
                  <a:lnTo>
                    <a:pt x="59574" y="59574"/>
                  </a:lnTo>
                  <a:lnTo>
                    <a:pt x="61569" y="57912"/>
                  </a:lnTo>
                  <a:close/>
                </a:path>
                <a:path w="1323340" h="789939">
                  <a:moveTo>
                    <a:pt x="246887" y="0"/>
                  </a:moveTo>
                  <a:lnTo>
                    <a:pt x="143255" y="0"/>
                  </a:lnTo>
                  <a:lnTo>
                    <a:pt x="143255" y="27431"/>
                  </a:lnTo>
                  <a:lnTo>
                    <a:pt x="246887" y="27431"/>
                  </a:lnTo>
                  <a:lnTo>
                    <a:pt x="246887" y="0"/>
                  </a:lnTo>
                  <a:close/>
                </a:path>
                <a:path w="1323340" h="789939">
                  <a:moveTo>
                    <a:pt x="423672" y="0"/>
                  </a:moveTo>
                  <a:lnTo>
                    <a:pt x="323087" y="0"/>
                  </a:lnTo>
                  <a:lnTo>
                    <a:pt x="323087" y="27431"/>
                  </a:lnTo>
                  <a:lnTo>
                    <a:pt x="423672" y="27431"/>
                  </a:lnTo>
                  <a:lnTo>
                    <a:pt x="423672" y="0"/>
                  </a:lnTo>
                  <a:close/>
                </a:path>
                <a:path w="1323340" h="789939">
                  <a:moveTo>
                    <a:pt x="600455" y="0"/>
                  </a:moveTo>
                  <a:lnTo>
                    <a:pt x="499872" y="0"/>
                  </a:lnTo>
                  <a:lnTo>
                    <a:pt x="499872" y="27431"/>
                  </a:lnTo>
                  <a:lnTo>
                    <a:pt x="600455" y="27431"/>
                  </a:lnTo>
                  <a:lnTo>
                    <a:pt x="600455" y="0"/>
                  </a:lnTo>
                  <a:close/>
                </a:path>
                <a:path w="1323340" h="789939">
                  <a:moveTo>
                    <a:pt x="780287" y="0"/>
                  </a:moveTo>
                  <a:lnTo>
                    <a:pt x="676655" y="0"/>
                  </a:lnTo>
                  <a:lnTo>
                    <a:pt x="676655" y="27431"/>
                  </a:lnTo>
                  <a:lnTo>
                    <a:pt x="780287" y="27431"/>
                  </a:lnTo>
                  <a:lnTo>
                    <a:pt x="780287" y="0"/>
                  </a:lnTo>
                  <a:close/>
                </a:path>
                <a:path w="1323340" h="789939">
                  <a:moveTo>
                    <a:pt x="957072" y="0"/>
                  </a:moveTo>
                  <a:lnTo>
                    <a:pt x="856487" y="0"/>
                  </a:lnTo>
                  <a:lnTo>
                    <a:pt x="856487" y="27431"/>
                  </a:lnTo>
                  <a:lnTo>
                    <a:pt x="957072" y="27431"/>
                  </a:lnTo>
                  <a:lnTo>
                    <a:pt x="957072" y="0"/>
                  </a:lnTo>
                  <a:close/>
                </a:path>
                <a:path w="1323340" h="789939">
                  <a:moveTo>
                    <a:pt x="1133855" y="0"/>
                  </a:moveTo>
                  <a:lnTo>
                    <a:pt x="1033272" y="0"/>
                  </a:lnTo>
                  <a:lnTo>
                    <a:pt x="1033272" y="27431"/>
                  </a:lnTo>
                  <a:lnTo>
                    <a:pt x="1133855" y="27431"/>
                  </a:lnTo>
                  <a:lnTo>
                    <a:pt x="1133855" y="0"/>
                  </a:lnTo>
                  <a:close/>
                </a:path>
                <a:path w="1323340" h="789939">
                  <a:moveTo>
                    <a:pt x="1263664" y="60063"/>
                  </a:moveTo>
                  <a:lnTo>
                    <a:pt x="1277111" y="76200"/>
                  </a:lnTo>
                  <a:lnTo>
                    <a:pt x="1280159" y="82296"/>
                  </a:lnTo>
                  <a:lnTo>
                    <a:pt x="1301496" y="70104"/>
                  </a:lnTo>
                  <a:lnTo>
                    <a:pt x="1298448" y="64008"/>
                  </a:lnTo>
                  <a:lnTo>
                    <a:pt x="1298448" y="60960"/>
                  </a:lnTo>
                  <a:lnTo>
                    <a:pt x="1264920" y="60960"/>
                  </a:lnTo>
                  <a:lnTo>
                    <a:pt x="1263664" y="60063"/>
                  </a:lnTo>
                  <a:close/>
                </a:path>
                <a:path w="1323340" h="789939">
                  <a:moveTo>
                    <a:pt x="1261872" y="57912"/>
                  </a:moveTo>
                  <a:lnTo>
                    <a:pt x="1263664" y="60063"/>
                  </a:lnTo>
                  <a:lnTo>
                    <a:pt x="1264920" y="60960"/>
                  </a:lnTo>
                  <a:lnTo>
                    <a:pt x="1261872" y="57912"/>
                  </a:lnTo>
                  <a:close/>
                </a:path>
                <a:path w="1323340" h="789939">
                  <a:moveTo>
                    <a:pt x="1295907" y="57912"/>
                  </a:moveTo>
                  <a:lnTo>
                    <a:pt x="1261872" y="57912"/>
                  </a:lnTo>
                  <a:lnTo>
                    <a:pt x="1264920" y="60960"/>
                  </a:lnTo>
                  <a:lnTo>
                    <a:pt x="1298448" y="60960"/>
                  </a:lnTo>
                  <a:lnTo>
                    <a:pt x="1295907" y="57912"/>
                  </a:lnTo>
                  <a:close/>
                </a:path>
                <a:path w="1323340" h="789939">
                  <a:moveTo>
                    <a:pt x="1272844" y="33528"/>
                  </a:moveTo>
                  <a:lnTo>
                    <a:pt x="1225296" y="33528"/>
                  </a:lnTo>
                  <a:lnTo>
                    <a:pt x="1246631" y="45720"/>
                  </a:lnTo>
                  <a:lnTo>
                    <a:pt x="1243583" y="45720"/>
                  </a:lnTo>
                  <a:lnTo>
                    <a:pt x="1263664" y="60063"/>
                  </a:lnTo>
                  <a:lnTo>
                    <a:pt x="1261872" y="57912"/>
                  </a:lnTo>
                  <a:lnTo>
                    <a:pt x="1295907" y="57912"/>
                  </a:lnTo>
                  <a:lnTo>
                    <a:pt x="1283207" y="42672"/>
                  </a:lnTo>
                  <a:lnTo>
                    <a:pt x="1280159" y="42672"/>
                  </a:lnTo>
                  <a:lnTo>
                    <a:pt x="1280159" y="39624"/>
                  </a:lnTo>
                  <a:lnTo>
                    <a:pt x="1272844" y="33528"/>
                  </a:lnTo>
                  <a:close/>
                </a:path>
                <a:path w="1323340" h="789939">
                  <a:moveTo>
                    <a:pt x="1222248" y="6096"/>
                  </a:moveTo>
                  <a:lnTo>
                    <a:pt x="1213103" y="6096"/>
                  </a:lnTo>
                  <a:lnTo>
                    <a:pt x="1207007" y="30480"/>
                  </a:lnTo>
                  <a:lnTo>
                    <a:pt x="1216152" y="30480"/>
                  </a:lnTo>
                  <a:lnTo>
                    <a:pt x="1228344" y="36575"/>
                  </a:lnTo>
                  <a:lnTo>
                    <a:pt x="1225296" y="33528"/>
                  </a:lnTo>
                  <a:lnTo>
                    <a:pt x="1272844" y="33528"/>
                  </a:lnTo>
                  <a:lnTo>
                    <a:pt x="1261872" y="24384"/>
                  </a:lnTo>
                  <a:lnTo>
                    <a:pt x="1258824" y="24384"/>
                  </a:lnTo>
                  <a:lnTo>
                    <a:pt x="1237487" y="12192"/>
                  </a:lnTo>
                  <a:lnTo>
                    <a:pt x="1234439" y="12192"/>
                  </a:lnTo>
                  <a:lnTo>
                    <a:pt x="1222248" y="6096"/>
                  </a:lnTo>
                  <a:close/>
                </a:path>
                <a:path w="1323340" h="789939">
                  <a:moveTo>
                    <a:pt x="1322831" y="149352"/>
                  </a:moveTo>
                  <a:lnTo>
                    <a:pt x="1295400" y="149352"/>
                  </a:lnTo>
                  <a:lnTo>
                    <a:pt x="1295400" y="249936"/>
                  </a:lnTo>
                  <a:lnTo>
                    <a:pt x="1322831" y="249936"/>
                  </a:lnTo>
                  <a:lnTo>
                    <a:pt x="1322831" y="149352"/>
                  </a:lnTo>
                  <a:close/>
                </a:path>
                <a:path w="1323340" h="789939">
                  <a:moveTo>
                    <a:pt x="1322831" y="326136"/>
                  </a:moveTo>
                  <a:lnTo>
                    <a:pt x="1295400" y="326136"/>
                  </a:lnTo>
                  <a:lnTo>
                    <a:pt x="1295400" y="426720"/>
                  </a:lnTo>
                  <a:lnTo>
                    <a:pt x="1322831" y="426720"/>
                  </a:lnTo>
                  <a:lnTo>
                    <a:pt x="1322831" y="326136"/>
                  </a:lnTo>
                  <a:close/>
                </a:path>
                <a:path w="1323340" h="789939">
                  <a:moveTo>
                    <a:pt x="1322831" y="502920"/>
                  </a:moveTo>
                  <a:lnTo>
                    <a:pt x="1295400" y="502920"/>
                  </a:lnTo>
                  <a:lnTo>
                    <a:pt x="1295400" y="606552"/>
                  </a:lnTo>
                  <a:lnTo>
                    <a:pt x="1322831" y="606552"/>
                  </a:lnTo>
                  <a:lnTo>
                    <a:pt x="1322831" y="502920"/>
                  </a:lnTo>
                  <a:close/>
                </a:path>
                <a:path w="1323340" h="789939">
                  <a:moveTo>
                    <a:pt x="1263142" y="729742"/>
                  </a:moveTo>
                  <a:lnTo>
                    <a:pt x="1243583" y="743712"/>
                  </a:lnTo>
                  <a:lnTo>
                    <a:pt x="1246631" y="743712"/>
                  </a:lnTo>
                  <a:lnTo>
                    <a:pt x="1237487" y="746760"/>
                  </a:lnTo>
                  <a:lnTo>
                    <a:pt x="1249679" y="771144"/>
                  </a:lnTo>
                  <a:lnTo>
                    <a:pt x="1258824" y="765048"/>
                  </a:lnTo>
                  <a:lnTo>
                    <a:pt x="1261872" y="765048"/>
                  </a:lnTo>
                  <a:lnTo>
                    <a:pt x="1280159" y="749808"/>
                  </a:lnTo>
                  <a:lnTo>
                    <a:pt x="1280159" y="746760"/>
                  </a:lnTo>
                  <a:lnTo>
                    <a:pt x="1283207" y="746760"/>
                  </a:lnTo>
                  <a:lnTo>
                    <a:pt x="1295907" y="731520"/>
                  </a:lnTo>
                  <a:lnTo>
                    <a:pt x="1261872" y="731520"/>
                  </a:lnTo>
                  <a:lnTo>
                    <a:pt x="1263142" y="729742"/>
                  </a:lnTo>
                  <a:close/>
                </a:path>
                <a:path w="1323340" h="789939">
                  <a:moveTo>
                    <a:pt x="1264920" y="728472"/>
                  </a:moveTo>
                  <a:lnTo>
                    <a:pt x="1263142" y="729742"/>
                  </a:lnTo>
                  <a:lnTo>
                    <a:pt x="1261872" y="731520"/>
                  </a:lnTo>
                  <a:lnTo>
                    <a:pt x="1264920" y="728472"/>
                  </a:lnTo>
                  <a:close/>
                </a:path>
                <a:path w="1323340" h="789939">
                  <a:moveTo>
                    <a:pt x="1298448" y="728472"/>
                  </a:moveTo>
                  <a:lnTo>
                    <a:pt x="1264920" y="728472"/>
                  </a:lnTo>
                  <a:lnTo>
                    <a:pt x="1261872" y="731520"/>
                  </a:lnTo>
                  <a:lnTo>
                    <a:pt x="1295907" y="731520"/>
                  </a:lnTo>
                  <a:lnTo>
                    <a:pt x="1298448" y="728472"/>
                  </a:lnTo>
                  <a:close/>
                </a:path>
                <a:path w="1323340" h="789939">
                  <a:moveTo>
                    <a:pt x="1277111" y="710184"/>
                  </a:moveTo>
                  <a:lnTo>
                    <a:pt x="1263142" y="729742"/>
                  </a:lnTo>
                  <a:lnTo>
                    <a:pt x="1264920" y="728472"/>
                  </a:lnTo>
                  <a:lnTo>
                    <a:pt x="1298448" y="728472"/>
                  </a:lnTo>
                  <a:lnTo>
                    <a:pt x="1298448" y="725424"/>
                  </a:lnTo>
                  <a:lnTo>
                    <a:pt x="1305414" y="713232"/>
                  </a:lnTo>
                  <a:lnTo>
                    <a:pt x="1277111" y="713232"/>
                  </a:lnTo>
                  <a:lnTo>
                    <a:pt x="1277111" y="710184"/>
                  </a:lnTo>
                  <a:close/>
                </a:path>
                <a:path w="1323340" h="789939">
                  <a:moveTo>
                    <a:pt x="1315211" y="691896"/>
                  </a:moveTo>
                  <a:lnTo>
                    <a:pt x="1289303" y="691896"/>
                  </a:lnTo>
                  <a:lnTo>
                    <a:pt x="1277111" y="713232"/>
                  </a:lnTo>
                  <a:lnTo>
                    <a:pt x="1305414" y="713232"/>
                  </a:lnTo>
                  <a:lnTo>
                    <a:pt x="1310639" y="704088"/>
                  </a:lnTo>
                  <a:lnTo>
                    <a:pt x="1310639" y="701040"/>
                  </a:lnTo>
                  <a:lnTo>
                    <a:pt x="1315211" y="691896"/>
                  </a:lnTo>
                  <a:close/>
                </a:path>
                <a:path w="1323340" h="789939">
                  <a:moveTo>
                    <a:pt x="1292352" y="676656"/>
                  </a:moveTo>
                  <a:lnTo>
                    <a:pt x="1292352" y="682752"/>
                  </a:lnTo>
                  <a:lnTo>
                    <a:pt x="1286255" y="694944"/>
                  </a:lnTo>
                  <a:lnTo>
                    <a:pt x="1289303" y="691896"/>
                  </a:lnTo>
                  <a:lnTo>
                    <a:pt x="1315211" y="691896"/>
                  </a:lnTo>
                  <a:lnTo>
                    <a:pt x="1316735" y="688848"/>
                  </a:lnTo>
                  <a:lnTo>
                    <a:pt x="1316735" y="685800"/>
                  </a:lnTo>
                  <a:lnTo>
                    <a:pt x="1292352" y="676656"/>
                  </a:lnTo>
                  <a:close/>
                </a:path>
                <a:path w="1323340" h="789939">
                  <a:moveTo>
                    <a:pt x="1170431" y="762000"/>
                  </a:moveTo>
                  <a:lnTo>
                    <a:pt x="1069848" y="762000"/>
                  </a:lnTo>
                  <a:lnTo>
                    <a:pt x="1069848" y="789432"/>
                  </a:lnTo>
                  <a:lnTo>
                    <a:pt x="1170431" y="789432"/>
                  </a:lnTo>
                  <a:lnTo>
                    <a:pt x="1170431" y="762000"/>
                  </a:lnTo>
                  <a:close/>
                </a:path>
                <a:path w="1323340" h="789939">
                  <a:moveTo>
                    <a:pt x="993648" y="762000"/>
                  </a:moveTo>
                  <a:lnTo>
                    <a:pt x="890015" y="762000"/>
                  </a:lnTo>
                  <a:lnTo>
                    <a:pt x="890015" y="789432"/>
                  </a:lnTo>
                  <a:lnTo>
                    <a:pt x="993648" y="789432"/>
                  </a:lnTo>
                  <a:lnTo>
                    <a:pt x="993648" y="762000"/>
                  </a:lnTo>
                  <a:close/>
                </a:path>
                <a:path w="1323340" h="789939">
                  <a:moveTo>
                    <a:pt x="813815" y="762000"/>
                  </a:moveTo>
                  <a:lnTo>
                    <a:pt x="713231" y="762000"/>
                  </a:lnTo>
                  <a:lnTo>
                    <a:pt x="713231" y="789432"/>
                  </a:lnTo>
                  <a:lnTo>
                    <a:pt x="813815" y="789432"/>
                  </a:lnTo>
                  <a:lnTo>
                    <a:pt x="813815" y="762000"/>
                  </a:lnTo>
                  <a:close/>
                </a:path>
                <a:path w="1323340" h="789939">
                  <a:moveTo>
                    <a:pt x="637031" y="762000"/>
                  </a:moveTo>
                  <a:lnTo>
                    <a:pt x="536448" y="762000"/>
                  </a:lnTo>
                  <a:lnTo>
                    <a:pt x="536448" y="789432"/>
                  </a:lnTo>
                  <a:lnTo>
                    <a:pt x="637031" y="789432"/>
                  </a:lnTo>
                  <a:lnTo>
                    <a:pt x="637031" y="762000"/>
                  </a:lnTo>
                  <a:close/>
                </a:path>
                <a:path w="1323340" h="789939">
                  <a:moveTo>
                    <a:pt x="460248" y="762000"/>
                  </a:moveTo>
                  <a:lnTo>
                    <a:pt x="356615" y="762000"/>
                  </a:lnTo>
                  <a:lnTo>
                    <a:pt x="356615" y="789432"/>
                  </a:lnTo>
                  <a:lnTo>
                    <a:pt x="460248" y="789432"/>
                  </a:lnTo>
                  <a:lnTo>
                    <a:pt x="460248" y="762000"/>
                  </a:lnTo>
                  <a:close/>
                </a:path>
                <a:path w="1323340" h="789939">
                  <a:moveTo>
                    <a:pt x="280415" y="762000"/>
                  </a:moveTo>
                  <a:lnTo>
                    <a:pt x="179831" y="762000"/>
                  </a:lnTo>
                  <a:lnTo>
                    <a:pt x="179831" y="789432"/>
                  </a:lnTo>
                  <a:lnTo>
                    <a:pt x="280415" y="789432"/>
                  </a:lnTo>
                  <a:lnTo>
                    <a:pt x="280415" y="762000"/>
                  </a:lnTo>
                  <a:close/>
                </a:path>
                <a:path w="1323340" h="789939">
                  <a:moveTo>
                    <a:pt x="39624" y="701040"/>
                  </a:moveTo>
                  <a:lnTo>
                    <a:pt x="18287" y="713232"/>
                  </a:lnTo>
                  <a:lnTo>
                    <a:pt x="24383" y="725424"/>
                  </a:lnTo>
                  <a:lnTo>
                    <a:pt x="24383" y="728472"/>
                  </a:lnTo>
                  <a:lnTo>
                    <a:pt x="39624" y="746760"/>
                  </a:lnTo>
                  <a:lnTo>
                    <a:pt x="42671" y="746760"/>
                  </a:lnTo>
                  <a:lnTo>
                    <a:pt x="42671" y="749808"/>
                  </a:lnTo>
                  <a:lnTo>
                    <a:pt x="60959" y="765048"/>
                  </a:lnTo>
                  <a:lnTo>
                    <a:pt x="64007" y="765048"/>
                  </a:lnTo>
                  <a:lnTo>
                    <a:pt x="85344" y="777240"/>
                  </a:lnTo>
                  <a:lnTo>
                    <a:pt x="88391" y="777240"/>
                  </a:lnTo>
                  <a:lnTo>
                    <a:pt x="100583" y="783336"/>
                  </a:lnTo>
                  <a:lnTo>
                    <a:pt x="106679" y="758952"/>
                  </a:lnTo>
                  <a:lnTo>
                    <a:pt x="100583" y="755904"/>
                  </a:lnTo>
                  <a:lnTo>
                    <a:pt x="97535" y="755904"/>
                  </a:lnTo>
                  <a:lnTo>
                    <a:pt x="76200" y="743712"/>
                  </a:lnTo>
                  <a:lnTo>
                    <a:pt x="61569" y="731520"/>
                  </a:lnTo>
                  <a:lnTo>
                    <a:pt x="60959" y="731520"/>
                  </a:lnTo>
                  <a:lnTo>
                    <a:pt x="57911" y="728472"/>
                  </a:lnTo>
                  <a:lnTo>
                    <a:pt x="58782" y="728472"/>
                  </a:lnTo>
                  <a:lnTo>
                    <a:pt x="47897" y="713232"/>
                  </a:lnTo>
                  <a:lnTo>
                    <a:pt x="45719" y="713232"/>
                  </a:lnTo>
                  <a:lnTo>
                    <a:pt x="39624" y="701040"/>
                  </a:lnTo>
                  <a:close/>
                </a:path>
                <a:path w="1323340" h="789939">
                  <a:moveTo>
                    <a:pt x="94487" y="752856"/>
                  </a:moveTo>
                  <a:lnTo>
                    <a:pt x="97535" y="755904"/>
                  </a:lnTo>
                  <a:lnTo>
                    <a:pt x="100583" y="755904"/>
                  </a:lnTo>
                  <a:lnTo>
                    <a:pt x="94487" y="752856"/>
                  </a:lnTo>
                  <a:close/>
                </a:path>
                <a:path w="1323340" h="789939">
                  <a:moveTo>
                    <a:pt x="57911" y="728472"/>
                  </a:moveTo>
                  <a:lnTo>
                    <a:pt x="60959" y="731520"/>
                  </a:lnTo>
                  <a:lnTo>
                    <a:pt x="60063" y="730264"/>
                  </a:lnTo>
                  <a:lnTo>
                    <a:pt x="57911" y="728472"/>
                  </a:lnTo>
                  <a:close/>
                </a:path>
                <a:path w="1323340" h="789939">
                  <a:moveTo>
                    <a:pt x="60063" y="730264"/>
                  </a:moveTo>
                  <a:lnTo>
                    <a:pt x="60959" y="731520"/>
                  </a:lnTo>
                  <a:lnTo>
                    <a:pt x="61569" y="731520"/>
                  </a:lnTo>
                  <a:lnTo>
                    <a:pt x="60063" y="730264"/>
                  </a:lnTo>
                  <a:close/>
                </a:path>
                <a:path w="1323340" h="789939">
                  <a:moveTo>
                    <a:pt x="58782" y="728472"/>
                  </a:moveTo>
                  <a:lnTo>
                    <a:pt x="57911" y="728472"/>
                  </a:lnTo>
                  <a:lnTo>
                    <a:pt x="60063" y="730264"/>
                  </a:lnTo>
                  <a:lnTo>
                    <a:pt x="58782" y="728472"/>
                  </a:lnTo>
                  <a:close/>
                </a:path>
                <a:path w="1323340" h="789939">
                  <a:moveTo>
                    <a:pt x="45719" y="710184"/>
                  </a:moveTo>
                  <a:lnTo>
                    <a:pt x="45719" y="713232"/>
                  </a:lnTo>
                  <a:lnTo>
                    <a:pt x="47897" y="713232"/>
                  </a:lnTo>
                  <a:lnTo>
                    <a:pt x="45719" y="710184"/>
                  </a:lnTo>
                  <a:close/>
                </a:path>
              </a:pathLst>
            </a:custGeom>
            <a:solidFill>
              <a:srgbClr val="FF0000"/>
            </a:solidFill>
          </p:spPr>
          <p:txBody>
            <a:bodyPr wrap="square" lIns="0" tIns="0" rIns="0" bIns="0" rtlCol="0"/>
            <a:lstStyle/>
            <a:p>
              <a:endParaRPr sz="1803"/>
            </a:p>
          </p:txBody>
        </p:sp>
      </p:grpSp>
      <p:sp>
        <p:nvSpPr>
          <p:cNvPr id="6" name="object 6"/>
          <p:cNvSpPr txBox="1">
            <a:spLocks noGrp="1"/>
          </p:cNvSpPr>
          <p:nvPr>
            <p:ph type="title"/>
          </p:nvPr>
        </p:nvSpPr>
        <p:spPr>
          <a:xfrm>
            <a:off x="2728073" y="188309"/>
            <a:ext cx="6733309" cy="1248181"/>
          </a:xfrm>
          <a:prstGeom prst="rect">
            <a:avLst/>
          </a:prstGeom>
        </p:spPr>
        <p:txBody>
          <a:bodyPr vert="horz" wrap="square" lIns="0" tIns="13360" rIns="0" bIns="0" rtlCol="0">
            <a:spAutoFit/>
          </a:bodyPr>
          <a:lstStyle/>
          <a:p>
            <a:pPr marL="1194160" marR="5090" indent="-1182072">
              <a:spcBef>
                <a:spcPts val="105"/>
              </a:spcBef>
            </a:pPr>
            <a:r>
              <a:rPr sz="4008" dirty="0"/>
              <a:t>Circuit</a:t>
            </a:r>
            <a:r>
              <a:rPr sz="4008" spc="-110" dirty="0"/>
              <a:t> </a:t>
            </a:r>
            <a:r>
              <a:rPr sz="4008" dirty="0"/>
              <a:t>analysis</a:t>
            </a:r>
            <a:r>
              <a:rPr sz="4008" spc="-85" dirty="0"/>
              <a:t> </a:t>
            </a:r>
            <a:r>
              <a:rPr sz="4008" dirty="0"/>
              <a:t>with</a:t>
            </a:r>
            <a:r>
              <a:rPr sz="4008" spc="-105" dirty="0"/>
              <a:t> </a:t>
            </a:r>
            <a:r>
              <a:rPr sz="4008" dirty="0"/>
              <a:t>phasors</a:t>
            </a:r>
            <a:r>
              <a:rPr sz="4008" spc="-95" dirty="0"/>
              <a:t> </a:t>
            </a:r>
            <a:r>
              <a:rPr sz="4008" spc="-25" dirty="0"/>
              <a:t>and </a:t>
            </a:r>
            <a:r>
              <a:rPr sz="4008" dirty="0"/>
              <a:t>complex</a:t>
            </a:r>
            <a:r>
              <a:rPr sz="4008" spc="-145" dirty="0"/>
              <a:t> </a:t>
            </a:r>
            <a:r>
              <a:rPr sz="4008" spc="-10" dirty="0"/>
              <a:t>impedances</a:t>
            </a:r>
            <a:endParaRPr sz="4008"/>
          </a:p>
        </p:txBody>
      </p:sp>
      <p:sp>
        <p:nvSpPr>
          <p:cNvPr id="7" name="object 7"/>
          <p:cNvSpPr txBox="1"/>
          <p:nvPr/>
        </p:nvSpPr>
        <p:spPr>
          <a:xfrm>
            <a:off x="2040491" y="1608259"/>
            <a:ext cx="5687432" cy="1001981"/>
          </a:xfrm>
          <a:prstGeom prst="rect">
            <a:avLst/>
          </a:prstGeom>
        </p:spPr>
        <p:txBody>
          <a:bodyPr vert="horz" wrap="square" lIns="0" tIns="11451" rIns="0" bIns="0" rtlCol="0">
            <a:spAutoFit/>
          </a:bodyPr>
          <a:lstStyle/>
          <a:p>
            <a:pPr marL="370272" marR="17814" indent="-345460">
              <a:spcBef>
                <a:spcPts val="90"/>
              </a:spcBef>
              <a:buFont typeface="Arial MT"/>
              <a:buChar char="•"/>
              <a:tabLst>
                <a:tab pos="370272" algn="l"/>
              </a:tabLst>
            </a:pPr>
            <a:r>
              <a:rPr sz="3206" dirty="0">
                <a:latin typeface="Calibri"/>
                <a:cs typeface="Calibri"/>
              </a:rPr>
              <a:t>Assume</a:t>
            </a:r>
            <a:r>
              <a:rPr sz="3206" spc="-15" dirty="0">
                <a:latin typeface="Calibri"/>
                <a:cs typeface="Calibri"/>
              </a:rPr>
              <a:t> </a:t>
            </a:r>
            <a:r>
              <a:rPr sz="3206" i="1" dirty="0">
                <a:latin typeface="Calibri"/>
                <a:cs typeface="Calibri"/>
              </a:rPr>
              <a:t>v</a:t>
            </a:r>
            <a:r>
              <a:rPr sz="3156" i="1" baseline="-19841" dirty="0">
                <a:latin typeface="Calibri"/>
                <a:cs typeface="Calibri"/>
              </a:rPr>
              <a:t>IN</a:t>
            </a:r>
            <a:r>
              <a:rPr sz="3156" i="1" spc="301" baseline="-19841" dirty="0">
                <a:latin typeface="Calibri"/>
                <a:cs typeface="Calibri"/>
              </a:rPr>
              <a:t> </a:t>
            </a:r>
            <a:r>
              <a:rPr sz="3206" dirty="0">
                <a:latin typeface="Calibri"/>
                <a:cs typeface="Calibri"/>
              </a:rPr>
              <a:t>is</a:t>
            </a:r>
            <a:r>
              <a:rPr sz="3206" spc="-55" dirty="0">
                <a:latin typeface="Calibri"/>
                <a:cs typeface="Calibri"/>
              </a:rPr>
              <a:t> </a:t>
            </a:r>
            <a:r>
              <a:rPr sz="3206" dirty="0">
                <a:latin typeface="Calibri"/>
                <a:cs typeface="Calibri"/>
              </a:rPr>
              <a:t>sinusoidal</a:t>
            </a:r>
            <a:r>
              <a:rPr sz="3206" spc="-25" dirty="0">
                <a:latin typeface="Calibri"/>
                <a:cs typeface="Calibri"/>
              </a:rPr>
              <a:t> </a:t>
            </a:r>
            <a:r>
              <a:rPr sz="3206" dirty="0">
                <a:latin typeface="Calibri"/>
                <a:cs typeface="Calibri"/>
              </a:rPr>
              <a:t>and</a:t>
            </a:r>
            <a:r>
              <a:rPr sz="3206" spc="-35" dirty="0">
                <a:latin typeface="Calibri"/>
                <a:cs typeface="Calibri"/>
              </a:rPr>
              <a:t> </a:t>
            </a:r>
            <a:r>
              <a:rPr sz="3206" spc="-25" dirty="0">
                <a:latin typeface="Calibri"/>
                <a:cs typeface="Calibri"/>
              </a:rPr>
              <a:t>use </a:t>
            </a:r>
            <a:r>
              <a:rPr sz="3206" dirty="0">
                <a:latin typeface="Calibri"/>
                <a:cs typeface="Calibri"/>
              </a:rPr>
              <a:t>phasors</a:t>
            </a:r>
            <a:r>
              <a:rPr sz="3206" spc="-85" dirty="0">
                <a:latin typeface="Calibri"/>
                <a:cs typeface="Calibri"/>
              </a:rPr>
              <a:t> </a:t>
            </a:r>
            <a:r>
              <a:rPr sz="3206" dirty="0">
                <a:latin typeface="Calibri"/>
                <a:cs typeface="Calibri"/>
              </a:rPr>
              <a:t>and</a:t>
            </a:r>
            <a:r>
              <a:rPr sz="3206" spc="-80" dirty="0">
                <a:latin typeface="Calibri"/>
                <a:cs typeface="Calibri"/>
              </a:rPr>
              <a:t> </a:t>
            </a:r>
            <a:r>
              <a:rPr sz="3206" spc="-10" dirty="0">
                <a:latin typeface="Calibri"/>
                <a:cs typeface="Calibri"/>
              </a:rPr>
              <a:t>impedances</a:t>
            </a:r>
            <a:endParaRPr sz="3206">
              <a:latin typeface="Calibri"/>
              <a:cs typeface="Calibri"/>
            </a:endParaRPr>
          </a:p>
        </p:txBody>
      </p:sp>
      <p:sp>
        <p:nvSpPr>
          <p:cNvPr id="8" name="object 8"/>
          <p:cNvSpPr/>
          <p:nvPr/>
        </p:nvSpPr>
        <p:spPr>
          <a:xfrm>
            <a:off x="3660710" y="3590016"/>
            <a:ext cx="669259" cy="0"/>
          </a:xfrm>
          <a:custGeom>
            <a:avLst/>
            <a:gdLst/>
            <a:ahLst/>
            <a:cxnLst/>
            <a:rect l="l" t="t" r="r" b="b"/>
            <a:pathLst>
              <a:path w="668019">
                <a:moveTo>
                  <a:pt x="0" y="0"/>
                </a:moveTo>
                <a:lnTo>
                  <a:pt x="667893" y="0"/>
                </a:lnTo>
              </a:path>
            </a:pathLst>
          </a:custGeom>
          <a:ln w="12697">
            <a:solidFill>
              <a:srgbClr val="000000"/>
            </a:solidFill>
          </a:ln>
        </p:spPr>
        <p:txBody>
          <a:bodyPr wrap="square" lIns="0" tIns="0" rIns="0" bIns="0" rtlCol="0"/>
          <a:lstStyle/>
          <a:p>
            <a:endParaRPr sz="1803"/>
          </a:p>
        </p:txBody>
      </p:sp>
      <p:sp>
        <p:nvSpPr>
          <p:cNvPr id="9" name="object 9"/>
          <p:cNvSpPr/>
          <p:nvPr/>
        </p:nvSpPr>
        <p:spPr>
          <a:xfrm>
            <a:off x="3097120" y="4950419"/>
            <a:ext cx="704885" cy="0"/>
          </a:xfrm>
          <a:custGeom>
            <a:avLst/>
            <a:gdLst/>
            <a:ahLst/>
            <a:cxnLst/>
            <a:rect l="l" t="t" r="r" b="b"/>
            <a:pathLst>
              <a:path w="703580">
                <a:moveTo>
                  <a:pt x="0" y="0"/>
                </a:moveTo>
                <a:lnTo>
                  <a:pt x="703516" y="0"/>
                </a:lnTo>
              </a:path>
            </a:pathLst>
          </a:custGeom>
          <a:ln w="12697">
            <a:solidFill>
              <a:srgbClr val="000000"/>
            </a:solidFill>
          </a:ln>
        </p:spPr>
        <p:txBody>
          <a:bodyPr wrap="square" lIns="0" tIns="0" rIns="0" bIns="0" rtlCol="0"/>
          <a:lstStyle/>
          <a:p>
            <a:endParaRPr sz="1803"/>
          </a:p>
        </p:txBody>
      </p:sp>
      <p:sp>
        <p:nvSpPr>
          <p:cNvPr id="10" name="object 10"/>
          <p:cNvSpPr txBox="1"/>
          <p:nvPr/>
        </p:nvSpPr>
        <p:spPr>
          <a:xfrm>
            <a:off x="3647223" y="5152042"/>
            <a:ext cx="125327" cy="229141"/>
          </a:xfrm>
          <a:prstGeom prst="rect">
            <a:avLst/>
          </a:prstGeom>
        </p:spPr>
        <p:txBody>
          <a:bodyPr vert="horz" wrap="square" lIns="0" tIns="12724" rIns="0" bIns="0" rtlCol="0">
            <a:spAutoFit/>
          </a:bodyPr>
          <a:lstStyle/>
          <a:p>
            <a:pPr marL="12724">
              <a:spcBef>
                <a:spcPts val="100"/>
              </a:spcBef>
            </a:pPr>
            <a:r>
              <a:rPr sz="1403" spc="-50" dirty="0">
                <a:latin typeface="Arial MT"/>
                <a:cs typeface="Arial MT"/>
              </a:rPr>
              <a:t>2</a:t>
            </a:r>
            <a:endParaRPr sz="1403">
              <a:latin typeface="Arial MT"/>
              <a:cs typeface="Arial MT"/>
            </a:endParaRPr>
          </a:p>
        </p:txBody>
      </p:sp>
      <p:sp>
        <p:nvSpPr>
          <p:cNvPr id="11" name="object 11"/>
          <p:cNvSpPr txBox="1"/>
          <p:nvPr/>
        </p:nvSpPr>
        <p:spPr>
          <a:xfrm>
            <a:off x="2624248" y="4910804"/>
            <a:ext cx="125327" cy="229141"/>
          </a:xfrm>
          <a:prstGeom prst="rect">
            <a:avLst/>
          </a:prstGeom>
        </p:spPr>
        <p:txBody>
          <a:bodyPr vert="horz" wrap="square" lIns="0" tIns="12724" rIns="0" bIns="0" rtlCol="0">
            <a:spAutoFit/>
          </a:bodyPr>
          <a:lstStyle/>
          <a:p>
            <a:pPr marL="12724">
              <a:spcBef>
                <a:spcPts val="100"/>
              </a:spcBef>
            </a:pPr>
            <a:r>
              <a:rPr sz="1403" spc="-50" dirty="0">
                <a:latin typeface="Arial MT"/>
                <a:cs typeface="Arial MT"/>
              </a:rPr>
              <a:t>2</a:t>
            </a:r>
            <a:endParaRPr sz="1403">
              <a:latin typeface="Arial MT"/>
              <a:cs typeface="Arial MT"/>
            </a:endParaRPr>
          </a:p>
        </p:txBody>
      </p:sp>
      <p:sp>
        <p:nvSpPr>
          <p:cNvPr id="12" name="object 12"/>
          <p:cNvSpPr txBox="1"/>
          <p:nvPr/>
        </p:nvSpPr>
        <p:spPr>
          <a:xfrm>
            <a:off x="4196882" y="3790112"/>
            <a:ext cx="125327" cy="229141"/>
          </a:xfrm>
          <a:prstGeom prst="rect">
            <a:avLst/>
          </a:prstGeom>
        </p:spPr>
        <p:txBody>
          <a:bodyPr vert="horz" wrap="square" lIns="0" tIns="12724" rIns="0" bIns="0" rtlCol="0">
            <a:spAutoFit/>
          </a:bodyPr>
          <a:lstStyle/>
          <a:p>
            <a:pPr marL="12724">
              <a:spcBef>
                <a:spcPts val="100"/>
              </a:spcBef>
            </a:pPr>
            <a:r>
              <a:rPr sz="1403" spc="-50" dirty="0">
                <a:latin typeface="Arial MT"/>
                <a:cs typeface="Arial MT"/>
              </a:rPr>
              <a:t>1</a:t>
            </a:r>
            <a:endParaRPr sz="1403">
              <a:latin typeface="Arial MT"/>
              <a:cs typeface="Arial MT"/>
            </a:endParaRPr>
          </a:p>
        </p:txBody>
      </p:sp>
      <p:sp>
        <p:nvSpPr>
          <p:cNvPr id="13" name="object 13"/>
          <p:cNvSpPr txBox="1"/>
          <p:nvPr/>
        </p:nvSpPr>
        <p:spPr>
          <a:xfrm>
            <a:off x="2406421" y="3347999"/>
            <a:ext cx="1222098" cy="393158"/>
          </a:xfrm>
          <a:prstGeom prst="rect">
            <a:avLst/>
          </a:prstGeom>
        </p:spPr>
        <p:txBody>
          <a:bodyPr vert="horz" wrap="square" lIns="0" tIns="13360" rIns="0" bIns="0" rtlCol="0">
            <a:spAutoFit/>
          </a:bodyPr>
          <a:lstStyle/>
          <a:p>
            <a:pPr marL="38172">
              <a:spcBef>
                <a:spcPts val="105"/>
              </a:spcBef>
            </a:pPr>
            <a:r>
              <a:rPr sz="2405" i="1" dirty="0">
                <a:latin typeface="Arial"/>
                <a:cs typeface="Arial"/>
              </a:rPr>
              <a:t>Z</a:t>
            </a:r>
            <a:r>
              <a:rPr sz="2104" baseline="-23809" dirty="0">
                <a:latin typeface="Arial MT"/>
                <a:cs typeface="Arial MT"/>
              </a:rPr>
              <a:t>1</a:t>
            </a:r>
            <a:r>
              <a:rPr sz="2104" spc="316" baseline="-23809" dirty="0">
                <a:latin typeface="Arial MT"/>
                <a:cs typeface="Arial MT"/>
              </a:rPr>
              <a:t> </a:t>
            </a:r>
            <a:r>
              <a:rPr sz="2405" dirty="0">
                <a:latin typeface="Symbol"/>
                <a:cs typeface="Symbol"/>
              </a:rPr>
              <a:t></a:t>
            </a:r>
            <a:r>
              <a:rPr sz="2405" spc="-95" dirty="0">
                <a:latin typeface="Times New Roman"/>
                <a:cs typeface="Times New Roman"/>
              </a:rPr>
              <a:t> </a:t>
            </a:r>
            <a:r>
              <a:rPr sz="2405" i="1" dirty="0">
                <a:latin typeface="Arial"/>
                <a:cs typeface="Arial"/>
              </a:rPr>
              <a:t>R</a:t>
            </a:r>
            <a:r>
              <a:rPr sz="2104" baseline="-23809" dirty="0">
                <a:latin typeface="Arial MT"/>
                <a:cs typeface="Arial MT"/>
              </a:rPr>
              <a:t>1</a:t>
            </a:r>
            <a:r>
              <a:rPr sz="2104" spc="127" baseline="-23809" dirty="0">
                <a:latin typeface="Arial MT"/>
                <a:cs typeface="Arial MT"/>
              </a:rPr>
              <a:t> </a:t>
            </a:r>
            <a:r>
              <a:rPr sz="2405" spc="-50" dirty="0">
                <a:latin typeface="Symbol"/>
                <a:cs typeface="Symbol"/>
              </a:rPr>
              <a:t></a:t>
            </a:r>
            <a:endParaRPr sz="2405">
              <a:latin typeface="Symbol"/>
              <a:cs typeface="Symbol"/>
            </a:endParaRPr>
          </a:p>
        </p:txBody>
      </p:sp>
      <p:sp>
        <p:nvSpPr>
          <p:cNvPr id="14" name="object 14"/>
          <p:cNvSpPr txBox="1"/>
          <p:nvPr/>
        </p:nvSpPr>
        <p:spPr>
          <a:xfrm>
            <a:off x="3363233" y="4514495"/>
            <a:ext cx="195943" cy="393158"/>
          </a:xfrm>
          <a:prstGeom prst="rect">
            <a:avLst/>
          </a:prstGeom>
        </p:spPr>
        <p:txBody>
          <a:bodyPr vert="horz" wrap="square" lIns="0" tIns="13360" rIns="0" bIns="0" rtlCol="0">
            <a:spAutoFit/>
          </a:bodyPr>
          <a:lstStyle/>
          <a:p>
            <a:pPr marL="12724">
              <a:spcBef>
                <a:spcPts val="105"/>
              </a:spcBef>
            </a:pPr>
            <a:r>
              <a:rPr sz="2405" spc="-50" dirty="0">
                <a:latin typeface="Arial MT"/>
                <a:cs typeface="Arial MT"/>
              </a:rPr>
              <a:t>1</a:t>
            </a:r>
            <a:endParaRPr sz="2405">
              <a:latin typeface="Arial MT"/>
              <a:cs typeface="Arial MT"/>
            </a:endParaRPr>
          </a:p>
        </p:txBody>
      </p:sp>
      <p:sp>
        <p:nvSpPr>
          <p:cNvPr id="15" name="object 15"/>
          <p:cNvSpPr txBox="1"/>
          <p:nvPr/>
        </p:nvSpPr>
        <p:spPr>
          <a:xfrm>
            <a:off x="3909836" y="3155619"/>
            <a:ext cx="195943" cy="393158"/>
          </a:xfrm>
          <a:prstGeom prst="rect">
            <a:avLst/>
          </a:prstGeom>
        </p:spPr>
        <p:txBody>
          <a:bodyPr vert="horz" wrap="square" lIns="0" tIns="13360" rIns="0" bIns="0" rtlCol="0">
            <a:spAutoFit/>
          </a:bodyPr>
          <a:lstStyle/>
          <a:p>
            <a:pPr marL="12724">
              <a:spcBef>
                <a:spcPts val="105"/>
              </a:spcBef>
            </a:pPr>
            <a:r>
              <a:rPr sz="2405" spc="-50" dirty="0">
                <a:latin typeface="Arial MT"/>
                <a:cs typeface="Arial MT"/>
              </a:rPr>
              <a:t>1</a:t>
            </a:r>
            <a:endParaRPr sz="2405">
              <a:latin typeface="Arial MT"/>
              <a:cs typeface="Arial MT"/>
            </a:endParaRPr>
          </a:p>
        </p:txBody>
      </p:sp>
      <p:sp>
        <p:nvSpPr>
          <p:cNvPr id="16" name="object 16"/>
          <p:cNvSpPr txBox="1"/>
          <p:nvPr/>
        </p:nvSpPr>
        <p:spPr>
          <a:xfrm>
            <a:off x="3146424" y="4937316"/>
            <a:ext cx="524847" cy="405882"/>
          </a:xfrm>
          <a:prstGeom prst="rect">
            <a:avLst/>
          </a:prstGeom>
        </p:spPr>
        <p:txBody>
          <a:bodyPr vert="horz" wrap="square" lIns="0" tIns="11451" rIns="0" bIns="0" rtlCol="0">
            <a:spAutoFit/>
          </a:bodyPr>
          <a:lstStyle/>
          <a:p>
            <a:pPr marL="12724">
              <a:spcBef>
                <a:spcPts val="90"/>
              </a:spcBef>
            </a:pPr>
            <a:r>
              <a:rPr sz="2405" i="1" spc="-120" dirty="0">
                <a:latin typeface="Arial"/>
                <a:cs typeface="Arial"/>
              </a:rPr>
              <a:t>j</a:t>
            </a:r>
            <a:r>
              <a:rPr sz="2505" i="1" spc="-120" dirty="0">
                <a:latin typeface="Verdana"/>
                <a:cs typeface="Verdana"/>
              </a:rPr>
              <a:t>ω</a:t>
            </a:r>
            <a:r>
              <a:rPr sz="2405" i="1" spc="-120" dirty="0">
                <a:latin typeface="Arial"/>
                <a:cs typeface="Arial"/>
              </a:rPr>
              <a:t>C</a:t>
            </a:r>
            <a:endParaRPr sz="2405">
              <a:latin typeface="Arial"/>
              <a:cs typeface="Arial"/>
            </a:endParaRPr>
          </a:p>
        </p:txBody>
      </p:sp>
      <p:sp>
        <p:nvSpPr>
          <p:cNvPr id="17" name="object 17"/>
          <p:cNvSpPr txBox="1"/>
          <p:nvPr/>
        </p:nvSpPr>
        <p:spPr>
          <a:xfrm>
            <a:off x="2431868" y="4706875"/>
            <a:ext cx="593554" cy="393158"/>
          </a:xfrm>
          <a:prstGeom prst="rect">
            <a:avLst/>
          </a:prstGeom>
        </p:spPr>
        <p:txBody>
          <a:bodyPr vert="horz" wrap="square" lIns="0" tIns="13360" rIns="0" bIns="0" rtlCol="0">
            <a:spAutoFit/>
          </a:bodyPr>
          <a:lstStyle/>
          <a:p>
            <a:pPr marL="12724">
              <a:spcBef>
                <a:spcPts val="105"/>
              </a:spcBef>
              <a:tabLst>
                <a:tab pos="412262" algn="l"/>
              </a:tabLst>
            </a:pPr>
            <a:r>
              <a:rPr sz="2405" i="1" spc="-50" dirty="0">
                <a:latin typeface="Arial"/>
                <a:cs typeface="Arial"/>
              </a:rPr>
              <a:t>Z</a:t>
            </a:r>
            <a:r>
              <a:rPr sz="2405" i="1" dirty="0">
                <a:latin typeface="Arial"/>
                <a:cs typeface="Arial"/>
              </a:rPr>
              <a:t>	</a:t>
            </a:r>
            <a:r>
              <a:rPr sz="2405" spc="-50" dirty="0">
                <a:latin typeface="Symbol"/>
                <a:cs typeface="Symbol"/>
              </a:rPr>
              <a:t></a:t>
            </a:r>
            <a:endParaRPr sz="2405">
              <a:latin typeface="Symbol"/>
              <a:cs typeface="Symbol"/>
            </a:endParaRPr>
          </a:p>
        </p:txBody>
      </p:sp>
      <p:sp>
        <p:nvSpPr>
          <p:cNvPr id="18" name="object 18"/>
          <p:cNvSpPr txBox="1"/>
          <p:nvPr/>
        </p:nvSpPr>
        <p:spPr>
          <a:xfrm>
            <a:off x="3711350" y="3575386"/>
            <a:ext cx="521666" cy="405882"/>
          </a:xfrm>
          <a:prstGeom prst="rect">
            <a:avLst/>
          </a:prstGeom>
        </p:spPr>
        <p:txBody>
          <a:bodyPr vert="horz" wrap="square" lIns="0" tIns="11451" rIns="0" bIns="0" rtlCol="0">
            <a:spAutoFit/>
          </a:bodyPr>
          <a:lstStyle/>
          <a:p>
            <a:pPr marL="12724">
              <a:spcBef>
                <a:spcPts val="90"/>
              </a:spcBef>
            </a:pPr>
            <a:r>
              <a:rPr sz="2405" i="1" spc="-130" dirty="0">
                <a:latin typeface="Arial"/>
                <a:cs typeface="Arial"/>
              </a:rPr>
              <a:t>j</a:t>
            </a:r>
            <a:r>
              <a:rPr sz="2505" i="1" spc="-130" dirty="0">
                <a:latin typeface="Verdana"/>
                <a:cs typeface="Verdana"/>
              </a:rPr>
              <a:t>ω</a:t>
            </a:r>
            <a:r>
              <a:rPr sz="2405" i="1" spc="-130" dirty="0">
                <a:latin typeface="Arial"/>
                <a:cs typeface="Arial"/>
              </a:rPr>
              <a:t>C</a:t>
            </a:r>
            <a:endParaRPr sz="2405">
              <a:latin typeface="Arial"/>
              <a:cs typeface="Arial"/>
            </a:endParaRPr>
          </a:p>
        </p:txBody>
      </p:sp>
      <p:sp>
        <p:nvSpPr>
          <p:cNvPr id="19" name="object 19"/>
          <p:cNvSpPr/>
          <p:nvPr/>
        </p:nvSpPr>
        <p:spPr>
          <a:xfrm>
            <a:off x="2117851" y="3853202"/>
            <a:ext cx="1670604" cy="281191"/>
          </a:xfrm>
          <a:custGeom>
            <a:avLst/>
            <a:gdLst/>
            <a:ahLst/>
            <a:cxnLst/>
            <a:rect l="l" t="t" r="r" b="b"/>
            <a:pathLst>
              <a:path w="1667510" h="280670">
                <a:moveTo>
                  <a:pt x="24384" y="0"/>
                </a:moveTo>
                <a:lnTo>
                  <a:pt x="0" y="0"/>
                </a:lnTo>
                <a:lnTo>
                  <a:pt x="0" y="100584"/>
                </a:lnTo>
                <a:lnTo>
                  <a:pt x="24384" y="100584"/>
                </a:lnTo>
                <a:lnTo>
                  <a:pt x="24384" y="0"/>
                </a:lnTo>
                <a:close/>
              </a:path>
              <a:path w="1667510" h="280670">
                <a:moveTo>
                  <a:pt x="82296" y="219456"/>
                </a:moveTo>
                <a:lnTo>
                  <a:pt x="79248" y="219456"/>
                </a:lnTo>
                <a:lnTo>
                  <a:pt x="57912" y="198120"/>
                </a:lnTo>
                <a:lnTo>
                  <a:pt x="51816" y="185928"/>
                </a:lnTo>
                <a:lnTo>
                  <a:pt x="42672" y="173736"/>
                </a:lnTo>
                <a:lnTo>
                  <a:pt x="36576" y="161544"/>
                </a:lnTo>
                <a:lnTo>
                  <a:pt x="30480" y="146304"/>
                </a:lnTo>
                <a:lnTo>
                  <a:pt x="30480" y="143256"/>
                </a:lnTo>
                <a:lnTo>
                  <a:pt x="6096" y="149352"/>
                </a:lnTo>
                <a:lnTo>
                  <a:pt x="9144" y="155448"/>
                </a:lnTo>
                <a:lnTo>
                  <a:pt x="21336" y="185928"/>
                </a:lnTo>
                <a:lnTo>
                  <a:pt x="39624" y="216408"/>
                </a:lnTo>
                <a:lnTo>
                  <a:pt x="51816" y="228600"/>
                </a:lnTo>
                <a:lnTo>
                  <a:pt x="64008" y="237744"/>
                </a:lnTo>
                <a:lnTo>
                  <a:pt x="67056" y="240792"/>
                </a:lnTo>
                <a:lnTo>
                  <a:pt x="82296" y="219456"/>
                </a:lnTo>
                <a:close/>
              </a:path>
              <a:path w="1667510" h="280670">
                <a:moveTo>
                  <a:pt x="243840" y="252984"/>
                </a:moveTo>
                <a:lnTo>
                  <a:pt x="161544" y="252984"/>
                </a:lnTo>
                <a:lnTo>
                  <a:pt x="146304" y="249936"/>
                </a:lnTo>
                <a:lnTo>
                  <a:pt x="140208" y="274320"/>
                </a:lnTo>
                <a:lnTo>
                  <a:pt x="143256" y="274320"/>
                </a:lnTo>
                <a:lnTo>
                  <a:pt x="158496" y="277368"/>
                </a:lnTo>
                <a:lnTo>
                  <a:pt x="176784" y="280416"/>
                </a:lnTo>
                <a:lnTo>
                  <a:pt x="243840" y="280416"/>
                </a:lnTo>
                <a:lnTo>
                  <a:pt x="243840" y="252984"/>
                </a:lnTo>
                <a:close/>
              </a:path>
              <a:path w="1667510" h="280670">
                <a:moveTo>
                  <a:pt x="420611" y="252984"/>
                </a:moveTo>
                <a:lnTo>
                  <a:pt x="320040" y="252984"/>
                </a:lnTo>
                <a:lnTo>
                  <a:pt x="320040" y="280416"/>
                </a:lnTo>
                <a:lnTo>
                  <a:pt x="420611" y="280416"/>
                </a:lnTo>
                <a:lnTo>
                  <a:pt x="420611" y="252984"/>
                </a:lnTo>
                <a:close/>
              </a:path>
              <a:path w="1667510" h="280670">
                <a:moveTo>
                  <a:pt x="600456" y="252984"/>
                </a:moveTo>
                <a:lnTo>
                  <a:pt x="496811" y="252984"/>
                </a:lnTo>
                <a:lnTo>
                  <a:pt x="496811" y="280416"/>
                </a:lnTo>
                <a:lnTo>
                  <a:pt x="600456" y="280416"/>
                </a:lnTo>
                <a:lnTo>
                  <a:pt x="600456" y="252984"/>
                </a:lnTo>
                <a:close/>
              </a:path>
              <a:path w="1667510" h="280670">
                <a:moveTo>
                  <a:pt x="777240" y="252984"/>
                </a:moveTo>
                <a:lnTo>
                  <a:pt x="676656" y="252984"/>
                </a:lnTo>
                <a:lnTo>
                  <a:pt x="676656" y="280416"/>
                </a:lnTo>
                <a:lnTo>
                  <a:pt x="777240" y="280416"/>
                </a:lnTo>
                <a:lnTo>
                  <a:pt x="777240" y="252984"/>
                </a:lnTo>
                <a:close/>
              </a:path>
              <a:path w="1667510" h="280670">
                <a:moveTo>
                  <a:pt x="954024" y="252984"/>
                </a:moveTo>
                <a:lnTo>
                  <a:pt x="853440" y="252984"/>
                </a:lnTo>
                <a:lnTo>
                  <a:pt x="853440" y="280416"/>
                </a:lnTo>
                <a:lnTo>
                  <a:pt x="954024" y="280416"/>
                </a:lnTo>
                <a:lnTo>
                  <a:pt x="954024" y="252984"/>
                </a:lnTo>
                <a:close/>
              </a:path>
              <a:path w="1667510" h="280670">
                <a:moveTo>
                  <a:pt x="1133856" y="252984"/>
                </a:moveTo>
                <a:lnTo>
                  <a:pt x="1030224" y="252984"/>
                </a:lnTo>
                <a:lnTo>
                  <a:pt x="1030224" y="280416"/>
                </a:lnTo>
                <a:lnTo>
                  <a:pt x="1133856" y="280416"/>
                </a:lnTo>
                <a:lnTo>
                  <a:pt x="1133856" y="252984"/>
                </a:lnTo>
                <a:close/>
              </a:path>
              <a:path w="1667510" h="280670">
                <a:moveTo>
                  <a:pt x="1310640" y="252984"/>
                </a:moveTo>
                <a:lnTo>
                  <a:pt x="1210056" y="252984"/>
                </a:lnTo>
                <a:lnTo>
                  <a:pt x="1210056" y="280416"/>
                </a:lnTo>
                <a:lnTo>
                  <a:pt x="1310640" y="280416"/>
                </a:lnTo>
                <a:lnTo>
                  <a:pt x="1310640" y="252984"/>
                </a:lnTo>
                <a:close/>
              </a:path>
              <a:path w="1667510" h="280670">
                <a:moveTo>
                  <a:pt x="1487424" y="252984"/>
                </a:moveTo>
                <a:lnTo>
                  <a:pt x="1386840" y="252984"/>
                </a:lnTo>
                <a:lnTo>
                  <a:pt x="1386840" y="280416"/>
                </a:lnTo>
                <a:lnTo>
                  <a:pt x="1487424" y="280416"/>
                </a:lnTo>
                <a:lnTo>
                  <a:pt x="1487424" y="252984"/>
                </a:lnTo>
                <a:close/>
              </a:path>
              <a:path w="1667510" h="280670">
                <a:moveTo>
                  <a:pt x="1667256" y="252984"/>
                </a:moveTo>
                <a:lnTo>
                  <a:pt x="1563624" y="252984"/>
                </a:lnTo>
                <a:lnTo>
                  <a:pt x="1563624" y="280416"/>
                </a:lnTo>
                <a:lnTo>
                  <a:pt x="1667256" y="280416"/>
                </a:lnTo>
                <a:lnTo>
                  <a:pt x="1667256" y="252984"/>
                </a:lnTo>
                <a:close/>
              </a:path>
            </a:pathLst>
          </a:custGeom>
          <a:solidFill>
            <a:srgbClr val="00AFEF"/>
          </a:solidFill>
        </p:spPr>
        <p:txBody>
          <a:bodyPr wrap="square" lIns="0" tIns="0" rIns="0" bIns="0" rtlCol="0"/>
          <a:lstStyle/>
          <a:p>
            <a:endParaRPr sz="1803"/>
          </a:p>
        </p:txBody>
      </p:sp>
      <p:sp>
        <p:nvSpPr>
          <p:cNvPr id="20" name="object 20"/>
          <p:cNvSpPr/>
          <p:nvPr/>
        </p:nvSpPr>
        <p:spPr>
          <a:xfrm>
            <a:off x="2117852" y="3676092"/>
            <a:ext cx="24811" cy="101152"/>
          </a:xfrm>
          <a:custGeom>
            <a:avLst/>
            <a:gdLst/>
            <a:ahLst/>
            <a:cxnLst/>
            <a:rect l="l" t="t" r="r" b="b"/>
            <a:pathLst>
              <a:path w="24765" h="100964">
                <a:moveTo>
                  <a:pt x="24383" y="0"/>
                </a:moveTo>
                <a:lnTo>
                  <a:pt x="0" y="0"/>
                </a:lnTo>
                <a:lnTo>
                  <a:pt x="0" y="100584"/>
                </a:lnTo>
                <a:lnTo>
                  <a:pt x="24383" y="100584"/>
                </a:lnTo>
                <a:lnTo>
                  <a:pt x="24383" y="0"/>
                </a:lnTo>
                <a:close/>
              </a:path>
            </a:pathLst>
          </a:custGeom>
          <a:solidFill>
            <a:srgbClr val="00AFEF"/>
          </a:solidFill>
        </p:spPr>
        <p:txBody>
          <a:bodyPr wrap="square" lIns="0" tIns="0" rIns="0" bIns="0" rtlCol="0"/>
          <a:lstStyle/>
          <a:p>
            <a:endParaRPr sz="1803"/>
          </a:p>
        </p:txBody>
      </p:sp>
      <p:sp>
        <p:nvSpPr>
          <p:cNvPr id="21" name="object 21"/>
          <p:cNvSpPr/>
          <p:nvPr/>
        </p:nvSpPr>
        <p:spPr>
          <a:xfrm>
            <a:off x="2117852" y="3495927"/>
            <a:ext cx="24811" cy="104332"/>
          </a:xfrm>
          <a:custGeom>
            <a:avLst/>
            <a:gdLst/>
            <a:ahLst/>
            <a:cxnLst/>
            <a:rect l="l" t="t" r="r" b="b"/>
            <a:pathLst>
              <a:path w="24765" h="104139">
                <a:moveTo>
                  <a:pt x="24383" y="0"/>
                </a:moveTo>
                <a:lnTo>
                  <a:pt x="0" y="0"/>
                </a:lnTo>
                <a:lnTo>
                  <a:pt x="0" y="103632"/>
                </a:lnTo>
                <a:lnTo>
                  <a:pt x="24383" y="103632"/>
                </a:lnTo>
                <a:lnTo>
                  <a:pt x="24383" y="0"/>
                </a:lnTo>
                <a:close/>
              </a:path>
            </a:pathLst>
          </a:custGeom>
          <a:solidFill>
            <a:srgbClr val="00AFEF"/>
          </a:solidFill>
        </p:spPr>
        <p:txBody>
          <a:bodyPr wrap="square" lIns="0" tIns="0" rIns="0" bIns="0" rtlCol="0"/>
          <a:lstStyle/>
          <a:p>
            <a:endParaRPr sz="1803"/>
          </a:p>
        </p:txBody>
      </p:sp>
      <p:sp>
        <p:nvSpPr>
          <p:cNvPr id="22" name="object 22"/>
          <p:cNvSpPr/>
          <p:nvPr/>
        </p:nvSpPr>
        <p:spPr>
          <a:xfrm>
            <a:off x="2117852" y="3318814"/>
            <a:ext cx="24811" cy="101152"/>
          </a:xfrm>
          <a:custGeom>
            <a:avLst/>
            <a:gdLst/>
            <a:ahLst/>
            <a:cxnLst/>
            <a:rect l="l" t="t" r="r" b="b"/>
            <a:pathLst>
              <a:path w="24765" h="100964">
                <a:moveTo>
                  <a:pt x="24383" y="0"/>
                </a:moveTo>
                <a:lnTo>
                  <a:pt x="0" y="0"/>
                </a:lnTo>
                <a:lnTo>
                  <a:pt x="0" y="100584"/>
                </a:lnTo>
                <a:lnTo>
                  <a:pt x="24383" y="100584"/>
                </a:lnTo>
                <a:lnTo>
                  <a:pt x="24383" y="0"/>
                </a:lnTo>
                <a:close/>
              </a:path>
            </a:pathLst>
          </a:custGeom>
          <a:solidFill>
            <a:srgbClr val="00AFEF"/>
          </a:solidFill>
        </p:spPr>
        <p:txBody>
          <a:bodyPr wrap="square" lIns="0" tIns="0" rIns="0" bIns="0" rtlCol="0"/>
          <a:lstStyle/>
          <a:p>
            <a:endParaRPr sz="1803"/>
          </a:p>
        </p:txBody>
      </p:sp>
      <p:sp>
        <p:nvSpPr>
          <p:cNvPr id="23" name="object 23"/>
          <p:cNvSpPr/>
          <p:nvPr/>
        </p:nvSpPr>
        <p:spPr>
          <a:xfrm>
            <a:off x="2127012" y="3114218"/>
            <a:ext cx="595463" cy="134870"/>
          </a:xfrm>
          <a:custGeom>
            <a:avLst/>
            <a:gdLst/>
            <a:ahLst/>
            <a:cxnLst/>
            <a:rect l="l" t="t" r="r" b="b"/>
            <a:pathLst>
              <a:path w="594360" h="134619">
                <a:moveTo>
                  <a:pt x="60959" y="36575"/>
                </a:moveTo>
                <a:lnTo>
                  <a:pt x="30479" y="67056"/>
                </a:lnTo>
                <a:lnTo>
                  <a:pt x="21335" y="79248"/>
                </a:lnTo>
                <a:lnTo>
                  <a:pt x="3047" y="109727"/>
                </a:lnTo>
                <a:lnTo>
                  <a:pt x="0" y="124968"/>
                </a:lnTo>
                <a:lnTo>
                  <a:pt x="21335" y="134112"/>
                </a:lnTo>
                <a:lnTo>
                  <a:pt x="27431" y="118872"/>
                </a:lnTo>
                <a:lnTo>
                  <a:pt x="33528" y="106680"/>
                </a:lnTo>
                <a:lnTo>
                  <a:pt x="42671" y="91439"/>
                </a:lnTo>
                <a:lnTo>
                  <a:pt x="51815" y="82296"/>
                </a:lnTo>
                <a:lnTo>
                  <a:pt x="60959" y="70103"/>
                </a:lnTo>
                <a:lnTo>
                  <a:pt x="73151" y="60960"/>
                </a:lnTo>
                <a:lnTo>
                  <a:pt x="76200" y="57912"/>
                </a:lnTo>
                <a:lnTo>
                  <a:pt x="60959" y="36575"/>
                </a:lnTo>
                <a:close/>
              </a:path>
              <a:path w="594360" h="134619">
                <a:moveTo>
                  <a:pt x="237744" y="0"/>
                </a:moveTo>
                <a:lnTo>
                  <a:pt x="167639" y="0"/>
                </a:lnTo>
                <a:lnTo>
                  <a:pt x="149351" y="3048"/>
                </a:lnTo>
                <a:lnTo>
                  <a:pt x="134111" y="3048"/>
                </a:lnTo>
                <a:lnTo>
                  <a:pt x="140208" y="30480"/>
                </a:lnTo>
                <a:lnTo>
                  <a:pt x="152400" y="27432"/>
                </a:lnTo>
                <a:lnTo>
                  <a:pt x="237744" y="27432"/>
                </a:lnTo>
                <a:lnTo>
                  <a:pt x="237744" y="0"/>
                </a:lnTo>
                <a:close/>
              </a:path>
              <a:path w="594360" h="134619">
                <a:moveTo>
                  <a:pt x="417575" y="0"/>
                </a:moveTo>
                <a:lnTo>
                  <a:pt x="313944" y="0"/>
                </a:lnTo>
                <a:lnTo>
                  <a:pt x="313944" y="27432"/>
                </a:lnTo>
                <a:lnTo>
                  <a:pt x="417575" y="27432"/>
                </a:lnTo>
                <a:lnTo>
                  <a:pt x="417575" y="0"/>
                </a:lnTo>
                <a:close/>
              </a:path>
              <a:path w="594360" h="134619">
                <a:moveTo>
                  <a:pt x="594360" y="0"/>
                </a:moveTo>
                <a:lnTo>
                  <a:pt x="493775" y="0"/>
                </a:lnTo>
                <a:lnTo>
                  <a:pt x="493775" y="27432"/>
                </a:lnTo>
                <a:lnTo>
                  <a:pt x="594360" y="27432"/>
                </a:lnTo>
                <a:lnTo>
                  <a:pt x="594360" y="0"/>
                </a:lnTo>
                <a:close/>
              </a:path>
            </a:pathLst>
          </a:custGeom>
          <a:solidFill>
            <a:srgbClr val="00AFEF"/>
          </a:solidFill>
        </p:spPr>
        <p:txBody>
          <a:bodyPr wrap="square" lIns="0" tIns="0" rIns="0" bIns="0" rtlCol="0"/>
          <a:lstStyle/>
          <a:p>
            <a:endParaRPr sz="1803"/>
          </a:p>
        </p:txBody>
      </p:sp>
      <p:sp>
        <p:nvSpPr>
          <p:cNvPr id="24" name="object 24"/>
          <p:cNvSpPr/>
          <p:nvPr/>
        </p:nvSpPr>
        <p:spPr>
          <a:xfrm>
            <a:off x="2798816" y="3127960"/>
            <a:ext cx="1349970" cy="0"/>
          </a:xfrm>
          <a:custGeom>
            <a:avLst/>
            <a:gdLst/>
            <a:ahLst/>
            <a:cxnLst/>
            <a:rect l="l" t="t" r="r" b="b"/>
            <a:pathLst>
              <a:path w="1347470">
                <a:moveTo>
                  <a:pt x="0" y="0"/>
                </a:moveTo>
                <a:lnTo>
                  <a:pt x="1347216" y="0"/>
                </a:lnTo>
              </a:path>
            </a:pathLst>
          </a:custGeom>
          <a:ln w="27432">
            <a:solidFill>
              <a:srgbClr val="00AFEF"/>
            </a:solidFill>
            <a:prstDash val="sysDash"/>
          </a:ln>
        </p:spPr>
        <p:txBody>
          <a:bodyPr wrap="square" lIns="0" tIns="0" rIns="0" bIns="0" rtlCol="0"/>
          <a:lstStyle/>
          <a:p>
            <a:endParaRPr sz="1803"/>
          </a:p>
        </p:txBody>
      </p:sp>
      <p:sp>
        <p:nvSpPr>
          <p:cNvPr id="25" name="object 25"/>
          <p:cNvSpPr/>
          <p:nvPr/>
        </p:nvSpPr>
        <p:spPr>
          <a:xfrm>
            <a:off x="4224874" y="3114218"/>
            <a:ext cx="437054" cy="296459"/>
          </a:xfrm>
          <a:custGeom>
            <a:avLst/>
            <a:gdLst/>
            <a:ahLst/>
            <a:cxnLst/>
            <a:rect l="l" t="t" r="r" b="b"/>
            <a:pathLst>
              <a:path w="436244" h="295910">
                <a:moveTo>
                  <a:pt x="100584" y="0"/>
                </a:moveTo>
                <a:lnTo>
                  <a:pt x="0" y="0"/>
                </a:lnTo>
                <a:lnTo>
                  <a:pt x="0" y="27432"/>
                </a:lnTo>
                <a:lnTo>
                  <a:pt x="100584" y="27432"/>
                </a:lnTo>
                <a:lnTo>
                  <a:pt x="100584" y="0"/>
                </a:lnTo>
                <a:close/>
              </a:path>
              <a:path w="436244" h="295910">
                <a:moveTo>
                  <a:pt x="259080" y="0"/>
                </a:moveTo>
                <a:lnTo>
                  <a:pt x="176784" y="0"/>
                </a:lnTo>
                <a:lnTo>
                  <a:pt x="176784" y="27432"/>
                </a:lnTo>
                <a:lnTo>
                  <a:pt x="277368" y="27432"/>
                </a:lnTo>
                <a:lnTo>
                  <a:pt x="280416" y="3048"/>
                </a:lnTo>
                <a:lnTo>
                  <a:pt x="277368" y="3048"/>
                </a:lnTo>
                <a:lnTo>
                  <a:pt x="259080" y="0"/>
                </a:lnTo>
                <a:close/>
              </a:path>
              <a:path w="436244" h="295910">
                <a:moveTo>
                  <a:pt x="356616" y="30480"/>
                </a:moveTo>
                <a:lnTo>
                  <a:pt x="344424" y="51815"/>
                </a:lnTo>
                <a:lnTo>
                  <a:pt x="356616" y="60960"/>
                </a:lnTo>
                <a:lnTo>
                  <a:pt x="377951" y="82296"/>
                </a:lnTo>
                <a:lnTo>
                  <a:pt x="384048" y="94487"/>
                </a:lnTo>
                <a:lnTo>
                  <a:pt x="393192" y="106680"/>
                </a:lnTo>
                <a:lnTo>
                  <a:pt x="399288" y="118872"/>
                </a:lnTo>
                <a:lnTo>
                  <a:pt x="399288" y="121920"/>
                </a:lnTo>
                <a:lnTo>
                  <a:pt x="423672" y="115824"/>
                </a:lnTo>
                <a:lnTo>
                  <a:pt x="423672" y="109727"/>
                </a:lnTo>
                <a:lnTo>
                  <a:pt x="396239" y="64008"/>
                </a:lnTo>
                <a:lnTo>
                  <a:pt x="384048" y="51815"/>
                </a:lnTo>
                <a:lnTo>
                  <a:pt x="371856" y="42672"/>
                </a:lnTo>
                <a:lnTo>
                  <a:pt x="356616" y="30480"/>
                </a:lnTo>
                <a:close/>
              </a:path>
              <a:path w="436244" h="295910">
                <a:moveTo>
                  <a:pt x="435863" y="192024"/>
                </a:moveTo>
                <a:lnTo>
                  <a:pt x="411480" y="192024"/>
                </a:lnTo>
                <a:lnTo>
                  <a:pt x="411480" y="295656"/>
                </a:lnTo>
                <a:lnTo>
                  <a:pt x="435863" y="295656"/>
                </a:lnTo>
                <a:lnTo>
                  <a:pt x="435863" y="192024"/>
                </a:lnTo>
                <a:close/>
              </a:path>
            </a:pathLst>
          </a:custGeom>
          <a:solidFill>
            <a:srgbClr val="00AFEF"/>
          </a:solidFill>
        </p:spPr>
        <p:txBody>
          <a:bodyPr wrap="square" lIns="0" tIns="0" rIns="0" bIns="0" rtlCol="0"/>
          <a:lstStyle/>
          <a:p>
            <a:endParaRPr sz="1803"/>
          </a:p>
        </p:txBody>
      </p:sp>
      <p:sp>
        <p:nvSpPr>
          <p:cNvPr id="26" name="object 26"/>
          <p:cNvSpPr/>
          <p:nvPr/>
        </p:nvSpPr>
        <p:spPr>
          <a:xfrm>
            <a:off x="4563829" y="3486765"/>
            <a:ext cx="97971" cy="620274"/>
          </a:xfrm>
          <a:custGeom>
            <a:avLst/>
            <a:gdLst/>
            <a:ahLst/>
            <a:cxnLst/>
            <a:rect l="l" t="t" r="r" b="b"/>
            <a:pathLst>
              <a:path w="97789" h="619125">
                <a:moveTo>
                  <a:pt x="97535" y="0"/>
                </a:moveTo>
                <a:lnTo>
                  <a:pt x="73151" y="0"/>
                </a:lnTo>
                <a:lnTo>
                  <a:pt x="73151" y="100583"/>
                </a:lnTo>
                <a:lnTo>
                  <a:pt x="97535" y="100583"/>
                </a:lnTo>
                <a:lnTo>
                  <a:pt x="97535" y="0"/>
                </a:lnTo>
                <a:close/>
              </a:path>
              <a:path w="97789" h="619125">
                <a:moveTo>
                  <a:pt x="97535" y="176783"/>
                </a:moveTo>
                <a:lnTo>
                  <a:pt x="73151" y="176783"/>
                </a:lnTo>
                <a:lnTo>
                  <a:pt x="73151" y="277367"/>
                </a:lnTo>
                <a:lnTo>
                  <a:pt x="97535" y="277367"/>
                </a:lnTo>
                <a:lnTo>
                  <a:pt x="97535" y="176783"/>
                </a:lnTo>
                <a:close/>
              </a:path>
              <a:path w="97789" h="619125">
                <a:moveTo>
                  <a:pt x="97535" y="353567"/>
                </a:moveTo>
                <a:lnTo>
                  <a:pt x="73151" y="353567"/>
                </a:lnTo>
                <a:lnTo>
                  <a:pt x="73151" y="457199"/>
                </a:lnTo>
                <a:lnTo>
                  <a:pt x="97535" y="457199"/>
                </a:lnTo>
                <a:lnTo>
                  <a:pt x="97535" y="353567"/>
                </a:lnTo>
                <a:close/>
              </a:path>
              <a:path w="97789" h="619125">
                <a:moveTo>
                  <a:pt x="60959" y="527303"/>
                </a:moveTo>
                <a:lnTo>
                  <a:pt x="27431" y="576071"/>
                </a:lnTo>
                <a:lnTo>
                  <a:pt x="0" y="597407"/>
                </a:lnTo>
                <a:lnTo>
                  <a:pt x="15239" y="618743"/>
                </a:lnTo>
                <a:lnTo>
                  <a:pt x="21335" y="615695"/>
                </a:lnTo>
                <a:lnTo>
                  <a:pt x="57911" y="579119"/>
                </a:lnTo>
                <a:lnTo>
                  <a:pt x="67056" y="566927"/>
                </a:lnTo>
                <a:lnTo>
                  <a:pt x="85343" y="536447"/>
                </a:lnTo>
                <a:lnTo>
                  <a:pt x="60959" y="527303"/>
                </a:lnTo>
                <a:close/>
              </a:path>
            </a:pathLst>
          </a:custGeom>
          <a:solidFill>
            <a:srgbClr val="00AFEF"/>
          </a:solidFill>
        </p:spPr>
        <p:txBody>
          <a:bodyPr wrap="square" lIns="0" tIns="0" rIns="0" bIns="0" rtlCol="0"/>
          <a:lstStyle/>
          <a:p>
            <a:endParaRPr sz="1803"/>
          </a:p>
        </p:txBody>
      </p:sp>
      <p:sp>
        <p:nvSpPr>
          <p:cNvPr id="27" name="object 27"/>
          <p:cNvSpPr/>
          <p:nvPr/>
        </p:nvSpPr>
        <p:spPr>
          <a:xfrm>
            <a:off x="3864541" y="4106657"/>
            <a:ext cx="635542" cy="27992"/>
          </a:xfrm>
          <a:custGeom>
            <a:avLst/>
            <a:gdLst/>
            <a:ahLst/>
            <a:cxnLst/>
            <a:rect l="l" t="t" r="r" b="b"/>
            <a:pathLst>
              <a:path w="634364" h="27939">
                <a:moveTo>
                  <a:pt x="633983" y="0"/>
                </a:moveTo>
                <a:lnTo>
                  <a:pt x="533400" y="0"/>
                </a:lnTo>
                <a:lnTo>
                  <a:pt x="533400" y="27431"/>
                </a:lnTo>
                <a:lnTo>
                  <a:pt x="618744" y="27431"/>
                </a:lnTo>
                <a:lnTo>
                  <a:pt x="633983" y="24384"/>
                </a:lnTo>
                <a:lnTo>
                  <a:pt x="633983" y="0"/>
                </a:lnTo>
                <a:close/>
              </a:path>
              <a:path w="634364" h="27939">
                <a:moveTo>
                  <a:pt x="457200" y="0"/>
                </a:moveTo>
                <a:lnTo>
                  <a:pt x="353568" y="0"/>
                </a:lnTo>
                <a:lnTo>
                  <a:pt x="353568" y="27431"/>
                </a:lnTo>
                <a:lnTo>
                  <a:pt x="457200" y="27431"/>
                </a:lnTo>
                <a:lnTo>
                  <a:pt x="457200" y="0"/>
                </a:lnTo>
                <a:close/>
              </a:path>
              <a:path w="634364" h="27939">
                <a:moveTo>
                  <a:pt x="277368" y="0"/>
                </a:moveTo>
                <a:lnTo>
                  <a:pt x="176783" y="0"/>
                </a:lnTo>
                <a:lnTo>
                  <a:pt x="176783" y="27431"/>
                </a:lnTo>
                <a:lnTo>
                  <a:pt x="277368" y="27431"/>
                </a:lnTo>
                <a:lnTo>
                  <a:pt x="277368" y="0"/>
                </a:lnTo>
                <a:close/>
              </a:path>
              <a:path w="634364" h="27939">
                <a:moveTo>
                  <a:pt x="100583" y="0"/>
                </a:moveTo>
                <a:lnTo>
                  <a:pt x="0" y="0"/>
                </a:lnTo>
                <a:lnTo>
                  <a:pt x="0" y="27431"/>
                </a:lnTo>
                <a:lnTo>
                  <a:pt x="100583" y="27431"/>
                </a:lnTo>
                <a:lnTo>
                  <a:pt x="100583" y="0"/>
                </a:lnTo>
                <a:close/>
              </a:path>
            </a:pathLst>
          </a:custGeom>
          <a:solidFill>
            <a:srgbClr val="00AFEF"/>
          </a:solidFill>
        </p:spPr>
        <p:txBody>
          <a:bodyPr wrap="square" lIns="0" tIns="0" rIns="0" bIns="0" rtlCol="0"/>
          <a:lstStyle/>
          <a:p>
            <a:endParaRPr sz="1803"/>
          </a:p>
        </p:txBody>
      </p:sp>
      <p:sp>
        <p:nvSpPr>
          <p:cNvPr id="28" name="object 28"/>
          <p:cNvSpPr/>
          <p:nvPr/>
        </p:nvSpPr>
        <p:spPr>
          <a:xfrm>
            <a:off x="2191138" y="4512793"/>
            <a:ext cx="2012867" cy="940907"/>
          </a:xfrm>
          <a:custGeom>
            <a:avLst/>
            <a:gdLst/>
            <a:ahLst/>
            <a:cxnLst/>
            <a:rect l="l" t="t" r="r" b="b"/>
            <a:pathLst>
              <a:path w="2009139" h="939164">
                <a:moveTo>
                  <a:pt x="27431" y="670559"/>
                </a:moveTo>
                <a:lnTo>
                  <a:pt x="0" y="670559"/>
                </a:lnTo>
                <a:lnTo>
                  <a:pt x="0" y="774191"/>
                </a:lnTo>
                <a:lnTo>
                  <a:pt x="3048" y="792479"/>
                </a:lnTo>
                <a:lnTo>
                  <a:pt x="27431" y="789432"/>
                </a:lnTo>
                <a:lnTo>
                  <a:pt x="27431" y="670559"/>
                </a:lnTo>
                <a:close/>
              </a:path>
              <a:path w="2009139" h="939164">
                <a:moveTo>
                  <a:pt x="27431" y="493775"/>
                </a:moveTo>
                <a:lnTo>
                  <a:pt x="0" y="493775"/>
                </a:lnTo>
                <a:lnTo>
                  <a:pt x="0" y="594359"/>
                </a:lnTo>
                <a:lnTo>
                  <a:pt x="27431" y="594359"/>
                </a:lnTo>
                <a:lnTo>
                  <a:pt x="27431" y="493775"/>
                </a:lnTo>
                <a:close/>
              </a:path>
              <a:path w="2009139" h="939164">
                <a:moveTo>
                  <a:pt x="27431" y="316991"/>
                </a:moveTo>
                <a:lnTo>
                  <a:pt x="0" y="316991"/>
                </a:lnTo>
                <a:lnTo>
                  <a:pt x="0" y="417575"/>
                </a:lnTo>
                <a:lnTo>
                  <a:pt x="27431" y="417575"/>
                </a:lnTo>
                <a:lnTo>
                  <a:pt x="27431" y="316991"/>
                </a:lnTo>
                <a:close/>
              </a:path>
              <a:path w="2009139" h="939164">
                <a:moveTo>
                  <a:pt x="3048" y="137159"/>
                </a:moveTo>
                <a:lnTo>
                  <a:pt x="3048" y="146303"/>
                </a:lnTo>
                <a:lnTo>
                  <a:pt x="0" y="164591"/>
                </a:lnTo>
                <a:lnTo>
                  <a:pt x="0" y="240791"/>
                </a:lnTo>
                <a:lnTo>
                  <a:pt x="27431" y="240791"/>
                </a:lnTo>
                <a:lnTo>
                  <a:pt x="27431" y="140207"/>
                </a:lnTo>
                <a:lnTo>
                  <a:pt x="3048" y="137159"/>
                </a:lnTo>
                <a:close/>
              </a:path>
              <a:path w="2009139" h="939164">
                <a:moveTo>
                  <a:pt x="128015" y="3047"/>
                </a:moveTo>
                <a:lnTo>
                  <a:pt x="115823" y="6095"/>
                </a:lnTo>
                <a:lnTo>
                  <a:pt x="85343" y="18287"/>
                </a:lnTo>
                <a:lnTo>
                  <a:pt x="73151" y="27431"/>
                </a:lnTo>
                <a:lnTo>
                  <a:pt x="51815" y="45719"/>
                </a:lnTo>
                <a:lnTo>
                  <a:pt x="48767" y="45719"/>
                </a:lnTo>
                <a:lnTo>
                  <a:pt x="48767" y="48768"/>
                </a:lnTo>
                <a:lnTo>
                  <a:pt x="36575" y="60959"/>
                </a:lnTo>
                <a:lnTo>
                  <a:pt x="57911" y="79247"/>
                </a:lnTo>
                <a:lnTo>
                  <a:pt x="67056" y="64007"/>
                </a:lnTo>
                <a:lnTo>
                  <a:pt x="70612" y="64007"/>
                </a:lnTo>
                <a:lnTo>
                  <a:pt x="88392" y="48768"/>
                </a:lnTo>
                <a:lnTo>
                  <a:pt x="100584" y="39624"/>
                </a:lnTo>
                <a:lnTo>
                  <a:pt x="112775" y="33527"/>
                </a:lnTo>
                <a:lnTo>
                  <a:pt x="124967" y="30480"/>
                </a:lnTo>
                <a:lnTo>
                  <a:pt x="134111" y="27431"/>
                </a:lnTo>
                <a:lnTo>
                  <a:pt x="128015" y="3047"/>
                </a:lnTo>
                <a:close/>
              </a:path>
              <a:path w="2009139" h="939164">
                <a:moveTo>
                  <a:pt x="70612" y="64007"/>
                </a:moveTo>
                <a:lnTo>
                  <a:pt x="67056" y="64007"/>
                </a:lnTo>
                <a:lnTo>
                  <a:pt x="67056" y="67056"/>
                </a:lnTo>
                <a:lnTo>
                  <a:pt x="70612" y="64007"/>
                </a:lnTo>
                <a:close/>
              </a:path>
              <a:path w="2009139" h="939164">
                <a:moveTo>
                  <a:pt x="307848" y="0"/>
                </a:moveTo>
                <a:lnTo>
                  <a:pt x="207264" y="0"/>
                </a:lnTo>
                <a:lnTo>
                  <a:pt x="207264" y="24383"/>
                </a:lnTo>
                <a:lnTo>
                  <a:pt x="307848" y="24383"/>
                </a:lnTo>
                <a:lnTo>
                  <a:pt x="307848" y="0"/>
                </a:lnTo>
                <a:close/>
              </a:path>
              <a:path w="2009139" h="939164">
                <a:moveTo>
                  <a:pt x="484632" y="0"/>
                </a:moveTo>
                <a:lnTo>
                  <a:pt x="384048" y="0"/>
                </a:lnTo>
                <a:lnTo>
                  <a:pt x="384048" y="24383"/>
                </a:lnTo>
                <a:lnTo>
                  <a:pt x="484632" y="24383"/>
                </a:lnTo>
                <a:lnTo>
                  <a:pt x="484632" y="0"/>
                </a:lnTo>
                <a:close/>
              </a:path>
              <a:path w="2009139" h="939164">
                <a:moveTo>
                  <a:pt x="664464" y="0"/>
                </a:moveTo>
                <a:lnTo>
                  <a:pt x="560832" y="0"/>
                </a:lnTo>
                <a:lnTo>
                  <a:pt x="560832" y="24383"/>
                </a:lnTo>
                <a:lnTo>
                  <a:pt x="664464" y="24383"/>
                </a:lnTo>
                <a:lnTo>
                  <a:pt x="664464" y="0"/>
                </a:lnTo>
                <a:close/>
              </a:path>
              <a:path w="2009139" h="939164">
                <a:moveTo>
                  <a:pt x="841248" y="0"/>
                </a:moveTo>
                <a:lnTo>
                  <a:pt x="740664" y="0"/>
                </a:lnTo>
                <a:lnTo>
                  <a:pt x="740664" y="24383"/>
                </a:lnTo>
                <a:lnTo>
                  <a:pt x="841248" y="24383"/>
                </a:lnTo>
                <a:lnTo>
                  <a:pt x="841248" y="0"/>
                </a:lnTo>
                <a:close/>
              </a:path>
              <a:path w="2009139" h="939164">
                <a:moveTo>
                  <a:pt x="1018032" y="0"/>
                </a:moveTo>
                <a:lnTo>
                  <a:pt x="917448" y="0"/>
                </a:lnTo>
                <a:lnTo>
                  <a:pt x="917448" y="24383"/>
                </a:lnTo>
                <a:lnTo>
                  <a:pt x="1018032" y="24383"/>
                </a:lnTo>
                <a:lnTo>
                  <a:pt x="1018032" y="0"/>
                </a:lnTo>
                <a:close/>
              </a:path>
              <a:path w="2009139" h="939164">
                <a:moveTo>
                  <a:pt x="1197864" y="0"/>
                </a:moveTo>
                <a:lnTo>
                  <a:pt x="1094232" y="0"/>
                </a:lnTo>
                <a:lnTo>
                  <a:pt x="1094232" y="24383"/>
                </a:lnTo>
                <a:lnTo>
                  <a:pt x="1197864" y="24383"/>
                </a:lnTo>
                <a:lnTo>
                  <a:pt x="1197864" y="0"/>
                </a:lnTo>
                <a:close/>
              </a:path>
              <a:path w="2009139" h="939164">
                <a:moveTo>
                  <a:pt x="1374648" y="0"/>
                </a:moveTo>
                <a:lnTo>
                  <a:pt x="1274064" y="0"/>
                </a:lnTo>
                <a:lnTo>
                  <a:pt x="1274064" y="24383"/>
                </a:lnTo>
                <a:lnTo>
                  <a:pt x="1374648" y="24383"/>
                </a:lnTo>
                <a:lnTo>
                  <a:pt x="1374648" y="0"/>
                </a:lnTo>
                <a:close/>
              </a:path>
              <a:path w="2009139" h="939164">
                <a:moveTo>
                  <a:pt x="1551432" y="0"/>
                </a:moveTo>
                <a:lnTo>
                  <a:pt x="1450848" y="0"/>
                </a:lnTo>
                <a:lnTo>
                  <a:pt x="1450848" y="24383"/>
                </a:lnTo>
                <a:lnTo>
                  <a:pt x="1551432" y="24383"/>
                </a:lnTo>
                <a:lnTo>
                  <a:pt x="1551432" y="0"/>
                </a:lnTo>
                <a:close/>
              </a:path>
              <a:path w="2009139" h="939164">
                <a:moveTo>
                  <a:pt x="1731264" y="0"/>
                </a:moveTo>
                <a:lnTo>
                  <a:pt x="1627632" y="0"/>
                </a:lnTo>
                <a:lnTo>
                  <a:pt x="1627632" y="24383"/>
                </a:lnTo>
                <a:lnTo>
                  <a:pt x="1731264" y="24383"/>
                </a:lnTo>
                <a:lnTo>
                  <a:pt x="1731264" y="0"/>
                </a:lnTo>
                <a:close/>
              </a:path>
              <a:path w="2009139" h="939164">
                <a:moveTo>
                  <a:pt x="1859280" y="0"/>
                </a:moveTo>
                <a:lnTo>
                  <a:pt x="1807464" y="0"/>
                </a:lnTo>
                <a:lnTo>
                  <a:pt x="1807464" y="24383"/>
                </a:lnTo>
                <a:lnTo>
                  <a:pt x="1856232" y="24383"/>
                </a:lnTo>
                <a:lnTo>
                  <a:pt x="1871472" y="27431"/>
                </a:lnTo>
                <a:lnTo>
                  <a:pt x="1883664" y="30480"/>
                </a:lnTo>
                <a:lnTo>
                  <a:pt x="1895856" y="36575"/>
                </a:lnTo>
                <a:lnTo>
                  <a:pt x="1898904" y="36575"/>
                </a:lnTo>
                <a:lnTo>
                  <a:pt x="1911096" y="15239"/>
                </a:lnTo>
                <a:lnTo>
                  <a:pt x="1905000" y="12191"/>
                </a:lnTo>
                <a:lnTo>
                  <a:pt x="1889760" y="6095"/>
                </a:lnTo>
                <a:lnTo>
                  <a:pt x="1859280" y="0"/>
                </a:lnTo>
                <a:close/>
              </a:path>
              <a:path w="2009139" h="939164">
                <a:moveTo>
                  <a:pt x="1975104" y="64007"/>
                </a:moveTo>
                <a:lnTo>
                  <a:pt x="1953768" y="82295"/>
                </a:lnTo>
                <a:lnTo>
                  <a:pt x="1959864" y="85343"/>
                </a:lnTo>
                <a:lnTo>
                  <a:pt x="1972056" y="109727"/>
                </a:lnTo>
                <a:lnTo>
                  <a:pt x="1975104" y="121919"/>
                </a:lnTo>
                <a:lnTo>
                  <a:pt x="1978152" y="137159"/>
                </a:lnTo>
                <a:lnTo>
                  <a:pt x="1981200" y="149351"/>
                </a:lnTo>
                <a:lnTo>
                  <a:pt x="1981200" y="167639"/>
                </a:lnTo>
                <a:lnTo>
                  <a:pt x="2008632" y="167639"/>
                </a:lnTo>
                <a:lnTo>
                  <a:pt x="2008632" y="164591"/>
                </a:lnTo>
                <a:lnTo>
                  <a:pt x="2005584" y="146303"/>
                </a:lnTo>
                <a:lnTo>
                  <a:pt x="2005584" y="131063"/>
                </a:lnTo>
                <a:lnTo>
                  <a:pt x="1999488" y="112775"/>
                </a:lnTo>
                <a:lnTo>
                  <a:pt x="1993392" y="100583"/>
                </a:lnTo>
                <a:lnTo>
                  <a:pt x="1987296" y="85343"/>
                </a:lnTo>
                <a:lnTo>
                  <a:pt x="1978152" y="70103"/>
                </a:lnTo>
                <a:lnTo>
                  <a:pt x="1975104" y="64007"/>
                </a:lnTo>
                <a:close/>
              </a:path>
              <a:path w="2009139" h="939164">
                <a:moveTo>
                  <a:pt x="2008632" y="243839"/>
                </a:moveTo>
                <a:lnTo>
                  <a:pt x="1981200" y="243839"/>
                </a:lnTo>
                <a:lnTo>
                  <a:pt x="1981200" y="344424"/>
                </a:lnTo>
                <a:lnTo>
                  <a:pt x="2008632" y="344424"/>
                </a:lnTo>
                <a:lnTo>
                  <a:pt x="2008632" y="243839"/>
                </a:lnTo>
                <a:close/>
              </a:path>
              <a:path w="2009139" h="939164">
                <a:moveTo>
                  <a:pt x="2008632" y="420624"/>
                </a:moveTo>
                <a:lnTo>
                  <a:pt x="1981200" y="420624"/>
                </a:lnTo>
                <a:lnTo>
                  <a:pt x="1981200" y="524256"/>
                </a:lnTo>
                <a:lnTo>
                  <a:pt x="2008632" y="524256"/>
                </a:lnTo>
                <a:lnTo>
                  <a:pt x="2008632" y="420624"/>
                </a:lnTo>
                <a:close/>
              </a:path>
              <a:path w="2009139" h="939164">
                <a:moveTo>
                  <a:pt x="2008632" y="600456"/>
                </a:moveTo>
                <a:lnTo>
                  <a:pt x="1981200" y="600456"/>
                </a:lnTo>
                <a:lnTo>
                  <a:pt x="1981200" y="701039"/>
                </a:lnTo>
                <a:lnTo>
                  <a:pt x="2008632" y="701039"/>
                </a:lnTo>
                <a:lnTo>
                  <a:pt x="2008632" y="600456"/>
                </a:lnTo>
                <a:close/>
              </a:path>
              <a:path w="2009139" h="939164">
                <a:moveTo>
                  <a:pt x="2008632" y="777239"/>
                </a:moveTo>
                <a:lnTo>
                  <a:pt x="1981200" y="777239"/>
                </a:lnTo>
                <a:lnTo>
                  <a:pt x="1981200" y="789432"/>
                </a:lnTo>
                <a:lnTo>
                  <a:pt x="1978152" y="801623"/>
                </a:lnTo>
                <a:lnTo>
                  <a:pt x="1965960" y="841247"/>
                </a:lnTo>
                <a:lnTo>
                  <a:pt x="1947672" y="862583"/>
                </a:lnTo>
                <a:lnTo>
                  <a:pt x="1969008" y="877823"/>
                </a:lnTo>
                <a:lnTo>
                  <a:pt x="1993392" y="838200"/>
                </a:lnTo>
                <a:lnTo>
                  <a:pt x="2005584" y="804672"/>
                </a:lnTo>
                <a:lnTo>
                  <a:pt x="2005584" y="789432"/>
                </a:lnTo>
                <a:lnTo>
                  <a:pt x="2008632" y="777239"/>
                </a:lnTo>
                <a:close/>
              </a:path>
              <a:path w="2009139" h="939164">
                <a:moveTo>
                  <a:pt x="1892808" y="902207"/>
                </a:moveTo>
                <a:lnTo>
                  <a:pt x="1883664" y="908304"/>
                </a:lnTo>
                <a:lnTo>
                  <a:pt x="1868424" y="911351"/>
                </a:lnTo>
                <a:lnTo>
                  <a:pt x="1856232" y="911351"/>
                </a:lnTo>
                <a:lnTo>
                  <a:pt x="1840992" y="914400"/>
                </a:lnTo>
                <a:lnTo>
                  <a:pt x="1798320" y="914400"/>
                </a:lnTo>
                <a:lnTo>
                  <a:pt x="1798320" y="938783"/>
                </a:lnTo>
                <a:lnTo>
                  <a:pt x="1859280" y="938783"/>
                </a:lnTo>
                <a:lnTo>
                  <a:pt x="1877568" y="935735"/>
                </a:lnTo>
                <a:lnTo>
                  <a:pt x="1892808" y="929639"/>
                </a:lnTo>
                <a:lnTo>
                  <a:pt x="1901952" y="926591"/>
                </a:lnTo>
                <a:lnTo>
                  <a:pt x="1892808" y="902207"/>
                </a:lnTo>
                <a:close/>
              </a:path>
              <a:path w="2009139" h="939164">
                <a:moveTo>
                  <a:pt x="1722120" y="914400"/>
                </a:moveTo>
                <a:lnTo>
                  <a:pt x="1621536" y="914400"/>
                </a:lnTo>
                <a:lnTo>
                  <a:pt x="1621536" y="938783"/>
                </a:lnTo>
                <a:lnTo>
                  <a:pt x="1722120" y="938783"/>
                </a:lnTo>
                <a:lnTo>
                  <a:pt x="1722120" y="914400"/>
                </a:lnTo>
                <a:close/>
              </a:path>
              <a:path w="2009139" h="939164">
                <a:moveTo>
                  <a:pt x="1545336" y="914400"/>
                </a:moveTo>
                <a:lnTo>
                  <a:pt x="1441704" y="914400"/>
                </a:lnTo>
                <a:lnTo>
                  <a:pt x="1441704" y="938783"/>
                </a:lnTo>
                <a:lnTo>
                  <a:pt x="1545336" y="938783"/>
                </a:lnTo>
                <a:lnTo>
                  <a:pt x="1545336" y="914400"/>
                </a:lnTo>
                <a:close/>
              </a:path>
              <a:path w="2009139" h="939164">
                <a:moveTo>
                  <a:pt x="1365504" y="914400"/>
                </a:moveTo>
                <a:lnTo>
                  <a:pt x="1264920" y="914400"/>
                </a:lnTo>
                <a:lnTo>
                  <a:pt x="1264920" y="938783"/>
                </a:lnTo>
                <a:lnTo>
                  <a:pt x="1365504" y="938783"/>
                </a:lnTo>
                <a:lnTo>
                  <a:pt x="1365504" y="914400"/>
                </a:lnTo>
                <a:close/>
              </a:path>
              <a:path w="2009139" h="939164">
                <a:moveTo>
                  <a:pt x="1188720" y="914400"/>
                </a:moveTo>
                <a:lnTo>
                  <a:pt x="1088136" y="914400"/>
                </a:lnTo>
                <a:lnTo>
                  <a:pt x="1088136" y="938783"/>
                </a:lnTo>
                <a:lnTo>
                  <a:pt x="1188720" y="938783"/>
                </a:lnTo>
                <a:lnTo>
                  <a:pt x="1188720" y="914400"/>
                </a:lnTo>
                <a:close/>
              </a:path>
              <a:path w="2009139" h="939164">
                <a:moveTo>
                  <a:pt x="1011936" y="914400"/>
                </a:moveTo>
                <a:lnTo>
                  <a:pt x="908304" y="914400"/>
                </a:lnTo>
                <a:lnTo>
                  <a:pt x="908304" y="938783"/>
                </a:lnTo>
                <a:lnTo>
                  <a:pt x="1011936" y="938783"/>
                </a:lnTo>
                <a:lnTo>
                  <a:pt x="1011936" y="914400"/>
                </a:lnTo>
                <a:close/>
              </a:path>
              <a:path w="2009139" h="939164">
                <a:moveTo>
                  <a:pt x="832104" y="914400"/>
                </a:moveTo>
                <a:lnTo>
                  <a:pt x="731520" y="914400"/>
                </a:lnTo>
                <a:lnTo>
                  <a:pt x="731520" y="938783"/>
                </a:lnTo>
                <a:lnTo>
                  <a:pt x="832104" y="938783"/>
                </a:lnTo>
                <a:lnTo>
                  <a:pt x="832104" y="914400"/>
                </a:lnTo>
                <a:close/>
              </a:path>
              <a:path w="2009139" h="939164">
                <a:moveTo>
                  <a:pt x="655320" y="914400"/>
                </a:moveTo>
                <a:lnTo>
                  <a:pt x="554736" y="914400"/>
                </a:lnTo>
                <a:lnTo>
                  <a:pt x="554736" y="938783"/>
                </a:lnTo>
                <a:lnTo>
                  <a:pt x="655320" y="938783"/>
                </a:lnTo>
                <a:lnTo>
                  <a:pt x="655320" y="914400"/>
                </a:lnTo>
                <a:close/>
              </a:path>
              <a:path w="2009139" h="939164">
                <a:moveTo>
                  <a:pt x="478536" y="914400"/>
                </a:moveTo>
                <a:lnTo>
                  <a:pt x="374904" y="914400"/>
                </a:lnTo>
                <a:lnTo>
                  <a:pt x="374904" y="938783"/>
                </a:lnTo>
                <a:lnTo>
                  <a:pt x="478536" y="938783"/>
                </a:lnTo>
                <a:lnTo>
                  <a:pt x="478536" y="914400"/>
                </a:lnTo>
                <a:close/>
              </a:path>
              <a:path w="2009139" h="939164">
                <a:moveTo>
                  <a:pt x="298704" y="914400"/>
                </a:moveTo>
                <a:lnTo>
                  <a:pt x="198120" y="914400"/>
                </a:lnTo>
                <a:lnTo>
                  <a:pt x="198120" y="938783"/>
                </a:lnTo>
                <a:lnTo>
                  <a:pt x="298704" y="938783"/>
                </a:lnTo>
                <a:lnTo>
                  <a:pt x="298704" y="914400"/>
                </a:lnTo>
                <a:close/>
              </a:path>
              <a:path w="2009139" h="939164">
                <a:moveTo>
                  <a:pt x="51815" y="853439"/>
                </a:moveTo>
                <a:lnTo>
                  <a:pt x="30479" y="868679"/>
                </a:lnTo>
                <a:lnTo>
                  <a:pt x="48767" y="890016"/>
                </a:lnTo>
                <a:lnTo>
                  <a:pt x="51815" y="890016"/>
                </a:lnTo>
                <a:lnTo>
                  <a:pt x="73151" y="908304"/>
                </a:lnTo>
                <a:lnTo>
                  <a:pt x="73151" y="911351"/>
                </a:lnTo>
                <a:lnTo>
                  <a:pt x="88392" y="917447"/>
                </a:lnTo>
                <a:lnTo>
                  <a:pt x="103631" y="926591"/>
                </a:lnTo>
                <a:lnTo>
                  <a:pt x="118872" y="932688"/>
                </a:lnTo>
                <a:lnTo>
                  <a:pt x="124967" y="908304"/>
                </a:lnTo>
                <a:lnTo>
                  <a:pt x="124967" y="905255"/>
                </a:lnTo>
                <a:lnTo>
                  <a:pt x="109728" y="902207"/>
                </a:lnTo>
                <a:lnTo>
                  <a:pt x="97536" y="896111"/>
                </a:lnTo>
                <a:lnTo>
                  <a:pt x="88392" y="890016"/>
                </a:lnTo>
                <a:lnTo>
                  <a:pt x="70612" y="874776"/>
                </a:lnTo>
                <a:lnTo>
                  <a:pt x="67056" y="874776"/>
                </a:lnTo>
                <a:lnTo>
                  <a:pt x="51815" y="853439"/>
                </a:lnTo>
                <a:close/>
              </a:path>
              <a:path w="2009139" h="939164">
                <a:moveTo>
                  <a:pt x="67056" y="871727"/>
                </a:moveTo>
                <a:lnTo>
                  <a:pt x="67056" y="874776"/>
                </a:lnTo>
                <a:lnTo>
                  <a:pt x="70612" y="874776"/>
                </a:lnTo>
                <a:lnTo>
                  <a:pt x="67056" y="871727"/>
                </a:lnTo>
                <a:close/>
              </a:path>
            </a:pathLst>
          </a:custGeom>
          <a:solidFill>
            <a:srgbClr val="FF0000"/>
          </a:solidFill>
        </p:spPr>
        <p:txBody>
          <a:bodyPr wrap="square" lIns="0" tIns="0" rIns="0" bIns="0" rtlCol="0"/>
          <a:lstStyle/>
          <a:p>
            <a:endParaRPr sz="1803"/>
          </a:p>
        </p:txBody>
      </p:sp>
      <p:sp>
        <p:nvSpPr>
          <p:cNvPr id="30" name="object 30"/>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114517">
              <a:spcBef>
                <a:spcPts val="40"/>
              </a:spcBef>
            </a:pPr>
            <a:fld id="{81D60167-4931-47E6-BA6A-407CBD079E47}" type="slidenum">
              <a:rPr spc="-50" dirty="0"/>
              <a:pPr marL="114517">
                <a:spcBef>
                  <a:spcPts val="40"/>
                </a:spcBef>
              </a:pPr>
              <a:t>7</a:t>
            </a:fld>
            <a:endParaRPr spc="-50" dirty="0"/>
          </a:p>
        </p:txBody>
      </p:sp>
      <p:sp>
        <p:nvSpPr>
          <p:cNvPr id="31" name="Rectangle 30"/>
          <p:cNvSpPr/>
          <p:nvPr/>
        </p:nvSpPr>
        <p:spPr>
          <a:xfrm>
            <a:off x="2595514" y="5854232"/>
            <a:ext cx="6096000" cy="830997"/>
          </a:xfrm>
          <a:prstGeom prst="rect">
            <a:avLst/>
          </a:prstGeom>
        </p:spPr>
        <p:txBody>
          <a:bodyPr>
            <a:spAutoFit/>
          </a:bodyPr>
          <a:lstStyle/>
          <a:p>
            <a:r>
              <a:rPr lang="en-US" sz="1600" dirty="0">
                <a:solidFill>
                  <a:srgbClr val="FF0000"/>
                </a:solidFill>
                <a:latin typeface="CIDFont+F5"/>
              </a:rPr>
              <a:t>Indeed, we can just solve this network in the phasor domain. It behaves as </a:t>
            </a:r>
            <a:r>
              <a:rPr lang="en-US" sz="1600" dirty="0" smtClean="0">
                <a:solidFill>
                  <a:srgbClr val="FF0000"/>
                </a:solidFill>
                <a:latin typeface="CIDFont+F5"/>
              </a:rPr>
              <a:t>a voltage </a:t>
            </a:r>
            <a:r>
              <a:rPr lang="en-US" sz="1600" dirty="0">
                <a:solidFill>
                  <a:srgbClr val="FF0000"/>
                </a:solidFill>
                <a:latin typeface="CIDFont+F5"/>
              </a:rPr>
              <a:t>divider, made from impedances. We first write the impedance of Z1 </a:t>
            </a:r>
            <a:r>
              <a:rPr lang="en-US" sz="1600" dirty="0" smtClean="0">
                <a:solidFill>
                  <a:srgbClr val="FF0000"/>
                </a:solidFill>
                <a:latin typeface="CIDFont+F5"/>
              </a:rPr>
              <a:t>and Z2</a:t>
            </a:r>
            <a:endParaRPr lang="en-US" sz="2400" dirty="0">
              <a:solidFill>
                <a:srgbClr val="FF0000"/>
              </a:solidFill>
            </a:endParaRPr>
          </a:p>
        </p:txBody>
      </p:sp>
    </p:spTree>
    <p:extLst>
      <p:ext uri="{BB962C8B-B14F-4D97-AF65-F5344CB8AC3E}">
        <p14:creationId xmlns:p14="http://schemas.microsoft.com/office/powerpoint/2010/main" val="1001409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95218" y="1383506"/>
            <a:ext cx="4400297" cy="2033321"/>
          </a:xfrm>
          <a:prstGeom prst="rect">
            <a:avLst/>
          </a:prstGeom>
        </p:spPr>
      </p:pic>
      <p:sp>
        <p:nvSpPr>
          <p:cNvPr id="3" name="object 3"/>
          <p:cNvSpPr txBox="1">
            <a:spLocks noGrp="1"/>
          </p:cNvSpPr>
          <p:nvPr>
            <p:ph type="title"/>
          </p:nvPr>
        </p:nvSpPr>
        <p:spPr>
          <a:xfrm>
            <a:off x="2728073" y="188309"/>
            <a:ext cx="6737761" cy="1248181"/>
          </a:xfrm>
          <a:prstGeom prst="rect">
            <a:avLst/>
          </a:prstGeom>
        </p:spPr>
        <p:txBody>
          <a:bodyPr vert="horz" wrap="square" lIns="0" tIns="13360" rIns="0" bIns="0" rtlCol="0">
            <a:spAutoFit/>
          </a:bodyPr>
          <a:lstStyle/>
          <a:p>
            <a:pPr marL="1194160" marR="5090" indent="-1182072">
              <a:spcBef>
                <a:spcPts val="105"/>
              </a:spcBef>
            </a:pPr>
            <a:r>
              <a:rPr sz="4008" dirty="0"/>
              <a:t>Circuit</a:t>
            </a:r>
            <a:r>
              <a:rPr sz="4008" spc="-105" dirty="0"/>
              <a:t> </a:t>
            </a:r>
            <a:r>
              <a:rPr sz="4008" dirty="0"/>
              <a:t>analysis</a:t>
            </a:r>
            <a:r>
              <a:rPr sz="4008" spc="-90" dirty="0"/>
              <a:t> </a:t>
            </a:r>
            <a:r>
              <a:rPr sz="4008" dirty="0"/>
              <a:t>with</a:t>
            </a:r>
            <a:r>
              <a:rPr sz="4008" spc="-80" dirty="0"/>
              <a:t> </a:t>
            </a:r>
            <a:r>
              <a:rPr sz="4008" dirty="0"/>
              <a:t>phasors</a:t>
            </a:r>
            <a:r>
              <a:rPr sz="4008" spc="-85" dirty="0"/>
              <a:t> </a:t>
            </a:r>
            <a:r>
              <a:rPr sz="4008" spc="-25" dirty="0"/>
              <a:t>and </a:t>
            </a:r>
            <a:r>
              <a:rPr sz="4008" dirty="0"/>
              <a:t>complex</a:t>
            </a:r>
            <a:r>
              <a:rPr sz="4008" spc="-145" dirty="0"/>
              <a:t> </a:t>
            </a:r>
            <a:r>
              <a:rPr sz="4008" spc="-10" dirty="0"/>
              <a:t>impedances</a:t>
            </a:r>
            <a:endParaRPr sz="4008"/>
          </a:p>
        </p:txBody>
      </p:sp>
      <p:sp>
        <p:nvSpPr>
          <p:cNvPr id="4" name="object 4"/>
          <p:cNvSpPr/>
          <p:nvPr/>
        </p:nvSpPr>
        <p:spPr>
          <a:xfrm>
            <a:off x="364192" y="2816985"/>
            <a:ext cx="255744" cy="0"/>
          </a:xfrm>
          <a:custGeom>
            <a:avLst/>
            <a:gdLst/>
            <a:ahLst/>
            <a:cxnLst/>
            <a:rect l="l" t="t" r="r" b="b"/>
            <a:pathLst>
              <a:path w="255270">
                <a:moveTo>
                  <a:pt x="0" y="0"/>
                </a:moveTo>
                <a:lnTo>
                  <a:pt x="254699" y="0"/>
                </a:lnTo>
              </a:path>
            </a:pathLst>
          </a:custGeom>
          <a:ln w="15835">
            <a:solidFill>
              <a:srgbClr val="000000"/>
            </a:solidFill>
          </a:ln>
        </p:spPr>
        <p:txBody>
          <a:bodyPr wrap="square" lIns="0" tIns="0" rIns="0" bIns="0" rtlCol="0"/>
          <a:lstStyle/>
          <a:p>
            <a:endParaRPr sz="1803"/>
          </a:p>
        </p:txBody>
      </p:sp>
      <p:sp>
        <p:nvSpPr>
          <p:cNvPr id="5" name="object 5"/>
          <p:cNvSpPr/>
          <p:nvPr/>
        </p:nvSpPr>
        <p:spPr>
          <a:xfrm>
            <a:off x="1493663" y="2816985"/>
            <a:ext cx="255744" cy="0"/>
          </a:xfrm>
          <a:custGeom>
            <a:avLst/>
            <a:gdLst/>
            <a:ahLst/>
            <a:cxnLst/>
            <a:rect l="l" t="t" r="r" b="b"/>
            <a:pathLst>
              <a:path w="255269">
                <a:moveTo>
                  <a:pt x="0" y="0"/>
                </a:moveTo>
                <a:lnTo>
                  <a:pt x="254698" y="0"/>
                </a:lnTo>
              </a:path>
            </a:pathLst>
          </a:custGeom>
          <a:ln w="15835">
            <a:solidFill>
              <a:srgbClr val="000000"/>
            </a:solidFill>
          </a:ln>
        </p:spPr>
        <p:txBody>
          <a:bodyPr wrap="square" lIns="0" tIns="0" rIns="0" bIns="0" rtlCol="0"/>
          <a:lstStyle/>
          <a:p>
            <a:endParaRPr sz="1803"/>
          </a:p>
        </p:txBody>
      </p:sp>
      <p:sp>
        <p:nvSpPr>
          <p:cNvPr id="6" name="object 6"/>
          <p:cNvSpPr/>
          <p:nvPr/>
        </p:nvSpPr>
        <p:spPr>
          <a:xfrm>
            <a:off x="1990265" y="3059560"/>
            <a:ext cx="1158480" cy="0"/>
          </a:xfrm>
          <a:custGeom>
            <a:avLst/>
            <a:gdLst/>
            <a:ahLst/>
            <a:cxnLst/>
            <a:rect l="l" t="t" r="r" b="b"/>
            <a:pathLst>
              <a:path w="1156335">
                <a:moveTo>
                  <a:pt x="0" y="0"/>
                </a:moveTo>
                <a:lnTo>
                  <a:pt x="1155954" y="0"/>
                </a:lnTo>
              </a:path>
            </a:pathLst>
          </a:custGeom>
          <a:ln w="15835">
            <a:solidFill>
              <a:srgbClr val="000000"/>
            </a:solidFill>
          </a:ln>
        </p:spPr>
        <p:txBody>
          <a:bodyPr wrap="square" lIns="0" tIns="0" rIns="0" bIns="0" rtlCol="0"/>
          <a:lstStyle/>
          <a:p>
            <a:endParaRPr sz="1803"/>
          </a:p>
        </p:txBody>
      </p:sp>
      <p:sp>
        <p:nvSpPr>
          <p:cNvPr id="7" name="object 7"/>
          <p:cNvSpPr/>
          <p:nvPr/>
        </p:nvSpPr>
        <p:spPr>
          <a:xfrm>
            <a:off x="1493663" y="3940348"/>
            <a:ext cx="255744" cy="0"/>
          </a:xfrm>
          <a:custGeom>
            <a:avLst/>
            <a:gdLst/>
            <a:ahLst/>
            <a:cxnLst/>
            <a:rect l="l" t="t" r="r" b="b"/>
            <a:pathLst>
              <a:path w="255269">
                <a:moveTo>
                  <a:pt x="0" y="0"/>
                </a:moveTo>
                <a:lnTo>
                  <a:pt x="254698" y="0"/>
                </a:lnTo>
              </a:path>
            </a:pathLst>
          </a:custGeom>
          <a:ln w="15835">
            <a:solidFill>
              <a:srgbClr val="000000"/>
            </a:solidFill>
          </a:ln>
        </p:spPr>
        <p:txBody>
          <a:bodyPr wrap="square" lIns="0" tIns="0" rIns="0" bIns="0" rtlCol="0"/>
          <a:lstStyle/>
          <a:p>
            <a:endParaRPr sz="1803"/>
          </a:p>
        </p:txBody>
      </p:sp>
      <p:sp>
        <p:nvSpPr>
          <p:cNvPr id="8" name="object 8"/>
          <p:cNvSpPr/>
          <p:nvPr/>
        </p:nvSpPr>
        <p:spPr>
          <a:xfrm>
            <a:off x="2150390" y="4182922"/>
            <a:ext cx="1182019" cy="0"/>
          </a:xfrm>
          <a:custGeom>
            <a:avLst/>
            <a:gdLst/>
            <a:ahLst/>
            <a:cxnLst/>
            <a:rect l="l" t="t" r="r" b="b"/>
            <a:pathLst>
              <a:path w="1179829">
                <a:moveTo>
                  <a:pt x="0" y="0"/>
                </a:moveTo>
                <a:lnTo>
                  <a:pt x="1179766" y="0"/>
                </a:lnTo>
              </a:path>
            </a:pathLst>
          </a:custGeom>
          <a:ln w="15835">
            <a:solidFill>
              <a:srgbClr val="000000"/>
            </a:solidFill>
          </a:ln>
        </p:spPr>
        <p:txBody>
          <a:bodyPr wrap="square" lIns="0" tIns="0" rIns="0" bIns="0" rtlCol="0"/>
          <a:lstStyle/>
          <a:p>
            <a:endParaRPr sz="1803"/>
          </a:p>
        </p:txBody>
      </p:sp>
      <p:sp>
        <p:nvSpPr>
          <p:cNvPr id="9" name="object 9"/>
          <p:cNvSpPr/>
          <p:nvPr/>
        </p:nvSpPr>
        <p:spPr>
          <a:xfrm>
            <a:off x="3563850" y="4182922"/>
            <a:ext cx="2634414" cy="0"/>
          </a:xfrm>
          <a:custGeom>
            <a:avLst/>
            <a:gdLst/>
            <a:ahLst/>
            <a:cxnLst/>
            <a:rect l="l" t="t" r="r" b="b"/>
            <a:pathLst>
              <a:path w="2629535">
                <a:moveTo>
                  <a:pt x="0" y="0"/>
                </a:moveTo>
                <a:lnTo>
                  <a:pt x="2629090" y="0"/>
                </a:lnTo>
              </a:path>
            </a:pathLst>
          </a:custGeom>
          <a:ln w="15835">
            <a:solidFill>
              <a:srgbClr val="000000"/>
            </a:solidFill>
          </a:ln>
        </p:spPr>
        <p:txBody>
          <a:bodyPr wrap="square" lIns="0" tIns="0" rIns="0" bIns="0" rtlCol="0"/>
          <a:lstStyle/>
          <a:p>
            <a:endParaRPr sz="1803"/>
          </a:p>
        </p:txBody>
      </p:sp>
      <p:sp>
        <p:nvSpPr>
          <p:cNvPr id="10" name="object 10"/>
          <p:cNvSpPr txBox="1"/>
          <p:nvPr/>
        </p:nvSpPr>
        <p:spPr>
          <a:xfrm>
            <a:off x="3140792" y="4437649"/>
            <a:ext cx="149502" cy="292642"/>
          </a:xfrm>
          <a:prstGeom prst="rect">
            <a:avLst/>
          </a:prstGeom>
        </p:spPr>
        <p:txBody>
          <a:bodyPr vert="horz" wrap="square" lIns="0" tIns="12724" rIns="0" bIns="0" rtlCol="0">
            <a:spAutoFit/>
          </a:bodyPr>
          <a:lstStyle/>
          <a:p>
            <a:pPr marL="12724">
              <a:spcBef>
                <a:spcPts val="100"/>
              </a:spcBef>
            </a:pPr>
            <a:r>
              <a:rPr sz="1753" spc="-50" dirty="0">
                <a:latin typeface="Arial MT"/>
                <a:cs typeface="Arial MT"/>
              </a:rPr>
              <a:t>2</a:t>
            </a:r>
            <a:endParaRPr sz="1753">
              <a:latin typeface="Arial MT"/>
              <a:cs typeface="Arial MT"/>
            </a:endParaRPr>
          </a:p>
        </p:txBody>
      </p:sp>
      <p:sp>
        <p:nvSpPr>
          <p:cNvPr id="11" name="object 11"/>
          <p:cNvSpPr txBox="1"/>
          <p:nvPr/>
        </p:nvSpPr>
        <p:spPr>
          <a:xfrm>
            <a:off x="2395701" y="4437649"/>
            <a:ext cx="149502" cy="292642"/>
          </a:xfrm>
          <a:prstGeom prst="rect">
            <a:avLst/>
          </a:prstGeom>
        </p:spPr>
        <p:txBody>
          <a:bodyPr vert="horz" wrap="square" lIns="0" tIns="12724" rIns="0" bIns="0" rtlCol="0">
            <a:spAutoFit/>
          </a:bodyPr>
          <a:lstStyle/>
          <a:p>
            <a:pPr marL="12724">
              <a:spcBef>
                <a:spcPts val="100"/>
              </a:spcBef>
            </a:pPr>
            <a:r>
              <a:rPr sz="1753" spc="-50" dirty="0">
                <a:latin typeface="Arial MT"/>
                <a:cs typeface="Arial MT"/>
              </a:rPr>
              <a:t>1</a:t>
            </a:r>
            <a:endParaRPr sz="1753">
              <a:latin typeface="Arial MT"/>
              <a:cs typeface="Arial MT"/>
            </a:endParaRPr>
          </a:p>
        </p:txBody>
      </p:sp>
      <p:sp>
        <p:nvSpPr>
          <p:cNvPr id="12" name="object 12"/>
          <p:cNvSpPr txBox="1"/>
          <p:nvPr/>
        </p:nvSpPr>
        <p:spPr>
          <a:xfrm>
            <a:off x="2957573" y="3313904"/>
            <a:ext cx="149502" cy="292642"/>
          </a:xfrm>
          <a:prstGeom prst="rect">
            <a:avLst/>
          </a:prstGeom>
        </p:spPr>
        <p:txBody>
          <a:bodyPr vert="horz" wrap="square" lIns="0" tIns="12724" rIns="0" bIns="0" rtlCol="0">
            <a:spAutoFit/>
          </a:bodyPr>
          <a:lstStyle/>
          <a:p>
            <a:pPr marL="12724">
              <a:spcBef>
                <a:spcPts val="100"/>
              </a:spcBef>
            </a:pPr>
            <a:r>
              <a:rPr sz="1753" spc="-50" dirty="0">
                <a:latin typeface="Arial MT"/>
                <a:cs typeface="Arial MT"/>
              </a:rPr>
              <a:t>2</a:t>
            </a:r>
            <a:endParaRPr sz="1753">
              <a:latin typeface="Arial MT"/>
              <a:cs typeface="Arial MT"/>
            </a:endParaRPr>
          </a:p>
        </p:txBody>
      </p:sp>
      <p:sp>
        <p:nvSpPr>
          <p:cNvPr id="13" name="object 13"/>
          <p:cNvSpPr txBox="1"/>
          <p:nvPr/>
        </p:nvSpPr>
        <p:spPr>
          <a:xfrm>
            <a:off x="2221642" y="3313904"/>
            <a:ext cx="149502" cy="292642"/>
          </a:xfrm>
          <a:prstGeom prst="rect">
            <a:avLst/>
          </a:prstGeom>
        </p:spPr>
        <p:txBody>
          <a:bodyPr vert="horz" wrap="square" lIns="0" tIns="12724" rIns="0" bIns="0" rtlCol="0">
            <a:spAutoFit/>
          </a:bodyPr>
          <a:lstStyle/>
          <a:p>
            <a:pPr marL="12724">
              <a:spcBef>
                <a:spcPts val="100"/>
              </a:spcBef>
            </a:pPr>
            <a:r>
              <a:rPr sz="1753" spc="-50" dirty="0">
                <a:latin typeface="Arial MT"/>
                <a:cs typeface="Arial MT"/>
              </a:rPr>
              <a:t>1</a:t>
            </a:r>
            <a:endParaRPr sz="1753">
              <a:latin typeface="Arial MT"/>
              <a:cs typeface="Arial MT"/>
            </a:endParaRPr>
          </a:p>
        </p:txBody>
      </p:sp>
      <p:sp>
        <p:nvSpPr>
          <p:cNvPr id="14" name="object 14"/>
          <p:cNvSpPr txBox="1"/>
          <p:nvPr/>
        </p:nvSpPr>
        <p:spPr>
          <a:xfrm>
            <a:off x="4774498" y="3643444"/>
            <a:ext cx="237931" cy="483495"/>
          </a:xfrm>
          <a:prstGeom prst="rect">
            <a:avLst/>
          </a:prstGeom>
        </p:spPr>
        <p:txBody>
          <a:bodyPr vert="horz" wrap="square" lIns="0" tIns="12724" rIns="0" bIns="0" rtlCol="0">
            <a:spAutoFit/>
          </a:bodyPr>
          <a:lstStyle/>
          <a:p>
            <a:pPr marL="12724">
              <a:spcBef>
                <a:spcPts val="100"/>
              </a:spcBef>
            </a:pPr>
            <a:r>
              <a:rPr sz="3006" spc="-50" dirty="0">
                <a:latin typeface="Arial MT"/>
                <a:cs typeface="Arial MT"/>
              </a:rPr>
              <a:t>1</a:t>
            </a:r>
            <a:endParaRPr sz="3006">
              <a:latin typeface="Arial MT"/>
              <a:cs typeface="Arial MT"/>
            </a:endParaRPr>
          </a:p>
        </p:txBody>
      </p:sp>
      <p:sp>
        <p:nvSpPr>
          <p:cNvPr id="15" name="object 15"/>
          <p:cNvSpPr txBox="1"/>
          <p:nvPr/>
        </p:nvSpPr>
        <p:spPr>
          <a:xfrm>
            <a:off x="4728694" y="4135082"/>
            <a:ext cx="643176" cy="483495"/>
          </a:xfrm>
          <a:prstGeom prst="rect">
            <a:avLst/>
          </a:prstGeom>
        </p:spPr>
        <p:txBody>
          <a:bodyPr vert="horz" wrap="square" lIns="0" tIns="12724" rIns="0" bIns="0" rtlCol="0">
            <a:spAutoFit/>
          </a:bodyPr>
          <a:lstStyle/>
          <a:p>
            <a:pPr marL="12724">
              <a:spcBef>
                <a:spcPts val="100"/>
              </a:spcBef>
            </a:pPr>
            <a:r>
              <a:rPr sz="3006" i="1" dirty="0">
                <a:latin typeface="Arial"/>
                <a:cs typeface="Arial"/>
              </a:rPr>
              <a:t>C</a:t>
            </a:r>
            <a:r>
              <a:rPr sz="3006" i="1" spc="-316" dirty="0">
                <a:latin typeface="Arial"/>
                <a:cs typeface="Arial"/>
              </a:rPr>
              <a:t> </a:t>
            </a:r>
            <a:r>
              <a:rPr sz="3006" i="1" spc="-50" dirty="0">
                <a:latin typeface="Arial"/>
                <a:cs typeface="Arial"/>
              </a:rPr>
              <a:t>C</a:t>
            </a:r>
            <a:endParaRPr sz="3006">
              <a:latin typeface="Arial"/>
              <a:cs typeface="Arial"/>
            </a:endParaRPr>
          </a:p>
        </p:txBody>
      </p:sp>
      <p:sp>
        <p:nvSpPr>
          <p:cNvPr id="16" name="object 16"/>
          <p:cNvSpPr txBox="1"/>
          <p:nvPr/>
        </p:nvSpPr>
        <p:spPr>
          <a:xfrm>
            <a:off x="2330555" y="2519699"/>
            <a:ext cx="441508" cy="483495"/>
          </a:xfrm>
          <a:prstGeom prst="rect">
            <a:avLst/>
          </a:prstGeom>
        </p:spPr>
        <p:txBody>
          <a:bodyPr vert="horz" wrap="square" lIns="0" tIns="12724" rIns="0" bIns="0" rtlCol="0">
            <a:spAutoFit/>
          </a:bodyPr>
          <a:lstStyle/>
          <a:p>
            <a:pPr marL="38172">
              <a:spcBef>
                <a:spcPts val="100"/>
              </a:spcBef>
            </a:pPr>
            <a:r>
              <a:rPr sz="3006" i="1" spc="-25" dirty="0">
                <a:latin typeface="Arial"/>
                <a:cs typeface="Arial"/>
              </a:rPr>
              <a:t>Z</a:t>
            </a:r>
            <a:r>
              <a:rPr sz="2630" spc="-37" baseline="-23809" dirty="0">
                <a:latin typeface="Arial MT"/>
                <a:cs typeface="Arial MT"/>
              </a:rPr>
              <a:t>2</a:t>
            </a:r>
            <a:endParaRPr sz="2630" baseline="-23809">
              <a:latin typeface="Arial MT"/>
              <a:cs typeface="Arial MT"/>
            </a:endParaRPr>
          </a:p>
        </p:txBody>
      </p:sp>
      <p:sp>
        <p:nvSpPr>
          <p:cNvPr id="17" name="object 17"/>
          <p:cNvSpPr txBox="1"/>
          <p:nvPr/>
        </p:nvSpPr>
        <p:spPr>
          <a:xfrm>
            <a:off x="1641449" y="4138390"/>
            <a:ext cx="247473" cy="292642"/>
          </a:xfrm>
          <a:prstGeom prst="rect">
            <a:avLst/>
          </a:prstGeom>
        </p:spPr>
        <p:txBody>
          <a:bodyPr vert="horz" wrap="square" lIns="0" tIns="12724" rIns="0" bIns="0" rtlCol="0">
            <a:spAutoFit/>
          </a:bodyPr>
          <a:lstStyle/>
          <a:p>
            <a:pPr marL="12724">
              <a:spcBef>
                <a:spcPts val="100"/>
              </a:spcBef>
            </a:pPr>
            <a:r>
              <a:rPr sz="1753" i="1" spc="-25" dirty="0">
                <a:latin typeface="Arial"/>
                <a:cs typeface="Arial"/>
              </a:rPr>
              <a:t>IN</a:t>
            </a:r>
            <a:endParaRPr sz="1753">
              <a:latin typeface="Arial"/>
              <a:cs typeface="Arial"/>
            </a:endParaRPr>
          </a:p>
        </p:txBody>
      </p:sp>
      <p:sp>
        <p:nvSpPr>
          <p:cNvPr id="18" name="object 18"/>
          <p:cNvSpPr txBox="1"/>
          <p:nvPr/>
        </p:nvSpPr>
        <p:spPr>
          <a:xfrm>
            <a:off x="1616001" y="2855602"/>
            <a:ext cx="667351" cy="483495"/>
          </a:xfrm>
          <a:prstGeom prst="rect">
            <a:avLst/>
          </a:prstGeom>
        </p:spPr>
        <p:txBody>
          <a:bodyPr vert="horz" wrap="square" lIns="0" tIns="12724" rIns="0" bIns="0" rtlCol="0">
            <a:spAutoFit/>
          </a:bodyPr>
          <a:lstStyle/>
          <a:p>
            <a:pPr marL="38172">
              <a:spcBef>
                <a:spcPts val="100"/>
              </a:spcBef>
              <a:tabLst>
                <a:tab pos="395084" algn="l"/>
              </a:tabLst>
            </a:pPr>
            <a:r>
              <a:rPr sz="1753" i="1" spc="-25" dirty="0">
                <a:latin typeface="Arial"/>
                <a:cs typeface="Arial"/>
              </a:rPr>
              <a:t>IN</a:t>
            </a:r>
            <a:r>
              <a:rPr sz="1753" i="1" dirty="0">
                <a:latin typeface="Arial"/>
                <a:cs typeface="Arial"/>
              </a:rPr>
              <a:t>	</a:t>
            </a:r>
            <a:r>
              <a:rPr sz="4509" i="1" spc="-75" baseline="-29629" dirty="0">
                <a:latin typeface="Arial"/>
                <a:cs typeface="Arial"/>
              </a:rPr>
              <a:t>Z</a:t>
            </a:r>
            <a:endParaRPr sz="4509" baseline="-29629">
              <a:latin typeface="Arial"/>
              <a:cs typeface="Arial"/>
            </a:endParaRPr>
          </a:p>
        </p:txBody>
      </p:sp>
      <p:sp>
        <p:nvSpPr>
          <p:cNvPr id="19" name="object 19"/>
          <p:cNvSpPr txBox="1"/>
          <p:nvPr/>
        </p:nvSpPr>
        <p:spPr>
          <a:xfrm>
            <a:off x="505488" y="3014646"/>
            <a:ext cx="497491" cy="292642"/>
          </a:xfrm>
          <a:prstGeom prst="rect">
            <a:avLst/>
          </a:prstGeom>
        </p:spPr>
        <p:txBody>
          <a:bodyPr vert="horz" wrap="square" lIns="0" tIns="12724" rIns="0" bIns="0" rtlCol="0">
            <a:spAutoFit/>
          </a:bodyPr>
          <a:lstStyle/>
          <a:p>
            <a:pPr marL="12724">
              <a:spcBef>
                <a:spcPts val="100"/>
              </a:spcBef>
            </a:pPr>
            <a:r>
              <a:rPr sz="1753" i="1" spc="-25" dirty="0">
                <a:latin typeface="Arial"/>
                <a:cs typeface="Arial"/>
              </a:rPr>
              <a:t>OUT</a:t>
            </a:r>
            <a:endParaRPr sz="1753">
              <a:latin typeface="Arial"/>
              <a:cs typeface="Arial"/>
            </a:endParaRPr>
          </a:p>
        </p:txBody>
      </p:sp>
      <p:sp>
        <p:nvSpPr>
          <p:cNvPr id="20" name="object 20"/>
          <p:cNvSpPr txBox="1"/>
          <p:nvPr/>
        </p:nvSpPr>
        <p:spPr>
          <a:xfrm>
            <a:off x="4507812" y="4660312"/>
            <a:ext cx="1208102" cy="483495"/>
          </a:xfrm>
          <a:prstGeom prst="rect">
            <a:avLst/>
          </a:prstGeom>
        </p:spPr>
        <p:txBody>
          <a:bodyPr vert="horz" wrap="square" lIns="0" tIns="12724" rIns="0" bIns="0" rtlCol="0">
            <a:spAutoFit/>
          </a:bodyPr>
          <a:lstStyle/>
          <a:p>
            <a:pPr marL="38172">
              <a:spcBef>
                <a:spcPts val="100"/>
              </a:spcBef>
            </a:pPr>
            <a:r>
              <a:rPr sz="3006" i="1" dirty="0">
                <a:latin typeface="Arial"/>
                <a:cs typeface="Arial"/>
              </a:rPr>
              <a:t>C</a:t>
            </a:r>
            <a:r>
              <a:rPr sz="2630" baseline="-23809" dirty="0">
                <a:latin typeface="Arial MT"/>
                <a:cs typeface="Arial MT"/>
              </a:rPr>
              <a:t>1</a:t>
            </a:r>
            <a:r>
              <a:rPr sz="2630" spc="89" baseline="-23809" dirty="0">
                <a:latin typeface="Arial MT"/>
                <a:cs typeface="Arial MT"/>
              </a:rPr>
              <a:t> </a:t>
            </a:r>
            <a:r>
              <a:rPr sz="3006" spc="-25" dirty="0">
                <a:latin typeface="Symbol"/>
                <a:cs typeface="Symbol"/>
              </a:rPr>
              <a:t></a:t>
            </a:r>
            <a:r>
              <a:rPr sz="3006" spc="-361" dirty="0">
                <a:latin typeface="Times New Roman"/>
                <a:cs typeface="Times New Roman"/>
              </a:rPr>
              <a:t> </a:t>
            </a:r>
            <a:r>
              <a:rPr sz="3006" i="1" spc="-25" dirty="0">
                <a:latin typeface="Arial"/>
                <a:cs typeface="Arial"/>
              </a:rPr>
              <a:t>C</a:t>
            </a:r>
            <a:r>
              <a:rPr sz="2630" spc="-37" baseline="-23809" dirty="0">
                <a:latin typeface="Arial MT"/>
                <a:cs typeface="Arial MT"/>
              </a:rPr>
              <a:t>2</a:t>
            </a:r>
            <a:endParaRPr sz="2630" baseline="-23809">
              <a:latin typeface="Arial MT"/>
              <a:cs typeface="Arial MT"/>
            </a:endParaRPr>
          </a:p>
        </p:txBody>
      </p:sp>
      <p:sp>
        <p:nvSpPr>
          <p:cNvPr id="21" name="object 21"/>
          <p:cNvSpPr txBox="1"/>
          <p:nvPr/>
        </p:nvSpPr>
        <p:spPr>
          <a:xfrm>
            <a:off x="3391192" y="3884682"/>
            <a:ext cx="120874" cy="483495"/>
          </a:xfrm>
          <a:prstGeom prst="rect">
            <a:avLst/>
          </a:prstGeom>
        </p:spPr>
        <p:txBody>
          <a:bodyPr vert="horz" wrap="square" lIns="0" tIns="12724" rIns="0" bIns="0" rtlCol="0">
            <a:spAutoFit/>
          </a:bodyPr>
          <a:lstStyle/>
          <a:p>
            <a:pPr marL="12724">
              <a:spcBef>
                <a:spcPts val="100"/>
              </a:spcBef>
            </a:pPr>
            <a:r>
              <a:rPr sz="3006" spc="-50" dirty="0">
                <a:latin typeface="Symbol"/>
                <a:cs typeface="Symbol"/>
              </a:rPr>
              <a:t></a:t>
            </a:r>
            <a:endParaRPr sz="3006">
              <a:latin typeface="Symbol"/>
              <a:cs typeface="Symbol"/>
            </a:endParaRPr>
          </a:p>
        </p:txBody>
      </p:sp>
      <p:sp>
        <p:nvSpPr>
          <p:cNvPr id="22" name="object 22"/>
          <p:cNvSpPr txBox="1"/>
          <p:nvPr/>
        </p:nvSpPr>
        <p:spPr>
          <a:xfrm>
            <a:off x="2133087" y="4180888"/>
            <a:ext cx="1031245" cy="483495"/>
          </a:xfrm>
          <a:prstGeom prst="rect">
            <a:avLst/>
          </a:prstGeom>
        </p:spPr>
        <p:txBody>
          <a:bodyPr vert="horz" wrap="square" lIns="0" tIns="12724" rIns="0" bIns="0" rtlCol="0">
            <a:spAutoFit/>
          </a:bodyPr>
          <a:lstStyle/>
          <a:p>
            <a:pPr marL="12724">
              <a:spcBef>
                <a:spcPts val="100"/>
              </a:spcBef>
              <a:tabLst>
                <a:tab pos="482881" algn="l"/>
              </a:tabLst>
            </a:pPr>
            <a:r>
              <a:rPr sz="3006" i="1" spc="-50" dirty="0">
                <a:latin typeface="Arial"/>
                <a:cs typeface="Arial"/>
              </a:rPr>
              <a:t>C</a:t>
            </a:r>
            <a:r>
              <a:rPr sz="3006" i="1" dirty="0">
                <a:latin typeface="Arial"/>
                <a:cs typeface="Arial"/>
              </a:rPr>
              <a:t>	</a:t>
            </a:r>
            <a:r>
              <a:rPr sz="3006" spc="-25" dirty="0">
                <a:latin typeface="Symbol"/>
                <a:cs typeface="Symbol"/>
              </a:rPr>
              <a:t></a:t>
            </a:r>
            <a:r>
              <a:rPr sz="3006" spc="-356" dirty="0">
                <a:latin typeface="Times New Roman"/>
                <a:cs typeface="Times New Roman"/>
              </a:rPr>
              <a:t> </a:t>
            </a:r>
            <a:r>
              <a:rPr sz="3006" i="1" spc="-50" dirty="0">
                <a:latin typeface="Arial"/>
                <a:cs typeface="Arial"/>
              </a:rPr>
              <a:t>C</a:t>
            </a:r>
            <a:endParaRPr sz="3006">
              <a:latin typeface="Arial"/>
              <a:cs typeface="Arial"/>
            </a:endParaRPr>
          </a:p>
        </p:txBody>
      </p:sp>
      <p:sp>
        <p:nvSpPr>
          <p:cNvPr id="23" name="object 23"/>
          <p:cNvSpPr txBox="1"/>
          <p:nvPr/>
        </p:nvSpPr>
        <p:spPr>
          <a:xfrm>
            <a:off x="1146756" y="3884682"/>
            <a:ext cx="951722" cy="483495"/>
          </a:xfrm>
          <a:prstGeom prst="rect">
            <a:avLst/>
          </a:prstGeom>
        </p:spPr>
        <p:txBody>
          <a:bodyPr vert="horz" wrap="square" lIns="0" tIns="12724" rIns="0" bIns="0" rtlCol="0">
            <a:spAutoFit/>
          </a:bodyPr>
          <a:lstStyle/>
          <a:p>
            <a:pPr marL="12724">
              <a:spcBef>
                <a:spcPts val="100"/>
              </a:spcBef>
              <a:tabLst>
                <a:tab pos="842974" algn="l"/>
              </a:tabLst>
            </a:pPr>
            <a:r>
              <a:rPr sz="3006" spc="-25" dirty="0">
                <a:latin typeface="Symbol"/>
                <a:cs typeface="Symbol"/>
              </a:rPr>
              <a:t></a:t>
            </a:r>
            <a:r>
              <a:rPr sz="3006" spc="-356" dirty="0">
                <a:latin typeface="Times New Roman"/>
                <a:cs typeface="Times New Roman"/>
              </a:rPr>
              <a:t> </a:t>
            </a:r>
            <a:r>
              <a:rPr sz="3006" i="1" spc="-50" dirty="0">
                <a:latin typeface="Arial"/>
                <a:cs typeface="Arial"/>
              </a:rPr>
              <a:t>V</a:t>
            </a:r>
            <a:r>
              <a:rPr sz="3006" i="1" dirty="0">
                <a:latin typeface="Arial"/>
                <a:cs typeface="Arial"/>
              </a:rPr>
              <a:t>	</a:t>
            </a:r>
            <a:r>
              <a:rPr sz="3006" spc="-50" dirty="0">
                <a:latin typeface="Symbol"/>
                <a:cs typeface="Symbol"/>
              </a:rPr>
              <a:t></a:t>
            </a:r>
            <a:endParaRPr sz="3006">
              <a:latin typeface="Symbol"/>
              <a:cs typeface="Symbol"/>
            </a:endParaRPr>
          </a:p>
        </p:txBody>
      </p:sp>
      <p:sp>
        <p:nvSpPr>
          <p:cNvPr id="24" name="object 24"/>
          <p:cNvSpPr txBox="1"/>
          <p:nvPr/>
        </p:nvSpPr>
        <p:spPr>
          <a:xfrm>
            <a:off x="2403844" y="2934996"/>
            <a:ext cx="596735" cy="1192198"/>
          </a:xfrm>
          <a:prstGeom prst="rect">
            <a:avLst/>
          </a:prstGeom>
        </p:spPr>
        <p:txBody>
          <a:bodyPr vert="horz" wrap="square" lIns="0" tIns="12724" rIns="0" bIns="0" rtlCol="0">
            <a:spAutoFit/>
          </a:bodyPr>
          <a:lstStyle/>
          <a:p>
            <a:pPr marL="129785" marR="30538" indent="-91614">
              <a:lnSpc>
                <a:spcPct val="127299"/>
              </a:lnSpc>
              <a:spcBef>
                <a:spcPts val="100"/>
              </a:spcBef>
            </a:pPr>
            <a:r>
              <a:rPr sz="3006" dirty="0">
                <a:latin typeface="Symbol"/>
                <a:cs typeface="Symbol"/>
              </a:rPr>
              <a:t></a:t>
            </a:r>
            <a:r>
              <a:rPr sz="3006" spc="-165" dirty="0">
                <a:latin typeface="Times New Roman"/>
                <a:cs typeface="Times New Roman"/>
              </a:rPr>
              <a:t> </a:t>
            </a:r>
            <a:r>
              <a:rPr sz="3006" i="1" spc="-50" dirty="0">
                <a:latin typeface="Arial"/>
                <a:cs typeface="Arial"/>
              </a:rPr>
              <a:t>Z </a:t>
            </a:r>
            <a:r>
              <a:rPr sz="3006" i="1" spc="-25" dirty="0">
                <a:latin typeface="Arial"/>
                <a:cs typeface="Arial"/>
              </a:rPr>
              <a:t>C</a:t>
            </a:r>
            <a:r>
              <a:rPr sz="2630" spc="-37" baseline="-23809" dirty="0">
                <a:latin typeface="Arial MT"/>
                <a:cs typeface="Arial MT"/>
              </a:rPr>
              <a:t>1</a:t>
            </a:r>
            <a:endParaRPr sz="2630" baseline="-23809">
              <a:latin typeface="Arial MT"/>
              <a:cs typeface="Arial MT"/>
            </a:endParaRPr>
          </a:p>
        </p:txBody>
      </p:sp>
      <p:sp>
        <p:nvSpPr>
          <p:cNvPr id="25" name="object 25"/>
          <p:cNvSpPr txBox="1"/>
          <p:nvPr/>
        </p:nvSpPr>
        <p:spPr>
          <a:xfrm>
            <a:off x="276464" y="2760938"/>
            <a:ext cx="1410407" cy="483495"/>
          </a:xfrm>
          <a:prstGeom prst="rect">
            <a:avLst/>
          </a:prstGeom>
        </p:spPr>
        <p:txBody>
          <a:bodyPr vert="horz" wrap="square" lIns="0" tIns="12724" rIns="0" bIns="0" rtlCol="0">
            <a:spAutoFit/>
          </a:bodyPr>
          <a:lstStyle/>
          <a:p>
            <a:pPr marL="12724">
              <a:spcBef>
                <a:spcPts val="100"/>
              </a:spcBef>
              <a:tabLst>
                <a:tab pos="882417" algn="l"/>
              </a:tabLst>
            </a:pPr>
            <a:r>
              <a:rPr sz="3006" i="1" spc="-50" dirty="0">
                <a:latin typeface="Arial"/>
                <a:cs typeface="Arial"/>
              </a:rPr>
              <a:t>V</a:t>
            </a:r>
            <a:r>
              <a:rPr sz="3006" i="1" dirty="0">
                <a:latin typeface="Arial"/>
                <a:cs typeface="Arial"/>
              </a:rPr>
              <a:t>	</a:t>
            </a:r>
            <a:r>
              <a:rPr sz="3006" spc="-25" dirty="0">
                <a:latin typeface="Symbol"/>
                <a:cs typeface="Symbol"/>
              </a:rPr>
              <a:t></a:t>
            </a:r>
            <a:r>
              <a:rPr sz="3006" spc="-356" dirty="0">
                <a:latin typeface="Times New Roman"/>
                <a:cs typeface="Times New Roman"/>
              </a:rPr>
              <a:t> </a:t>
            </a:r>
            <a:r>
              <a:rPr sz="3006" i="1" spc="-50" dirty="0">
                <a:latin typeface="Arial"/>
                <a:cs typeface="Arial"/>
              </a:rPr>
              <a:t>V</a:t>
            </a:r>
            <a:endParaRPr sz="3006">
              <a:latin typeface="Arial"/>
              <a:cs typeface="Arial"/>
            </a:endParaRPr>
          </a:p>
        </p:txBody>
      </p:sp>
      <p:sp>
        <p:nvSpPr>
          <p:cNvPr id="26" name="object 26"/>
          <p:cNvSpPr txBox="1"/>
          <p:nvPr/>
        </p:nvSpPr>
        <p:spPr>
          <a:xfrm>
            <a:off x="3515374" y="4356754"/>
            <a:ext cx="2695487" cy="500035"/>
          </a:xfrm>
          <a:prstGeom prst="rect">
            <a:avLst/>
          </a:prstGeom>
        </p:spPr>
        <p:txBody>
          <a:bodyPr vert="horz" wrap="square" lIns="0" tIns="13360" rIns="0" bIns="0" rtlCol="0">
            <a:spAutoFit/>
          </a:bodyPr>
          <a:lstStyle/>
          <a:p>
            <a:pPr marL="38172">
              <a:spcBef>
                <a:spcPts val="105"/>
              </a:spcBef>
              <a:tabLst>
                <a:tab pos="1485542" algn="l"/>
                <a:tab pos="1845635" algn="l"/>
                <a:tab pos="2217180" algn="l"/>
              </a:tabLst>
            </a:pPr>
            <a:r>
              <a:rPr sz="3006" spc="65" dirty="0">
                <a:latin typeface="Arial MT"/>
                <a:cs typeface="Arial MT"/>
              </a:rPr>
              <a:t>1</a:t>
            </a:r>
            <a:r>
              <a:rPr sz="3006" spc="65" dirty="0">
                <a:latin typeface="Symbol"/>
                <a:cs typeface="Symbol"/>
              </a:rPr>
              <a:t></a:t>
            </a:r>
            <a:r>
              <a:rPr sz="3006" spc="571" dirty="0">
                <a:latin typeface="Times New Roman"/>
                <a:cs typeface="Times New Roman"/>
              </a:rPr>
              <a:t> </a:t>
            </a:r>
            <a:r>
              <a:rPr sz="3006" i="1" dirty="0">
                <a:latin typeface="Arial"/>
                <a:cs typeface="Arial"/>
              </a:rPr>
              <a:t>j</a:t>
            </a:r>
            <a:r>
              <a:rPr sz="3106" i="1" dirty="0">
                <a:latin typeface="Verdana"/>
                <a:cs typeface="Verdana"/>
              </a:rPr>
              <a:t>ω</a:t>
            </a:r>
            <a:r>
              <a:rPr sz="3106" i="1" spc="-356" dirty="0">
                <a:latin typeface="Verdana"/>
                <a:cs typeface="Verdana"/>
              </a:rPr>
              <a:t> </a:t>
            </a:r>
            <a:r>
              <a:rPr sz="2630" u="sng" baseline="34920" dirty="0">
                <a:uFill>
                  <a:solidFill>
                    <a:srgbClr val="000000"/>
                  </a:solidFill>
                </a:uFill>
                <a:latin typeface="Arial MT"/>
                <a:cs typeface="Arial MT"/>
              </a:rPr>
              <a:t>	</a:t>
            </a:r>
            <a:r>
              <a:rPr sz="2630" u="sng" spc="-75" baseline="34920" dirty="0">
                <a:uFill>
                  <a:solidFill>
                    <a:srgbClr val="000000"/>
                  </a:solidFill>
                </a:uFill>
                <a:latin typeface="Arial MT"/>
                <a:cs typeface="Arial MT"/>
              </a:rPr>
              <a:t>1</a:t>
            </a:r>
            <a:r>
              <a:rPr sz="2630" u="sng" baseline="34920" dirty="0">
                <a:uFill>
                  <a:solidFill>
                    <a:srgbClr val="000000"/>
                  </a:solidFill>
                </a:uFill>
                <a:latin typeface="Arial MT"/>
                <a:cs typeface="Arial MT"/>
              </a:rPr>
              <a:t>	</a:t>
            </a:r>
            <a:r>
              <a:rPr sz="2630" u="sng" spc="-75" baseline="34920" dirty="0">
                <a:uFill>
                  <a:solidFill>
                    <a:srgbClr val="000000"/>
                  </a:solidFill>
                </a:uFill>
                <a:latin typeface="Arial MT"/>
                <a:cs typeface="Arial MT"/>
              </a:rPr>
              <a:t>2</a:t>
            </a:r>
            <a:r>
              <a:rPr sz="2630" u="sng" baseline="34920" dirty="0">
                <a:uFill>
                  <a:solidFill>
                    <a:srgbClr val="000000"/>
                  </a:solidFill>
                </a:uFill>
                <a:latin typeface="Arial MT"/>
                <a:cs typeface="Arial MT"/>
              </a:rPr>
              <a:t>	</a:t>
            </a:r>
            <a:r>
              <a:rPr sz="2630" spc="-104" baseline="34920" dirty="0">
                <a:latin typeface="Arial MT"/>
                <a:cs typeface="Arial MT"/>
              </a:rPr>
              <a:t> </a:t>
            </a:r>
            <a:r>
              <a:rPr sz="3006" i="1" dirty="0">
                <a:latin typeface="Arial"/>
                <a:cs typeface="Arial"/>
              </a:rPr>
              <a:t>R</a:t>
            </a:r>
            <a:r>
              <a:rPr sz="2630" baseline="-23809" dirty="0">
                <a:latin typeface="Arial MT"/>
                <a:cs typeface="Arial MT"/>
              </a:rPr>
              <a:t>1</a:t>
            </a:r>
            <a:endParaRPr sz="2630" baseline="-23809">
              <a:latin typeface="Arial MT"/>
              <a:cs typeface="Arial MT"/>
            </a:endParaRPr>
          </a:p>
        </p:txBody>
      </p:sp>
      <p:sp>
        <p:nvSpPr>
          <p:cNvPr id="27" name="object 27"/>
          <p:cNvSpPr/>
          <p:nvPr/>
        </p:nvSpPr>
        <p:spPr>
          <a:xfrm>
            <a:off x="266857" y="5600964"/>
            <a:ext cx="257016" cy="0"/>
          </a:xfrm>
          <a:custGeom>
            <a:avLst/>
            <a:gdLst/>
            <a:ahLst/>
            <a:cxnLst/>
            <a:rect l="l" t="t" r="r" b="b"/>
            <a:pathLst>
              <a:path w="256540">
                <a:moveTo>
                  <a:pt x="0" y="0"/>
                </a:moveTo>
                <a:lnTo>
                  <a:pt x="256413" y="0"/>
                </a:lnTo>
              </a:path>
            </a:pathLst>
          </a:custGeom>
          <a:ln w="15929">
            <a:solidFill>
              <a:srgbClr val="000000"/>
            </a:solidFill>
          </a:ln>
        </p:spPr>
        <p:txBody>
          <a:bodyPr wrap="square" lIns="0" tIns="0" rIns="0" bIns="0" rtlCol="0"/>
          <a:lstStyle/>
          <a:p>
            <a:endParaRPr sz="1803"/>
          </a:p>
        </p:txBody>
      </p:sp>
      <p:sp>
        <p:nvSpPr>
          <p:cNvPr id="28" name="object 28"/>
          <p:cNvSpPr/>
          <p:nvPr/>
        </p:nvSpPr>
        <p:spPr>
          <a:xfrm>
            <a:off x="1403771" y="5600964"/>
            <a:ext cx="257016" cy="0"/>
          </a:xfrm>
          <a:custGeom>
            <a:avLst/>
            <a:gdLst/>
            <a:ahLst/>
            <a:cxnLst/>
            <a:rect l="l" t="t" r="r" b="b"/>
            <a:pathLst>
              <a:path w="256539">
                <a:moveTo>
                  <a:pt x="0" y="0"/>
                </a:moveTo>
                <a:lnTo>
                  <a:pt x="256412" y="0"/>
                </a:lnTo>
              </a:path>
            </a:pathLst>
          </a:custGeom>
          <a:ln w="15929">
            <a:solidFill>
              <a:srgbClr val="000000"/>
            </a:solidFill>
          </a:ln>
        </p:spPr>
        <p:txBody>
          <a:bodyPr wrap="square" lIns="0" tIns="0" rIns="0" bIns="0" rtlCol="0"/>
          <a:lstStyle/>
          <a:p>
            <a:endParaRPr sz="1803"/>
          </a:p>
        </p:txBody>
      </p:sp>
      <p:sp>
        <p:nvSpPr>
          <p:cNvPr id="29" name="object 29"/>
          <p:cNvSpPr txBox="1"/>
          <p:nvPr/>
        </p:nvSpPr>
        <p:spPr>
          <a:xfrm>
            <a:off x="1552891" y="5801415"/>
            <a:ext cx="248746" cy="294550"/>
          </a:xfrm>
          <a:prstGeom prst="rect">
            <a:avLst/>
          </a:prstGeom>
        </p:spPr>
        <p:txBody>
          <a:bodyPr vert="horz" wrap="square" lIns="0" tIns="13996" rIns="0" bIns="0" rtlCol="0">
            <a:spAutoFit/>
          </a:bodyPr>
          <a:lstStyle/>
          <a:p>
            <a:pPr marL="12724">
              <a:spcBef>
                <a:spcPts val="110"/>
              </a:spcBef>
            </a:pPr>
            <a:r>
              <a:rPr sz="1753" i="1" spc="-25" dirty="0">
                <a:latin typeface="Arial"/>
                <a:cs typeface="Arial"/>
              </a:rPr>
              <a:t>IN</a:t>
            </a:r>
            <a:endParaRPr sz="1753">
              <a:latin typeface="Arial"/>
              <a:cs typeface="Arial"/>
            </a:endParaRPr>
          </a:p>
        </p:txBody>
      </p:sp>
      <p:sp>
        <p:nvSpPr>
          <p:cNvPr id="30" name="object 30"/>
          <p:cNvSpPr txBox="1"/>
          <p:nvPr/>
        </p:nvSpPr>
        <p:spPr>
          <a:xfrm>
            <a:off x="410826" y="5801415"/>
            <a:ext cx="498127" cy="294550"/>
          </a:xfrm>
          <a:prstGeom prst="rect">
            <a:avLst/>
          </a:prstGeom>
        </p:spPr>
        <p:txBody>
          <a:bodyPr vert="horz" wrap="square" lIns="0" tIns="13996" rIns="0" bIns="0" rtlCol="0">
            <a:spAutoFit/>
          </a:bodyPr>
          <a:lstStyle/>
          <a:p>
            <a:pPr marL="12724">
              <a:spcBef>
                <a:spcPts val="110"/>
              </a:spcBef>
            </a:pPr>
            <a:r>
              <a:rPr sz="1753" i="1" spc="-25" dirty="0">
                <a:latin typeface="Arial"/>
                <a:cs typeface="Arial"/>
              </a:rPr>
              <a:t>OUT</a:t>
            </a:r>
            <a:endParaRPr sz="1753">
              <a:latin typeface="Arial"/>
              <a:cs typeface="Arial"/>
            </a:endParaRPr>
          </a:p>
        </p:txBody>
      </p:sp>
      <p:sp>
        <p:nvSpPr>
          <p:cNvPr id="31" name="object 31"/>
          <p:cNvSpPr txBox="1"/>
          <p:nvPr/>
        </p:nvSpPr>
        <p:spPr>
          <a:xfrm>
            <a:off x="153300" y="5303910"/>
            <a:ext cx="4041639" cy="774229"/>
          </a:xfrm>
          <a:prstGeom prst="rect">
            <a:avLst/>
          </a:prstGeom>
        </p:spPr>
        <p:txBody>
          <a:bodyPr vert="horz" wrap="square" lIns="0" tIns="12724" rIns="0" bIns="0" rtlCol="0">
            <a:spAutoFit/>
          </a:bodyPr>
          <a:lstStyle/>
          <a:p>
            <a:pPr marL="38172">
              <a:spcBef>
                <a:spcPts val="100"/>
              </a:spcBef>
              <a:tabLst>
                <a:tab pos="914228" algn="l"/>
                <a:tab pos="1750840" algn="l"/>
              </a:tabLst>
            </a:pPr>
            <a:r>
              <a:rPr sz="3006" i="1" spc="-50" dirty="0">
                <a:latin typeface="Arial"/>
                <a:cs typeface="Arial"/>
              </a:rPr>
              <a:t>V</a:t>
            </a:r>
            <a:r>
              <a:rPr sz="3006" i="1" dirty="0">
                <a:latin typeface="Arial"/>
                <a:cs typeface="Arial"/>
              </a:rPr>
              <a:t>	</a:t>
            </a:r>
            <a:r>
              <a:rPr sz="3006" dirty="0">
                <a:latin typeface="Symbol"/>
                <a:cs typeface="Symbol"/>
              </a:rPr>
              <a:t></a:t>
            </a:r>
            <a:r>
              <a:rPr sz="3006" spc="-346" dirty="0">
                <a:latin typeface="Times New Roman"/>
                <a:cs typeface="Times New Roman"/>
              </a:rPr>
              <a:t> </a:t>
            </a:r>
            <a:r>
              <a:rPr sz="3006" i="1" spc="-50" dirty="0">
                <a:latin typeface="Arial"/>
                <a:cs typeface="Arial"/>
              </a:rPr>
              <a:t>V</a:t>
            </a:r>
            <a:r>
              <a:rPr sz="3006" i="1" dirty="0">
                <a:latin typeface="Arial"/>
                <a:cs typeface="Arial"/>
              </a:rPr>
              <a:t>	</a:t>
            </a:r>
            <a:r>
              <a:rPr sz="3006" dirty="0">
                <a:latin typeface="Symbol"/>
                <a:cs typeface="Symbol"/>
              </a:rPr>
              <a:t></a:t>
            </a:r>
            <a:r>
              <a:rPr sz="3006" spc="-326" dirty="0">
                <a:latin typeface="Times New Roman"/>
                <a:cs typeface="Times New Roman"/>
              </a:rPr>
              <a:t> </a:t>
            </a:r>
            <a:r>
              <a:rPr sz="4909" spc="-240" dirty="0">
                <a:latin typeface="Symbol"/>
                <a:cs typeface="Symbol"/>
              </a:rPr>
              <a:t></a:t>
            </a:r>
            <a:r>
              <a:rPr sz="3006" i="1" spc="-240" dirty="0">
                <a:latin typeface="Arial"/>
                <a:cs typeface="Arial"/>
              </a:rPr>
              <a:t>A</a:t>
            </a:r>
            <a:r>
              <a:rPr sz="3006" spc="-240" dirty="0">
                <a:latin typeface="Arial MT"/>
                <a:cs typeface="Arial MT"/>
              </a:rPr>
              <a:t>(</a:t>
            </a:r>
            <a:r>
              <a:rPr sz="3106" i="1" spc="-240" dirty="0">
                <a:latin typeface="Verdana"/>
                <a:cs typeface="Verdana"/>
              </a:rPr>
              <a:t>ω</a:t>
            </a:r>
            <a:r>
              <a:rPr sz="3006" spc="-240" dirty="0">
                <a:latin typeface="Arial MT"/>
                <a:cs typeface="Arial MT"/>
              </a:rPr>
              <a:t>)</a:t>
            </a:r>
            <a:r>
              <a:rPr sz="3006" spc="-460" dirty="0">
                <a:latin typeface="Arial MT"/>
                <a:cs typeface="Arial MT"/>
              </a:rPr>
              <a:t> </a:t>
            </a:r>
            <a:r>
              <a:rPr sz="3006" dirty="0">
                <a:latin typeface="Symbol"/>
                <a:cs typeface="Symbol"/>
              </a:rPr>
              <a:t></a:t>
            </a:r>
            <a:r>
              <a:rPr sz="3006" spc="-371" dirty="0">
                <a:latin typeface="Times New Roman"/>
                <a:cs typeface="Times New Roman"/>
              </a:rPr>
              <a:t> </a:t>
            </a:r>
            <a:r>
              <a:rPr sz="3006" i="1" dirty="0">
                <a:latin typeface="Arial"/>
                <a:cs typeface="Arial"/>
              </a:rPr>
              <a:t>e</a:t>
            </a:r>
            <a:r>
              <a:rPr sz="3006" i="1" spc="-416" dirty="0">
                <a:latin typeface="Arial"/>
                <a:cs typeface="Arial"/>
              </a:rPr>
              <a:t> </a:t>
            </a:r>
            <a:r>
              <a:rPr sz="2630" i="1" spc="-301" baseline="42857" dirty="0">
                <a:latin typeface="Arial"/>
                <a:cs typeface="Arial"/>
              </a:rPr>
              <a:t>j</a:t>
            </a:r>
            <a:r>
              <a:rPr sz="2705" i="1" spc="-301" baseline="41666" dirty="0">
                <a:latin typeface="Verdana"/>
                <a:cs typeface="Verdana"/>
              </a:rPr>
              <a:t>φ</a:t>
            </a:r>
            <a:r>
              <a:rPr sz="2705" i="1" spc="-668" baseline="41666" dirty="0">
                <a:latin typeface="Verdana"/>
                <a:cs typeface="Verdana"/>
              </a:rPr>
              <a:t> </a:t>
            </a:r>
            <a:r>
              <a:rPr sz="2630" spc="-165" baseline="42857" dirty="0">
                <a:latin typeface="Arial MT"/>
                <a:cs typeface="Arial MT"/>
              </a:rPr>
              <a:t>(</a:t>
            </a:r>
            <a:r>
              <a:rPr sz="2705" i="1" spc="-165" baseline="41666" dirty="0">
                <a:latin typeface="Verdana"/>
                <a:cs typeface="Verdana"/>
              </a:rPr>
              <a:t>ω</a:t>
            </a:r>
            <a:r>
              <a:rPr sz="2705" i="1" spc="-593" baseline="41666" dirty="0">
                <a:latin typeface="Verdana"/>
                <a:cs typeface="Verdana"/>
              </a:rPr>
              <a:t> </a:t>
            </a:r>
            <a:r>
              <a:rPr sz="2630" baseline="42857" dirty="0">
                <a:latin typeface="Arial MT"/>
                <a:cs typeface="Arial MT"/>
              </a:rPr>
              <a:t>)</a:t>
            </a:r>
            <a:r>
              <a:rPr sz="2630" spc="-127" baseline="42857" dirty="0">
                <a:latin typeface="Arial MT"/>
                <a:cs typeface="Arial MT"/>
              </a:rPr>
              <a:t> </a:t>
            </a:r>
            <a:r>
              <a:rPr sz="4909" spc="-706" dirty="0">
                <a:latin typeface="Symbol"/>
                <a:cs typeface="Symbol"/>
              </a:rPr>
              <a:t></a:t>
            </a:r>
            <a:endParaRPr sz="4909">
              <a:latin typeface="Symbol"/>
              <a:cs typeface="Symbol"/>
            </a:endParaRPr>
          </a:p>
        </p:txBody>
      </p:sp>
      <p:sp>
        <p:nvSpPr>
          <p:cNvPr id="32" name="object 32"/>
          <p:cNvSpPr/>
          <p:nvPr/>
        </p:nvSpPr>
        <p:spPr>
          <a:xfrm>
            <a:off x="2063361" y="3604257"/>
            <a:ext cx="1353151" cy="33717"/>
          </a:xfrm>
          <a:custGeom>
            <a:avLst/>
            <a:gdLst/>
            <a:ahLst/>
            <a:cxnLst/>
            <a:rect l="l" t="t" r="r" b="b"/>
            <a:pathLst>
              <a:path w="1350645" h="33654">
                <a:moveTo>
                  <a:pt x="106680" y="0"/>
                </a:moveTo>
                <a:lnTo>
                  <a:pt x="67056" y="0"/>
                </a:lnTo>
                <a:lnTo>
                  <a:pt x="36575" y="3048"/>
                </a:lnTo>
                <a:lnTo>
                  <a:pt x="9143" y="6096"/>
                </a:lnTo>
                <a:lnTo>
                  <a:pt x="0" y="9143"/>
                </a:lnTo>
                <a:lnTo>
                  <a:pt x="6095" y="33528"/>
                </a:lnTo>
                <a:lnTo>
                  <a:pt x="15239" y="30480"/>
                </a:lnTo>
                <a:lnTo>
                  <a:pt x="42671" y="27431"/>
                </a:lnTo>
                <a:lnTo>
                  <a:pt x="106680" y="27431"/>
                </a:lnTo>
                <a:lnTo>
                  <a:pt x="106680" y="0"/>
                </a:lnTo>
                <a:close/>
              </a:path>
              <a:path w="1350645" h="33654">
                <a:moveTo>
                  <a:pt x="283463" y="0"/>
                </a:moveTo>
                <a:lnTo>
                  <a:pt x="182880" y="0"/>
                </a:lnTo>
                <a:lnTo>
                  <a:pt x="182880" y="27431"/>
                </a:lnTo>
                <a:lnTo>
                  <a:pt x="283463" y="27431"/>
                </a:lnTo>
                <a:lnTo>
                  <a:pt x="283463" y="0"/>
                </a:lnTo>
                <a:close/>
              </a:path>
              <a:path w="1350645" h="33654">
                <a:moveTo>
                  <a:pt x="460247" y="0"/>
                </a:moveTo>
                <a:lnTo>
                  <a:pt x="359663" y="0"/>
                </a:lnTo>
                <a:lnTo>
                  <a:pt x="359663" y="27431"/>
                </a:lnTo>
                <a:lnTo>
                  <a:pt x="460247" y="27431"/>
                </a:lnTo>
                <a:lnTo>
                  <a:pt x="460247" y="0"/>
                </a:lnTo>
                <a:close/>
              </a:path>
              <a:path w="1350645" h="33654">
                <a:moveTo>
                  <a:pt x="640080" y="0"/>
                </a:moveTo>
                <a:lnTo>
                  <a:pt x="536447" y="0"/>
                </a:lnTo>
                <a:lnTo>
                  <a:pt x="536447" y="27431"/>
                </a:lnTo>
                <a:lnTo>
                  <a:pt x="640080" y="27431"/>
                </a:lnTo>
                <a:lnTo>
                  <a:pt x="640080" y="0"/>
                </a:lnTo>
                <a:close/>
              </a:path>
              <a:path w="1350645" h="33654">
                <a:moveTo>
                  <a:pt x="816863" y="0"/>
                </a:moveTo>
                <a:lnTo>
                  <a:pt x="716280" y="0"/>
                </a:lnTo>
                <a:lnTo>
                  <a:pt x="716280" y="27431"/>
                </a:lnTo>
                <a:lnTo>
                  <a:pt x="816863" y="27431"/>
                </a:lnTo>
                <a:lnTo>
                  <a:pt x="816863" y="0"/>
                </a:lnTo>
                <a:close/>
              </a:path>
              <a:path w="1350645" h="33654">
                <a:moveTo>
                  <a:pt x="993647" y="0"/>
                </a:moveTo>
                <a:lnTo>
                  <a:pt x="893063" y="0"/>
                </a:lnTo>
                <a:lnTo>
                  <a:pt x="893063" y="27431"/>
                </a:lnTo>
                <a:lnTo>
                  <a:pt x="993647" y="27431"/>
                </a:lnTo>
                <a:lnTo>
                  <a:pt x="993647" y="0"/>
                </a:lnTo>
                <a:close/>
              </a:path>
              <a:path w="1350645" h="33654">
                <a:moveTo>
                  <a:pt x="1173480" y="0"/>
                </a:moveTo>
                <a:lnTo>
                  <a:pt x="1069847" y="0"/>
                </a:lnTo>
                <a:lnTo>
                  <a:pt x="1069847" y="27431"/>
                </a:lnTo>
                <a:lnTo>
                  <a:pt x="1173480" y="27431"/>
                </a:lnTo>
                <a:lnTo>
                  <a:pt x="1173480" y="0"/>
                </a:lnTo>
                <a:close/>
              </a:path>
              <a:path w="1350645" h="33654">
                <a:moveTo>
                  <a:pt x="1350264" y="0"/>
                </a:moveTo>
                <a:lnTo>
                  <a:pt x="1249680" y="0"/>
                </a:lnTo>
                <a:lnTo>
                  <a:pt x="1249680" y="27431"/>
                </a:lnTo>
                <a:lnTo>
                  <a:pt x="1350264" y="27431"/>
                </a:lnTo>
                <a:lnTo>
                  <a:pt x="1350264" y="0"/>
                </a:lnTo>
                <a:close/>
              </a:path>
            </a:pathLst>
          </a:custGeom>
          <a:solidFill>
            <a:srgbClr val="FF0000"/>
          </a:solidFill>
        </p:spPr>
        <p:txBody>
          <a:bodyPr wrap="square" lIns="0" tIns="0" rIns="0" bIns="0" rtlCol="0"/>
          <a:lstStyle/>
          <a:p>
            <a:endParaRPr sz="1803"/>
          </a:p>
        </p:txBody>
      </p:sp>
      <p:sp>
        <p:nvSpPr>
          <p:cNvPr id="33" name="object 33"/>
          <p:cNvSpPr/>
          <p:nvPr/>
        </p:nvSpPr>
        <p:spPr>
          <a:xfrm>
            <a:off x="3492472" y="3617996"/>
            <a:ext cx="2595607" cy="0"/>
          </a:xfrm>
          <a:custGeom>
            <a:avLst/>
            <a:gdLst/>
            <a:ahLst/>
            <a:cxnLst/>
            <a:rect l="l" t="t" r="r" b="b"/>
            <a:pathLst>
              <a:path w="2590800">
                <a:moveTo>
                  <a:pt x="0" y="0"/>
                </a:moveTo>
                <a:lnTo>
                  <a:pt x="2590800" y="0"/>
                </a:lnTo>
              </a:path>
            </a:pathLst>
          </a:custGeom>
          <a:ln w="27431">
            <a:solidFill>
              <a:srgbClr val="FF0000"/>
            </a:solidFill>
            <a:prstDash val="sysDash"/>
          </a:ln>
        </p:spPr>
        <p:txBody>
          <a:bodyPr wrap="square" lIns="0" tIns="0" rIns="0" bIns="0" rtlCol="0"/>
          <a:lstStyle/>
          <a:p>
            <a:endParaRPr sz="1803"/>
          </a:p>
        </p:txBody>
      </p:sp>
      <p:sp>
        <p:nvSpPr>
          <p:cNvPr id="34" name="object 34"/>
          <p:cNvSpPr/>
          <p:nvPr/>
        </p:nvSpPr>
        <p:spPr>
          <a:xfrm>
            <a:off x="6164421" y="3604764"/>
            <a:ext cx="101152" cy="26719"/>
          </a:xfrm>
          <a:custGeom>
            <a:avLst/>
            <a:gdLst/>
            <a:ahLst/>
            <a:cxnLst/>
            <a:rect l="l" t="t" r="r" b="b"/>
            <a:pathLst>
              <a:path w="100964" h="26670">
                <a:moveTo>
                  <a:pt x="100584" y="2540"/>
                </a:moveTo>
                <a:lnTo>
                  <a:pt x="95491" y="2540"/>
                </a:lnTo>
                <a:lnTo>
                  <a:pt x="95491" y="0"/>
                </a:lnTo>
                <a:lnTo>
                  <a:pt x="0" y="0"/>
                </a:lnTo>
                <a:lnTo>
                  <a:pt x="0" y="2540"/>
                </a:lnTo>
                <a:lnTo>
                  <a:pt x="0" y="26670"/>
                </a:lnTo>
                <a:lnTo>
                  <a:pt x="100584" y="26670"/>
                </a:lnTo>
                <a:lnTo>
                  <a:pt x="100584" y="2540"/>
                </a:lnTo>
                <a:close/>
              </a:path>
            </a:pathLst>
          </a:custGeom>
          <a:solidFill>
            <a:srgbClr val="FF0000"/>
          </a:solidFill>
        </p:spPr>
        <p:txBody>
          <a:bodyPr wrap="square" lIns="0" tIns="0" rIns="0" bIns="0" rtlCol="0"/>
          <a:lstStyle/>
          <a:p>
            <a:endParaRPr sz="1803"/>
          </a:p>
        </p:txBody>
      </p:sp>
      <p:sp>
        <p:nvSpPr>
          <p:cNvPr id="35" name="object 35"/>
          <p:cNvSpPr/>
          <p:nvPr/>
        </p:nvSpPr>
        <p:spPr>
          <a:xfrm>
            <a:off x="6335423" y="3619523"/>
            <a:ext cx="198488" cy="1282535"/>
          </a:xfrm>
          <a:custGeom>
            <a:avLst/>
            <a:gdLst/>
            <a:ahLst/>
            <a:cxnLst/>
            <a:rect l="l" t="t" r="r" b="b"/>
            <a:pathLst>
              <a:path w="198120" h="1280160">
                <a:moveTo>
                  <a:pt x="9144" y="0"/>
                </a:moveTo>
                <a:lnTo>
                  <a:pt x="0" y="24383"/>
                </a:lnTo>
                <a:lnTo>
                  <a:pt x="18288" y="30479"/>
                </a:lnTo>
                <a:lnTo>
                  <a:pt x="60960" y="54863"/>
                </a:lnTo>
                <a:lnTo>
                  <a:pt x="79248" y="70103"/>
                </a:lnTo>
                <a:lnTo>
                  <a:pt x="85344" y="73151"/>
                </a:lnTo>
                <a:lnTo>
                  <a:pt x="100584" y="54863"/>
                </a:lnTo>
                <a:lnTo>
                  <a:pt x="94488" y="48767"/>
                </a:lnTo>
                <a:lnTo>
                  <a:pt x="51816" y="18287"/>
                </a:lnTo>
                <a:lnTo>
                  <a:pt x="24384" y="6095"/>
                </a:lnTo>
                <a:lnTo>
                  <a:pt x="9144" y="0"/>
                </a:lnTo>
                <a:close/>
              </a:path>
              <a:path w="198120" h="1280160">
                <a:moveTo>
                  <a:pt x="152400" y="115823"/>
                </a:moveTo>
                <a:lnTo>
                  <a:pt x="131064" y="128015"/>
                </a:lnTo>
                <a:lnTo>
                  <a:pt x="140208" y="143255"/>
                </a:lnTo>
                <a:lnTo>
                  <a:pt x="152400" y="167639"/>
                </a:lnTo>
                <a:lnTo>
                  <a:pt x="161544" y="188975"/>
                </a:lnTo>
                <a:lnTo>
                  <a:pt x="167640" y="213359"/>
                </a:lnTo>
                <a:lnTo>
                  <a:pt x="167640" y="216407"/>
                </a:lnTo>
                <a:lnTo>
                  <a:pt x="192024" y="213359"/>
                </a:lnTo>
                <a:lnTo>
                  <a:pt x="192024" y="207263"/>
                </a:lnTo>
                <a:lnTo>
                  <a:pt x="182879" y="182879"/>
                </a:lnTo>
                <a:lnTo>
                  <a:pt x="173736" y="155447"/>
                </a:lnTo>
                <a:lnTo>
                  <a:pt x="161544" y="131063"/>
                </a:lnTo>
                <a:lnTo>
                  <a:pt x="152400" y="115823"/>
                </a:lnTo>
                <a:close/>
              </a:path>
              <a:path w="198120" h="1280160">
                <a:moveTo>
                  <a:pt x="198120" y="289559"/>
                </a:moveTo>
                <a:lnTo>
                  <a:pt x="170688" y="289559"/>
                </a:lnTo>
                <a:lnTo>
                  <a:pt x="170688" y="393191"/>
                </a:lnTo>
                <a:lnTo>
                  <a:pt x="198120" y="393191"/>
                </a:lnTo>
                <a:lnTo>
                  <a:pt x="198120" y="289559"/>
                </a:lnTo>
                <a:close/>
              </a:path>
              <a:path w="198120" h="1280160">
                <a:moveTo>
                  <a:pt x="198120" y="469391"/>
                </a:moveTo>
                <a:lnTo>
                  <a:pt x="170688" y="469391"/>
                </a:lnTo>
                <a:lnTo>
                  <a:pt x="170688" y="569975"/>
                </a:lnTo>
                <a:lnTo>
                  <a:pt x="198120" y="569975"/>
                </a:lnTo>
                <a:lnTo>
                  <a:pt x="198120" y="469391"/>
                </a:lnTo>
                <a:close/>
              </a:path>
              <a:path w="198120" h="1280160">
                <a:moveTo>
                  <a:pt x="198120" y="646175"/>
                </a:moveTo>
                <a:lnTo>
                  <a:pt x="170688" y="646175"/>
                </a:lnTo>
                <a:lnTo>
                  <a:pt x="170688" y="746759"/>
                </a:lnTo>
                <a:lnTo>
                  <a:pt x="198120" y="746759"/>
                </a:lnTo>
                <a:lnTo>
                  <a:pt x="198120" y="646175"/>
                </a:lnTo>
                <a:close/>
              </a:path>
              <a:path w="198120" h="1280160">
                <a:moveTo>
                  <a:pt x="198120" y="822959"/>
                </a:moveTo>
                <a:lnTo>
                  <a:pt x="170688" y="822959"/>
                </a:lnTo>
                <a:lnTo>
                  <a:pt x="170688" y="926591"/>
                </a:lnTo>
                <a:lnTo>
                  <a:pt x="198120" y="926591"/>
                </a:lnTo>
                <a:lnTo>
                  <a:pt x="198120" y="822959"/>
                </a:lnTo>
                <a:close/>
              </a:path>
              <a:path w="198120" h="1280160">
                <a:moveTo>
                  <a:pt x="198120" y="1002791"/>
                </a:moveTo>
                <a:lnTo>
                  <a:pt x="170688" y="1002791"/>
                </a:lnTo>
                <a:lnTo>
                  <a:pt x="170688" y="1103375"/>
                </a:lnTo>
                <a:lnTo>
                  <a:pt x="198120" y="1103375"/>
                </a:lnTo>
                <a:lnTo>
                  <a:pt x="198120" y="1002791"/>
                </a:lnTo>
                <a:close/>
              </a:path>
              <a:path w="198120" h="1280160">
                <a:moveTo>
                  <a:pt x="198120" y="1179575"/>
                </a:moveTo>
                <a:lnTo>
                  <a:pt x="170688" y="1179575"/>
                </a:lnTo>
                <a:lnTo>
                  <a:pt x="170688" y="1280159"/>
                </a:lnTo>
                <a:lnTo>
                  <a:pt x="198120" y="1280159"/>
                </a:lnTo>
                <a:lnTo>
                  <a:pt x="198120" y="1179575"/>
                </a:lnTo>
                <a:close/>
              </a:path>
            </a:pathLst>
          </a:custGeom>
          <a:solidFill>
            <a:srgbClr val="FF0000"/>
          </a:solidFill>
        </p:spPr>
        <p:txBody>
          <a:bodyPr wrap="square" lIns="0" tIns="0" rIns="0" bIns="0" rtlCol="0"/>
          <a:lstStyle/>
          <a:p>
            <a:endParaRPr sz="1803"/>
          </a:p>
        </p:txBody>
      </p:sp>
      <p:sp>
        <p:nvSpPr>
          <p:cNvPr id="36" name="object 36"/>
          <p:cNvSpPr/>
          <p:nvPr/>
        </p:nvSpPr>
        <p:spPr>
          <a:xfrm>
            <a:off x="5297181" y="4978400"/>
            <a:ext cx="1234186" cy="257016"/>
          </a:xfrm>
          <a:custGeom>
            <a:avLst/>
            <a:gdLst/>
            <a:ahLst/>
            <a:cxnLst/>
            <a:rect l="l" t="t" r="r" b="b"/>
            <a:pathLst>
              <a:path w="1231900" h="256539">
                <a:moveTo>
                  <a:pt x="1207008" y="0"/>
                </a:moveTo>
                <a:lnTo>
                  <a:pt x="1207008" y="3048"/>
                </a:lnTo>
                <a:lnTo>
                  <a:pt x="1203960" y="27432"/>
                </a:lnTo>
                <a:lnTo>
                  <a:pt x="1194815" y="51816"/>
                </a:lnTo>
                <a:lnTo>
                  <a:pt x="1188719" y="76200"/>
                </a:lnTo>
                <a:lnTo>
                  <a:pt x="1179576" y="91440"/>
                </a:lnTo>
                <a:lnTo>
                  <a:pt x="1200912" y="103632"/>
                </a:lnTo>
                <a:lnTo>
                  <a:pt x="1213104" y="82296"/>
                </a:lnTo>
                <a:lnTo>
                  <a:pt x="1222247" y="57912"/>
                </a:lnTo>
                <a:lnTo>
                  <a:pt x="1228343" y="30480"/>
                </a:lnTo>
                <a:lnTo>
                  <a:pt x="1231391" y="3048"/>
                </a:lnTo>
                <a:lnTo>
                  <a:pt x="1207008" y="0"/>
                </a:lnTo>
                <a:close/>
              </a:path>
              <a:path w="1231900" h="256539">
                <a:moveTo>
                  <a:pt x="1136904" y="152400"/>
                </a:moveTo>
                <a:lnTo>
                  <a:pt x="1094232" y="185928"/>
                </a:lnTo>
                <a:lnTo>
                  <a:pt x="1057656" y="207264"/>
                </a:lnTo>
                <a:lnTo>
                  <a:pt x="1069847" y="228600"/>
                </a:lnTo>
                <a:lnTo>
                  <a:pt x="1109471" y="207264"/>
                </a:lnTo>
                <a:lnTo>
                  <a:pt x="1152143" y="173736"/>
                </a:lnTo>
                <a:lnTo>
                  <a:pt x="1155191" y="167640"/>
                </a:lnTo>
                <a:lnTo>
                  <a:pt x="1136904" y="152400"/>
                </a:lnTo>
                <a:close/>
              </a:path>
              <a:path w="1231900" h="256539">
                <a:moveTo>
                  <a:pt x="990600" y="225552"/>
                </a:moveTo>
                <a:lnTo>
                  <a:pt x="978408" y="228600"/>
                </a:lnTo>
                <a:lnTo>
                  <a:pt x="890015" y="228600"/>
                </a:lnTo>
                <a:lnTo>
                  <a:pt x="890015" y="256032"/>
                </a:lnTo>
                <a:lnTo>
                  <a:pt x="954024" y="256032"/>
                </a:lnTo>
                <a:lnTo>
                  <a:pt x="984503" y="252984"/>
                </a:lnTo>
                <a:lnTo>
                  <a:pt x="993648" y="252984"/>
                </a:lnTo>
                <a:lnTo>
                  <a:pt x="990600" y="225552"/>
                </a:lnTo>
                <a:close/>
              </a:path>
              <a:path w="1231900" h="256539">
                <a:moveTo>
                  <a:pt x="813815" y="228600"/>
                </a:moveTo>
                <a:lnTo>
                  <a:pt x="713232" y="228600"/>
                </a:lnTo>
                <a:lnTo>
                  <a:pt x="713232" y="256032"/>
                </a:lnTo>
                <a:lnTo>
                  <a:pt x="813815" y="256032"/>
                </a:lnTo>
                <a:lnTo>
                  <a:pt x="813815" y="228600"/>
                </a:lnTo>
                <a:close/>
              </a:path>
              <a:path w="1231900" h="256539">
                <a:moveTo>
                  <a:pt x="637032" y="228600"/>
                </a:moveTo>
                <a:lnTo>
                  <a:pt x="533400" y="228600"/>
                </a:lnTo>
                <a:lnTo>
                  <a:pt x="533400" y="256032"/>
                </a:lnTo>
                <a:lnTo>
                  <a:pt x="637032" y="256032"/>
                </a:lnTo>
                <a:lnTo>
                  <a:pt x="637032" y="228600"/>
                </a:lnTo>
                <a:close/>
              </a:path>
              <a:path w="1231900" h="256539">
                <a:moveTo>
                  <a:pt x="457200" y="228600"/>
                </a:moveTo>
                <a:lnTo>
                  <a:pt x="356615" y="228600"/>
                </a:lnTo>
                <a:lnTo>
                  <a:pt x="356615" y="256032"/>
                </a:lnTo>
                <a:lnTo>
                  <a:pt x="457200" y="256032"/>
                </a:lnTo>
                <a:lnTo>
                  <a:pt x="457200" y="228600"/>
                </a:lnTo>
                <a:close/>
              </a:path>
              <a:path w="1231900" h="256539">
                <a:moveTo>
                  <a:pt x="280415" y="228600"/>
                </a:moveTo>
                <a:lnTo>
                  <a:pt x="179832" y="228600"/>
                </a:lnTo>
                <a:lnTo>
                  <a:pt x="179832" y="256032"/>
                </a:lnTo>
                <a:lnTo>
                  <a:pt x="280415" y="256032"/>
                </a:lnTo>
                <a:lnTo>
                  <a:pt x="280415" y="228600"/>
                </a:lnTo>
                <a:close/>
              </a:path>
              <a:path w="1231900" h="256539">
                <a:moveTo>
                  <a:pt x="103632" y="228600"/>
                </a:moveTo>
                <a:lnTo>
                  <a:pt x="0" y="228600"/>
                </a:lnTo>
                <a:lnTo>
                  <a:pt x="0" y="256032"/>
                </a:lnTo>
                <a:lnTo>
                  <a:pt x="103632" y="256032"/>
                </a:lnTo>
                <a:lnTo>
                  <a:pt x="103632" y="228600"/>
                </a:lnTo>
                <a:close/>
              </a:path>
            </a:pathLst>
          </a:custGeom>
          <a:solidFill>
            <a:srgbClr val="FF0000"/>
          </a:solidFill>
        </p:spPr>
        <p:txBody>
          <a:bodyPr wrap="square" lIns="0" tIns="0" rIns="0" bIns="0" rtlCol="0"/>
          <a:lstStyle/>
          <a:p>
            <a:endParaRPr sz="1803"/>
          </a:p>
        </p:txBody>
      </p:sp>
      <p:sp>
        <p:nvSpPr>
          <p:cNvPr id="37" name="object 37"/>
          <p:cNvSpPr/>
          <p:nvPr/>
        </p:nvSpPr>
        <p:spPr>
          <a:xfrm>
            <a:off x="1849606" y="3643953"/>
            <a:ext cx="1948614" cy="1591081"/>
          </a:xfrm>
          <a:custGeom>
            <a:avLst/>
            <a:gdLst/>
            <a:ahLst/>
            <a:cxnLst/>
            <a:rect l="l" t="t" r="r" b="b"/>
            <a:pathLst>
              <a:path w="1945004" h="1588135">
                <a:moveTo>
                  <a:pt x="27432" y="1207008"/>
                </a:moveTo>
                <a:lnTo>
                  <a:pt x="0" y="1207008"/>
                </a:lnTo>
                <a:lnTo>
                  <a:pt x="0" y="1307592"/>
                </a:lnTo>
                <a:lnTo>
                  <a:pt x="27432" y="1307592"/>
                </a:lnTo>
                <a:lnTo>
                  <a:pt x="27432" y="1207008"/>
                </a:lnTo>
                <a:close/>
              </a:path>
              <a:path w="1945004" h="1588135">
                <a:moveTo>
                  <a:pt x="27432" y="1027176"/>
                </a:moveTo>
                <a:lnTo>
                  <a:pt x="0" y="1027176"/>
                </a:lnTo>
                <a:lnTo>
                  <a:pt x="0" y="1130808"/>
                </a:lnTo>
                <a:lnTo>
                  <a:pt x="27432" y="1130808"/>
                </a:lnTo>
                <a:lnTo>
                  <a:pt x="27432" y="1027176"/>
                </a:lnTo>
                <a:close/>
              </a:path>
              <a:path w="1945004" h="1588135">
                <a:moveTo>
                  <a:pt x="27432" y="850392"/>
                </a:moveTo>
                <a:lnTo>
                  <a:pt x="0" y="850392"/>
                </a:lnTo>
                <a:lnTo>
                  <a:pt x="0" y="950976"/>
                </a:lnTo>
                <a:lnTo>
                  <a:pt x="27432" y="950976"/>
                </a:lnTo>
                <a:lnTo>
                  <a:pt x="27432" y="850392"/>
                </a:lnTo>
                <a:close/>
              </a:path>
              <a:path w="1945004" h="1588135">
                <a:moveTo>
                  <a:pt x="27432" y="673608"/>
                </a:moveTo>
                <a:lnTo>
                  <a:pt x="0" y="673608"/>
                </a:lnTo>
                <a:lnTo>
                  <a:pt x="0" y="774192"/>
                </a:lnTo>
                <a:lnTo>
                  <a:pt x="27432" y="774192"/>
                </a:lnTo>
                <a:lnTo>
                  <a:pt x="27432" y="673608"/>
                </a:lnTo>
                <a:close/>
              </a:path>
              <a:path w="1945004" h="1588135">
                <a:moveTo>
                  <a:pt x="27432" y="493776"/>
                </a:moveTo>
                <a:lnTo>
                  <a:pt x="0" y="493776"/>
                </a:lnTo>
                <a:lnTo>
                  <a:pt x="0" y="597408"/>
                </a:lnTo>
                <a:lnTo>
                  <a:pt x="27432" y="597408"/>
                </a:lnTo>
                <a:lnTo>
                  <a:pt x="27432" y="493776"/>
                </a:lnTo>
                <a:close/>
              </a:path>
              <a:path w="1945004" h="1588135">
                <a:moveTo>
                  <a:pt x="27432" y="316992"/>
                </a:moveTo>
                <a:lnTo>
                  <a:pt x="0" y="316992"/>
                </a:lnTo>
                <a:lnTo>
                  <a:pt x="0" y="417576"/>
                </a:lnTo>
                <a:lnTo>
                  <a:pt x="27432" y="417576"/>
                </a:lnTo>
                <a:lnTo>
                  <a:pt x="27432" y="316992"/>
                </a:lnTo>
                <a:close/>
              </a:path>
              <a:path w="1945004" h="1588135">
                <a:moveTo>
                  <a:pt x="45720" y="146304"/>
                </a:moveTo>
                <a:lnTo>
                  <a:pt x="21336" y="137160"/>
                </a:lnTo>
                <a:lnTo>
                  <a:pt x="12192" y="158496"/>
                </a:lnTo>
                <a:lnTo>
                  <a:pt x="6096" y="185928"/>
                </a:lnTo>
                <a:lnTo>
                  <a:pt x="0" y="240792"/>
                </a:lnTo>
                <a:lnTo>
                  <a:pt x="27432" y="240792"/>
                </a:lnTo>
                <a:lnTo>
                  <a:pt x="27432" y="213360"/>
                </a:lnTo>
                <a:lnTo>
                  <a:pt x="30480" y="188976"/>
                </a:lnTo>
                <a:lnTo>
                  <a:pt x="36576" y="164592"/>
                </a:lnTo>
                <a:lnTo>
                  <a:pt x="45720" y="146304"/>
                </a:lnTo>
                <a:close/>
              </a:path>
              <a:path w="1945004" h="1588135">
                <a:moveTo>
                  <a:pt x="54864" y="1423416"/>
                </a:moveTo>
                <a:lnTo>
                  <a:pt x="45720" y="1405128"/>
                </a:lnTo>
                <a:lnTo>
                  <a:pt x="36576" y="1383792"/>
                </a:lnTo>
                <a:lnTo>
                  <a:pt x="30480" y="1359408"/>
                </a:lnTo>
                <a:lnTo>
                  <a:pt x="27432" y="1331976"/>
                </a:lnTo>
                <a:lnTo>
                  <a:pt x="3048" y="1331976"/>
                </a:lnTo>
                <a:lnTo>
                  <a:pt x="3048" y="1338072"/>
                </a:lnTo>
                <a:lnTo>
                  <a:pt x="6096" y="1365504"/>
                </a:lnTo>
                <a:lnTo>
                  <a:pt x="12192" y="1389888"/>
                </a:lnTo>
                <a:lnTo>
                  <a:pt x="24384" y="1417320"/>
                </a:lnTo>
                <a:lnTo>
                  <a:pt x="30480" y="1435608"/>
                </a:lnTo>
                <a:lnTo>
                  <a:pt x="54864" y="1423416"/>
                </a:lnTo>
                <a:close/>
              </a:path>
              <a:path w="1945004" h="1588135">
                <a:moveTo>
                  <a:pt x="152400" y="21336"/>
                </a:moveTo>
                <a:lnTo>
                  <a:pt x="140208" y="0"/>
                </a:lnTo>
                <a:lnTo>
                  <a:pt x="124968" y="9144"/>
                </a:lnTo>
                <a:lnTo>
                  <a:pt x="103632" y="24384"/>
                </a:lnTo>
                <a:lnTo>
                  <a:pt x="82296" y="42672"/>
                </a:lnTo>
                <a:lnTo>
                  <a:pt x="64008" y="64008"/>
                </a:lnTo>
                <a:lnTo>
                  <a:pt x="60960" y="67056"/>
                </a:lnTo>
                <a:lnTo>
                  <a:pt x="82296" y="82296"/>
                </a:lnTo>
                <a:lnTo>
                  <a:pt x="85344" y="79248"/>
                </a:lnTo>
                <a:lnTo>
                  <a:pt x="100584" y="60960"/>
                </a:lnTo>
                <a:lnTo>
                  <a:pt x="118872" y="45720"/>
                </a:lnTo>
                <a:lnTo>
                  <a:pt x="140208" y="30480"/>
                </a:lnTo>
                <a:lnTo>
                  <a:pt x="152400" y="21336"/>
                </a:lnTo>
                <a:close/>
              </a:path>
              <a:path w="1945004" h="1588135">
                <a:moveTo>
                  <a:pt x="173736" y="1539240"/>
                </a:moveTo>
                <a:lnTo>
                  <a:pt x="158496" y="1530096"/>
                </a:lnTo>
                <a:lnTo>
                  <a:pt x="137160" y="1517904"/>
                </a:lnTo>
                <a:lnTo>
                  <a:pt x="100584" y="1487424"/>
                </a:lnTo>
                <a:lnTo>
                  <a:pt x="97536" y="1481328"/>
                </a:lnTo>
                <a:lnTo>
                  <a:pt x="76200" y="1499616"/>
                </a:lnTo>
                <a:lnTo>
                  <a:pt x="82296" y="1505712"/>
                </a:lnTo>
                <a:lnTo>
                  <a:pt x="103632" y="1524000"/>
                </a:lnTo>
                <a:lnTo>
                  <a:pt x="146304" y="1554480"/>
                </a:lnTo>
                <a:lnTo>
                  <a:pt x="164592" y="1560576"/>
                </a:lnTo>
                <a:lnTo>
                  <a:pt x="173736" y="1539240"/>
                </a:lnTo>
                <a:close/>
              </a:path>
              <a:path w="1945004" h="1588135">
                <a:moveTo>
                  <a:pt x="344424" y="1560576"/>
                </a:moveTo>
                <a:lnTo>
                  <a:pt x="252984" y="1560576"/>
                </a:lnTo>
                <a:lnTo>
                  <a:pt x="243840" y="1557528"/>
                </a:lnTo>
                <a:lnTo>
                  <a:pt x="240792" y="1584960"/>
                </a:lnTo>
                <a:lnTo>
                  <a:pt x="252984" y="1584960"/>
                </a:lnTo>
                <a:lnTo>
                  <a:pt x="280416" y="1588008"/>
                </a:lnTo>
                <a:lnTo>
                  <a:pt x="344424" y="1588008"/>
                </a:lnTo>
                <a:lnTo>
                  <a:pt x="344424" y="1560576"/>
                </a:lnTo>
                <a:close/>
              </a:path>
              <a:path w="1945004" h="1588135">
                <a:moveTo>
                  <a:pt x="521208" y="1560576"/>
                </a:moveTo>
                <a:lnTo>
                  <a:pt x="420624" y="1560576"/>
                </a:lnTo>
                <a:lnTo>
                  <a:pt x="420624" y="1588008"/>
                </a:lnTo>
                <a:lnTo>
                  <a:pt x="521208" y="1588008"/>
                </a:lnTo>
                <a:lnTo>
                  <a:pt x="521208" y="1560576"/>
                </a:lnTo>
                <a:close/>
              </a:path>
              <a:path w="1945004" h="1588135">
                <a:moveTo>
                  <a:pt x="697992" y="1560576"/>
                </a:moveTo>
                <a:lnTo>
                  <a:pt x="597408" y="1560576"/>
                </a:lnTo>
                <a:lnTo>
                  <a:pt x="597408" y="1588008"/>
                </a:lnTo>
                <a:lnTo>
                  <a:pt x="697992" y="1588008"/>
                </a:lnTo>
                <a:lnTo>
                  <a:pt x="697992" y="1560576"/>
                </a:lnTo>
                <a:close/>
              </a:path>
              <a:path w="1945004" h="1588135">
                <a:moveTo>
                  <a:pt x="877824" y="1560576"/>
                </a:moveTo>
                <a:lnTo>
                  <a:pt x="774192" y="1560576"/>
                </a:lnTo>
                <a:lnTo>
                  <a:pt x="774192" y="1588008"/>
                </a:lnTo>
                <a:lnTo>
                  <a:pt x="877824" y="1588008"/>
                </a:lnTo>
                <a:lnTo>
                  <a:pt x="877824" y="1560576"/>
                </a:lnTo>
                <a:close/>
              </a:path>
              <a:path w="1945004" h="1588135">
                <a:moveTo>
                  <a:pt x="1054608" y="1560576"/>
                </a:moveTo>
                <a:lnTo>
                  <a:pt x="954024" y="1560576"/>
                </a:lnTo>
                <a:lnTo>
                  <a:pt x="954024" y="1588008"/>
                </a:lnTo>
                <a:lnTo>
                  <a:pt x="1054608" y="1588008"/>
                </a:lnTo>
                <a:lnTo>
                  <a:pt x="1054608" y="1560576"/>
                </a:lnTo>
                <a:close/>
              </a:path>
              <a:path w="1945004" h="1588135">
                <a:moveTo>
                  <a:pt x="1231392" y="1560576"/>
                </a:moveTo>
                <a:lnTo>
                  <a:pt x="1130808" y="1560576"/>
                </a:lnTo>
                <a:lnTo>
                  <a:pt x="1130808" y="1588008"/>
                </a:lnTo>
                <a:lnTo>
                  <a:pt x="1231392" y="1588008"/>
                </a:lnTo>
                <a:lnTo>
                  <a:pt x="1231392" y="1560576"/>
                </a:lnTo>
                <a:close/>
              </a:path>
              <a:path w="1945004" h="1588135">
                <a:moveTo>
                  <a:pt x="1411224" y="1560576"/>
                </a:moveTo>
                <a:lnTo>
                  <a:pt x="1307592" y="1560576"/>
                </a:lnTo>
                <a:lnTo>
                  <a:pt x="1307592" y="1588008"/>
                </a:lnTo>
                <a:lnTo>
                  <a:pt x="1411224" y="1588008"/>
                </a:lnTo>
                <a:lnTo>
                  <a:pt x="1411224" y="1560576"/>
                </a:lnTo>
                <a:close/>
              </a:path>
              <a:path w="1945004" h="1588135">
                <a:moveTo>
                  <a:pt x="1588008" y="1560576"/>
                </a:moveTo>
                <a:lnTo>
                  <a:pt x="1487424" y="1560576"/>
                </a:lnTo>
                <a:lnTo>
                  <a:pt x="1487424" y="1588008"/>
                </a:lnTo>
                <a:lnTo>
                  <a:pt x="1588008" y="1588008"/>
                </a:lnTo>
                <a:lnTo>
                  <a:pt x="1588008" y="1560576"/>
                </a:lnTo>
                <a:close/>
              </a:path>
              <a:path w="1945004" h="1588135">
                <a:moveTo>
                  <a:pt x="1764792" y="1560576"/>
                </a:moveTo>
                <a:lnTo>
                  <a:pt x="1664208" y="1560576"/>
                </a:lnTo>
                <a:lnTo>
                  <a:pt x="1664208" y="1588008"/>
                </a:lnTo>
                <a:lnTo>
                  <a:pt x="1764792" y="1588008"/>
                </a:lnTo>
                <a:lnTo>
                  <a:pt x="1764792" y="1560576"/>
                </a:lnTo>
                <a:close/>
              </a:path>
              <a:path w="1945004" h="1588135">
                <a:moveTo>
                  <a:pt x="1944624" y="1560576"/>
                </a:moveTo>
                <a:lnTo>
                  <a:pt x="1840992" y="1560576"/>
                </a:lnTo>
                <a:lnTo>
                  <a:pt x="1840992" y="1588008"/>
                </a:lnTo>
                <a:lnTo>
                  <a:pt x="1944624" y="1588008"/>
                </a:lnTo>
                <a:lnTo>
                  <a:pt x="1944624" y="1560576"/>
                </a:lnTo>
                <a:close/>
              </a:path>
            </a:pathLst>
          </a:custGeom>
          <a:solidFill>
            <a:srgbClr val="FF0000"/>
          </a:solidFill>
        </p:spPr>
        <p:txBody>
          <a:bodyPr wrap="square" lIns="0" tIns="0" rIns="0" bIns="0" rtlCol="0"/>
          <a:lstStyle/>
          <a:p>
            <a:endParaRPr sz="1803"/>
          </a:p>
        </p:txBody>
      </p:sp>
      <p:sp>
        <p:nvSpPr>
          <p:cNvPr id="38" name="object 38"/>
          <p:cNvSpPr/>
          <p:nvPr/>
        </p:nvSpPr>
        <p:spPr>
          <a:xfrm>
            <a:off x="3874179" y="5221165"/>
            <a:ext cx="1346789" cy="0"/>
          </a:xfrm>
          <a:custGeom>
            <a:avLst/>
            <a:gdLst/>
            <a:ahLst/>
            <a:cxnLst/>
            <a:rect l="l" t="t" r="r" b="b"/>
            <a:pathLst>
              <a:path w="1344295">
                <a:moveTo>
                  <a:pt x="0" y="0"/>
                </a:moveTo>
                <a:lnTo>
                  <a:pt x="1344167" y="0"/>
                </a:lnTo>
              </a:path>
            </a:pathLst>
          </a:custGeom>
          <a:ln w="27431">
            <a:solidFill>
              <a:srgbClr val="FF0000"/>
            </a:solidFill>
            <a:prstDash val="sysDash"/>
          </a:ln>
        </p:spPr>
        <p:txBody>
          <a:bodyPr wrap="square" lIns="0" tIns="0" rIns="0" bIns="0" rtlCol="0"/>
          <a:lstStyle/>
          <a:p>
            <a:endParaRPr sz="1803"/>
          </a:p>
        </p:txBody>
      </p:sp>
      <p:sp>
        <p:nvSpPr>
          <p:cNvPr id="39" name="object 39"/>
          <p:cNvSpPr/>
          <p:nvPr/>
        </p:nvSpPr>
        <p:spPr>
          <a:xfrm>
            <a:off x="2002288" y="5360107"/>
            <a:ext cx="2165550" cy="867747"/>
          </a:xfrm>
          <a:custGeom>
            <a:avLst/>
            <a:gdLst/>
            <a:ahLst/>
            <a:cxnLst/>
            <a:rect l="l" t="t" r="r" b="b"/>
            <a:pathLst>
              <a:path w="2161540" h="866139">
                <a:moveTo>
                  <a:pt x="27431" y="710184"/>
                </a:moveTo>
                <a:lnTo>
                  <a:pt x="0" y="713232"/>
                </a:lnTo>
                <a:lnTo>
                  <a:pt x="3048" y="725424"/>
                </a:lnTo>
                <a:lnTo>
                  <a:pt x="27431" y="725424"/>
                </a:lnTo>
                <a:lnTo>
                  <a:pt x="27431" y="710184"/>
                </a:lnTo>
                <a:close/>
              </a:path>
              <a:path w="2161540" h="866139">
                <a:moveTo>
                  <a:pt x="27431" y="609600"/>
                </a:moveTo>
                <a:lnTo>
                  <a:pt x="0" y="609600"/>
                </a:lnTo>
                <a:lnTo>
                  <a:pt x="0" y="713232"/>
                </a:lnTo>
                <a:lnTo>
                  <a:pt x="27431" y="710184"/>
                </a:lnTo>
                <a:lnTo>
                  <a:pt x="27431" y="609600"/>
                </a:lnTo>
                <a:close/>
              </a:path>
              <a:path w="2161540" h="866139">
                <a:moveTo>
                  <a:pt x="27431" y="432816"/>
                </a:moveTo>
                <a:lnTo>
                  <a:pt x="0" y="432816"/>
                </a:lnTo>
                <a:lnTo>
                  <a:pt x="0" y="533400"/>
                </a:lnTo>
                <a:lnTo>
                  <a:pt x="27431" y="533400"/>
                </a:lnTo>
                <a:lnTo>
                  <a:pt x="27431" y="432816"/>
                </a:lnTo>
                <a:close/>
              </a:path>
              <a:path w="2161540" h="866139">
                <a:moveTo>
                  <a:pt x="27431" y="256032"/>
                </a:moveTo>
                <a:lnTo>
                  <a:pt x="0" y="256032"/>
                </a:lnTo>
                <a:lnTo>
                  <a:pt x="0" y="356616"/>
                </a:lnTo>
                <a:lnTo>
                  <a:pt x="27431" y="356616"/>
                </a:lnTo>
                <a:lnTo>
                  <a:pt x="27431" y="256032"/>
                </a:lnTo>
                <a:close/>
              </a:path>
              <a:path w="2161540" h="866139">
                <a:moveTo>
                  <a:pt x="24384" y="73152"/>
                </a:moveTo>
                <a:lnTo>
                  <a:pt x="18287" y="82296"/>
                </a:lnTo>
                <a:lnTo>
                  <a:pt x="12192" y="94488"/>
                </a:lnTo>
                <a:lnTo>
                  <a:pt x="6096" y="109728"/>
                </a:lnTo>
                <a:lnTo>
                  <a:pt x="3048" y="121920"/>
                </a:lnTo>
                <a:lnTo>
                  <a:pt x="3048" y="137160"/>
                </a:lnTo>
                <a:lnTo>
                  <a:pt x="0" y="152400"/>
                </a:lnTo>
                <a:lnTo>
                  <a:pt x="0" y="179832"/>
                </a:lnTo>
                <a:lnTo>
                  <a:pt x="27431" y="179832"/>
                </a:lnTo>
                <a:lnTo>
                  <a:pt x="27431" y="140208"/>
                </a:lnTo>
                <a:lnTo>
                  <a:pt x="36575" y="103632"/>
                </a:lnTo>
                <a:lnTo>
                  <a:pt x="42672" y="91440"/>
                </a:lnTo>
                <a:lnTo>
                  <a:pt x="45719" y="88392"/>
                </a:lnTo>
                <a:lnTo>
                  <a:pt x="24384" y="73152"/>
                </a:lnTo>
                <a:close/>
              </a:path>
              <a:path w="2161540" h="866139">
                <a:moveTo>
                  <a:pt x="188975" y="0"/>
                </a:moveTo>
                <a:lnTo>
                  <a:pt x="152400" y="0"/>
                </a:lnTo>
                <a:lnTo>
                  <a:pt x="137160" y="3048"/>
                </a:lnTo>
                <a:lnTo>
                  <a:pt x="121919" y="3048"/>
                </a:lnTo>
                <a:lnTo>
                  <a:pt x="106680" y="9144"/>
                </a:lnTo>
                <a:lnTo>
                  <a:pt x="94487" y="12192"/>
                </a:lnTo>
                <a:lnTo>
                  <a:pt x="82296" y="18288"/>
                </a:lnTo>
                <a:lnTo>
                  <a:pt x="94487" y="39624"/>
                </a:lnTo>
                <a:lnTo>
                  <a:pt x="103631" y="36576"/>
                </a:lnTo>
                <a:lnTo>
                  <a:pt x="115824" y="30480"/>
                </a:lnTo>
                <a:lnTo>
                  <a:pt x="128016" y="27432"/>
                </a:lnTo>
                <a:lnTo>
                  <a:pt x="188975" y="27432"/>
                </a:lnTo>
                <a:lnTo>
                  <a:pt x="188975" y="0"/>
                </a:lnTo>
                <a:close/>
              </a:path>
              <a:path w="2161540" h="866139">
                <a:moveTo>
                  <a:pt x="365760" y="0"/>
                </a:moveTo>
                <a:lnTo>
                  <a:pt x="265175" y="0"/>
                </a:lnTo>
                <a:lnTo>
                  <a:pt x="265175" y="27432"/>
                </a:lnTo>
                <a:lnTo>
                  <a:pt x="365760" y="27432"/>
                </a:lnTo>
                <a:lnTo>
                  <a:pt x="365760" y="0"/>
                </a:lnTo>
                <a:close/>
              </a:path>
              <a:path w="2161540" h="866139">
                <a:moveTo>
                  <a:pt x="542544" y="0"/>
                </a:moveTo>
                <a:lnTo>
                  <a:pt x="441960" y="0"/>
                </a:lnTo>
                <a:lnTo>
                  <a:pt x="441960" y="27432"/>
                </a:lnTo>
                <a:lnTo>
                  <a:pt x="542544" y="27432"/>
                </a:lnTo>
                <a:lnTo>
                  <a:pt x="542544" y="0"/>
                </a:lnTo>
                <a:close/>
              </a:path>
              <a:path w="2161540" h="866139">
                <a:moveTo>
                  <a:pt x="722376" y="0"/>
                </a:moveTo>
                <a:lnTo>
                  <a:pt x="618744" y="0"/>
                </a:lnTo>
                <a:lnTo>
                  <a:pt x="618744" y="27432"/>
                </a:lnTo>
                <a:lnTo>
                  <a:pt x="722376" y="27432"/>
                </a:lnTo>
                <a:lnTo>
                  <a:pt x="722376" y="0"/>
                </a:lnTo>
                <a:close/>
              </a:path>
              <a:path w="2161540" h="866139">
                <a:moveTo>
                  <a:pt x="899160" y="0"/>
                </a:moveTo>
                <a:lnTo>
                  <a:pt x="798576" y="0"/>
                </a:lnTo>
                <a:lnTo>
                  <a:pt x="798576" y="27432"/>
                </a:lnTo>
                <a:lnTo>
                  <a:pt x="899160" y="27432"/>
                </a:lnTo>
                <a:lnTo>
                  <a:pt x="899160" y="0"/>
                </a:lnTo>
                <a:close/>
              </a:path>
              <a:path w="2161540" h="866139">
                <a:moveTo>
                  <a:pt x="1075944" y="0"/>
                </a:moveTo>
                <a:lnTo>
                  <a:pt x="975360" y="0"/>
                </a:lnTo>
                <a:lnTo>
                  <a:pt x="975360" y="27432"/>
                </a:lnTo>
                <a:lnTo>
                  <a:pt x="1075944" y="27432"/>
                </a:lnTo>
                <a:lnTo>
                  <a:pt x="1075944" y="0"/>
                </a:lnTo>
                <a:close/>
              </a:path>
              <a:path w="2161540" h="866139">
                <a:moveTo>
                  <a:pt x="1255776" y="0"/>
                </a:moveTo>
                <a:lnTo>
                  <a:pt x="1152144" y="0"/>
                </a:lnTo>
                <a:lnTo>
                  <a:pt x="1152144" y="27432"/>
                </a:lnTo>
                <a:lnTo>
                  <a:pt x="1255776" y="27432"/>
                </a:lnTo>
                <a:lnTo>
                  <a:pt x="1255776" y="0"/>
                </a:lnTo>
                <a:close/>
              </a:path>
              <a:path w="2161540" h="866139">
                <a:moveTo>
                  <a:pt x="1432559" y="0"/>
                </a:moveTo>
                <a:lnTo>
                  <a:pt x="1331976" y="0"/>
                </a:lnTo>
                <a:lnTo>
                  <a:pt x="1331976" y="27432"/>
                </a:lnTo>
                <a:lnTo>
                  <a:pt x="1432559" y="27432"/>
                </a:lnTo>
                <a:lnTo>
                  <a:pt x="1432559" y="0"/>
                </a:lnTo>
                <a:close/>
              </a:path>
              <a:path w="2161540" h="866139">
                <a:moveTo>
                  <a:pt x="1609344" y="0"/>
                </a:moveTo>
                <a:lnTo>
                  <a:pt x="1508759" y="0"/>
                </a:lnTo>
                <a:lnTo>
                  <a:pt x="1508759" y="27432"/>
                </a:lnTo>
                <a:lnTo>
                  <a:pt x="1609344" y="27432"/>
                </a:lnTo>
                <a:lnTo>
                  <a:pt x="1609344" y="0"/>
                </a:lnTo>
                <a:close/>
              </a:path>
              <a:path w="2161540" h="866139">
                <a:moveTo>
                  <a:pt x="1789176" y="0"/>
                </a:moveTo>
                <a:lnTo>
                  <a:pt x="1685544" y="0"/>
                </a:lnTo>
                <a:lnTo>
                  <a:pt x="1685544" y="27432"/>
                </a:lnTo>
                <a:lnTo>
                  <a:pt x="1789176" y="27432"/>
                </a:lnTo>
                <a:lnTo>
                  <a:pt x="1789176" y="0"/>
                </a:lnTo>
                <a:close/>
              </a:path>
              <a:path w="2161540" h="866139">
                <a:moveTo>
                  <a:pt x="1965959" y="0"/>
                </a:moveTo>
                <a:lnTo>
                  <a:pt x="1865376" y="0"/>
                </a:lnTo>
                <a:lnTo>
                  <a:pt x="1865376" y="27432"/>
                </a:lnTo>
                <a:lnTo>
                  <a:pt x="1965959" y="27432"/>
                </a:lnTo>
                <a:lnTo>
                  <a:pt x="1965959" y="0"/>
                </a:lnTo>
                <a:close/>
              </a:path>
              <a:path w="2161540" h="866139">
                <a:moveTo>
                  <a:pt x="2115312" y="45720"/>
                </a:moveTo>
                <a:lnTo>
                  <a:pt x="2078735" y="45720"/>
                </a:lnTo>
                <a:lnTo>
                  <a:pt x="2097024" y="64008"/>
                </a:lnTo>
                <a:lnTo>
                  <a:pt x="2112264" y="82296"/>
                </a:lnTo>
                <a:lnTo>
                  <a:pt x="2133600" y="67057"/>
                </a:lnTo>
                <a:lnTo>
                  <a:pt x="2115312" y="45720"/>
                </a:lnTo>
                <a:close/>
              </a:path>
              <a:path w="2161540" h="866139">
                <a:moveTo>
                  <a:pt x="2051304" y="6096"/>
                </a:moveTo>
                <a:lnTo>
                  <a:pt x="2045208" y="6096"/>
                </a:lnTo>
                <a:lnTo>
                  <a:pt x="2039112" y="30480"/>
                </a:lnTo>
                <a:lnTo>
                  <a:pt x="2045208" y="33528"/>
                </a:lnTo>
                <a:lnTo>
                  <a:pt x="2057400" y="36576"/>
                </a:lnTo>
                <a:lnTo>
                  <a:pt x="2069592" y="42672"/>
                </a:lnTo>
                <a:lnTo>
                  <a:pt x="2078735" y="48768"/>
                </a:lnTo>
                <a:lnTo>
                  <a:pt x="2078735" y="45720"/>
                </a:lnTo>
                <a:lnTo>
                  <a:pt x="2115312" y="45720"/>
                </a:lnTo>
                <a:lnTo>
                  <a:pt x="2093976" y="27432"/>
                </a:lnTo>
                <a:lnTo>
                  <a:pt x="2090928" y="27432"/>
                </a:lnTo>
                <a:lnTo>
                  <a:pt x="2078735" y="18288"/>
                </a:lnTo>
                <a:lnTo>
                  <a:pt x="2066544" y="12192"/>
                </a:lnTo>
                <a:lnTo>
                  <a:pt x="2051304" y="6096"/>
                </a:lnTo>
                <a:close/>
              </a:path>
              <a:path w="2161540" h="866139">
                <a:moveTo>
                  <a:pt x="2161032" y="146304"/>
                </a:moveTo>
                <a:lnTo>
                  <a:pt x="2133600" y="146304"/>
                </a:lnTo>
                <a:lnTo>
                  <a:pt x="2133600" y="246888"/>
                </a:lnTo>
                <a:lnTo>
                  <a:pt x="2161032" y="246888"/>
                </a:lnTo>
                <a:lnTo>
                  <a:pt x="2161032" y="146304"/>
                </a:lnTo>
                <a:close/>
              </a:path>
              <a:path w="2161540" h="866139">
                <a:moveTo>
                  <a:pt x="2161032" y="323088"/>
                </a:moveTo>
                <a:lnTo>
                  <a:pt x="2133600" y="323088"/>
                </a:lnTo>
                <a:lnTo>
                  <a:pt x="2133600" y="426720"/>
                </a:lnTo>
                <a:lnTo>
                  <a:pt x="2161032" y="426720"/>
                </a:lnTo>
                <a:lnTo>
                  <a:pt x="2161032" y="323088"/>
                </a:lnTo>
                <a:close/>
              </a:path>
              <a:path w="2161540" h="866139">
                <a:moveTo>
                  <a:pt x="2161032" y="502920"/>
                </a:moveTo>
                <a:lnTo>
                  <a:pt x="2133600" y="502920"/>
                </a:lnTo>
                <a:lnTo>
                  <a:pt x="2133600" y="603504"/>
                </a:lnTo>
                <a:lnTo>
                  <a:pt x="2161032" y="603504"/>
                </a:lnTo>
                <a:lnTo>
                  <a:pt x="2161032" y="502920"/>
                </a:lnTo>
                <a:close/>
              </a:path>
              <a:path w="2161540" h="866139">
                <a:moveTo>
                  <a:pt x="2161032" y="679704"/>
                </a:moveTo>
                <a:lnTo>
                  <a:pt x="2133600" y="679704"/>
                </a:lnTo>
                <a:lnTo>
                  <a:pt x="2133600" y="725424"/>
                </a:lnTo>
                <a:lnTo>
                  <a:pt x="2124456" y="762000"/>
                </a:lnTo>
                <a:lnTo>
                  <a:pt x="2118360" y="774192"/>
                </a:lnTo>
                <a:lnTo>
                  <a:pt x="2142744" y="786384"/>
                </a:lnTo>
                <a:lnTo>
                  <a:pt x="2142744" y="783336"/>
                </a:lnTo>
                <a:lnTo>
                  <a:pt x="2148840" y="771144"/>
                </a:lnTo>
                <a:lnTo>
                  <a:pt x="2151888" y="755904"/>
                </a:lnTo>
                <a:lnTo>
                  <a:pt x="2157984" y="743712"/>
                </a:lnTo>
                <a:lnTo>
                  <a:pt x="2157984" y="728472"/>
                </a:lnTo>
                <a:lnTo>
                  <a:pt x="2161032" y="713232"/>
                </a:lnTo>
                <a:lnTo>
                  <a:pt x="2161032" y="679704"/>
                </a:lnTo>
                <a:close/>
              </a:path>
              <a:path w="2161540" h="866139">
                <a:moveTo>
                  <a:pt x="2072640" y="822960"/>
                </a:moveTo>
                <a:lnTo>
                  <a:pt x="2066544" y="822960"/>
                </a:lnTo>
                <a:lnTo>
                  <a:pt x="2057400" y="829056"/>
                </a:lnTo>
                <a:lnTo>
                  <a:pt x="2045208" y="835152"/>
                </a:lnTo>
                <a:lnTo>
                  <a:pt x="2033016" y="835152"/>
                </a:lnTo>
                <a:lnTo>
                  <a:pt x="2020824" y="838200"/>
                </a:lnTo>
                <a:lnTo>
                  <a:pt x="1978152" y="838200"/>
                </a:lnTo>
                <a:lnTo>
                  <a:pt x="1978152" y="865632"/>
                </a:lnTo>
                <a:lnTo>
                  <a:pt x="2008632" y="865632"/>
                </a:lnTo>
                <a:lnTo>
                  <a:pt x="2023871" y="862584"/>
                </a:lnTo>
                <a:lnTo>
                  <a:pt x="2039112" y="862584"/>
                </a:lnTo>
                <a:lnTo>
                  <a:pt x="2054352" y="856488"/>
                </a:lnTo>
                <a:lnTo>
                  <a:pt x="2066544" y="853440"/>
                </a:lnTo>
                <a:lnTo>
                  <a:pt x="2081783" y="847344"/>
                </a:lnTo>
                <a:lnTo>
                  <a:pt x="2084832" y="844296"/>
                </a:lnTo>
                <a:lnTo>
                  <a:pt x="2072640" y="822960"/>
                </a:lnTo>
                <a:close/>
              </a:path>
              <a:path w="2161540" h="866139">
                <a:moveTo>
                  <a:pt x="1901952" y="838200"/>
                </a:moveTo>
                <a:lnTo>
                  <a:pt x="1801368" y="838200"/>
                </a:lnTo>
                <a:lnTo>
                  <a:pt x="1801368" y="865632"/>
                </a:lnTo>
                <a:lnTo>
                  <a:pt x="1901952" y="865632"/>
                </a:lnTo>
                <a:lnTo>
                  <a:pt x="1901952" y="838200"/>
                </a:lnTo>
                <a:close/>
              </a:path>
              <a:path w="2161540" h="866139">
                <a:moveTo>
                  <a:pt x="1725168" y="838200"/>
                </a:moveTo>
                <a:lnTo>
                  <a:pt x="1624583" y="838200"/>
                </a:lnTo>
                <a:lnTo>
                  <a:pt x="1624583" y="865632"/>
                </a:lnTo>
                <a:lnTo>
                  <a:pt x="1725168" y="865632"/>
                </a:lnTo>
                <a:lnTo>
                  <a:pt x="1725168" y="838200"/>
                </a:lnTo>
                <a:close/>
              </a:path>
              <a:path w="2161540" h="866139">
                <a:moveTo>
                  <a:pt x="1548383" y="838200"/>
                </a:moveTo>
                <a:lnTo>
                  <a:pt x="1444752" y="838200"/>
                </a:lnTo>
                <a:lnTo>
                  <a:pt x="1444752" y="865632"/>
                </a:lnTo>
                <a:lnTo>
                  <a:pt x="1548383" y="865632"/>
                </a:lnTo>
                <a:lnTo>
                  <a:pt x="1548383" y="838200"/>
                </a:lnTo>
                <a:close/>
              </a:path>
              <a:path w="2161540" h="866139">
                <a:moveTo>
                  <a:pt x="1368552" y="838200"/>
                </a:moveTo>
                <a:lnTo>
                  <a:pt x="1267968" y="838200"/>
                </a:lnTo>
                <a:lnTo>
                  <a:pt x="1267968" y="865632"/>
                </a:lnTo>
                <a:lnTo>
                  <a:pt x="1368552" y="865632"/>
                </a:lnTo>
                <a:lnTo>
                  <a:pt x="1368552" y="838200"/>
                </a:lnTo>
                <a:close/>
              </a:path>
              <a:path w="2161540" h="866139">
                <a:moveTo>
                  <a:pt x="1191768" y="838200"/>
                </a:moveTo>
                <a:lnTo>
                  <a:pt x="1091183" y="838200"/>
                </a:lnTo>
                <a:lnTo>
                  <a:pt x="1091183" y="865632"/>
                </a:lnTo>
                <a:lnTo>
                  <a:pt x="1191768" y="865632"/>
                </a:lnTo>
                <a:lnTo>
                  <a:pt x="1191768" y="838200"/>
                </a:lnTo>
                <a:close/>
              </a:path>
              <a:path w="2161540" h="866139">
                <a:moveTo>
                  <a:pt x="1014984" y="838200"/>
                </a:moveTo>
                <a:lnTo>
                  <a:pt x="911352" y="838200"/>
                </a:lnTo>
                <a:lnTo>
                  <a:pt x="911352" y="865632"/>
                </a:lnTo>
                <a:lnTo>
                  <a:pt x="1014984" y="865632"/>
                </a:lnTo>
                <a:lnTo>
                  <a:pt x="1014984" y="838200"/>
                </a:lnTo>
                <a:close/>
              </a:path>
              <a:path w="2161540" h="866139">
                <a:moveTo>
                  <a:pt x="835152" y="838200"/>
                </a:moveTo>
                <a:lnTo>
                  <a:pt x="734568" y="838200"/>
                </a:lnTo>
                <a:lnTo>
                  <a:pt x="734568" y="865632"/>
                </a:lnTo>
                <a:lnTo>
                  <a:pt x="835152" y="865632"/>
                </a:lnTo>
                <a:lnTo>
                  <a:pt x="835152" y="838200"/>
                </a:lnTo>
                <a:close/>
              </a:path>
              <a:path w="2161540" h="866139">
                <a:moveTo>
                  <a:pt x="658368" y="838200"/>
                </a:moveTo>
                <a:lnTo>
                  <a:pt x="557784" y="838200"/>
                </a:lnTo>
                <a:lnTo>
                  <a:pt x="557784" y="865632"/>
                </a:lnTo>
                <a:lnTo>
                  <a:pt x="658368" y="865632"/>
                </a:lnTo>
                <a:lnTo>
                  <a:pt x="658368" y="838200"/>
                </a:lnTo>
                <a:close/>
              </a:path>
              <a:path w="2161540" h="866139">
                <a:moveTo>
                  <a:pt x="481584" y="838200"/>
                </a:moveTo>
                <a:lnTo>
                  <a:pt x="377952" y="838200"/>
                </a:lnTo>
                <a:lnTo>
                  <a:pt x="377952" y="865632"/>
                </a:lnTo>
                <a:lnTo>
                  <a:pt x="481584" y="865632"/>
                </a:lnTo>
                <a:lnTo>
                  <a:pt x="481584" y="838200"/>
                </a:lnTo>
                <a:close/>
              </a:path>
              <a:path w="2161540" h="866139">
                <a:moveTo>
                  <a:pt x="301752" y="838200"/>
                </a:moveTo>
                <a:lnTo>
                  <a:pt x="201168" y="838200"/>
                </a:lnTo>
                <a:lnTo>
                  <a:pt x="201168" y="865632"/>
                </a:lnTo>
                <a:lnTo>
                  <a:pt x="301752" y="865632"/>
                </a:lnTo>
                <a:lnTo>
                  <a:pt x="301752" y="838200"/>
                </a:lnTo>
                <a:close/>
              </a:path>
              <a:path w="2161540" h="866139">
                <a:moveTo>
                  <a:pt x="51816" y="786384"/>
                </a:moveTo>
                <a:lnTo>
                  <a:pt x="33528" y="804672"/>
                </a:lnTo>
                <a:lnTo>
                  <a:pt x="45719" y="819912"/>
                </a:lnTo>
                <a:lnTo>
                  <a:pt x="82296" y="847344"/>
                </a:lnTo>
                <a:lnTo>
                  <a:pt x="94487" y="853440"/>
                </a:lnTo>
                <a:lnTo>
                  <a:pt x="109728" y="856488"/>
                </a:lnTo>
                <a:lnTo>
                  <a:pt x="121919" y="862584"/>
                </a:lnTo>
                <a:lnTo>
                  <a:pt x="124968" y="862584"/>
                </a:lnTo>
                <a:lnTo>
                  <a:pt x="128016" y="835152"/>
                </a:lnTo>
                <a:lnTo>
                  <a:pt x="103631" y="829056"/>
                </a:lnTo>
                <a:lnTo>
                  <a:pt x="91440" y="822960"/>
                </a:lnTo>
                <a:lnTo>
                  <a:pt x="82296" y="816864"/>
                </a:lnTo>
                <a:lnTo>
                  <a:pt x="64007" y="801624"/>
                </a:lnTo>
                <a:lnTo>
                  <a:pt x="51816" y="786384"/>
                </a:lnTo>
                <a:close/>
              </a:path>
            </a:pathLst>
          </a:custGeom>
          <a:solidFill>
            <a:srgbClr val="FF0000"/>
          </a:solidFill>
        </p:spPr>
        <p:txBody>
          <a:bodyPr wrap="square" lIns="0" tIns="0" rIns="0" bIns="0" rtlCol="0"/>
          <a:lstStyle/>
          <a:p>
            <a:endParaRPr sz="1803"/>
          </a:p>
        </p:txBody>
      </p:sp>
      <p:sp>
        <p:nvSpPr>
          <p:cNvPr id="40" name="object 40"/>
          <p:cNvSpPr txBox="1"/>
          <p:nvPr/>
        </p:nvSpPr>
        <p:spPr>
          <a:xfrm>
            <a:off x="4307289" y="5619159"/>
            <a:ext cx="2837991" cy="330176"/>
          </a:xfrm>
          <a:prstGeom prst="rect">
            <a:avLst/>
          </a:prstGeom>
        </p:spPr>
        <p:txBody>
          <a:bodyPr vert="horz" wrap="square" lIns="0" tIns="11451" rIns="0" bIns="0" rtlCol="0">
            <a:spAutoFit/>
          </a:bodyPr>
          <a:lstStyle/>
          <a:p>
            <a:pPr marL="12724">
              <a:spcBef>
                <a:spcPts val="90"/>
              </a:spcBef>
            </a:pPr>
            <a:r>
              <a:rPr sz="2004" dirty="0">
                <a:latin typeface="Calibri"/>
                <a:cs typeface="Calibri"/>
              </a:rPr>
              <a:t>Only</a:t>
            </a:r>
            <a:r>
              <a:rPr sz="2004" spc="-65" dirty="0">
                <a:latin typeface="Calibri"/>
                <a:cs typeface="Calibri"/>
              </a:rPr>
              <a:t> </a:t>
            </a:r>
            <a:r>
              <a:rPr sz="2004" dirty="0">
                <a:latin typeface="Calibri"/>
                <a:cs typeface="Calibri"/>
              </a:rPr>
              <a:t>one</a:t>
            </a:r>
            <a:r>
              <a:rPr sz="2004" spc="-55" dirty="0">
                <a:latin typeface="Calibri"/>
                <a:cs typeface="Calibri"/>
              </a:rPr>
              <a:t> </a:t>
            </a:r>
            <a:r>
              <a:rPr sz="2004" dirty="0">
                <a:latin typeface="Calibri"/>
                <a:cs typeface="Calibri"/>
              </a:rPr>
              <a:t>complex </a:t>
            </a:r>
            <a:r>
              <a:rPr sz="2004" spc="-10" dirty="0">
                <a:latin typeface="Calibri"/>
                <a:cs typeface="Calibri"/>
              </a:rPr>
              <a:t>number!</a:t>
            </a:r>
            <a:endParaRPr sz="2004">
              <a:latin typeface="Calibri"/>
              <a:cs typeface="Calibri"/>
            </a:endParaRPr>
          </a:p>
        </p:txBody>
      </p:sp>
      <p:sp>
        <p:nvSpPr>
          <p:cNvPr id="41" name="Rectangle 40"/>
          <p:cNvSpPr/>
          <p:nvPr/>
        </p:nvSpPr>
        <p:spPr>
          <a:xfrm>
            <a:off x="6743307" y="3638417"/>
            <a:ext cx="5351283" cy="2308324"/>
          </a:xfrm>
          <a:prstGeom prst="rect">
            <a:avLst/>
          </a:prstGeom>
        </p:spPr>
        <p:txBody>
          <a:bodyPr wrap="square">
            <a:spAutoFit/>
          </a:bodyPr>
          <a:lstStyle/>
          <a:p>
            <a:r>
              <a:rPr lang="en-US" sz="1600" b="1" dirty="0">
                <a:solidFill>
                  <a:srgbClr val="FF0000"/>
                </a:solidFill>
                <a:latin typeface="CIDFont+F5"/>
              </a:rPr>
              <a:t>Using the expressions for Z1 and Z2, we can now easily write the </a:t>
            </a:r>
            <a:r>
              <a:rPr lang="en-US" sz="1600" b="1" dirty="0" smtClean="0">
                <a:solidFill>
                  <a:srgbClr val="FF0000"/>
                </a:solidFill>
                <a:latin typeface="CIDFont+F5"/>
              </a:rPr>
              <a:t>relationship between </a:t>
            </a:r>
            <a:r>
              <a:rPr lang="en-US" sz="1600" b="1" dirty="0">
                <a:solidFill>
                  <a:srgbClr val="FF0000"/>
                </a:solidFill>
                <a:latin typeface="CIDFont+F5"/>
              </a:rPr>
              <a:t>input phasor (input voltage) and output phasor (output voltage) since </a:t>
            </a:r>
            <a:r>
              <a:rPr lang="en-US" sz="1600" b="1" dirty="0" smtClean="0">
                <a:solidFill>
                  <a:srgbClr val="FF0000"/>
                </a:solidFill>
                <a:latin typeface="CIDFont+F5"/>
              </a:rPr>
              <a:t>this circuit </a:t>
            </a:r>
            <a:r>
              <a:rPr lang="en-US" sz="1600" b="1" dirty="0">
                <a:solidFill>
                  <a:srgbClr val="FF0000"/>
                </a:solidFill>
                <a:latin typeface="CIDFont+F5"/>
              </a:rPr>
              <a:t>behaves as a voltage divider. The resulting equation is called the </a:t>
            </a:r>
            <a:r>
              <a:rPr lang="en-US" sz="1600" b="1" dirty="0" smtClean="0">
                <a:solidFill>
                  <a:srgbClr val="FF0000"/>
                </a:solidFill>
                <a:latin typeface="CIDFont+F7"/>
              </a:rPr>
              <a:t>transfer function </a:t>
            </a:r>
            <a:r>
              <a:rPr lang="en-US" sz="1600" b="1" dirty="0">
                <a:solidFill>
                  <a:srgbClr val="FF0000"/>
                </a:solidFill>
                <a:latin typeface="CIDFont+F5"/>
              </a:rPr>
              <a:t>of the circuit (from input to output).</a:t>
            </a:r>
          </a:p>
          <a:p>
            <a:r>
              <a:rPr lang="en-US" sz="1600" b="1" dirty="0">
                <a:solidFill>
                  <a:srgbClr val="FF0000"/>
                </a:solidFill>
                <a:latin typeface="CIDFont+F5"/>
              </a:rPr>
              <a:t>The relationship between input phasor and output phasor is easily found. It is </a:t>
            </a:r>
            <a:r>
              <a:rPr lang="en-US" sz="1600" b="1" dirty="0" smtClean="0">
                <a:solidFill>
                  <a:srgbClr val="FF0000"/>
                </a:solidFill>
                <a:latin typeface="CIDFont+F5"/>
              </a:rPr>
              <a:t>just a </a:t>
            </a:r>
            <a:r>
              <a:rPr lang="en-US" sz="1600" b="1" dirty="0">
                <a:solidFill>
                  <a:srgbClr val="FF0000"/>
                </a:solidFill>
                <a:latin typeface="CIDFont+F5"/>
              </a:rPr>
              <a:t>complex number. But this complex number depends on the frequency.</a:t>
            </a:r>
            <a:endParaRPr lang="en-US" sz="2400" b="1" dirty="0">
              <a:solidFill>
                <a:srgbClr val="FF0000"/>
              </a:solidFill>
            </a:endParaRPr>
          </a:p>
        </p:txBody>
      </p:sp>
    </p:spTree>
    <p:extLst>
      <p:ext uri="{BB962C8B-B14F-4D97-AF65-F5344CB8AC3E}">
        <p14:creationId xmlns:p14="http://schemas.microsoft.com/office/powerpoint/2010/main" val="3441217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475" y="3196844"/>
            <a:ext cx="4401055" cy="2033321"/>
          </a:xfrm>
          <a:prstGeom prst="rect">
            <a:avLst/>
          </a:prstGeom>
        </p:spPr>
      </p:pic>
      <p:sp>
        <p:nvSpPr>
          <p:cNvPr id="3" name="object 3"/>
          <p:cNvSpPr txBox="1">
            <a:spLocks noGrp="1"/>
          </p:cNvSpPr>
          <p:nvPr>
            <p:ph type="title"/>
          </p:nvPr>
        </p:nvSpPr>
        <p:spPr>
          <a:xfrm>
            <a:off x="2728073" y="188309"/>
            <a:ext cx="6737761" cy="1248181"/>
          </a:xfrm>
          <a:prstGeom prst="rect">
            <a:avLst/>
          </a:prstGeom>
        </p:spPr>
        <p:txBody>
          <a:bodyPr vert="horz" wrap="square" lIns="0" tIns="13360" rIns="0" bIns="0" rtlCol="0">
            <a:spAutoFit/>
          </a:bodyPr>
          <a:lstStyle/>
          <a:p>
            <a:pPr marL="1194160" marR="5090" indent="-1182072">
              <a:spcBef>
                <a:spcPts val="105"/>
              </a:spcBef>
            </a:pPr>
            <a:r>
              <a:rPr sz="4008" dirty="0"/>
              <a:t>Circuit</a:t>
            </a:r>
            <a:r>
              <a:rPr sz="4008" spc="-105" dirty="0"/>
              <a:t> </a:t>
            </a:r>
            <a:r>
              <a:rPr sz="4008" dirty="0"/>
              <a:t>analysis</a:t>
            </a:r>
            <a:r>
              <a:rPr sz="4008" spc="-90" dirty="0"/>
              <a:t> </a:t>
            </a:r>
            <a:r>
              <a:rPr sz="4008" dirty="0"/>
              <a:t>with</a:t>
            </a:r>
            <a:r>
              <a:rPr sz="4008" spc="-80" dirty="0"/>
              <a:t> </a:t>
            </a:r>
            <a:r>
              <a:rPr sz="4008" dirty="0"/>
              <a:t>phasors</a:t>
            </a:r>
            <a:r>
              <a:rPr sz="4008" spc="-85" dirty="0"/>
              <a:t> </a:t>
            </a:r>
            <a:r>
              <a:rPr sz="4008" spc="-25" dirty="0"/>
              <a:t>and </a:t>
            </a:r>
            <a:r>
              <a:rPr sz="4008" dirty="0"/>
              <a:t>complex</a:t>
            </a:r>
            <a:r>
              <a:rPr sz="4008" spc="-145" dirty="0"/>
              <a:t> </a:t>
            </a:r>
            <a:r>
              <a:rPr sz="4008" spc="-10" dirty="0"/>
              <a:t>impedances</a:t>
            </a:r>
            <a:endParaRPr sz="4008"/>
          </a:p>
        </p:txBody>
      </p:sp>
      <p:sp>
        <p:nvSpPr>
          <p:cNvPr id="4" name="object 4"/>
          <p:cNvSpPr txBox="1"/>
          <p:nvPr/>
        </p:nvSpPr>
        <p:spPr>
          <a:xfrm>
            <a:off x="465288" y="1474817"/>
            <a:ext cx="7264518" cy="1124763"/>
          </a:xfrm>
          <a:prstGeom prst="rect">
            <a:avLst/>
          </a:prstGeom>
        </p:spPr>
        <p:txBody>
          <a:bodyPr vert="horz" wrap="square" lIns="0" tIns="12724" rIns="0" bIns="0" rtlCol="0">
            <a:spAutoFit/>
          </a:bodyPr>
          <a:lstStyle/>
          <a:p>
            <a:pPr marL="25448" marR="17814">
              <a:spcBef>
                <a:spcPts val="100"/>
              </a:spcBef>
            </a:pPr>
            <a:r>
              <a:rPr sz="2405" dirty="0">
                <a:latin typeface="Calibri"/>
                <a:cs typeface="Calibri"/>
              </a:rPr>
              <a:t>What</a:t>
            </a:r>
            <a:r>
              <a:rPr sz="2405" spc="-60" dirty="0">
                <a:latin typeface="Calibri"/>
                <a:cs typeface="Calibri"/>
              </a:rPr>
              <a:t> </a:t>
            </a:r>
            <a:r>
              <a:rPr sz="2405" dirty="0">
                <a:latin typeface="Calibri"/>
                <a:cs typeface="Calibri"/>
              </a:rPr>
              <a:t>is</a:t>
            </a:r>
            <a:r>
              <a:rPr sz="2405" spc="-35" dirty="0">
                <a:latin typeface="Calibri"/>
                <a:cs typeface="Calibri"/>
              </a:rPr>
              <a:t> </a:t>
            </a:r>
            <a:r>
              <a:rPr sz="2405" dirty="0">
                <a:latin typeface="Calibri"/>
                <a:cs typeface="Calibri"/>
              </a:rPr>
              <a:t>the</a:t>
            </a:r>
            <a:r>
              <a:rPr sz="2405" spc="-65" dirty="0">
                <a:latin typeface="Calibri"/>
                <a:cs typeface="Calibri"/>
              </a:rPr>
              <a:t> </a:t>
            </a:r>
            <a:r>
              <a:rPr sz="2405" dirty="0">
                <a:latin typeface="Calibri"/>
                <a:cs typeface="Calibri"/>
              </a:rPr>
              <a:t>amplitude</a:t>
            </a:r>
            <a:r>
              <a:rPr sz="2405" spc="-85" dirty="0">
                <a:latin typeface="Calibri"/>
                <a:cs typeface="Calibri"/>
              </a:rPr>
              <a:t> </a:t>
            </a:r>
            <a:r>
              <a:rPr sz="2405" dirty="0">
                <a:latin typeface="Calibri"/>
                <a:cs typeface="Calibri"/>
              </a:rPr>
              <a:t>and</a:t>
            </a:r>
            <a:r>
              <a:rPr sz="2405" spc="-40" dirty="0">
                <a:latin typeface="Calibri"/>
                <a:cs typeface="Calibri"/>
              </a:rPr>
              <a:t> </a:t>
            </a:r>
            <a:r>
              <a:rPr sz="2405" dirty="0">
                <a:latin typeface="Calibri"/>
                <a:cs typeface="Calibri"/>
              </a:rPr>
              <a:t>phase</a:t>
            </a:r>
            <a:r>
              <a:rPr sz="2405" spc="-65" dirty="0">
                <a:latin typeface="Calibri"/>
                <a:cs typeface="Calibri"/>
              </a:rPr>
              <a:t> </a:t>
            </a:r>
            <a:r>
              <a:rPr sz="2405" dirty="0">
                <a:latin typeface="Calibri"/>
                <a:cs typeface="Calibri"/>
              </a:rPr>
              <a:t>of</a:t>
            </a:r>
            <a:r>
              <a:rPr sz="2405" spc="-35" dirty="0">
                <a:latin typeface="Calibri"/>
                <a:cs typeface="Calibri"/>
              </a:rPr>
              <a:t> </a:t>
            </a:r>
            <a:r>
              <a:rPr sz="2405" dirty="0">
                <a:latin typeface="Calibri"/>
                <a:cs typeface="Calibri"/>
              </a:rPr>
              <a:t>the</a:t>
            </a:r>
            <a:r>
              <a:rPr sz="2405" spc="-65" dirty="0">
                <a:latin typeface="Calibri"/>
                <a:cs typeface="Calibri"/>
              </a:rPr>
              <a:t> </a:t>
            </a:r>
            <a:r>
              <a:rPr sz="2405" dirty="0">
                <a:latin typeface="Calibri"/>
                <a:cs typeface="Calibri"/>
              </a:rPr>
              <a:t>output</a:t>
            </a:r>
            <a:r>
              <a:rPr sz="2405" spc="-80" dirty="0">
                <a:latin typeface="Calibri"/>
                <a:cs typeface="Calibri"/>
              </a:rPr>
              <a:t> </a:t>
            </a:r>
            <a:r>
              <a:rPr sz="2405" dirty="0">
                <a:latin typeface="Calibri"/>
                <a:cs typeface="Calibri"/>
              </a:rPr>
              <a:t>voltage</a:t>
            </a:r>
            <a:r>
              <a:rPr sz="2405" spc="-60" dirty="0">
                <a:latin typeface="Calibri"/>
                <a:cs typeface="Calibri"/>
              </a:rPr>
              <a:t> </a:t>
            </a:r>
            <a:r>
              <a:rPr sz="2405" spc="-25" dirty="0">
                <a:latin typeface="Calibri"/>
                <a:cs typeface="Calibri"/>
              </a:rPr>
              <a:t>for </a:t>
            </a:r>
            <a:r>
              <a:rPr sz="2405" spc="-30" dirty="0">
                <a:latin typeface="Calibri"/>
                <a:cs typeface="Calibri"/>
              </a:rPr>
              <a:t>C1=10nF,</a:t>
            </a:r>
            <a:r>
              <a:rPr sz="2405" spc="-70" dirty="0">
                <a:latin typeface="Calibri"/>
                <a:cs typeface="Calibri"/>
              </a:rPr>
              <a:t> </a:t>
            </a:r>
            <a:r>
              <a:rPr sz="2405" spc="-30" dirty="0">
                <a:latin typeface="Calibri"/>
                <a:cs typeface="Calibri"/>
              </a:rPr>
              <a:t>C2=20nF,</a:t>
            </a:r>
            <a:r>
              <a:rPr sz="2405" spc="-90" dirty="0">
                <a:latin typeface="Calibri"/>
                <a:cs typeface="Calibri"/>
              </a:rPr>
              <a:t> </a:t>
            </a:r>
            <a:r>
              <a:rPr sz="2405" dirty="0">
                <a:latin typeface="Calibri"/>
                <a:cs typeface="Calibri"/>
              </a:rPr>
              <a:t>R1=10kΩ</a:t>
            </a:r>
            <a:r>
              <a:rPr sz="2405" spc="-55" dirty="0">
                <a:latin typeface="Calibri"/>
                <a:cs typeface="Calibri"/>
              </a:rPr>
              <a:t> </a:t>
            </a:r>
            <a:r>
              <a:rPr sz="2405" dirty="0">
                <a:latin typeface="Calibri"/>
                <a:cs typeface="Calibri"/>
              </a:rPr>
              <a:t>and</a:t>
            </a:r>
            <a:r>
              <a:rPr sz="2405" spc="-35" dirty="0">
                <a:latin typeface="Calibri"/>
                <a:cs typeface="Calibri"/>
              </a:rPr>
              <a:t> </a:t>
            </a:r>
            <a:r>
              <a:rPr sz="2405" dirty="0">
                <a:latin typeface="Calibri"/>
                <a:cs typeface="Calibri"/>
              </a:rPr>
              <a:t>v</a:t>
            </a:r>
            <a:r>
              <a:rPr sz="2405" baseline="-20833" dirty="0">
                <a:latin typeface="Calibri"/>
                <a:cs typeface="Calibri"/>
              </a:rPr>
              <a:t>IN</a:t>
            </a:r>
            <a:r>
              <a:rPr sz="2405" spc="195" baseline="-20833" dirty="0">
                <a:latin typeface="Calibri"/>
                <a:cs typeface="Calibri"/>
              </a:rPr>
              <a:t> </a:t>
            </a:r>
            <a:r>
              <a:rPr sz="2405" dirty="0">
                <a:latin typeface="Calibri"/>
                <a:cs typeface="Calibri"/>
              </a:rPr>
              <a:t>a</a:t>
            </a:r>
            <a:r>
              <a:rPr sz="2405" spc="-25" dirty="0">
                <a:latin typeface="Calibri"/>
                <a:cs typeface="Calibri"/>
              </a:rPr>
              <a:t> </a:t>
            </a:r>
            <a:r>
              <a:rPr sz="2405" spc="-10" dirty="0">
                <a:latin typeface="Calibri"/>
                <a:cs typeface="Calibri"/>
              </a:rPr>
              <a:t>sinewave</a:t>
            </a:r>
            <a:r>
              <a:rPr sz="2405" spc="-40" dirty="0">
                <a:latin typeface="Calibri"/>
                <a:cs typeface="Calibri"/>
              </a:rPr>
              <a:t> </a:t>
            </a:r>
            <a:r>
              <a:rPr sz="2405" spc="-20" dirty="0">
                <a:latin typeface="Calibri"/>
                <a:cs typeface="Calibri"/>
              </a:rPr>
              <a:t>with </a:t>
            </a:r>
            <a:r>
              <a:rPr sz="2405" spc="-10" dirty="0">
                <a:latin typeface="Calibri"/>
                <a:cs typeface="Calibri"/>
              </a:rPr>
              <a:t>frequency</a:t>
            </a:r>
            <a:r>
              <a:rPr sz="2405" spc="-70" dirty="0">
                <a:latin typeface="Calibri"/>
                <a:cs typeface="Calibri"/>
              </a:rPr>
              <a:t> </a:t>
            </a:r>
            <a:r>
              <a:rPr sz="2405" dirty="0">
                <a:latin typeface="Calibri"/>
                <a:cs typeface="Calibri"/>
              </a:rPr>
              <a:t>1kHz</a:t>
            </a:r>
            <a:r>
              <a:rPr sz="2405" spc="-30" dirty="0">
                <a:latin typeface="Calibri"/>
                <a:cs typeface="Calibri"/>
              </a:rPr>
              <a:t> </a:t>
            </a:r>
            <a:r>
              <a:rPr sz="2405" dirty="0">
                <a:latin typeface="Calibri"/>
                <a:cs typeface="Calibri"/>
              </a:rPr>
              <a:t>and</a:t>
            </a:r>
            <a:r>
              <a:rPr sz="2405" spc="-30" dirty="0">
                <a:latin typeface="Calibri"/>
                <a:cs typeface="Calibri"/>
              </a:rPr>
              <a:t> </a:t>
            </a:r>
            <a:r>
              <a:rPr sz="2405" dirty="0">
                <a:latin typeface="Calibri"/>
                <a:cs typeface="Calibri"/>
              </a:rPr>
              <a:t>amplitude</a:t>
            </a:r>
            <a:r>
              <a:rPr sz="2405" spc="-80" dirty="0">
                <a:latin typeface="Calibri"/>
                <a:cs typeface="Calibri"/>
              </a:rPr>
              <a:t> </a:t>
            </a:r>
            <a:r>
              <a:rPr sz="2405" spc="-25" dirty="0">
                <a:latin typeface="Calibri"/>
                <a:cs typeface="Calibri"/>
              </a:rPr>
              <a:t>1V?</a:t>
            </a:r>
            <a:endParaRPr sz="2405">
              <a:latin typeface="Calibri"/>
              <a:cs typeface="Calibri"/>
            </a:endParaRPr>
          </a:p>
        </p:txBody>
      </p:sp>
      <p:sp>
        <p:nvSpPr>
          <p:cNvPr id="5" name="object 5"/>
          <p:cNvSpPr/>
          <p:nvPr/>
        </p:nvSpPr>
        <p:spPr>
          <a:xfrm>
            <a:off x="3215358" y="2881534"/>
            <a:ext cx="160317" cy="0"/>
          </a:xfrm>
          <a:custGeom>
            <a:avLst/>
            <a:gdLst/>
            <a:ahLst/>
            <a:cxnLst/>
            <a:rect l="l" t="t" r="r" b="b"/>
            <a:pathLst>
              <a:path w="160020">
                <a:moveTo>
                  <a:pt x="0" y="0"/>
                </a:moveTo>
                <a:lnTo>
                  <a:pt x="159829" y="0"/>
                </a:lnTo>
              </a:path>
            </a:pathLst>
          </a:custGeom>
          <a:ln w="9925">
            <a:solidFill>
              <a:srgbClr val="000000"/>
            </a:solidFill>
          </a:ln>
        </p:spPr>
        <p:txBody>
          <a:bodyPr wrap="square" lIns="0" tIns="0" rIns="0" bIns="0" rtlCol="0"/>
          <a:lstStyle/>
          <a:p>
            <a:endParaRPr sz="1803"/>
          </a:p>
        </p:txBody>
      </p:sp>
      <p:sp>
        <p:nvSpPr>
          <p:cNvPr id="6" name="object 6"/>
          <p:cNvSpPr/>
          <p:nvPr/>
        </p:nvSpPr>
        <p:spPr>
          <a:xfrm>
            <a:off x="3923806" y="2881534"/>
            <a:ext cx="160317" cy="0"/>
          </a:xfrm>
          <a:custGeom>
            <a:avLst/>
            <a:gdLst/>
            <a:ahLst/>
            <a:cxnLst/>
            <a:rect l="l" t="t" r="r" b="b"/>
            <a:pathLst>
              <a:path w="160020">
                <a:moveTo>
                  <a:pt x="0" y="0"/>
                </a:moveTo>
                <a:lnTo>
                  <a:pt x="159638" y="0"/>
                </a:lnTo>
              </a:path>
            </a:pathLst>
          </a:custGeom>
          <a:ln w="9925">
            <a:solidFill>
              <a:srgbClr val="000000"/>
            </a:solidFill>
          </a:ln>
        </p:spPr>
        <p:txBody>
          <a:bodyPr wrap="square" lIns="0" tIns="0" rIns="0" bIns="0" rtlCol="0"/>
          <a:lstStyle/>
          <a:p>
            <a:endParaRPr sz="1803"/>
          </a:p>
        </p:txBody>
      </p:sp>
      <p:sp>
        <p:nvSpPr>
          <p:cNvPr id="7" name="object 7"/>
          <p:cNvSpPr/>
          <p:nvPr/>
        </p:nvSpPr>
        <p:spPr>
          <a:xfrm>
            <a:off x="6535826" y="2881534"/>
            <a:ext cx="160317" cy="0"/>
          </a:xfrm>
          <a:custGeom>
            <a:avLst/>
            <a:gdLst/>
            <a:ahLst/>
            <a:cxnLst/>
            <a:rect l="l" t="t" r="r" b="b"/>
            <a:pathLst>
              <a:path w="160020">
                <a:moveTo>
                  <a:pt x="0" y="0"/>
                </a:moveTo>
                <a:lnTo>
                  <a:pt x="159639" y="0"/>
                </a:lnTo>
              </a:path>
            </a:pathLst>
          </a:custGeom>
          <a:ln w="9925">
            <a:solidFill>
              <a:srgbClr val="000000"/>
            </a:solidFill>
          </a:ln>
        </p:spPr>
        <p:txBody>
          <a:bodyPr wrap="square" lIns="0" tIns="0" rIns="0" bIns="0" rtlCol="0"/>
          <a:lstStyle/>
          <a:p>
            <a:endParaRPr sz="1803"/>
          </a:p>
        </p:txBody>
      </p:sp>
      <p:sp>
        <p:nvSpPr>
          <p:cNvPr id="8" name="object 8"/>
          <p:cNvSpPr txBox="1"/>
          <p:nvPr/>
        </p:nvSpPr>
        <p:spPr>
          <a:xfrm>
            <a:off x="3299588" y="2999556"/>
            <a:ext cx="321906" cy="182118"/>
          </a:xfrm>
          <a:prstGeom prst="rect">
            <a:avLst/>
          </a:prstGeom>
        </p:spPr>
        <p:txBody>
          <a:bodyPr vert="horz" wrap="square" lIns="0" tIns="12087" rIns="0" bIns="0" rtlCol="0">
            <a:spAutoFit/>
          </a:bodyPr>
          <a:lstStyle/>
          <a:p>
            <a:pPr marL="12724">
              <a:spcBef>
                <a:spcPts val="95"/>
              </a:spcBef>
            </a:pPr>
            <a:r>
              <a:rPr sz="1102" i="1" spc="-25" dirty="0">
                <a:latin typeface="Arial"/>
                <a:cs typeface="Arial"/>
              </a:rPr>
              <a:t>OUT</a:t>
            </a:r>
            <a:endParaRPr sz="1102">
              <a:latin typeface="Arial"/>
              <a:cs typeface="Arial"/>
            </a:endParaRPr>
          </a:p>
        </p:txBody>
      </p:sp>
      <p:sp>
        <p:nvSpPr>
          <p:cNvPr id="9" name="object 9"/>
          <p:cNvSpPr txBox="1"/>
          <p:nvPr/>
        </p:nvSpPr>
        <p:spPr>
          <a:xfrm>
            <a:off x="6770577" y="2735013"/>
            <a:ext cx="1549730" cy="313000"/>
          </a:xfrm>
          <a:prstGeom prst="rect">
            <a:avLst/>
          </a:prstGeom>
        </p:spPr>
        <p:txBody>
          <a:bodyPr vert="horz" wrap="square" lIns="0" tIns="16541" rIns="0" bIns="0" rtlCol="0">
            <a:spAutoFit/>
          </a:bodyPr>
          <a:lstStyle/>
          <a:p>
            <a:pPr marL="38172">
              <a:spcBef>
                <a:spcPts val="130"/>
              </a:spcBef>
            </a:pPr>
            <a:r>
              <a:rPr sz="2780" baseline="-25525" dirty="0">
                <a:latin typeface="Arial MT"/>
                <a:cs typeface="Arial MT"/>
              </a:rPr>
              <a:t>0.3075</a:t>
            </a:r>
            <a:r>
              <a:rPr sz="2780" i="1" baseline="-25525" dirty="0">
                <a:latin typeface="Arial"/>
                <a:cs typeface="Arial"/>
              </a:rPr>
              <a:t>e</a:t>
            </a:r>
            <a:r>
              <a:rPr sz="1102" dirty="0">
                <a:latin typeface="Symbol"/>
                <a:cs typeface="Symbol"/>
              </a:rPr>
              <a:t></a:t>
            </a:r>
            <a:r>
              <a:rPr sz="1102" spc="75" dirty="0">
                <a:latin typeface="Times New Roman"/>
                <a:cs typeface="Times New Roman"/>
              </a:rPr>
              <a:t> </a:t>
            </a:r>
            <a:r>
              <a:rPr sz="1102" i="1" spc="-10" dirty="0">
                <a:latin typeface="Arial"/>
                <a:cs typeface="Arial"/>
              </a:rPr>
              <a:t>j</a:t>
            </a:r>
            <a:r>
              <a:rPr sz="1102" i="1" spc="-70" dirty="0">
                <a:latin typeface="Arial"/>
                <a:cs typeface="Arial"/>
              </a:rPr>
              <a:t> </a:t>
            </a:r>
            <a:r>
              <a:rPr sz="1102" spc="-10" dirty="0">
                <a:latin typeface="Arial MT"/>
                <a:cs typeface="Arial MT"/>
              </a:rPr>
              <a:t>0.3967</a:t>
            </a:r>
            <a:endParaRPr sz="1102">
              <a:latin typeface="Arial MT"/>
              <a:cs typeface="Arial MT"/>
            </a:endParaRPr>
          </a:p>
        </p:txBody>
      </p:sp>
      <p:sp>
        <p:nvSpPr>
          <p:cNvPr id="10" name="object 10"/>
          <p:cNvSpPr txBox="1"/>
          <p:nvPr/>
        </p:nvSpPr>
        <p:spPr>
          <a:xfrm>
            <a:off x="3130620" y="2757191"/>
            <a:ext cx="3698740" cy="414151"/>
          </a:xfrm>
          <a:prstGeom prst="rect">
            <a:avLst/>
          </a:prstGeom>
        </p:spPr>
        <p:txBody>
          <a:bodyPr vert="horz" wrap="square" lIns="0" tIns="12087" rIns="0" bIns="0" rtlCol="0">
            <a:spAutoFit/>
          </a:bodyPr>
          <a:lstStyle/>
          <a:p>
            <a:pPr marL="38172">
              <a:spcBef>
                <a:spcPts val="95"/>
              </a:spcBef>
              <a:tabLst>
                <a:tab pos="581493" algn="l"/>
              </a:tabLst>
            </a:pPr>
            <a:r>
              <a:rPr sz="1854" i="1" spc="-50" dirty="0">
                <a:latin typeface="Arial"/>
                <a:cs typeface="Arial"/>
              </a:rPr>
              <a:t>V</a:t>
            </a:r>
            <a:r>
              <a:rPr sz="1854" i="1" dirty="0">
                <a:latin typeface="Arial"/>
                <a:cs typeface="Arial"/>
              </a:rPr>
              <a:t>	</a:t>
            </a:r>
            <a:r>
              <a:rPr sz="1854" dirty="0">
                <a:latin typeface="Symbol"/>
                <a:cs typeface="Symbol"/>
              </a:rPr>
              <a:t></a:t>
            </a:r>
            <a:r>
              <a:rPr sz="1854" spc="-200" dirty="0">
                <a:latin typeface="Times New Roman"/>
                <a:cs typeface="Times New Roman"/>
              </a:rPr>
              <a:t> </a:t>
            </a:r>
            <a:r>
              <a:rPr sz="1854" i="1" dirty="0">
                <a:latin typeface="Arial"/>
                <a:cs typeface="Arial"/>
              </a:rPr>
              <a:t>V</a:t>
            </a:r>
            <a:r>
              <a:rPr sz="1653" i="1" baseline="-22727" dirty="0">
                <a:latin typeface="Arial"/>
                <a:cs typeface="Arial"/>
              </a:rPr>
              <a:t>IN</a:t>
            </a:r>
            <a:r>
              <a:rPr sz="1653" i="1" spc="368" baseline="-22727" dirty="0">
                <a:latin typeface="Arial"/>
                <a:cs typeface="Arial"/>
              </a:rPr>
              <a:t> </a:t>
            </a:r>
            <a:r>
              <a:rPr sz="1854" dirty="0">
                <a:latin typeface="Symbol"/>
                <a:cs typeface="Symbol"/>
              </a:rPr>
              <a:t></a:t>
            </a:r>
            <a:r>
              <a:rPr sz="1854" spc="-190" dirty="0">
                <a:latin typeface="Times New Roman"/>
                <a:cs typeface="Times New Roman"/>
              </a:rPr>
              <a:t> </a:t>
            </a:r>
            <a:r>
              <a:rPr sz="2555" spc="-50" dirty="0">
                <a:latin typeface="Symbol"/>
                <a:cs typeface="Symbol"/>
              </a:rPr>
              <a:t></a:t>
            </a:r>
            <a:r>
              <a:rPr sz="1854" spc="-50" dirty="0">
                <a:latin typeface="Arial MT"/>
                <a:cs typeface="Arial MT"/>
              </a:rPr>
              <a:t>0.2836</a:t>
            </a:r>
            <a:r>
              <a:rPr sz="1854" spc="-95" dirty="0">
                <a:latin typeface="Arial MT"/>
                <a:cs typeface="Arial MT"/>
              </a:rPr>
              <a:t> </a:t>
            </a:r>
            <a:r>
              <a:rPr sz="1854" dirty="0">
                <a:latin typeface="Symbol"/>
                <a:cs typeface="Symbol"/>
              </a:rPr>
              <a:t></a:t>
            </a:r>
            <a:r>
              <a:rPr sz="1854" spc="165" dirty="0">
                <a:latin typeface="Times New Roman"/>
                <a:cs typeface="Times New Roman"/>
              </a:rPr>
              <a:t> </a:t>
            </a:r>
            <a:r>
              <a:rPr sz="1854" i="1" dirty="0">
                <a:latin typeface="Arial"/>
                <a:cs typeface="Arial"/>
              </a:rPr>
              <a:t>j</a:t>
            </a:r>
            <a:r>
              <a:rPr sz="1854" i="1" spc="-331" dirty="0">
                <a:latin typeface="Arial"/>
                <a:cs typeface="Arial"/>
              </a:rPr>
              <a:t> </a:t>
            </a:r>
            <a:r>
              <a:rPr sz="1854" spc="-25" dirty="0">
                <a:latin typeface="Arial MT"/>
                <a:cs typeface="Arial MT"/>
              </a:rPr>
              <a:t>0.1188</a:t>
            </a:r>
            <a:r>
              <a:rPr sz="2555" spc="-25" dirty="0">
                <a:latin typeface="Symbol"/>
                <a:cs typeface="Symbol"/>
              </a:rPr>
              <a:t></a:t>
            </a:r>
            <a:r>
              <a:rPr sz="2555" spc="-296" dirty="0">
                <a:latin typeface="Times New Roman"/>
                <a:cs typeface="Times New Roman"/>
              </a:rPr>
              <a:t> </a:t>
            </a:r>
            <a:r>
              <a:rPr sz="1854" dirty="0">
                <a:latin typeface="Symbol"/>
                <a:cs typeface="Symbol"/>
              </a:rPr>
              <a:t></a:t>
            </a:r>
            <a:r>
              <a:rPr sz="1854" spc="-220" dirty="0">
                <a:latin typeface="Times New Roman"/>
                <a:cs typeface="Times New Roman"/>
              </a:rPr>
              <a:t> </a:t>
            </a:r>
            <a:r>
              <a:rPr sz="1854" i="1" spc="-25" dirty="0">
                <a:latin typeface="Arial"/>
                <a:cs typeface="Arial"/>
              </a:rPr>
              <a:t>V</a:t>
            </a:r>
            <a:r>
              <a:rPr sz="1653" i="1" spc="-37" baseline="-22727" dirty="0">
                <a:latin typeface="Arial"/>
                <a:cs typeface="Arial"/>
              </a:rPr>
              <a:t>IN</a:t>
            </a:r>
            <a:endParaRPr sz="1653" baseline="-22727">
              <a:latin typeface="Arial"/>
              <a:cs typeface="Arial"/>
            </a:endParaRPr>
          </a:p>
        </p:txBody>
      </p:sp>
      <p:sp>
        <p:nvSpPr>
          <p:cNvPr id="11" name="object 11"/>
          <p:cNvSpPr txBox="1"/>
          <p:nvPr/>
        </p:nvSpPr>
        <p:spPr>
          <a:xfrm>
            <a:off x="1317768" y="5374334"/>
            <a:ext cx="5361073" cy="575105"/>
          </a:xfrm>
          <a:prstGeom prst="rect">
            <a:avLst/>
          </a:prstGeom>
        </p:spPr>
        <p:txBody>
          <a:bodyPr vert="horz" wrap="square" lIns="0" tIns="12724" rIns="0" bIns="0" rtlCol="0">
            <a:spAutoFit/>
          </a:bodyPr>
          <a:lstStyle/>
          <a:p>
            <a:pPr marL="12724" marR="5090">
              <a:spcBef>
                <a:spcPts val="100"/>
              </a:spcBef>
            </a:pPr>
            <a:r>
              <a:rPr sz="1803" dirty="0">
                <a:latin typeface="Calibri"/>
                <a:cs typeface="Calibri"/>
              </a:rPr>
              <a:t>Output</a:t>
            </a:r>
            <a:r>
              <a:rPr sz="1803" spc="-20" dirty="0">
                <a:latin typeface="Calibri"/>
                <a:cs typeface="Calibri"/>
              </a:rPr>
              <a:t> </a:t>
            </a:r>
            <a:r>
              <a:rPr sz="1803" dirty="0">
                <a:latin typeface="Calibri"/>
                <a:cs typeface="Calibri"/>
              </a:rPr>
              <a:t>is</a:t>
            </a:r>
            <a:r>
              <a:rPr sz="1803" spc="-20" dirty="0">
                <a:latin typeface="Calibri"/>
                <a:cs typeface="Calibri"/>
              </a:rPr>
              <a:t> </a:t>
            </a:r>
            <a:r>
              <a:rPr sz="1803" dirty="0">
                <a:latin typeface="Calibri"/>
                <a:cs typeface="Calibri"/>
              </a:rPr>
              <a:t>a</a:t>
            </a:r>
            <a:r>
              <a:rPr sz="1803" spc="-40" dirty="0">
                <a:latin typeface="Calibri"/>
                <a:cs typeface="Calibri"/>
              </a:rPr>
              <a:t> </a:t>
            </a:r>
            <a:r>
              <a:rPr sz="1803" spc="-10" dirty="0">
                <a:latin typeface="Calibri"/>
                <a:cs typeface="Calibri"/>
              </a:rPr>
              <a:t>sinewave</a:t>
            </a:r>
            <a:r>
              <a:rPr sz="1803" spc="-20" dirty="0">
                <a:latin typeface="Calibri"/>
                <a:cs typeface="Calibri"/>
              </a:rPr>
              <a:t> </a:t>
            </a:r>
            <a:r>
              <a:rPr sz="1803" dirty="0">
                <a:latin typeface="Calibri"/>
                <a:cs typeface="Calibri"/>
              </a:rPr>
              <a:t>with</a:t>
            </a:r>
            <a:r>
              <a:rPr sz="1803" spc="-20" dirty="0">
                <a:latin typeface="Calibri"/>
                <a:cs typeface="Calibri"/>
              </a:rPr>
              <a:t> </a:t>
            </a:r>
            <a:r>
              <a:rPr sz="1803" dirty="0">
                <a:latin typeface="Calibri"/>
                <a:cs typeface="Calibri"/>
              </a:rPr>
              <a:t>amplitude</a:t>
            </a:r>
            <a:r>
              <a:rPr sz="1803" spc="20" dirty="0">
                <a:latin typeface="Calibri"/>
                <a:cs typeface="Calibri"/>
              </a:rPr>
              <a:t> </a:t>
            </a:r>
            <a:r>
              <a:rPr sz="1803" dirty="0">
                <a:latin typeface="Calibri"/>
                <a:cs typeface="Calibri"/>
              </a:rPr>
              <a:t>of</a:t>
            </a:r>
            <a:r>
              <a:rPr sz="1803" spc="-50" dirty="0">
                <a:latin typeface="Calibri"/>
                <a:cs typeface="Calibri"/>
              </a:rPr>
              <a:t> </a:t>
            </a:r>
            <a:r>
              <a:rPr sz="1803" dirty="0">
                <a:latin typeface="Calibri"/>
                <a:cs typeface="Calibri"/>
              </a:rPr>
              <a:t>308mV</a:t>
            </a:r>
            <a:r>
              <a:rPr sz="1803" spc="-25" dirty="0">
                <a:latin typeface="Calibri"/>
                <a:cs typeface="Calibri"/>
              </a:rPr>
              <a:t> </a:t>
            </a:r>
            <a:r>
              <a:rPr sz="1803" dirty="0">
                <a:latin typeface="Calibri"/>
                <a:cs typeface="Calibri"/>
              </a:rPr>
              <a:t>and </a:t>
            </a:r>
            <a:r>
              <a:rPr sz="1803" spc="-10" dirty="0">
                <a:latin typeface="Calibri"/>
                <a:cs typeface="Calibri"/>
              </a:rPr>
              <a:t>initial </a:t>
            </a:r>
            <a:r>
              <a:rPr sz="1803" dirty="0">
                <a:latin typeface="Calibri"/>
                <a:cs typeface="Calibri"/>
              </a:rPr>
              <a:t>phase of</a:t>
            </a:r>
            <a:r>
              <a:rPr sz="1803" spc="-30" dirty="0">
                <a:latin typeface="Calibri"/>
                <a:cs typeface="Calibri"/>
              </a:rPr>
              <a:t> </a:t>
            </a:r>
            <a:r>
              <a:rPr sz="1803" dirty="0">
                <a:latin typeface="Calibri"/>
                <a:cs typeface="Calibri"/>
              </a:rPr>
              <a:t>-0.397</a:t>
            </a:r>
            <a:r>
              <a:rPr sz="1803" spc="-40" dirty="0">
                <a:latin typeface="Calibri"/>
                <a:cs typeface="Calibri"/>
              </a:rPr>
              <a:t> </a:t>
            </a:r>
            <a:r>
              <a:rPr sz="1803" dirty="0">
                <a:latin typeface="Calibri"/>
                <a:cs typeface="Calibri"/>
              </a:rPr>
              <a:t>rad</a:t>
            </a:r>
            <a:r>
              <a:rPr sz="1803" spc="-20" dirty="0">
                <a:latin typeface="Calibri"/>
                <a:cs typeface="Calibri"/>
              </a:rPr>
              <a:t> </a:t>
            </a:r>
            <a:r>
              <a:rPr sz="1803" dirty="0">
                <a:latin typeface="Calibri"/>
                <a:cs typeface="Calibri"/>
              </a:rPr>
              <a:t>(=</a:t>
            </a:r>
            <a:r>
              <a:rPr sz="1803" spc="-40" dirty="0">
                <a:latin typeface="Calibri"/>
                <a:cs typeface="Calibri"/>
              </a:rPr>
              <a:t> </a:t>
            </a:r>
            <a:r>
              <a:rPr sz="1803" dirty="0">
                <a:latin typeface="Calibri"/>
                <a:cs typeface="Calibri"/>
              </a:rPr>
              <a:t>-22.73</a:t>
            </a:r>
            <a:r>
              <a:rPr sz="1803" spc="-35" dirty="0">
                <a:latin typeface="Calibri"/>
                <a:cs typeface="Calibri"/>
              </a:rPr>
              <a:t> </a:t>
            </a:r>
            <a:r>
              <a:rPr sz="1803" spc="-10" dirty="0">
                <a:latin typeface="Calibri"/>
                <a:cs typeface="Calibri"/>
              </a:rPr>
              <a:t>degrees.)</a:t>
            </a:r>
            <a:endParaRPr sz="1803">
              <a:latin typeface="Calibri"/>
              <a:cs typeface="Calibri"/>
            </a:endParaRPr>
          </a:p>
        </p:txBody>
      </p:sp>
      <p:sp>
        <p:nvSpPr>
          <p:cNvPr id="12" name="object 12"/>
          <p:cNvSpPr txBox="1"/>
          <p:nvPr/>
        </p:nvSpPr>
        <p:spPr>
          <a:xfrm>
            <a:off x="5127202" y="3703984"/>
            <a:ext cx="3553055" cy="778682"/>
          </a:xfrm>
          <a:prstGeom prst="rect">
            <a:avLst/>
          </a:prstGeom>
        </p:spPr>
        <p:txBody>
          <a:bodyPr vert="horz" wrap="square" lIns="0" tIns="11451" rIns="0" bIns="0" rtlCol="0">
            <a:spAutoFit/>
          </a:bodyPr>
          <a:lstStyle/>
          <a:p>
            <a:pPr marL="316195">
              <a:spcBef>
                <a:spcPts val="90"/>
              </a:spcBef>
            </a:pPr>
            <a:r>
              <a:rPr sz="1403" dirty="0">
                <a:latin typeface="Cambria Math"/>
                <a:cs typeface="Cambria Math"/>
              </a:rPr>
              <a:t>𝑣</a:t>
            </a:r>
            <a:r>
              <a:rPr sz="1503" baseline="-16666" dirty="0">
                <a:latin typeface="Cambria Math"/>
                <a:cs typeface="Cambria Math"/>
              </a:rPr>
              <a:t>𝐼𝑁</a:t>
            </a:r>
            <a:r>
              <a:rPr sz="1503" spc="435" baseline="-16666" dirty="0">
                <a:latin typeface="Cambria Math"/>
                <a:cs typeface="Cambria Math"/>
              </a:rPr>
              <a:t> </a:t>
            </a:r>
            <a:r>
              <a:rPr sz="1403" dirty="0">
                <a:latin typeface="Cambria Math"/>
                <a:cs typeface="Cambria Math"/>
              </a:rPr>
              <a:t>=</a:t>
            </a:r>
            <a:r>
              <a:rPr sz="1403" spc="95" dirty="0">
                <a:latin typeface="Cambria Math"/>
                <a:cs typeface="Cambria Math"/>
              </a:rPr>
              <a:t> </a:t>
            </a:r>
            <a:r>
              <a:rPr sz="1403" dirty="0">
                <a:latin typeface="Cambria Math"/>
                <a:cs typeface="Cambria Math"/>
              </a:rPr>
              <a:t>𝐴</a:t>
            </a:r>
            <a:r>
              <a:rPr sz="1403" spc="-60" dirty="0">
                <a:latin typeface="Cambria Math"/>
                <a:cs typeface="Cambria Math"/>
              </a:rPr>
              <a:t> </a:t>
            </a:r>
            <a:r>
              <a:rPr sz="1403" spc="-10" dirty="0">
                <a:latin typeface="Cambria Math"/>
                <a:cs typeface="Cambria Math"/>
              </a:rPr>
              <a:t>sin(</a:t>
            </a:r>
            <a:r>
              <a:rPr sz="1403" spc="-70" dirty="0">
                <a:latin typeface="Cambria Math"/>
                <a:cs typeface="Cambria Math"/>
              </a:rPr>
              <a:t> </a:t>
            </a:r>
            <a:r>
              <a:rPr sz="1403" spc="-10" dirty="0">
                <a:latin typeface="Cambria Math"/>
                <a:cs typeface="Cambria Math"/>
              </a:rPr>
              <a:t>2𝜋1000𝑡)</a:t>
            </a:r>
            <a:endParaRPr sz="1403">
              <a:latin typeface="Cambria Math"/>
              <a:cs typeface="Cambria Math"/>
            </a:endParaRPr>
          </a:p>
          <a:p>
            <a:pPr>
              <a:spcBef>
                <a:spcPts val="802"/>
              </a:spcBef>
            </a:pPr>
            <a:endParaRPr sz="1403">
              <a:latin typeface="Cambria Math"/>
              <a:cs typeface="Cambria Math"/>
            </a:endParaRPr>
          </a:p>
          <a:p>
            <a:pPr marL="50897">
              <a:spcBef>
                <a:spcPts val="5"/>
              </a:spcBef>
            </a:pPr>
            <a:r>
              <a:rPr sz="1503" dirty="0">
                <a:latin typeface="Cambria Math"/>
                <a:cs typeface="Cambria Math"/>
              </a:rPr>
              <a:t>𝑣</a:t>
            </a:r>
            <a:r>
              <a:rPr sz="1653" baseline="-15151" dirty="0">
                <a:latin typeface="Cambria Math"/>
                <a:cs typeface="Cambria Math"/>
              </a:rPr>
              <a:t>0𝑈𝑇</a:t>
            </a:r>
            <a:r>
              <a:rPr sz="1653" spc="413" baseline="-15151" dirty="0">
                <a:latin typeface="Cambria Math"/>
                <a:cs typeface="Cambria Math"/>
              </a:rPr>
              <a:t> </a:t>
            </a:r>
            <a:r>
              <a:rPr sz="1503" dirty="0">
                <a:latin typeface="Cambria Math"/>
                <a:cs typeface="Cambria Math"/>
              </a:rPr>
              <a:t>=</a:t>
            </a:r>
            <a:r>
              <a:rPr sz="1503" spc="130" dirty="0">
                <a:latin typeface="Cambria Math"/>
                <a:cs typeface="Cambria Math"/>
              </a:rPr>
              <a:t> </a:t>
            </a:r>
            <a:r>
              <a:rPr sz="1503" dirty="0">
                <a:latin typeface="Cambria Math"/>
                <a:cs typeface="Cambria Math"/>
              </a:rPr>
              <a:t>𝐴</a:t>
            </a:r>
            <a:r>
              <a:rPr sz="1503" spc="25" dirty="0">
                <a:latin typeface="Cambria Math"/>
                <a:cs typeface="Cambria Math"/>
              </a:rPr>
              <a:t> </a:t>
            </a:r>
            <a:r>
              <a:rPr sz="1503" dirty="0">
                <a:latin typeface="Cambria Math"/>
                <a:cs typeface="Cambria Math"/>
              </a:rPr>
              <a:t>⋅</a:t>
            </a:r>
            <a:r>
              <a:rPr sz="1503" spc="10" dirty="0">
                <a:latin typeface="Cambria Math"/>
                <a:cs typeface="Cambria Math"/>
              </a:rPr>
              <a:t> </a:t>
            </a:r>
            <a:r>
              <a:rPr sz="1503" dirty="0">
                <a:latin typeface="Cambria Math"/>
                <a:cs typeface="Cambria Math"/>
              </a:rPr>
              <a:t>0.3075</a:t>
            </a:r>
            <a:r>
              <a:rPr sz="1503" spc="-95" dirty="0">
                <a:latin typeface="Cambria Math"/>
                <a:cs typeface="Cambria Math"/>
              </a:rPr>
              <a:t> </a:t>
            </a:r>
            <a:r>
              <a:rPr sz="1503" spc="-10" dirty="0">
                <a:latin typeface="Cambria Math"/>
                <a:cs typeface="Cambria Math"/>
              </a:rPr>
              <a:t>sin(</a:t>
            </a:r>
            <a:r>
              <a:rPr sz="1503" spc="-80" dirty="0">
                <a:latin typeface="Cambria Math"/>
                <a:cs typeface="Cambria Math"/>
              </a:rPr>
              <a:t> </a:t>
            </a:r>
            <a:r>
              <a:rPr sz="1503" dirty="0">
                <a:latin typeface="Cambria Math"/>
                <a:cs typeface="Cambria Math"/>
              </a:rPr>
              <a:t>2𝜋1000𝑡</a:t>
            </a:r>
            <a:r>
              <a:rPr sz="1503" spc="25" dirty="0">
                <a:latin typeface="Cambria Math"/>
                <a:cs typeface="Cambria Math"/>
              </a:rPr>
              <a:t> </a:t>
            </a:r>
            <a:r>
              <a:rPr sz="1503" dirty="0">
                <a:latin typeface="Cambria Math"/>
                <a:cs typeface="Cambria Math"/>
              </a:rPr>
              <a:t>−</a:t>
            </a:r>
            <a:r>
              <a:rPr sz="1503" spc="25" dirty="0">
                <a:latin typeface="Cambria Math"/>
                <a:cs typeface="Cambria Math"/>
              </a:rPr>
              <a:t> </a:t>
            </a:r>
            <a:r>
              <a:rPr sz="1503" spc="-10" dirty="0">
                <a:latin typeface="Cambria Math"/>
                <a:cs typeface="Cambria Math"/>
              </a:rPr>
              <a:t>0.3967)</a:t>
            </a:r>
            <a:endParaRPr sz="1503">
              <a:latin typeface="Cambria Math"/>
              <a:cs typeface="Cambria Math"/>
            </a:endParaRPr>
          </a:p>
        </p:txBody>
      </p:sp>
      <p:sp>
        <p:nvSpPr>
          <p:cNvPr id="13" name="Rectangle 12"/>
          <p:cNvSpPr/>
          <p:nvPr/>
        </p:nvSpPr>
        <p:spPr>
          <a:xfrm>
            <a:off x="6762160" y="4877512"/>
            <a:ext cx="5106186" cy="892552"/>
          </a:xfrm>
          <a:prstGeom prst="rect">
            <a:avLst/>
          </a:prstGeom>
        </p:spPr>
        <p:txBody>
          <a:bodyPr wrap="square">
            <a:spAutoFit/>
          </a:bodyPr>
          <a:lstStyle/>
          <a:p>
            <a:r>
              <a:rPr lang="en-US" sz="1300" b="1" dirty="0">
                <a:solidFill>
                  <a:srgbClr val="FF0000"/>
                </a:solidFill>
                <a:latin typeface="CIDFont+F5"/>
              </a:rPr>
              <a:t>If we plug-in a certain frequency in the expression, we get a complex number </a:t>
            </a:r>
            <a:r>
              <a:rPr lang="en-US" sz="1300" b="1" dirty="0" smtClean="0">
                <a:solidFill>
                  <a:srgbClr val="FF0000"/>
                </a:solidFill>
                <a:latin typeface="CIDFont+F5"/>
              </a:rPr>
              <a:t>that gives </a:t>
            </a:r>
            <a:r>
              <a:rPr lang="en-US" sz="1300" b="1" dirty="0">
                <a:solidFill>
                  <a:srgbClr val="FF0000"/>
                </a:solidFill>
                <a:latin typeface="CIDFont+F5"/>
              </a:rPr>
              <a:t>the relationship between input and output phasor. We would like </a:t>
            </a:r>
            <a:r>
              <a:rPr lang="en-US" sz="1300" b="1" dirty="0" smtClean="0">
                <a:solidFill>
                  <a:srgbClr val="FF0000"/>
                </a:solidFill>
                <a:latin typeface="CIDFont+F5"/>
              </a:rPr>
              <a:t>to understand </a:t>
            </a:r>
            <a:r>
              <a:rPr lang="en-US" sz="1300" b="1" dirty="0">
                <a:solidFill>
                  <a:srgbClr val="FF0000"/>
                </a:solidFill>
                <a:latin typeface="CIDFont+F5"/>
              </a:rPr>
              <a:t>the behavior of this circuit for various frequencies.</a:t>
            </a:r>
            <a:endParaRPr lang="en-US" b="1" dirty="0">
              <a:solidFill>
                <a:srgbClr val="FF0000"/>
              </a:solidFill>
            </a:endParaRPr>
          </a:p>
        </p:txBody>
      </p:sp>
    </p:spTree>
    <p:extLst>
      <p:ext uri="{BB962C8B-B14F-4D97-AF65-F5344CB8AC3E}">
        <p14:creationId xmlns:p14="http://schemas.microsoft.com/office/powerpoint/2010/main" val="3626119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2107752">
              <a:spcBef>
                <a:spcPts val="90"/>
              </a:spcBef>
            </a:pPr>
            <a:r>
              <a:rPr dirty="0"/>
              <a:t>RC</a:t>
            </a:r>
            <a:r>
              <a:rPr spc="-60" dirty="0"/>
              <a:t> </a:t>
            </a:r>
            <a:r>
              <a:rPr spc="-30" dirty="0"/>
              <a:t>low-</a:t>
            </a:r>
            <a:r>
              <a:rPr dirty="0"/>
              <a:t>pass</a:t>
            </a:r>
            <a:r>
              <a:rPr spc="-35" dirty="0"/>
              <a:t> </a:t>
            </a:r>
            <a:r>
              <a:rPr spc="-10" dirty="0"/>
              <a:t>filter</a:t>
            </a:r>
          </a:p>
        </p:txBody>
      </p:sp>
      <p:pic>
        <p:nvPicPr>
          <p:cNvPr id="3" name="object 3"/>
          <p:cNvPicPr/>
          <p:nvPr/>
        </p:nvPicPr>
        <p:blipFill>
          <a:blip r:embed="rId2" cstate="print"/>
          <a:stretch>
            <a:fillRect/>
          </a:stretch>
        </p:blipFill>
        <p:spPr>
          <a:xfrm>
            <a:off x="87939" y="1128270"/>
            <a:ext cx="3770098" cy="1725395"/>
          </a:xfrm>
          <a:prstGeom prst="rect">
            <a:avLst/>
          </a:prstGeom>
        </p:spPr>
      </p:pic>
      <p:sp>
        <p:nvSpPr>
          <p:cNvPr id="4" name="object 4"/>
          <p:cNvSpPr txBox="1"/>
          <p:nvPr/>
        </p:nvSpPr>
        <p:spPr>
          <a:xfrm>
            <a:off x="4408720" y="1422107"/>
            <a:ext cx="3916312" cy="758324"/>
          </a:xfrm>
          <a:prstGeom prst="rect">
            <a:avLst/>
          </a:prstGeom>
        </p:spPr>
        <p:txBody>
          <a:bodyPr vert="horz" wrap="square" lIns="0" tIns="12724" rIns="0" bIns="0" rtlCol="0">
            <a:spAutoFit/>
          </a:bodyPr>
          <a:lstStyle/>
          <a:p>
            <a:pPr marL="12724" marR="5090">
              <a:spcBef>
                <a:spcPts val="100"/>
              </a:spcBef>
            </a:pPr>
            <a:r>
              <a:rPr sz="2405" i="1" dirty="0">
                <a:latin typeface="Arial"/>
                <a:cs typeface="Arial"/>
              </a:rPr>
              <a:t>How</a:t>
            </a:r>
            <a:r>
              <a:rPr sz="2405" i="1" spc="-50" dirty="0">
                <a:latin typeface="Arial"/>
                <a:cs typeface="Arial"/>
              </a:rPr>
              <a:t> </a:t>
            </a:r>
            <a:r>
              <a:rPr sz="2405" i="1" dirty="0">
                <a:latin typeface="Arial"/>
                <a:cs typeface="Arial"/>
              </a:rPr>
              <a:t>does</a:t>
            </a:r>
            <a:r>
              <a:rPr sz="2405" i="1" spc="-65" dirty="0">
                <a:latin typeface="Arial"/>
                <a:cs typeface="Arial"/>
              </a:rPr>
              <a:t> </a:t>
            </a:r>
            <a:r>
              <a:rPr sz="2405" i="1" dirty="0">
                <a:latin typeface="Arial"/>
                <a:cs typeface="Arial"/>
              </a:rPr>
              <a:t>this</a:t>
            </a:r>
            <a:r>
              <a:rPr sz="2405" i="1" spc="-65" dirty="0">
                <a:latin typeface="Arial"/>
                <a:cs typeface="Arial"/>
              </a:rPr>
              <a:t> </a:t>
            </a:r>
            <a:r>
              <a:rPr sz="2405" i="1" dirty="0">
                <a:latin typeface="Arial"/>
                <a:cs typeface="Arial"/>
              </a:rPr>
              <a:t>circuit</a:t>
            </a:r>
            <a:r>
              <a:rPr sz="2405" i="1" spc="-35" dirty="0">
                <a:latin typeface="Arial"/>
                <a:cs typeface="Arial"/>
              </a:rPr>
              <a:t> </a:t>
            </a:r>
            <a:r>
              <a:rPr sz="2405" i="1" spc="-10" dirty="0">
                <a:latin typeface="Arial"/>
                <a:cs typeface="Arial"/>
              </a:rPr>
              <a:t>behave </a:t>
            </a:r>
            <a:r>
              <a:rPr sz="2405" i="1" dirty="0">
                <a:latin typeface="Arial"/>
                <a:cs typeface="Arial"/>
              </a:rPr>
              <a:t>for</a:t>
            </a:r>
            <a:r>
              <a:rPr sz="2405" i="1" spc="-90" dirty="0">
                <a:latin typeface="Arial"/>
                <a:cs typeface="Arial"/>
              </a:rPr>
              <a:t> </a:t>
            </a:r>
            <a:r>
              <a:rPr sz="2405" b="1" i="1" dirty="0">
                <a:latin typeface="Arial"/>
                <a:cs typeface="Arial"/>
              </a:rPr>
              <a:t>different</a:t>
            </a:r>
            <a:r>
              <a:rPr sz="2405" b="1" i="1" spc="-75" dirty="0">
                <a:latin typeface="Arial"/>
                <a:cs typeface="Arial"/>
              </a:rPr>
              <a:t> </a:t>
            </a:r>
            <a:r>
              <a:rPr sz="2405" b="1" i="1" spc="-10" dirty="0">
                <a:latin typeface="Arial"/>
                <a:cs typeface="Arial"/>
              </a:rPr>
              <a:t>frequencies</a:t>
            </a:r>
            <a:r>
              <a:rPr sz="2405" i="1" spc="-10" dirty="0">
                <a:latin typeface="Arial"/>
                <a:cs typeface="Arial"/>
              </a:rPr>
              <a:t>?</a:t>
            </a:r>
            <a:endParaRPr sz="2405">
              <a:latin typeface="Arial"/>
              <a:cs typeface="Arial"/>
            </a:endParaRPr>
          </a:p>
        </p:txBody>
      </p:sp>
      <p:sp>
        <p:nvSpPr>
          <p:cNvPr id="5" name="object 5"/>
          <p:cNvSpPr/>
          <p:nvPr/>
        </p:nvSpPr>
        <p:spPr>
          <a:xfrm>
            <a:off x="234883" y="3602926"/>
            <a:ext cx="739239" cy="18449"/>
          </a:xfrm>
          <a:custGeom>
            <a:avLst/>
            <a:gdLst/>
            <a:ahLst/>
            <a:cxnLst/>
            <a:rect l="l" t="t" r="r" b="b"/>
            <a:pathLst>
              <a:path w="737869" h="18414">
                <a:moveTo>
                  <a:pt x="737616" y="0"/>
                </a:moveTo>
                <a:lnTo>
                  <a:pt x="0" y="0"/>
                </a:lnTo>
                <a:lnTo>
                  <a:pt x="0" y="18287"/>
                </a:lnTo>
                <a:lnTo>
                  <a:pt x="737616" y="18287"/>
                </a:lnTo>
                <a:lnTo>
                  <a:pt x="737616" y="0"/>
                </a:lnTo>
                <a:close/>
              </a:path>
            </a:pathLst>
          </a:custGeom>
          <a:solidFill>
            <a:srgbClr val="000000"/>
          </a:solidFill>
        </p:spPr>
        <p:txBody>
          <a:bodyPr wrap="square" lIns="0" tIns="0" rIns="0" bIns="0" rtlCol="0"/>
          <a:lstStyle/>
          <a:p>
            <a:endParaRPr sz="1803"/>
          </a:p>
        </p:txBody>
      </p:sp>
      <p:sp>
        <p:nvSpPr>
          <p:cNvPr id="6" name="object 6"/>
          <p:cNvSpPr txBox="1"/>
          <p:nvPr/>
        </p:nvSpPr>
        <p:spPr>
          <a:xfrm>
            <a:off x="193658" y="3532184"/>
            <a:ext cx="1183291" cy="454231"/>
          </a:xfrm>
          <a:prstGeom prst="rect">
            <a:avLst/>
          </a:prstGeom>
        </p:spPr>
        <p:txBody>
          <a:bodyPr vert="horz" wrap="square" lIns="0" tIns="13360" rIns="0" bIns="0" rtlCol="0">
            <a:spAutoFit/>
          </a:bodyPr>
          <a:lstStyle/>
          <a:p>
            <a:pPr marL="38172">
              <a:spcBef>
                <a:spcPts val="105"/>
              </a:spcBef>
            </a:pPr>
            <a:r>
              <a:rPr sz="4208" spc="120" baseline="11904" dirty="0">
                <a:latin typeface="Cambria Math"/>
                <a:cs typeface="Cambria Math"/>
              </a:rPr>
              <a:t>𝑣</a:t>
            </a:r>
            <a:r>
              <a:rPr sz="2054" spc="80" dirty="0">
                <a:latin typeface="Cambria Math"/>
                <a:cs typeface="Cambria Math"/>
              </a:rPr>
              <a:t>0𝑈𝑇</a:t>
            </a:r>
            <a:r>
              <a:rPr sz="2054" spc="496" dirty="0">
                <a:latin typeface="Cambria Math"/>
                <a:cs typeface="Cambria Math"/>
              </a:rPr>
              <a:t> </a:t>
            </a:r>
            <a:r>
              <a:rPr sz="4208" spc="-75" baseline="-30753" dirty="0">
                <a:latin typeface="Cambria Math"/>
                <a:cs typeface="Cambria Math"/>
              </a:rPr>
              <a:t>=</a:t>
            </a:r>
            <a:endParaRPr sz="4208" baseline="-30753">
              <a:latin typeface="Cambria Math"/>
              <a:cs typeface="Cambria Math"/>
            </a:endParaRPr>
          </a:p>
        </p:txBody>
      </p:sp>
      <p:sp>
        <p:nvSpPr>
          <p:cNvPr id="7" name="object 7"/>
          <p:cNvSpPr txBox="1"/>
          <p:nvPr/>
        </p:nvSpPr>
        <p:spPr>
          <a:xfrm>
            <a:off x="309698" y="4042144"/>
            <a:ext cx="566199" cy="454231"/>
          </a:xfrm>
          <a:prstGeom prst="rect">
            <a:avLst/>
          </a:prstGeom>
        </p:spPr>
        <p:txBody>
          <a:bodyPr vert="horz" wrap="square" lIns="0" tIns="13360" rIns="0" bIns="0" rtlCol="0">
            <a:spAutoFit/>
          </a:bodyPr>
          <a:lstStyle/>
          <a:p>
            <a:pPr marL="38172">
              <a:spcBef>
                <a:spcPts val="105"/>
              </a:spcBef>
            </a:pPr>
            <a:r>
              <a:rPr sz="4208" spc="-37" baseline="11904" dirty="0">
                <a:latin typeface="Cambria Math"/>
                <a:cs typeface="Cambria Math"/>
              </a:rPr>
              <a:t>𝑣</a:t>
            </a:r>
            <a:r>
              <a:rPr sz="2054" spc="-25" dirty="0">
                <a:latin typeface="Cambria Math"/>
                <a:cs typeface="Cambria Math"/>
              </a:rPr>
              <a:t>𝐼𝑁</a:t>
            </a:r>
            <a:endParaRPr sz="2054">
              <a:latin typeface="Cambria Math"/>
              <a:cs typeface="Cambria Math"/>
            </a:endParaRPr>
          </a:p>
        </p:txBody>
      </p:sp>
      <p:sp>
        <p:nvSpPr>
          <p:cNvPr id="8" name="object 8"/>
          <p:cNvSpPr/>
          <p:nvPr/>
        </p:nvSpPr>
        <p:spPr>
          <a:xfrm>
            <a:off x="350920" y="4112888"/>
            <a:ext cx="510215" cy="18449"/>
          </a:xfrm>
          <a:custGeom>
            <a:avLst/>
            <a:gdLst/>
            <a:ahLst/>
            <a:cxnLst/>
            <a:rect l="l" t="t" r="r" b="b"/>
            <a:pathLst>
              <a:path w="509269" h="18414">
                <a:moveTo>
                  <a:pt x="509017" y="0"/>
                </a:moveTo>
                <a:lnTo>
                  <a:pt x="0" y="0"/>
                </a:lnTo>
                <a:lnTo>
                  <a:pt x="0" y="18287"/>
                </a:lnTo>
                <a:lnTo>
                  <a:pt x="509017" y="18287"/>
                </a:lnTo>
                <a:lnTo>
                  <a:pt x="509017" y="0"/>
                </a:lnTo>
                <a:close/>
              </a:path>
            </a:pathLst>
          </a:custGeom>
          <a:solidFill>
            <a:srgbClr val="000000"/>
          </a:solidFill>
        </p:spPr>
        <p:txBody>
          <a:bodyPr wrap="square" lIns="0" tIns="0" rIns="0" bIns="0" rtlCol="0"/>
          <a:lstStyle/>
          <a:p>
            <a:endParaRPr sz="1803"/>
          </a:p>
        </p:txBody>
      </p:sp>
      <p:sp>
        <p:nvSpPr>
          <p:cNvPr id="9" name="object 9"/>
          <p:cNvSpPr/>
          <p:nvPr/>
        </p:nvSpPr>
        <p:spPr>
          <a:xfrm>
            <a:off x="234884" y="3990740"/>
            <a:ext cx="742420" cy="24811"/>
          </a:xfrm>
          <a:custGeom>
            <a:avLst/>
            <a:gdLst/>
            <a:ahLst/>
            <a:cxnLst/>
            <a:rect l="l" t="t" r="r" b="b"/>
            <a:pathLst>
              <a:path w="741044" h="24764">
                <a:moveTo>
                  <a:pt x="740664" y="0"/>
                </a:moveTo>
                <a:lnTo>
                  <a:pt x="0" y="0"/>
                </a:lnTo>
                <a:lnTo>
                  <a:pt x="0" y="24383"/>
                </a:lnTo>
                <a:lnTo>
                  <a:pt x="740664" y="24383"/>
                </a:lnTo>
                <a:lnTo>
                  <a:pt x="740664" y="0"/>
                </a:lnTo>
                <a:close/>
              </a:path>
            </a:pathLst>
          </a:custGeom>
          <a:solidFill>
            <a:srgbClr val="000000"/>
          </a:solidFill>
        </p:spPr>
        <p:txBody>
          <a:bodyPr wrap="square" lIns="0" tIns="0" rIns="0" bIns="0" rtlCol="0"/>
          <a:lstStyle/>
          <a:p>
            <a:endParaRPr sz="1803"/>
          </a:p>
        </p:txBody>
      </p:sp>
      <p:sp>
        <p:nvSpPr>
          <p:cNvPr id="10" name="object 10"/>
          <p:cNvSpPr txBox="1"/>
          <p:nvPr/>
        </p:nvSpPr>
        <p:spPr>
          <a:xfrm>
            <a:off x="1729647" y="3458896"/>
            <a:ext cx="435782" cy="454231"/>
          </a:xfrm>
          <a:prstGeom prst="rect">
            <a:avLst/>
          </a:prstGeom>
        </p:spPr>
        <p:txBody>
          <a:bodyPr vert="horz" wrap="square" lIns="0" tIns="13360" rIns="0" bIns="0" rtlCol="0">
            <a:spAutoFit/>
          </a:bodyPr>
          <a:lstStyle/>
          <a:p>
            <a:pPr marL="38172">
              <a:spcBef>
                <a:spcPts val="105"/>
              </a:spcBef>
            </a:pPr>
            <a:r>
              <a:rPr sz="2805" spc="-25" dirty="0">
                <a:latin typeface="Cambria Math"/>
                <a:cs typeface="Cambria Math"/>
              </a:rPr>
              <a:t>𝑍</a:t>
            </a:r>
            <a:r>
              <a:rPr sz="3081" spc="-37" baseline="-16260" dirty="0">
                <a:latin typeface="Cambria Math"/>
                <a:cs typeface="Cambria Math"/>
              </a:rPr>
              <a:t>𝐶</a:t>
            </a:r>
            <a:endParaRPr sz="3081" baseline="-16260">
              <a:latin typeface="Cambria Math"/>
              <a:cs typeface="Cambria Math"/>
            </a:endParaRPr>
          </a:p>
        </p:txBody>
      </p:sp>
      <p:sp>
        <p:nvSpPr>
          <p:cNvPr id="11" name="object 11"/>
          <p:cNvSpPr txBox="1"/>
          <p:nvPr/>
        </p:nvSpPr>
        <p:spPr>
          <a:xfrm>
            <a:off x="1399852" y="3968855"/>
            <a:ext cx="1098043"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𝑅</a:t>
            </a:r>
            <a:r>
              <a:rPr sz="2805" spc="90" dirty="0">
                <a:latin typeface="Cambria Math"/>
                <a:cs typeface="Cambria Math"/>
              </a:rPr>
              <a:t> </a:t>
            </a:r>
            <a:r>
              <a:rPr sz="2805" dirty="0">
                <a:latin typeface="Cambria Math"/>
                <a:cs typeface="Cambria Math"/>
              </a:rPr>
              <a:t>+</a:t>
            </a:r>
            <a:r>
              <a:rPr sz="2805" spc="-5" dirty="0">
                <a:latin typeface="Cambria Math"/>
                <a:cs typeface="Cambria Math"/>
              </a:rPr>
              <a:t> </a:t>
            </a:r>
            <a:r>
              <a:rPr sz="2805" spc="-35" dirty="0">
                <a:latin typeface="Cambria Math"/>
                <a:cs typeface="Cambria Math"/>
              </a:rPr>
              <a:t>𝑍</a:t>
            </a:r>
            <a:r>
              <a:rPr sz="3081" spc="-52" baseline="-16260" dirty="0">
                <a:latin typeface="Cambria Math"/>
                <a:cs typeface="Cambria Math"/>
              </a:rPr>
              <a:t>𝐶</a:t>
            </a:r>
            <a:endParaRPr sz="3081" baseline="-16260">
              <a:latin typeface="Cambria Math"/>
              <a:cs typeface="Cambria Math"/>
            </a:endParaRPr>
          </a:p>
        </p:txBody>
      </p:sp>
      <p:sp>
        <p:nvSpPr>
          <p:cNvPr id="12" name="object 12"/>
          <p:cNvSpPr/>
          <p:nvPr/>
        </p:nvSpPr>
        <p:spPr>
          <a:xfrm>
            <a:off x="1441077" y="3990740"/>
            <a:ext cx="1047784" cy="24811"/>
          </a:xfrm>
          <a:custGeom>
            <a:avLst/>
            <a:gdLst/>
            <a:ahLst/>
            <a:cxnLst/>
            <a:rect l="l" t="t" r="r" b="b"/>
            <a:pathLst>
              <a:path w="1045844" h="24764">
                <a:moveTo>
                  <a:pt x="1045462" y="0"/>
                </a:moveTo>
                <a:lnTo>
                  <a:pt x="0" y="0"/>
                </a:lnTo>
                <a:lnTo>
                  <a:pt x="0" y="24383"/>
                </a:lnTo>
                <a:lnTo>
                  <a:pt x="1045462" y="24383"/>
                </a:lnTo>
                <a:lnTo>
                  <a:pt x="1045462" y="0"/>
                </a:lnTo>
                <a:close/>
              </a:path>
            </a:pathLst>
          </a:custGeom>
          <a:solidFill>
            <a:srgbClr val="000000"/>
          </a:solidFill>
        </p:spPr>
        <p:txBody>
          <a:bodyPr wrap="square" lIns="0" tIns="0" rIns="0" bIns="0" rtlCol="0"/>
          <a:lstStyle/>
          <a:p>
            <a:endParaRPr sz="1803"/>
          </a:p>
        </p:txBody>
      </p:sp>
      <p:sp>
        <p:nvSpPr>
          <p:cNvPr id="13" name="object 13"/>
          <p:cNvSpPr txBox="1"/>
          <p:nvPr/>
        </p:nvSpPr>
        <p:spPr>
          <a:xfrm>
            <a:off x="2570419" y="3730670"/>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14" name="object 14"/>
          <p:cNvSpPr txBox="1"/>
          <p:nvPr/>
        </p:nvSpPr>
        <p:spPr>
          <a:xfrm>
            <a:off x="3474302" y="3104672"/>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15" name="object 15"/>
          <p:cNvSpPr txBox="1"/>
          <p:nvPr/>
        </p:nvSpPr>
        <p:spPr>
          <a:xfrm>
            <a:off x="3266654" y="3495540"/>
            <a:ext cx="626635" cy="454231"/>
          </a:xfrm>
          <a:prstGeom prst="rect">
            <a:avLst/>
          </a:prstGeom>
        </p:spPr>
        <p:txBody>
          <a:bodyPr vert="horz" wrap="square" lIns="0" tIns="13360" rIns="0" bIns="0" rtlCol="0">
            <a:spAutoFit/>
          </a:bodyPr>
          <a:lstStyle/>
          <a:p>
            <a:pPr marL="12724">
              <a:spcBef>
                <a:spcPts val="105"/>
              </a:spcBef>
            </a:pPr>
            <a:r>
              <a:rPr sz="2805" spc="55" dirty="0">
                <a:latin typeface="Cambria Math"/>
                <a:cs typeface="Cambria Math"/>
              </a:rPr>
              <a:t>j𝜔𝐶</a:t>
            </a:r>
            <a:endParaRPr sz="2805">
              <a:latin typeface="Cambria Math"/>
              <a:cs typeface="Cambria Math"/>
            </a:endParaRPr>
          </a:p>
        </p:txBody>
      </p:sp>
      <p:sp>
        <p:nvSpPr>
          <p:cNvPr id="16" name="object 16"/>
          <p:cNvSpPr/>
          <p:nvPr/>
        </p:nvSpPr>
        <p:spPr>
          <a:xfrm>
            <a:off x="3282431" y="3575444"/>
            <a:ext cx="617093" cy="24811"/>
          </a:xfrm>
          <a:custGeom>
            <a:avLst/>
            <a:gdLst/>
            <a:ahLst/>
            <a:cxnLst/>
            <a:rect l="l" t="t" r="r" b="b"/>
            <a:pathLst>
              <a:path w="615950" h="24764">
                <a:moveTo>
                  <a:pt x="615694" y="0"/>
                </a:moveTo>
                <a:lnTo>
                  <a:pt x="0" y="0"/>
                </a:lnTo>
                <a:lnTo>
                  <a:pt x="0" y="24383"/>
                </a:lnTo>
                <a:lnTo>
                  <a:pt x="615694" y="24383"/>
                </a:lnTo>
                <a:lnTo>
                  <a:pt x="615694" y="0"/>
                </a:lnTo>
                <a:close/>
              </a:path>
            </a:pathLst>
          </a:custGeom>
          <a:solidFill>
            <a:srgbClr val="000000"/>
          </a:solidFill>
        </p:spPr>
        <p:txBody>
          <a:bodyPr wrap="square" lIns="0" tIns="0" rIns="0" bIns="0" rtlCol="0"/>
          <a:lstStyle/>
          <a:p>
            <a:endParaRPr sz="1803"/>
          </a:p>
        </p:txBody>
      </p:sp>
      <p:sp>
        <p:nvSpPr>
          <p:cNvPr id="17" name="object 17"/>
          <p:cNvSpPr txBox="1"/>
          <p:nvPr/>
        </p:nvSpPr>
        <p:spPr>
          <a:xfrm>
            <a:off x="2908357" y="3926105"/>
            <a:ext cx="1358876" cy="454231"/>
          </a:xfrm>
          <a:prstGeom prst="rect">
            <a:avLst/>
          </a:prstGeom>
        </p:spPr>
        <p:txBody>
          <a:bodyPr vert="horz" wrap="square" lIns="0" tIns="13360" rIns="0" bIns="0" rtlCol="0">
            <a:spAutoFit/>
          </a:bodyPr>
          <a:lstStyle/>
          <a:p>
            <a:pPr marL="38172">
              <a:spcBef>
                <a:spcPts val="105"/>
              </a:spcBef>
              <a:tabLst>
                <a:tab pos="1320128" algn="l"/>
              </a:tabLst>
            </a:pPr>
            <a:r>
              <a:rPr sz="4208" baseline="-32738" dirty="0">
                <a:latin typeface="Cambria Math"/>
                <a:cs typeface="Cambria Math"/>
              </a:rPr>
              <a:t>𝑅</a:t>
            </a:r>
            <a:r>
              <a:rPr sz="4208" spc="135" baseline="-32738" dirty="0">
                <a:latin typeface="Cambria Math"/>
                <a:cs typeface="Cambria Math"/>
              </a:rPr>
              <a:t> </a:t>
            </a:r>
            <a:r>
              <a:rPr sz="4208" baseline="-32738" dirty="0">
                <a:latin typeface="Cambria Math"/>
                <a:cs typeface="Cambria Math"/>
              </a:rPr>
              <a:t>+</a:t>
            </a:r>
            <a:r>
              <a:rPr sz="4208" spc="30" baseline="-32738" dirty="0">
                <a:latin typeface="Cambria Math"/>
                <a:cs typeface="Cambria Math"/>
              </a:rPr>
              <a:t> </a:t>
            </a:r>
            <a:r>
              <a:rPr sz="2805" u="heavy" spc="180" dirty="0">
                <a:uFill>
                  <a:solidFill>
                    <a:srgbClr val="000000"/>
                  </a:solidFill>
                </a:uFill>
                <a:latin typeface="Cambria Math"/>
                <a:cs typeface="Cambria Math"/>
              </a:rPr>
              <a:t>  </a:t>
            </a:r>
            <a:r>
              <a:rPr sz="2805" u="heavy" spc="-50" dirty="0">
                <a:uFill>
                  <a:solidFill>
                    <a:srgbClr val="000000"/>
                  </a:solidFill>
                </a:uFill>
                <a:latin typeface="Cambria Math"/>
                <a:cs typeface="Cambria Math"/>
              </a:rPr>
              <a:t>1</a:t>
            </a:r>
            <a:r>
              <a:rPr sz="2805" u="heavy" dirty="0">
                <a:uFill>
                  <a:solidFill>
                    <a:srgbClr val="000000"/>
                  </a:solidFill>
                </a:uFill>
                <a:latin typeface="Cambria Math"/>
                <a:cs typeface="Cambria Math"/>
              </a:rPr>
              <a:t>	</a:t>
            </a:r>
            <a:endParaRPr sz="2805">
              <a:latin typeface="Cambria Math"/>
              <a:cs typeface="Cambria Math"/>
            </a:endParaRPr>
          </a:p>
        </p:txBody>
      </p:sp>
      <p:sp>
        <p:nvSpPr>
          <p:cNvPr id="18" name="object 18"/>
          <p:cNvSpPr txBox="1"/>
          <p:nvPr/>
        </p:nvSpPr>
        <p:spPr>
          <a:xfrm>
            <a:off x="3596448" y="4316973"/>
            <a:ext cx="626635" cy="454231"/>
          </a:xfrm>
          <a:prstGeom prst="rect">
            <a:avLst/>
          </a:prstGeom>
        </p:spPr>
        <p:txBody>
          <a:bodyPr vert="horz" wrap="square" lIns="0" tIns="13360" rIns="0" bIns="0" rtlCol="0">
            <a:spAutoFit/>
          </a:bodyPr>
          <a:lstStyle/>
          <a:p>
            <a:pPr marL="12724">
              <a:spcBef>
                <a:spcPts val="105"/>
              </a:spcBef>
            </a:pPr>
            <a:r>
              <a:rPr sz="2805" spc="55" dirty="0">
                <a:latin typeface="Cambria Math"/>
                <a:cs typeface="Cambria Math"/>
              </a:rPr>
              <a:t>j𝜔𝐶</a:t>
            </a:r>
            <a:endParaRPr sz="2805">
              <a:latin typeface="Cambria Math"/>
              <a:cs typeface="Cambria Math"/>
            </a:endParaRPr>
          </a:p>
        </p:txBody>
      </p:sp>
      <p:sp>
        <p:nvSpPr>
          <p:cNvPr id="19" name="object 19"/>
          <p:cNvSpPr/>
          <p:nvPr/>
        </p:nvSpPr>
        <p:spPr>
          <a:xfrm>
            <a:off x="2949583" y="3990740"/>
            <a:ext cx="1279990" cy="24811"/>
          </a:xfrm>
          <a:custGeom>
            <a:avLst/>
            <a:gdLst/>
            <a:ahLst/>
            <a:cxnLst/>
            <a:rect l="l" t="t" r="r" b="b"/>
            <a:pathLst>
              <a:path w="1277620" h="24764">
                <a:moveTo>
                  <a:pt x="1277111" y="0"/>
                </a:moveTo>
                <a:lnTo>
                  <a:pt x="0" y="0"/>
                </a:lnTo>
                <a:lnTo>
                  <a:pt x="0" y="24383"/>
                </a:lnTo>
                <a:lnTo>
                  <a:pt x="1277111" y="24383"/>
                </a:lnTo>
                <a:lnTo>
                  <a:pt x="1277111" y="0"/>
                </a:lnTo>
                <a:close/>
              </a:path>
            </a:pathLst>
          </a:custGeom>
          <a:solidFill>
            <a:srgbClr val="000000"/>
          </a:solidFill>
        </p:spPr>
        <p:txBody>
          <a:bodyPr wrap="square" lIns="0" tIns="0" rIns="0" bIns="0" rtlCol="0"/>
          <a:lstStyle/>
          <a:p>
            <a:endParaRPr sz="1803"/>
          </a:p>
        </p:txBody>
      </p:sp>
      <p:sp>
        <p:nvSpPr>
          <p:cNvPr id="20" name="object 20"/>
          <p:cNvSpPr txBox="1"/>
          <p:nvPr/>
        </p:nvSpPr>
        <p:spPr>
          <a:xfrm>
            <a:off x="4311004" y="3730670"/>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21" name="object 21"/>
          <p:cNvSpPr txBox="1"/>
          <p:nvPr/>
        </p:nvSpPr>
        <p:spPr>
          <a:xfrm>
            <a:off x="5309549" y="3458896"/>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22" name="object 22"/>
          <p:cNvSpPr txBox="1"/>
          <p:nvPr/>
        </p:nvSpPr>
        <p:spPr>
          <a:xfrm>
            <a:off x="4677441" y="3968855"/>
            <a:ext cx="1475933" cy="454231"/>
          </a:xfrm>
          <a:prstGeom prst="rect">
            <a:avLst/>
          </a:prstGeom>
        </p:spPr>
        <p:txBody>
          <a:bodyPr vert="horz" wrap="square" lIns="0" tIns="13360" rIns="0" bIns="0" rtlCol="0">
            <a:spAutoFit/>
          </a:bodyPr>
          <a:lstStyle/>
          <a:p>
            <a:pPr marL="12724">
              <a:spcBef>
                <a:spcPts val="105"/>
              </a:spcBef>
            </a:pPr>
            <a:r>
              <a:rPr sz="2805" dirty="0">
                <a:latin typeface="Cambria Math"/>
                <a:cs typeface="Cambria Math"/>
              </a:rPr>
              <a:t>1</a:t>
            </a:r>
            <a:r>
              <a:rPr sz="2805" spc="-25" dirty="0">
                <a:latin typeface="Cambria Math"/>
                <a:cs typeface="Cambria Math"/>
              </a:rPr>
              <a:t> </a:t>
            </a:r>
            <a:r>
              <a:rPr sz="2805" dirty="0">
                <a:latin typeface="Cambria Math"/>
                <a:cs typeface="Cambria Math"/>
              </a:rPr>
              <a:t>+</a:t>
            </a:r>
            <a:r>
              <a:rPr sz="2805" spc="-5" dirty="0">
                <a:latin typeface="Cambria Math"/>
                <a:cs typeface="Cambria Math"/>
              </a:rPr>
              <a:t> </a:t>
            </a:r>
            <a:r>
              <a:rPr sz="2805" spc="35" dirty="0">
                <a:latin typeface="Cambria Math"/>
                <a:cs typeface="Cambria Math"/>
              </a:rPr>
              <a:t>j𝜔𝑅𝐶</a:t>
            </a:r>
            <a:endParaRPr sz="2805">
              <a:latin typeface="Cambria Math"/>
              <a:cs typeface="Cambria Math"/>
            </a:endParaRPr>
          </a:p>
        </p:txBody>
      </p:sp>
      <p:sp>
        <p:nvSpPr>
          <p:cNvPr id="23" name="object 23"/>
          <p:cNvSpPr/>
          <p:nvPr/>
        </p:nvSpPr>
        <p:spPr>
          <a:xfrm>
            <a:off x="4693220" y="3990740"/>
            <a:ext cx="1465754" cy="24811"/>
          </a:xfrm>
          <a:custGeom>
            <a:avLst/>
            <a:gdLst/>
            <a:ahLst/>
            <a:cxnLst/>
            <a:rect l="l" t="t" r="r" b="b"/>
            <a:pathLst>
              <a:path w="1463039" h="24764">
                <a:moveTo>
                  <a:pt x="1463039" y="0"/>
                </a:moveTo>
                <a:lnTo>
                  <a:pt x="0" y="0"/>
                </a:lnTo>
                <a:lnTo>
                  <a:pt x="0" y="24383"/>
                </a:lnTo>
                <a:lnTo>
                  <a:pt x="1463039" y="24383"/>
                </a:lnTo>
                <a:lnTo>
                  <a:pt x="1463039" y="0"/>
                </a:lnTo>
                <a:close/>
              </a:path>
            </a:pathLst>
          </a:custGeom>
          <a:solidFill>
            <a:srgbClr val="000000"/>
          </a:solidFill>
        </p:spPr>
        <p:txBody>
          <a:bodyPr wrap="square" lIns="0" tIns="0" rIns="0" bIns="0" rtlCol="0"/>
          <a:lstStyle/>
          <a:p>
            <a:endParaRPr sz="1803"/>
          </a:p>
        </p:txBody>
      </p:sp>
      <p:sp>
        <p:nvSpPr>
          <p:cNvPr id="24" name="object 24"/>
          <p:cNvSpPr/>
          <p:nvPr/>
        </p:nvSpPr>
        <p:spPr>
          <a:xfrm>
            <a:off x="4873172" y="6374745"/>
            <a:ext cx="201668" cy="21630"/>
          </a:xfrm>
          <a:custGeom>
            <a:avLst/>
            <a:gdLst/>
            <a:ahLst/>
            <a:cxnLst/>
            <a:rect l="l" t="t" r="r" b="b"/>
            <a:pathLst>
              <a:path w="201295" h="21589">
                <a:moveTo>
                  <a:pt x="201168" y="0"/>
                </a:moveTo>
                <a:lnTo>
                  <a:pt x="0" y="0"/>
                </a:lnTo>
                <a:lnTo>
                  <a:pt x="0" y="21335"/>
                </a:lnTo>
                <a:lnTo>
                  <a:pt x="201168" y="21335"/>
                </a:lnTo>
                <a:lnTo>
                  <a:pt x="201168" y="0"/>
                </a:lnTo>
                <a:close/>
              </a:path>
            </a:pathLst>
          </a:custGeom>
          <a:solidFill>
            <a:srgbClr val="000000"/>
          </a:solidFill>
        </p:spPr>
        <p:txBody>
          <a:bodyPr wrap="square" lIns="0" tIns="0" rIns="0" bIns="0" rtlCol="0"/>
          <a:lstStyle/>
          <a:p>
            <a:endParaRPr sz="1803"/>
          </a:p>
        </p:txBody>
      </p:sp>
      <p:sp>
        <p:nvSpPr>
          <p:cNvPr id="25" name="object 25"/>
          <p:cNvSpPr txBox="1"/>
          <p:nvPr/>
        </p:nvSpPr>
        <p:spPr>
          <a:xfrm>
            <a:off x="4860448" y="6358969"/>
            <a:ext cx="470136" cy="391886"/>
          </a:xfrm>
          <a:prstGeom prst="rect">
            <a:avLst/>
          </a:prstGeom>
        </p:spPr>
        <p:txBody>
          <a:bodyPr vert="horz" wrap="square" lIns="0" tIns="12724" rIns="0" bIns="0" rtlCol="0">
            <a:spAutoFit/>
          </a:bodyPr>
          <a:lstStyle/>
          <a:p>
            <a:pPr marL="12724">
              <a:spcBef>
                <a:spcPts val="100"/>
              </a:spcBef>
            </a:pPr>
            <a:r>
              <a:rPr sz="2405" dirty="0">
                <a:latin typeface="Cambria Math"/>
                <a:cs typeface="Cambria Math"/>
              </a:rPr>
              <a:t>𝐴</a:t>
            </a:r>
            <a:r>
              <a:rPr sz="2405" spc="-80" dirty="0">
                <a:latin typeface="Cambria Math"/>
                <a:cs typeface="Cambria Math"/>
              </a:rPr>
              <a:t> </a:t>
            </a:r>
            <a:r>
              <a:rPr sz="2405" spc="-50" dirty="0">
                <a:latin typeface="Cambria Math"/>
                <a:cs typeface="Cambria Math"/>
              </a:rPr>
              <a:t>𝑉</a:t>
            </a:r>
            <a:endParaRPr sz="2405">
              <a:latin typeface="Cambria Math"/>
              <a:cs typeface="Cambria Math"/>
            </a:endParaRPr>
          </a:p>
        </p:txBody>
      </p:sp>
      <p:sp>
        <p:nvSpPr>
          <p:cNvPr id="26" name="object 26"/>
          <p:cNvSpPr/>
          <p:nvPr/>
        </p:nvSpPr>
        <p:spPr>
          <a:xfrm>
            <a:off x="5126625" y="6374745"/>
            <a:ext cx="201668" cy="21630"/>
          </a:xfrm>
          <a:custGeom>
            <a:avLst/>
            <a:gdLst/>
            <a:ahLst/>
            <a:cxnLst/>
            <a:rect l="l" t="t" r="r" b="b"/>
            <a:pathLst>
              <a:path w="201295" h="21589">
                <a:moveTo>
                  <a:pt x="201168" y="0"/>
                </a:moveTo>
                <a:lnTo>
                  <a:pt x="0" y="0"/>
                </a:lnTo>
                <a:lnTo>
                  <a:pt x="0" y="21335"/>
                </a:lnTo>
                <a:lnTo>
                  <a:pt x="201168" y="21335"/>
                </a:lnTo>
                <a:lnTo>
                  <a:pt x="201168" y="0"/>
                </a:lnTo>
                <a:close/>
              </a:path>
            </a:pathLst>
          </a:custGeom>
          <a:solidFill>
            <a:srgbClr val="000000"/>
          </a:solidFill>
        </p:spPr>
        <p:txBody>
          <a:bodyPr wrap="square" lIns="0" tIns="0" rIns="0" bIns="0" rtlCol="0"/>
          <a:lstStyle/>
          <a:p>
            <a:endParaRPr sz="1803"/>
          </a:p>
        </p:txBody>
      </p:sp>
      <p:sp>
        <p:nvSpPr>
          <p:cNvPr id="27" name="object 27"/>
          <p:cNvSpPr txBox="1"/>
          <p:nvPr/>
        </p:nvSpPr>
        <p:spPr>
          <a:xfrm>
            <a:off x="3235903" y="5922295"/>
            <a:ext cx="2640139" cy="624091"/>
          </a:xfrm>
          <a:prstGeom prst="rect">
            <a:avLst/>
          </a:prstGeom>
        </p:spPr>
        <p:txBody>
          <a:bodyPr vert="horz" wrap="square" lIns="0" tIns="12724" rIns="0" bIns="0" rtlCol="0">
            <a:spAutoFit/>
          </a:bodyPr>
          <a:lstStyle/>
          <a:p>
            <a:pPr marL="1636959">
              <a:lnSpc>
                <a:spcPts val="2354"/>
              </a:lnSpc>
              <a:spcBef>
                <a:spcPts val="100"/>
              </a:spcBef>
            </a:pPr>
            <a:r>
              <a:rPr sz="2405" dirty="0">
                <a:latin typeface="Cambria Math"/>
                <a:cs typeface="Cambria Math"/>
              </a:rPr>
              <a:t>𝑉</a:t>
            </a:r>
            <a:r>
              <a:rPr sz="2405" spc="-15" dirty="0">
                <a:latin typeface="Cambria Math"/>
                <a:cs typeface="Cambria Math"/>
              </a:rPr>
              <a:t> </a:t>
            </a:r>
            <a:r>
              <a:rPr sz="2405" spc="-50" dirty="0">
                <a:latin typeface="Cambria Math"/>
                <a:cs typeface="Cambria Math"/>
              </a:rPr>
              <a:t>𝐶</a:t>
            </a:r>
            <a:endParaRPr sz="2405">
              <a:latin typeface="Cambria Math"/>
              <a:cs typeface="Cambria Math"/>
            </a:endParaRPr>
          </a:p>
          <a:p>
            <a:pPr marL="12724">
              <a:lnSpc>
                <a:spcPts val="2354"/>
              </a:lnSpc>
              <a:tabLst>
                <a:tab pos="2174554" algn="l"/>
              </a:tabLst>
            </a:pPr>
            <a:r>
              <a:rPr sz="2405" dirty="0">
                <a:latin typeface="Cambria Math"/>
                <a:cs typeface="Cambria Math"/>
              </a:rPr>
              <a:t>𝑅𝐶</a:t>
            </a:r>
            <a:r>
              <a:rPr sz="2405" spc="240" dirty="0">
                <a:latin typeface="Cambria Math"/>
                <a:cs typeface="Cambria Math"/>
              </a:rPr>
              <a:t> </a:t>
            </a:r>
            <a:r>
              <a:rPr sz="2405" dirty="0">
                <a:latin typeface="Cambria Math"/>
                <a:cs typeface="Cambria Math"/>
              </a:rPr>
              <a:t>⇒</a:t>
            </a:r>
            <a:r>
              <a:rPr sz="2405" spc="120" dirty="0">
                <a:latin typeface="Cambria Math"/>
                <a:cs typeface="Cambria Math"/>
              </a:rPr>
              <a:t> </a:t>
            </a:r>
            <a:r>
              <a:rPr sz="2405" dirty="0">
                <a:latin typeface="Cambria Math"/>
                <a:cs typeface="Cambria Math"/>
              </a:rPr>
              <a:t>Ω𝐹</a:t>
            </a:r>
            <a:r>
              <a:rPr sz="2405" spc="210" dirty="0">
                <a:latin typeface="Cambria Math"/>
                <a:cs typeface="Cambria Math"/>
              </a:rPr>
              <a:t> </a:t>
            </a:r>
            <a:r>
              <a:rPr sz="2405" spc="-50" dirty="0">
                <a:latin typeface="Cambria Math"/>
                <a:cs typeface="Cambria Math"/>
              </a:rPr>
              <a:t>=</a:t>
            </a:r>
            <a:r>
              <a:rPr sz="2405" dirty="0">
                <a:latin typeface="Cambria Math"/>
                <a:cs typeface="Cambria Math"/>
              </a:rPr>
              <a:t>	=</a:t>
            </a:r>
            <a:r>
              <a:rPr sz="2405" spc="125" dirty="0">
                <a:latin typeface="Cambria Math"/>
                <a:cs typeface="Cambria Math"/>
              </a:rPr>
              <a:t> </a:t>
            </a:r>
            <a:r>
              <a:rPr sz="2405" spc="-50" dirty="0">
                <a:latin typeface="Cambria Math"/>
                <a:cs typeface="Cambria Math"/>
              </a:rPr>
              <a:t>𝑠</a:t>
            </a:r>
            <a:endParaRPr sz="2405">
              <a:latin typeface="Cambria Math"/>
              <a:cs typeface="Cambria Math"/>
            </a:endParaRPr>
          </a:p>
        </p:txBody>
      </p:sp>
      <p:sp>
        <p:nvSpPr>
          <p:cNvPr id="28" name="object 28"/>
          <p:cNvSpPr txBox="1"/>
          <p:nvPr/>
        </p:nvSpPr>
        <p:spPr>
          <a:xfrm>
            <a:off x="3736917" y="5300250"/>
            <a:ext cx="601824" cy="391886"/>
          </a:xfrm>
          <a:prstGeom prst="rect">
            <a:avLst/>
          </a:prstGeom>
        </p:spPr>
        <p:txBody>
          <a:bodyPr vert="horz" wrap="square" lIns="0" tIns="12724" rIns="0" bIns="0" rtlCol="0">
            <a:spAutoFit/>
          </a:bodyPr>
          <a:lstStyle/>
          <a:p>
            <a:pPr marL="12724">
              <a:spcBef>
                <a:spcPts val="100"/>
              </a:spcBef>
            </a:pPr>
            <a:r>
              <a:rPr sz="2405" dirty="0">
                <a:latin typeface="Cambria Math"/>
                <a:cs typeface="Cambria Math"/>
              </a:rPr>
              <a:t>𝜔</a:t>
            </a:r>
            <a:r>
              <a:rPr sz="2405" spc="175" dirty="0">
                <a:latin typeface="Cambria Math"/>
                <a:cs typeface="Cambria Math"/>
              </a:rPr>
              <a:t> </a:t>
            </a:r>
            <a:r>
              <a:rPr sz="2405" spc="-50" dirty="0">
                <a:latin typeface="Cambria Math"/>
                <a:cs typeface="Cambria Math"/>
              </a:rPr>
              <a:t>⇒</a:t>
            </a:r>
            <a:endParaRPr sz="2405">
              <a:latin typeface="Cambria Math"/>
              <a:cs typeface="Cambria Math"/>
            </a:endParaRPr>
          </a:p>
        </p:txBody>
      </p:sp>
      <p:sp>
        <p:nvSpPr>
          <p:cNvPr id="29" name="object 29"/>
          <p:cNvSpPr txBox="1"/>
          <p:nvPr/>
        </p:nvSpPr>
        <p:spPr>
          <a:xfrm>
            <a:off x="4396506" y="5068171"/>
            <a:ext cx="519758" cy="391886"/>
          </a:xfrm>
          <a:prstGeom prst="rect">
            <a:avLst/>
          </a:prstGeom>
        </p:spPr>
        <p:txBody>
          <a:bodyPr vert="horz" wrap="square" lIns="0" tIns="12724" rIns="0" bIns="0" rtlCol="0">
            <a:spAutoFit/>
          </a:bodyPr>
          <a:lstStyle/>
          <a:p>
            <a:pPr marL="12724">
              <a:spcBef>
                <a:spcPts val="100"/>
              </a:spcBef>
            </a:pPr>
            <a:r>
              <a:rPr sz="2405" spc="-25" dirty="0">
                <a:latin typeface="Cambria Math"/>
                <a:cs typeface="Cambria Math"/>
              </a:rPr>
              <a:t>𝑟𝑎𝑑</a:t>
            </a:r>
            <a:endParaRPr sz="2405">
              <a:latin typeface="Cambria Math"/>
              <a:cs typeface="Cambria Math"/>
            </a:endParaRPr>
          </a:p>
        </p:txBody>
      </p:sp>
      <p:sp>
        <p:nvSpPr>
          <p:cNvPr id="30" name="object 30"/>
          <p:cNvSpPr txBox="1"/>
          <p:nvPr/>
        </p:nvSpPr>
        <p:spPr>
          <a:xfrm>
            <a:off x="4573617" y="5504844"/>
            <a:ext cx="166679"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𝑠</a:t>
            </a:r>
            <a:endParaRPr sz="2405">
              <a:latin typeface="Cambria Math"/>
              <a:cs typeface="Cambria Math"/>
            </a:endParaRPr>
          </a:p>
        </p:txBody>
      </p:sp>
      <p:sp>
        <p:nvSpPr>
          <p:cNvPr id="31" name="object 31"/>
          <p:cNvSpPr/>
          <p:nvPr/>
        </p:nvSpPr>
        <p:spPr>
          <a:xfrm>
            <a:off x="4412282" y="5520621"/>
            <a:ext cx="501308" cy="21630"/>
          </a:xfrm>
          <a:custGeom>
            <a:avLst/>
            <a:gdLst/>
            <a:ahLst/>
            <a:cxnLst/>
            <a:rect l="l" t="t" r="r" b="b"/>
            <a:pathLst>
              <a:path w="500379" h="21589">
                <a:moveTo>
                  <a:pt x="499872" y="0"/>
                </a:moveTo>
                <a:lnTo>
                  <a:pt x="0" y="0"/>
                </a:lnTo>
                <a:lnTo>
                  <a:pt x="0" y="21336"/>
                </a:lnTo>
                <a:lnTo>
                  <a:pt x="499872" y="21336"/>
                </a:lnTo>
                <a:lnTo>
                  <a:pt x="499872" y="0"/>
                </a:lnTo>
                <a:close/>
              </a:path>
            </a:pathLst>
          </a:custGeom>
          <a:solidFill>
            <a:srgbClr val="000000"/>
          </a:solidFill>
        </p:spPr>
        <p:txBody>
          <a:bodyPr wrap="square" lIns="0" tIns="0" rIns="0" bIns="0" rtlCol="0"/>
          <a:lstStyle/>
          <a:p>
            <a:endParaRPr sz="1803"/>
          </a:p>
        </p:txBody>
      </p:sp>
      <p:sp>
        <p:nvSpPr>
          <p:cNvPr id="32" name="Rectangle 31"/>
          <p:cNvSpPr/>
          <p:nvPr/>
        </p:nvSpPr>
        <p:spPr>
          <a:xfrm>
            <a:off x="6205979" y="2233823"/>
            <a:ext cx="5850903" cy="3785652"/>
          </a:xfrm>
          <a:prstGeom prst="rect">
            <a:avLst/>
          </a:prstGeom>
        </p:spPr>
        <p:txBody>
          <a:bodyPr wrap="square">
            <a:spAutoFit/>
          </a:bodyPr>
          <a:lstStyle/>
          <a:p>
            <a:pPr algn="just"/>
            <a:r>
              <a:rPr lang="en-US" sz="2000" b="1" dirty="0">
                <a:solidFill>
                  <a:srgbClr val="FF0000"/>
                </a:solidFill>
                <a:latin typeface="CIDFont+F5"/>
              </a:rPr>
              <a:t>A simple example of a transfer function is shown on this slide. It is a low </a:t>
            </a:r>
            <a:r>
              <a:rPr lang="en-US" sz="2000" b="1" dirty="0" smtClean="0">
                <a:solidFill>
                  <a:srgbClr val="FF0000"/>
                </a:solidFill>
                <a:latin typeface="CIDFont+F5"/>
              </a:rPr>
              <a:t>pass filter </a:t>
            </a:r>
            <a:r>
              <a:rPr lang="en-US" sz="2000" b="1" dirty="0">
                <a:solidFill>
                  <a:srgbClr val="FF0000"/>
                </a:solidFill>
                <a:latin typeface="CIDFont+F5"/>
              </a:rPr>
              <a:t>for reasons that will soon become clear.</a:t>
            </a:r>
          </a:p>
          <a:p>
            <a:pPr algn="just"/>
            <a:r>
              <a:rPr lang="en-US" sz="2000" b="1" dirty="0">
                <a:solidFill>
                  <a:srgbClr val="FF0000"/>
                </a:solidFill>
                <a:latin typeface="CIDFont+F5"/>
              </a:rPr>
              <a:t>The transfer function is easily derived. This is indeed a complex number </a:t>
            </a:r>
            <a:r>
              <a:rPr lang="en-US" sz="2000" b="1" dirty="0" smtClean="0">
                <a:solidFill>
                  <a:srgbClr val="FF0000"/>
                </a:solidFill>
                <a:latin typeface="CIDFont+F5"/>
              </a:rPr>
              <a:t>that depends </a:t>
            </a:r>
            <a:r>
              <a:rPr lang="en-US" sz="2000" b="1" dirty="0">
                <a:solidFill>
                  <a:srgbClr val="FF0000"/>
                </a:solidFill>
                <a:latin typeface="CIDFont+F5"/>
              </a:rPr>
              <a:t>on frequency. By multiplying numerator and denominator by </a:t>
            </a:r>
            <a:r>
              <a:rPr lang="en-US" sz="2000" b="1" dirty="0" err="1">
                <a:solidFill>
                  <a:srgbClr val="FF0000"/>
                </a:solidFill>
                <a:latin typeface="CIDFont+F5"/>
              </a:rPr>
              <a:t>jwC</a:t>
            </a:r>
            <a:r>
              <a:rPr lang="en-US" sz="2000" b="1" dirty="0">
                <a:solidFill>
                  <a:srgbClr val="FF0000"/>
                </a:solidFill>
                <a:latin typeface="CIDFont+F5"/>
              </a:rPr>
              <a:t>, </a:t>
            </a:r>
            <a:r>
              <a:rPr lang="en-US" sz="2000" b="1" dirty="0" smtClean="0">
                <a:solidFill>
                  <a:srgbClr val="FF0000"/>
                </a:solidFill>
                <a:latin typeface="CIDFont+F5"/>
              </a:rPr>
              <a:t>we obtain </a:t>
            </a:r>
            <a:r>
              <a:rPr lang="en-US" sz="2000" b="1" dirty="0">
                <a:solidFill>
                  <a:srgbClr val="FF0000"/>
                </a:solidFill>
                <a:latin typeface="CIDFont+F5"/>
              </a:rPr>
              <a:t>a simplified expression with a 1 in the numerator and “1+” in </a:t>
            </a:r>
            <a:r>
              <a:rPr lang="en-US" sz="2000" b="1" dirty="0" smtClean="0">
                <a:solidFill>
                  <a:srgbClr val="FF0000"/>
                </a:solidFill>
                <a:latin typeface="CIDFont+F5"/>
              </a:rPr>
              <a:t>the </a:t>
            </a:r>
            <a:r>
              <a:rPr lang="en-US" sz="2000" b="1" dirty="0">
                <a:solidFill>
                  <a:srgbClr val="FF0000"/>
                </a:solidFill>
                <a:latin typeface="CIDFont+F5"/>
              </a:rPr>
              <a:t> </a:t>
            </a:r>
            <a:r>
              <a:rPr lang="en-US" sz="2000" b="1" dirty="0" smtClean="0">
                <a:solidFill>
                  <a:srgbClr val="FF0000"/>
                </a:solidFill>
                <a:latin typeface="CIDFont+F5"/>
              </a:rPr>
              <a:t>denominator</a:t>
            </a:r>
            <a:r>
              <a:rPr lang="en-US" sz="2000" b="1" dirty="0">
                <a:solidFill>
                  <a:srgbClr val="FF0000"/>
                </a:solidFill>
                <a:latin typeface="CIDFont+F5"/>
              </a:rPr>
              <a:t>.</a:t>
            </a:r>
          </a:p>
          <a:p>
            <a:pPr algn="just"/>
            <a:r>
              <a:rPr lang="en-US" sz="2000" b="1" dirty="0">
                <a:solidFill>
                  <a:srgbClr val="FF0000"/>
                </a:solidFill>
                <a:latin typeface="CIDFont+F5"/>
              </a:rPr>
              <a:t>Notice that we also have the product of R and C in that expression, and the </a:t>
            </a:r>
            <a:r>
              <a:rPr lang="en-US" sz="2000" b="1" dirty="0" smtClean="0">
                <a:solidFill>
                  <a:srgbClr val="FF0000"/>
                </a:solidFill>
                <a:latin typeface="CIDFont+F5"/>
              </a:rPr>
              <a:t>units of </a:t>
            </a:r>
            <a:r>
              <a:rPr lang="en-US" sz="2000" b="1" dirty="0">
                <a:solidFill>
                  <a:srgbClr val="FF0000"/>
                </a:solidFill>
                <a:latin typeface="CIDFont+F5"/>
              </a:rPr>
              <a:t>RC are seconds!</a:t>
            </a:r>
            <a:endParaRPr lang="en-US" sz="3200" b="1" dirty="0">
              <a:solidFill>
                <a:srgbClr val="FF0000"/>
              </a:solidFill>
            </a:endParaRPr>
          </a:p>
        </p:txBody>
      </p:sp>
    </p:spTree>
    <p:extLst>
      <p:ext uri="{BB962C8B-B14F-4D97-AF65-F5344CB8AC3E}">
        <p14:creationId xmlns:p14="http://schemas.microsoft.com/office/powerpoint/2010/main" val="1458118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732390">
              <a:spcBef>
                <a:spcPts val="90"/>
              </a:spcBef>
            </a:pPr>
            <a:r>
              <a:rPr dirty="0"/>
              <a:t>RC</a:t>
            </a:r>
            <a:r>
              <a:rPr spc="-80" dirty="0"/>
              <a:t> </a:t>
            </a:r>
            <a:r>
              <a:rPr spc="-30" dirty="0"/>
              <a:t>low-</a:t>
            </a:r>
            <a:r>
              <a:rPr dirty="0"/>
              <a:t>pass</a:t>
            </a:r>
            <a:r>
              <a:rPr spc="-50" dirty="0"/>
              <a:t> </a:t>
            </a:r>
            <a:r>
              <a:rPr dirty="0"/>
              <a:t>filter</a:t>
            </a:r>
            <a:r>
              <a:rPr spc="-65" dirty="0"/>
              <a:t> </a:t>
            </a:r>
            <a:r>
              <a:rPr spc="-25" dirty="0"/>
              <a:t>(2)</a:t>
            </a:r>
          </a:p>
        </p:txBody>
      </p:sp>
      <p:pic>
        <p:nvPicPr>
          <p:cNvPr id="3" name="object 3"/>
          <p:cNvPicPr/>
          <p:nvPr/>
        </p:nvPicPr>
        <p:blipFill>
          <a:blip r:embed="rId2" cstate="print"/>
          <a:stretch>
            <a:fillRect/>
          </a:stretch>
        </p:blipFill>
        <p:spPr>
          <a:xfrm>
            <a:off x="1888458" y="1448781"/>
            <a:ext cx="3770098" cy="1725395"/>
          </a:xfrm>
          <a:prstGeom prst="rect">
            <a:avLst/>
          </a:prstGeom>
        </p:spPr>
      </p:pic>
      <p:sp>
        <p:nvSpPr>
          <p:cNvPr id="4" name="object 4"/>
          <p:cNvSpPr txBox="1"/>
          <p:nvPr/>
        </p:nvSpPr>
        <p:spPr>
          <a:xfrm>
            <a:off x="1769214" y="762230"/>
            <a:ext cx="3916312" cy="758324"/>
          </a:xfrm>
          <a:prstGeom prst="rect">
            <a:avLst/>
          </a:prstGeom>
        </p:spPr>
        <p:txBody>
          <a:bodyPr vert="horz" wrap="square" lIns="0" tIns="12724" rIns="0" bIns="0" rtlCol="0">
            <a:spAutoFit/>
          </a:bodyPr>
          <a:lstStyle/>
          <a:p>
            <a:pPr marL="12724" marR="5090">
              <a:spcBef>
                <a:spcPts val="100"/>
              </a:spcBef>
            </a:pPr>
            <a:r>
              <a:rPr sz="2405" i="1" dirty="0">
                <a:latin typeface="Arial"/>
                <a:cs typeface="Arial"/>
              </a:rPr>
              <a:t>How</a:t>
            </a:r>
            <a:r>
              <a:rPr sz="2405" i="1" spc="-50" dirty="0">
                <a:latin typeface="Arial"/>
                <a:cs typeface="Arial"/>
              </a:rPr>
              <a:t> </a:t>
            </a:r>
            <a:r>
              <a:rPr sz="2405" i="1" dirty="0">
                <a:latin typeface="Arial"/>
                <a:cs typeface="Arial"/>
              </a:rPr>
              <a:t>does</a:t>
            </a:r>
            <a:r>
              <a:rPr sz="2405" i="1" spc="-65" dirty="0">
                <a:latin typeface="Arial"/>
                <a:cs typeface="Arial"/>
              </a:rPr>
              <a:t> </a:t>
            </a:r>
            <a:r>
              <a:rPr sz="2405" i="1" dirty="0">
                <a:latin typeface="Arial"/>
                <a:cs typeface="Arial"/>
              </a:rPr>
              <a:t>this</a:t>
            </a:r>
            <a:r>
              <a:rPr sz="2405" i="1" spc="-65" dirty="0">
                <a:latin typeface="Arial"/>
                <a:cs typeface="Arial"/>
              </a:rPr>
              <a:t> </a:t>
            </a:r>
            <a:r>
              <a:rPr sz="2405" i="1" dirty="0">
                <a:latin typeface="Arial"/>
                <a:cs typeface="Arial"/>
              </a:rPr>
              <a:t>circuit</a:t>
            </a:r>
            <a:r>
              <a:rPr sz="2405" i="1" spc="-35" dirty="0">
                <a:latin typeface="Arial"/>
                <a:cs typeface="Arial"/>
              </a:rPr>
              <a:t> </a:t>
            </a:r>
            <a:r>
              <a:rPr sz="2405" i="1" spc="-10" dirty="0">
                <a:latin typeface="Arial"/>
                <a:cs typeface="Arial"/>
              </a:rPr>
              <a:t>behave </a:t>
            </a:r>
            <a:r>
              <a:rPr sz="2405" i="1" dirty="0">
                <a:latin typeface="Arial"/>
                <a:cs typeface="Arial"/>
              </a:rPr>
              <a:t>for</a:t>
            </a:r>
            <a:r>
              <a:rPr sz="2405" i="1" spc="-90" dirty="0">
                <a:latin typeface="Arial"/>
                <a:cs typeface="Arial"/>
              </a:rPr>
              <a:t> </a:t>
            </a:r>
            <a:r>
              <a:rPr sz="2405" b="1" i="1" dirty="0">
                <a:latin typeface="Arial"/>
                <a:cs typeface="Arial"/>
              </a:rPr>
              <a:t>different</a:t>
            </a:r>
            <a:r>
              <a:rPr sz="2405" b="1" i="1" spc="-75" dirty="0">
                <a:latin typeface="Arial"/>
                <a:cs typeface="Arial"/>
              </a:rPr>
              <a:t> </a:t>
            </a:r>
            <a:r>
              <a:rPr sz="2405" b="1" i="1" spc="-10" dirty="0">
                <a:latin typeface="Arial"/>
                <a:cs typeface="Arial"/>
              </a:rPr>
              <a:t>frequencies</a:t>
            </a:r>
            <a:r>
              <a:rPr sz="2405" i="1" spc="-10" dirty="0">
                <a:latin typeface="Arial"/>
                <a:cs typeface="Arial"/>
              </a:rPr>
              <a:t>?</a:t>
            </a:r>
            <a:endParaRPr sz="2405">
              <a:latin typeface="Arial"/>
              <a:cs typeface="Arial"/>
            </a:endParaRPr>
          </a:p>
        </p:txBody>
      </p:sp>
      <p:sp>
        <p:nvSpPr>
          <p:cNvPr id="5" name="object 5"/>
          <p:cNvSpPr/>
          <p:nvPr/>
        </p:nvSpPr>
        <p:spPr>
          <a:xfrm>
            <a:off x="1952954" y="3569213"/>
            <a:ext cx="739239" cy="18449"/>
          </a:xfrm>
          <a:custGeom>
            <a:avLst/>
            <a:gdLst/>
            <a:ahLst/>
            <a:cxnLst/>
            <a:rect l="l" t="t" r="r" b="b"/>
            <a:pathLst>
              <a:path w="737869" h="18414">
                <a:moveTo>
                  <a:pt x="737614" y="0"/>
                </a:moveTo>
                <a:lnTo>
                  <a:pt x="0" y="0"/>
                </a:lnTo>
                <a:lnTo>
                  <a:pt x="0" y="18287"/>
                </a:lnTo>
                <a:lnTo>
                  <a:pt x="737614" y="18287"/>
                </a:lnTo>
                <a:lnTo>
                  <a:pt x="737614" y="0"/>
                </a:lnTo>
                <a:close/>
              </a:path>
            </a:pathLst>
          </a:custGeom>
          <a:solidFill>
            <a:srgbClr val="000000"/>
          </a:solidFill>
        </p:spPr>
        <p:txBody>
          <a:bodyPr wrap="square" lIns="0" tIns="0" rIns="0" bIns="0" rtlCol="0"/>
          <a:lstStyle/>
          <a:p>
            <a:endParaRPr sz="1803"/>
          </a:p>
        </p:txBody>
      </p:sp>
      <p:sp>
        <p:nvSpPr>
          <p:cNvPr id="6" name="object 6"/>
          <p:cNvSpPr txBox="1"/>
          <p:nvPr/>
        </p:nvSpPr>
        <p:spPr>
          <a:xfrm>
            <a:off x="1911729" y="3498470"/>
            <a:ext cx="1186472" cy="454231"/>
          </a:xfrm>
          <a:prstGeom prst="rect">
            <a:avLst/>
          </a:prstGeom>
        </p:spPr>
        <p:txBody>
          <a:bodyPr vert="horz" wrap="square" lIns="0" tIns="13360" rIns="0" bIns="0" rtlCol="0">
            <a:spAutoFit/>
          </a:bodyPr>
          <a:lstStyle/>
          <a:p>
            <a:pPr marL="38172">
              <a:spcBef>
                <a:spcPts val="105"/>
              </a:spcBef>
            </a:pPr>
            <a:r>
              <a:rPr sz="4208" spc="120" baseline="11904" dirty="0">
                <a:latin typeface="Cambria Math"/>
                <a:cs typeface="Cambria Math"/>
              </a:rPr>
              <a:t>𝑣</a:t>
            </a:r>
            <a:r>
              <a:rPr sz="2054" spc="80" dirty="0">
                <a:latin typeface="Cambria Math"/>
                <a:cs typeface="Cambria Math"/>
              </a:rPr>
              <a:t>0𝑈𝑇</a:t>
            </a:r>
            <a:r>
              <a:rPr sz="2054" spc="35" dirty="0">
                <a:latin typeface="Cambria Math"/>
                <a:cs typeface="Cambria Math"/>
              </a:rPr>
              <a:t>  </a:t>
            </a:r>
            <a:r>
              <a:rPr sz="4208" spc="-75" baseline="-30753" dirty="0">
                <a:latin typeface="Cambria Math"/>
                <a:cs typeface="Cambria Math"/>
              </a:rPr>
              <a:t>=</a:t>
            </a:r>
            <a:endParaRPr sz="4208" baseline="-30753">
              <a:latin typeface="Cambria Math"/>
              <a:cs typeface="Cambria Math"/>
            </a:endParaRPr>
          </a:p>
        </p:txBody>
      </p:sp>
      <p:sp>
        <p:nvSpPr>
          <p:cNvPr id="7" name="object 7"/>
          <p:cNvSpPr txBox="1"/>
          <p:nvPr/>
        </p:nvSpPr>
        <p:spPr>
          <a:xfrm>
            <a:off x="2027767" y="4008431"/>
            <a:ext cx="566199" cy="454231"/>
          </a:xfrm>
          <a:prstGeom prst="rect">
            <a:avLst/>
          </a:prstGeom>
        </p:spPr>
        <p:txBody>
          <a:bodyPr vert="horz" wrap="square" lIns="0" tIns="13360" rIns="0" bIns="0" rtlCol="0">
            <a:spAutoFit/>
          </a:bodyPr>
          <a:lstStyle/>
          <a:p>
            <a:pPr marL="38172">
              <a:spcBef>
                <a:spcPts val="105"/>
              </a:spcBef>
            </a:pPr>
            <a:r>
              <a:rPr sz="4208" spc="-37" baseline="11904" dirty="0">
                <a:latin typeface="Cambria Math"/>
                <a:cs typeface="Cambria Math"/>
              </a:rPr>
              <a:t>𝑣</a:t>
            </a:r>
            <a:r>
              <a:rPr sz="2054" spc="-25" dirty="0">
                <a:latin typeface="Cambria Math"/>
                <a:cs typeface="Cambria Math"/>
              </a:rPr>
              <a:t>𝐼𝑁</a:t>
            </a:r>
            <a:endParaRPr sz="2054">
              <a:latin typeface="Cambria Math"/>
              <a:cs typeface="Cambria Math"/>
            </a:endParaRPr>
          </a:p>
        </p:txBody>
      </p:sp>
      <p:sp>
        <p:nvSpPr>
          <p:cNvPr id="8" name="object 8"/>
          <p:cNvSpPr/>
          <p:nvPr/>
        </p:nvSpPr>
        <p:spPr>
          <a:xfrm>
            <a:off x="2068993" y="4079175"/>
            <a:ext cx="510215" cy="18449"/>
          </a:xfrm>
          <a:custGeom>
            <a:avLst/>
            <a:gdLst/>
            <a:ahLst/>
            <a:cxnLst/>
            <a:rect l="l" t="t" r="r" b="b"/>
            <a:pathLst>
              <a:path w="509269" h="18414">
                <a:moveTo>
                  <a:pt x="509016" y="0"/>
                </a:moveTo>
                <a:lnTo>
                  <a:pt x="0" y="0"/>
                </a:lnTo>
                <a:lnTo>
                  <a:pt x="0" y="18287"/>
                </a:lnTo>
                <a:lnTo>
                  <a:pt x="509016" y="18287"/>
                </a:lnTo>
                <a:lnTo>
                  <a:pt x="509016" y="0"/>
                </a:lnTo>
                <a:close/>
              </a:path>
            </a:pathLst>
          </a:custGeom>
          <a:solidFill>
            <a:srgbClr val="000000"/>
          </a:solidFill>
        </p:spPr>
        <p:txBody>
          <a:bodyPr wrap="square" lIns="0" tIns="0" rIns="0" bIns="0" rtlCol="0"/>
          <a:lstStyle/>
          <a:p>
            <a:endParaRPr sz="1803"/>
          </a:p>
        </p:txBody>
      </p:sp>
      <p:sp>
        <p:nvSpPr>
          <p:cNvPr id="9" name="object 9"/>
          <p:cNvSpPr/>
          <p:nvPr/>
        </p:nvSpPr>
        <p:spPr>
          <a:xfrm>
            <a:off x="1952954" y="3957028"/>
            <a:ext cx="742420" cy="24811"/>
          </a:xfrm>
          <a:custGeom>
            <a:avLst/>
            <a:gdLst/>
            <a:ahLst/>
            <a:cxnLst/>
            <a:rect l="l" t="t" r="r" b="b"/>
            <a:pathLst>
              <a:path w="741044" h="24764">
                <a:moveTo>
                  <a:pt x="740664" y="0"/>
                </a:moveTo>
                <a:lnTo>
                  <a:pt x="0" y="0"/>
                </a:lnTo>
                <a:lnTo>
                  <a:pt x="0" y="24383"/>
                </a:lnTo>
                <a:lnTo>
                  <a:pt x="740664" y="24383"/>
                </a:lnTo>
                <a:lnTo>
                  <a:pt x="740664" y="0"/>
                </a:lnTo>
                <a:close/>
              </a:path>
            </a:pathLst>
          </a:custGeom>
          <a:solidFill>
            <a:srgbClr val="000000"/>
          </a:solidFill>
        </p:spPr>
        <p:txBody>
          <a:bodyPr wrap="square" lIns="0" tIns="0" rIns="0" bIns="0" rtlCol="0"/>
          <a:lstStyle/>
          <a:p>
            <a:endParaRPr sz="1803"/>
          </a:p>
        </p:txBody>
      </p:sp>
      <p:sp>
        <p:nvSpPr>
          <p:cNvPr id="10" name="object 10"/>
          <p:cNvSpPr txBox="1"/>
          <p:nvPr/>
        </p:nvSpPr>
        <p:spPr>
          <a:xfrm>
            <a:off x="3775476"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11" name="object 11"/>
          <p:cNvSpPr txBox="1"/>
          <p:nvPr/>
        </p:nvSpPr>
        <p:spPr>
          <a:xfrm>
            <a:off x="3143370" y="3935142"/>
            <a:ext cx="1475933" cy="454231"/>
          </a:xfrm>
          <a:prstGeom prst="rect">
            <a:avLst/>
          </a:prstGeom>
        </p:spPr>
        <p:txBody>
          <a:bodyPr vert="horz" wrap="square" lIns="0" tIns="13360" rIns="0" bIns="0" rtlCol="0">
            <a:spAutoFit/>
          </a:bodyPr>
          <a:lstStyle/>
          <a:p>
            <a:pPr marL="12724">
              <a:spcBef>
                <a:spcPts val="105"/>
              </a:spcBef>
            </a:pPr>
            <a:r>
              <a:rPr sz="2805" dirty="0">
                <a:latin typeface="Cambria Math"/>
                <a:cs typeface="Cambria Math"/>
              </a:rPr>
              <a:t>1</a:t>
            </a:r>
            <a:r>
              <a:rPr sz="2805" spc="-25" dirty="0">
                <a:latin typeface="Cambria Math"/>
                <a:cs typeface="Cambria Math"/>
              </a:rPr>
              <a:t> </a:t>
            </a:r>
            <a:r>
              <a:rPr sz="2805" dirty="0">
                <a:latin typeface="Cambria Math"/>
                <a:cs typeface="Cambria Math"/>
              </a:rPr>
              <a:t>+</a:t>
            </a:r>
            <a:r>
              <a:rPr sz="2805" spc="-5" dirty="0">
                <a:latin typeface="Cambria Math"/>
                <a:cs typeface="Cambria Math"/>
              </a:rPr>
              <a:t> </a:t>
            </a:r>
            <a:r>
              <a:rPr sz="2805" spc="35" dirty="0">
                <a:latin typeface="Cambria Math"/>
                <a:cs typeface="Cambria Math"/>
              </a:rPr>
              <a:t>j𝜔𝑅𝐶</a:t>
            </a:r>
            <a:endParaRPr sz="2805">
              <a:latin typeface="Cambria Math"/>
              <a:cs typeface="Cambria Math"/>
            </a:endParaRPr>
          </a:p>
        </p:txBody>
      </p:sp>
      <p:sp>
        <p:nvSpPr>
          <p:cNvPr id="12" name="object 12"/>
          <p:cNvSpPr/>
          <p:nvPr/>
        </p:nvSpPr>
        <p:spPr>
          <a:xfrm>
            <a:off x="3159148" y="3957028"/>
            <a:ext cx="1465754" cy="24811"/>
          </a:xfrm>
          <a:custGeom>
            <a:avLst/>
            <a:gdLst/>
            <a:ahLst/>
            <a:cxnLst/>
            <a:rect l="l" t="t" r="r" b="b"/>
            <a:pathLst>
              <a:path w="1463039" h="24764">
                <a:moveTo>
                  <a:pt x="1463039" y="0"/>
                </a:moveTo>
                <a:lnTo>
                  <a:pt x="0" y="0"/>
                </a:lnTo>
                <a:lnTo>
                  <a:pt x="0" y="24383"/>
                </a:lnTo>
                <a:lnTo>
                  <a:pt x="1463039" y="24383"/>
                </a:lnTo>
                <a:lnTo>
                  <a:pt x="1463039" y="0"/>
                </a:lnTo>
                <a:close/>
              </a:path>
            </a:pathLst>
          </a:custGeom>
          <a:solidFill>
            <a:srgbClr val="000000"/>
          </a:solidFill>
        </p:spPr>
        <p:txBody>
          <a:bodyPr wrap="square" lIns="0" tIns="0" rIns="0" bIns="0" rtlCol="0"/>
          <a:lstStyle/>
          <a:p>
            <a:endParaRPr sz="1803"/>
          </a:p>
        </p:txBody>
      </p:sp>
      <p:sp>
        <p:nvSpPr>
          <p:cNvPr id="13" name="object 13"/>
          <p:cNvSpPr txBox="1"/>
          <p:nvPr/>
        </p:nvSpPr>
        <p:spPr>
          <a:xfrm>
            <a:off x="4706841" y="3696957"/>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14" name="object 14"/>
          <p:cNvSpPr txBox="1"/>
          <p:nvPr/>
        </p:nvSpPr>
        <p:spPr>
          <a:xfrm>
            <a:off x="5564919"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15" name="object 15"/>
          <p:cNvSpPr txBox="1"/>
          <p:nvPr/>
        </p:nvSpPr>
        <p:spPr>
          <a:xfrm>
            <a:off x="5073279" y="3935142"/>
            <a:ext cx="1197287" cy="454231"/>
          </a:xfrm>
          <a:prstGeom prst="rect">
            <a:avLst/>
          </a:prstGeom>
        </p:spPr>
        <p:txBody>
          <a:bodyPr vert="horz" wrap="square" lIns="0" tIns="13360" rIns="0" bIns="0" rtlCol="0">
            <a:spAutoFit/>
          </a:bodyPr>
          <a:lstStyle/>
          <a:p>
            <a:pPr marL="12724">
              <a:spcBef>
                <a:spcPts val="105"/>
              </a:spcBef>
            </a:pPr>
            <a:r>
              <a:rPr sz="2805" dirty="0">
                <a:latin typeface="Cambria Math"/>
                <a:cs typeface="Cambria Math"/>
              </a:rPr>
              <a:t>1</a:t>
            </a:r>
            <a:r>
              <a:rPr sz="2805" spc="-15" dirty="0">
                <a:latin typeface="Cambria Math"/>
                <a:cs typeface="Cambria Math"/>
              </a:rPr>
              <a:t> </a:t>
            </a:r>
            <a:r>
              <a:rPr sz="2805" dirty="0">
                <a:latin typeface="Cambria Math"/>
                <a:cs typeface="Cambria Math"/>
              </a:rPr>
              <a:t>+</a:t>
            </a:r>
            <a:r>
              <a:rPr sz="2805" spc="-5" dirty="0">
                <a:latin typeface="Cambria Math"/>
                <a:cs typeface="Cambria Math"/>
              </a:rPr>
              <a:t> </a:t>
            </a:r>
            <a:r>
              <a:rPr sz="2805" spc="45" dirty="0">
                <a:latin typeface="Cambria Math"/>
                <a:cs typeface="Cambria Math"/>
              </a:rPr>
              <a:t>j𝜔𝜏</a:t>
            </a:r>
            <a:endParaRPr sz="2805">
              <a:latin typeface="Cambria Math"/>
              <a:cs typeface="Cambria Math"/>
            </a:endParaRPr>
          </a:p>
        </p:txBody>
      </p:sp>
      <p:sp>
        <p:nvSpPr>
          <p:cNvPr id="16" name="object 16"/>
          <p:cNvSpPr/>
          <p:nvPr/>
        </p:nvSpPr>
        <p:spPr>
          <a:xfrm>
            <a:off x="5089056" y="3957028"/>
            <a:ext cx="1182019" cy="24811"/>
          </a:xfrm>
          <a:custGeom>
            <a:avLst/>
            <a:gdLst/>
            <a:ahLst/>
            <a:cxnLst/>
            <a:rect l="l" t="t" r="r" b="b"/>
            <a:pathLst>
              <a:path w="1179829" h="24764">
                <a:moveTo>
                  <a:pt x="1179576" y="0"/>
                </a:moveTo>
                <a:lnTo>
                  <a:pt x="0" y="0"/>
                </a:lnTo>
                <a:lnTo>
                  <a:pt x="0" y="24383"/>
                </a:lnTo>
                <a:lnTo>
                  <a:pt x="1179576" y="24383"/>
                </a:lnTo>
                <a:lnTo>
                  <a:pt x="1179576" y="0"/>
                </a:lnTo>
                <a:close/>
              </a:path>
            </a:pathLst>
          </a:custGeom>
          <a:solidFill>
            <a:srgbClr val="000000"/>
          </a:solidFill>
        </p:spPr>
        <p:txBody>
          <a:bodyPr wrap="square" lIns="0" tIns="0" rIns="0" bIns="0" rtlCol="0"/>
          <a:lstStyle/>
          <a:p>
            <a:endParaRPr sz="1803"/>
          </a:p>
        </p:txBody>
      </p:sp>
      <p:sp>
        <p:nvSpPr>
          <p:cNvPr id="17" name="object 17"/>
          <p:cNvSpPr txBox="1"/>
          <p:nvPr/>
        </p:nvSpPr>
        <p:spPr>
          <a:xfrm>
            <a:off x="6352760" y="3696957"/>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18" name="object 18"/>
          <p:cNvSpPr txBox="1"/>
          <p:nvPr/>
        </p:nvSpPr>
        <p:spPr>
          <a:xfrm>
            <a:off x="7244429"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19" name="object 19"/>
          <p:cNvSpPr txBox="1"/>
          <p:nvPr/>
        </p:nvSpPr>
        <p:spPr>
          <a:xfrm>
            <a:off x="6690699" y="4032859"/>
            <a:ext cx="1337883"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1</a:t>
            </a:r>
            <a:r>
              <a:rPr sz="2805" spc="10" dirty="0">
                <a:latin typeface="Cambria Math"/>
                <a:cs typeface="Cambria Math"/>
              </a:rPr>
              <a:t> </a:t>
            </a:r>
            <a:r>
              <a:rPr sz="2805" dirty="0">
                <a:latin typeface="Cambria Math"/>
                <a:cs typeface="Cambria Math"/>
              </a:rPr>
              <a:t>+</a:t>
            </a:r>
            <a:r>
              <a:rPr sz="2805" spc="-30" dirty="0">
                <a:latin typeface="Cambria Math"/>
                <a:cs typeface="Cambria Math"/>
              </a:rPr>
              <a:t> </a:t>
            </a:r>
            <a:r>
              <a:rPr sz="2805" spc="254" dirty="0">
                <a:latin typeface="Cambria Math"/>
                <a:cs typeface="Cambria Math"/>
              </a:rPr>
              <a:t>j</a:t>
            </a:r>
            <a:r>
              <a:rPr sz="2805" spc="-70" dirty="0">
                <a:latin typeface="Cambria Math"/>
                <a:cs typeface="Cambria Math"/>
              </a:rPr>
              <a:t> </a:t>
            </a:r>
            <a:r>
              <a:rPr sz="4208" u="heavy" spc="-44" baseline="32738" dirty="0">
                <a:uFill>
                  <a:solidFill>
                    <a:srgbClr val="000000"/>
                  </a:solidFill>
                </a:uFill>
                <a:latin typeface="Cambria Math"/>
                <a:cs typeface="Cambria Math"/>
              </a:rPr>
              <a:t> </a:t>
            </a:r>
            <a:r>
              <a:rPr sz="4208" u="heavy" spc="-75" baseline="32738" dirty="0">
                <a:uFill>
                  <a:solidFill>
                    <a:srgbClr val="000000"/>
                  </a:solidFill>
                </a:uFill>
                <a:latin typeface="Cambria Math"/>
                <a:cs typeface="Cambria Math"/>
              </a:rPr>
              <a:t>𝜔</a:t>
            </a:r>
            <a:r>
              <a:rPr sz="4208" u="heavy" spc="1052" baseline="32738" dirty="0">
                <a:uFill>
                  <a:solidFill>
                    <a:srgbClr val="000000"/>
                  </a:solidFill>
                </a:uFill>
                <a:latin typeface="Cambria Math"/>
                <a:cs typeface="Cambria Math"/>
              </a:rPr>
              <a:t> </a:t>
            </a:r>
            <a:endParaRPr sz="4208" baseline="32738">
              <a:latin typeface="Cambria Math"/>
              <a:cs typeface="Cambria Math"/>
            </a:endParaRPr>
          </a:p>
        </p:txBody>
      </p:sp>
      <p:sp>
        <p:nvSpPr>
          <p:cNvPr id="20" name="object 20"/>
          <p:cNvSpPr txBox="1"/>
          <p:nvPr/>
        </p:nvSpPr>
        <p:spPr>
          <a:xfrm>
            <a:off x="7506026" y="4213025"/>
            <a:ext cx="493673" cy="454231"/>
          </a:xfrm>
          <a:prstGeom prst="rect">
            <a:avLst/>
          </a:prstGeom>
        </p:spPr>
        <p:txBody>
          <a:bodyPr vert="horz" wrap="square" lIns="0" tIns="13360" rIns="0" bIns="0" rtlCol="0">
            <a:spAutoFit/>
          </a:bodyPr>
          <a:lstStyle/>
          <a:p>
            <a:pPr marL="38172">
              <a:spcBef>
                <a:spcPts val="105"/>
              </a:spcBef>
            </a:pPr>
            <a:r>
              <a:rPr sz="2805" spc="-25" dirty="0">
                <a:latin typeface="Cambria Math"/>
                <a:cs typeface="Cambria Math"/>
              </a:rPr>
              <a:t>𝜔</a:t>
            </a:r>
            <a:r>
              <a:rPr sz="3081" spc="-37" baseline="-16260" dirty="0">
                <a:latin typeface="Cambria Math"/>
                <a:cs typeface="Cambria Math"/>
              </a:rPr>
              <a:t>𝐶</a:t>
            </a:r>
            <a:endParaRPr sz="3081" baseline="-16260">
              <a:latin typeface="Cambria Math"/>
              <a:cs typeface="Cambria Math"/>
            </a:endParaRPr>
          </a:p>
        </p:txBody>
      </p:sp>
      <p:sp>
        <p:nvSpPr>
          <p:cNvPr id="21" name="object 21"/>
          <p:cNvSpPr/>
          <p:nvPr/>
        </p:nvSpPr>
        <p:spPr>
          <a:xfrm>
            <a:off x="6731924" y="3957028"/>
            <a:ext cx="1258360" cy="24811"/>
          </a:xfrm>
          <a:custGeom>
            <a:avLst/>
            <a:gdLst/>
            <a:ahLst/>
            <a:cxnLst/>
            <a:rect l="l" t="t" r="r" b="b"/>
            <a:pathLst>
              <a:path w="1256029" h="24764">
                <a:moveTo>
                  <a:pt x="1255776" y="0"/>
                </a:moveTo>
                <a:lnTo>
                  <a:pt x="0" y="0"/>
                </a:lnTo>
                <a:lnTo>
                  <a:pt x="0" y="24383"/>
                </a:lnTo>
                <a:lnTo>
                  <a:pt x="1255776" y="24383"/>
                </a:lnTo>
                <a:lnTo>
                  <a:pt x="1255776" y="0"/>
                </a:lnTo>
                <a:close/>
              </a:path>
            </a:pathLst>
          </a:custGeom>
          <a:solidFill>
            <a:srgbClr val="000000"/>
          </a:solidFill>
        </p:spPr>
        <p:txBody>
          <a:bodyPr wrap="square" lIns="0" tIns="0" rIns="0" bIns="0" rtlCol="0"/>
          <a:lstStyle/>
          <a:p>
            <a:endParaRPr sz="1803"/>
          </a:p>
        </p:txBody>
      </p:sp>
      <p:sp>
        <p:nvSpPr>
          <p:cNvPr id="22" name="object 22"/>
          <p:cNvSpPr txBox="1"/>
          <p:nvPr/>
        </p:nvSpPr>
        <p:spPr>
          <a:xfrm>
            <a:off x="8075022" y="3696957"/>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23" name="object 23"/>
          <p:cNvSpPr txBox="1"/>
          <p:nvPr/>
        </p:nvSpPr>
        <p:spPr>
          <a:xfrm>
            <a:off x="8908670"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24" name="object 24"/>
          <p:cNvSpPr txBox="1"/>
          <p:nvPr/>
        </p:nvSpPr>
        <p:spPr>
          <a:xfrm>
            <a:off x="8412960" y="4118362"/>
            <a:ext cx="1218917"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1</a:t>
            </a:r>
            <a:r>
              <a:rPr sz="2805" spc="-15" dirty="0">
                <a:latin typeface="Cambria Math"/>
                <a:cs typeface="Cambria Math"/>
              </a:rPr>
              <a:t> </a:t>
            </a:r>
            <a:r>
              <a:rPr sz="2805" dirty="0">
                <a:latin typeface="Cambria Math"/>
                <a:cs typeface="Cambria Math"/>
              </a:rPr>
              <a:t>+</a:t>
            </a:r>
            <a:r>
              <a:rPr sz="2805" spc="-5" dirty="0">
                <a:latin typeface="Cambria Math"/>
                <a:cs typeface="Cambria Math"/>
              </a:rPr>
              <a:t> </a:t>
            </a:r>
            <a:r>
              <a:rPr sz="2805" spc="254" dirty="0">
                <a:latin typeface="Cambria Math"/>
                <a:cs typeface="Cambria Math"/>
              </a:rPr>
              <a:t>j</a:t>
            </a:r>
            <a:r>
              <a:rPr sz="2805" spc="-70" dirty="0">
                <a:latin typeface="Cambria Math"/>
                <a:cs typeface="Cambria Math"/>
              </a:rPr>
              <a:t> </a:t>
            </a:r>
            <a:r>
              <a:rPr sz="4208" u="heavy" spc="-406" baseline="33730" dirty="0">
                <a:uFill>
                  <a:solidFill>
                    <a:srgbClr val="000000"/>
                  </a:solidFill>
                </a:uFill>
                <a:latin typeface="Cambria Math"/>
                <a:cs typeface="Cambria Math"/>
              </a:rPr>
              <a:t> </a:t>
            </a:r>
            <a:r>
              <a:rPr sz="4208" u="heavy" spc="-75" baseline="33730" dirty="0">
                <a:uFill>
                  <a:solidFill>
                    <a:srgbClr val="000000"/>
                  </a:solidFill>
                </a:uFill>
                <a:latin typeface="Cambria Math"/>
                <a:cs typeface="Cambria Math"/>
              </a:rPr>
              <a:t>𝑓</a:t>
            </a:r>
            <a:r>
              <a:rPr sz="4208" u="heavy" spc="1052" baseline="33730" dirty="0">
                <a:uFill>
                  <a:solidFill>
                    <a:srgbClr val="000000"/>
                  </a:solidFill>
                </a:uFill>
                <a:latin typeface="Cambria Math"/>
                <a:cs typeface="Cambria Math"/>
              </a:rPr>
              <a:t> </a:t>
            </a:r>
            <a:endParaRPr sz="4208" baseline="33730">
              <a:latin typeface="Cambria Math"/>
              <a:cs typeface="Cambria Math"/>
            </a:endParaRPr>
          </a:p>
        </p:txBody>
      </p:sp>
      <p:sp>
        <p:nvSpPr>
          <p:cNvPr id="25" name="object 25"/>
          <p:cNvSpPr txBox="1"/>
          <p:nvPr/>
        </p:nvSpPr>
        <p:spPr>
          <a:xfrm>
            <a:off x="9228286" y="4301582"/>
            <a:ext cx="374709" cy="454231"/>
          </a:xfrm>
          <a:prstGeom prst="rect">
            <a:avLst/>
          </a:prstGeom>
        </p:spPr>
        <p:txBody>
          <a:bodyPr vert="horz" wrap="square" lIns="0" tIns="13360" rIns="0" bIns="0" rtlCol="0">
            <a:spAutoFit/>
          </a:bodyPr>
          <a:lstStyle/>
          <a:p>
            <a:pPr marL="38172">
              <a:spcBef>
                <a:spcPts val="105"/>
              </a:spcBef>
            </a:pPr>
            <a:r>
              <a:rPr sz="2805" spc="-90" dirty="0">
                <a:latin typeface="Cambria Math"/>
                <a:cs typeface="Cambria Math"/>
              </a:rPr>
              <a:t>𝑓</a:t>
            </a:r>
            <a:r>
              <a:rPr sz="3081" spc="-135" baseline="-16260" dirty="0">
                <a:latin typeface="Cambria Math"/>
                <a:cs typeface="Cambria Math"/>
              </a:rPr>
              <a:t>𝐶</a:t>
            </a:r>
            <a:endParaRPr sz="3081" baseline="-16260">
              <a:latin typeface="Cambria Math"/>
              <a:cs typeface="Cambria Math"/>
            </a:endParaRPr>
          </a:p>
        </p:txBody>
      </p:sp>
      <p:sp>
        <p:nvSpPr>
          <p:cNvPr id="26" name="object 26"/>
          <p:cNvSpPr/>
          <p:nvPr/>
        </p:nvSpPr>
        <p:spPr>
          <a:xfrm>
            <a:off x="8454186" y="3957028"/>
            <a:ext cx="1139395" cy="24811"/>
          </a:xfrm>
          <a:custGeom>
            <a:avLst/>
            <a:gdLst/>
            <a:ahLst/>
            <a:cxnLst/>
            <a:rect l="l" t="t" r="r" b="b"/>
            <a:pathLst>
              <a:path w="1137284" h="24764">
                <a:moveTo>
                  <a:pt x="1136903" y="0"/>
                </a:moveTo>
                <a:lnTo>
                  <a:pt x="0" y="0"/>
                </a:lnTo>
                <a:lnTo>
                  <a:pt x="0" y="24383"/>
                </a:lnTo>
                <a:lnTo>
                  <a:pt x="1136903" y="24383"/>
                </a:lnTo>
                <a:lnTo>
                  <a:pt x="1136903" y="0"/>
                </a:lnTo>
                <a:close/>
              </a:path>
            </a:pathLst>
          </a:custGeom>
          <a:solidFill>
            <a:srgbClr val="000000"/>
          </a:solidFill>
        </p:spPr>
        <p:txBody>
          <a:bodyPr wrap="square" lIns="0" tIns="0" rIns="0" bIns="0" rtlCol="0"/>
          <a:lstStyle/>
          <a:p>
            <a:endParaRPr sz="1803"/>
          </a:p>
        </p:txBody>
      </p:sp>
      <p:sp>
        <p:nvSpPr>
          <p:cNvPr id="27" name="object 27"/>
          <p:cNvSpPr txBox="1"/>
          <p:nvPr/>
        </p:nvSpPr>
        <p:spPr>
          <a:xfrm>
            <a:off x="4578589" y="5574958"/>
            <a:ext cx="160953" cy="293278"/>
          </a:xfrm>
          <a:prstGeom prst="rect">
            <a:avLst/>
          </a:prstGeom>
        </p:spPr>
        <p:txBody>
          <a:bodyPr vert="horz" wrap="square" lIns="0" tIns="12724" rIns="0" bIns="0" rtlCol="0">
            <a:spAutoFit/>
          </a:bodyPr>
          <a:lstStyle/>
          <a:p>
            <a:pPr marL="12724">
              <a:spcBef>
                <a:spcPts val="100"/>
              </a:spcBef>
            </a:pPr>
            <a:r>
              <a:rPr sz="1753" spc="-50" dirty="0">
                <a:latin typeface="Cambria Math"/>
                <a:cs typeface="Cambria Math"/>
              </a:rPr>
              <a:t>𝐶</a:t>
            </a:r>
            <a:endParaRPr sz="1753">
              <a:latin typeface="Cambria Math"/>
              <a:cs typeface="Cambria Math"/>
            </a:endParaRPr>
          </a:p>
        </p:txBody>
      </p:sp>
      <p:sp>
        <p:nvSpPr>
          <p:cNvPr id="28" name="object 28"/>
          <p:cNvSpPr txBox="1"/>
          <p:nvPr/>
        </p:nvSpPr>
        <p:spPr>
          <a:xfrm>
            <a:off x="4355672" y="5431434"/>
            <a:ext cx="718245" cy="391886"/>
          </a:xfrm>
          <a:prstGeom prst="rect">
            <a:avLst/>
          </a:prstGeom>
        </p:spPr>
        <p:txBody>
          <a:bodyPr vert="horz" wrap="square" lIns="0" tIns="12724" rIns="0" bIns="0" rtlCol="0">
            <a:spAutoFit/>
          </a:bodyPr>
          <a:lstStyle/>
          <a:p>
            <a:pPr marL="12724">
              <a:spcBef>
                <a:spcPts val="100"/>
              </a:spcBef>
              <a:tabLst>
                <a:tab pos="476519" algn="l"/>
              </a:tabLst>
            </a:pPr>
            <a:r>
              <a:rPr sz="2405" spc="-50" dirty="0">
                <a:latin typeface="Cambria Math"/>
                <a:cs typeface="Cambria Math"/>
              </a:rPr>
              <a:t>𝜔</a:t>
            </a:r>
            <a:r>
              <a:rPr sz="2405" dirty="0">
                <a:latin typeface="Cambria Math"/>
                <a:cs typeface="Cambria Math"/>
              </a:rPr>
              <a:t>	</a:t>
            </a:r>
            <a:r>
              <a:rPr sz="2405" spc="-50" dirty="0">
                <a:latin typeface="Cambria Math"/>
                <a:cs typeface="Cambria Math"/>
              </a:rPr>
              <a:t>=</a:t>
            </a:r>
            <a:endParaRPr sz="2405">
              <a:latin typeface="Cambria Math"/>
              <a:cs typeface="Cambria Math"/>
            </a:endParaRPr>
          </a:p>
        </p:txBody>
      </p:sp>
      <p:sp>
        <p:nvSpPr>
          <p:cNvPr id="29" name="object 29"/>
          <p:cNvSpPr txBox="1"/>
          <p:nvPr/>
        </p:nvSpPr>
        <p:spPr>
          <a:xfrm>
            <a:off x="5131298" y="5636028"/>
            <a:ext cx="403337" cy="391886"/>
          </a:xfrm>
          <a:prstGeom prst="rect">
            <a:avLst/>
          </a:prstGeom>
        </p:spPr>
        <p:txBody>
          <a:bodyPr vert="horz" wrap="square" lIns="0" tIns="12724" rIns="0" bIns="0" rtlCol="0">
            <a:spAutoFit/>
          </a:bodyPr>
          <a:lstStyle/>
          <a:p>
            <a:pPr marL="12724">
              <a:spcBef>
                <a:spcPts val="100"/>
              </a:spcBef>
            </a:pPr>
            <a:r>
              <a:rPr sz="2405" spc="-25" dirty="0">
                <a:latin typeface="Cambria Math"/>
                <a:cs typeface="Cambria Math"/>
              </a:rPr>
              <a:t>𝑅𝐶</a:t>
            </a:r>
            <a:endParaRPr sz="2405">
              <a:latin typeface="Cambria Math"/>
              <a:cs typeface="Cambria Math"/>
            </a:endParaRPr>
          </a:p>
        </p:txBody>
      </p:sp>
      <p:sp>
        <p:nvSpPr>
          <p:cNvPr id="30" name="object 30"/>
          <p:cNvSpPr/>
          <p:nvPr/>
        </p:nvSpPr>
        <p:spPr>
          <a:xfrm>
            <a:off x="5144023" y="5279005"/>
            <a:ext cx="1349970" cy="769776"/>
          </a:xfrm>
          <a:custGeom>
            <a:avLst/>
            <a:gdLst/>
            <a:ahLst/>
            <a:cxnLst/>
            <a:rect l="l" t="t" r="r" b="b"/>
            <a:pathLst>
              <a:path w="1347470" h="768350">
                <a:moveTo>
                  <a:pt x="390144" y="375158"/>
                </a:moveTo>
                <a:lnTo>
                  <a:pt x="0" y="375158"/>
                </a:lnTo>
                <a:lnTo>
                  <a:pt x="0" y="396494"/>
                </a:lnTo>
                <a:lnTo>
                  <a:pt x="390144" y="396494"/>
                </a:lnTo>
                <a:lnTo>
                  <a:pt x="390144" y="375158"/>
                </a:lnTo>
                <a:close/>
              </a:path>
              <a:path w="1347470" h="768350">
                <a:moveTo>
                  <a:pt x="752856" y="0"/>
                </a:moveTo>
                <a:lnTo>
                  <a:pt x="673608" y="0"/>
                </a:lnTo>
                <a:lnTo>
                  <a:pt x="673608" y="15240"/>
                </a:lnTo>
                <a:lnTo>
                  <a:pt x="673608" y="755650"/>
                </a:lnTo>
                <a:lnTo>
                  <a:pt x="673608" y="768350"/>
                </a:lnTo>
                <a:lnTo>
                  <a:pt x="752856" y="768350"/>
                </a:lnTo>
                <a:lnTo>
                  <a:pt x="752856" y="755650"/>
                </a:lnTo>
                <a:lnTo>
                  <a:pt x="704088" y="755650"/>
                </a:lnTo>
                <a:lnTo>
                  <a:pt x="704088" y="15240"/>
                </a:lnTo>
                <a:lnTo>
                  <a:pt x="752856" y="15240"/>
                </a:lnTo>
                <a:lnTo>
                  <a:pt x="752856" y="0"/>
                </a:lnTo>
                <a:close/>
              </a:path>
              <a:path w="1347470" h="768350">
                <a:moveTo>
                  <a:pt x="1347216" y="0"/>
                </a:moveTo>
                <a:lnTo>
                  <a:pt x="1271016" y="0"/>
                </a:lnTo>
                <a:lnTo>
                  <a:pt x="1271016" y="15240"/>
                </a:lnTo>
                <a:lnTo>
                  <a:pt x="1316736" y="15240"/>
                </a:lnTo>
                <a:lnTo>
                  <a:pt x="1316736" y="755650"/>
                </a:lnTo>
                <a:lnTo>
                  <a:pt x="1271016" y="755650"/>
                </a:lnTo>
                <a:lnTo>
                  <a:pt x="1271016" y="768350"/>
                </a:lnTo>
                <a:lnTo>
                  <a:pt x="1347216" y="768350"/>
                </a:lnTo>
                <a:lnTo>
                  <a:pt x="1347216" y="755650"/>
                </a:lnTo>
                <a:lnTo>
                  <a:pt x="1347216" y="15240"/>
                </a:lnTo>
                <a:lnTo>
                  <a:pt x="1347216" y="0"/>
                </a:lnTo>
                <a:close/>
              </a:path>
            </a:pathLst>
          </a:custGeom>
          <a:solidFill>
            <a:srgbClr val="000000"/>
          </a:solidFill>
        </p:spPr>
        <p:txBody>
          <a:bodyPr wrap="square" lIns="0" tIns="0" rIns="0" bIns="0" rtlCol="0"/>
          <a:lstStyle/>
          <a:p>
            <a:endParaRPr sz="1803"/>
          </a:p>
        </p:txBody>
      </p:sp>
      <p:sp>
        <p:nvSpPr>
          <p:cNvPr id="31" name="object 31"/>
          <p:cNvSpPr txBox="1"/>
          <p:nvPr/>
        </p:nvSpPr>
        <p:spPr>
          <a:xfrm>
            <a:off x="5241231" y="5199356"/>
            <a:ext cx="1169932" cy="391886"/>
          </a:xfrm>
          <a:prstGeom prst="rect">
            <a:avLst/>
          </a:prstGeom>
        </p:spPr>
        <p:txBody>
          <a:bodyPr vert="horz" wrap="square" lIns="0" tIns="12724" rIns="0" bIns="0" rtlCol="0">
            <a:spAutoFit/>
          </a:bodyPr>
          <a:lstStyle/>
          <a:p>
            <a:pPr marL="12724">
              <a:spcBef>
                <a:spcPts val="100"/>
              </a:spcBef>
              <a:tabLst>
                <a:tab pos="662927" algn="l"/>
              </a:tabLst>
            </a:pPr>
            <a:r>
              <a:rPr sz="2405" spc="-50" dirty="0">
                <a:latin typeface="Cambria Math"/>
                <a:cs typeface="Cambria Math"/>
              </a:rPr>
              <a:t>1</a:t>
            </a:r>
            <a:r>
              <a:rPr sz="2405" dirty="0">
                <a:latin typeface="Cambria Math"/>
                <a:cs typeface="Cambria Math"/>
              </a:rPr>
              <a:t>	</a:t>
            </a:r>
            <a:r>
              <a:rPr sz="2405" spc="-25" dirty="0">
                <a:latin typeface="Cambria Math"/>
                <a:cs typeface="Cambria Math"/>
              </a:rPr>
              <a:t>𝑟𝑎𝑑</a:t>
            </a:r>
            <a:endParaRPr sz="2405">
              <a:latin typeface="Cambria Math"/>
              <a:cs typeface="Cambria Math"/>
            </a:endParaRPr>
          </a:p>
        </p:txBody>
      </p:sp>
      <p:sp>
        <p:nvSpPr>
          <p:cNvPr id="32" name="object 32"/>
          <p:cNvSpPr txBox="1"/>
          <p:nvPr/>
        </p:nvSpPr>
        <p:spPr>
          <a:xfrm>
            <a:off x="6068770" y="5636028"/>
            <a:ext cx="166679"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𝑠</a:t>
            </a:r>
            <a:endParaRPr sz="2405">
              <a:latin typeface="Cambria Math"/>
              <a:cs typeface="Cambria Math"/>
            </a:endParaRPr>
          </a:p>
        </p:txBody>
      </p:sp>
      <p:sp>
        <p:nvSpPr>
          <p:cNvPr id="33" name="object 33"/>
          <p:cNvSpPr/>
          <p:nvPr/>
        </p:nvSpPr>
        <p:spPr>
          <a:xfrm>
            <a:off x="5904383" y="5654860"/>
            <a:ext cx="501308" cy="21630"/>
          </a:xfrm>
          <a:custGeom>
            <a:avLst/>
            <a:gdLst/>
            <a:ahLst/>
            <a:cxnLst/>
            <a:rect l="l" t="t" r="r" b="b"/>
            <a:pathLst>
              <a:path w="500379" h="21589">
                <a:moveTo>
                  <a:pt x="499872" y="0"/>
                </a:moveTo>
                <a:lnTo>
                  <a:pt x="0" y="0"/>
                </a:lnTo>
                <a:lnTo>
                  <a:pt x="0" y="21336"/>
                </a:lnTo>
                <a:lnTo>
                  <a:pt x="499872" y="21336"/>
                </a:lnTo>
                <a:lnTo>
                  <a:pt x="499872" y="0"/>
                </a:lnTo>
                <a:close/>
              </a:path>
            </a:pathLst>
          </a:custGeom>
          <a:solidFill>
            <a:srgbClr val="000000"/>
          </a:solidFill>
        </p:spPr>
        <p:txBody>
          <a:bodyPr wrap="square" lIns="0" tIns="0" rIns="0" bIns="0" rtlCol="0"/>
          <a:lstStyle/>
          <a:p>
            <a:endParaRPr sz="1803"/>
          </a:p>
        </p:txBody>
      </p:sp>
      <p:sp>
        <p:nvSpPr>
          <p:cNvPr id="34" name="object 34"/>
          <p:cNvSpPr txBox="1"/>
          <p:nvPr/>
        </p:nvSpPr>
        <p:spPr>
          <a:xfrm>
            <a:off x="7235268" y="5550526"/>
            <a:ext cx="160953" cy="293278"/>
          </a:xfrm>
          <a:prstGeom prst="rect">
            <a:avLst/>
          </a:prstGeom>
        </p:spPr>
        <p:txBody>
          <a:bodyPr vert="horz" wrap="square" lIns="0" tIns="12724" rIns="0" bIns="0" rtlCol="0">
            <a:spAutoFit/>
          </a:bodyPr>
          <a:lstStyle/>
          <a:p>
            <a:pPr marL="12724">
              <a:spcBef>
                <a:spcPts val="100"/>
              </a:spcBef>
            </a:pPr>
            <a:r>
              <a:rPr sz="1753" spc="-50" dirty="0">
                <a:latin typeface="Cambria Math"/>
                <a:cs typeface="Cambria Math"/>
              </a:rPr>
              <a:t>𝐶</a:t>
            </a:r>
            <a:endParaRPr sz="1753">
              <a:latin typeface="Cambria Math"/>
              <a:cs typeface="Cambria Math"/>
            </a:endParaRPr>
          </a:p>
        </p:txBody>
      </p:sp>
      <p:sp>
        <p:nvSpPr>
          <p:cNvPr id="35" name="object 35"/>
          <p:cNvSpPr/>
          <p:nvPr/>
        </p:nvSpPr>
        <p:spPr>
          <a:xfrm>
            <a:off x="7806809" y="5630430"/>
            <a:ext cx="379162" cy="21630"/>
          </a:xfrm>
          <a:custGeom>
            <a:avLst/>
            <a:gdLst/>
            <a:ahLst/>
            <a:cxnLst/>
            <a:rect l="l" t="t" r="r" b="b"/>
            <a:pathLst>
              <a:path w="378459" h="21589">
                <a:moveTo>
                  <a:pt x="377952" y="0"/>
                </a:moveTo>
                <a:lnTo>
                  <a:pt x="0" y="0"/>
                </a:lnTo>
                <a:lnTo>
                  <a:pt x="0" y="21336"/>
                </a:lnTo>
                <a:lnTo>
                  <a:pt x="377952" y="21336"/>
                </a:lnTo>
                <a:lnTo>
                  <a:pt x="377952" y="0"/>
                </a:lnTo>
                <a:close/>
              </a:path>
            </a:pathLst>
          </a:custGeom>
          <a:solidFill>
            <a:srgbClr val="000000"/>
          </a:solidFill>
        </p:spPr>
        <p:txBody>
          <a:bodyPr wrap="square" lIns="0" tIns="0" rIns="0" bIns="0" rtlCol="0"/>
          <a:lstStyle/>
          <a:p>
            <a:endParaRPr sz="1803"/>
          </a:p>
        </p:txBody>
      </p:sp>
      <p:sp>
        <p:nvSpPr>
          <p:cNvPr id="36" name="object 36"/>
          <p:cNvSpPr txBox="1"/>
          <p:nvPr/>
        </p:nvSpPr>
        <p:spPr>
          <a:xfrm>
            <a:off x="7090728" y="5174928"/>
            <a:ext cx="1443488" cy="624091"/>
          </a:xfrm>
          <a:prstGeom prst="rect">
            <a:avLst/>
          </a:prstGeom>
        </p:spPr>
        <p:txBody>
          <a:bodyPr vert="horz" wrap="square" lIns="0" tIns="12724" rIns="0" bIns="0" rtlCol="0">
            <a:spAutoFit/>
          </a:bodyPr>
          <a:lstStyle/>
          <a:p>
            <a:pPr marL="712551">
              <a:lnSpc>
                <a:spcPts val="2354"/>
              </a:lnSpc>
              <a:spcBef>
                <a:spcPts val="100"/>
              </a:spcBef>
            </a:pPr>
            <a:r>
              <a:rPr sz="2405" spc="-25" dirty="0">
                <a:latin typeface="Cambria Math"/>
                <a:cs typeface="Cambria Math"/>
              </a:rPr>
              <a:t>𝜔</a:t>
            </a:r>
            <a:r>
              <a:rPr sz="2630" spc="-37" baseline="-15873" dirty="0">
                <a:latin typeface="Cambria Math"/>
                <a:cs typeface="Cambria Math"/>
              </a:rPr>
              <a:t>𝐶</a:t>
            </a:r>
            <a:endParaRPr sz="2630" baseline="-15873">
              <a:latin typeface="Cambria Math"/>
              <a:cs typeface="Cambria Math"/>
            </a:endParaRPr>
          </a:p>
          <a:p>
            <a:pPr marL="38172">
              <a:lnSpc>
                <a:spcPts val="2354"/>
              </a:lnSpc>
              <a:tabLst>
                <a:tab pos="401446" algn="l"/>
                <a:tab pos="1176982" algn="l"/>
              </a:tabLst>
            </a:pPr>
            <a:r>
              <a:rPr sz="2405" spc="-50" dirty="0">
                <a:latin typeface="Cambria Math"/>
                <a:cs typeface="Cambria Math"/>
              </a:rPr>
              <a:t>𝑓</a:t>
            </a:r>
            <a:r>
              <a:rPr sz="2405" dirty="0">
                <a:latin typeface="Cambria Math"/>
                <a:cs typeface="Cambria Math"/>
              </a:rPr>
              <a:t>	</a:t>
            </a:r>
            <a:r>
              <a:rPr sz="2405" spc="-50" dirty="0">
                <a:latin typeface="Cambria Math"/>
                <a:cs typeface="Cambria Math"/>
              </a:rPr>
              <a:t>=</a:t>
            </a:r>
            <a:r>
              <a:rPr sz="2405" dirty="0">
                <a:latin typeface="Cambria Math"/>
                <a:cs typeface="Cambria Math"/>
              </a:rPr>
              <a:t>	</a:t>
            </a:r>
            <a:r>
              <a:rPr sz="2405" spc="-50" dirty="0">
                <a:latin typeface="Cambria Math"/>
                <a:cs typeface="Cambria Math"/>
              </a:rPr>
              <a:t>=</a:t>
            </a:r>
            <a:endParaRPr sz="2405">
              <a:latin typeface="Cambria Math"/>
              <a:cs typeface="Cambria Math"/>
            </a:endParaRPr>
          </a:p>
        </p:txBody>
      </p:sp>
      <p:sp>
        <p:nvSpPr>
          <p:cNvPr id="37" name="object 37"/>
          <p:cNvSpPr txBox="1"/>
          <p:nvPr/>
        </p:nvSpPr>
        <p:spPr>
          <a:xfrm>
            <a:off x="8850651" y="5174927"/>
            <a:ext cx="194671"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1</a:t>
            </a:r>
            <a:endParaRPr sz="2405">
              <a:latin typeface="Cambria Math"/>
              <a:cs typeface="Cambria Math"/>
            </a:endParaRPr>
          </a:p>
        </p:txBody>
      </p:sp>
      <p:sp>
        <p:nvSpPr>
          <p:cNvPr id="38" name="object 38"/>
          <p:cNvSpPr txBox="1"/>
          <p:nvPr/>
        </p:nvSpPr>
        <p:spPr>
          <a:xfrm>
            <a:off x="7800194" y="5611601"/>
            <a:ext cx="1517921" cy="391886"/>
          </a:xfrm>
          <a:prstGeom prst="rect">
            <a:avLst/>
          </a:prstGeom>
        </p:spPr>
        <p:txBody>
          <a:bodyPr vert="horz" wrap="square" lIns="0" tIns="12724" rIns="0" bIns="0" rtlCol="0">
            <a:spAutoFit/>
          </a:bodyPr>
          <a:lstStyle/>
          <a:p>
            <a:pPr marL="12724">
              <a:spcBef>
                <a:spcPts val="100"/>
              </a:spcBef>
              <a:tabLst>
                <a:tab pos="778717" algn="l"/>
              </a:tabLst>
            </a:pPr>
            <a:r>
              <a:rPr sz="2405" spc="-25" dirty="0">
                <a:latin typeface="Cambria Math"/>
                <a:cs typeface="Cambria Math"/>
              </a:rPr>
              <a:t>2𝜋</a:t>
            </a:r>
            <a:r>
              <a:rPr sz="2405" dirty="0">
                <a:latin typeface="Cambria Math"/>
                <a:cs typeface="Cambria Math"/>
              </a:rPr>
              <a:t>	</a:t>
            </a:r>
            <a:r>
              <a:rPr sz="2405" spc="-20" dirty="0">
                <a:latin typeface="Cambria Math"/>
                <a:cs typeface="Cambria Math"/>
              </a:rPr>
              <a:t>2𝜋𝑅𝐶</a:t>
            </a:r>
            <a:endParaRPr sz="2405">
              <a:latin typeface="Cambria Math"/>
              <a:cs typeface="Cambria Math"/>
            </a:endParaRPr>
          </a:p>
        </p:txBody>
      </p:sp>
      <p:sp>
        <p:nvSpPr>
          <p:cNvPr id="39" name="object 39"/>
          <p:cNvSpPr/>
          <p:nvPr/>
        </p:nvSpPr>
        <p:spPr>
          <a:xfrm>
            <a:off x="8582438" y="5499123"/>
            <a:ext cx="1548458" cy="283735"/>
          </a:xfrm>
          <a:custGeom>
            <a:avLst/>
            <a:gdLst/>
            <a:ahLst/>
            <a:cxnLst/>
            <a:rect l="l" t="t" r="r" b="b"/>
            <a:pathLst>
              <a:path w="1545590" h="283210">
                <a:moveTo>
                  <a:pt x="737616" y="131064"/>
                </a:moveTo>
                <a:lnTo>
                  <a:pt x="0" y="131064"/>
                </a:lnTo>
                <a:lnTo>
                  <a:pt x="0" y="152400"/>
                </a:lnTo>
                <a:lnTo>
                  <a:pt x="737616" y="152400"/>
                </a:lnTo>
                <a:lnTo>
                  <a:pt x="737616" y="131064"/>
                </a:lnTo>
                <a:close/>
              </a:path>
              <a:path w="1545590" h="283210">
                <a:moveTo>
                  <a:pt x="1091184" y="0"/>
                </a:moveTo>
                <a:lnTo>
                  <a:pt x="1024128" y="0"/>
                </a:lnTo>
                <a:lnTo>
                  <a:pt x="1024128" y="12700"/>
                </a:lnTo>
                <a:lnTo>
                  <a:pt x="1024128" y="271780"/>
                </a:lnTo>
                <a:lnTo>
                  <a:pt x="1024128" y="283210"/>
                </a:lnTo>
                <a:lnTo>
                  <a:pt x="1091184" y="283210"/>
                </a:lnTo>
                <a:lnTo>
                  <a:pt x="1091184" y="271780"/>
                </a:lnTo>
                <a:lnTo>
                  <a:pt x="1048512" y="271780"/>
                </a:lnTo>
                <a:lnTo>
                  <a:pt x="1048512" y="12700"/>
                </a:lnTo>
                <a:lnTo>
                  <a:pt x="1091184" y="12700"/>
                </a:lnTo>
                <a:lnTo>
                  <a:pt x="1091184" y="0"/>
                </a:lnTo>
                <a:close/>
              </a:path>
              <a:path w="1545590" h="283210">
                <a:moveTo>
                  <a:pt x="1545336" y="0"/>
                </a:moveTo>
                <a:lnTo>
                  <a:pt x="1478280" y="0"/>
                </a:lnTo>
                <a:lnTo>
                  <a:pt x="1478280" y="12700"/>
                </a:lnTo>
                <a:lnTo>
                  <a:pt x="1520952" y="12700"/>
                </a:lnTo>
                <a:lnTo>
                  <a:pt x="1520952" y="271780"/>
                </a:lnTo>
                <a:lnTo>
                  <a:pt x="1478280" y="271780"/>
                </a:lnTo>
                <a:lnTo>
                  <a:pt x="1478280" y="283210"/>
                </a:lnTo>
                <a:lnTo>
                  <a:pt x="1545336" y="283210"/>
                </a:lnTo>
                <a:lnTo>
                  <a:pt x="1545336" y="271780"/>
                </a:lnTo>
                <a:lnTo>
                  <a:pt x="1545336" y="12700"/>
                </a:lnTo>
                <a:lnTo>
                  <a:pt x="1545336" y="0"/>
                </a:lnTo>
                <a:close/>
              </a:path>
            </a:pathLst>
          </a:custGeom>
          <a:solidFill>
            <a:srgbClr val="000000"/>
          </a:solidFill>
        </p:spPr>
        <p:txBody>
          <a:bodyPr wrap="square" lIns="0" tIns="0" rIns="0" bIns="0" rtlCol="0"/>
          <a:lstStyle/>
          <a:p>
            <a:endParaRPr sz="1803"/>
          </a:p>
        </p:txBody>
      </p:sp>
      <p:sp>
        <p:nvSpPr>
          <p:cNvPr id="40" name="object 40"/>
          <p:cNvSpPr txBox="1"/>
          <p:nvPr/>
        </p:nvSpPr>
        <p:spPr>
          <a:xfrm>
            <a:off x="9665977" y="5407004"/>
            <a:ext cx="395703" cy="391886"/>
          </a:xfrm>
          <a:prstGeom prst="rect">
            <a:avLst/>
          </a:prstGeom>
        </p:spPr>
        <p:txBody>
          <a:bodyPr vert="horz" wrap="square" lIns="0" tIns="12724" rIns="0" bIns="0" rtlCol="0">
            <a:spAutoFit/>
          </a:bodyPr>
          <a:lstStyle/>
          <a:p>
            <a:pPr marL="12724">
              <a:spcBef>
                <a:spcPts val="100"/>
              </a:spcBef>
            </a:pPr>
            <a:r>
              <a:rPr sz="2405" spc="-25" dirty="0">
                <a:latin typeface="Cambria Math"/>
                <a:cs typeface="Cambria Math"/>
              </a:rPr>
              <a:t>𝐻𝑧</a:t>
            </a:r>
            <a:endParaRPr sz="2405">
              <a:latin typeface="Cambria Math"/>
              <a:cs typeface="Cambria Math"/>
            </a:endParaRPr>
          </a:p>
        </p:txBody>
      </p:sp>
      <p:grpSp>
        <p:nvGrpSpPr>
          <p:cNvPr id="41" name="object 41"/>
          <p:cNvGrpSpPr/>
          <p:nvPr/>
        </p:nvGrpSpPr>
        <p:grpSpPr>
          <a:xfrm>
            <a:off x="1855237" y="5022754"/>
            <a:ext cx="8529240" cy="1246273"/>
            <a:chOff x="320040" y="5013452"/>
            <a:chExt cx="8513445" cy="1243965"/>
          </a:xfrm>
        </p:grpSpPr>
        <p:sp>
          <p:nvSpPr>
            <p:cNvPr id="42" name="object 42"/>
            <p:cNvSpPr/>
            <p:nvPr/>
          </p:nvSpPr>
          <p:spPr>
            <a:xfrm>
              <a:off x="332232" y="5025643"/>
              <a:ext cx="8488680" cy="1219200"/>
            </a:xfrm>
            <a:custGeom>
              <a:avLst/>
              <a:gdLst/>
              <a:ahLst/>
              <a:cxnLst/>
              <a:rect l="l" t="t" r="r" b="b"/>
              <a:pathLst>
                <a:path w="8488680" h="1219200">
                  <a:moveTo>
                    <a:pt x="0" y="88391"/>
                  </a:moveTo>
                  <a:lnTo>
                    <a:pt x="6477" y="54006"/>
                  </a:lnTo>
                  <a:lnTo>
                    <a:pt x="24384" y="25907"/>
                  </a:lnTo>
                  <a:lnTo>
                    <a:pt x="51435" y="6953"/>
                  </a:lnTo>
                  <a:lnTo>
                    <a:pt x="85344" y="0"/>
                  </a:lnTo>
                  <a:lnTo>
                    <a:pt x="8403336" y="0"/>
                  </a:lnTo>
                  <a:lnTo>
                    <a:pt x="8437245" y="6953"/>
                  </a:lnTo>
                  <a:lnTo>
                    <a:pt x="8464296" y="25907"/>
                  </a:lnTo>
                  <a:lnTo>
                    <a:pt x="8482203" y="54006"/>
                  </a:lnTo>
                  <a:lnTo>
                    <a:pt x="8488680" y="88391"/>
                  </a:lnTo>
                  <a:lnTo>
                    <a:pt x="8488680" y="1133855"/>
                  </a:lnTo>
                  <a:lnTo>
                    <a:pt x="8482203" y="1167765"/>
                  </a:lnTo>
                  <a:lnTo>
                    <a:pt x="8464296" y="1194816"/>
                  </a:lnTo>
                  <a:lnTo>
                    <a:pt x="8437245" y="1212723"/>
                  </a:lnTo>
                  <a:lnTo>
                    <a:pt x="8403336" y="1219199"/>
                  </a:lnTo>
                  <a:lnTo>
                    <a:pt x="85344" y="1219199"/>
                  </a:lnTo>
                  <a:lnTo>
                    <a:pt x="51435" y="1212723"/>
                  </a:lnTo>
                  <a:lnTo>
                    <a:pt x="24383" y="1194816"/>
                  </a:lnTo>
                  <a:lnTo>
                    <a:pt x="6476" y="1167765"/>
                  </a:lnTo>
                  <a:lnTo>
                    <a:pt x="0" y="1133855"/>
                  </a:lnTo>
                  <a:lnTo>
                    <a:pt x="0" y="88391"/>
                  </a:lnTo>
                  <a:close/>
                </a:path>
              </a:pathLst>
            </a:custGeom>
            <a:ln w="24382">
              <a:solidFill>
                <a:srgbClr val="BF0000"/>
              </a:solidFill>
            </a:ln>
          </p:spPr>
          <p:txBody>
            <a:bodyPr wrap="square" lIns="0" tIns="0" rIns="0" bIns="0" rtlCol="0"/>
            <a:lstStyle/>
            <a:p>
              <a:endParaRPr sz="1803"/>
            </a:p>
          </p:txBody>
        </p:sp>
        <p:sp>
          <p:nvSpPr>
            <p:cNvPr id="43" name="object 43"/>
            <p:cNvSpPr/>
            <p:nvPr/>
          </p:nvSpPr>
          <p:spPr>
            <a:xfrm>
              <a:off x="1844040" y="5519419"/>
              <a:ext cx="292735" cy="283210"/>
            </a:xfrm>
            <a:custGeom>
              <a:avLst/>
              <a:gdLst/>
              <a:ahLst/>
              <a:cxnLst/>
              <a:rect l="l" t="t" r="r" b="b"/>
              <a:pathLst>
                <a:path w="292735" h="283210">
                  <a:moveTo>
                    <a:pt x="67056" y="0"/>
                  </a:moveTo>
                  <a:lnTo>
                    <a:pt x="0" y="0"/>
                  </a:lnTo>
                  <a:lnTo>
                    <a:pt x="0" y="12700"/>
                  </a:lnTo>
                  <a:lnTo>
                    <a:pt x="0" y="271780"/>
                  </a:lnTo>
                  <a:lnTo>
                    <a:pt x="0" y="283210"/>
                  </a:lnTo>
                  <a:lnTo>
                    <a:pt x="67056" y="283210"/>
                  </a:lnTo>
                  <a:lnTo>
                    <a:pt x="67056" y="271780"/>
                  </a:lnTo>
                  <a:lnTo>
                    <a:pt x="27432" y="271780"/>
                  </a:lnTo>
                  <a:lnTo>
                    <a:pt x="27432" y="12700"/>
                  </a:lnTo>
                  <a:lnTo>
                    <a:pt x="67056" y="12700"/>
                  </a:lnTo>
                  <a:lnTo>
                    <a:pt x="67056" y="0"/>
                  </a:lnTo>
                  <a:close/>
                </a:path>
                <a:path w="292735" h="283210">
                  <a:moveTo>
                    <a:pt x="292608" y="0"/>
                  </a:moveTo>
                  <a:lnTo>
                    <a:pt x="225552" y="0"/>
                  </a:lnTo>
                  <a:lnTo>
                    <a:pt x="225552" y="12700"/>
                  </a:lnTo>
                  <a:lnTo>
                    <a:pt x="268224" y="12700"/>
                  </a:lnTo>
                  <a:lnTo>
                    <a:pt x="268224" y="271780"/>
                  </a:lnTo>
                  <a:lnTo>
                    <a:pt x="225552" y="271780"/>
                  </a:lnTo>
                  <a:lnTo>
                    <a:pt x="225552" y="283210"/>
                  </a:lnTo>
                  <a:lnTo>
                    <a:pt x="292608" y="283210"/>
                  </a:lnTo>
                  <a:lnTo>
                    <a:pt x="292608" y="271780"/>
                  </a:lnTo>
                  <a:lnTo>
                    <a:pt x="292608" y="12700"/>
                  </a:lnTo>
                  <a:lnTo>
                    <a:pt x="292608" y="0"/>
                  </a:lnTo>
                  <a:close/>
                </a:path>
              </a:pathLst>
            </a:custGeom>
            <a:solidFill>
              <a:srgbClr val="000000"/>
            </a:solidFill>
          </p:spPr>
          <p:txBody>
            <a:bodyPr wrap="square" lIns="0" tIns="0" rIns="0" bIns="0" rtlCol="0"/>
            <a:lstStyle/>
            <a:p>
              <a:endParaRPr sz="1803"/>
            </a:p>
          </p:txBody>
        </p:sp>
      </p:grpSp>
      <p:sp>
        <p:nvSpPr>
          <p:cNvPr id="44" name="object 44"/>
          <p:cNvSpPr txBox="1"/>
          <p:nvPr/>
        </p:nvSpPr>
        <p:spPr>
          <a:xfrm>
            <a:off x="2199790" y="5437540"/>
            <a:ext cx="1409771" cy="391886"/>
          </a:xfrm>
          <a:prstGeom prst="rect">
            <a:avLst/>
          </a:prstGeom>
        </p:spPr>
        <p:txBody>
          <a:bodyPr vert="horz" wrap="square" lIns="0" tIns="12724" rIns="0" bIns="0" rtlCol="0">
            <a:spAutoFit/>
          </a:bodyPr>
          <a:lstStyle/>
          <a:p>
            <a:pPr marL="12724">
              <a:spcBef>
                <a:spcPts val="100"/>
              </a:spcBef>
              <a:tabLst>
                <a:tab pos="1255235" algn="l"/>
              </a:tabLst>
            </a:pPr>
            <a:r>
              <a:rPr sz="2405" dirty="0">
                <a:latin typeface="Cambria Math"/>
                <a:cs typeface="Cambria Math"/>
              </a:rPr>
              <a:t>𝜏</a:t>
            </a:r>
            <a:r>
              <a:rPr sz="2405" spc="195" dirty="0">
                <a:latin typeface="Cambria Math"/>
                <a:cs typeface="Cambria Math"/>
              </a:rPr>
              <a:t> </a:t>
            </a:r>
            <a:r>
              <a:rPr sz="2405" dirty="0">
                <a:latin typeface="Cambria Math"/>
                <a:cs typeface="Cambria Math"/>
              </a:rPr>
              <a:t>=</a:t>
            </a:r>
            <a:r>
              <a:rPr sz="2405" spc="125" dirty="0">
                <a:latin typeface="Cambria Math"/>
                <a:cs typeface="Cambria Math"/>
              </a:rPr>
              <a:t> </a:t>
            </a:r>
            <a:r>
              <a:rPr sz="2405" spc="-35" dirty="0">
                <a:latin typeface="Cambria Math"/>
                <a:cs typeface="Cambria Math"/>
              </a:rPr>
              <a:t>𝑅𝐶</a:t>
            </a:r>
            <a:r>
              <a:rPr sz="2405" dirty="0">
                <a:latin typeface="Cambria Math"/>
                <a:cs typeface="Cambria Math"/>
              </a:rPr>
              <a:t>	</a:t>
            </a:r>
            <a:r>
              <a:rPr sz="2405" spc="-50" dirty="0">
                <a:latin typeface="Cambria Math"/>
                <a:cs typeface="Cambria Math"/>
              </a:rPr>
              <a:t>𝑠</a:t>
            </a:r>
            <a:endParaRPr sz="2405">
              <a:latin typeface="Cambria Math"/>
              <a:cs typeface="Cambria Math"/>
            </a:endParaRPr>
          </a:p>
        </p:txBody>
      </p:sp>
      <p:sp>
        <p:nvSpPr>
          <p:cNvPr id="45" name="Rectangle 44"/>
          <p:cNvSpPr/>
          <p:nvPr/>
        </p:nvSpPr>
        <p:spPr>
          <a:xfrm>
            <a:off x="6096000" y="740720"/>
            <a:ext cx="6096000" cy="2862322"/>
          </a:xfrm>
          <a:prstGeom prst="rect">
            <a:avLst/>
          </a:prstGeom>
        </p:spPr>
        <p:txBody>
          <a:bodyPr>
            <a:spAutoFit/>
          </a:bodyPr>
          <a:lstStyle/>
          <a:p>
            <a:pPr algn="just"/>
            <a:r>
              <a:rPr lang="en-US" b="1" dirty="0">
                <a:solidFill>
                  <a:srgbClr val="FF0000"/>
                </a:solidFill>
                <a:latin typeface="CIDFont+F5"/>
              </a:rPr>
              <a:t>We substitute the expression RC by the time-constant tau, with units in seconds.</a:t>
            </a:r>
          </a:p>
          <a:p>
            <a:pPr algn="just"/>
            <a:r>
              <a:rPr lang="en-US" b="1" dirty="0">
                <a:solidFill>
                  <a:srgbClr val="FF0000"/>
                </a:solidFill>
                <a:latin typeface="CIDFont+F5"/>
              </a:rPr>
              <a:t>Likewise, 1/RC is substituted by the angular frequency </a:t>
            </a:r>
            <a:r>
              <a:rPr lang="en-US" b="1" dirty="0" err="1">
                <a:solidFill>
                  <a:srgbClr val="FF0000"/>
                </a:solidFill>
                <a:latin typeface="CIDFont+F5"/>
              </a:rPr>
              <a:t>omega_c</a:t>
            </a:r>
            <a:r>
              <a:rPr lang="en-US" b="1" dirty="0">
                <a:solidFill>
                  <a:srgbClr val="FF0000"/>
                </a:solidFill>
                <a:latin typeface="CIDFont+F5"/>
              </a:rPr>
              <a:t> with units</a:t>
            </a:r>
          </a:p>
          <a:p>
            <a:pPr algn="just"/>
            <a:r>
              <a:rPr lang="en-US" b="1" dirty="0">
                <a:solidFill>
                  <a:srgbClr val="FF0000"/>
                </a:solidFill>
                <a:latin typeface="CIDFont+F5"/>
              </a:rPr>
              <a:t>radians/seconds. This new variable </a:t>
            </a:r>
            <a:r>
              <a:rPr lang="en-US" b="1" dirty="0" err="1">
                <a:solidFill>
                  <a:srgbClr val="FF0000"/>
                </a:solidFill>
                <a:latin typeface="CIDFont+F5"/>
              </a:rPr>
              <a:t>omega_C</a:t>
            </a:r>
            <a:r>
              <a:rPr lang="en-US" b="1" dirty="0">
                <a:solidFill>
                  <a:srgbClr val="FF0000"/>
                </a:solidFill>
                <a:latin typeface="CIDFont+F5"/>
              </a:rPr>
              <a:t> will be called the ‘corner </a:t>
            </a:r>
            <a:r>
              <a:rPr lang="en-US" b="1" dirty="0" smtClean="0">
                <a:solidFill>
                  <a:srgbClr val="FF0000"/>
                </a:solidFill>
                <a:latin typeface="CIDFont+F5"/>
              </a:rPr>
              <a:t>frequency’ of </a:t>
            </a:r>
            <a:r>
              <a:rPr lang="en-US" b="1" dirty="0">
                <a:solidFill>
                  <a:srgbClr val="FF0000"/>
                </a:solidFill>
                <a:latin typeface="CIDFont+F5"/>
              </a:rPr>
              <a:t>the filter. We can also re-write the expression using frequency in Hz (</a:t>
            </a:r>
            <a:r>
              <a:rPr lang="en-US" b="1" dirty="0" smtClean="0">
                <a:solidFill>
                  <a:srgbClr val="FF0000"/>
                </a:solidFill>
                <a:latin typeface="CIDFont+F5"/>
              </a:rPr>
              <a:t>rather than </a:t>
            </a:r>
            <a:r>
              <a:rPr lang="en-US" b="1" dirty="0">
                <a:solidFill>
                  <a:srgbClr val="FF0000"/>
                </a:solidFill>
                <a:latin typeface="CIDFont+F5"/>
              </a:rPr>
              <a:t>rad/s).</a:t>
            </a:r>
          </a:p>
          <a:p>
            <a:r>
              <a:rPr lang="en-US" b="1" dirty="0">
                <a:solidFill>
                  <a:srgbClr val="FF0000"/>
                </a:solidFill>
                <a:latin typeface="CIDFont+F5"/>
              </a:rPr>
              <a:t>Note: we will encounter the </a:t>
            </a:r>
            <a:r>
              <a:rPr lang="en-US" b="1" dirty="0" smtClean="0">
                <a:solidFill>
                  <a:srgbClr val="FF0000"/>
                </a:solidFill>
                <a:latin typeface="CIDFont+F5"/>
              </a:rPr>
              <a:t>time </a:t>
            </a:r>
            <a:r>
              <a:rPr lang="en-US" b="1" dirty="0" smtClean="0">
                <a:solidFill>
                  <a:srgbClr val="FF0000"/>
                </a:solidFill>
              </a:rPr>
              <a:t>constant </a:t>
            </a:r>
            <a:r>
              <a:rPr lang="en-US" b="1" dirty="0">
                <a:solidFill>
                  <a:srgbClr val="FF0000"/>
                </a:solidFill>
              </a:rPr>
              <a:t>tau again when we investigate the </a:t>
            </a:r>
            <a:r>
              <a:rPr lang="en-US" b="1" dirty="0" err="1" smtClean="0">
                <a:solidFill>
                  <a:srgbClr val="FF0000"/>
                </a:solidFill>
              </a:rPr>
              <a:t>timedomain</a:t>
            </a:r>
            <a:r>
              <a:rPr lang="en-US" b="1" dirty="0">
                <a:solidFill>
                  <a:srgbClr val="FF0000"/>
                </a:solidFill>
              </a:rPr>
              <a:t> </a:t>
            </a:r>
            <a:r>
              <a:rPr lang="en-US" b="1" dirty="0" smtClean="0">
                <a:solidFill>
                  <a:srgbClr val="FF0000"/>
                </a:solidFill>
              </a:rPr>
              <a:t>behavior </a:t>
            </a:r>
            <a:r>
              <a:rPr lang="en-US" b="1" dirty="0">
                <a:solidFill>
                  <a:srgbClr val="FF0000"/>
                </a:solidFill>
              </a:rPr>
              <a:t>of RC circuits.</a:t>
            </a:r>
            <a:endParaRPr lang="en-US" b="1" dirty="0">
              <a:solidFill>
                <a:srgbClr val="FF0000"/>
              </a:solidFill>
            </a:endParaRPr>
          </a:p>
        </p:txBody>
      </p:sp>
    </p:spTree>
    <p:extLst>
      <p:ext uri="{BB962C8B-B14F-4D97-AF65-F5344CB8AC3E}">
        <p14:creationId xmlns:p14="http://schemas.microsoft.com/office/powerpoint/2010/main" val="3260613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2138290">
              <a:spcBef>
                <a:spcPts val="90"/>
              </a:spcBef>
            </a:pPr>
            <a:r>
              <a:rPr dirty="0"/>
              <a:t>RL</a:t>
            </a:r>
            <a:r>
              <a:rPr spc="-40" dirty="0"/>
              <a:t> </a:t>
            </a:r>
            <a:r>
              <a:rPr spc="-30" dirty="0"/>
              <a:t>low-</a:t>
            </a:r>
            <a:r>
              <a:rPr dirty="0"/>
              <a:t>pass</a:t>
            </a:r>
            <a:r>
              <a:rPr spc="-5" dirty="0"/>
              <a:t> </a:t>
            </a:r>
            <a:r>
              <a:rPr spc="-10" dirty="0"/>
              <a:t>filter</a:t>
            </a:r>
          </a:p>
        </p:txBody>
      </p:sp>
      <p:sp>
        <p:nvSpPr>
          <p:cNvPr id="3" name="object 3"/>
          <p:cNvSpPr txBox="1"/>
          <p:nvPr/>
        </p:nvSpPr>
        <p:spPr>
          <a:xfrm>
            <a:off x="6209239" y="1742618"/>
            <a:ext cx="3916312" cy="758324"/>
          </a:xfrm>
          <a:prstGeom prst="rect">
            <a:avLst/>
          </a:prstGeom>
        </p:spPr>
        <p:txBody>
          <a:bodyPr vert="horz" wrap="square" lIns="0" tIns="12724" rIns="0" bIns="0" rtlCol="0">
            <a:spAutoFit/>
          </a:bodyPr>
          <a:lstStyle/>
          <a:p>
            <a:pPr marL="12724" marR="5090">
              <a:spcBef>
                <a:spcPts val="100"/>
              </a:spcBef>
            </a:pPr>
            <a:r>
              <a:rPr sz="2405" i="1" dirty="0">
                <a:latin typeface="Arial"/>
                <a:cs typeface="Arial"/>
              </a:rPr>
              <a:t>How</a:t>
            </a:r>
            <a:r>
              <a:rPr sz="2405" i="1" spc="-50" dirty="0">
                <a:latin typeface="Arial"/>
                <a:cs typeface="Arial"/>
              </a:rPr>
              <a:t> </a:t>
            </a:r>
            <a:r>
              <a:rPr sz="2405" i="1" dirty="0">
                <a:latin typeface="Arial"/>
                <a:cs typeface="Arial"/>
              </a:rPr>
              <a:t>does</a:t>
            </a:r>
            <a:r>
              <a:rPr sz="2405" i="1" spc="-65" dirty="0">
                <a:latin typeface="Arial"/>
                <a:cs typeface="Arial"/>
              </a:rPr>
              <a:t> </a:t>
            </a:r>
            <a:r>
              <a:rPr sz="2405" i="1" dirty="0">
                <a:latin typeface="Arial"/>
                <a:cs typeface="Arial"/>
              </a:rPr>
              <a:t>this</a:t>
            </a:r>
            <a:r>
              <a:rPr sz="2405" i="1" spc="-65" dirty="0">
                <a:latin typeface="Arial"/>
                <a:cs typeface="Arial"/>
              </a:rPr>
              <a:t> </a:t>
            </a:r>
            <a:r>
              <a:rPr sz="2405" i="1" dirty="0">
                <a:latin typeface="Arial"/>
                <a:cs typeface="Arial"/>
              </a:rPr>
              <a:t>circuit</a:t>
            </a:r>
            <a:r>
              <a:rPr sz="2405" i="1" spc="-35" dirty="0">
                <a:latin typeface="Arial"/>
                <a:cs typeface="Arial"/>
              </a:rPr>
              <a:t> </a:t>
            </a:r>
            <a:r>
              <a:rPr sz="2405" i="1" spc="-10" dirty="0">
                <a:latin typeface="Arial"/>
                <a:cs typeface="Arial"/>
              </a:rPr>
              <a:t>behave </a:t>
            </a:r>
            <a:r>
              <a:rPr sz="2405" i="1" dirty="0">
                <a:latin typeface="Arial"/>
                <a:cs typeface="Arial"/>
              </a:rPr>
              <a:t>for</a:t>
            </a:r>
            <a:r>
              <a:rPr sz="2405" i="1" spc="-90" dirty="0">
                <a:latin typeface="Arial"/>
                <a:cs typeface="Arial"/>
              </a:rPr>
              <a:t> </a:t>
            </a:r>
            <a:r>
              <a:rPr sz="2405" b="1" i="1" dirty="0">
                <a:latin typeface="Arial"/>
                <a:cs typeface="Arial"/>
              </a:rPr>
              <a:t>different</a:t>
            </a:r>
            <a:r>
              <a:rPr sz="2405" b="1" i="1" spc="-75" dirty="0">
                <a:latin typeface="Arial"/>
                <a:cs typeface="Arial"/>
              </a:rPr>
              <a:t> </a:t>
            </a:r>
            <a:r>
              <a:rPr sz="2405" b="1" i="1" spc="-10" dirty="0">
                <a:latin typeface="Arial"/>
                <a:cs typeface="Arial"/>
              </a:rPr>
              <a:t>frequencies</a:t>
            </a:r>
            <a:r>
              <a:rPr sz="2405" i="1" spc="-10" dirty="0">
                <a:latin typeface="Arial"/>
                <a:cs typeface="Arial"/>
              </a:rPr>
              <a:t>?</a:t>
            </a:r>
            <a:endParaRPr sz="2405">
              <a:latin typeface="Arial"/>
              <a:cs typeface="Arial"/>
            </a:endParaRPr>
          </a:p>
        </p:txBody>
      </p:sp>
      <p:sp>
        <p:nvSpPr>
          <p:cNvPr id="4" name="object 4"/>
          <p:cNvSpPr/>
          <p:nvPr/>
        </p:nvSpPr>
        <p:spPr>
          <a:xfrm>
            <a:off x="1943791" y="3569213"/>
            <a:ext cx="739239" cy="18449"/>
          </a:xfrm>
          <a:custGeom>
            <a:avLst/>
            <a:gdLst/>
            <a:ahLst/>
            <a:cxnLst/>
            <a:rect l="l" t="t" r="r" b="b"/>
            <a:pathLst>
              <a:path w="737869" h="18414">
                <a:moveTo>
                  <a:pt x="737617" y="0"/>
                </a:moveTo>
                <a:lnTo>
                  <a:pt x="0" y="0"/>
                </a:lnTo>
                <a:lnTo>
                  <a:pt x="0" y="18287"/>
                </a:lnTo>
                <a:lnTo>
                  <a:pt x="737617" y="18287"/>
                </a:lnTo>
                <a:lnTo>
                  <a:pt x="737617" y="0"/>
                </a:lnTo>
                <a:close/>
              </a:path>
            </a:pathLst>
          </a:custGeom>
          <a:solidFill>
            <a:srgbClr val="000000"/>
          </a:solidFill>
        </p:spPr>
        <p:txBody>
          <a:bodyPr wrap="square" lIns="0" tIns="0" rIns="0" bIns="0" rtlCol="0"/>
          <a:lstStyle/>
          <a:p>
            <a:endParaRPr sz="1803"/>
          </a:p>
        </p:txBody>
      </p:sp>
      <p:sp>
        <p:nvSpPr>
          <p:cNvPr id="5" name="object 5"/>
          <p:cNvSpPr txBox="1"/>
          <p:nvPr/>
        </p:nvSpPr>
        <p:spPr>
          <a:xfrm>
            <a:off x="1902569" y="3498470"/>
            <a:ext cx="1183291" cy="454231"/>
          </a:xfrm>
          <a:prstGeom prst="rect">
            <a:avLst/>
          </a:prstGeom>
        </p:spPr>
        <p:txBody>
          <a:bodyPr vert="horz" wrap="square" lIns="0" tIns="13360" rIns="0" bIns="0" rtlCol="0">
            <a:spAutoFit/>
          </a:bodyPr>
          <a:lstStyle/>
          <a:p>
            <a:pPr marL="38172">
              <a:spcBef>
                <a:spcPts val="105"/>
              </a:spcBef>
            </a:pPr>
            <a:r>
              <a:rPr sz="4208" spc="120" baseline="11904" dirty="0">
                <a:latin typeface="Cambria Math"/>
                <a:cs typeface="Cambria Math"/>
              </a:rPr>
              <a:t>𝑣</a:t>
            </a:r>
            <a:r>
              <a:rPr sz="2054" spc="80" dirty="0">
                <a:latin typeface="Cambria Math"/>
                <a:cs typeface="Cambria Math"/>
              </a:rPr>
              <a:t>0𝑈𝑇</a:t>
            </a:r>
            <a:r>
              <a:rPr sz="2054" spc="496" dirty="0">
                <a:latin typeface="Cambria Math"/>
                <a:cs typeface="Cambria Math"/>
              </a:rPr>
              <a:t> </a:t>
            </a:r>
            <a:r>
              <a:rPr sz="4208" spc="-75" baseline="-30753" dirty="0">
                <a:latin typeface="Cambria Math"/>
                <a:cs typeface="Cambria Math"/>
              </a:rPr>
              <a:t>=</a:t>
            </a:r>
            <a:endParaRPr sz="4208" baseline="-30753">
              <a:latin typeface="Cambria Math"/>
              <a:cs typeface="Cambria Math"/>
            </a:endParaRPr>
          </a:p>
        </p:txBody>
      </p:sp>
      <p:sp>
        <p:nvSpPr>
          <p:cNvPr id="6" name="object 6"/>
          <p:cNvSpPr txBox="1"/>
          <p:nvPr/>
        </p:nvSpPr>
        <p:spPr>
          <a:xfrm>
            <a:off x="2018607" y="4008431"/>
            <a:ext cx="566199" cy="454231"/>
          </a:xfrm>
          <a:prstGeom prst="rect">
            <a:avLst/>
          </a:prstGeom>
        </p:spPr>
        <p:txBody>
          <a:bodyPr vert="horz" wrap="square" lIns="0" tIns="13360" rIns="0" bIns="0" rtlCol="0">
            <a:spAutoFit/>
          </a:bodyPr>
          <a:lstStyle/>
          <a:p>
            <a:pPr marL="38172">
              <a:spcBef>
                <a:spcPts val="105"/>
              </a:spcBef>
            </a:pPr>
            <a:r>
              <a:rPr sz="4208" spc="-37" baseline="11904" dirty="0">
                <a:latin typeface="Cambria Math"/>
                <a:cs typeface="Cambria Math"/>
              </a:rPr>
              <a:t>𝑣</a:t>
            </a:r>
            <a:r>
              <a:rPr sz="2054" spc="-25" dirty="0">
                <a:latin typeface="Cambria Math"/>
                <a:cs typeface="Cambria Math"/>
              </a:rPr>
              <a:t>𝐼𝑁</a:t>
            </a:r>
            <a:endParaRPr sz="2054">
              <a:latin typeface="Cambria Math"/>
              <a:cs typeface="Cambria Math"/>
            </a:endParaRPr>
          </a:p>
        </p:txBody>
      </p:sp>
      <p:sp>
        <p:nvSpPr>
          <p:cNvPr id="7" name="object 7"/>
          <p:cNvSpPr/>
          <p:nvPr/>
        </p:nvSpPr>
        <p:spPr>
          <a:xfrm>
            <a:off x="2059831" y="4079175"/>
            <a:ext cx="510215" cy="18449"/>
          </a:xfrm>
          <a:custGeom>
            <a:avLst/>
            <a:gdLst/>
            <a:ahLst/>
            <a:cxnLst/>
            <a:rect l="l" t="t" r="r" b="b"/>
            <a:pathLst>
              <a:path w="509269" h="18414">
                <a:moveTo>
                  <a:pt x="509016" y="0"/>
                </a:moveTo>
                <a:lnTo>
                  <a:pt x="0" y="0"/>
                </a:lnTo>
                <a:lnTo>
                  <a:pt x="0" y="18287"/>
                </a:lnTo>
                <a:lnTo>
                  <a:pt x="509016" y="18287"/>
                </a:lnTo>
                <a:lnTo>
                  <a:pt x="509016" y="0"/>
                </a:lnTo>
                <a:close/>
              </a:path>
            </a:pathLst>
          </a:custGeom>
          <a:solidFill>
            <a:srgbClr val="000000"/>
          </a:solidFill>
        </p:spPr>
        <p:txBody>
          <a:bodyPr wrap="square" lIns="0" tIns="0" rIns="0" bIns="0" rtlCol="0"/>
          <a:lstStyle/>
          <a:p>
            <a:endParaRPr sz="1803"/>
          </a:p>
        </p:txBody>
      </p:sp>
      <p:sp>
        <p:nvSpPr>
          <p:cNvPr id="8" name="object 8"/>
          <p:cNvSpPr/>
          <p:nvPr/>
        </p:nvSpPr>
        <p:spPr>
          <a:xfrm>
            <a:off x="1943791" y="3957028"/>
            <a:ext cx="742420" cy="24811"/>
          </a:xfrm>
          <a:custGeom>
            <a:avLst/>
            <a:gdLst/>
            <a:ahLst/>
            <a:cxnLst/>
            <a:rect l="l" t="t" r="r" b="b"/>
            <a:pathLst>
              <a:path w="741044" h="24764">
                <a:moveTo>
                  <a:pt x="740664" y="0"/>
                </a:moveTo>
                <a:lnTo>
                  <a:pt x="0" y="0"/>
                </a:lnTo>
                <a:lnTo>
                  <a:pt x="0" y="24383"/>
                </a:lnTo>
                <a:lnTo>
                  <a:pt x="740664" y="24383"/>
                </a:lnTo>
                <a:lnTo>
                  <a:pt x="740664" y="0"/>
                </a:lnTo>
                <a:close/>
              </a:path>
            </a:pathLst>
          </a:custGeom>
          <a:solidFill>
            <a:srgbClr val="000000"/>
          </a:solidFill>
        </p:spPr>
        <p:txBody>
          <a:bodyPr wrap="square" lIns="0" tIns="0" rIns="0" bIns="0" rtlCol="0"/>
          <a:lstStyle/>
          <a:p>
            <a:endParaRPr sz="1803"/>
          </a:p>
        </p:txBody>
      </p:sp>
      <p:sp>
        <p:nvSpPr>
          <p:cNvPr id="9" name="object 9"/>
          <p:cNvSpPr txBox="1"/>
          <p:nvPr/>
        </p:nvSpPr>
        <p:spPr>
          <a:xfrm>
            <a:off x="3528130" y="3425183"/>
            <a:ext cx="253198"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𝑅</a:t>
            </a:r>
            <a:endParaRPr sz="2805">
              <a:latin typeface="Cambria Math"/>
              <a:cs typeface="Cambria Math"/>
            </a:endParaRPr>
          </a:p>
        </p:txBody>
      </p:sp>
      <p:sp>
        <p:nvSpPr>
          <p:cNvPr id="10" name="object 10"/>
          <p:cNvSpPr txBox="1"/>
          <p:nvPr/>
        </p:nvSpPr>
        <p:spPr>
          <a:xfrm>
            <a:off x="3108762" y="3935142"/>
            <a:ext cx="1082775"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𝑅</a:t>
            </a:r>
            <a:r>
              <a:rPr sz="2805" spc="90" dirty="0">
                <a:latin typeface="Cambria Math"/>
                <a:cs typeface="Cambria Math"/>
              </a:rPr>
              <a:t> </a:t>
            </a:r>
            <a:r>
              <a:rPr sz="2805" dirty="0">
                <a:latin typeface="Cambria Math"/>
                <a:cs typeface="Cambria Math"/>
              </a:rPr>
              <a:t>+</a:t>
            </a:r>
            <a:r>
              <a:rPr sz="2805" spc="-5" dirty="0">
                <a:latin typeface="Cambria Math"/>
                <a:cs typeface="Cambria Math"/>
              </a:rPr>
              <a:t> </a:t>
            </a:r>
            <a:r>
              <a:rPr sz="2805" spc="-35" dirty="0">
                <a:latin typeface="Cambria Math"/>
                <a:cs typeface="Cambria Math"/>
              </a:rPr>
              <a:t>𝑍</a:t>
            </a:r>
            <a:r>
              <a:rPr sz="3081" spc="-52" baseline="-16260" dirty="0">
                <a:latin typeface="Cambria Math"/>
                <a:cs typeface="Cambria Math"/>
              </a:rPr>
              <a:t>𝐿</a:t>
            </a:r>
            <a:endParaRPr sz="3081" baseline="-16260">
              <a:latin typeface="Cambria Math"/>
              <a:cs typeface="Cambria Math"/>
            </a:endParaRPr>
          </a:p>
        </p:txBody>
      </p:sp>
      <p:sp>
        <p:nvSpPr>
          <p:cNvPr id="11" name="object 11"/>
          <p:cNvSpPr/>
          <p:nvPr/>
        </p:nvSpPr>
        <p:spPr>
          <a:xfrm>
            <a:off x="3149986" y="3957028"/>
            <a:ext cx="1026155" cy="24811"/>
          </a:xfrm>
          <a:custGeom>
            <a:avLst/>
            <a:gdLst/>
            <a:ahLst/>
            <a:cxnLst/>
            <a:rect l="l" t="t" r="r" b="b"/>
            <a:pathLst>
              <a:path w="1024255" h="24764">
                <a:moveTo>
                  <a:pt x="1024128" y="0"/>
                </a:moveTo>
                <a:lnTo>
                  <a:pt x="0" y="0"/>
                </a:lnTo>
                <a:lnTo>
                  <a:pt x="0" y="24383"/>
                </a:lnTo>
                <a:lnTo>
                  <a:pt x="1024128" y="24383"/>
                </a:lnTo>
                <a:lnTo>
                  <a:pt x="1024128" y="0"/>
                </a:lnTo>
                <a:close/>
              </a:path>
            </a:pathLst>
          </a:custGeom>
          <a:solidFill>
            <a:srgbClr val="000000"/>
          </a:solidFill>
        </p:spPr>
        <p:txBody>
          <a:bodyPr wrap="square" lIns="0" tIns="0" rIns="0" bIns="0" rtlCol="0"/>
          <a:lstStyle/>
          <a:p>
            <a:endParaRPr sz="1803"/>
          </a:p>
        </p:txBody>
      </p:sp>
      <p:sp>
        <p:nvSpPr>
          <p:cNvPr id="12" name="object 12"/>
          <p:cNvSpPr txBox="1"/>
          <p:nvPr/>
        </p:nvSpPr>
        <p:spPr>
          <a:xfrm>
            <a:off x="4257953" y="3696957"/>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13" name="object 13"/>
          <p:cNvSpPr txBox="1"/>
          <p:nvPr/>
        </p:nvSpPr>
        <p:spPr>
          <a:xfrm>
            <a:off x="5128246" y="3425183"/>
            <a:ext cx="253198"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𝑅</a:t>
            </a:r>
            <a:endParaRPr sz="2805">
              <a:latin typeface="Cambria Math"/>
              <a:cs typeface="Cambria Math"/>
            </a:endParaRPr>
          </a:p>
        </p:txBody>
      </p:sp>
      <p:sp>
        <p:nvSpPr>
          <p:cNvPr id="14" name="object 14"/>
          <p:cNvSpPr txBox="1"/>
          <p:nvPr/>
        </p:nvSpPr>
        <p:spPr>
          <a:xfrm>
            <a:off x="4624392" y="3935142"/>
            <a:ext cx="1263450" cy="454231"/>
          </a:xfrm>
          <a:prstGeom prst="rect">
            <a:avLst/>
          </a:prstGeom>
        </p:spPr>
        <p:txBody>
          <a:bodyPr vert="horz" wrap="square" lIns="0" tIns="13360" rIns="0" bIns="0" rtlCol="0">
            <a:spAutoFit/>
          </a:bodyPr>
          <a:lstStyle/>
          <a:p>
            <a:pPr marL="12724">
              <a:spcBef>
                <a:spcPts val="105"/>
              </a:spcBef>
            </a:pPr>
            <a:r>
              <a:rPr sz="2805" dirty="0">
                <a:latin typeface="Cambria Math"/>
                <a:cs typeface="Cambria Math"/>
              </a:rPr>
              <a:t>𝑅</a:t>
            </a:r>
            <a:r>
              <a:rPr sz="2805" spc="90" dirty="0">
                <a:latin typeface="Cambria Math"/>
                <a:cs typeface="Cambria Math"/>
              </a:rPr>
              <a:t> </a:t>
            </a:r>
            <a:r>
              <a:rPr sz="2805" dirty="0">
                <a:latin typeface="Cambria Math"/>
                <a:cs typeface="Cambria Math"/>
              </a:rPr>
              <a:t>+</a:t>
            </a:r>
            <a:r>
              <a:rPr sz="2805" spc="-30" dirty="0">
                <a:latin typeface="Cambria Math"/>
                <a:cs typeface="Cambria Math"/>
              </a:rPr>
              <a:t> </a:t>
            </a:r>
            <a:r>
              <a:rPr sz="2805" spc="50" dirty="0">
                <a:latin typeface="Cambria Math"/>
                <a:cs typeface="Cambria Math"/>
              </a:rPr>
              <a:t>j𝜔𝐿</a:t>
            </a:r>
            <a:endParaRPr sz="2805">
              <a:latin typeface="Cambria Math"/>
              <a:cs typeface="Cambria Math"/>
            </a:endParaRPr>
          </a:p>
        </p:txBody>
      </p:sp>
      <p:sp>
        <p:nvSpPr>
          <p:cNvPr id="15" name="object 15"/>
          <p:cNvSpPr/>
          <p:nvPr/>
        </p:nvSpPr>
        <p:spPr>
          <a:xfrm>
            <a:off x="4640170" y="3957028"/>
            <a:ext cx="1246273" cy="24811"/>
          </a:xfrm>
          <a:custGeom>
            <a:avLst/>
            <a:gdLst/>
            <a:ahLst/>
            <a:cxnLst/>
            <a:rect l="l" t="t" r="r" b="b"/>
            <a:pathLst>
              <a:path w="1243964" h="24764">
                <a:moveTo>
                  <a:pt x="1243583" y="0"/>
                </a:moveTo>
                <a:lnTo>
                  <a:pt x="0" y="0"/>
                </a:lnTo>
                <a:lnTo>
                  <a:pt x="0" y="24383"/>
                </a:lnTo>
                <a:lnTo>
                  <a:pt x="1243583" y="24383"/>
                </a:lnTo>
                <a:lnTo>
                  <a:pt x="1243583" y="0"/>
                </a:lnTo>
                <a:close/>
              </a:path>
            </a:pathLst>
          </a:custGeom>
          <a:solidFill>
            <a:srgbClr val="000000"/>
          </a:solidFill>
        </p:spPr>
        <p:txBody>
          <a:bodyPr wrap="square" lIns="0" tIns="0" rIns="0" bIns="0" rtlCol="0"/>
          <a:lstStyle/>
          <a:p>
            <a:endParaRPr sz="1803"/>
          </a:p>
        </p:txBody>
      </p:sp>
      <p:sp>
        <p:nvSpPr>
          <p:cNvPr id="16" name="object 16"/>
          <p:cNvSpPr txBox="1"/>
          <p:nvPr/>
        </p:nvSpPr>
        <p:spPr>
          <a:xfrm>
            <a:off x="5968001" y="3696957"/>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17" name="object 17"/>
          <p:cNvSpPr txBox="1"/>
          <p:nvPr/>
        </p:nvSpPr>
        <p:spPr>
          <a:xfrm>
            <a:off x="6890205"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18" name="object 18"/>
          <p:cNvSpPr txBox="1"/>
          <p:nvPr/>
        </p:nvSpPr>
        <p:spPr>
          <a:xfrm>
            <a:off x="6308991" y="4100041"/>
            <a:ext cx="1362694"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1</a:t>
            </a:r>
            <a:r>
              <a:rPr sz="2805" spc="-15" dirty="0">
                <a:latin typeface="Cambria Math"/>
                <a:cs typeface="Cambria Math"/>
              </a:rPr>
              <a:t> </a:t>
            </a:r>
            <a:r>
              <a:rPr sz="2805" dirty="0">
                <a:latin typeface="Cambria Math"/>
                <a:cs typeface="Cambria Math"/>
              </a:rPr>
              <a:t>+ </a:t>
            </a:r>
            <a:r>
              <a:rPr sz="2805" spc="110" dirty="0">
                <a:latin typeface="Cambria Math"/>
                <a:cs typeface="Cambria Math"/>
              </a:rPr>
              <a:t>j𝜔</a:t>
            </a:r>
            <a:r>
              <a:rPr sz="2805" spc="75" dirty="0">
                <a:latin typeface="Cambria Math"/>
                <a:cs typeface="Cambria Math"/>
              </a:rPr>
              <a:t> </a:t>
            </a:r>
            <a:r>
              <a:rPr sz="4208" u="heavy" spc="-75" baseline="32738" dirty="0">
                <a:uFill>
                  <a:solidFill>
                    <a:srgbClr val="000000"/>
                  </a:solidFill>
                </a:uFill>
                <a:latin typeface="Cambria Math"/>
                <a:cs typeface="Cambria Math"/>
              </a:rPr>
              <a:t>𝐿</a:t>
            </a:r>
            <a:endParaRPr sz="4208" baseline="32738">
              <a:latin typeface="Cambria Math"/>
              <a:cs typeface="Cambria Math"/>
            </a:endParaRPr>
          </a:p>
        </p:txBody>
      </p:sp>
      <p:sp>
        <p:nvSpPr>
          <p:cNvPr id="19" name="object 19"/>
          <p:cNvSpPr txBox="1"/>
          <p:nvPr/>
        </p:nvSpPr>
        <p:spPr>
          <a:xfrm>
            <a:off x="7409327" y="4280205"/>
            <a:ext cx="253198"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𝑅</a:t>
            </a:r>
            <a:endParaRPr sz="2805">
              <a:latin typeface="Cambria Math"/>
              <a:cs typeface="Cambria Math"/>
            </a:endParaRPr>
          </a:p>
        </p:txBody>
      </p:sp>
      <p:sp>
        <p:nvSpPr>
          <p:cNvPr id="20" name="object 20"/>
          <p:cNvSpPr/>
          <p:nvPr/>
        </p:nvSpPr>
        <p:spPr>
          <a:xfrm>
            <a:off x="6350217" y="3957028"/>
            <a:ext cx="1313072" cy="24811"/>
          </a:xfrm>
          <a:custGeom>
            <a:avLst/>
            <a:gdLst/>
            <a:ahLst/>
            <a:cxnLst/>
            <a:rect l="l" t="t" r="r" b="b"/>
            <a:pathLst>
              <a:path w="1310639" h="24764">
                <a:moveTo>
                  <a:pt x="1310639" y="0"/>
                </a:moveTo>
                <a:lnTo>
                  <a:pt x="0" y="0"/>
                </a:lnTo>
                <a:lnTo>
                  <a:pt x="0" y="24383"/>
                </a:lnTo>
                <a:lnTo>
                  <a:pt x="1310639" y="24383"/>
                </a:lnTo>
                <a:lnTo>
                  <a:pt x="1310639" y="0"/>
                </a:lnTo>
                <a:close/>
              </a:path>
            </a:pathLst>
          </a:custGeom>
          <a:solidFill>
            <a:srgbClr val="000000"/>
          </a:solidFill>
        </p:spPr>
        <p:txBody>
          <a:bodyPr wrap="square" lIns="0" tIns="0" rIns="0" bIns="0" rtlCol="0"/>
          <a:lstStyle/>
          <a:p>
            <a:endParaRPr sz="1803"/>
          </a:p>
        </p:txBody>
      </p:sp>
      <p:sp>
        <p:nvSpPr>
          <p:cNvPr id="21" name="object 21"/>
          <p:cNvSpPr txBox="1"/>
          <p:nvPr/>
        </p:nvSpPr>
        <p:spPr>
          <a:xfrm>
            <a:off x="7433755" y="5593278"/>
            <a:ext cx="2105750" cy="391886"/>
          </a:xfrm>
          <a:prstGeom prst="rect">
            <a:avLst/>
          </a:prstGeom>
        </p:spPr>
        <p:txBody>
          <a:bodyPr vert="horz" wrap="square" lIns="0" tIns="12724" rIns="0" bIns="0" rtlCol="0">
            <a:spAutoFit/>
          </a:bodyPr>
          <a:lstStyle/>
          <a:p>
            <a:pPr marL="12724">
              <a:spcBef>
                <a:spcPts val="100"/>
              </a:spcBef>
            </a:pPr>
            <a:r>
              <a:rPr sz="2405" dirty="0">
                <a:latin typeface="Cambria Math"/>
                <a:cs typeface="Cambria Math"/>
              </a:rPr>
              <a:t>𝐿/𝑅</a:t>
            </a:r>
            <a:r>
              <a:rPr sz="2405" spc="215" dirty="0">
                <a:latin typeface="Cambria Math"/>
                <a:cs typeface="Cambria Math"/>
              </a:rPr>
              <a:t> </a:t>
            </a:r>
            <a:r>
              <a:rPr sz="2405" dirty="0">
                <a:latin typeface="Cambria Math"/>
                <a:cs typeface="Cambria Math"/>
              </a:rPr>
              <a:t>⇒</a:t>
            </a:r>
            <a:r>
              <a:rPr sz="2405" spc="175" dirty="0">
                <a:latin typeface="Cambria Math"/>
                <a:cs typeface="Cambria Math"/>
              </a:rPr>
              <a:t> </a:t>
            </a:r>
            <a:r>
              <a:rPr sz="2405" dirty="0">
                <a:latin typeface="Cambria Math"/>
                <a:cs typeface="Cambria Math"/>
              </a:rPr>
              <a:t>𝐻/Ω</a:t>
            </a:r>
            <a:r>
              <a:rPr sz="2405" spc="140" dirty="0">
                <a:latin typeface="Cambria Math"/>
                <a:cs typeface="Cambria Math"/>
              </a:rPr>
              <a:t> </a:t>
            </a:r>
            <a:r>
              <a:rPr sz="2405" dirty="0">
                <a:latin typeface="Cambria Math"/>
                <a:cs typeface="Cambria Math"/>
              </a:rPr>
              <a:t>=</a:t>
            </a:r>
            <a:r>
              <a:rPr sz="2405" spc="145" dirty="0">
                <a:latin typeface="Cambria Math"/>
                <a:cs typeface="Cambria Math"/>
              </a:rPr>
              <a:t> </a:t>
            </a:r>
            <a:r>
              <a:rPr sz="2405" spc="-50" dirty="0">
                <a:latin typeface="Cambria Math"/>
                <a:cs typeface="Cambria Math"/>
              </a:rPr>
              <a:t>𝑠</a:t>
            </a:r>
            <a:endParaRPr sz="2405">
              <a:latin typeface="Cambria Math"/>
              <a:cs typeface="Cambria Math"/>
            </a:endParaRPr>
          </a:p>
        </p:txBody>
      </p:sp>
      <p:sp>
        <p:nvSpPr>
          <p:cNvPr id="22" name="object 22"/>
          <p:cNvSpPr txBox="1"/>
          <p:nvPr/>
        </p:nvSpPr>
        <p:spPr>
          <a:xfrm>
            <a:off x="5537436" y="5620761"/>
            <a:ext cx="601824" cy="391886"/>
          </a:xfrm>
          <a:prstGeom prst="rect">
            <a:avLst/>
          </a:prstGeom>
        </p:spPr>
        <p:txBody>
          <a:bodyPr vert="horz" wrap="square" lIns="0" tIns="12724" rIns="0" bIns="0" rtlCol="0">
            <a:spAutoFit/>
          </a:bodyPr>
          <a:lstStyle/>
          <a:p>
            <a:pPr marL="12724">
              <a:spcBef>
                <a:spcPts val="100"/>
              </a:spcBef>
            </a:pPr>
            <a:r>
              <a:rPr sz="2405" dirty="0">
                <a:latin typeface="Cambria Math"/>
                <a:cs typeface="Cambria Math"/>
              </a:rPr>
              <a:t>𝜔</a:t>
            </a:r>
            <a:r>
              <a:rPr sz="2405" spc="175" dirty="0">
                <a:latin typeface="Cambria Math"/>
                <a:cs typeface="Cambria Math"/>
              </a:rPr>
              <a:t> </a:t>
            </a:r>
            <a:r>
              <a:rPr sz="2405" spc="-50" dirty="0">
                <a:latin typeface="Cambria Math"/>
                <a:cs typeface="Cambria Math"/>
              </a:rPr>
              <a:t>⇒</a:t>
            </a:r>
            <a:endParaRPr sz="2405">
              <a:latin typeface="Cambria Math"/>
              <a:cs typeface="Cambria Math"/>
            </a:endParaRPr>
          </a:p>
        </p:txBody>
      </p:sp>
      <p:sp>
        <p:nvSpPr>
          <p:cNvPr id="23" name="object 23"/>
          <p:cNvSpPr txBox="1"/>
          <p:nvPr/>
        </p:nvSpPr>
        <p:spPr>
          <a:xfrm>
            <a:off x="6197025" y="5388682"/>
            <a:ext cx="519758" cy="391886"/>
          </a:xfrm>
          <a:prstGeom prst="rect">
            <a:avLst/>
          </a:prstGeom>
        </p:spPr>
        <p:txBody>
          <a:bodyPr vert="horz" wrap="square" lIns="0" tIns="12724" rIns="0" bIns="0" rtlCol="0">
            <a:spAutoFit/>
          </a:bodyPr>
          <a:lstStyle/>
          <a:p>
            <a:pPr marL="12724">
              <a:spcBef>
                <a:spcPts val="100"/>
              </a:spcBef>
            </a:pPr>
            <a:r>
              <a:rPr sz="2405" spc="-25" dirty="0">
                <a:latin typeface="Cambria Math"/>
                <a:cs typeface="Cambria Math"/>
              </a:rPr>
              <a:t>𝑟𝑎𝑑</a:t>
            </a:r>
            <a:endParaRPr sz="2405">
              <a:latin typeface="Cambria Math"/>
              <a:cs typeface="Cambria Math"/>
            </a:endParaRPr>
          </a:p>
        </p:txBody>
      </p:sp>
      <p:sp>
        <p:nvSpPr>
          <p:cNvPr id="24" name="object 24"/>
          <p:cNvSpPr txBox="1"/>
          <p:nvPr/>
        </p:nvSpPr>
        <p:spPr>
          <a:xfrm>
            <a:off x="6374136" y="5825355"/>
            <a:ext cx="166679"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𝑠</a:t>
            </a:r>
            <a:endParaRPr sz="2405">
              <a:latin typeface="Cambria Math"/>
              <a:cs typeface="Cambria Math"/>
            </a:endParaRPr>
          </a:p>
        </p:txBody>
      </p:sp>
      <p:sp>
        <p:nvSpPr>
          <p:cNvPr id="25" name="object 25"/>
          <p:cNvSpPr/>
          <p:nvPr/>
        </p:nvSpPr>
        <p:spPr>
          <a:xfrm>
            <a:off x="6212801" y="5841132"/>
            <a:ext cx="501308" cy="21630"/>
          </a:xfrm>
          <a:custGeom>
            <a:avLst/>
            <a:gdLst/>
            <a:ahLst/>
            <a:cxnLst/>
            <a:rect l="l" t="t" r="r" b="b"/>
            <a:pathLst>
              <a:path w="500379" h="21589">
                <a:moveTo>
                  <a:pt x="499872" y="0"/>
                </a:moveTo>
                <a:lnTo>
                  <a:pt x="0" y="0"/>
                </a:lnTo>
                <a:lnTo>
                  <a:pt x="0" y="21336"/>
                </a:lnTo>
                <a:lnTo>
                  <a:pt x="499872" y="21336"/>
                </a:lnTo>
                <a:lnTo>
                  <a:pt x="499872" y="0"/>
                </a:lnTo>
                <a:close/>
              </a:path>
            </a:pathLst>
          </a:custGeom>
          <a:solidFill>
            <a:srgbClr val="000000"/>
          </a:solidFill>
        </p:spPr>
        <p:txBody>
          <a:bodyPr wrap="square" lIns="0" tIns="0" rIns="0" bIns="0" rtlCol="0"/>
          <a:lstStyle/>
          <a:p>
            <a:endParaRPr sz="1803"/>
          </a:p>
        </p:txBody>
      </p:sp>
      <p:pic>
        <p:nvPicPr>
          <p:cNvPr id="26" name="object 26"/>
          <p:cNvPicPr/>
          <p:nvPr/>
        </p:nvPicPr>
        <p:blipFill>
          <a:blip r:embed="rId2" cstate="print"/>
          <a:stretch>
            <a:fillRect/>
          </a:stretch>
        </p:blipFill>
        <p:spPr>
          <a:xfrm>
            <a:off x="1968222" y="1156825"/>
            <a:ext cx="3920893" cy="1957393"/>
          </a:xfrm>
          <a:prstGeom prst="rect">
            <a:avLst/>
          </a:prstGeom>
        </p:spPr>
      </p:pic>
    </p:spTree>
    <p:extLst>
      <p:ext uri="{BB962C8B-B14F-4D97-AF65-F5344CB8AC3E}">
        <p14:creationId xmlns:p14="http://schemas.microsoft.com/office/powerpoint/2010/main" val="3968972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762928">
              <a:spcBef>
                <a:spcPts val="90"/>
              </a:spcBef>
            </a:pPr>
            <a:r>
              <a:rPr dirty="0"/>
              <a:t>RL</a:t>
            </a:r>
            <a:r>
              <a:rPr spc="-65" dirty="0"/>
              <a:t> </a:t>
            </a:r>
            <a:r>
              <a:rPr spc="-30" dirty="0"/>
              <a:t>low-</a:t>
            </a:r>
            <a:r>
              <a:rPr dirty="0"/>
              <a:t>pass</a:t>
            </a:r>
            <a:r>
              <a:rPr spc="-35" dirty="0"/>
              <a:t> </a:t>
            </a:r>
            <a:r>
              <a:rPr dirty="0"/>
              <a:t>filter</a:t>
            </a:r>
            <a:r>
              <a:rPr spc="-65" dirty="0"/>
              <a:t> </a:t>
            </a:r>
            <a:r>
              <a:rPr spc="-25" dirty="0"/>
              <a:t>(2)</a:t>
            </a:r>
          </a:p>
        </p:txBody>
      </p:sp>
      <p:sp>
        <p:nvSpPr>
          <p:cNvPr id="3" name="object 3"/>
          <p:cNvSpPr txBox="1"/>
          <p:nvPr/>
        </p:nvSpPr>
        <p:spPr>
          <a:xfrm>
            <a:off x="6209239" y="1742618"/>
            <a:ext cx="3916312" cy="758324"/>
          </a:xfrm>
          <a:prstGeom prst="rect">
            <a:avLst/>
          </a:prstGeom>
        </p:spPr>
        <p:txBody>
          <a:bodyPr vert="horz" wrap="square" lIns="0" tIns="12724" rIns="0" bIns="0" rtlCol="0">
            <a:spAutoFit/>
          </a:bodyPr>
          <a:lstStyle/>
          <a:p>
            <a:pPr marL="12724" marR="5090">
              <a:spcBef>
                <a:spcPts val="100"/>
              </a:spcBef>
            </a:pPr>
            <a:r>
              <a:rPr sz="2405" i="1" dirty="0">
                <a:latin typeface="Arial"/>
                <a:cs typeface="Arial"/>
              </a:rPr>
              <a:t>How</a:t>
            </a:r>
            <a:r>
              <a:rPr sz="2405" i="1" spc="-50" dirty="0">
                <a:latin typeface="Arial"/>
                <a:cs typeface="Arial"/>
              </a:rPr>
              <a:t> </a:t>
            </a:r>
            <a:r>
              <a:rPr sz="2405" i="1" dirty="0">
                <a:latin typeface="Arial"/>
                <a:cs typeface="Arial"/>
              </a:rPr>
              <a:t>does</a:t>
            </a:r>
            <a:r>
              <a:rPr sz="2405" i="1" spc="-65" dirty="0">
                <a:latin typeface="Arial"/>
                <a:cs typeface="Arial"/>
              </a:rPr>
              <a:t> </a:t>
            </a:r>
            <a:r>
              <a:rPr sz="2405" i="1" dirty="0">
                <a:latin typeface="Arial"/>
                <a:cs typeface="Arial"/>
              </a:rPr>
              <a:t>this</a:t>
            </a:r>
            <a:r>
              <a:rPr sz="2405" i="1" spc="-65" dirty="0">
                <a:latin typeface="Arial"/>
                <a:cs typeface="Arial"/>
              </a:rPr>
              <a:t> </a:t>
            </a:r>
            <a:r>
              <a:rPr sz="2405" i="1" dirty="0">
                <a:latin typeface="Arial"/>
                <a:cs typeface="Arial"/>
              </a:rPr>
              <a:t>circuit</a:t>
            </a:r>
            <a:r>
              <a:rPr sz="2405" i="1" spc="-35" dirty="0">
                <a:latin typeface="Arial"/>
                <a:cs typeface="Arial"/>
              </a:rPr>
              <a:t> </a:t>
            </a:r>
            <a:r>
              <a:rPr sz="2405" i="1" spc="-10" dirty="0">
                <a:latin typeface="Arial"/>
                <a:cs typeface="Arial"/>
              </a:rPr>
              <a:t>behave </a:t>
            </a:r>
            <a:r>
              <a:rPr sz="2405" i="1" dirty="0">
                <a:latin typeface="Arial"/>
                <a:cs typeface="Arial"/>
              </a:rPr>
              <a:t>for</a:t>
            </a:r>
            <a:r>
              <a:rPr sz="2405" i="1" spc="-90" dirty="0">
                <a:latin typeface="Arial"/>
                <a:cs typeface="Arial"/>
              </a:rPr>
              <a:t> </a:t>
            </a:r>
            <a:r>
              <a:rPr sz="2405" b="1" i="1" dirty="0">
                <a:latin typeface="Arial"/>
                <a:cs typeface="Arial"/>
              </a:rPr>
              <a:t>different</a:t>
            </a:r>
            <a:r>
              <a:rPr sz="2405" b="1" i="1" spc="-75" dirty="0">
                <a:latin typeface="Arial"/>
                <a:cs typeface="Arial"/>
              </a:rPr>
              <a:t> </a:t>
            </a:r>
            <a:r>
              <a:rPr sz="2405" b="1" i="1" spc="-10" dirty="0">
                <a:latin typeface="Arial"/>
                <a:cs typeface="Arial"/>
              </a:rPr>
              <a:t>frequencies</a:t>
            </a:r>
            <a:r>
              <a:rPr sz="2405" i="1" spc="-10" dirty="0">
                <a:latin typeface="Arial"/>
                <a:cs typeface="Arial"/>
              </a:rPr>
              <a:t>?</a:t>
            </a:r>
            <a:endParaRPr sz="2405">
              <a:latin typeface="Arial"/>
              <a:cs typeface="Arial"/>
            </a:endParaRPr>
          </a:p>
        </p:txBody>
      </p:sp>
      <p:pic>
        <p:nvPicPr>
          <p:cNvPr id="4" name="object 4"/>
          <p:cNvPicPr/>
          <p:nvPr/>
        </p:nvPicPr>
        <p:blipFill>
          <a:blip r:embed="rId2" cstate="print"/>
          <a:stretch>
            <a:fillRect/>
          </a:stretch>
        </p:blipFill>
        <p:spPr>
          <a:xfrm>
            <a:off x="1968222" y="1156825"/>
            <a:ext cx="3920893" cy="1957393"/>
          </a:xfrm>
          <a:prstGeom prst="rect">
            <a:avLst/>
          </a:prstGeom>
        </p:spPr>
      </p:pic>
      <p:sp>
        <p:nvSpPr>
          <p:cNvPr id="5" name="object 5"/>
          <p:cNvSpPr/>
          <p:nvPr/>
        </p:nvSpPr>
        <p:spPr>
          <a:xfrm>
            <a:off x="1946846" y="3569213"/>
            <a:ext cx="739239" cy="18449"/>
          </a:xfrm>
          <a:custGeom>
            <a:avLst/>
            <a:gdLst/>
            <a:ahLst/>
            <a:cxnLst/>
            <a:rect l="l" t="t" r="r" b="b"/>
            <a:pathLst>
              <a:path w="737869" h="18414">
                <a:moveTo>
                  <a:pt x="737616" y="0"/>
                </a:moveTo>
                <a:lnTo>
                  <a:pt x="0" y="0"/>
                </a:lnTo>
                <a:lnTo>
                  <a:pt x="0" y="18287"/>
                </a:lnTo>
                <a:lnTo>
                  <a:pt x="737616" y="18287"/>
                </a:lnTo>
                <a:lnTo>
                  <a:pt x="737616" y="0"/>
                </a:lnTo>
                <a:close/>
              </a:path>
            </a:pathLst>
          </a:custGeom>
          <a:solidFill>
            <a:srgbClr val="000000"/>
          </a:solidFill>
        </p:spPr>
        <p:txBody>
          <a:bodyPr wrap="square" lIns="0" tIns="0" rIns="0" bIns="0" rtlCol="0"/>
          <a:lstStyle/>
          <a:p>
            <a:endParaRPr sz="1803"/>
          </a:p>
        </p:txBody>
      </p:sp>
      <p:sp>
        <p:nvSpPr>
          <p:cNvPr id="6" name="object 6"/>
          <p:cNvSpPr txBox="1"/>
          <p:nvPr/>
        </p:nvSpPr>
        <p:spPr>
          <a:xfrm>
            <a:off x="1905620" y="3498470"/>
            <a:ext cx="1183291" cy="454231"/>
          </a:xfrm>
          <a:prstGeom prst="rect">
            <a:avLst/>
          </a:prstGeom>
        </p:spPr>
        <p:txBody>
          <a:bodyPr vert="horz" wrap="square" lIns="0" tIns="13360" rIns="0" bIns="0" rtlCol="0">
            <a:spAutoFit/>
          </a:bodyPr>
          <a:lstStyle/>
          <a:p>
            <a:pPr marL="38172">
              <a:spcBef>
                <a:spcPts val="105"/>
              </a:spcBef>
            </a:pPr>
            <a:r>
              <a:rPr sz="4208" spc="120" baseline="11904" dirty="0">
                <a:latin typeface="Cambria Math"/>
                <a:cs typeface="Cambria Math"/>
              </a:rPr>
              <a:t>𝑣</a:t>
            </a:r>
            <a:r>
              <a:rPr sz="2054" spc="80" dirty="0">
                <a:latin typeface="Cambria Math"/>
                <a:cs typeface="Cambria Math"/>
              </a:rPr>
              <a:t>0𝑈𝑇</a:t>
            </a:r>
            <a:r>
              <a:rPr sz="2054" spc="496" dirty="0">
                <a:latin typeface="Cambria Math"/>
                <a:cs typeface="Cambria Math"/>
              </a:rPr>
              <a:t> </a:t>
            </a:r>
            <a:r>
              <a:rPr sz="4208" spc="-75" baseline="-30753" dirty="0">
                <a:latin typeface="Cambria Math"/>
                <a:cs typeface="Cambria Math"/>
              </a:rPr>
              <a:t>=</a:t>
            </a:r>
            <a:endParaRPr sz="4208" baseline="-30753">
              <a:latin typeface="Cambria Math"/>
              <a:cs typeface="Cambria Math"/>
            </a:endParaRPr>
          </a:p>
        </p:txBody>
      </p:sp>
      <p:sp>
        <p:nvSpPr>
          <p:cNvPr id="7" name="object 7"/>
          <p:cNvSpPr txBox="1"/>
          <p:nvPr/>
        </p:nvSpPr>
        <p:spPr>
          <a:xfrm>
            <a:off x="2021660" y="4008431"/>
            <a:ext cx="566199" cy="454231"/>
          </a:xfrm>
          <a:prstGeom prst="rect">
            <a:avLst/>
          </a:prstGeom>
        </p:spPr>
        <p:txBody>
          <a:bodyPr vert="horz" wrap="square" lIns="0" tIns="13360" rIns="0" bIns="0" rtlCol="0">
            <a:spAutoFit/>
          </a:bodyPr>
          <a:lstStyle/>
          <a:p>
            <a:pPr marL="38172">
              <a:spcBef>
                <a:spcPts val="105"/>
              </a:spcBef>
            </a:pPr>
            <a:r>
              <a:rPr sz="4208" spc="-37" baseline="11904" dirty="0">
                <a:latin typeface="Cambria Math"/>
                <a:cs typeface="Cambria Math"/>
              </a:rPr>
              <a:t>𝑣</a:t>
            </a:r>
            <a:r>
              <a:rPr sz="2054" spc="-25" dirty="0">
                <a:latin typeface="Cambria Math"/>
                <a:cs typeface="Cambria Math"/>
              </a:rPr>
              <a:t>𝐼𝑁</a:t>
            </a:r>
            <a:endParaRPr sz="2054">
              <a:latin typeface="Cambria Math"/>
              <a:cs typeface="Cambria Math"/>
            </a:endParaRPr>
          </a:p>
        </p:txBody>
      </p:sp>
      <p:sp>
        <p:nvSpPr>
          <p:cNvPr id="8" name="object 8"/>
          <p:cNvSpPr/>
          <p:nvPr/>
        </p:nvSpPr>
        <p:spPr>
          <a:xfrm>
            <a:off x="2062885" y="4079175"/>
            <a:ext cx="510215" cy="18449"/>
          </a:xfrm>
          <a:custGeom>
            <a:avLst/>
            <a:gdLst/>
            <a:ahLst/>
            <a:cxnLst/>
            <a:rect l="l" t="t" r="r" b="b"/>
            <a:pathLst>
              <a:path w="509269" h="18414">
                <a:moveTo>
                  <a:pt x="509015" y="0"/>
                </a:moveTo>
                <a:lnTo>
                  <a:pt x="0" y="0"/>
                </a:lnTo>
                <a:lnTo>
                  <a:pt x="0" y="18287"/>
                </a:lnTo>
                <a:lnTo>
                  <a:pt x="509015" y="18287"/>
                </a:lnTo>
                <a:lnTo>
                  <a:pt x="509015" y="0"/>
                </a:lnTo>
                <a:close/>
              </a:path>
            </a:pathLst>
          </a:custGeom>
          <a:solidFill>
            <a:srgbClr val="000000"/>
          </a:solidFill>
        </p:spPr>
        <p:txBody>
          <a:bodyPr wrap="square" lIns="0" tIns="0" rIns="0" bIns="0" rtlCol="0"/>
          <a:lstStyle/>
          <a:p>
            <a:endParaRPr sz="1803"/>
          </a:p>
        </p:txBody>
      </p:sp>
      <p:sp>
        <p:nvSpPr>
          <p:cNvPr id="9" name="object 9"/>
          <p:cNvSpPr/>
          <p:nvPr/>
        </p:nvSpPr>
        <p:spPr>
          <a:xfrm>
            <a:off x="1946847" y="3957028"/>
            <a:ext cx="742420" cy="24811"/>
          </a:xfrm>
          <a:custGeom>
            <a:avLst/>
            <a:gdLst/>
            <a:ahLst/>
            <a:cxnLst/>
            <a:rect l="l" t="t" r="r" b="b"/>
            <a:pathLst>
              <a:path w="741044" h="24764">
                <a:moveTo>
                  <a:pt x="740664" y="0"/>
                </a:moveTo>
                <a:lnTo>
                  <a:pt x="0" y="0"/>
                </a:lnTo>
                <a:lnTo>
                  <a:pt x="0" y="24383"/>
                </a:lnTo>
                <a:lnTo>
                  <a:pt x="740664" y="24383"/>
                </a:lnTo>
                <a:lnTo>
                  <a:pt x="740664" y="0"/>
                </a:lnTo>
                <a:close/>
              </a:path>
            </a:pathLst>
          </a:custGeom>
          <a:solidFill>
            <a:srgbClr val="000000"/>
          </a:solidFill>
        </p:spPr>
        <p:txBody>
          <a:bodyPr wrap="square" lIns="0" tIns="0" rIns="0" bIns="0" rtlCol="0"/>
          <a:lstStyle/>
          <a:p>
            <a:endParaRPr sz="1803"/>
          </a:p>
        </p:txBody>
      </p:sp>
      <p:sp>
        <p:nvSpPr>
          <p:cNvPr id="10" name="object 10"/>
          <p:cNvSpPr txBox="1"/>
          <p:nvPr/>
        </p:nvSpPr>
        <p:spPr>
          <a:xfrm>
            <a:off x="3689974"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11" name="object 11"/>
          <p:cNvSpPr txBox="1"/>
          <p:nvPr/>
        </p:nvSpPr>
        <p:spPr>
          <a:xfrm>
            <a:off x="3108763" y="4100041"/>
            <a:ext cx="1365874"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1</a:t>
            </a:r>
            <a:r>
              <a:rPr sz="2805" spc="10" dirty="0">
                <a:latin typeface="Cambria Math"/>
                <a:cs typeface="Cambria Math"/>
              </a:rPr>
              <a:t> </a:t>
            </a:r>
            <a:r>
              <a:rPr sz="2805" dirty="0">
                <a:latin typeface="Cambria Math"/>
                <a:cs typeface="Cambria Math"/>
              </a:rPr>
              <a:t>+</a:t>
            </a:r>
            <a:r>
              <a:rPr sz="2805" spc="-25" dirty="0">
                <a:latin typeface="Cambria Math"/>
                <a:cs typeface="Cambria Math"/>
              </a:rPr>
              <a:t> </a:t>
            </a:r>
            <a:r>
              <a:rPr sz="2805" spc="110" dirty="0">
                <a:latin typeface="Cambria Math"/>
                <a:cs typeface="Cambria Math"/>
              </a:rPr>
              <a:t>j𝜔</a:t>
            </a:r>
            <a:r>
              <a:rPr sz="2805" spc="100" dirty="0">
                <a:latin typeface="Cambria Math"/>
                <a:cs typeface="Cambria Math"/>
              </a:rPr>
              <a:t> </a:t>
            </a:r>
            <a:r>
              <a:rPr sz="4208" u="heavy" spc="-75" baseline="32738" dirty="0">
                <a:uFill>
                  <a:solidFill>
                    <a:srgbClr val="000000"/>
                  </a:solidFill>
                </a:uFill>
                <a:latin typeface="Cambria Math"/>
                <a:cs typeface="Cambria Math"/>
              </a:rPr>
              <a:t>𝐿</a:t>
            </a:r>
            <a:endParaRPr sz="4208" baseline="32738">
              <a:latin typeface="Cambria Math"/>
              <a:cs typeface="Cambria Math"/>
            </a:endParaRPr>
          </a:p>
        </p:txBody>
      </p:sp>
      <p:sp>
        <p:nvSpPr>
          <p:cNvPr id="12" name="object 12"/>
          <p:cNvSpPr txBox="1"/>
          <p:nvPr/>
        </p:nvSpPr>
        <p:spPr>
          <a:xfrm>
            <a:off x="4212150" y="4280205"/>
            <a:ext cx="253198"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𝑅</a:t>
            </a:r>
            <a:endParaRPr sz="2805">
              <a:latin typeface="Cambria Math"/>
              <a:cs typeface="Cambria Math"/>
            </a:endParaRPr>
          </a:p>
        </p:txBody>
      </p:sp>
      <p:sp>
        <p:nvSpPr>
          <p:cNvPr id="13" name="object 13"/>
          <p:cNvSpPr/>
          <p:nvPr/>
        </p:nvSpPr>
        <p:spPr>
          <a:xfrm>
            <a:off x="3149985" y="3957028"/>
            <a:ext cx="1313072" cy="24811"/>
          </a:xfrm>
          <a:custGeom>
            <a:avLst/>
            <a:gdLst/>
            <a:ahLst/>
            <a:cxnLst/>
            <a:rect l="l" t="t" r="r" b="b"/>
            <a:pathLst>
              <a:path w="1310639" h="24764">
                <a:moveTo>
                  <a:pt x="1310640" y="0"/>
                </a:moveTo>
                <a:lnTo>
                  <a:pt x="0" y="0"/>
                </a:lnTo>
                <a:lnTo>
                  <a:pt x="0" y="24383"/>
                </a:lnTo>
                <a:lnTo>
                  <a:pt x="1310640" y="24383"/>
                </a:lnTo>
                <a:lnTo>
                  <a:pt x="1310640" y="0"/>
                </a:lnTo>
                <a:close/>
              </a:path>
            </a:pathLst>
          </a:custGeom>
          <a:solidFill>
            <a:srgbClr val="000000"/>
          </a:solidFill>
        </p:spPr>
        <p:txBody>
          <a:bodyPr wrap="square" lIns="0" tIns="0" rIns="0" bIns="0" rtlCol="0"/>
          <a:lstStyle/>
          <a:p>
            <a:endParaRPr sz="1803"/>
          </a:p>
        </p:txBody>
      </p:sp>
      <p:sp>
        <p:nvSpPr>
          <p:cNvPr id="14" name="object 14"/>
          <p:cNvSpPr txBox="1"/>
          <p:nvPr/>
        </p:nvSpPr>
        <p:spPr>
          <a:xfrm>
            <a:off x="4548050" y="3696957"/>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15" name="object 15"/>
          <p:cNvSpPr txBox="1"/>
          <p:nvPr/>
        </p:nvSpPr>
        <p:spPr>
          <a:xfrm>
            <a:off x="5439719"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16" name="object 16"/>
          <p:cNvSpPr txBox="1"/>
          <p:nvPr/>
        </p:nvSpPr>
        <p:spPr>
          <a:xfrm>
            <a:off x="4885989" y="4032859"/>
            <a:ext cx="1337883"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1</a:t>
            </a:r>
            <a:r>
              <a:rPr sz="2805" spc="10" dirty="0">
                <a:latin typeface="Cambria Math"/>
                <a:cs typeface="Cambria Math"/>
              </a:rPr>
              <a:t> </a:t>
            </a:r>
            <a:r>
              <a:rPr sz="2805" dirty="0">
                <a:latin typeface="Cambria Math"/>
                <a:cs typeface="Cambria Math"/>
              </a:rPr>
              <a:t>+</a:t>
            </a:r>
            <a:r>
              <a:rPr sz="2805" spc="-5" dirty="0">
                <a:latin typeface="Cambria Math"/>
                <a:cs typeface="Cambria Math"/>
              </a:rPr>
              <a:t> </a:t>
            </a:r>
            <a:r>
              <a:rPr sz="2805" spc="254" dirty="0">
                <a:latin typeface="Cambria Math"/>
                <a:cs typeface="Cambria Math"/>
              </a:rPr>
              <a:t>j</a:t>
            </a:r>
            <a:r>
              <a:rPr sz="2805" spc="-90" dirty="0">
                <a:latin typeface="Cambria Math"/>
                <a:cs typeface="Cambria Math"/>
              </a:rPr>
              <a:t> </a:t>
            </a:r>
            <a:r>
              <a:rPr sz="4208" u="heavy" spc="-44" baseline="32738" dirty="0">
                <a:uFill>
                  <a:solidFill>
                    <a:srgbClr val="000000"/>
                  </a:solidFill>
                </a:uFill>
                <a:latin typeface="Cambria Math"/>
                <a:cs typeface="Cambria Math"/>
              </a:rPr>
              <a:t> </a:t>
            </a:r>
            <a:r>
              <a:rPr sz="4208" u="heavy" spc="-75" baseline="32738" dirty="0">
                <a:uFill>
                  <a:solidFill>
                    <a:srgbClr val="000000"/>
                  </a:solidFill>
                </a:uFill>
                <a:latin typeface="Cambria Math"/>
                <a:cs typeface="Cambria Math"/>
              </a:rPr>
              <a:t>𝜔</a:t>
            </a:r>
            <a:r>
              <a:rPr sz="4208" u="heavy" spc="1052" baseline="32738" dirty="0">
                <a:uFill>
                  <a:solidFill>
                    <a:srgbClr val="000000"/>
                  </a:solidFill>
                </a:uFill>
                <a:latin typeface="Cambria Math"/>
                <a:cs typeface="Cambria Math"/>
              </a:rPr>
              <a:t> </a:t>
            </a:r>
            <a:endParaRPr sz="4208" baseline="32738">
              <a:latin typeface="Cambria Math"/>
              <a:cs typeface="Cambria Math"/>
            </a:endParaRPr>
          </a:p>
        </p:txBody>
      </p:sp>
      <p:sp>
        <p:nvSpPr>
          <p:cNvPr id="17" name="object 17"/>
          <p:cNvSpPr txBox="1"/>
          <p:nvPr/>
        </p:nvSpPr>
        <p:spPr>
          <a:xfrm>
            <a:off x="5701316" y="4213025"/>
            <a:ext cx="493673" cy="454231"/>
          </a:xfrm>
          <a:prstGeom prst="rect">
            <a:avLst/>
          </a:prstGeom>
        </p:spPr>
        <p:txBody>
          <a:bodyPr vert="horz" wrap="square" lIns="0" tIns="13360" rIns="0" bIns="0" rtlCol="0">
            <a:spAutoFit/>
          </a:bodyPr>
          <a:lstStyle/>
          <a:p>
            <a:pPr marL="38172">
              <a:spcBef>
                <a:spcPts val="105"/>
              </a:spcBef>
            </a:pPr>
            <a:r>
              <a:rPr sz="2805" spc="-25" dirty="0">
                <a:latin typeface="Cambria Math"/>
                <a:cs typeface="Cambria Math"/>
              </a:rPr>
              <a:t>𝜔</a:t>
            </a:r>
            <a:r>
              <a:rPr sz="3081" spc="-37" baseline="-16260" dirty="0">
                <a:latin typeface="Cambria Math"/>
                <a:cs typeface="Cambria Math"/>
              </a:rPr>
              <a:t>𝐶</a:t>
            </a:r>
            <a:endParaRPr sz="3081" baseline="-16260">
              <a:latin typeface="Cambria Math"/>
              <a:cs typeface="Cambria Math"/>
            </a:endParaRPr>
          </a:p>
        </p:txBody>
      </p:sp>
      <p:sp>
        <p:nvSpPr>
          <p:cNvPr id="18" name="object 18"/>
          <p:cNvSpPr/>
          <p:nvPr/>
        </p:nvSpPr>
        <p:spPr>
          <a:xfrm>
            <a:off x="4927214" y="3957028"/>
            <a:ext cx="1258360" cy="24811"/>
          </a:xfrm>
          <a:custGeom>
            <a:avLst/>
            <a:gdLst/>
            <a:ahLst/>
            <a:cxnLst/>
            <a:rect l="l" t="t" r="r" b="b"/>
            <a:pathLst>
              <a:path w="1256029" h="24764">
                <a:moveTo>
                  <a:pt x="1255776" y="0"/>
                </a:moveTo>
                <a:lnTo>
                  <a:pt x="0" y="0"/>
                </a:lnTo>
                <a:lnTo>
                  <a:pt x="0" y="24383"/>
                </a:lnTo>
                <a:lnTo>
                  <a:pt x="1255776" y="24383"/>
                </a:lnTo>
                <a:lnTo>
                  <a:pt x="1255776" y="0"/>
                </a:lnTo>
                <a:close/>
              </a:path>
            </a:pathLst>
          </a:custGeom>
          <a:solidFill>
            <a:srgbClr val="000000"/>
          </a:solidFill>
        </p:spPr>
        <p:txBody>
          <a:bodyPr wrap="square" lIns="0" tIns="0" rIns="0" bIns="0" rtlCol="0"/>
          <a:lstStyle/>
          <a:p>
            <a:endParaRPr sz="1803"/>
          </a:p>
        </p:txBody>
      </p:sp>
      <p:sp>
        <p:nvSpPr>
          <p:cNvPr id="19" name="object 19"/>
          <p:cNvSpPr txBox="1"/>
          <p:nvPr/>
        </p:nvSpPr>
        <p:spPr>
          <a:xfrm>
            <a:off x="6270313" y="3696957"/>
            <a:ext cx="292642"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a:t>
            </a:r>
            <a:endParaRPr sz="2805">
              <a:latin typeface="Cambria Math"/>
              <a:cs typeface="Cambria Math"/>
            </a:endParaRPr>
          </a:p>
        </p:txBody>
      </p:sp>
      <p:sp>
        <p:nvSpPr>
          <p:cNvPr id="20" name="object 20"/>
          <p:cNvSpPr txBox="1"/>
          <p:nvPr/>
        </p:nvSpPr>
        <p:spPr>
          <a:xfrm>
            <a:off x="7103961" y="3425183"/>
            <a:ext cx="223299" cy="454231"/>
          </a:xfrm>
          <a:prstGeom prst="rect">
            <a:avLst/>
          </a:prstGeom>
        </p:spPr>
        <p:txBody>
          <a:bodyPr vert="horz" wrap="square" lIns="0" tIns="13360" rIns="0" bIns="0" rtlCol="0">
            <a:spAutoFit/>
          </a:bodyPr>
          <a:lstStyle/>
          <a:p>
            <a:pPr marL="12724">
              <a:spcBef>
                <a:spcPts val="105"/>
              </a:spcBef>
            </a:pPr>
            <a:r>
              <a:rPr sz="2805" spc="-50" dirty="0">
                <a:latin typeface="Cambria Math"/>
                <a:cs typeface="Cambria Math"/>
              </a:rPr>
              <a:t>1</a:t>
            </a:r>
            <a:endParaRPr sz="2805">
              <a:latin typeface="Cambria Math"/>
              <a:cs typeface="Cambria Math"/>
            </a:endParaRPr>
          </a:p>
        </p:txBody>
      </p:sp>
      <p:sp>
        <p:nvSpPr>
          <p:cNvPr id="21" name="object 21"/>
          <p:cNvSpPr txBox="1"/>
          <p:nvPr/>
        </p:nvSpPr>
        <p:spPr>
          <a:xfrm>
            <a:off x="6608251" y="4118362"/>
            <a:ext cx="1218917" cy="454231"/>
          </a:xfrm>
          <a:prstGeom prst="rect">
            <a:avLst/>
          </a:prstGeom>
        </p:spPr>
        <p:txBody>
          <a:bodyPr vert="horz" wrap="square" lIns="0" tIns="13360" rIns="0" bIns="0" rtlCol="0">
            <a:spAutoFit/>
          </a:bodyPr>
          <a:lstStyle/>
          <a:p>
            <a:pPr marL="38172">
              <a:spcBef>
                <a:spcPts val="105"/>
              </a:spcBef>
            </a:pPr>
            <a:r>
              <a:rPr sz="2805" dirty="0">
                <a:latin typeface="Cambria Math"/>
                <a:cs typeface="Cambria Math"/>
              </a:rPr>
              <a:t>1</a:t>
            </a:r>
            <a:r>
              <a:rPr sz="2805" spc="10" dirty="0">
                <a:latin typeface="Cambria Math"/>
                <a:cs typeface="Cambria Math"/>
              </a:rPr>
              <a:t> </a:t>
            </a:r>
            <a:r>
              <a:rPr sz="2805" dirty="0">
                <a:latin typeface="Cambria Math"/>
                <a:cs typeface="Cambria Math"/>
              </a:rPr>
              <a:t>+</a:t>
            </a:r>
            <a:r>
              <a:rPr sz="2805" spc="-30" dirty="0">
                <a:latin typeface="Cambria Math"/>
                <a:cs typeface="Cambria Math"/>
              </a:rPr>
              <a:t> </a:t>
            </a:r>
            <a:r>
              <a:rPr sz="2805" spc="254" dirty="0">
                <a:latin typeface="Cambria Math"/>
                <a:cs typeface="Cambria Math"/>
              </a:rPr>
              <a:t>j</a:t>
            </a:r>
            <a:r>
              <a:rPr sz="2805" spc="-70" dirty="0">
                <a:latin typeface="Cambria Math"/>
                <a:cs typeface="Cambria Math"/>
              </a:rPr>
              <a:t> </a:t>
            </a:r>
            <a:r>
              <a:rPr sz="4208" u="heavy" spc="-406" baseline="33730" dirty="0">
                <a:uFill>
                  <a:solidFill>
                    <a:srgbClr val="000000"/>
                  </a:solidFill>
                </a:uFill>
                <a:latin typeface="Cambria Math"/>
                <a:cs typeface="Cambria Math"/>
              </a:rPr>
              <a:t> </a:t>
            </a:r>
            <a:r>
              <a:rPr sz="4208" u="heavy" spc="-75" baseline="33730" dirty="0">
                <a:uFill>
                  <a:solidFill>
                    <a:srgbClr val="000000"/>
                  </a:solidFill>
                </a:uFill>
                <a:latin typeface="Cambria Math"/>
                <a:cs typeface="Cambria Math"/>
              </a:rPr>
              <a:t>𝑓</a:t>
            </a:r>
            <a:r>
              <a:rPr sz="4208" u="heavy" spc="1052" baseline="33730" dirty="0">
                <a:uFill>
                  <a:solidFill>
                    <a:srgbClr val="000000"/>
                  </a:solidFill>
                </a:uFill>
                <a:latin typeface="Cambria Math"/>
                <a:cs typeface="Cambria Math"/>
              </a:rPr>
              <a:t> </a:t>
            </a:r>
            <a:endParaRPr sz="4208" baseline="33730">
              <a:latin typeface="Cambria Math"/>
              <a:cs typeface="Cambria Math"/>
            </a:endParaRPr>
          </a:p>
        </p:txBody>
      </p:sp>
      <p:sp>
        <p:nvSpPr>
          <p:cNvPr id="22" name="object 22"/>
          <p:cNvSpPr txBox="1"/>
          <p:nvPr/>
        </p:nvSpPr>
        <p:spPr>
          <a:xfrm>
            <a:off x="7423576" y="4301582"/>
            <a:ext cx="374709" cy="454231"/>
          </a:xfrm>
          <a:prstGeom prst="rect">
            <a:avLst/>
          </a:prstGeom>
        </p:spPr>
        <p:txBody>
          <a:bodyPr vert="horz" wrap="square" lIns="0" tIns="13360" rIns="0" bIns="0" rtlCol="0">
            <a:spAutoFit/>
          </a:bodyPr>
          <a:lstStyle/>
          <a:p>
            <a:pPr marL="38172">
              <a:spcBef>
                <a:spcPts val="105"/>
              </a:spcBef>
            </a:pPr>
            <a:r>
              <a:rPr sz="2805" spc="-90" dirty="0">
                <a:latin typeface="Cambria Math"/>
                <a:cs typeface="Cambria Math"/>
              </a:rPr>
              <a:t>𝑓</a:t>
            </a:r>
            <a:r>
              <a:rPr sz="3081" spc="-135" baseline="-16260" dirty="0">
                <a:latin typeface="Cambria Math"/>
                <a:cs typeface="Cambria Math"/>
              </a:rPr>
              <a:t>𝐶</a:t>
            </a:r>
            <a:endParaRPr sz="3081" baseline="-16260">
              <a:latin typeface="Cambria Math"/>
              <a:cs typeface="Cambria Math"/>
            </a:endParaRPr>
          </a:p>
        </p:txBody>
      </p:sp>
      <p:sp>
        <p:nvSpPr>
          <p:cNvPr id="23" name="object 23"/>
          <p:cNvSpPr/>
          <p:nvPr/>
        </p:nvSpPr>
        <p:spPr>
          <a:xfrm>
            <a:off x="6649475" y="3957028"/>
            <a:ext cx="1139395" cy="24811"/>
          </a:xfrm>
          <a:custGeom>
            <a:avLst/>
            <a:gdLst/>
            <a:ahLst/>
            <a:cxnLst/>
            <a:rect l="l" t="t" r="r" b="b"/>
            <a:pathLst>
              <a:path w="1137285" h="24764">
                <a:moveTo>
                  <a:pt x="1136903" y="0"/>
                </a:moveTo>
                <a:lnTo>
                  <a:pt x="0" y="0"/>
                </a:lnTo>
                <a:lnTo>
                  <a:pt x="0" y="24383"/>
                </a:lnTo>
                <a:lnTo>
                  <a:pt x="1136903" y="24383"/>
                </a:lnTo>
                <a:lnTo>
                  <a:pt x="1136903" y="0"/>
                </a:lnTo>
                <a:close/>
              </a:path>
            </a:pathLst>
          </a:custGeom>
          <a:solidFill>
            <a:srgbClr val="000000"/>
          </a:solidFill>
        </p:spPr>
        <p:txBody>
          <a:bodyPr wrap="square" lIns="0" tIns="0" rIns="0" bIns="0" rtlCol="0"/>
          <a:lstStyle/>
          <a:p>
            <a:endParaRPr sz="1803"/>
          </a:p>
        </p:txBody>
      </p:sp>
      <p:sp>
        <p:nvSpPr>
          <p:cNvPr id="24" name="object 24"/>
          <p:cNvSpPr txBox="1"/>
          <p:nvPr/>
        </p:nvSpPr>
        <p:spPr>
          <a:xfrm>
            <a:off x="4599963" y="5519990"/>
            <a:ext cx="160953" cy="293278"/>
          </a:xfrm>
          <a:prstGeom prst="rect">
            <a:avLst/>
          </a:prstGeom>
        </p:spPr>
        <p:txBody>
          <a:bodyPr vert="horz" wrap="square" lIns="0" tIns="12724" rIns="0" bIns="0" rtlCol="0">
            <a:spAutoFit/>
          </a:bodyPr>
          <a:lstStyle/>
          <a:p>
            <a:pPr marL="12724">
              <a:spcBef>
                <a:spcPts val="100"/>
              </a:spcBef>
            </a:pPr>
            <a:r>
              <a:rPr sz="1753" spc="-50" dirty="0">
                <a:latin typeface="Cambria Math"/>
                <a:cs typeface="Cambria Math"/>
              </a:rPr>
              <a:t>𝐶</a:t>
            </a:r>
            <a:endParaRPr sz="1753">
              <a:latin typeface="Cambria Math"/>
              <a:cs typeface="Cambria Math"/>
            </a:endParaRPr>
          </a:p>
        </p:txBody>
      </p:sp>
      <p:sp>
        <p:nvSpPr>
          <p:cNvPr id="25" name="object 25"/>
          <p:cNvSpPr txBox="1"/>
          <p:nvPr/>
        </p:nvSpPr>
        <p:spPr>
          <a:xfrm>
            <a:off x="5167942" y="5581063"/>
            <a:ext cx="188309"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𝐿</a:t>
            </a:r>
            <a:endParaRPr sz="2405">
              <a:latin typeface="Cambria Math"/>
              <a:cs typeface="Cambria Math"/>
            </a:endParaRPr>
          </a:p>
        </p:txBody>
      </p:sp>
      <p:sp>
        <p:nvSpPr>
          <p:cNvPr id="26" name="object 26"/>
          <p:cNvSpPr/>
          <p:nvPr/>
        </p:nvSpPr>
        <p:spPr>
          <a:xfrm>
            <a:off x="5168452" y="5221749"/>
            <a:ext cx="1157844" cy="772320"/>
          </a:xfrm>
          <a:custGeom>
            <a:avLst/>
            <a:gdLst/>
            <a:ahLst/>
            <a:cxnLst/>
            <a:rect l="l" t="t" r="r" b="b"/>
            <a:pathLst>
              <a:path w="1155700" h="770889">
                <a:moveTo>
                  <a:pt x="201168" y="374396"/>
                </a:moveTo>
                <a:lnTo>
                  <a:pt x="0" y="374396"/>
                </a:lnTo>
                <a:lnTo>
                  <a:pt x="0" y="395732"/>
                </a:lnTo>
                <a:lnTo>
                  <a:pt x="201168" y="395732"/>
                </a:lnTo>
                <a:lnTo>
                  <a:pt x="201168" y="374396"/>
                </a:lnTo>
                <a:close/>
              </a:path>
              <a:path w="1155700" h="770889">
                <a:moveTo>
                  <a:pt x="563880" y="0"/>
                </a:moveTo>
                <a:lnTo>
                  <a:pt x="487680" y="0"/>
                </a:lnTo>
                <a:lnTo>
                  <a:pt x="487680" y="15240"/>
                </a:lnTo>
                <a:lnTo>
                  <a:pt x="487680" y="755650"/>
                </a:lnTo>
                <a:lnTo>
                  <a:pt x="487680" y="770890"/>
                </a:lnTo>
                <a:lnTo>
                  <a:pt x="563880" y="770890"/>
                </a:lnTo>
                <a:lnTo>
                  <a:pt x="563880" y="755650"/>
                </a:lnTo>
                <a:lnTo>
                  <a:pt x="515112" y="755650"/>
                </a:lnTo>
                <a:lnTo>
                  <a:pt x="515112" y="15240"/>
                </a:lnTo>
                <a:lnTo>
                  <a:pt x="563880" y="15240"/>
                </a:lnTo>
                <a:lnTo>
                  <a:pt x="563880" y="0"/>
                </a:lnTo>
                <a:close/>
              </a:path>
              <a:path w="1155700" h="770889">
                <a:moveTo>
                  <a:pt x="1155192" y="0"/>
                </a:moveTo>
                <a:lnTo>
                  <a:pt x="1078992" y="0"/>
                </a:lnTo>
                <a:lnTo>
                  <a:pt x="1078992" y="15240"/>
                </a:lnTo>
                <a:lnTo>
                  <a:pt x="1124712" y="15240"/>
                </a:lnTo>
                <a:lnTo>
                  <a:pt x="1124712" y="755650"/>
                </a:lnTo>
                <a:lnTo>
                  <a:pt x="1078992" y="755650"/>
                </a:lnTo>
                <a:lnTo>
                  <a:pt x="1078992" y="770890"/>
                </a:lnTo>
                <a:lnTo>
                  <a:pt x="1155192" y="770890"/>
                </a:lnTo>
                <a:lnTo>
                  <a:pt x="1155192" y="755650"/>
                </a:lnTo>
                <a:lnTo>
                  <a:pt x="1155192" y="15240"/>
                </a:lnTo>
                <a:lnTo>
                  <a:pt x="1155192" y="0"/>
                </a:lnTo>
                <a:close/>
              </a:path>
            </a:pathLst>
          </a:custGeom>
          <a:solidFill>
            <a:srgbClr val="000000"/>
          </a:solidFill>
        </p:spPr>
        <p:txBody>
          <a:bodyPr wrap="square" lIns="0" tIns="0" rIns="0" bIns="0" rtlCol="0"/>
          <a:lstStyle/>
          <a:p>
            <a:endParaRPr sz="1803"/>
          </a:p>
        </p:txBody>
      </p:sp>
      <p:sp>
        <p:nvSpPr>
          <p:cNvPr id="27" name="object 27"/>
          <p:cNvSpPr txBox="1"/>
          <p:nvPr/>
        </p:nvSpPr>
        <p:spPr>
          <a:xfrm>
            <a:off x="4377046" y="5144391"/>
            <a:ext cx="1866546" cy="624091"/>
          </a:xfrm>
          <a:prstGeom prst="rect">
            <a:avLst/>
          </a:prstGeom>
        </p:spPr>
        <p:txBody>
          <a:bodyPr vert="horz" wrap="square" lIns="0" tIns="12724" rIns="0" bIns="0" rtlCol="0">
            <a:spAutoFit/>
          </a:bodyPr>
          <a:lstStyle/>
          <a:p>
            <a:pPr marL="788260">
              <a:lnSpc>
                <a:spcPts val="2354"/>
              </a:lnSpc>
              <a:spcBef>
                <a:spcPts val="100"/>
              </a:spcBef>
              <a:tabLst>
                <a:tab pos="1358937" algn="l"/>
              </a:tabLst>
            </a:pPr>
            <a:r>
              <a:rPr sz="2405" spc="-50" dirty="0">
                <a:latin typeface="Cambria Math"/>
                <a:cs typeface="Cambria Math"/>
              </a:rPr>
              <a:t>𝑅</a:t>
            </a:r>
            <a:r>
              <a:rPr sz="2405" dirty="0">
                <a:latin typeface="Cambria Math"/>
                <a:cs typeface="Cambria Math"/>
              </a:rPr>
              <a:t>	</a:t>
            </a:r>
            <a:r>
              <a:rPr sz="2405" spc="-25" dirty="0">
                <a:latin typeface="Cambria Math"/>
                <a:cs typeface="Cambria Math"/>
              </a:rPr>
              <a:t>𝑟𝑎𝑑</a:t>
            </a:r>
            <a:endParaRPr sz="2405">
              <a:latin typeface="Cambria Math"/>
              <a:cs typeface="Cambria Math"/>
            </a:endParaRPr>
          </a:p>
          <a:p>
            <a:pPr marL="12724">
              <a:lnSpc>
                <a:spcPts val="2354"/>
              </a:lnSpc>
              <a:tabLst>
                <a:tab pos="476519" algn="l"/>
              </a:tabLst>
            </a:pPr>
            <a:r>
              <a:rPr sz="2405" spc="-50" dirty="0">
                <a:latin typeface="Cambria Math"/>
                <a:cs typeface="Cambria Math"/>
              </a:rPr>
              <a:t>𝜔</a:t>
            </a:r>
            <a:r>
              <a:rPr sz="2405" dirty="0">
                <a:latin typeface="Cambria Math"/>
                <a:cs typeface="Cambria Math"/>
              </a:rPr>
              <a:t>	</a:t>
            </a:r>
            <a:r>
              <a:rPr sz="2405" spc="-50" dirty="0">
                <a:latin typeface="Cambria Math"/>
                <a:cs typeface="Cambria Math"/>
              </a:rPr>
              <a:t>=</a:t>
            </a:r>
            <a:endParaRPr sz="2405">
              <a:latin typeface="Cambria Math"/>
              <a:cs typeface="Cambria Math"/>
            </a:endParaRPr>
          </a:p>
        </p:txBody>
      </p:sp>
      <p:sp>
        <p:nvSpPr>
          <p:cNvPr id="28" name="object 28"/>
          <p:cNvSpPr txBox="1"/>
          <p:nvPr/>
        </p:nvSpPr>
        <p:spPr>
          <a:xfrm>
            <a:off x="5900820" y="5581063"/>
            <a:ext cx="166679"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𝑠</a:t>
            </a:r>
            <a:endParaRPr sz="2405">
              <a:latin typeface="Cambria Math"/>
              <a:cs typeface="Cambria Math"/>
            </a:endParaRPr>
          </a:p>
        </p:txBody>
      </p:sp>
      <p:sp>
        <p:nvSpPr>
          <p:cNvPr id="29" name="object 29"/>
          <p:cNvSpPr/>
          <p:nvPr/>
        </p:nvSpPr>
        <p:spPr>
          <a:xfrm>
            <a:off x="5739486" y="5596841"/>
            <a:ext cx="501308" cy="21630"/>
          </a:xfrm>
          <a:custGeom>
            <a:avLst/>
            <a:gdLst/>
            <a:ahLst/>
            <a:cxnLst/>
            <a:rect l="l" t="t" r="r" b="b"/>
            <a:pathLst>
              <a:path w="500379" h="21589">
                <a:moveTo>
                  <a:pt x="499872" y="0"/>
                </a:moveTo>
                <a:lnTo>
                  <a:pt x="0" y="0"/>
                </a:lnTo>
                <a:lnTo>
                  <a:pt x="0" y="21336"/>
                </a:lnTo>
                <a:lnTo>
                  <a:pt x="499872" y="21336"/>
                </a:lnTo>
                <a:lnTo>
                  <a:pt x="499872" y="0"/>
                </a:lnTo>
                <a:close/>
              </a:path>
            </a:pathLst>
          </a:custGeom>
          <a:solidFill>
            <a:srgbClr val="000000"/>
          </a:solidFill>
        </p:spPr>
        <p:txBody>
          <a:bodyPr wrap="square" lIns="0" tIns="0" rIns="0" bIns="0" rtlCol="0"/>
          <a:lstStyle/>
          <a:p>
            <a:endParaRPr sz="1803"/>
          </a:p>
        </p:txBody>
      </p:sp>
      <p:sp>
        <p:nvSpPr>
          <p:cNvPr id="30" name="object 30"/>
          <p:cNvSpPr txBox="1"/>
          <p:nvPr/>
        </p:nvSpPr>
        <p:spPr>
          <a:xfrm>
            <a:off x="7232214" y="5547474"/>
            <a:ext cx="160953" cy="293278"/>
          </a:xfrm>
          <a:prstGeom prst="rect">
            <a:avLst/>
          </a:prstGeom>
        </p:spPr>
        <p:txBody>
          <a:bodyPr vert="horz" wrap="square" lIns="0" tIns="12724" rIns="0" bIns="0" rtlCol="0">
            <a:spAutoFit/>
          </a:bodyPr>
          <a:lstStyle/>
          <a:p>
            <a:pPr marL="12724">
              <a:spcBef>
                <a:spcPts val="100"/>
              </a:spcBef>
            </a:pPr>
            <a:r>
              <a:rPr sz="1753" spc="-50" dirty="0">
                <a:latin typeface="Cambria Math"/>
                <a:cs typeface="Cambria Math"/>
              </a:rPr>
              <a:t>𝐶</a:t>
            </a:r>
            <a:endParaRPr sz="1753">
              <a:latin typeface="Cambria Math"/>
              <a:cs typeface="Cambria Math"/>
            </a:endParaRPr>
          </a:p>
        </p:txBody>
      </p:sp>
      <p:sp>
        <p:nvSpPr>
          <p:cNvPr id="31" name="object 31"/>
          <p:cNvSpPr/>
          <p:nvPr/>
        </p:nvSpPr>
        <p:spPr>
          <a:xfrm>
            <a:off x="7803757" y="5627376"/>
            <a:ext cx="379162" cy="21630"/>
          </a:xfrm>
          <a:custGeom>
            <a:avLst/>
            <a:gdLst/>
            <a:ahLst/>
            <a:cxnLst/>
            <a:rect l="l" t="t" r="r" b="b"/>
            <a:pathLst>
              <a:path w="378459" h="21589">
                <a:moveTo>
                  <a:pt x="377951" y="0"/>
                </a:moveTo>
                <a:lnTo>
                  <a:pt x="0" y="0"/>
                </a:lnTo>
                <a:lnTo>
                  <a:pt x="0" y="21336"/>
                </a:lnTo>
                <a:lnTo>
                  <a:pt x="377951" y="21336"/>
                </a:lnTo>
                <a:lnTo>
                  <a:pt x="377951" y="0"/>
                </a:lnTo>
                <a:close/>
              </a:path>
            </a:pathLst>
          </a:custGeom>
          <a:solidFill>
            <a:srgbClr val="000000"/>
          </a:solidFill>
        </p:spPr>
        <p:txBody>
          <a:bodyPr wrap="square" lIns="0" tIns="0" rIns="0" bIns="0" rtlCol="0"/>
          <a:lstStyle/>
          <a:p>
            <a:endParaRPr sz="1803"/>
          </a:p>
        </p:txBody>
      </p:sp>
      <p:sp>
        <p:nvSpPr>
          <p:cNvPr id="32" name="object 32"/>
          <p:cNvSpPr txBox="1"/>
          <p:nvPr/>
        </p:nvSpPr>
        <p:spPr>
          <a:xfrm>
            <a:off x="7074951" y="5171874"/>
            <a:ext cx="1893266" cy="624091"/>
          </a:xfrm>
          <a:prstGeom prst="rect">
            <a:avLst/>
          </a:prstGeom>
        </p:spPr>
        <p:txBody>
          <a:bodyPr vert="horz" wrap="square" lIns="0" tIns="12724" rIns="0" bIns="0" rtlCol="0">
            <a:spAutoFit/>
          </a:bodyPr>
          <a:lstStyle/>
          <a:p>
            <a:pPr marL="725275">
              <a:lnSpc>
                <a:spcPts val="2354"/>
              </a:lnSpc>
              <a:spcBef>
                <a:spcPts val="100"/>
              </a:spcBef>
              <a:tabLst>
                <a:tab pos="1659862" algn="l"/>
              </a:tabLst>
            </a:pPr>
            <a:r>
              <a:rPr sz="2405" spc="-25" dirty="0">
                <a:latin typeface="Cambria Math"/>
                <a:cs typeface="Cambria Math"/>
              </a:rPr>
              <a:t>𝜔</a:t>
            </a:r>
            <a:r>
              <a:rPr sz="2630" spc="-37" baseline="-15873" dirty="0">
                <a:latin typeface="Cambria Math"/>
                <a:cs typeface="Cambria Math"/>
              </a:rPr>
              <a:t>𝐶</a:t>
            </a:r>
            <a:r>
              <a:rPr sz="2630" baseline="-15873" dirty="0">
                <a:latin typeface="Cambria Math"/>
                <a:cs typeface="Cambria Math"/>
              </a:rPr>
              <a:t>	</a:t>
            </a:r>
            <a:r>
              <a:rPr sz="2405" spc="-50" dirty="0">
                <a:latin typeface="Cambria Math"/>
                <a:cs typeface="Cambria Math"/>
              </a:rPr>
              <a:t>𝑅</a:t>
            </a:r>
            <a:endParaRPr sz="2405">
              <a:latin typeface="Cambria Math"/>
              <a:cs typeface="Cambria Math"/>
            </a:endParaRPr>
          </a:p>
          <a:p>
            <a:pPr marL="50897">
              <a:lnSpc>
                <a:spcPts val="2354"/>
              </a:lnSpc>
              <a:tabLst>
                <a:tab pos="414169" algn="l"/>
                <a:tab pos="1189706" algn="l"/>
              </a:tabLst>
            </a:pPr>
            <a:r>
              <a:rPr sz="2405" spc="-50" dirty="0">
                <a:latin typeface="Cambria Math"/>
                <a:cs typeface="Cambria Math"/>
              </a:rPr>
              <a:t>𝑓</a:t>
            </a:r>
            <a:r>
              <a:rPr sz="2405" dirty="0">
                <a:latin typeface="Cambria Math"/>
                <a:cs typeface="Cambria Math"/>
              </a:rPr>
              <a:t>	</a:t>
            </a:r>
            <a:r>
              <a:rPr sz="2405" spc="-50" dirty="0">
                <a:latin typeface="Cambria Math"/>
                <a:cs typeface="Cambria Math"/>
              </a:rPr>
              <a:t>=</a:t>
            </a:r>
            <a:r>
              <a:rPr sz="2405" dirty="0">
                <a:latin typeface="Cambria Math"/>
                <a:cs typeface="Cambria Math"/>
              </a:rPr>
              <a:t>	</a:t>
            </a:r>
            <a:r>
              <a:rPr sz="2405" spc="-50" dirty="0">
                <a:latin typeface="Cambria Math"/>
                <a:cs typeface="Cambria Math"/>
              </a:rPr>
              <a:t>=</a:t>
            </a:r>
            <a:endParaRPr sz="2405">
              <a:latin typeface="Cambria Math"/>
              <a:cs typeface="Cambria Math"/>
            </a:endParaRPr>
          </a:p>
        </p:txBody>
      </p:sp>
      <p:sp>
        <p:nvSpPr>
          <p:cNvPr id="33" name="object 33"/>
          <p:cNvSpPr txBox="1"/>
          <p:nvPr/>
        </p:nvSpPr>
        <p:spPr>
          <a:xfrm>
            <a:off x="7797140" y="5608545"/>
            <a:ext cx="1302893" cy="391886"/>
          </a:xfrm>
          <a:prstGeom prst="rect">
            <a:avLst/>
          </a:prstGeom>
        </p:spPr>
        <p:txBody>
          <a:bodyPr vert="horz" wrap="square" lIns="0" tIns="12724" rIns="0" bIns="0" rtlCol="0">
            <a:spAutoFit/>
          </a:bodyPr>
          <a:lstStyle/>
          <a:p>
            <a:pPr marL="12724">
              <a:spcBef>
                <a:spcPts val="100"/>
              </a:spcBef>
              <a:tabLst>
                <a:tab pos="778717" algn="l"/>
              </a:tabLst>
            </a:pPr>
            <a:r>
              <a:rPr sz="2405" spc="-25" dirty="0">
                <a:latin typeface="Cambria Math"/>
                <a:cs typeface="Cambria Math"/>
              </a:rPr>
              <a:t>2𝜋</a:t>
            </a:r>
            <a:r>
              <a:rPr sz="2405" dirty="0">
                <a:latin typeface="Cambria Math"/>
                <a:cs typeface="Cambria Math"/>
              </a:rPr>
              <a:t>	</a:t>
            </a:r>
            <a:r>
              <a:rPr sz="2405" spc="-25" dirty="0">
                <a:latin typeface="Cambria Math"/>
                <a:cs typeface="Cambria Math"/>
              </a:rPr>
              <a:t>2𝜋𝐿</a:t>
            </a:r>
            <a:endParaRPr sz="2405">
              <a:latin typeface="Cambria Math"/>
              <a:cs typeface="Cambria Math"/>
            </a:endParaRPr>
          </a:p>
        </p:txBody>
      </p:sp>
      <p:sp>
        <p:nvSpPr>
          <p:cNvPr id="34" name="object 34"/>
          <p:cNvSpPr/>
          <p:nvPr/>
        </p:nvSpPr>
        <p:spPr>
          <a:xfrm>
            <a:off x="8579385" y="5496579"/>
            <a:ext cx="1328340" cy="283735"/>
          </a:xfrm>
          <a:custGeom>
            <a:avLst/>
            <a:gdLst/>
            <a:ahLst/>
            <a:cxnLst/>
            <a:rect l="l" t="t" r="r" b="b"/>
            <a:pathLst>
              <a:path w="1325879" h="283210">
                <a:moveTo>
                  <a:pt x="518147" y="130556"/>
                </a:moveTo>
                <a:lnTo>
                  <a:pt x="0" y="130556"/>
                </a:lnTo>
                <a:lnTo>
                  <a:pt x="0" y="151892"/>
                </a:lnTo>
                <a:lnTo>
                  <a:pt x="518147" y="151892"/>
                </a:lnTo>
                <a:lnTo>
                  <a:pt x="518147" y="130556"/>
                </a:lnTo>
                <a:close/>
              </a:path>
              <a:path w="1325879" h="283210">
                <a:moveTo>
                  <a:pt x="871728" y="0"/>
                </a:moveTo>
                <a:lnTo>
                  <a:pt x="804672" y="0"/>
                </a:lnTo>
                <a:lnTo>
                  <a:pt x="804672" y="11430"/>
                </a:lnTo>
                <a:lnTo>
                  <a:pt x="804672" y="270510"/>
                </a:lnTo>
                <a:lnTo>
                  <a:pt x="804672" y="283210"/>
                </a:lnTo>
                <a:lnTo>
                  <a:pt x="871728" y="283210"/>
                </a:lnTo>
                <a:lnTo>
                  <a:pt x="871728" y="270510"/>
                </a:lnTo>
                <a:lnTo>
                  <a:pt x="829056" y="270510"/>
                </a:lnTo>
                <a:lnTo>
                  <a:pt x="829056" y="11430"/>
                </a:lnTo>
                <a:lnTo>
                  <a:pt x="871728" y="11430"/>
                </a:lnTo>
                <a:lnTo>
                  <a:pt x="871728" y="0"/>
                </a:lnTo>
                <a:close/>
              </a:path>
              <a:path w="1325879" h="283210">
                <a:moveTo>
                  <a:pt x="1325880" y="0"/>
                </a:moveTo>
                <a:lnTo>
                  <a:pt x="1258824" y="0"/>
                </a:lnTo>
                <a:lnTo>
                  <a:pt x="1258824" y="11430"/>
                </a:lnTo>
                <a:lnTo>
                  <a:pt x="1301496" y="11430"/>
                </a:lnTo>
                <a:lnTo>
                  <a:pt x="1301496" y="270510"/>
                </a:lnTo>
                <a:lnTo>
                  <a:pt x="1258824" y="270510"/>
                </a:lnTo>
                <a:lnTo>
                  <a:pt x="1258824" y="283210"/>
                </a:lnTo>
                <a:lnTo>
                  <a:pt x="1325880" y="283210"/>
                </a:lnTo>
                <a:lnTo>
                  <a:pt x="1325880" y="270510"/>
                </a:lnTo>
                <a:lnTo>
                  <a:pt x="1325880" y="11430"/>
                </a:lnTo>
                <a:lnTo>
                  <a:pt x="1325880" y="0"/>
                </a:lnTo>
                <a:close/>
              </a:path>
            </a:pathLst>
          </a:custGeom>
          <a:solidFill>
            <a:srgbClr val="000000"/>
          </a:solidFill>
        </p:spPr>
        <p:txBody>
          <a:bodyPr wrap="square" lIns="0" tIns="0" rIns="0" bIns="0" rtlCol="0"/>
          <a:lstStyle/>
          <a:p>
            <a:endParaRPr sz="1803"/>
          </a:p>
        </p:txBody>
      </p:sp>
      <p:sp>
        <p:nvSpPr>
          <p:cNvPr id="35" name="object 35"/>
          <p:cNvSpPr txBox="1"/>
          <p:nvPr/>
        </p:nvSpPr>
        <p:spPr>
          <a:xfrm>
            <a:off x="9443060" y="5403951"/>
            <a:ext cx="396339" cy="391886"/>
          </a:xfrm>
          <a:prstGeom prst="rect">
            <a:avLst/>
          </a:prstGeom>
        </p:spPr>
        <p:txBody>
          <a:bodyPr vert="horz" wrap="square" lIns="0" tIns="12724" rIns="0" bIns="0" rtlCol="0">
            <a:spAutoFit/>
          </a:bodyPr>
          <a:lstStyle/>
          <a:p>
            <a:pPr marL="12724">
              <a:spcBef>
                <a:spcPts val="100"/>
              </a:spcBef>
            </a:pPr>
            <a:r>
              <a:rPr sz="2405" spc="-25" dirty="0">
                <a:latin typeface="Cambria Math"/>
                <a:cs typeface="Cambria Math"/>
              </a:rPr>
              <a:t>𝐻𝑧</a:t>
            </a:r>
            <a:endParaRPr sz="2405">
              <a:latin typeface="Cambria Math"/>
              <a:cs typeface="Cambria Math"/>
            </a:endParaRPr>
          </a:p>
        </p:txBody>
      </p:sp>
      <p:sp>
        <p:nvSpPr>
          <p:cNvPr id="36" name="object 36"/>
          <p:cNvSpPr/>
          <p:nvPr/>
        </p:nvSpPr>
        <p:spPr>
          <a:xfrm>
            <a:off x="1733091" y="5031914"/>
            <a:ext cx="8507610" cy="1221462"/>
          </a:xfrm>
          <a:custGeom>
            <a:avLst/>
            <a:gdLst/>
            <a:ahLst/>
            <a:cxnLst/>
            <a:rect l="l" t="t" r="r" b="b"/>
            <a:pathLst>
              <a:path w="8491855" h="1219200">
                <a:moveTo>
                  <a:pt x="0" y="85343"/>
                </a:moveTo>
                <a:lnTo>
                  <a:pt x="6905" y="52720"/>
                </a:lnTo>
                <a:lnTo>
                  <a:pt x="25526" y="25526"/>
                </a:lnTo>
                <a:lnTo>
                  <a:pt x="52720" y="6905"/>
                </a:lnTo>
                <a:lnTo>
                  <a:pt x="85344" y="0"/>
                </a:lnTo>
                <a:lnTo>
                  <a:pt x="8403336" y="0"/>
                </a:lnTo>
                <a:lnTo>
                  <a:pt x="8437721" y="6905"/>
                </a:lnTo>
                <a:lnTo>
                  <a:pt x="8465819" y="25526"/>
                </a:lnTo>
                <a:lnTo>
                  <a:pt x="8484774" y="52720"/>
                </a:lnTo>
                <a:lnTo>
                  <a:pt x="8491728" y="85343"/>
                </a:lnTo>
                <a:lnTo>
                  <a:pt x="8491728" y="1130808"/>
                </a:lnTo>
                <a:lnTo>
                  <a:pt x="8484774" y="1165193"/>
                </a:lnTo>
                <a:lnTo>
                  <a:pt x="8465820" y="1193291"/>
                </a:lnTo>
                <a:lnTo>
                  <a:pt x="8437721" y="1212246"/>
                </a:lnTo>
                <a:lnTo>
                  <a:pt x="8403336" y="1219199"/>
                </a:lnTo>
                <a:lnTo>
                  <a:pt x="85344" y="1219199"/>
                </a:lnTo>
                <a:lnTo>
                  <a:pt x="52720" y="1212246"/>
                </a:lnTo>
                <a:lnTo>
                  <a:pt x="25526" y="1193291"/>
                </a:lnTo>
                <a:lnTo>
                  <a:pt x="6905" y="1165193"/>
                </a:lnTo>
                <a:lnTo>
                  <a:pt x="0" y="1130808"/>
                </a:lnTo>
                <a:lnTo>
                  <a:pt x="0" y="85343"/>
                </a:lnTo>
                <a:close/>
              </a:path>
            </a:pathLst>
          </a:custGeom>
          <a:ln w="24382">
            <a:solidFill>
              <a:srgbClr val="BF0000"/>
            </a:solidFill>
          </a:ln>
        </p:spPr>
        <p:txBody>
          <a:bodyPr wrap="square" lIns="0" tIns="0" rIns="0" bIns="0" rtlCol="0"/>
          <a:lstStyle/>
          <a:p>
            <a:endParaRPr sz="1803"/>
          </a:p>
        </p:txBody>
      </p:sp>
      <p:sp>
        <p:nvSpPr>
          <p:cNvPr id="37" name="object 37"/>
          <p:cNvSpPr txBox="1"/>
          <p:nvPr/>
        </p:nvSpPr>
        <p:spPr>
          <a:xfrm>
            <a:off x="2251703" y="5174928"/>
            <a:ext cx="746873" cy="624091"/>
          </a:xfrm>
          <a:prstGeom prst="rect">
            <a:avLst/>
          </a:prstGeom>
        </p:spPr>
        <p:txBody>
          <a:bodyPr vert="horz" wrap="square" lIns="0" tIns="12724" rIns="0" bIns="0" rtlCol="0">
            <a:spAutoFit/>
          </a:bodyPr>
          <a:lstStyle/>
          <a:p>
            <a:pPr marL="571313">
              <a:lnSpc>
                <a:spcPts val="2354"/>
              </a:lnSpc>
              <a:spcBef>
                <a:spcPts val="100"/>
              </a:spcBef>
            </a:pPr>
            <a:r>
              <a:rPr sz="2405" spc="-50" dirty="0">
                <a:latin typeface="Cambria Math"/>
                <a:cs typeface="Cambria Math"/>
              </a:rPr>
              <a:t>𝐿</a:t>
            </a:r>
            <a:endParaRPr sz="2405">
              <a:latin typeface="Cambria Math"/>
              <a:cs typeface="Cambria Math"/>
            </a:endParaRPr>
          </a:p>
          <a:p>
            <a:pPr marL="12724">
              <a:lnSpc>
                <a:spcPts val="2354"/>
              </a:lnSpc>
            </a:pPr>
            <a:r>
              <a:rPr sz="2405" dirty="0">
                <a:latin typeface="Cambria Math"/>
                <a:cs typeface="Cambria Math"/>
              </a:rPr>
              <a:t>𝜏</a:t>
            </a:r>
            <a:r>
              <a:rPr sz="2405" spc="195" dirty="0">
                <a:latin typeface="Cambria Math"/>
                <a:cs typeface="Cambria Math"/>
              </a:rPr>
              <a:t> </a:t>
            </a:r>
            <a:r>
              <a:rPr sz="2405" spc="-50" dirty="0">
                <a:latin typeface="Cambria Math"/>
                <a:cs typeface="Cambria Math"/>
              </a:rPr>
              <a:t>=</a:t>
            </a:r>
            <a:endParaRPr sz="2405">
              <a:latin typeface="Cambria Math"/>
              <a:cs typeface="Cambria Math"/>
            </a:endParaRPr>
          </a:p>
        </p:txBody>
      </p:sp>
      <p:sp>
        <p:nvSpPr>
          <p:cNvPr id="38" name="object 38"/>
          <p:cNvSpPr txBox="1"/>
          <p:nvPr/>
        </p:nvSpPr>
        <p:spPr>
          <a:xfrm>
            <a:off x="2795253" y="5611601"/>
            <a:ext cx="220118"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𝑅</a:t>
            </a:r>
            <a:endParaRPr sz="2405">
              <a:latin typeface="Cambria Math"/>
              <a:cs typeface="Cambria Math"/>
            </a:endParaRPr>
          </a:p>
        </p:txBody>
      </p:sp>
      <p:sp>
        <p:nvSpPr>
          <p:cNvPr id="39" name="object 39"/>
          <p:cNvSpPr/>
          <p:nvPr/>
        </p:nvSpPr>
        <p:spPr>
          <a:xfrm>
            <a:off x="2811031" y="5499123"/>
            <a:ext cx="781863" cy="283735"/>
          </a:xfrm>
          <a:custGeom>
            <a:avLst/>
            <a:gdLst/>
            <a:ahLst/>
            <a:cxnLst/>
            <a:rect l="l" t="t" r="r" b="b"/>
            <a:pathLst>
              <a:path w="780414" h="283210">
                <a:moveTo>
                  <a:pt x="201168" y="128016"/>
                </a:moveTo>
                <a:lnTo>
                  <a:pt x="0" y="128016"/>
                </a:lnTo>
                <a:lnTo>
                  <a:pt x="0" y="149352"/>
                </a:lnTo>
                <a:lnTo>
                  <a:pt x="201168" y="149352"/>
                </a:lnTo>
                <a:lnTo>
                  <a:pt x="201168" y="128016"/>
                </a:lnTo>
                <a:close/>
              </a:path>
              <a:path w="780414" h="283210">
                <a:moveTo>
                  <a:pt x="554736" y="0"/>
                </a:moveTo>
                <a:lnTo>
                  <a:pt x="487680" y="0"/>
                </a:lnTo>
                <a:lnTo>
                  <a:pt x="487680" y="8890"/>
                </a:lnTo>
                <a:lnTo>
                  <a:pt x="487680" y="271780"/>
                </a:lnTo>
                <a:lnTo>
                  <a:pt x="487680" y="283210"/>
                </a:lnTo>
                <a:lnTo>
                  <a:pt x="554736" y="283210"/>
                </a:lnTo>
                <a:lnTo>
                  <a:pt x="554736" y="271780"/>
                </a:lnTo>
                <a:lnTo>
                  <a:pt x="512064" y="271780"/>
                </a:lnTo>
                <a:lnTo>
                  <a:pt x="512064" y="8890"/>
                </a:lnTo>
                <a:lnTo>
                  <a:pt x="554736" y="8890"/>
                </a:lnTo>
                <a:lnTo>
                  <a:pt x="554736" y="0"/>
                </a:lnTo>
                <a:close/>
              </a:path>
              <a:path w="780414" h="283210">
                <a:moveTo>
                  <a:pt x="780288" y="0"/>
                </a:moveTo>
                <a:lnTo>
                  <a:pt x="713232" y="0"/>
                </a:lnTo>
                <a:lnTo>
                  <a:pt x="713232" y="8890"/>
                </a:lnTo>
                <a:lnTo>
                  <a:pt x="755904" y="8890"/>
                </a:lnTo>
                <a:lnTo>
                  <a:pt x="755904" y="271780"/>
                </a:lnTo>
                <a:lnTo>
                  <a:pt x="713232" y="271780"/>
                </a:lnTo>
                <a:lnTo>
                  <a:pt x="713232" y="283210"/>
                </a:lnTo>
                <a:lnTo>
                  <a:pt x="780288" y="283210"/>
                </a:lnTo>
                <a:lnTo>
                  <a:pt x="780288" y="271780"/>
                </a:lnTo>
                <a:lnTo>
                  <a:pt x="780288" y="8890"/>
                </a:lnTo>
                <a:lnTo>
                  <a:pt x="780288" y="0"/>
                </a:lnTo>
                <a:close/>
              </a:path>
            </a:pathLst>
          </a:custGeom>
          <a:solidFill>
            <a:srgbClr val="000000"/>
          </a:solidFill>
        </p:spPr>
        <p:txBody>
          <a:bodyPr wrap="square" lIns="0" tIns="0" rIns="0" bIns="0" rtlCol="0"/>
          <a:lstStyle/>
          <a:p>
            <a:endParaRPr sz="1803"/>
          </a:p>
        </p:txBody>
      </p:sp>
      <p:sp>
        <p:nvSpPr>
          <p:cNvPr id="40" name="object 40"/>
          <p:cNvSpPr txBox="1"/>
          <p:nvPr/>
        </p:nvSpPr>
        <p:spPr>
          <a:xfrm>
            <a:off x="3357126" y="5407004"/>
            <a:ext cx="166679" cy="391886"/>
          </a:xfrm>
          <a:prstGeom prst="rect">
            <a:avLst/>
          </a:prstGeom>
        </p:spPr>
        <p:txBody>
          <a:bodyPr vert="horz" wrap="square" lIns="0" tIns="12724" rIns="0" bIns="0" rtlCol="0">
            <a:spAutoFit/>
          </a:bodyPr>
          <a:lstStyle/>
          <a:p>
            <a:pPr marL="12724">
              <a:spcBef>
                <a:spcPts val="100"/>
              </a:spcBef>
            </a:pPr>
            <a:r>
              <a:rPr sz="2405" spc="-50" dirty="0">
                <a:latin typeface="Cambria Math"/>
                <a:cs typeface="Cambria Math"/>
              </a:rPr>
              <a:t>𝑠</a:t>
            </a:r>
            <a:endParaRPr sz="2405">
              <a:latin typeface="Cambria Math"/>
              <a:cs typeface="Cambria Math"/>
            </a:endParaRPr>
          </a:p>
        </p:txBody>
      </p:sp>
    </p:spTree>
    <p:extLst>
      <p:ext uri="{BB962C8B-B14F-4D97-AF65-F5344CB8AC3E}">
        <p14:creationId xmlns:p14="http://schemas.microsoft.com/office/powerpoint/2010/main" val="3947588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106363">
              <a:spcBef>
                <a:spcPts val="90"/>
              </a:spcBef>
            </a:pPr>
            <a:r>
              <a:rPr spc="-30" dirty="0"/>
              <a:t>low-</a:t>
            </a:r>
            <a:r>
              <a:rPr dirty="0"/>
              <a:t>pass</a:t>
            </a:r>
            <a:r>
              <a:rPr spc="-55" dirty="0"/>
              <a:t> </a:t>
            </a:r>
            <a:r>
              <a:rPr dirty="0"/>
              <a:t>filter:</a:t>
            </a:r>
            <a:r>
              <a:rPr spc="-85" dirty="0"/>
              <a:t> </a:t>
            </a:r>
            <a:r>
              <a:rPr spc="-10" dirty="0"/>
              <a:t>magnitude</a:t>
            </a:r>
          </a:p>
        </p:txBody>
      </p:sp>
      <p:grpSp>
        <p:nvGrpSpPr>
          <p:cNvPr id="3" name="object 3"/>
          <p:cNvGrpSpPr/>
          <p:nvPr/>
        </p:nvGrpSpPr>
        <p:grpSpPr>
          <a:xfrm>
            <a:off x="2136173" y="2744727"/>
            <a:ext cx="6018881" cy="3823430"/>
            <a:chOff x="600455" y="2739644"/>
            <a:chExt cx="6007735" cy="3816350"/>
          </a:xfrm>
        </p:grpSpPr>
        <p:pic>
          <p:nvPicPr>
            <p:cNvPr id="4" name="object 4"/>
            <p:cNvPicPr/>
            <p:nvPr/>
          </p:nvPicPr>
          <p:blipFill>
            <a:blip r:embed="rId2" cstate="print"/>
            <a:stretch>
              <a:fillRect/>
            </a:stretch>
          </p:blipFill>
          <p:spPr>
            <a:xfrm>
              <a:off x="600455" y="2739644"/>
              <a:ext cx="6007608" cy="3648455"/>
            </a:xfrm>
            <a:prstGeom prst="rect">
              <a:avLst/>
            </a:prstGeom>
          </p:spPr>
        </p:pic>
        <p:sp>
          <p:nvSpPr>
            <p:cNvPr id="5" name="object 5"/>
            <p:cNvSpPr/>
            <p:nvPr/>
          </p:nvSpPr>
          <p:spPr>
            <a:xfrm>
              <a:off x="1505711" y="6092445"/>
              <a:ext cx="4724400" cy="463550"/>
            </a:xfrm>
            <a:custGeom>
              <a:avLst/>
              <a:gdLst/>
              <a:ahLst/>
              <a:cxnLst/>
              <a:rect l="l" t="t" r="r" b="b"/>
              <a:pathLst>
                <a:path w="4724400" h="463550">
                  <a:moveTo>
                    <a:pt x="4724400" y="0"/>
                  </a:moveTo>
                  <a:lnTo>
                    <a:pt x="0" y="0"/>
                  </a:lnTo>
                  <a:lnTo>
                    <a:pt x="0" y="463294"/>
                  </a:lnTo>
                  <a:lnTo>
                    <a:pt x="4724400" y="463294"/>
                  </a:lnTo>
                  <a:lnTo>
                    <a:pt x="4724400" y="0"/>
                  </a:lnTo>
                  <a:close/>
                </a:path>
              </a:pathLst>
            </a:custGeom>
            <a:solidFill>
              <a:srgbClr val="FFFFFF"/>
            </a:solidFill>
          </p:spPr>
          <p:txBody>
            <a:bodyPr wrap="square" lIns="0" tIns="0" rIns="0" bIns="0" rtlCol="0"/>
            <a:lstStyle/>
            <a:p>
              <a:endParaRPr sz="1803"/>
            </a:p>
          </p:txBody>
        </p:sp>
        <p:sp>
          <p:nvSpPr>
            <p:cNvPr id="6" name="object 6"/>
            <p:cNvSpPr/>
            <p:nvPr/>
          </p:nvSpPr>
          <p:spPr>
            <a:xfrm>
              <a:off x="1048512" y="3654043"/>
              <a:ext cx="1752600" cy="2209800"/>
            </a:xfrm>
            <a:custGeom>
              <a:avLst/>
              <a:gdLst/>
              <a:ahLst/>
              <a:cxnLst/>
              <a:rect l="l" t="t" r="r" b="b"/>
              <a:pathLst>
                <a:path w="1752600" h="2209800">
                  <a:moveTo>
                    <a:pt x="1752600" y="132600"/>
                  </a:moveTo>
                  <a:lnTo>
                    <a:pt x="1542275" y="132600"/>
                  </a:lnTo>
                  <a:lnTo>
                    <a:pt x="1542275" y="0"/>
                  </a:lnTo>
                  <a:lnTo>
                    <a:pt x="1505712" y="0"/>
                  </a:lnTo>
                  <a:lnTo>
                    <a:pt x="1505712" y="132600"/>
                  </a:lnTo>
                  <a:lnTo>
                    <a:pt x="0" y="132600"/>
                  </a:lnTo>
                  <a:lnTo>
                    <a:pt x="0" y="172212"/>
                  </a:lnTo>
                  <a:lnTo>
                    <a:pt x="1505712" y="172212"/>
                  </a:lnTo>
                  <a:lnTo>
                    <a:pt x="1505712" y="2209800"/>
                  </a:lnTo>
                  <a:lnTo>
                    <a:pt x="1542275" y="2209800"/>
                  </a:lnTo>
                  <a:lnTo>
                    <a:pt x="1542275" y="172212"/>
                  </a:lnTo>
                  <a:lnTo>
                    <a:pt x="1752600" y="172212"/>
                  </a:lnTo>
                  <a:lnTo>
                    <a:pt x="1752600" y="132600"/>
                  </a:lnTo>
                  <a:close/>
                </a:path>
              </a:pathLst>
            </a:custGeom>
            <a:solidFill>
              <a:srgbClr val="BF4F4C"/>
            </a:solidFill>
          </p:spPr>
          <p:txBody>
            <a:bodyPr wrap="square" lIns="0" tIns="0" rIns="0" bIns="0" rtlCol="0"/>
            <a:lstStyle/>
            <a:p>
              <a:endParaRPr sz="1803"/>
            </a:p>
          </p:txBody>
        </p:sp>
      </p:grpSp>
      <p:sp>
        <p:nvSpPr>
          <p:cNvPr id="7" name="object 7"/>
          <p:cNvSpPr/>
          <p:nvPr/>
        </p:nvSpPr>
        <p:spPr>
          <a:xfrm>
            <a:off x="1918217" y="1819279"/>
            <a:ext cx="0" cy="375981"/>
          </a:xfrm>
          <a:custGeom>
            <a:avLst/>
            <a:gdLst/>
            <a:ahLst/>
            <a:cxnLst/>
            <a:rect l="l" t="t" r="r" b="b"/>
            <a:pathLst>
              <a:path h="375285">
                <a:moveTo>
                  <a:pt x="0" y="0"/>
                </a:moveTo>
                <a:lnTo>
                  <a:pt x="0" y="375094"/>
                </a:lnTo>
              </a:path>
            </a:pathLst>
          </a:custGeom>
          <a:ln w="12669">
            <a:solidFill>
              <a:srgbClr val="000000"/>
            </a:solidFill>
          </a:ln>
        </p:spPr>
        <p:txBody>
          <a:bodyPr wrap="square" lIns="0" tIns="0" rIns="0" bIns="0" rtlCol="0"/>
          <a:lstStyle/>
          <a:p>
            <a:endParaRPr sz="1803"/>
          </a:p>
        </p:txBody>
      </p:sp>
      <p:sp>
        <p:nvSpPr>
          <p:cNvPr id="8" name="object 8"/>
          <p:cNvSpPr/>
          <p:nvPr/>
        </p:nvSpPr>
        <p:spPr>
          <a:xfrm>
            <a:off x="2743659" y="1819279"/>
            <a:ext cx="0" cy="375981"/>
          </a:xfrm>
          <a:custGeom>
            <a:avLst/>
            <a:gdLst/>
            <a:ahLst/>
            <a:cxnLst/>
            <a:rect l="l" t="t" r="r" b="b"/>
            <a:pathLst>
              <a:path h="375285">
                <a:moveTo>
                  <a:pt x="0" y="0"/>
                </a:moveTo>
                <a:lnTo>
                  <a:pt x="0" y="375094"/>
                </a:lnTo>
              </a:path>
            </a:pathLst>
          </a:custGeom>
          <a:ln w="12669">
            <a:solidFill>
              <a:srgbClr val="000000"/>
            </a:solidFill>
          </a:ln>
        </p:spPr>
        <p:txBody>
          <a:bodyPr wrap="square" lIns="0" tIns="0" rIns="0" bIns="0" rtlCol="0"/>
          <a:lstStyle/>
          <a:p>
            <a:endParaRPr sz="1803"/>
          </a:p>
        </p:txBody>
      </p:sp>
      <p:grpSp>
        <p:nvGrpSpPr>
          <p:cNvPr id="9" name="object 9"/>
          <p:cNvGrpSpPr/>
          <p:nvPr/>
        </p:nvGrpSpPr>
        <p:grpSpPr>
          <a:xfrm>
            <a:off x="3123218" y="2045391"/>
            <a:ext cx="1659153" cy="471407"/>
            <a:chOff x="1585673" y="2041603"/>
            <a:chExt cx="1656080" cy="470534"/>
          </a:xfrm>
        </p:grpSpPr>
        <p:sp>
          <p:nvSpPr>
            <p:cNvPr id="10" name="object 10"/>
            <p:cNvSpPr/>
            <p:nvPr/>
          </p:nvSpPr>
          <p:spPr>
            <a:xfrm>
              <a:off x="1592008" y="2333307"/>
              <a:ext cx="38735" cy="22225"/>
            </a:xfrm>
            <a:custGeom>
              <a:avLst/>
              <a:gdLst/>
              <a:ahLst/>
              <a:cxnLst/>
              <a:rect l="l" t="t" r="r" b="b"/>
              <a:pathLst>
                <a:path w="38735" h="22225">
                  <a:moveTo>
                    <a:pt x="0" y="22097"/>
                  </a:moveTo>
                  <a:lnTo>
                    <a:pt x="38671" y="0"/>
                  </a:lnTo>
                </a:path>
              </a:pathLst>
            </a:custGeom>
            <a:ln w="12669">
              <a:solidFill>
                <a:srgbClr val="000000"/>
              </a:solidFill>
            </a:ln>
          </p:spPr>
          <p:txBody>
            <a:bodyPr wrap="square" lIns="0" tIns="0" rIns="0" bIns="0" rtlCol="0"/>
            <a:lstStyle/>
            <a:p>
              <a:endParaRPr sz="1803"/>
            </a:p>
          </p:txBody>
        </p:sp>
        <p:sp>
          <p:nvSpPr>
            <p:cNvPr id="11" name="object 11"/>
            <p:cNvSpPr/>
            <p:nvPr/>
          </p:nvSpPr>
          <p:spPr>
            <a:xfrm>
              <a:off x="1630680" y="2339593"/>
              <a:ext cx="56515" cy="160020"/>
            </a:xfrm>
            <a:custGeom>
              <a:avLst/>
              <a:gdLst/>
              <a:ahLst/>
              <a:cxnLst/>
              <a:rect l="l" t="t" r="r" b="b"/>
              <a:pathLst>
                <a:path w="56514" h="160019">
                  <a:moveTo>
                    <a:pt x="0" y="0"/>
                  </a:moveTo>
                  <a:lnTo>
                    <a:pt x="56006" y="159638"/>
                  </a:lnTo>
                </a:path>
              </a:pathLst>
            </a:custGeom>
            <a:ln w="25340">
              <a:solidFill>
                <a:srgbClr val="000000"/>
              </a:solidFill>
            </a:ln>
          </p:spPr>
          <p:txBody>
            <a:bodyPr wrap="square" lIns="0" tIns="0" rIns="0" bIns="0" rtlCol="0"/>
            <a:lstStyle/>
            <a:p>
              <a:endParaRPr sz="1803"/>
            </a:p>
          </p:txBody>
        </p:sp>
        <p:sp>
          <p:nvSpPr>
            <p:cNvPr id="12" name="object 12"/>
            <p:cNvSpPr/>
            <p:nvPr/>
          </p:nvSpPr>
          <p:spPr>
            <a:xfrm>
              <a:off x="1692973" y="2047938"/>
              <a:ext cx="1548765" cy="451484"/>
            </a:xfrm>
            <a:custGeom>
              <a:avLst/>
              <a:gdLst/>
              <a:ahLst/>
              <a:cxnLst/>
              <a:rect l="l" t="t" r="r" b="b"/>
              <a:pathLst>
                <a:path w="1548764" h="451485">
                  <a:moveTo>
                    <a:pt x="0" y="451294"/>
                  </a:moveTo>
                  <a:lnTo>
                    <a:pt x="74294" y="0"/>
                  </a:lnTo>
                </a:path>
                <a:path w="1548764" h="451485">
                  <a:moveTo>
                    <a:pt x="74294" y="0"/>
                  </a:moveTo>
                  <a:lnTo>
                    <a:pt x="1548574" y="0"/>
                  </a:lnTo>
                </a:path>
              </a:pathLst>
            </a:custGeom>
            <a:ln w="12669">
              <a:solidFill>
                <a:srgbClr val="000000"/>
              </a:solidFill>
            </a:ln>
          </p:spPr>
          <p:txBody>
            <a:bodyPr wrap="square" lIns="0" tIns="0" rIns="0" bIns="0" rtlCol="0"/>
            <a:lstStyle/>
            <a:p>
              <a:endParaRPr sz="1803"/>
            </a:p>
          </p:txBody>
        </p:sp>
      </p:grpSp>
      <p:sp>
        <p:nvSpPr>
          <p:cNvPr id="13" name="object 13"/>
          <p:cNvSpPr txBox="1"/>
          <p:nvPr/>
        </p:nvSpPr>
        <p:spPr>
          <a:xfrm>
            <a:off x="4627446" y="2055941"/>
            <a:ext cx="124691" cy="229141"/>
          </a:xfrm>
          <a:prstGeom prst="rect">
            <a:avLst/>
          </a:prstGeom>
        </p:spPr>
        <p:txBody>
          <a:bodyPr vert="horz" wrap="square" lIns="0" tIns="12724" rIns="0" bIns="0" rtlCol="0">
            <a:spAutoFit/>
          </a:bodyPr>
          <a:lstStyle/>
          <a:p>
            <a:pPr marL="12724">
              <a:spcBef>
                <a:spcPts val="100"/>
              </a:spcBef>
            </a:pPr>
            <a:r>
              <a:rPr sz="1403" spc="-50" dirty="0">
                <a:latin typeface="Arial MT"/>
                <a:cs typeface="Arial MT"/>
              </a:rPr>
              <a:t>2</a:t>
            </a:r>
            <a:endParaRPr sz="1403">
              <a:latin typeface="Arial MT"/>
              <a:cs typeface="Arial MT"/>
            </a:endParaRPr>
          </a:p>
        </p:txBody>
      </p:sp>
      <p:sp>
        <p:nvSpPr>
          <p:cNvPr id="14" name="object 14"/>
          <p:cNvSpPr txBox="1"/>
          <p:nvPr/>
        </p:nvSpPr>
        <p:spPr>
          <a:xfrm>
            <a:off x="4358725" y="2297180"/>
            <a:ext cx="154591" cy="229141"/>
          </a:xfrm>
          <a:prstGeom prst="rect">
            <a:avLst/>
          </a:prstGeom>
        </p:spPr>
        <p:txBody>
          <a:bodyPr vert="horz" wrap="square" lIns="0" tIns="12724" rIns="0" bIns="0" rtlCol="0">
            <a:spAutoFit/>
          </a:bodyPr>
          <a:lstStyle/>
          <a:p>
            <a:pPr marL="12724">
              <a:spcBef>
                <a:spcPts val="100"/>
              </a:spcBef>
            </a:pPr>
            <a:r>
              <a:rPr sz="1403" i="1" spc="-50" dirty="0">
                <a:latin typeface="Arial"/>
                <a:cs typeface="Arial"/>
              </a:rPr>
              <a:t>C</a:t>
            </a:r>
            <a:endParaRPr sz="1403">
              <a:latin typeface="Arial"/>
              <a:cs typeface="Arial"/>
            </a:endParaRPr>
          </a:p>
        </p:txBody>
      </p:sp>
      <p:sp>
        <p:nvSpPr>
          <p:cNvPr id="15" name="object 15"/>
          <p:cNvSpPr txBox="1"/>
          <p:nvPr/>
        </p:nvSpPr>
        <p:spPr>
          <a:xfrm>
            <a:off x="3283838" y="1985203"/>
            <a:ext cx="1370964" cy="522301"/>
          </a:xfrm>
          <a:prstGeom prst="rect">
            <a:avLst/>
          </a:prstGeom>
        </p:spPr>
        <p:txBody>
          <a:bodyPr vert="horz" wrap="square" lIns="0" tIns="12724" rIns="0" bIns="0" rtlCol="0">
            <a:spAutoFit/>
          </a:bodyPr>
          <a:lstStyle/>
          <a:p>
            <a:pPr marL="12724">
              <a:spcBef>
                <a:spcPts val="100"/>
              </a:spcBef>
              <a:tabLst>
                <a:tab pos="1270504" algn="l"/>
              </a:tabLst>
            </a:pPr>
            <a:r>
              <a:rPr sz="2405" dirty="0">
                <a:latin typeface="Arial MT"/>
                <a:cs typeface="Arial MT"/>
              </a:rPr>
              <a:t>1</a:t>
            </a:r>
            <a:r>
              <a:rPr sz="2405" dirty="0">
                <a:latin typeface="Symbol"/>
                <a:cs typeface="Symbol"/>
              </a:rPr>
              <a:t></a:t>
            </a:r>
            <a:r>
              <a:rPr sz="2405" spc="-85" dirty="0">
                <a:latin typeface="Times New Roman"/>
                <a:cs typeface="Times New Roman"/>
              </a:rPr>
              <a:t> </a:t>
            </a:r>
            <a:r>
              <a:rPr sz="3256" spc="-446" dirty="0">
                <a:latin typeface="Symbol"/>
                <a:cs typeface="Symbol"/>
              </a:rPr>
              <a:t></a:t>
            </a:r>
            <a:r>
              <a:rPr sz="2455" i="1" spc="-446" dirty="0">
                <a:latin typeface="Verdana"/>
                <a:cs typeface="Verdana"/>
              </a:rPr>
              <a:t>ω</a:t>
            </a:r>
            <a:r>
              <a:rPr sz="2455" i="1" spc="-366" dirty="0">
                <a:latin typeface="Verdana"/>
                <a:cs typeface="Verdana"/>
              </a:rPr>
              <a:t> </a:t>
            </a:r>
            <a:r>
              <a:rPr sz="2405" dirty="0">
                <a:latin typeface="Arial MT"/>
                <a:cs typeface="Arial MT"/>
              </a:rPr>
              <a:t>/</a:t>
            </a:r>
            <a:r>
              <a:rPr sz="2405" spc="-381" dirty="0">
                <a:latin typeface="Arial MT"/>
                <a:cs typeface="Arial MT"/>
              </a:rPr>
              <a:t> </a:t>
            </a:r>
            <a:r>
              <a:rPr sz="2455" i="1" spc="-421" dirty="0">
                <a:latin typeface="Verdana"/>
                <a:cs typeface="Verdana"/>
              </a:rPr>
              <a:t>ω</a:t>
            </a:r>
            <a:r>
              <a:rPr sz="2455" i="1" dirty="0">
                <a:latin typeface="Verdana"/>
                <a:cs typeface="Verdana"/>
              </a:rPr>
              <a:t>	</a:t>
            </a:r>
            <a:r>
              <a:rPr sz="3256" spc="-485" dirty="0">
                <a:latin typeface="Symbol"/>
                <a:cs typeface="Symbol"/>
              </a:rPr>
              <a:t></a:t>
            </a:r>
            <a:endParaRPr sz="3256">
              <a:latin typeface="Symbol"/>
              <a:cs typeface="Symbol"/>
            </a:endParaRPr>
          </a:p>
        </p:txBody>
      </p:sp>
      <p:sp>
        <p:nvSpPr>
          <p:cNvPr id="16" name="object 16"/>
          <p:cNvSpPr txBox="1"/>
          <p:nvPr/>
        </p:nvSpPr>
        <p:spPr>
          <a:xfrm>
            <a:off x="1902568" y="1755948"/>
            <a:ext cx="2942960" cy="405245"/>
          </a:xfrm>
          <a:prstGeom prst="rect">
            <a:avLst/>
          </a:prstGeom>
        </p:spPr>
        <p:txBody>
          <a:bodyPr vert="horz" wrap="square" lIns="0" tIns="17177" rIns="0" bIns="0" rtlCol="0">
            <a:spAutoFit/>
          </a:bodyPr>
          <a:lstStyle/>
          <a:p>
            <a:pPr marL="38172">
              <a:spcBef>
                <a:spcPts val="135"/>
              </a:spcBef>
              <a:tabLst>
                <a:tab pos="1976694" algn="l"/>
                <a:tab pos="2904283" algn="l"/>
              </a:tabLst>
            </a:pPr>
            <a:r>
              <a:rPr sz="2405" i="1" spc="50" dirty="0">
                <a:latin typeface="Arial"/>
                <a:cs typeface="Arial"/>
              </a:rPr>
              <a:t>H</a:t>
            </a:r>
            <a:r>
              <a:rPr sz="2405" spc="50" dirty="0">
                <a:latin typeface="Arial MT"/>
                <a:cs typeface="Arial MT"/>
              </a:rPr>
              <a:t>(</a:t>
            </a:r>
            <a:r>
              <a:rPr sz="2405" spc="-204" dirty="0">
                <a:latin typeface="Arial MT"/>
                <a:cs typeface="Arial MT"/>
              </a:rPr>
              <a:t> </a:t>
            </a:r>
            <a:r>
              <a:rPr sz="2405" i="1" dirty="0">
                <a:latin typeface="Arial"/>
                <a:cs typeface="Arial"/>
              </a:rPr>
              <a:t>j</a:t>
            </a:r>
            <a:r>
              <a:rPr sz="2455" i="1" dirty="0">
                <a:latin typeface="Verdana"/>
                <a:cs typeface="Verdana"/>
              </a:rPr>
              <a:t>ω</a:t>
            </a:r>
            <a:r>
              <a:rPr sz="2405" dirty="0">
                <a:latin typeface="Arial MT"/>
                <a:cs typeface="Arial MT"/>
              </a:rPr>
              <a:t>)</a:t>
            </a:r>
            <a:r>
              <a:rPr sz="2405" spc="311" dirty="0">
                <a:latin typeface="Arial MT"/>
                <a:cs typeface="Arial MT"/>
              </a:rPr>
              <a:t> </a:t>
            </a:r>
            <a:r>
              <a:rPr sz="2405" dirty="0">
                <a:latin typeface="Symbol"/>
                <a:cs typeface="Symbol"/>
              </a:rPr>
              <a:t></a:t>
            </a:r>
            <a:r>
              <a:rPr sz="2405" dirty="0">
                <a:latin typeface="Times New Roman"/>
                <a:cs typeface="Times New Roman"/>
              </a:rPr>
              <a:t> </a:t>
            </a:r>
            <a:r>
              <a:rPr sz="3607" u="sng" baseline="35879" dirty="0">
                <a:uFill>
                  <a:solidFill>
                    <a:srgbClr val="000000"/>
                  </a:solidFill>
                </a:uFill>
                <a:latin typeface="Arial MT"/>
                <a:cs typeface="Arial MT"/>
              </a:rPr>
              <a:t>	</a:t>
            </a:r>
            <a:r>
              <a:rPr sz="3607" u="sng" spc="-75" baseline="35879" dirty="0">
                <a:uFill>
                  <a:solidFill>
                    <a:srgbClr val="000000"/>
                  </a:solidFill>
                </a:uFill>
                <a:latin typeface="Arial MT"/>
                <a:cs typeface="Arial MT"/>
              </a:rPr>
              <a:t>1</a:t>
            </a:r>
            <a:r>
              <a:rPr sz="3607" u="sng" baseline="35879" dirty="0">
                <a:uFill>
                  <a:solidFill>
                    <a:srgbClr val="000000"/>
                  </a:solidFill>
                </a:uFill>
                <a:latin typeface="Arial MT"/>
                <a:cs typeface="Arial MT"/>
              </a:rPr>
              <a:t>	</a:t>
            </a:r>
            <a:endParaRPr sz="3607" baseline="35879">
              <a:latin typeface="Arial MT"/>
              <a:cs typeface="Arial MT"/>
            </a:endParaRPr>
          </a:p>
        </p:txBody>
      </p:sp>
      <p:sp>
        <p:nvSpPr>
          <p:cNvPr id="17" name="object 17"/>
          <p:cNvSpPr/>
          <p:nvPr/>
        </p:nvSpPr>
        <p:spPr>
          <a:xfrm>
            <a:off x="7707948" y="1961846"/>
            <a:ext cx="0" cy="374073"/>
          </a:xfrm>
          <a:custGeom>
            <a:avLst/>
            <a:gdLst/>
            <a:ahLst/>
            <a:cxnLst/>
            <a:rect l="l" t="t" r="r" b="b"/>
            <a:pathLst>
              <a:path h="373380">
                <a:moveTo>
                  <a:pt x="0" y="0"/>
                </a:moveTo>
                <a:lnTo>
                  <a:pt x="0" y="373189"/>
                </a:lnTo>
              </a:path>
            </a:pathLst>
          </a:custGeom>
          <a:ln w="12641">
            <a:solidFill>
              <a:srgbClr val="000000"/>
            </a:solidFill>
          </a:ln>
        </p:spPr>
        <p:txBody>
          <a:bodyPr wrap="square" lIns="0" tIns="0" rIns="0" bIns="0" rtlCol="0"/>
          <a:lstStyle/>
          <a:p>
            <a:endParaRPr sz="1803"/>
          </a:p>
        </p:txBody>
      </p:sp>
      <p:sp>
        <p:nvSpPr>
          <p:cNvPr id="18" name="object 18"/>
          <p:cNvSpPr/>
          <p:nvPr/>
        </p:nvSpPr>
        <p:spPr>
          <a:xfrm>
            <a:off x="8533770" y="1961846"/>
            <a:ext cx="0" cy="374073"/>
          </a:xfrm>
          <a:custGeom>
            <a:avLst/>
            <a:gdLst/>
            <a:ahLst/>
            <a:cxnLst/>
            <a:rect l="l" t="t" r="r" b="b"/>
            <a:pathLst>
              <a:path h="373380">
                <a:moveTo>
                  <a:pt x="0" y="0"/>
                </a:moveTo>
                <a:lnTo>
                  <a:pt x="0" y="373189"/>
                </a:lnTo>
              </a:path>
            </a:pathLst>
          </a:custGeom>
          <a:ln w="12641">
            <a:solidFill>
              <a:srgbClr val="000000"/>
            </a:solidFill>
          </a:ln>
        </p:spPr>
        <p:txBody>
          <a:bodyPr wrap="square" lIns="0" tIns="0" rIns="0" bIns="0" rtlCol="0"/>
          <a:lstStyle/>
          <a:p>
            <a:endParaRPr sz="1803"/>
          </a:p>
        </p:txBody>
      </p:sp>
      <p:grpSp>
        <p:nvGrpSpPr>
          <p:cNvPr id="19" name="object 19"/>
          <p:cNvGrpSpPr/>
          <p:nvPr/>
        </p:nvGrpSpPr>
        <p:grpSpPr>
          <a:xfrm>
            <a:off x="8887995" y="2142550"/>
            <a:ext cx="424331" cy="370892"/>
            <a:chOff x="7339774" y="2138582"/>
            <a:chExt cx="423545" cy="370205"/>
          </a:xfrm>
        </p:grpSpPr>
        <p:sp>
          <p:nvSpPr>
            <p:cNvPr id="20" name="object 20"/>
            <p:cNvSpPr/>
            <p:nvPr/>
          </p:nvSpPr>
          <p:spPr>
            <a:xfrm>
              <a:off x="7371397" y="2386838"/>
              <a:ext cx="38735" cy="22225"/>
            </a:xfrm>
            <a:custGeom>
              <a:avLst/>
              <a:gdLst/>
              <a:ahLst/>
              <a:cxnLst/>
              <a:rect l="l" t="t" r="r" b="b"/>
              <a:pathLst>
                <a:path w="38734" h="22225">
                  <a:moveTo>
                    <a:pt x="0" y="22098"/>
                  </a:moveTo>
                  <a:lnTo>
                    <a:pt x="38671" y="0"/>
                  </a:lnTo>
                </a:path>
              </a:pathLst>
            </a:custGeom>
            <a:ln w="12641">
              <a:solidFill>
                <a:srgbClr val="000000"/>
              </a:solidFill>
            </a:ln>
          </p:spPr>
          <p:txBody>
            <a:bodyPr wrap="square" lIns="0" tIns="0" rIns="0" bIns="0" rtlCol="0"/>
            <a:lstStyle/>
            <a:p>
              <a:endParaRPr sz="1803"/>
            </a:p>
          </p:txBody>
        </p:sp>
        <p:sp>
          <p:nvSpPr>
            <p:cNvPr id="21" name="object 21"/>
            <p:cNvSpPr/>
            <p:nvPr/>
          </p:nvSpPr>
          <p:spPr>
            <a:xfrm>
              <a:off x="7410068" y="2393124"/>
              <a:ext cx="56515" cy="102870"/>
            </a:xfrm>
            <a:custGeom>
              <a:avLst/>
              <a:gdLst/>
              <a:ahLst/>
              <a:cxnLst/>
              <a:rect l="l" t="t" r="r" b="b"/>
              <a:pathLst>
                <a:path w="56515" h="102869">
                  <a:moveTo>
                    <a:pt x="0" y="0"/>
                  </a:moveTo>
                  <a:lnTo>
                    <a:pt x="56197" y="102870"/>
                  </a:lnTo>
                </a:path>
              </a:pathLst>
            </a:custGeom>
            <a:ln w="25284">
              <a:solidFill>
                <a:srgbClr val="000000"/>
              </a:solidFill>
            </a:ln>
          </p:spPr>
          <p:txBody>
            <a:bodyPr wrap="square" lIns="0" tIns="0" rIns="0" bIns="0" rtlCol="0"/>
            <a:lstStyle/>
            <a:p>
              <a:endParaRPr sz="1803"/>
            </a:p>
          </p:txBody>
        </p:sp>
        <p:sp>
          <p:nvSpPr>
            <p:cNvPr id="22" name="object 22"/>
            <p:cNvSpPr/>
            <p:nvPr/>
          </p:nvSpPr>
          <p:spPr>
            <a:xfrm>
              <a:off x="7339774" y="2144903"/>
              <a:ext cx="423545" cy="351155"/>
            </a:xfrm>
            <a:custGeom>
              <a:avLst/>
              <a:gdLst/>
              <a:ahLst/>
              <a:cxnLst/>
              <a:rect l="l" t="t" r="r" b="b"/>
              <a:pathLst>
                <a:path w="423545" h="351155">
                  <a:moveTo>
                    <a:pt x="132778" y="351091"/>
                  </a:moveTo>
                  <a:lnTo>
                    <a:pt x="206883" y="44196"/>
                  </a:lnTo>
                </a:path>
                <a:path w="423545" h="351155">
                  <a:moveTo>
                    <a:pt x="206883" y="44196"/>
                  </a:moveTo>
                  <a:lnTo>
                    <a:pt x="397954" y="44196"/>
                  </a:lnTo>
                </a:path>
                <a:path w="423545" h="351155">
                  <a:moveTo>
                    <a:pt x="0" y="0"/>
                  </a:moveTo>
                  <a:lnTo>
                    <a:pt x="423291" y="0"/>
                  </a:lnTo>
                </a:path>
              </a:pathLst>
            </a:custGeom>
            <a:ln w="12641">
              <a:solidFill>
                <a:srgbClr val="000000"/>
              </a:solidFill>
            </a:ln>
          </p:spPr>
          <p:txBody>
            <a:bodyPr wrap="square" lIns="0" tIns="0" rIns="0" bIns="0" rtlCol="0"/>
            <a:lstStyle/>
            <a:p>
              <a:endParaRPr sz="1803"/>
            </a:p>
          </p:txBody>
        </p:sp>
      </p:grpSp>
      <p:sp>
        <p:nvSpPr>
          <p:cNvPr id="23" name="object 23"/>
          <p:cNvSpPr txBox="1"/>
          <p:nvPr/>
        </p:nvSpPr>
        <p:spPr>
          <a:xfrm>
            <a:off x="9388094" y="1908627"/>
            <a:ext cx="1031245" cy="390613"/>
          </a:xfrm>
          <a:prstGeom prst="rect">
            <a:avLst/>
          </a:prstGeom>
        </p:spPr>
        <p:txBody>
          <a:bodyPr vert="horz" wrap="square" lIns="0" tIns="11451" rIns="0" bIns="0" rtlCol="0">
            <a:spAutoFit/>
          </a:bodyPr>
          <a:lstStyle/>
          <a:p>
            <a:pPr marL="12724">
              <a:spcBef>
                <a:spcPts val="90"/>
              </a:spcBef>
            </a:pPr>
            <a:r>
              <a:rPr sz="2405" dirty="0">
                <a:latin typeface="Symbol"/>
                <a:cs typeface="Symbol"/>
              </a:rPr>
              <a:t></a:t>
            </a:r>
            <a:r>
              <a:rPr sz="2405" spc="-60" dirty="0">
                <a:latin typeface="Times New Roman"/>
                <a:cs typeface="Times New Roman"/>
              </a:rPr>
              <a:t> </a:t>
            </a:r>
            <a:r>
              <a:rPr sz="2405" spc="-20" dirty="0">
                <a:latin typeface="Arial MT"/>
                <a:cs typeface="Arial MT"/>
              </a:rPr>
              <a:t>0.707</a:t>
            </a:r>
            <a:endParaRPr sz="2405">
              <a:latin typeface="Arial MT"/>
              <a:cs typeface="Arial MT"/>
            </a:endParaRPr>
          </a:p>
        </p:txBody>
      </p:sp>
      <p:sp>
        <p:nvSpPr>
          <p:cNvPr id="28" name="object 28"/>
          <p:cNvSpPr txBox="1"/>
          <p:nvPr/>
        </p:nvSpPr>
        <p:spPr>
          <a:xfrm>
            <a:off x="3696082" y="6133119"/>
            <a:ext cx="3967843" cy="360355"/>
          </a:xfrm>
          <a:prstGeom prst="rect">
            <a:avLst/>
          </a:prstGeom>
        </p:spPr>
        <p:txBody>
          <a:bodyPr vert="horz" wrap="square" lIns="0" tIns="0" rIns="0" bIns="0" rtlCol="0">
            <a:spAutoFit/>
          </a:bodyPr>
          <a:lstStyle/>
          <a:p>
            <a:pPr marL="12724">
              <a:lnSpc>
                <a:spcPts val="2870"/>
              </a:lnSpc>
            </a:pPr>
            <a:r>
              <a:rPr sz="2405" b="1" dirty="0">
                <a:latin typeface="Calibri"/>
                <a:cs typeface="Calibri"/>
              </a:rPr>
              <a:t>Normalized</a:t>
            </a:r>
            <a:r>
              <a:rPr sz="2405" b="1" spc="-120" dirty="0">
                <a:latin typeface="Calibri"/>
                <a:cs typeface="Calibri"/>
              </a:rPr>
              <a:t> </a:t>
            </a:r>
            <a:r>
              <a:rPr sz="2405" b="1" dirty="0">
                <a:latin typeface="Calibri"/>
                <a:cs typeface="Calibri"/>
              </a:rPr>
              <a:t>frequency:</a:t>
            </a:r>
            <a:r>
              <a:rPr sz="2405" b="1" spc="-110" dirty="0">
                <a:latin typeface="Calibri"/>
                <a:cs typeface="Calibri"/>
              </a:rPr>
              <a:t> </a:t>
            </a:r>
            <a:r>
              <a:rPr sz="2405" b="1" spc="-20" dirty="0" smtClean="0">
                <a:latin typeface="Calibri"/>
                <a:cs typeface="Calibri"/>
              </a:rPr>
              <a:t>f/fc</a:t>
            </a:r>
            <a:endParaRPr sz="2405" dirty="0">
              <a:latin typeface="Calibri"/>
              <a:cs typeface="Calibri"/>
            </a:endParaRPr>
          </a:p>
        </p:txBody>
      </p:sp>
      <p:sp>
        <p:nvSpPr>
          <p:cNvPr id="29" name="object 29"/>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12</a:t>
            </a:r>
          </a:p>
        </p:txBody>
      </p:sp>
      <p:sp>
        <p:nvSpPr>
          <p:cNvPr id="24" name="object 24"/>
          <p:cNvSpPr txBox="1"/>
          <p:nvPr/>
        </p:nvSpPr>
        <p:spPr>
          <a:xfrm>
            <a:off x="9097997" y="2171241"/>
            <a:ext cx="194671" cy="390613"/>
          </a:xfrm>
          <a:prstGeom prst="rect">
            <a:avLst/>
          </a:prstGeom>
        </p:spPr>
        <p:txBody>
          <a:bodyPr vert="horz" wrap="square" lIns="0" tIns="11451" rIns="0" bIns="0" rtlCol="0">
            <a:spAutoFit/>
          </a:bodyPr>
          <a:lstStyle/>
          <a:p>
            <a:pPr marL="12724">
              <a:spcBef>
                <a:spcPts val="90"/>
              </a:spcBef>
            </a:pPr>
            <a:r>
              <a:rPr sz="2405" spc="-50" dirty="0">
                <a:latin typeface="Arial MT"/>
                <a:cs typeface="Arial MT"/>
              </a:rPr>
              <a:t>2</a:t>
            </a:r>
            <a:endParaRPr sz="2405">
              <a:latin typeface="Arial MT"/>
              <a:cs typeface="Arial MT"/>
            </a:endParaRPr>
          </a:p>
        </p:txBody>
      </p:sp>
      <p:sp>
        <p:nvSpPr>
          <p:cNvPr id="25" name="object 25"/>
          <p:cNvSpPr txBox="1"/>
          <p:nvPr/>
        </p:nvSpPr>
        <p:spPr>
          <a:xfrm>
            <a:off x="9012494" y="1716246"/>
            <a:ext cx="194671" cy="390613"/>
          </a:xfrm>
          <a:prstGeom prst="rect">
            <a:avLst/>
          </a:prstGeom>
        </p:spPr>
        <p:txBody>
          <a:bodyPr vert="horz" wrap="square" lIns="0" tIns="11451" rIns="0" bIns="0" rtlCol="0">
            <a:spAutoFit/>
          </a:bodyPr>
          <a:lstStyle/>
          <a:p>
            <a:pPr marL="12724">
              <a:spcBef>
                <a:spcPts val="90"/>
              </a:spcBef>
            </a:pPr>
            <a:r>
              <a:rPr sz="2405" spc="-50" dirty="0">
                <a:latin typeface="Arial MT"/>
                <a:cs typeface="Arial MT"/>
              </a:rPr>
              <a:t>1</a:t>
            </a:r>
            <a:endParaRPr sz="2405">
              <a:latin typeface="Arial MT"/>
              <a:cs typeface="Arial MT"/>
            </a:endParaRPr>
          </a:p>
        </p:txBody>
      </p:sp>
      <p:sp>
        <p:nvSpPr>
          <p:cNvPr id="26" name="object 26"/>
          <p:cNvSpPr txBox="1"/>
          <p:nvPr/>
        </p:nvSpPr>
        <p:spPr>
          <a:xfrm>
            <a:off x="7717745" y="1897898"/>
            <a:ext cx="1099952" cy="403973"/>
          </a:xfrm>
          <a:prstGeom prst="rect">
            <a:avLst/>
          </a:prstGeom>
        </p:spPr>
        <p:txBody>
          <a:bodyPr vert="horz" wrap="square" lIns="0" tIns="15904" rIns="0" bIns="0" rtlCol="0">
            <a:spAutoFit/>
          </a:bodyPr>
          <a:lstStyle/>
          <a:p>
            <a:pPr marL="12724">
              <a:spcBef>
                <a:spcPts val="125"/>
              </a:spcBef>
            </a:pPr>
            <a:r>
              <a:rPr sz="2405" i="1" spc="55" dirty="0">
                <a:latin typeface="Arial"/>
                <a:cs typeface="Arial"/>
              </a:rPr>
              <a:t>H</a:t>
            </a:r>
            <a:r>
              <a:rPr sz="2405" spc="55" dirty="0">
                <a:latin typeface="Arial MT"/>
                <a:cs typeface="Arial MT"/>
              </a:rPr>
              <a:t>(</a:t>
            </a:r>
            <a:r>
              <a:rPr sz="2405" spc="-240" dirty="0">
                <a:latin typeface="Arial MT"/>
                <a:cs typeface="Arial MT"/>
              </a:rPr>
              <a:t> </a:t>
            </a:r>
            <a:r>
              <a:rPr sz="2405" i="1" dirty="0">
                <a:latin typeface="Arial"/>
                <a:cs typeface="Arial"/>
              </a:rPr>
              <a:t>j</a:t>
            </a:r>
            <a:r>
              <a:rPr sz="2455" i="1" dirty="0">
                <a:latin typeface="Verdana"/>
                <a:cs typeface="Verdana"/>
              </a:rPr>
              <a:t>ω</a:t>
            </a:r>
            <a:r>
              <a:rPr sz="2405" dirty="0">
                <a:latin typeface="Arial MT"/>
                <a:cs typeface="Arial MT"/>
              </a:rPr>
              <a:t>)</a:t>
            </a:r>
            <a:r>
              <a:rPr sz="2405" spc="20" dirty="0">
                <a:latin typeface="Arial MT"/>
                <a:cs typeface="Arial MT"/>
              </a:rPr>
              <a:t> </a:t>
            </a:r>
            <a:r>
              <a:rPr sz="2405" spc="-50" dirty="0">
                <a:latin typeface="Symbol"/>
                <a:cs typeface="Symbol"/>
              </a:rPr>
              <a:t></a:t>
            </a:r>
            <a:endParaRPr sz="2405">
              <a:latin typeface="Symbol"/>
              <a:cs typeface="Symbol"/>
            </a:endParaRPr>
          </a:p>
        </p:txBody>
      </p:sp>
      <p:sp>
        <p:nvSpPr>
          <p:cNvPr id="27" name="object 27"/>
          <p:cNvSpPr txBox="1"/>
          <p:nvPr/>
        </p:nvSpPr>
        <p:spPr>
          <a:xfrm>
            <a:off x="6357850" y="1916677"/>
            <a:ext cx="1141304" cy="391886"/>
          </a:xfrm>
          <a:prstGeom prst="rect">
            <a:avLst/>
          </a:prstGeom>
        </p:spPr>
        <p:txBody>
          <a:bodyPr vert="horz" wrap="square" lIns="0" tIns="12724" rIns="0" bIns="0" rtlCol="0">
            <a:spAutoFit/>
          </a:bodyPr>
          <a:lstStyle/>
          <a:p>
            <a:pPr marL="38172">
              <a:spcBef>
                <a:spcPts val="100"/>
              </a:spcBef>
              <a:tabLst>
                <a:tab pos="251302" algn="l"/>
              </a:tabLst>
            </a:pPr>
            <a:r>
              <a:rPr sz="2405" i="1" spc="-50" dirty="0">
                <a:latin typeface="Arial"/>
                <a:cs typeface="Arial"/>
              </a:rPr>
              <a:t>f</a:t>
            </a:r>
            <a:r>
              <a:rPr sz="2405" i="1" dirty="0">
                <a:latin typeface="Arial"/>
                <a:cs typeface="Arial"/>
              </a:rPr>
              <a:t>	</a:t>
            </a:r>
            <a:r>
              <a:rPr sz="2405" dirty="0">
                <a:latin typeface="Symbol"/>
                <a:cs typeface="Symbol"/>
              </a:rPr>
              <a:t></a:t>
            </a:r>
            <a:r>
              <a:rPr sz="2405" spc="-105" dirty="0">
                <a:latin typeface="Times New Roman"/>
                <a:cs typeface="Times New Roman"/>
              </a:rPr>
              <a:t> </a:t>
            </a:r>
            <a:r>
              <a:rPr sz="2405" i="1" dirty="0">
                <a:latin typeface="Arial"/>
                <a:cs typeface="Arial"/>
              </a:rPr>
              <a:t>f</a:t>
            </a:r>
            <a:r>
              <a:rPr sz="2104" i="1" baseline="-23809" dirty="0">
                <a:latin typeface="Arial"/>
                <a:cs typeface="Arial"/>
              </a:rPr>
              <a:t>C</a:t>
            </a:r>
            <a:r>
              <a:rPr sz="2104" i="1" spc="623" baseline="-23809" dirty="0">
                <a:latin typeface="Arial"/>
                <a:cs typeface="Arial"/>
              </a:rPr>
              <a:t> </a:t>
            </a:r>
            <a:r>
              <a:rPr sz="2405" spc="-60" dirty="0">
                <a:latin typeface="Symbol"/>
                <a:cs typeface="Symbol"/>
              </a:rPr>
              <a:t></a:t>
            </a:r>
            <a:endParaRPr sz="2405">
              <a:latin typeface="Symbol"/>
              <a:cs typeface="Symbol"/>
            </a:endParaRPr>
          </a:p>
        </p:txBody>
      </p:sp>
    </p:spTree>
    <p:extLst>
      <p:ext uri="{BB962C8B-B14F-4D97-AF65-F5344CB8AC3E}">
        <p14:creationId xmlns:p14="http://schemas.microsoft.com/office/powerpoint/2010/main" val="3273886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656046">
              <a:spcBef>
                <a:spcPts val="90"/>
              </a:spcBef>
            </a:pPr>
            <a:r>
              <a:rPr spc="-30" dirty="0"/>
              <a:t>low-</a:t>
            </a:r>
            <a:r>
              <a:rPr dirty="0"/>
              <a:t>pass</a:t>
            </a:r>
            <a:r>
              <a:rPr spc="-55" dirty="0"/>
              <a:t> </a:t>
            </a:r>
            <a:r>
              <a:rPr dirty="0"/>
              <a:t>filter:</a:t>
            </a:r>
            <a:r>
              <a:rPr spc="-85" dirty="0"/>
              <a:t> </a:t>
            </a:r>
            <a:r>
              <a:rPr spc="-10" dirty="0"/>
              <a:t>phase</a:t>
            </a:r>
          </a:p>
        </p:txBody>
      </p:sp>
      <p:grpSp>
        <p:nvGrpSpPr>
          <p:cNvPr id="3" name="object 3"/>
          <p:cNvGrpSpPr/>
          <p:nvPr/>
        </p:nvGrpSpPr>
        <p:grpSpPr>
          <a:xfrm>
            <a:off x="2136173" y="2897409"/>
            <a:ext cx="6018881" cy="3670748"/>
            <a:chOff x="600455" y="2892044"/>
            <a:chExt cx="6007735" cy="3663950"/>
          </a:xfrm>
        </p:grpSpPr>
        <p:pic>
          <p:nvPicPr>
            <p:cNvPr id="4" name="object 4"/>
            <p:cNvPicPr/>
            <p:nvPr/>
          </p:nvPicPr>
          <p:blipFill>
            <a:blip r:embed="rId2" cstate="print"/>
            <a:stretch>
              <a:fillRect/>
            </a:stretch>
          </p:blipFill>
          <p:spPr>
            <a:xfrm>
              <a:off x="600455" y="2892044"/>
              <a:ext cx="6007608" cy="3486911"/>
            </a:xfrm>
            <a:prstGeom prst="rect">
              <a:avLst/>
            </a:prstGeom>
          </p:spPr>
        </p:pic>
        <p:sp>
          <p:nvSpPr>
            <p:cNvPr id="5" name="object 5"/>
            <p:cNvSpPr/>
            <p:nvPr/>
          </p:nvSpPr>
          <p:spPr>
            <a:xfrm>
              <a:off x="1505711" y="6092445"/>
              <a:ext cx="4724400" cy="463550"/>
            </a:xfrm>
            <a:custGeom>
              <a:avLst/>
              <a:gdLst/>
              <a:ahLst/>
              <a:cxnLst/>
              <a:rect l="l" t="t" r="r" b="b"/>
              <a:pathLst>
                <a:path w="4724400" h="463550">
                  <a:moveTo>
                    <a:pt x="4724400" y="0"/>
                  </a:moveTo>
                  <a:lnTo>
                    <a:pt x="0" y="0"/>
                  </a:lnTo>
                  <a:lnTo>
                    <a:pt x="0" y="463294"/>
                  </a:lnTo>
                  <a:lnTo>
                    <a:pt x="4724400" y="463294"/>
                  </a:lnTo>
                  <a:lnTo>
                    <a:pt x="4724400" y="0"/>
                  </a:lnTo>
                  <a:close/>
                </a:path>
              </a:pathLst>
            </a:custGeom>
            <a:solidFill>
              <a:srgbClr val="FFFFFF"/>
            </a:solidFill>
          </p:spPr>
          <p:txBody>
            <a:bodyPr wrap="square" lIns="0" tIns="0" rIns="0" bIns="0" rtlCol="0"/>
            <a:lstStyle/>
            <a:p>
              <a:endParaRPr sz="1803"/>
            </a:p>
          </p:txBody>
        </p:sp>
        <p:sp>
          <p:nvSpPr>
            <p:cNvPr id="6" name="object 6"/>
            <p:cNvSpPr/>
            <p:nvPr/>
          </p:nvSpPr>
          <p:spPr>
            <a:xfrm>
              <a:off x="1353312" y="4035043"/>
              <a:ext cx="1524000" cy="1828800"/>
            </a:xfrm>
            <a:custGeom>
              <a:avLst/>
              <a:gdLst/>
              <a:ahLst/>
              <a:cxnLst/>
              <a:rect l="l" t="t" r="r" b="b"/>
              <a:pathLst>
                <a:path w="1524000" h="1828800">
                  <a:moveTo>
                    <a:pt x="1524000" y="285000"/>
                  </a:moveTo>
                  <a:lnTo>
                    <a:pt x="1313675" y="285000"/>
                  </a:lnTo>
                  <a:lnTo>
                    <a:pt x="1313675" y="0"/>
                  </a:lnTo>
                  <a:lnTo>
                    <a:pt x="1277112" y="0"/>
                  </a:lnTo>
                  <a:lnTo>
                    <a:pt x="1277112" y="285000"/>
                  </a:lnTo>
                  <a:lnTo>
                    <a:pt x="0" y="285000"/>
                  </a:lnTo>
                  <a:lnTo>
                    <a:pt x="0" y="324612"/>
                  </a:lnTo>
                  <a:lnTo>
                    <a:pt x="1277112" y="324612"/>
                  </a:lnTo>
                  <a:lnTo>
                    <a:pt x="1277112" y="1828800"/>
                  </a:lnTo>
                  <a:lnTo>
                    <a:pt x="1313675" y="1828800"/>
                  </a:lnTo>
                  <a:lnTo>
                    <a:pt x="1313675" y="324612"/>
                  </a:lnTo>
                  <a:lnTo>
                    <a:pt x="1524000" y="324612"/>
                  </a:lnTo>
                  <a:lnTo>
                    <a:pt x="1524000" y="285000"/>
                  </a:lnTo>
                  <a:close/>
                </a:path>
              </a:pathLst>
            </a:custGeom>
            <a:solidFill>
              <a:srgbClr val="BF4F4C"/>
            </a:solidFill>
          </p:spPr>
          <p:txBody>
            <a:bodyPr wrap="square" lIns="0" tIns="0" rIns="0" bIns="0" rtlCol="0"/>
            <a:lstStyle/>
            <a:p>
              <a:endParaRPr sz="1803"/>
            </a:p>
          </p:txBody>
        </p:sp>
      </p:grpSp>
      <p:sp>
        <p:nvSpPr>
          <p:cNvPr id="7" name="object 7"/>
          <p:cNvSpPr txBox="1"/>
          <p:nvPr/>
        </p:nvSpPr>
        <p:spPr>
          <a:xfrm>
            <a:off x="6357851" y="1906699"/>
            <a:ext cx="3498343" cy="403973"/>
          </a:xfrm>
          <a:prstGeom prst="rect">
            <a:avLst/>
          </a:prstGeom>
        </p:spPr>
        <p:txBody>
          <a:bodyPr vert="horz" wrap="square" lIns="0" tIns="15904" rIns="0" bIns="0" rtlCol="0">
            <a:spAutoFit/>
          </a:bodyPr>
          <a:lstStyle/>
          <a:p>
            <a:pPr marL="38172">
              <a:spcBef>
                <a:spcPts val="125"/>
              </a:spcBef>
              <a:tabLst>
                <a:tab pos="251302" algn="l"/>
                <a:tab pos="1396473" algn="l"/>
              </a:tabLst>
            </a:pPr>
            <a:r>
              <a:rPr sz="2405" i="1" spc="-50" dirty="0">
                <a:latin typeface="Arial"/>
                <a:cs typeface="Arial"/>
              </a:rPr>
              <a:t>f</a:t>
            </a:r>
            <a:r>
              <a:rPr sz="2405" i="1" dirty="0">
                <a:latin typeface="Arial"/>
                <a:cs typeface="Arial"/>
              </a:rPr>
              <a:t>	</a:t>
            </a:r>
            <a:r>
              <a:rPr sz="2405" dirty="0">
                <a:latin typeface="Symbol"/>
                <a:cs typeface="Symbol"/>
              </a:rPr>
              <a:t></a:t>
            </a:r>
            <a:r>
              <a:rPr sz="2405" spc="-105" dirty="0">
                <a:latin typeface="Times New Roman"/>
                <a:cs typeface="Times New Roman"/>
              </a:rPr>
              <a:t> </a:t>
            </a:r>
            <a:r>
              <a:rPr sz="2405" i="1" dirty="0">
                <a:latin typeface="Arial"/>
                <a:cs typeface="Arial"/>
              </a:rPr>
              <a:t>f</a:t>
            </a:r>
            <a:r>
              <a:rPr sz="2104" i="1" baseline="-23809" dirty="0">
                <a:latin typeface="Arial"/>
                <a:cs typeface="Arial"/>
              </a:rPr>
              <a:t>C</a:t>
            </a:r>
            <a:r>
              <a:rPr sz="2104" i="1" spc="623" baseline="-23809" dirty="0">
                <a:latin typeface="Arial"/>
                <a:cs typeface="Arial"/>
              </a:rPr>
              <a:t> </a:t>
            </a:r>
            <a:r>
              <a:rPr sz="2405" spc="-60" dirty="0">
                <a:latin typeface="Symbol"/>
                <a:cs typeface="Symbol"/>
              </a:rPr>
              <a:t></a:t>
            </a:r>
            <a:r>
              <a:rPr sz="2405" dirty="0">
                <a:latin typeface="Times New Roman"/>
                <a:cs typeface="Times New Roman"/>
              </a:rPr>
              <a:t>	</a:t>
            </a:r>
            <a:r>
              <a:rPr sz="2405" dirty="0">
                <a:latin typeface="Symbol"/>
                <a:cs typeface="Symbol"/>
              </a:rPr>
              <a:t></a:t>
            </a:r>
            <a:r>
              <a:rPr sz="2405" i="1" dirty="0">
                <a:latin typeface="Arial"/>
                <a:cs typeface="Arial"/>
              </a:rPr>
              <a:t>H</a:t>
            </a:r>
            <a:r>
              <a:rPr sz="2405" dirty="0">
                <a:latin typeface="Arial MT"/>
                <a:cs typeface="Arial MT"/>
              </a:rPr>
              <a:t>(</a:t>
            </a:r>
            <a:r>
              <a:rPr sz="2405" spc="-225" dirty="0">
                <a:latin typeface="Arial MT"/>
                <a:cs typeface="Arial MT"/>
              </a:rPr>
              <a:t> </a:t>
            </a:r>
            <a:r>
              <a:rPr sz="2405" i="1" spc="-75" dirty="0">
                <a:latin typeface="Arial"/>
                <a:cs typeface="Arial"/>
              </a:rPr>
              <a:t>j</a:t>
            </a:r>
            <a:r>
              <a:rPr sz="2455" i="1" spc="-75" dirty="0">
                <a:latin typeface="Verdana"/>
                <a:cs typeface="Verdana"/>
              </a:rPr>
              <a:t>ω</a:t>
            </a:r>
            <a:r>
              <a:rPr sz="2405" spc="-75" dirty="0">
                <a:latin typeface="Arial MT"/>
                <a:cs typeface="Arial MT"/>
              </a:rPr>
              <a:t>)</a:t>
            </a:r>
            <a:r>
              <a:rPr sz="2405" spc="-95" dirty="0">
                <a:latin typeface="Arial MT"/>
                <a:cs typeface="Arial MT"/>
              </a:rPr>
              <a:t> </a:t>
            </a:r>
            <a:r>
              <a:rPr sz="2405" dirty="0">
                <a:latin typeface="Symbol"/>
                <a:cs typeface="Symbol"/>
              </a:rPr>
              <a:t></a:t>
            </a:r>
            <a:r>
              <a:rPr sz="2405" spc="55" dirty="0">
                <a:latin typeface="Times New Roman"/>
                <a:cs typeface="Times New Roman"/>
              </a:rPr>
              <a:t> </a:t>
            </a:r>
            <a:r>
              <a:rPr sz="2405" spc="-170" dirty="0">
                <a:latin typeface="Symbol"/>
                <a:cs typeface="Symbol"/>
              </a:rPr>
              <a:t></a:t>
            </a:r>
            <a:r>
              <a:rPr sz="2455" i="1" spc="-170" dirty="0">
                <a:latin typeface="Verdana"/>
                <a:cs typeface="Verdana"/>
              </a:rPr>
              <a:t>π</a:t>
            </a:r>
            <a:r>
              <a:rPr sz="2455" i="1" spc="-125" dirty="0">
                <a:latin typeface="Verdana"/>
                <a:cs typeface="Verdana"/>
              </a:rPr>
              <a:t> </a:t>
            </a:r>
            <a:r>
              <a:rPr sz="2405" dirty="0">
                <a:latin typeface="Arial MT"/>
                <a:cs typeface="Arial MT"/>
              </a:rPr>
              <a:t>/</a:t>
            </a:r>
            <a:r>
              <a:rPr sz="2405" spc="-240" dirty="0">
                <a:latin typeface="Arial MT"/>
                <a:cs typeface="Arial MT"/>
              </a:rPr>
              <a:t> </a:t>
            </a:r>
            <a:r>
              <a:rPr sz="2405" spc="-50" dirty="0">
                <a:latin typeface="Arial MT"/>
                <a:cs typeface="Arial MT"/>
              </a:rPr>
              <a:t>4</a:t>
            </a:r>
            <a:endParaRPr sz="2405">
              <a:latin typeface="Arial MT"/>
              <a:cs typeface="Arial MT"/>
            </a:endParaRPr>
          </a:p>
        </p:txBody>
      </p:sp>
      <p:sp>
        <p:nvSpPr>
          <p:cNvPr id="8" name="object 8"/>
          <p:cNvSpPr/>
          <p:nvPr/>
        </p:nvSpPr>
        <p:spPr>
          <a:xfrm>
            <a:off x="4722618" y="2159951"/>
            <a:ext cx="386160" cy="0"/>
          </a:xfrm>
          <a:custGeom>
            <a:avLst/>
            <a:gdLst/>
            <a:ahLst/>
            <a:cxnLst/>
            <a:rect l="l" t="t" r="r" b="b"/>
            <a:pathLst>
              <a:path w="385445">
                <a:moveTo>
                  <a:pt x="0" y="0"/>
                </a:moveTo>
                <a:lnTo>
                  <a:pt x="385381" y="0"/>
                </a:lnTo>
              </a:path>
            </a:pathLst>
          </a:custGeom>
          <a:ln w="12660">
            <a:solidFill>
              <a:srgbClr val="000000"/>
            </a:solidFill>
          </a:ln>
        </p:spPr>
        <p:txBody>
          <a:bodyPr wrap="square" lIns="0" tIns="0" rIns="0" bIns="0" rtlCol="0"/>
          <a:lstStyle/>
          <a:p>
            <a:endParaRPr sz="1803"/>
          </a:p>
        </p:txBody>
      </p:sp>
      <p:sp>
        <p:nvSpPr>
          <p:cNvPr id="9" name="object 9"/>
          <p:cNvSpPr txBox="1"/>
          <p:nvPr/>
        </p:nvSpPr>
        <p:spPr>
          <a:xfrm>
            <a:off x="4554159" y="2236990"/>
            <a:ext cx="723335" cy="392522"/>
          </a:xfrm>
          <a:prstGeom prst="rect">
            <a:avLst/>
          </a:prstGeom>
        </p:spPr>
        <p:txBody>
          <a:bodyPr vert="horz" wrap="square" lIns="0" tIns="12724" rIns="0" bIns="0" rtlCol="0">
            <a:spAutoFit/>
          </a:bodyPr>
          <a:lstStyle/>
          <a:p>
            <a:pPr marL="12724">
              <a:spcBef>
                <a:spcPts val="100"/>
              </a:spcBef>
              <a:tabLst>
                <a:tab pos="369636" algn="l"/>
              </a:tabLst>
            </a:pPr>
            <a:r>
              <a:rPr sz="2405" spc="-50" dirty="0">
                <a:latin typeface="Symbol"/>
                <a:cs typeface="Symbol"/>
              </a:rPr>
              <a:t></a:t>
            </a:r>
            <a:r>
              <a:rPr sz="2405" dirty="0">
                <a:latin typeface="Times New Roman"/>
                <a:cs typeface="Times New Roman"/>
              </a:rPr>
              <a:t>	</a:t>
            </a:r>
            <a:r>
              <a:rPr sz="1403" i="1" dirty="0">
                <a:latin typeface="Arial"/>
                <a:cs typeface="Arial"/>
              </a:rPr>
              <a:t>C</a:t>
            </a:r>
            <a:r>
              <a:rPr sz="1403" i="1" spc="331" dirty="0">
                <a:latin typeface="Arial"/>
                <a:cs typeface="Arial"/>
              </a:rPr>
              <a:t> </a:t>
            </a:r>
            <a:r>
              <a:rPr sz="2405" spc="-50" dirty="0">
                <a:latin typeface="Symbol"/>
                <a:cs typeface="Symbol"/>
              </a:rPr>
              <a:t></a:t>
            </a:r>
            <a:endParaRPr sz="2405">
              <a:latin typeface="Symbol"/>
              <a:cs typeface="Symbol"/>
            </a:endParaRPr>
          </a:p>
        </p:txBody>
      </p:sp>
      <p:sp>
        <p:nvSpPr>
          <p:cNvPr id="12" name="object 12"/>
          <p:cNvSpPr txBox="1"/>
          <p:nvPr/>
        </p:nvSpPr>
        <p:spPr>
          <a:xfrm>
            <a:off x="3696082" y="6133119"/>
            <a:ext cx="3967843" cy="656536"/>
          </a:xfrm>
          <a:prstGeom prst="rect">
            <a:avLst/>
          </a:prstGeom>
        </p:spPr>
        <p:txBody>
          <a:bodyPr vert="horz" wrap="square" lIns="0" tIns="0" rIns="0" bIns="0" rtlCol="0">
            <a:spAutoFit/>
          </a:bodyPr>
          <a:lstStyle/>
          <a:p>
            <a:pPr marL="12724">
              <a:lnSpc>
                <a:spcPts val="2870"/>
              </a:lnSpc>
            </a:pPr>
            <a:r>
              <a:rPr sz="2405" b="1" dirty="0">
                <a:latin typeface="Calibri"/>
                <a:cs typeface="Calibri"/>
              </a:rPr>
              <a:t>Normalized</a:t>
            </a:r>
            <a:r>
              <a:rPr sz="2405" b="1" spc="-120" dirty="0">
                <a:latin typeface="Calibri"/>
                <a:cs typeface="Calibri"/>
              </a:rPr>
              <a:t> </a:t>
            </a:r>
            <a:r>
              <a:rPr sz="2405" b="1" dirty="0">
                <a:latin typeface="Calibri"/>
                <a:cs typeface="Calibri"/>
              </a:rPr>
              <a:t>frequency:</a:t>
            </a:r>
            <a:r>
              <a:rPr sz="2405" b="1" spc="-110" dirty="0">
                <a:latin typeface="Calibri"/>
                <a:cs typeface="Calibri"/>
              </a:rPr>
              <a:t> </a:t>
            </a:r>
            <a:r>
              <a:rPr sz="2405" b="1" spc="-20" dirty="0">
                <a:latin typeface="Calibri"/>
                <a:cs typeface="Calibri"/>
              </a:rPr>
              <a:t>f/fc</a:t>
            </a:r>
            <a:endParaRPr sz="2405" dirty="0">
              <a:latin typeface="Calibri"/>
              <a:cs typeface="Calibri"/>
            </a:endParaRPr>
          </a:p>
          <a:p>
            <a:pPr marL="842974">
              <a:spcBef>
                <a:spcPts val="671"/>
              </a:spcBef>
            </a:pPr>
            <a:r>
              <a:rPr sz="1202" dirty="0" smtClean="0">
                <a:solidFill>
                  <a:srgbClr val="888888"/>
                </a:solidFill>
                <a:latin typeface="Calibri"/>
                <a:cs typeface="Calibri"/>
              </a:rPr>
              <a:t>(</a:t>
            </a:r>
            <a:endParaRPr sz="1202" dirty="0">
              <a:latin typeface="Calibri"/>
              <a:cs typeface="Calibri"/>
            </a:endParaRPr>
          </a:p>
        </p:txBody>
      </p:sp>
      <p:sp>
        <p:nvSpPr>
          <p:cNvPr id="13" name="object 13"/>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13</a:t>
            </a:r>
          </a:p>
        </p:txBody>
      </p:sp>
      <p:sp>
        <p:nvSpPr>
          <p:cNvPr id="10" name="object 10"/>
          <p:cNvSpPr txBox="1"/>
          <p:nvPr/>
        </p:nvSpPr>
        <p:spPr>
          <a:xfrm>
            <a:off x="4554159" y="1691822"/>
            <a:ext cx="723335" cy="405245"/>
          </a:xfrm>
          <a:prstGeom prst="rect">
            <a:avLst/>
          </a:prstGeom>
        </p:spPr>
        <p:txBody>
          <a:bodyPr vert="horz" wrap="square" lIns="0" tIns="17177" rIns="0" bIns="0" rtlCol="0">
            <a:spAutoFit/>
          </a:bodyPr>
          <a:lstStyle/>
          <a:p>
            <a:pPr marL="12724">
              <a:spcBef>
                <a:spcPts val="135"/>
              </a:spcBef>
            </a:pPr>
            <a:r>
              <a:rPr sz="2405" dirty="0">
                <a:latin typeface="Symbol"/>
                <a:cs typeface="Symbol"/>
              </a:rPr>
              <a:t></a:t>
            </a:r>
            <a:r>
              <a:rPr sz="2405" spc="260" dirty="0">
                <a:latin typeface="Times New Roman"/>
                <a:cs typeface="Times New Roman"/>
              </a:rPr>
              <a:t> </a:t>
            </a:r>
            <a:r>
              <a:rPr sz="3682" i="1" spc="-541" baseline="-3401" dirty="0">
                <a:latin typeface="Verdana"/>
                <a:cs typeface="Verdana"/>
              </a:rPr>
              <a:t>ω</a:t>
            </a:r>
            <a:r>
              <a:rPr sz="3682" i="1" spc="376" baseline="-3401" dirty="0">
                <a:latin typeface="Verdana"/>
                <a:cs typeface="Verdana"/>
              </a:rPr>
              <a:t> </a:t>
            </a:r>
            <a:r>
              <a:rPr sz="2405" spc="-50" dirty="0">
                <a:latin typeface="Symbol"/>
                <a:cs typeface="Symbol"/>
              </a:rPr>
              <a:t></a:t>
            </a:r>
            <a:endParaRPr sz="2405">
              <a:latin typeface="Symbol"/>
              <a:cs typeface="Symbol"/>
            </a:endParaRPr>
          </a:p>
        </p:txBody>
      </p:sp>
      <p:sp>
        <p:nvSpPr>
          <p:cNvPr id="11" name="object 11"/>
          <p:cNvSpPr txBox="1"/>
          <p:nvPr/>
        </p:nvSpPr>
        <p:spPr>
          <a:xfrm>
            <a:off x="1911729" y="1908631"/>
            <a:ext cx="3390829" cy="405245"/>
          </a:xfrm>
          <a:prstGeom prst="rect">
            <a:avLst/>
          </a:prstGeom>
        </p:spPr>
        <p:txBody>
          <a:bodyPr vert="horz" wrap="square" lIns="0" tIns="17177" rIns="0" bIns="0" rtlCol="0">
            <a:spAutoFit/>
          </a:bodyPr>
          <a:lstStyle/>
          <a:p>
            <a:pPr marL="38172">
              <a:spcBef>
                <a:spcPts val="135"/>
              </a:spcBef>
              <a:tabLst>
                <a:tab pos="3235110" algn="l"/>
              </a:tabLst>
            </a:pPr>
            <a:r>
              <a:rPr sz="2405" dirty="0">
                <a:latin typeface="Symbol"/>
                <a:cs typeface="Symbol"/>
              </a:rPr>
              <a:t></a:t>
            </a:r>
            <a:r>
              <a:rPr sz="2405" i="1" dirty="0">
                <a:latin typeface="Arial"/>
                <a:cs typeface="Arial"/>
              </a:rPr>
              <a:t>H</a:t>
            </a:r>
            <a:r>
              <a:rPr sz="2405" dirty="0">
                <a:latin typeface="Arial MT"/>
                <a:cs typeface="Arial MT"/>
              </a:rPr>
              <a:t>(</a:t>
            </a:r>
            <a:r>
              <a:rPr sz="2405" spc="-229" dirty="0">
                <a:latin typeface="Arial MT"/>
                <a:cs typeface="Arial MT"/>
              </a:rPr>
              <a:t> </a:t>
            </a:r>
            <a:r>
              <a:rPr sz="2405" i="1" spc="-75" dirty="0">
                <a:latin typeface="Arial"/>
                <a:cs typeface="Arial"/>
              </a:rPr>
              <a:t>j</a:t>
            </a:r>
            <a:r>
              <a:rPr sz="2455" i="1" spc="-75" dirty="0">
                <a:latin typeface="Verdana"/>
                <a:cs typeface="Verdana"/>
              </a:rPr>
              <a:t>ω</a:t>
            </a:r>
            <a:r>
              <a:rPr sz="2405" spc="-75" dirty="0">
                <a:latin typeface="Arial MT"/>
                <a:cs typeface="Arial MT"/>
              </a:rPr>
              <a:t>)</a:t>
            </a:r>
            <a:r>
              <a:rPr sz="2405" spc="-100" dirty="0">
                <a:latin typeface="Arial MT"/>
                <a:cs typeface="Arial MT"/>
              </a:rPr>
              <a:t> </a:t>
            </a:r>
            <a:r>
              <a:rPr sz="2405" dirty="0">
                <a:latin typeface="Symbol"/>
                <a:cs typeface="Symbol"/>
              </a:rPr>
              <a:t></a:t>
            </a:r>
            <a:r>
              <a:rPr sz="2405" spc="-40" dirty="0">
                <a:latin typeface="Times New Roman"/>
                <a:cs typeface="Times New Roman"/>
              </a:rPr>
              <a:t> </a:t>
            </a:r>
            <a:r>
              <a:rPr sz="2405" spc="-20" dirty="0">
                <a:latin typeface="Arial MT"/>
                <a:cs typeface="Arial MT"/>
              </a:rPr>
              <a:t>0</a:t>
            </a:r>
            <a:r>
              <a:rPr sz="2405" spc="-170" dirty="0">
                <a:latin typeface="Arial MT"/>
                <a:cs typeface="Arial MT"/>
              </a:rPr>
              <a:t> </a:t>
            </a:r>
            <a:r>
              <a:rPr sz="2405" dirty="0">
                <a:latin typeface="Symbol"/>
                <a:cs typeface="Symbol"/>
              </a:rPr>
              <a:t></a:t>
            </a:r>
            <a:r>
              <a:rPr sz="2405" spc="-190" dirty="0">
                <a:latin typeface="Times New Roman"/>
                <a:cs typeface="Times New Roman"/>
              </a:rPr>
              <a:t> </a:t>
            </a:r>
            <a:r>
              <a:rPr sz="2405" spc="-30" dirty="0">
                <a:latin typeface="Arial MT"/>
                <a:cs typeface="Arial MT"/>
              </a:rPr>
              <a:t>arctan</a:t>
            </a:r>
            <a:r>
              <a:rPr sz="3607" spc="-44" baseline="3472" dirty="0">
                <a:latin typeface="Symbol"/>
                <a:cs typeface="Symbol"/>
              </a:rPr>
              <a:t></a:t>
            </a:r>
            <a:r>
              <a:rPr sz="3607" spc="-383" baseline="3472" dirty="0">
                <a:latin typeface="Times New Roman"/>
                <a:cs typeface="Times New Roman"/>
              </a:rPr>
              <a:t> </a:t>
            </a:r>
            <a:r>
              <a:rPr sz="3682" i="1" spc="-616" baseline="-41950" dirty="0">
                <a:latin typeface="Verdana"/>
                <a:cs typeface="Verdana"/>
              </a:rPr>
              <a:t>ω</a:t>
            </a:r>
            <a:r>
              <a:rPr sz="3682" i="1" baseline="-41950" dirty="0">
                <a:latin typeface="Verdana"/>
                <a:cs typeface="Verdana"/>
              </a:rPr>
              <a:t>	</a:t>
            </a:r>
            <a:r>
              <a:rPr sz="3607" spc="-75" baseline="3472" dirty="0">
                <a:latin typeface="Symbol"/>
                <a:cs typeface="Symbol"/>
              </a:rPr>
              <a:t></a:t>
            </a:r>
            <a:endParaRPr sz="3607" baseline="3472">
              <a:latin typeface="Symbol"/>
              <a:cs typeface="Symbol"/>
            </a:endParaRPr>
          </a:p>
        </p:txBody>
      </p:sp>
    </p:spTree>
    <p:extLst>
      <p:ext uri="{BB962C8B-B14F-4D97-AF65-F5344CB8AC3E}">
        <p14:creationId xmlns:p14="http://schemas.microsoft.com/office/powerpoint/2010/main" val="1711057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054194">
              <a:spcBef>
                <a:spcPts val="90"/>
              </a:spcBef>
            </a:pPr>
            <a:r>
              <a:rPr spc="-35" dirty="0"/>
              <a:t>Low-</a:t>
            </a:r>
            <a:r>
              <a:rPr dirty="0"/>
              <a:t>pass</a:t>
            </a:r>
            <a:r>
              <a:rPr spc="-50" dirty="0"/>
              <a:t> </a:t>
            </a:r>
            <a:r>
              <a:rPr dirty="0"/>
              <a:t>filter:</a:t>
            </a:r>
            <a:r>
              <a:rPr spc="-75" dirty="0"/>
              <a:t> </a:t>
            </a:r>
            <a:r>
              <a:rPr spc="-10" dirty="0"/>
              <a:t>magnitude</a:t>
            </a:r>
          </a:p>
        </p:txBody>
      </p:sp>
      <p:pic>
        <p:nvPicPr>
          <p:cNvPr id="3" name="object 3"/>
          <p:cNvPicPr/>
          <p:nvPr/>
        </p:nvPicPr>
        <p:blipFill>
          <a:blip r:embed="rId2" cstate="print"/>
          <a:stretch>
            <a:fillRect/>
          </a:stretch>
        </p:blipFill>
        <p:spPr>
          <a:xfrm>
            <a:off x="1974329" y="1599606"/>
            <a:ext cx="7701318" cy="4580482"/>
          </a:xfrm>
          <a:prstGeom prst="rect">
            <a:avLst/>
          </a:prstGeom>
        </p:spPr>
      </p:pic>
      <p:sp>
        <p:nvSpPr>
          <p:cNvPr id="4" name="object 4"/>
          <p:cNvSpPr txBox="1"/>
          <p:nvPr/>
        </p:nvSpPr>
        <p:spPr>
          <a:xfrm>
            <a:off x="5793943" y="6127667"/>
            <a:ext cx="482859" cy="391886"/>
          </a:xfrm>
          <a:prstGeom prst="rect">
            <a:avLst/>
          </a:prstGeom>
        </p:spPr>
        <p:txBody>
          <a:bodyPr vert="horz" wrap="square" lIns="0" tIns="12724" rIns="0" bIns="0" rtlCol="0">
            <a:spAutoFit/>
          </a:bodyPr>
          <a:lstStyle/>
          <a:p>
            <a:pPr marL="12724">
              <a:spcBef>
                <a:spcPts val="100"/>
              </a:spcBef>
            </a:pPr>
            <a:r>
              <a:rPr sz="2405" b="1" spc="-20" dirty="0">
                <a:latin typeface="Arial"/>
                <a:cs typeface="Arial"/>
              </a:rPr>
              <a:t>f/fc</a:t>
            </a:r>
            <a:endParaRPr sz="2405">
              <a:latin typeface="Arial"/>
              <a:cs typeface="Arial"/>
            </a:endParaRPr>
          </a:p>
        </p:txBody>
      </p:sp>
      <p:sp>
        <p:nvSpPr>
          <p:cNvPr id="6" name="object 6"/>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14</a:t>
            </a:r>
          </a:p>
        </p:txBody>
      </p:sp>
    </p:spTree>
    <p:extLst>
      <p:ext uri="{BB962C8B-B14F-4D97-AF65-F5344CB8AC3E}">
        <p14:creationId xmlns:p14="http://schemas.microsoft.com/office/powerpoint/2010/main" val="3664451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51161" y="0"/>
            <a:ext cx="2546621" cy="696615"/>
          </a:xfrm>
          <a:prstGeom prst="rect">
            <a:avLst/>
          </a:prstGeom>
        </p:spPr>
        <p:txBody>
          <a:bodyPr vert="horz" wrap="square" lIns="0" tIns="11451" rIns="0" bIns="0" rtlCol="0">
            <a:spAutoFit/>
          </a:bodyPr>
          <a:lstStyle/>
          <a:p>
            <a:pPr marL="12724">
              <a:spcBef>
                <a:spcPts val="90"/>
              </a:spcBef>
            </a:pPr>
            <a:r>
              <a:rPr sz="4408" spc="-10" dirty="0">
                <a:latin typeface="Calibri"/>
                <a:cs typeface="Calibri"/>
              </a:rPr>
              <a:t>Logarithms</a:t>
            </a:r>
            <a:endParaRPr sz="4408" dirty="0">
              <a:latin typeface="Calibri"/>
              <a:cs typeface="Calibri"/>
            </a:endParaRPr>
          </a:p>
        </p:txBody>
      </p:sp>
      <p:sp>
        <p:nvSpPr>
          <p:cNvPr id="3" name="object 3"/>
          <p:cNvSpPr txBox="1">
            <a:spLocks noGrp="1"/>
          </p:cNvSpPr>
          <p:nvPr>
            <p:ph type="title"/>
          </p:nvPr>
        </p:nvSpPr>
        <p:spPr>
          <a:xfrm>
            <a:off x="2238469" y="1546542"/>
            <a:ext cx="2243164" cy="770412"/>
          </a:xfrm>
          <a:prstGeom prst="rect">
            <a:avLst/>
          </a:prstGeom>
        </p:spPr>
        <p:txBody>
          <a:bodyPr vert="horz" wrap="square" lIns="0" tIns="15904" rIns="0" bIns="0" rtlCol="0">
            <a:spAutoFit/>
          </a:bodyPr>
          <a:lstStyle/>
          <a:p>
            <a:pPr marL="38172">
              <a:spcBef>
                <a:spcPts val="125"/>
              </a:spcBef>
              <a:tabLst>
                <a:tab pos="822615" algn="l"/>
              </a:tabLst>
            </a:pPr>
            <a:r>
              <a:rPr sz="3006" spc="-25" dirty="0">
                <a:latin typeface="Arial MT"/>
                <a:cs typeface="Arial MT"/>
              </a:rPr>
              <a:t>log</a:t>
            </a:r>
            <a:r>
              <a:rPr sz="3006" dirty="0">
                <a:latin typeface="Arial MT"/>
                <a:cs typeface="Arial MT"/>
              </a:rPr>
              <a:t>	</a:t>
            </a:r>
            <a:r>
              <a:rPr sz="4859" spc="-245" dirty="0">
                <a:latin typeface="Symbol"/>
                <a:cs typeface="Symbol"/>
              </a:rPr>
              <a:t></a:t>
            </a:r>
            <a:r>
              <a:rPr sz="3006" spc="-245" dirty="0">
                <a:latin typeface="Arial MT"/>
                <a:cs typeface="Arial MT"/>
              </a:rPr>
              <a:t>10</a:t>
            </a:r>
            <a:r>
              <a:rPr sz="2630" i="1" spc="-368" baseline="42857" dirty="0">
                <a:latin typeface="Arial"/>
                <a:cs typeface="Arial"/>
              </a:rPr>
              <a:t>x</a:t>
            </a:r>
            <a:r>
              <a:rPr sz="2630" i="1" spc="52" baseline="42857" dirty="0">
                <a:latin typeface="Arial"/>
                <a:cs typeface="Arial"/>
              </a:rPr>
              <a:t> </a:t>
            </a:r>
            <a:r>
              <a:rPr sz="4859" spc="-646" dirty="0">
                <a:latin typeface="Symbol"/>
                <a:cs typeface="Symbol"/>
              </a:rPr>
              <a:t></a:t>
            </a:r>
            <a:r>
              <a:rPr sz="4859" spc="-776" dirty="0">
                <a:latin typeface="Times New Roman"/>
                <a:cs typeface="Times New Roman"/>
              </a:rPr>
              <a:t> </a:t>
            </a:r>
            <a:r>
              <a:rPr sz="3006" dirty="0">
                <a:latin typeface="Symbol"/>
                <a:cs typeface="Symbol"/>
              </a:rPr>
              <a:t></a:t>
            </a:r>
            <a:r>
              <a:rPr sz="3006" spc="125" dirty="0">
                <a:latin typeface="Times New Roman"/>
                <a:cs typeface="Times New Roman"/>
              </a:rPr>
              <a:t> </a:t>
            </a:r>
            <a:r>
              <a:rPr sz="3006" i="1" spc="-50" dirty="0">
                <a:latin typeface="Arial"/>
                <a:cs typeface="Arial"/>
              </a:rPr>
              <a:t>x</a:t>
            </a:r>
            <a:endParaRPr sz="3006">
              <a:latin typeface="Arial"/>
              <a:cs typeface="Arial"/>
            </a:endParaRPr>
          </a:p>
        </p:txBody>
      </p:sp>
      <p:sp>
        <p:nvSpPr>
          <p:cNvPr id="4" name="object 4"/>
          <p:cNvSpPr txBox="1"/>
          <p:nvPr/>
        </p:nvSpPr>
        <p:spPr>
          <a:xfrm>
            <a:off x="2755554" y="2038985"/>
            <a:ext cx="274829" cy="293278"/>
          </a:xfrm>
          <a:prstGeom prst="rect">
            <a:avLst/>
          </a:prstGeom>
        </p:spPr>
        <p:txBody>
          <a:bodyPr vert="horz" wrap="square" lIns="0" tIns="12724" rIns="0" bIns="0" rtlCol="0">
            <a:spAutoFit/>
          </a:bodyPr>
          <a:lstStyle/>
          <a:p>
            <a:pPr marL="12724">
              <a:spcBef>
                <a:spcPts val="100"/>
              </a:spcBef>
            </a:pPr>
            <a:r>
              <a:rPr sz="1753" spc="-25" dirty="0">
                <a:latin typeface="Arial MT"/>
                <a:cs typeface="Arial MT"/>
              </a:rPr>
              <a:t>10</a:t>
            </a:r>
            <a:endParaRPr sz="1753">
              <a:latin typeface="Arial MT"/>
              <a:cs typeface="Arial MT"/>
            </a:endParaRPr>
          </a:p>
        </p:txBody>
      </p:sp>
      <p:sp>
        <p:nvSpPr>
          <p:cNvPr id="5" name="object 5"/>
          <p:cNvSpPr/>
          <p:nvPr/>
        </p:nvSpPr>
        <p:spPr>
          <a:xfrm>
            <a:off x="5401484" y="3367671"/>
            <a:ext cx="617729" cy="0"/>
          </a:xfrm>
          <a:custGeom>
            <a:avLst/>
            <a:gdLst/>
            <a:ahLst/>
            <a:cxnLst/>
            <a:rect l="l" t="t" r="r" b="b"/>
            <a:pathLst>
              <a:path w="616585">
                <a:moveTo>
                  <a:pt x="0" y="0"/>
                </a:moveTo>
                <a:lnTo>
                  <a:pt x="616267" y="0"/>
                </a:lnTo>
              </a:path>
            </a:pathLst>
          </a:custGeom>
          <a:ln w="15808">
            <a:solidFill>
              <a:srgbClr val="000000"/>
            </a:solidFill>
          </a:ln>
        </p:spPr>
        <p:txBody>
          <a:bodyPr wrap="square" lIns="0" tIns="0" rIns="0" bIns="0" rtlCol="0"/>
          <a:lstStyle/>
          <a:p>
            <a:endParaRPr sz="1803"/>
          </a:p>
        </p:txBody>
      </p:sp>
      <p:sp>
        <p:nvSpPr>
          <p:cNvPr id="6" name="object 6"/>
          <p:cNvSpPr txBox="1"/>
          <p:nvPr/>
        </p:nvSpPr>
        <p:spPr>
          <a:xfrm>
            <a:off x="5824480" y="3355308"/>
            <a:ext cx="136778" cy="292642"/>
          </a:xfrm>
          <a:prstGeom prst="rect">
            <a:avLst/>
          </a:prstGeom>
        </p:spPr>
        <p:txBody>
          <a:bodyPr vert="horz" wrap="square" lIns="0" tIns="12724" rIns="0" bIns="0" rtlCol="0">
            <a:spAutoFit/>
          </a:bodyPr>
          <a:lstStyle/>
          <a:p>
            <a:pPr marL="12724">
              <a:spcBef>
                <a:spcPts val="100"/>
              </a:spcBef>
            </a:pPr>
            <a:r>
              <a:rPr sz="1753" i="1" spc="-50" dirty="0">
                <a:latin typeface="Arial"/>
                <a:cs typeface="Arial"/>
              </a:rPr>
              <a:t>x</a:t>
            </a:r>
            <a:endParaRPr sz="1753">
              <a:latin typeface="Arial"/>
              <a:cs typeface="Arial"/>
            </a:endParaRPr>
          </a:p>
        </p:txBody>
      </p:sp>
      <p:sp>
        <p:nvSpPr>
          <p:cNvPr id="18" name="object 18"/>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16</a:t>
            </a:r>
          </a:p>
        </p:txBody>
      </p:sp>
      <p:sp>
        <p:nvSpPr>
          <p:cNvPr id="7" name="object 7"/>
          <p:cNvSpPr txBox="1"/>
          <p:nvPr/>
        </p:nvSpPr>
        <p:spPr>
          <a:xfrm>
            <a:off x="6053504" y="3095569"/>
            <a:ext cx="172404" cy="483495"/>
          </a:xfrm>
          <a:prstGeom prst="rect">
            <a:avLst/>
          </a:prstGeom>
        </p:spPr>
        <p:txBody>
          <a:bodyPr vert="horz" wrap="square" lIns="0" tIns="12087" rIns="0" bIns="0" rtlCol="0">
            <a:spAutoFit/>
          </a:bodyPr>
          <a:lstStyle/>
          <a:p>
            <a:pPr marL="12724">
              <a:spcBef>
                <a:spcPts val="95"/>
              </a:spcBef>
            </a:pPr>
            <a:r>
              <a:rPr sz="3006" spc="-50" dirty="0">
                <a:latin typeface="Symbol"/>
                <a:cs typeface="Symbol"/>
              </a:rPr>
              <a:t></a:t>
            </a:r>
            <a:endParaRPr sz="3006">
              <a:latin typeface="Symbol"/>
              <a:cs typeface="Symbol"/>
            </a:endParaRPr>
          </a:p>
        </p:txBody>
      </p:sp>
      <p:sp>
        <p:nvSpPr>
          <p:cNvPr id="8" name="object 8"/>
          <p:cNvSpPr txBox="1"/>
          <p:nvPr/>
        </p:nvSpPr>
        <p:spPr>
          <a:xfrm>
            <a:off x="5192373" y="3095569"/>
            <a:ext cx="172404" cy="483495"/>
          </a:xfrm>
          <a:prstGeom prst="rect">
            <a:avLst/>
          </a:prstGeom>
        </p:spPr>
        <p:txBody>
          <a:bodyPr vert="horz" wrap="square" lIns="0" tIns="12087" rIns="0" bIns="0" rtlCol="0">
            <a:spAutoFit/>
          </a:bodyPr>
          <a:lstStyle/>
          <a:p>
            <a:pPr marL="12724">
              <a:spcBef>
                <a:spcPts val="95"/>
              </a:spcBef>
            </a:pPr>
            <a:r>
              <a:rPr sz="3006" spc="-50" dirty="0">
                <a:latin typeface="Symbol"/>
                <a:cs typeface="Symbol"/>
              </a:rPr>
              <a:t></a:t>
            </a:r>
            <a:endParaRPr sz="3006">
              <a:latin typeface="Symbol"/>
              <a:cs typeface="Symbol"/>
            </a:endParaRPr>
          </a:p>
        </p:txBody>
      </p:sp>
      <p:sp>
        <p:nvSpPr>
          <p:cNvPr id="9" name="object 9"/>
          <p:cNvSpPr txBox="1"/>
          <p:nvPr/>
        </p:nvSpPr>
        <p:spPr>
          <a:xfrm>
            <a:off x="5192373" y="3419256"/>
            <a:ext cx="1033153" cy="483495"/>
          </a:xfrm>
          <a:prstGeom prst="rect">
            <a:avLst/>
          </a:prstGeom>
        </p:spPr>
        <p:txBody>
          <a:bodyPr vert="horz" wrap="square" lIns="0" tIns="12087" rIns="0" bIns="0" rtlCol="0">
            <a:spAutoFit/>
          </a:bodyPr>
          <a:lstStyle/>
          <a:p>
            <a:pPr marL="12724">
              <a:spcBef>
                <a:spcPts val="95"/>
              </a:spcBef>
              <a:tabLst>
                <a:tab pos="873512" algn="l"/>
              </a:tabLst>
            </a:pPr>
            <a:r>
              <a:rPr sz="3006" spc="-50" dirty="0">
                <a:latin typeface="Symbol"/>
                <a:cs typeface="Symbol"/>
              </a:rPr>
              <a:t></a:t>
            </a:r>
            <a:r>
              <a:rPr sz="3006" dirty="0">
                <a:latin typeface="Times New Roman"/>
                <a:cs typeface="Times New Roman"/>
              </a:rPr>
              <a:t>	</a:t>
            </a:r>
            <a:r>
              <a:rPr sz="3006" spc="-50" dirty="0">
                <a:latin typeface="Symbol"/>
                <a:cs typeface="Symbol"/>
              </a:rPr>
              <a:t></a:t>
            </a:r>
            <a:endParaRPr sz="3006">
              <a:latin typeface="Symbol"/>
              <a:cs typeface="Symbol"/>
            </a:endParaRPr>
          </a:p>
        </p:txBody>
      </p:sp>
      <p:sp>
        <p:nvSpPr>
          <p:cNvPr id="10" name="object 10"/>
          <p:cNvSpPr txBox="1"/>
          <p:nvPr/>
        </p:nvSpPr>
        <p:spPr>
          <a:xfrm>
            <a:off x="5192373" y="2851276"/>
            <a:ext cx="172404" cy="483495"/>
          </a:xfrm>
          <a:prstGeom prst="rect">
            <a:avLst/>
          </a:prstGeom>
        </p:spPr>
        <p:txBody>
          <a:bodyPr vert="horz" wrap="square" lIns="0" tIns="12087" rIns="0" bIns="0" rtlCol="0">
            <a:spAutoFit/>
          </a:bodyPr>
          <a:lstStyle/>
          <a:p>
            <a:pPr marL="12724">
              <a:spcBef>
                <a:spcPts val="95"/>
              </a:spcBef>
            </a:pPr>
            <a:r>
              <a:rPr sz="3006" spc="-50" dirty="0">
                <a:latin typeface="Symbol"/>
                <a:cs typeface="Symbol"/>
              </a:rPr>
              <a:t></a:t>
            </a:r>
            <a:endParaRPr sz="3006">
              <a:latin typeface="Symbol"/>
              <a:cs typeface="Symbol"/>
            </a:endParaRPr>
          </a:p>
        </p:txBody>
      </p:sp>
      <p:sp>
        <p:nvSpPr>
          <p:cNvPr id="11" name="object 11"/>
          <p:cNvSpPr txBox="1"/>
          <p:nvPr/>
        </p:nvSpPr>
        <p:spPr>
          <a:xfrm>
            <a:off x="5378645" y="3367344"/>
            <a:ext cx="451686" cy="483495"/>
          </a:xfrm>
          <a:prstGeom prst="rect">
            <a:avLst/>
          </a:prstGeom>
        </p:spPr>
        <p:txBody>
          <a:bodyPr vert="horz" wrap="square" lIns="0" tIns="12087" rIns="0" bIns="0" rtlCol="0">
            <a:spAutoFit/>
          </a:bodyPr>
          <a:lstStyle/>
          <a:p>
            <a:pPr marL="12724">
              <a:spcBef>
                <a:spcPts val="95"/>
              </a:spcBef>
            </a:pPr>
            <a:r>
              <a:rPr sz="3006" spc="-25" dirty="0">
                <a:latin typeface="Arial MT"/>
                <a:cs typeface="Arial MT"/>
              </a:rPr>
              <a:t>10</a:t>
            </a:r>
            <a:endParaRPr sz="3006">
              <a:latin typeface="Arial MT"/>
              <a:cs typeface="Arial MT"/>
            </a:endParaRPr>
          </a:p>
        </p:txBody>
      </p:sp>
      <p:sp>
        <p:nvSpPr>
          <p:cNvPr id="12" name="object 12"/>
          <p:cNvSpPr txBox="1"/>
          <p:nvPr/>
        </p:nvSpPr>
        <p:spPr>
          <a:xfrm>
            <a:off x="5579170" y="3068086"/>
            <a:ext cx="1498199" cy="483495"/>
          </a:xfrm>
          <a:prstGeom prst="rect">
            <a:avLst/>
          </a:prstGeom>
        </p:spPr>
        <p:txBody>
          <a:bodyPr vert="horz" wrap="square" lIns="0" tIns="12087" rIns="0" bIns="0" rtlCol="0">
            <a:spAutoFit/>
          </a:bodyPr>
          <a:lstStyle/>
          <a:p>
            <a:pPr marL="38172">
              <a:spcBef>
                <a:spcPts val="95"/>
              </a:spcBef>
              <a:tabLst>
                <a:tab pos="486698" algn="l"/>
              </a:tabLst>
            </a:pPr>
            <a:r>
              <a:rPr sz="4509" spc="-75" baseline="34259" dirty="0">
                <a:latin typeface="Arial MT"/>
                <a:cs typeface="Arial MT"/>
              </a:rPr>
              <a:t>1</a:t>
            </a:r>
            <a:r>
              <a:rPr sz="4509" baseline="34259" dirty="0">
                <a:latin typeface="Arial MT"/>
                <a:cs typeface="Arial MT"/>
              </a:rPr>
              <a:t>	</a:t>
            </a:r>
            <a:r>
              <a:rPr sz="4509" baseline="31481" dirty="0">
                <a:latin typeface="Symbol"/>
                <a:cs typeface="Symbol"/>
              </a:rPr>
              <a:t></a:t>
            </a:r>
            <a:r>
              <a:rPr sz="4509" spc="-22" baseline="31481" dirty="0">
                <a:latin typeface="Times New Roman"/>
                <a:cs typeface="Times New Roman"/>
              </a:rPr>
              <a:t> </a:t>
            </a:r>
            <a:r>
              <a:rPr sz="3006" dirty="0">
                <a:latin typeface="Symbol"/>
                <a:cs typeface="Symbol"/>
              </a:rPr>
              <a:t></a:t>
            </a:r>
            <a:r>
              <a:rPr sz="3006" spc="15" dirty="0">
                <a:latin typeface="Times New Roman"/>
                <a:cs typeface="Times New Roman"/>
              </a:rPr>
              <a:t> </a:t>
            </a:r>
            <a:r>
              <a:rPr sz="3006" spc="45" dirty="0">
                <a:latin typeface="Symbol"/>
                <a:cs typeface="Symbol"/>
              </a:rPr>
              <a:t></a:t>
            </a:r>
            <a:r>
              <a:rPr sz="3006" i="1" spc="45" dirty="0">
                <a:latin typeface="Arial"/>
                <a:cs typeface="Arial"/>
              </a:rPr>
              <a:t>x</a:t>
            </a:r>
            <a:endParaRPr sz="3006">
              <a:latin typeface="Arial"/>
              <a:cs typeface="Arial"/>
            </a:endParaRPr>
          </a:p>
        </p:txBody>
      </p:sp>
      <p:sp>
        <p:nvSpPr>
          <p:cNvPr id="13" name="object 13"/>
          <p:cNvSpPr txBox="1"/>
          <p:nvPr/>
        </p:nvSpPr>
        <p:spPr>
          <a:xfrm>
            <a:off x="2305142" y="2829630"/>
            <a:ext cx="2903517" cy="788225"/>
          </a:xfrm>
          <a:prstGeom prst="rect">
            <a:avLst/>
          </a:prstGeom>
        </p:spPr>
        <p:txBody>
          <a:bodyPr vert="horz" wrap="square" lIns="0" tIns="15268" rIns="0" bIns="0" rtlCol="0">
            <a:spAutoFit/>
          </a:bodyPr>
          <a:lstStyle/>
          <a:p>
            <a:pPr marL="50897">
              <a:lnSpc>
                <a:spcPts val="4854"/>
              </a:lnSpc>
              <a:spcBef>
                <a:spcPts val="120"/>
              </a:spcBef>
              <a:tabLst>
                <a:tab pos="832158" algn="l"/>
              </a:tabLst>
            </a:pPr>
            <a:r>
              <a:rPr sz="3006" spc="-25" dirty="0">
                <a:latin typeface="Arial MT"/>
                <a:cs typeface="Arial MT"/>
              </a:rPr>
              <a:t>log</a:t>
            </a:r>
            <a:r>
              <a:rPr sz="3006" dirty="0">
                <a:latin typeface="Arial MT"/>
                <a:cs typeface="Arial MT"/>
              </a:rPr>
              <a:t>	</a:t>
            </a:r>
            <a:r>
              <a:rPr sz="4859" spc="-175" dirty="0">
                <a:latin typeface="Symbol"/>
                <a:cs typeface="Symbol"/>
              </a:rPr>
              <a:t></a:t>
            </a:r>
            <a:r>
              <a:rPr sz="3006" spc="-175" dirty="0">
                <a:latin typeface="Arial MT"/>
                <a:cs typeface="Arial MT"/>
              </a:rPr>
              <a:t>10</a:t>
            </a:r>
            <a:r>
              <a:rPr sz="2630" spc="-262" baseline="42857" dirty="0">
                <a:latin typeface="Symbol"/>
                <a:cs typeface="Symbol"/>
              </a:rPr>
              <a:t></a:t>
            </a:r>
            <a:r>
              <a:rPr sz="2630" i="1" spc="-262" baseline="42857" dirty="0">
                <a:latin typeface="Arial"/>
                <a:cs typeface="Arial"/>
              </a:rPr>
              <a:t>x</a:t>
            </a:r>
            <a:r>
              <a:rPr sz="2630" i="1" spc="60" baseline="42857" dirty="0">
                <a:latin typeface="Arial"/>
                <a:cs typeface="Arial"/>
              </a:rPr>
              <a:t> </a:t>
            </a:r>
            <a:r>
              <a:rPr sz="4859" spc="-130" dirty="0">
                <a:latin typeface="Symbol"/>
                <a:cs typeface="Symbol"/>
              </a:rPr>
              <a:t></a:t>
            </a:r>
            <a:r>
              <a:rPr sz="3006" spc="-130" dirty="0">
                <a:latin typeface="Symbol"/>
                <a:cs typeface="Symbol"/>
              </a:rPr>
              <a:t></a:t>
            </a:r>
            <a:r>
              <a:rPr sz="3006" spc="-100" dirty="0">
                <a:latin typeface="Times New Roman"/>
                <a:cs typeface="Times New Roman"/>
              </a:rPr>
              <a:t> </a:t>
            </a:r>
            <a:r>
              <a:rPr sz="3006" spc="-25" dirty="0">
                <a:latin typeface="Arial MT"/>
                <a:cs typeface="Arial MT"/>
              </a:rPr>
              <a:t>log</a:t>
            </a:r>
            <a:endParaRPr sz="3006">
              <a:latin typeface="Arial MT"/>
              <a:cs typeface="Arial MT"/>
            </a:endParaRPr>
          </a:p>
          <a:p>
            <a:pPr marL="542048">
              <a:lnSpc>
                <a:spcPts val="1127"/>
              </a:lnSpc>
              <a:tabLst>
                <a:tab pos="2615445" algn="l"/>
              </a:tabLst>
            </a:pPr>
            <a:r>
              <a:rPr sz="1753" spc="-25" dirty="0">
                <a:latin typeface="Arial MT"/>
                <a:cs typeface="Arial MT"/>
              </a:rPr>
              <a:t>10</a:t>
            </a:r>
            <a:r>
              <a:rPr sz="1753" dirty="0">
                <a:latin typeface="Arial MT"/>
                <a:cs typeface="Arial MT"/>
              </a:rPr>
              <a:t>	</a:t>
            </a:r>
            <a:r>
              <a:rPr sz="1753" spc="-25" dirty="0">
                <a:latin typeface="Arial MT"/>
                <a:cs typeface="Arial MT"/>
              </a:rPr>
              <a:t>10</a:t>
            </a:r>
            <a:endParaRPr sz="1753">
              <a:latin typeface="Arial MT"/>
              <a:cs typeface="Arial MT"/>
            </a:endParaRPr>
          </a:p>
        </p:txBody>
      </p:sp>
      <p:sp>
        <p:nvSpPr>
          <p:cNvPr id="14" name="object 14"/>
          <p:cNvSpPr txBox="1"/>
          <p:nvPr/>
        </p:nvSpPr>
        <p:spPr>
          <a:xfrm>
            <a:off x="3543399" y="4355585"/>
            <a:ext cx="174949" cy="294550"/>
          </a:xfrm>
          <a:prstGeom prst="rect">
            <a:avLst/>
          </a:prstGeom>
        </p:spPr>
        <p:txBody>
          <a:bodyPr vert="horz" wrap="square" lIns="0" tIns="13996" rIns="0" bIns="0" rtlCol="0">
            <a:spAutoFit/>
          </a:bodyPr>
          <a:lstStyle/>
          <a:p>
            <a:pPr marL="12724">
              <a:spcBef>
                <a:spcPts val="110"/>
              </a:spcBef>
            </a:pPr>
            <a:r>
              <a:rPr sz="1753" i="1" spc="-50" dirty="0">
                <a:latin typeface="Arial"/>
                <a:cs typeface="Arial"/>
              </a:rPr>
              <a:t>B</a:t>
            </a:r>
            <a:endParaRPr sz="1753">
              <a:latin typeface="Arial"/>
              <a:cs typeface="Arial"/>
            </a:endParaRPr>
          </a:p>
        </p:txBody>
      </p:sp>
      <p:sp>
        <p:nvSpPr>
          <p:cNvPr id="15" name="object 15"/>
          <p:cNvSpPr txBox="1"/>
          <p:nvPr/>
        </p:nvSpPr>
        <p:spPr>
          <a:xfrm>
            <a:off x="2874648" y="4624306"/>
            <a:ext cx="2416204" cy="294550"/>
          </a:xfrm>
          <a:prstGeom prst="rect">
            <a:avLst/>
          </a:prstGeom>
        </p:spPr>
        <p:txBody>
          <a:bodyPr vert="horz" wrap="square" lIns="0" tIns="13996" rIns="0" bIns="0" rtlCol="0">
            <a:spAutoFit/>
          </a:bodyPr>
          <a:lstStyle/>
          <a:p>
            <a:pPr marL="12724">
              <a:spcBef>
                <a:spcPts val="110"/>
              </a:spcBef>
              <a:tabLst>
                <a:tab pos="2152923" algn="l"/>
              </a:tabLst>
            </a:pPr>
            <a:r>
              <a:rPr sz="1753" spc="-25" dirty="0">
                <a:latin typeface="Arial MT"/>
                <a:cs typeface="Arial MT"/>
              </a:rPr>
              <a:t>10</a:t>
            </a:r>
            <a:r>
              <a:rPr sz="1753" dirty="0">
                <a:latin typeface="Arial MT"/>
                <a:cs typeface="Arial MT"/>
              </a:rPr>
              <a:t>	</a:t>
            </a:r>
            <a:r>
              <a:rPr sz="1753" spc="-25" dirty="0">
                <a:latin typeface="Arial MT"/>
                <a:cs typeface="Arial MT"/>
              </a:rPr>
              <a:t>10</a:t>
            </a:r>
            <a:endParaRPr sz="1753">
              <a:latin typeface="Arial MT"/>
              <a:cs typeface="Arial MT"/>
            </a:endParaRPr>
          </a:p>
        </p:txBody>
      </p:sp>
      <p:sp>
        <p:nvSpPr>
          <p:cNvPr id="16" name="object 16"/>
          <p:cNvSpPr txBox="1"/>
          <p:nvPr/>
        </p:nvSpPr>
        <p:spPr>
          <a:xfrm>
            <a:off x="2383010" y="4126801"/>
            <a:ext cx="3469715" cy="774229"/>
          </a:xfrm>
          <a:prstGeom prst="rect">
            <a:avLst/>
          </a:prstGeom>
        </p:spPr>
        <p:txBody>
          <a:bodyPr vert="horz" wrap="square" lIns="0" tIns="12724" rIns="0" bIns="0" rtlCol="0">
            <a:spAutoFit/>
          </a:bodyPr>
          <a:lstStyle/>
          <a:p>
            <a:pPr marL="12724">
              <a:spcBef>
                <a:spcPts val="100"/>
              </a:spcBef>
              <a:tabLst>
                <a:tab pos="797167" algn="l"/>
                <a:tab pos="1383749" algn="l"/>
                <a:tab pos="2938002" algn="l"/>
              </a:tabLst>
            </a:pPr>
            <a:r>
              <a:rPr sz="3006" spc="-25" dirty="0">
                <a:latin typeface="Arial MT"/>
                <a:cs typeface="Arial MT"/>
              </a:rPr>
              <a:t>log</a:t>
            </a:r>
            <a:r>
              <a:rPr sz="3006" dirty="0">
                <a:latin typeface="Arial MT"/>
                <a:cs typeface="Arial MT"/>
              </a:rPr>
              <a:t>	</a:t>
            </a:r>
            <a:r>
              <a:rPr sz="4909" spc="-421" dirty="0">
                <a:latin typeface="Symbol"/>
                <a:cs typeface="Symbol"/>
              </a:rPr>
              <a:t></a:t>
            </a:r>
            <a:r>
              <a:rPr sz="3006" i="1" spc="-421" dirty="0">
                <a:latin typeface="Arial"/>
                <a:cs typeface="Arial"/>
              </a:rPr>
              <a:t>A</a:t>
            </a:r>
            <a:r>
              <a:rPr sz="3006" i="1" dirty="0">
                <a:latin typeface="Arial"/>
                <a:cs typeface="Arial"/>
              </a:rPr>
              <a:t>	</a:t>
            </a:r>
            <a:r>
              <a:rPr sz="4909" spc="-140" dirty="0">
                <a:latin typeface="Symbol"/>
                <a:cs typeface="Symbol"/>
              </a:rPr>
              <a:t></a:t>
            </a:r>
            <a:r>
              <a:rPr sz="3006" spc="-140" dirty="0">
                <a:latin typeface="Symbol"/>
                <a:cs typeface="Symbol"/>
              </a:rPr>
              <a:t></a:t>
            </a:r>
            <a:r>
              <a:rPr sz="3006" spc="-70" dirty="0">
                <a:latin typeface="Times New Roman"/>
                <a:cs typeface="Times New Roman"/>
              </a:rPr>
              <a:t> </a:t>
            </a:r>
            <a:r>
              <a:rPr sz="3006" i="1" dirty="0">
                <a:latin typeface="Arial"/>
                <a:cs typeface="Arial"/>
              </a:rPr>
              <a:t>B</a:t>
            </a:r>
            <a:r>
              <a:rPr sz="3006" i="1" spc="-516" dirty="0">
                <a:latin typeface="Arial"/>
                <a:cs typeface="Arial"/>
              </a:rPr>
              <a:t> </a:t>
            </a:r>
            <a:r>
              <a:rPr sz="3006" spc="-25" dirty="0">
                <a:latin typeface="Arial MT"/>
                <a:cs typeface="Arial MT"/>
              </a:rPr>
              <a:t>log</a:t>
            </a:r>
            <a:r>
              <a:rPr sz="3006" dirty="0">
                <a:latin typeface="Arial MT"/>
                <a:cs typeface="Arial MT"/>
              </a:rPr>
              <a:t>	</a:t>
            </a:r>
            <a:r>
              <a:rPr sz="4058" spc="-200" dirty="0">
                <a:latin typeface="Symbol"/>
                <a:cs typeface="Symbol"/>
              </a:rPr>
              <a:t></a:t>
            </a:r>
            <a:r>
              <a:rPr sz="3006" i="1" spc="-200" dirty="0">
                <a:latin typeface="Arial"/>
                <a:cs typeface="Arial"/>
              </a:rPr>
              <a:t>A</a:t>
            </a:r>
            <a:r>
              <a:rPr sz="4058" spc="-200" dirty="0">
                <a:latin typeface="Symbol"/>
                <a:cs typeface="Symbol"/>
              </a:rPr>
              <a:t></a:t>
            </a:r>
            <a:endParaRPr sz="4058">
              <a:latin typeface="Symbol"/>
              <a:cs typeface="Symbol"/>
            </a:endParaRPr>
          </a:p>
        </p:txBody>
      </p:sp>
    </p:spTree>
    <p:extLst>
      <p:ext uri="{BB962C8B-B14F-4D97-AF65-F5344CB8AC3E}">
        <p14:creationId xmlns:p14="http://schemas.microsoft.com/office/powerpoint/2010/main" val="770841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686583">
              <a:spcBef>
                <a:spcPts val="90"/>
              </a:spcBef>
            </a:pPr>
            <a:r>
              <a:rPr dirty="0"/>
              <a:t>Benefit</a:t>
            </a:r>
            <a:r>
              <a:rPr spc="-65" dirty="0"/>
              <a:t> </a:t>
            </a:r>
            <a:r>
              <a:rPr dirty="0"/>
              <a:t>of</a:t>
            </a:r>
            <a:r>
              <a:rPr spc="-75" dirty="0"/>
              <a:t> </a:t>
            </a:r>
            <a:r>
              <a:rPr spc="-10" dirty="0"/>
              <a:t>logarithms</a:t>
            </a:r>
          </a:p>
        </p:txBody>
      </p:sp>
      <p:graphicFrame>
        <p:nvGraphicFramePr>
          <p:cNvPr id="3" name="object 3"/>
          <p:cNvGraphicFramePr>
            <a:graphicFrameLocks noGrp="1"/>
          </p:cNvGraphicFramePr>
          <p:nvPr/>
        </p:nvGraphicFramePr>
        <p:xfrm>
          <a:off x="2669290" y="1862221"/>
          <a:ext cx="6813466" cy="3263594"/>
        </p:xfrm>
        <a:graphic>
          <a:graphicData uri="http://schemas.openxmlformats.org/drawingml/2006/table">
            <a:tbl>
              <a:tblPr firstRow="1" bandRow="1">
                <a:tableStyleId>{2D5ABB26-0587-4C30-8999-92F81FD0307C}</a:tableStyleId>
              </a:tblPr>
              <a:tblGrid>
                <a:gridCol w="1459393">
                  <a:extLst>
                    <a:ext uri="{9D8B030D-6E8A-4147-A177-3AD203B41FA5}">
                      <a16:colId xmlns:a16="http://schemas.microsoft.com/office/drawing/2014/main" val="20000"/>
                    </a:ext>
                  </a:extLst>
                </a:gridCol>
                <a:gridCol w="1332792">
                  <a:extLst>
                    <a:ext uri="{9D8B030D-6E8A-4147-A177-3AD203B41FA5}">
                      <a16:colId xmlns:a16="http://schemas.microsoft.com/office/drawing/2014/main" val="20001"/>
                    </a:ext>
                  </a:extLst>
                </a:gridCol>
                <a:gridCol w="916096">
                  <a:extLst>
                    <a:ext uri="{9D8B030D-6E8A-4147-A177-3AD203B41FA5}">
                      <a16:colId xmlns:a16="http://schemas.microsoft.com/office/drawing/2014/main" val="20002"/>
                    </a:ext>
                  </a:extLst>
                </a:gridCol>
                <a:gridCol w="1763485">
                  <a:extLst>
                    <a:ext uri="{9D8B030D-6E8A-4147-A177-3AD203B41FA5}">
                      <a16:colId xmlns:a16="http://schemas.microsoft.com/office/drawing/2014/main" val="20003"/>
                    </a:ext>
                  </a:extLst>
                </a:gridCol>
                <a:gridCol w="1341700">
                  <a:extLst>
                    <a:ext uri="{9D8B030D-6E8A-4147-A177-3AD203B41FA5}">
                      <a16:colId xmlns:a16="http://schemas.microsoft.com/office/drawing/2014/main" val="20004"/>
                    </a:ext>
                  </a:extLst>
                </a:gridCol>
              </a:tblGrid>
              <a:tr h="831484">
                <a:tc>
                  <a:txBody>
                    <a:bodyPr/>
                    <a:lstStyle/>
                    <a:p>
                      <a:pPr>
                        <a:lnSpc>
                          <a:spcPct val="100000"/>
                        </a:lnSpc>
                        <a:spcBef>
                          <a:spcPts val="765"/>
                        </a:spcBef>
                      </a:pPr>
                      <a:endParaRPr sz="2400">
                        <a:latin typeface="Times New Roman"/>
                        <a:cs typeface="Times New Roman"/>
                      </a:endParaRPr>
                    </a:p>
                    <a:p>
                      <a:pPr marL="31750">
                        <a:lnSpc>
                          <a:spcPct val="100000"/>
                        </a:lnSpc>
                      </a:pPr>
                      <a:r>
                        <a:rPr sz="2400" spc="-50" dirty="0">
                          <a:latin typeface="Arial MT"/>
                          <a:cs typeface="Arial MT"/>
                        </a:rPr>
                        <a:t>1</a:t>
                      </a:r>
                      <a:endParaRPr sz="2400">
                        <a:latin typeface="Arial MT"/>
                        <a:cs typeface="Arial MT"/>
                      </a:endParaRPr>
                    </a:p>
                  </a:txBody>
                  <a:tcPr marL="0" marR="0" marT="97335" marB="0"/>
                </a:tc>
                <a:tc>
                  <a:txBody>
                    <a:bodyPr/>
                    <a:lstStyle/>
                    <a:p>
                      <a:pPr>
                        <a:lnSpc>
                          <a:spcPct val="100000"/>
                        </a:lnSpc>
                        <a:spcBef>
                          <a:spcPts val="765"/>
                        </a:spcBef>
                      </a:pPr>
                      <a:endParaRPr sz="2400">
                        <a:latin typeface="Times New Roman"/>
                        <a:cs typeface="Times New Roman"/>
                      </a:endParaRPr>
                    </a:p>
                    <a:p>
                      <a:pPr marL="54610" algn="ctr">
                        <a:lnSpc>
                          <a:spcPct val="100000"/>
                        </a:lnSpc>
                      </a:pPr>
                      <a:r>
                        <a:rPr sz="2400" dirty="0">
                          <a:latin typeface="Wingdings"/>
                          <a:cs typeface="Wingdings"/>
                        </a:rPr>
                        <a:t></a:t>
                      </a:r>
                      <a:r>
                        <a:rPr sz="2400" spc="20" dirty="0">
                          <a:latin typeface="Times New Roman"/>
                          <a:cs typeface="Times New Roman"/>
                        </a:rPr>
                        <a:t> </a:t>
                      </a:r>
                      <a:r>
                        <a:rPr sz="2400" spc="-50" dirty="0">
                          <a:latin typeface="Arial MT"/>
                          <a:cs typeface="Arial MT"/>
                        </a:rPr>
                        <a:t>0</a:t>
                      </a:r>
                      <a:endParaRPr sz="2400">
                        <a:latin typeface="Arial MT"/>
                        <a:cs typeface="Arial MT"/>
                      </a:endParaRPr>
                    </a:p>
                  </a:txBody>
                  <a:tcPr marL="0" marR="0" marT="97335" marB="0">
                    <a:lnR w="28575">
                      <a:solidFill>
                        <a:srgbClr val="375C89"/>
                      </a:solidFill>
                      <a:prstDash val="solid"/>
                    </a:lnR>
                  </a:tcPr>
                </a:tc>
                <a:tc>
                  <a:txBody>
                    <a:bodyPr/>
                    <a:lstStyle/>
                    <a:p>
                      <a:pPr>
                        <a:lnSpc>
                          <a:spcPct val="100000"/>
                        </a:lnSpc>
                      </a:pPr>
                      <a:endParaRPr sz="2200">
                        <a:latin typeface="Times New Roman"/>
                        <a:cs typeface="Times New Roman"/>
                      </a:endParaRPr>
                    </a:p>
                  </a:txBody>
                  <a:tcPr marL="0" marR="0" marT="0" marB="0">
                    <a:lnL w="28575">
                      <a:solidFill>
                        <a:srgbClr val="375C89"/>
                      </a:solidFill>
                      <a:prstDash val="solid"/>
                    </a:lnL>
                    <a:lnR w="28575">
                      <a:solidFill>
                        <a:srgbClr val="375C89"/>
                      </a:solidFill>
                      <a:prstDash val="solid"/>
                    </a:lnR>
                  </a:tcPr>
                </a:tc>
                <a:tc>
                  <a:txBody>
                    <a:bodyPr/>
                    <a:lstStyle/>
                    <a:p>
                      <a:pPr>
                        <a:lnSpc>
                          <a:spcPct val="100000"/>
                        </a:lnSpc>
                      </a:pPr>
                      <a:endParaRPr sz="2200">
                        <a:latin typeface="Times New Roman"/>
                        <a:cs typeface="Times New Roman"/>
                      </a:endParaRPr>
                    </a:p>
                  </a:txBody>
                  <a:tcPr marL="0" marR="0" marT="0" marB="0">
                    <a:lnL w="28575">
                      <a:solidFill>
                        <a:srgbClr val="375C89"/>
                      </a:solidFill>
                      <a:prstDash val="solid"/>
                    </a:lnL>
                    <a:lnT w="28575">
                      <a:solidFill>
                        <a:srgbClr val="375C89"/>
                      </a:solidFill>
                      <a:prstDash val="solid"/>
                    </a:lnT>
                  </a:tcPr>
                </a:tc>
                <a:tc>
                  <a:txBody>
                    <a:bodyPr/>
                    <a:lstStyle/>
                    <a:p>
                      <a:pPr>
                        <a:lnSpc>
                          <a:spcPct val="100000"/>
                        </a:lnSpc>
                      </a:pPr>
                      <a:endParaRPr sz="2200">
                        <a:latin typeface="Times New Roman"/>
                        <a:cs typeface="Times New Roman"/>
                      </a:endParaRPr>
                    </a:p>
                  </a:txBody>
                  <a:tcPr marL="0" marR="0" marT="0" marB="0">
                    <a:lnR w="28575">
                      <a:solidFill>
                        <a:srgbClr val="375C89"/>
                      </a:solidFill>
                      <a:prstDash val="solid"/>
                    </a:lnR>
                    <a:lnT w="28575">
                      <a:solidFill>
                        <a:srgbClr val="375C89"/>
                      </a:solidFill>
                      <a:prstDash val="solid"/>
                    </a:lnT>
                  </a:tcPr>
                </a:tc>
                <a:extLst>
                  <a:ext uri="{0D108BD9-81ED-4DB2-BD59-A6C34878D82A}">
                    <a16:rowId xmlns:a16="http://schemas.microsoft.com/office/drawing/2014/main" val="10000"/>
                  </a:ext>
                </a:extLst>
              </a:tr>
              <a:tr h="366439">
                <a:tc>
                  <a:txBody>
                    <a:bodyPr/>
                    <a:lstStyle/>
                    <a:p>
                      <a:pPr marL="31750">
                        <a:lnSpc>
                          <a:spcPts val="2750"/>
                        </a:lnSpc>
                      </a:pPr>
                      <a:r>
                        <a:rPr sz="2400" spc="-25" dirty="0">
                          <a:latin typeface="Arial MT"/>
                          <a:cs typeface="Arial MT"/>
                        </a:rPr>
                        <a:t>10</a:t>
                      </a:r>
                      <a:endParaRPr sz="2400">
                        <a:latin typeface="Arial MT"/>
                        <a:cs typeface="Arial MT"/>
                      </a:endParaRPr>
                    </a:p>
                  </a:txBody>
                  <a:tcPr marL="0" marR="0" marT="0" marB="0"/>
                </a:tc>
                <a:tc>
                  <a:txBody>
                    <a:bodyPr/>
                    <a:lstStyle/>
                    <a:p>
                      <a:pPr marL="54610" algn="ctr">
                        <a:lnSpc>
                          <a:spcPts val="2750"/>
                        </a:lnSpc>
                      </a:pPr>
                      <a:r>
                        <a:rPr sz="2400" dirty="0">
                          <a:latin typeface="Wingdings"/>
                          <a:cs typeface="Wingdings"/>
                        </a:rPr>
                        <a:t></a:t>
                      </a:r>
                      <a:r>
                        <a:rPr sz="2400" spc="20" dirty="0">
                          <a:latin typeface="Times New Roman"/>
                          <a:cs typeface="Times New Roman"/>
                        </a:rPr>
                        <a:t> </a:t>
                      </a:r>
                      <a:r>
                        <a:rPr sz="2400" spc="-50" dirty="0">
                          <a:latin typeface="Arial MT"/>
                          <a:cs typeface="Arial MT"/>
                        </a:rPr>
                        <a:t>1</a:t>
                      </a:r>
                      <a:endParaRPr sz="2400">
                        <a:latin typeface="Arial MT"/>
                        <a:cs typeface="Arial MT"/>
                      </a:endParaRPr>
                    </a:p>
                  </a:txBody>
                  <a:tcPr marL="0" marR="0" marT="0" marB="0">
                    <a:lnR w="28575">
                      <a:solidFill>
                        <a:srgbClr val="375C89"/>
                      </a:solidFill>
                      <a:prstDash val="solid"/>
                    </a:lnR>
                  </a:tcPr>
                </a:tc>
                <a:tc>
                  <a:txBody>
                    <a:bodyPr/>
                    <a:lstStyle/>
                    <a:p>
                      <a:pPr>
                        <a:lnSpc>
                          <a:spcPct val="100000"/>
                        </a:lnSpc>
                      </a:pPr>
                      <a:endParaRPr sz="2200">
                        <a:latin typeface="Times New Roman"/>
                        <a:cs typeface="Times New Roman"/>
                      </a:endParaRPr>
                    </a:p>
                  </a:txBody>
                  <a:tcPr marL="0" marR="0" marT="0" marB="0">
                    <a:lnL w="28575">
                      <a:solidFill>
                        <a:srgbClr val="375C89"/>
                      </a:solidFill>
                      <a:prstDash val="solid"/>
                    </a:lnL>
                    <a:lnR w="28575">
                      <a:solidFill>
                        <a:srgbClr val="375C89"/>
                      </a:solidFill>
                      <a:prstDash val="solid"/>
                    </a:lnR>
                  </a:tcPr>
                </a:tc>
                <a:tc>
                  <a:txBody>
                    <a:bodyPr/>
                    <a:lstStyle/>
                    <a:p>
                      <a:pPr marL="292100">
                        <a:lnSpc>
                          <a:spcPts val="2750"/>
                        </a:lnSpc>
                      </a:pPr>
                      <a:r>
                        <a:rPr sz="2400" spc="-25" dirty="0">
                          <a:latin typeface="Arial MT"/>
                          <a:cs typeface="Arial MT"/>
                        </a:rPr>
                        <a:t>0.1</a:t>
                      </a:r>
                      <a:endParaRPr sz="2400">
                        <a:latin typeface="Arial MT"/>
                        <a:cs typeface="Arial MT"/>
                      </a:endParaRPr>
                    </a:p>
                  </a:txBody>
                  <a:tcPr marL="0" marR="0" marT="0" marB="0">
                    <a:lnL w="28575">
                      <a:solidFill>
                        <a:srgbClr val="375C89"/>
                      </a:solidFill>
                      <a:prstDash val="solid"/>
                    </a:lnL>
                  </a:tcPr>
                </a:tc>
                <a:tc>
                  <a:txBody>
                    <a:bodyPr/>
                    <a:lstStyle/>
                    <a:p>
                      <a:pPr marR="206375" algn="r">
                        <a:lnSpc>
                          <a:spcPts val="2750"/>
                        </a:lnSpc>
                      </a:pPr>
                      <a:r>
                        <a:rPr sz="2400" dirty="0">
                          <a:latin typeface="Wingdings"/>
                          <a:cs typeface="Wingdings"/>
                        </a:rPr>
                        <a:t></a:t>
                      </a:r>
                      <a:r>
                        <a:rPr sz="2400" spc="30" dirty="0">
                          <a:latin typeface="Times New Roman"/>
                          <a:cs typeface="Times New Roman"/>
                        </a:rPr>
                        <a:t> </a:t>
                      </a:r>
                      <a:r>
                        <a:rPr sz="2400" dirty="0">
                          <a:latin typeface="Arial MT"/>
                          <a:cs typeface="Arial MT"/>
                        </a:rPr>
                        <a:t>-</a:t>
                      </a:r>
                      <a:r>
                        <a:rPr sz="2400" spc="-20" dirty="0">
                          <a:latin typeface="Arial MT"/>
                          <a:cs typeface="Arial MT"/>
                        </a:rPr>
                        <a:t> </a:t>
                      </a:r>
                      <a:r>
                        <a:rPr sz="2400" spc="-50" dirty="0">
                          <a:latin typeface="Arial MT"/>
                          <a:cs typeface="Arial MT"/>
                        </a:rPr>
                        <a:t>1</a:t>
                      </a:r>
                      <a:endParaRPr sz="2400">
                        <a:latin typeface="Arial MT"/>
                        <a:cs typeface="Arial MT"/>
                      </a:endParaRPr>
                    </a:p>
                  </a:txBody>
                  <a:tcPr marL="0" marR="0" marT="0" marB="0">
                    <a:lnR w="28575">
                      <a:solidFill>
                        <a:srgbClr val="375C89"/>
                      </a:solidFill>
                      <a:prstDash val="solid"/>
                    </a:lnR>
                  </a:tcPr>
                </a:tc>
                <a:extLst>
                  <a:ext uri="{0D108BD9-81ED-4DB2-BD59-A6C34878D82A}">
                    <a16:rowId xmlns:a16="http://schemas.microsoft.com/office/drawing/2014/main" val="10001"/>
                  </a:ext>
                </a:extLst>
              </a:tr>
              <a:tr h="365802">
                <a:tc>
                  <a:txBody>
                    <a:bodyPr/>
                    <a:lstStyle/>
                    <a:p>
                      <a:pPr marL="31750">
                        <a:lnSpc>
                          <a:spcPts val="2750"/>
                        </a:lnSpc>
                      </a:pPr>
                      <a:r>
                        <a:rPr sz="2400" spc="-25" dirty="0">
                          <a:latin typeface="Arial MT"/>
                          <a:cs typeface="Arial MT"/>
                        </a:rPr>
                        <a:t>100</a:t>
                      </a:r>
                      <a:endParaRPr sz="2400">
                        <a:latin typeface="Arial MT"/>
                        <a:cs typeface="Arial MT"/>
                      </a:endParaRPr>
                    </a:p>
                  </a:txBody>
                  <a:tcPr marL="0" marR="0" marT="0" marB="0"/>
                </a:tc>
                <a:tc>
                  <a:txBody>
                    <a:bodyPr/>
                    <a:lstStyle/>
                    <a:p>
                      <a:pPr marL="54610" algn="ctr">
                        <a:lnSpc>
                          <a:spcPts val="2750"/>
                        </a:lnSpc>
                      </a:pPr>
                      <a:r>
                        <a:rPr sz="2400" dirty="0">
                          <a:latin typeface="Wingdings"/>
                          <a:cs typeface="Wingdings"/>
                        </a:rPr>
                        <a:t></a:t>
                      </a:r>
                      <a:r>
                        <a:rPr sz="2400" spc="20" dirty="0">
                          <a:latin typeface="Times New Roman"/>
                          <a:cs typeface="Times New Roman"/>
                        </a:rPr>
                        <a:t> </a:t>
                      </a:r>
                      <a:r>
                        <a:rPr sz="2400" spc="-50" dirty="0">
                          <a:latin typeface="Arial MT"/>
                          <a:cs typeface="Arial MT"/>
                        </a:rPr>
                        <a:t>2</a:t>
                      </a:r>
                      <a:endParaRPr sz="2400">
                        <a:latin typeface="Arial MT"/>
                        <a:cs typeface="Arial MT"/>
                      </a:endParaRPr>
                    </a:p>
                  </a:txBody>
                  <a:tcPr marL="0" marR="0" marT="0" marB="0">
                    <a:lnR w="28575">
                      <a:solidFill>
                        <a:srgbClr val="375C89"/>
                      </a:solidFill>
                      <a:prstDash val="solid"/>
                    </a:lnR>
                  </a:tcPr>
                </a:tc>
                <a:tc>
                  <a:txBody>
                    <a:bodyPr/>
                    <a:lstStyle/>
                    <a:p>
                      <a:pPr>
                        <a:lnSpc>
                          <a:spcPct val="100000"/>
                        </a:lnSpc>
                      </a:pPr>
                      <a:endParaRPr sz="2200">
                        <a:latin typeface="Times New Roman"/>
                        <a:cs typeface="Times New Roman"/>
                      </a:endParaRPr>
                    </a:p>
                  </a:txBody>
                  <a:tcPr marL="0" marR="0" marT="0" marB="0">
                    <a:lnL w="28575">
                      <a:solidFill>
                        <a:srgbClr val="375C89"/>
                      </a:solidFill>
                      <a:prstDash val="solid"/>
                    </a:lnL>
                    <a:lnR w="28575">
                      <a:solidFill>
                        <a:srgbClr val="375C89"/>
                      </a:solidFill>
                      <a:prstDash val="solid"/>
                    </a:lnR>
                  </a:tcPr>
                </a:tc>
                <a:tc>
                  <a:txBody>
                    <a:bodyPr/>
                    <a:lstStyle/>
                    <a:p>
                      <a:pPr marL="292100">
                        <a:lnSpc>
                          <a:spcPts val="2750"/>
                        </a:lnSpc>
                      </a:pPr>
                      <a:r>
                        <a:rPr sz="2400" spc="-20" dirty="0">
                          <a:latin typeface="Arial MT"/>
                          <a:cs typeface="Arial MT"/>
                        </a:rPr>
                        <a:t>0.01</a:t>
                      </a:r>
                      <a:endParaRPr sz="2400">
                        <a:latin typeface="Arial MT"/>
                        <a:cs typeface="Arial MT"/>
                      </a:endParaRPr>
                    </a:p>
                  </a:txBody>
                  <a:tcPr marL="0" marR="0" marT="0" marB="0">
                    <a:lnL w="28575">
                      <a:solidFill>
                        <a:srgbClr val="375C89"/>
                      </a:solidFill>
                      <a:prstDash val="solid"/>
                    </a:lnL>
                  </a:tcPr>
                </a:tc>
                <a:tc>
                  <a:txBody>
                    <a:bodyPr/>
                    <a:lstStyle/>
                    <a:p>
                      <a:pPr marR="206375" algn="r">
                        <a:lnSpc>
                          <a:spcPts val="2750"/>
                        </a:lnSpc>
                      </a:pPr>
                      <a:r>
                        <a:rPr sz="2400" dirty="0">
                          <a:latin typeface="Wingdings"/>
                          <a:cs typeface="Wingdings"/>
                        </a:rPr>
                        <a:t></a:t>
                      </a:r>
                      <a:r>
                        <a:rPr sz="2400" spc="30" dirty="0">
                          <a:latin typeface="Times New Roman"/>
                          <a:cs typeface="Times New Roman"/>
                        </a:rPr>
                        <a:t> </a:t>
                      </a:r>
                      <a:r>
                        <a:rPr sz="2400" dirty="0">
                          <a:latin typeface="Arial MT"/>
                          <a:cs typeface="Arial MT"/>
                        </a:rPr>
                        <a:t>-</a:t>
                      </a:r>
                      <a:r>
                        <a:rPr sz="2400" spc="-20" dirty="0">
                          <a:latin typeface="Arial MT"/>
                          <a:cs typeface="Arial MT"/>
                        </a:rPr>
                        <a:t> </a:t>
                      </a:r>
                      <a:r>
                        <a:rPr sz="2400" spc="-50" dirty="0">
                          <a:latin typeface="Arial MT"/>
                          <a:cs typeface="Arial MT"/>
                        </a:rPr>
                        <a:t>2</a:t>
                      </a:r>
                      <a:endParaRPr sz="2400">
                        <a:latin typeface="Arial MT"/>
                        <a:cs typeface="Arial MT"/>
                      </a:endParaRPr>
                    </a:p>
                  </a:txBody>
                  <a:tcPr marL="0" marR="0" marT="0" marB="0">
                    <a:lnR w="28575">
                      <a:solidFill>
                        <a:srgbClr val="375C89"/>
                      </a:solidFill>
                      <a:prstDash val="solid"/>
                    </a:lnR>
                  </a:tcPr>
                </a:tc>
                <a:extLst>
                  <a:ext uri="{0D108BD9-81ED-4DB2-BD59-A6C34878D82A}">
                    <a16:rowId xmlns:a16="http://schemas.microsoft.com/office/drawing/2014/main" val="10002"/>
                  </a:ext>
                </a:extLst>
              </a:tr>
              <a:tr h="366439">
                <a:tc>
                  <a:txBody>
                    <a:bodyPr/>
                    <a:lstStyle/>
                    <a:p>
                      <a:pPr marL="31750">
                        <a:lnSpc>
                          <a:spcPts val="2750"/>
                        </a:lnSpc>
                      </a:pPr>
                      <a:r>
                        <a:rPr sz="2400" spc="-20" dirty="0">
                          <a:latin typeface="Arial MT"/>
                          <a:cs typeface="Arial MT"/>
                        </a:rPr>
                        <a:t>1000</a:t>
                      </a:r>
                      <a:endParaRPr sz="2400">
                        <a:latin typeface="Arial MT"/>
                        <a:cs typeface="Arial MT"/>
                      </a:endParaRPr>
                    </a:p>
                  </a:txBody>
                  <a:tcPr marL="0" marR="0" marT="0" marB="0"/>
                </a:tc>
                <a:tc>
                  <a:txBody>
                    <a:bodyPr/>
                    <a:lstStyle/>
                    <a:p>
                      <a:pPr marL="54610" algn="ctr">
                        <a:lnSpc>
                          <a:spcPts val="2750"/>
                        </a:lnSpc>
                      </a:pPr>
                      <a:r>
                        <a:rPr sz="2400" dirty="0">
                          <a:latin typeface="Wingdings"/>
                          <a:cs typeface="Wingdings"/>
                        </a:rPr>
                        <a:t></a:t>
                      </a:r>
                      <a:r>
                        <a:rPr sz="2400" spc="20" dirty="0">
                          <a:latin typeface="Times New Roman"/>
                          <a:cs typeface="Times New Roman"/>
                        </a:rPr>
                        <a:t> </a:t>
                      </a:r>
                      <a:r>
                        <a:rPr sz="2400" spc="-50" dirty="0">
                          <a:latin typeface="Arial MT"/>
                          <a:cs typeface="Arial MT"/>
                        </a:rPr>
                        <a:t>3</a:t>
                      </a:r>
                      <a:endParaRPr sz="2400">
                        <a:latin typeface="Arial MT"/>
                        <a:cs typeface="Arial MT"/>
                      </a:endParaRPr>
                    </a:p>
                  </a:txBody>
                  <a:tcPr marL="0" marR="0" marT="0" marB="0">
                    <a:lnR w="28575">
                      <a:solidFill>
                        <a:srgbClr val="375C89"/>
                      </a:solidFill>
                      <a:prstDash val="solid"/>
                    </a:lnR>
                  </a:tcPr>
                </a:tc>
                <a:tc>
                  <a:txBody>
                    <a:bodyPr/>
                    <a:lstStyle/>
                    <a:p>
                      <a:pPr>
                        <a:lnSpc>
                          <a:spcPct val="100000"/>
                        </a:lnSpc>
                      </a:pPr>
                      <a:endParaRPr sz="2200">
                        <a:latin typeface="Times New Roman"/>
                        <a:cs typeface="Times New Roman"/>
                      </a:endParaRPr>
                    </a:p>
                  </a:txBody>
                  <a:tcPr marL="0" marR="0" marT="0" marB="0">
                    <a:lnL w="28575">
                      <a:solidFill>
                        <a:srgbClr val="375C89"/>
                      </a:solidFill>
                      <a:prstDash val="solid"/>
                    </a:lnL>
                    <a:lnR w="28575">
                      <a:solidFill>
                        <a:srgbClr val="375C89"/>
                      </a:solidFill>
                      <a:prstDash val="solid"/>
                    </a:lnR>
                  </a:tcPr>
                </a:tc>
                <a:tc>
                  <a:txBody>
                    <a:bodyPr/>
                    <a:lstStyle/>
                    <a:p>
                      <a:pPr marL="292100">
                        <a:lnSpc>
                          <a:spcPts val="2750"/>
                        </a:lnSpc>
                      </a:pPr>
                      <a:r>
                        <a:rPr sz="2400" spc="-10" dirty="0">
                          <a:latin typeface="Arial MT"/>
                          <a:cs typeface="Arial MT"/>
                        </a:rPr>
                        <a:t>0.001</a:t>
                      </a:r>
                      <a:endParaRPr sz="2400">
                        <a:latin typeface="Arial MT"/>
                        <a:cs typeface="Arial MT"/>
                      </a:endParaRPr>
                    </a:p>
                  </a:txBody>
                  <a:tcPr marL="0" marR="0" marT="0" marB="0">
                    <a:lnL w="28575">
                      <a:solidFill>
                        <a:srgbClr val="375C89"/>
                      </a:solidFill>
                      <a:prstDash val="solid"/>
                    </a:lnL>
                  </a:tcPr>
                </a:tc>
                <a:tc>
                  <a:txBody>
                    <a:bodyPr/>
                    <a:lstStyle/>
                    <a:p>
                      <a:pPr marR="206375" algn="r">
                        <a:lnSpc>
                          <a:spcPts val="2750"/>
                        </a:lnSpc>
                      </a:pPr>
                      <a:r>
                        <a:rPr sz="2400" dirty="0">
                          <a:latin typeface="Wingdings"/>
                          <a:cs typeface="Wingdings"/>
                        </a:rPr>
                        <a:t></a:t>
                      </a:r>
                      <a:r>
                        <a:rPr sz="2400" spc="30" dirty="0">
                          <a:latin typeface="Times New Roman"/>
                          <a:cs typeface="Times New Roman"/>
                        </a:rPr>
                        <a:t> </a:t>
                      </a:r>
                      <a:r>
                        <a:rPr sz="2400" dirty="0">
                          <a:latin typeface="Arial MT"/>
                          <a:cs typeface="Arial MT"/>
                        </a:rPr>
                        <a:t>-</a:t>
                      </a:r>
                      <a:r>
                        <a:rPr sz="2400" spc="-20" dirty="0">
                          <a:latin typeface="Arial MT"/>
                          <a:cs typeface="Arial MT"/>
                        </a:rPr>
                        <a:t> </a:t>
                      </a:r>
                      <a:r>
                        <a:rPr sz="2400" spc="-50" dirty="0">
                          <a:latin typeface="Arial MT"/>
                          <a:cs typeface="Arial MT"/>
                        </a:rPr>
                        <a:t>3</a:t>
                      </a:r>
                      <a:endParaRPr sz="2400">
                        <a:latin typeface="Arial MT"/>
                        <a:cs typeface="Arial MT"/>
                      </a:endParaRPr>
                    </a:p>
                  </a:txBody>
                  <a:tcPr marL="0" marR="0" marT="0" marB="0">
                    <a:lnR w="28575">
                      <a:solidFill>
                        <a:srgbClr val="375C89"/>
                      </a:solidFill>
                      <a:prstDash val="solid"/>
                    </a:lnR>
                  </a:tcPr>
                </a:tc>
                <a:extLst>
                  <a:ext uri="{0D108BD9-81ED-4DB2-BD59-A6C34878D82A}">
                    <a16:rowId xmlns:a16="http://schemas.microsoft.com/office/drawing/2014/main" val="10003"/>
                  </a:ext>
                </a:extLst>
              </a:tr>
              <a:tr h="366439">
                <a:tc>
                  <a:txBody>
                    <a:bodyPr/>
                    <a:lstStyle/>
                    <a:p>
                      <a:pPr marL="31750">
                        <a:lnSpc>
                          <a:spcPts val="2750"/>
                        </a:lnSpc>
                      </a:pPr>
                      <a:r>
                        <a:rPr sz="2400" spc="-10" dirty="0">
                          <a:latin typeface="Arial MT"/>
                          <a:cs typeface="Arial MT"/>
                        </a:rPr>
                        <a:t>10000</a:t>
                      </a:r>
                      <a:endParaRPr sz="2400">
                        <a:latin typeface="Arial MT"/>
                        <a:cs typeface="Arial MT"/>
                      </a:endParaRPr>
                    </a:p>
                  </a:txBody>
                  <a:tcPr marL="0" marR="0" marT="0" marB="0"/>
                </a:tc>
                <a:tc>
                  <a:txBody>
                    <a:bodyPr/>
                    <a:lstStyle/>
                    <a:p>
                      <a:pPr marL="54610" algn="ctr">
                        <a:lnSpc>
                          <a:spcPts val="2750"/>
                        </a:lnSpc>
                      </a:pPr>
                      <a:r>
                        <a:rPr sz="2400" dirty="0">
                          <a:latin typeface="Wingdings"/>
                          <a:cs typeface="Wingdings"/>
                        </a:rPr>
                        <a:t></a:t>
                      </a:r>
                      <a:r>
                        <a:rPr sz="2400" spc="20" dirty="0">
                          <a:latin typeface="Times New Roman"/>
                          <a:cs typeface="Times New Roman"/>
                        </a:rPr>
                        <a:t> </a:t>
                      </a:r>
                      <a:r>
                        <a:rPr sz="2400" spc="-50" dirty="0">
                          <a:latin typeface="Arial MT"/>
                          <a:cs typeface="Arial MT"/>
                        </a:rPr>
                        <a:t>4</a:t>
                      </a:r>
                      <a:endParaRPr sz="2400">
                        <a:latin typeface="Arial MT"/>
                        <a:cs typeface="Arial MT"/>
                      </a:endParaRPr>
                    </a:p>
                  </a:txBody>
                  <a:tcPr marL="0" marR="0" marT="0" marB="0">
                    <a:lnR w="28575">
                      <a:solidFill>
                        <a:srgbClr val="375C89"/>
                      </a:solidFill>
                      <a:prstDash val="solid"/>
                    </a:lnR>
                  </a:tcPr>
                </a:tc>
                <a:tc>
                  <a:txBody>
                    <a:bodyPr/>
                    <a:lstStyle/>
                    <a:p>
                      <a:pPr>
                        <a:lnSpc>
                          <a:spcPct val="100000"/>
                        </a:lnSpc>
                      </a:pPr>
                      <a:endParaRPr sz="2200">
                        <a:latin typeface="Times New Roman"/>
                        <a:cs typeface="Times New Roman"/>
                      </a:endParaRPr>
                    </a:p>
                  </a:txBody>
                  <a:tcPr marL="0" marR="0" marT="0" marB="0">
                    <a:lnL w="28575">
                      <a:solidFill>
                        <a:srgbClr val="375C89"/>
                      </a:solidFill>
                      <a:prstDash val="solid"/>
                    </a:lnL>
                    <a:lnR w="28575">
                      <a:solidFill>
                        <a:srgbClr val="375C89"/>
                      </a:solidFill>
                      <a:prstDash val="solid"/>
                    </a:lnR>
                  </a:tcPr>
                </a:tc>
                <a:tc>
                  <a:txBody>
                    <a:bodyPr/>
                    <a:lstStyle/>
                    <a:p>
                      <a:pPr marL="292100">
                        <a:lnSpc>
                          <a:spcPts val="2750"/>
                        </a:lnSpc>
                      </a:pPr>
                      <a:r>
                        <a:rPr sz="2400" spc="-10" dirty="0">
                          <a:latin typeface="Arial MT"/>
                          <a:cs typeface="Arial MT"/>
                        </a:rPr>
                        <a:t>0.0001</a:t>
                      </a:r>
                      <a:endParaRPr sz="2400">
                        <a:latin typeface="Arial MT"/>
                        <a:cs typeface="Arial MT"/>
                      </a:endParaRPr>
                    </a:p>
                  </a:txBody>
                  <a:tcPr marL="0" marR="0" marT="0" marB="0">
                    <a:lnL w="28575">
                      <a:solidFill>
                        <a:srgbClr val="375C89"/>
                      </a:solidFill>
                      <a:prstDash val="solid"/>
                    </a:lnL>
                  </a:tcPr>
                </a:tc>
                <a:tc>
                  <a:txBody>
                    <a:bodyPr/>
                    <a:lstStyle/>
                    <a:p>
                      <a:pPr marR="206375" algn="r">
                        <a:lnSpc>
                          <a:spcPts val="2750"/>
                        </a:lnSpc>
                      </a:pPr>
                      <a:r>
                        <a:rPr sz="2400" dirty="0">
                          <a:latin typeface="Wingdings"/>
                          <a:cs typeface="Wingdings"/>
                        </a:rPr>
                        <a:t></a:t>
                      </a:r>
                      <a:r>
                        <a:rPr sz="2400" spc="30" dirty="0">
                          <a:latin typeface="Times New Roman"/>
                          <a:cs typeface="Times New Roman"/>
                        </a:rPr>
                        <a:t> </a:t>
                      </a:r>
                      <a:r>
                        <a:rPr sz="2400" dirty="0">
                          <a:latin typeface="Arial MT"/>
                          <a:cs typeface="Arial MT"/>
                        </a:rPr>
                        <a:t>-</a:t>
                      </a:r>
                      <a:r>
                        <a:rPr sz="2400" spc="-20" dirty="0">
                          <a:latin typeface="Arial MT"/>
                          <a:cs typeface="Arial MT"/>
                        </a:rPr>
                        <a:t> </a:t>
                      </a:r>
                      <a:r>
                        <a:rPr sz="2400" spc="-50" dirty="0">
                          <a:latin typeface="Arial MT"/>
                          <a:cs typeface="Arial MT"/>
                        </a:rPr>
                        <a:t>4</a:t>
                      </a:r>
                      <a:endParaRPr sz="2400">
                        <a:latin typeface="Arial MT"/>
                        <a:cs typeface="Arial MT"/>
                      </a:endParaRPr>
                    </a:p>
                  </a:txBody>
                  <a:tcPr marL="0" marR="0" marT="0" marB="0">
                    <a:lnR w="28575">
                      <a:solidFill>
                        <a:srgbClr val="375C89"/>
                      </a:solidFill>
                      <a:prstDash val="solid"/>
                    </a:lnR>
                  </a:tcPr>
                </a:tc>
                <a:extLst>
                  <a:ext uri="{0D108BD9-81ED-4DB2-BD59-A6C34878D82A}">
                    <a16:rowId xmlns:a16="http://schemas.microsoft.com/office/drawing/2014/main" val="10004"/>
                  </a:ext>
                </a:extLst>
              </a:tr>
              <a:tr h="966991">
                <a:tc>
                  <a:txBody>
                    <a:bodyPr/>
                    <a:lstStyle/>
                    <a:p>
                      <a:pPr marL="31750">
                        <a:lnSpc>
                          <a:spcPts val="2750"/>
                        </a:lnSpc>
                      </a:pPr>
                      <a:r>
                        <a:rPr sz="2400" spc="-10" dirty="0">
                          <a:latin typeface="Arial MT"/>
                          <a:cs typeface="Arial MT"/>
                        </a:rPr>
                        <a:t>100000</a:t>
                      </a:r>
                      <a:endParaRPr sz="2400">
                        <a:latin typeface="Arial MT"/>
                        <a:cs typeface="Arial MT"/>
                      </a:endParaRPr>
                    </a:p>
                  </a:txBody>
                  <a:tcPr marL="0" marR="0" marT="0" marB="0"/>
                </a:tc>
                <a:tc>
                  <a:txBody>
                    <a:bodyPr/>
                    <a:lstStyle/>
                    <a:p>
                      <a:pPr marL="54610" algn="ctr">
                        <a:lnSpc>
                          <a:spcPts val="2750"/>
                        </a:lnSpc>
                      </a:pPr>
                      <a:r>
                        <a:rPr sz="2400" dirty="0">
                          <a:latin typeface="Wingdings"/>
                          <a:cs typeface="Wingdings"/>
                        </a:rPr>
                        <a:t></a:t>
                      </a:r>
                      <a:r>
                        <a:rPr sz="2400" spc="20" dirty="0">
                          <a:latin typeface="Times New Roman"/>
                          <a:cs typeface="Times New Roman"/>
                        </a:rPr>
                        <a:t> </a:t>
                      </a:r>
                      <a:r>
                        <a:rPr sz="2400" spc="-50" dirty="0">
                          <a:latin typeface="Arial MT"/>
                          <a:cs typeface="Arial MT"/>
                        </a:rPr>
                        <a:t>5</a:t>
                      </a:r>
                      <a:endParaRPr sz="2400">
                        <a:latin typeface="Arial MT"/>
                        <a:cs typeface="Arial MT"/>
                      </a:endParaRPr>
                    </a:p>
                  </a:txBody>
                  <a:tcPr marL="0" marR="0" marT="0" marB="0">
                    <a:lnR w="28575">
                      <a:solidFill>
                        <a:srgbClr val="375C89"/>
                      </a:solidFill>
                      <a:prstDash val="solid"/>
                    </a:lnR>
                  </a:tcPr>
                </a:tc>
                <a:tc>
                  <a:txBody>
                    <a:bodyPr/>
                    <a:lstStyle/>
                    <a:p>
                      <a:pPr>
                        <a:lnSpc>
                          <a:spcPct val="100000"/>
                        </a:lnSpc>
                      </a:pPr>
                      <a:endParaRPr sz="2200">
                        <a:latin typeface="Times New Roman"/>
                        <a:cs typeface="Times New Roman"/>
                      </a:endParaRPr>
                    </a:p>
                  </a:txBody>
                  <a:tcPr marL="0" marR="0" marT="0" marB="0">
                    <a:lnL w="28575">
                      <a:solidFill>
                        <a:srgbClr val="375C89"/>
                      </a:solidFill>
                      <a:prstDash val="solid"/>
                    </a:lnL>
                    <a:lnR w="28575">
                      <a:solidFill>
                        <a:srgbClr val="375C89"/>
                      </a:solidFill>
                      <a:prstDash val="solid"/>
                    </a:lnR>
                  </a:tcPr>
                </a:tc>
                <a:tc>
                  <a:txBody>
                    <a:bodyPr/>
                    <a:lstStyle/>
                    <a:p>
                      <a:pPr marL="292100">
                        <a:lnSpc>
                          <a:spcPts val="2750"/>
                        </a:lnSpc>
                      </a:pPr>
                      <a:r>
                        <a:rPr sz="2400" spc="-10" dirty="0">
                          <a:latin typeface="Arial MT"/>
                          <a:cs typeface="Arial MT"/>
                        </a:rPr>
                        <a:t>0.00001</a:t>
                      </a:r>
                      <a:endParaRPr sz="2400">
                        <a:latin typeface="Arial MT"/>
                        <a:cs typeface="Arial MT"/>
                      </a:endParaRPr>
                    </a:p>
                  </a:txBody>
                  <a:tcPr marL="0" marR="0" marT="0" marB="0">
                    <a:lnL w="28575">
                      <a:solidFill>
                        <a:srgbClr val="375C89"/>
                      </a:solidFill>
                      <a:prstDash val="solid"/>
                    </a:lnL>
                    <a:lnB w="28575">
                      <a:solidFill>
                        <a:srgbClr val="375C89"/>
                      </a:solidFill>
                      <a:prstDash val="solid"/>
                    </a:lnB>
                  </a:tcPr>
                </a:tc>
                <a:tc>
                  <a:txBody>
                    <a:bodyPr/>
                    <a:lstStyle/>
                    <a:p>
                      <a:pPr marR="206375" algn="r">
                        <a:lnSpc>
                          <a:spcPts val="2750"/>
                        </a:lnSpc>
                      </a:pPr>
                      <a:r>
                        <a:rPr sz="2400" dirty="0">
                          <a:latin typeface="Wingdings"/>
                          <a:cs typeface="Wingdings"/>
                        </a:rPr>
                        <a:t></a:t>
                      </a:r>
                      <a:r>
                        <a:rPr sz="2400" spc="30" dirty="0">
                          <a:latin typeface="Times New Roman"/>
                          <a:cs typeface="Times New Roman"/>
                        </a:rPr>
                        <a:t> </a:t>
                      </a:r>
                      <a:r>
                        <a:rPr sz="2400" dirty="0">
                          <a:latin typeface="Arial MT"/>
                          <a:cs typeface="Arial MT"/>
                        </a:rPr>
                        <a:t>-</a:t>
                      </a:r>
                      <a:r>
                        <a:rPr sz="2400" spc="-20" dirty="0">
                          <a:latin typeface="Arial MT"/>
                          <a:cs typeface="Arial MT"/>
                        </a:rPr>
                        <a:t> </a:t>
                      </a:r>
                      <a:r>
                        <a:rPr sz="2400" spc="-50" dirty="0">
                          <a:latin typeface="Arial MT"/>
                          <a:cs typeface="Arial MT"/>
                        </a:rPr>
                        <a:t>5</a:t>
                      </a:r>
                      <a:endParaRPr sz="2400">
                        <a:latin typeface="Arial MT"/>
                        <a:cs typeface="Arial MT"/>
                      </a:endParaRPr>
                    </a:p>
                  </a:txBody>
                  <a:tcPr marL="0" marR="0" marT="0" marB="0">
                    <a:lnR w="28575">
                      <a:solidFill>
                        <a:srgbClr val="375C89"/>
                      </a:solidFill>
                      <a:prstDash val="solid"/>
                    </a:lnR>
                    <a:lnB w="28575">
                      <a:solidFill>
                        <a:srgbClr val="375C89"/>
                      </a:solidFill>
                      <a:prstDash val="solid"/>
                    </a:lnB>
                  </a:tcPr>
                </a:tc>
                <a:extLst>
                  <a:ext uri="{0D108BD9-81ED-4DB2-BD59-A6C34878D82A}">
                    <a16:rowId xmlns:a16="http://schemas.microsoft.com/office/drawing/2014/main" val="10005"/>
                  </a:ext>
                </a:extLst>
              </a:tr>
            </a:tbl>
          </a:graphicData>
        </a:graphic>
      </p:graphicFrame>
      <p:sp>
        <p:nvSpPr>
          <p:cNvPr id="4" name="object 4"/>
          <p:cNvSpPr/>
          <p:nvPr/>
        </p:nvSpPr>
        <p:spPr>
          <a:xfrm>
            <a:off x="2356035" y="1862221"/>
            <a:ext cx="3105822" cy="3264866"/>
          </a:xfrm>
          <a:custGeom>
            <a:avLst/>
            <a:gdLst/>
            <a:ahLst/>
            <a:cxnLst/>
            <a:rect l="l" t="t" r="r" b="b"/>
            <a:pathLst>
              <a:path w="3100070" h="3258820">
                <a:moveTo>
                  <a:pt x="0" y="0"/>
                </a:moveTo>
                <a:lnTo>
                  <a:pt x="3099816" y="0"/>
                </a:lnTo>
                <a:lnTo>
                  <a:pt x="3099816" y="3258311"/>
                </a:lnTo>
                <a:lnTo>
                  <a:pt x="0" y="3258311"/>
                </a:lnTo>
                <a:lnTo>
                  <a:pt x="0" y="0"/>
                </a:lnTo>
                <a:close/>
              </a:path>
            </a:pathLst>
          </a:custGeom>
          <a:ln w="24382">
            <a:solidFill>
              <a:srgbClr val="375C89"/>
            </a:solidFill>
          </a:ln>
        </p:spPr>
        <p:txBody>
          <a:bodyPr wrap="square" lIns="0" tIns="0" rIns="0" bIns="0" rtlCol="0"/>
          <a:lstStyle/>
          <a:p>
            <a:endParaRPr sz="1803"/>
          </a:p>
        </p:txBody>
      </p:sp>
      <p:sp>
        <p:nvSpPr>
          <p:cNvPr id="6" name="object 6"/>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17</a:t>
            </a:r>
          </a:p>
        </p:txBody>
      </p:sp>
    </p:spTree>
    <p:extLst>
      <p:ext uri="{BB962C8B-B14F-4D97-AF65-F5344CB8AC3E}">
        <p14:creationId xmlns:p14="http://schemas.microsoft.com/office/powerpoint/2010/main" val="957842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4721" y="0"/>
            <a:ext cx="3280771" cy="917363"/>
          </a:xfrm>
          <a:prstGeom prst="rect">
            <a:avLst/>
          </a:prstGeom>
        </p:spPr>
        <p:txBody>
          <a:bodyPr vert="horz" wrap="square" lIns="0" tIns="237931" rIns="0" bIns="0" rtlCol="0">
            <a:spAutoFit/>
          </a:bodyPr>
          <a:lstStyle/>
          <a:p>
            <a:pPr marL="12724">
              <a:spcBef>
                <a:spcPts val="1874"/>
              </a:spcBef>
            </a:pPr>
            <a:r>
              <a:rPr dirty="0" err="1"/>
              <a:t>Semilog</a:t>
            </a:r>
            <a:r>
              <a:rPr spc="-114" dirty="0"/>
              <a:t> </a:t>
            </a:r>
            <a:r>
              <a:rPr spc="-10" dirty="0" smtClean="0"/>
              <a:t>paper</a:t>
            </a:r>
            <a:endParaRPr spc="-10" dirty="0"/>
          </a:p>
        </p:txBody>
      </p:sp>
      <p:pic>
        <p:nvPicPr>
          <p:cNvPr id="19" name="Picture 18"/>
          <p:cNvPicPr>
            <a:picLocks noChangeAspect="1"/>
          </p:cNvPicPr>
          <p:nvPr/>
        </p:nvPicPr>
        <p:blipFill>
          <a:blip r:embed="rId2"/>
          <a:stretch>
            <a:fillRect/>
          </a:stretch>
        </p:blipFill>
        <p:spPr>
          <a:xfrm>
            <a:off x="1939613" y="1014114"/>
            <a:ext cx="8062226" cy="5843885"/>
          </a:xfrm>
          <a:prstGeom prst="rect">
            <a:avLst/>
          </a:prstGeom>
        </p:spPr>
      </p:pic>
    </p:spTree>
    <p:extLst>
      <p:ext uri="{BB962C8B-B14F-4D97-AF65-F5344CB8AC3E}">
        <p14:creationId xmlns:p14="http://schemas.microsoft.com/office/powerpoint/2010/main" val="3517631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2446850">
              <a:spcBef>
                <a:spcPts val="90"/>
              </a:spcBef>
            </a:pPr>
            <a:r>
              <a:rPr dirty="0"/>
              <a:t>Semilog</a:t>
            </a:r>
            <a:r>
              <a:rPr spc="-114" dirty="0"/>
              <a:t> </a:t>
            </a:r>
            <a:r>
              <a:rPr spc="-10" dirty="0"/>
              <a:t>paper</a:t>
            </a:r>
          </a:p>
        </p:txBody>
      </p:sp>
      <p:grpSp>
        <p:nvGrpSpPr>
          <p:cNvPr id="3" name="object 3"/>
          <p:cNvGrpSpPr/>
          <p:nvPr/>
        </p:nvGrpSpPr>
        <p:grpSpPr>
          <a:xfrm>
            <a:off x="2867530" y="1294241"/>
            <a:ext cx="6369415" cy="4916384"/>
            <a:chOff x="1330459" y="1291844"/>
            <a:chExt cx="6357620" cy="4907280"/>
          </a:xfrm>
        </p:grpSpPr>
        <p:pic>
          <p:nvPicPr>
            <p:cNvPr id="4" name="object 4"/>
            <p:cNvPicPr/>
            <p:nvPr/>
          </p:nvPicPr>
          <p:blipFill>
            <a:blip r:embed="rId2" cstate="print"/>
            <a:stretch>
              <a:fillRect/>
            </a:stretch>
          </p:blipFill>
          <p:spPr>
            <a:xfrm>
              <a:off x="1330459" y="1774721"/>
              <a:ext cx="6357113" cy="4406758"/>
            </a:xfrm>
            <a:prstGeom prst="rect">
              <a:avLst/>
            </a:prstGeom>
          </p:spPr>
        </p:pic>
        <p:pic>
          <p:nvPicPr>
            <p:cNvPr id="5" name="object 5"/>
            <p:cNvPicPr/>
            <p:nvPr/>
          </p:nvPicPr>
          <p:blipFill>
            <a:blip r:embed="rId3" cstate="print"/>
            <a:stretch>
              <a:fillRect/>
            </a:stretch>
          </p:blipFill>
          <p:spPr>
            <a:xfrm>
              <a:off x="2048255" y="1291844"/>
              <a:ext cx="4913376" cy="2923031"/>
            </a:xfrm>
            <a:prstGeom prst="rect">
              <a:avLst/>
            </a:prstGeom>
          </p:spPr>
        </p:pic>
        <p:sp>
          <p:nvSpPr>
            <p:cNvPr id="6" name="object 6"/>
            <p:cNvSpPr/>
            <p:nvPr/>
          </p:nvSpPr>
          <p:spPr>
            <a:xfrm>
              <a:off x="1484376" y="3797299"/>
              <a:ext cx="5297805" cy="2402205"/>
            </a:xfrm>
            <a:custGeom>
              <a:avLst/>
              <a:gdLst/>
              <a:ahLst/>
              <a:cxnLst/>
              <a:rect l="l" t="t" r="r" b="b"/>
              <a:pathLst>
                <a:path w="5297805" h="2402204">
                  <a:moveTo>
                    <a:pt x="1182624" y="18288"/>
                  </a:moveTo>
                  <a:lnTo>
                    <a:pt x="1149096" y="3048"/>
                  </a:lnTo>
                  <a:lnTo>
                    <a:pt x="36360" y="2291994"/>
                  </a:lnTo>
                  <a:lnTo>
                    <a:pt x="0" y="2273808"/>
                  </a:lnTo>
                  <a:lnTo>
                    <a:pt x="3048" y="2401824"/>
                  </a:lnTo>
                  <a:lnTo>
                    <a:pt x="103632" y="2325624"/>
                  </a:lnTo>
                  <a:lnTo>
                    <a:pt x="69303" y="2308466"/>
                  </a:lnTo>
                  <a:lnTo>
                    <a:pt x="1182624" y="18288"/>
                  </a:lnTo>
                  <a:close/>
                </a:path>
                <a:path w="5297805" h="2402204">
                  <a:moveTo>
                    <a:pt x="2020824" y="2170176"/>
                  </a:moveTo>
                  <a:lnTo>
                    <a:pt x="1984044" y="2182444"/>
                  </a:lnTo>
                  <a:lnTo>
                    <a:pt x="1231392" y="3048"/>
                  </a:lnTo>
                  <a:lnTo>
                    <a:pt x="1194816" y="18288"/>
                  </a:lnTo>
                  <a:lnTo>
                    <a:pt x="1947456" y="2194636"/>
                  </a:lnTo>
                  <a:lnTo>
                    <a:pt x="1911096" y="2206752"/>
                  </a:lnTo>
                  <a:lnTo>
                    <a:pt x="2002536" y="2295144"/>
                  </a:lnTo>
                  <a:lnTo>
                    <a:pt x="2014575" y="2212848"/>
                  </a:lnTo>
                  <a:lnTo>
                    <a:pt x="2020824" y="2170176"/>
                  </a:lnTo>
                  <a:close/>
                </a:path>
                <a:path w="5297805" h="2402204">
                  <a:moveTo>
                    <a:pt x="3297936" y="2295144"/>
                  </a:moveTo>
                  <a:lnTo>
                    <a:pt x="3292805" y="2225040"/>
                  </a:lnTo>
                  <a:lnTo>
                    <a:pt x="3288792" y="2170176"/>
                  </a:lnTo>
                  <a:lnTo>
                    <a:pt x="3258223" y="2188337"/>
                  </a:lnTo>
                  <a:lnTo>
                    <a:pt x="1944624" y="0"/>
                  </a:lnTo>
                  <a:lnTo>
                    <a:pt x="1911096" y="21336"/>
                  </a:lnTo>
                  <a:lnTo>
                    <a:pt x="3224060" y="2208619"/>
                  </a:lnTo>
                  <a:lnTo>
                    <a:pt x="3191256" y="2228088"/>
                  </a:lnTo>
                  <a:lnTo>
                    <a:pt x="3297936" y="2295144"/>
                  </a:lnTo>
                  <a:close/>
                </a:path>
                <a:path w="5297805" h="2402204">
                  <a:moveTo>
                    <a:pt x="3877056" y="2176272"/>
                  </a:moveTo>
                  <a:lnTo>
                    <a:pt x="3841470" y="2180120"/>
                  </a:lnTo>
                  <a:lnTo>
                    <a:pt x="3624072" y="9144"/>
                  </a:lnTo>
                  <a:lnTo>
                    <a:pt x="3584448" y="12192"/>
                  </a:lnTo>
                  <a:lnTo>
                    <a:pt x="3801961" y="2184400"/>
                  </a:lnTo>
                  <a:lnTo>
                    <a:pt x="3764280" y="2188464"/>
                  </a:lnTo>
                  <a:lnTo>
                    <a:pt x="3831336" y="2295144"/>
                  </a:lnTo>
                  <a:lnTo>
                    <a:pt x="3866502" y="2203704"/>
                  </a:lnTo>
                  <a:lnTo>
                    <a:pt x="3877056" y="2176272"/>
                  </a:lnTo>
                  <a:close/>
                </a:path>
                <a:path w="5297805" h="2402204">
                  <a:moveTo>
                    <a:pt x="5297424" y="18288"/>
                  </a:moveTo>
                  <a:lnTo>
                    <a:pt x="5263896" y="3048"/>
                  </a:lnTo>
                  <a:lnTo>
                    <a:pt x="4171912" y="2187016"/>
                  </a:lnTo>
                  <a:lnTo>
                    <a:pt x="4136136" y="2170176"/>
                  </a:lnTo>
                  <a:lnTo>
                    <a:pt x="4136136" y="2295144"/>
                  </a:lnTo>
                  <a:lnTo>
                    <a:pt x="4239768" y="2218944"/>
                  </a:lnTo>
                  <a:lnTo>
                    <a:pt x="4205224" y="2202688"/>
                  </a:lnTo>
                  <a:lnTo>
                    <a:pt x="5297424" y="18288"/>
                  </a:lnTo>
                  <a:close/>
                </a:path>
              </a:pathLst>
            </a:custGeom>
            <a:solidFill>
              <a:srgbClr val="000000"/>
            </a:solidFill>
          </p:spPr>
          <p:txBody>
            <a:bodyPr wrap="square" lIns="0" tIns="0" rIns="0" bIns="0" rtlCol="0"/>
            <a:lstStyle/>
            <a:p>
              <a:endParaRPr sz="1803"/>
            </a:p>
          </p:txBody>
        </p:sp>
      </p:grpSp>
      <p:sp>
        <p:nvSpPr>
          <p:cNvPr id="7" name="object 7"/>
          <p:cNvSpPr txBox="1"/>
          <p:nvPr/>
        </p:nvSpPr>
        <p:spPr>
          <a:xfrm>
            <a:off x="2740287" y="6305098"/>
            <a:ext cx="473317" cy="269804"/>
          </a:xfrm>
          <a:prstGeom prst="rect">
            <a:avLst/>
          </a:prstGeom>
        </p:spPr>
        <p:txBody>
          <a:bodyPr vert="horz" wrap="square" lIns="0" tIns="0" rIns="0" bIns="0" rtlCol="0">
            <a:spAutoFit/>
          </a:bodyPr>
          <a:lstStyle/>
          <a:p>
            <a:pPr marL="12724">
              <a:lnSpc>
                <a:spcPts val="2094"/>
              </a:lnSpc>
            </a:pPr>
            <a:r>
              <a:rPr sz="1803" spc="-20" dirty="0">
                <a:latin typeface="Arial MT"/>
                <a:cs typeface="Arial MT"/>
              </a:rPr>
              <a:t>0.01</a:t>
            </a:r>
            <a:endParaRPr sz="1803">
              <a:latin typeface="Arial MT"/>
              <a:cs typeface="Arial MT"/>
            </a:endParaRPr>
          </a:p>
        </p:txBody>
      </p:sp>
      <p:sp>
        <p:nvSpPr>
          <p:cNvPr id="8" name="object 8"/>
          <p:cNvSpPr txBox="1"/>
          <p:nvPr/>
        </p:nvSpPr>
        <p:spPr>
          <a:xfrm>
            <a:off x="3809066" y="6305098"/>
            <a:ext cx="345445" cy="269804"/>
          </a:xfrm>
          <a:prstGeom prst="rect">
            <a:avLst/>
          </a:prstGeom>
        </p:spPr>
        <p:txBody>
          <a:bodyPr vert="horz" wrap="square" lIns="0" tIns="0" rIns="0" bIns="0" rtlCol="0">
            <a:spAutoFit/>
          </a:bodyPr>
          <a:lstStyle/>
          <a:p>
            <a:pPr marL="12724">
              <a:lnSpc>
                <a:spcPts val="2094"/>
              </a:lnSpc>
            </a:pPr>
            <a:r>
              <a:rPr sz="1803" spc="-25" dirty="0">
                <a:latin typeface="Arial MT"/>
                <a:cs typeface="Arial MT"/>
              </a:rPr>
              <a:t>0.1</a:t>
            </a:r>
            <a:endParaRPr sz="1803">
              <a:latin typeface="Arial MT"/>
              <a:cs typeface="Arial MT"/>
            </a:endParaRPr>
          </a:p>
        </p:txBody>
      </p:sp>
      <p:sp>
        <p:nvSpPr>
          <p:cNvPr id="9" name="object 9"/>
          <p:cNvSpPr txBox="1"/>
          <p:nvPr/>
        </p:nvSpPr>
        <p:spPr>
          <a:xfrm>
            <a:off x="4954188" y="6305098"/>
            <a:ext cx="153319" cy="269804"/>
          </a:xfrm>
          <a:prstGeom prst="rect">
            <a:avLst/>
          </a:prstGeom>
        </p:spPr>
        <p:txBody>
          <a:bodyPr vert="horz" wrap="square" lIns="0" tIns="0" rIns="0" bIns="0" rtlCol="0">
            <a:spAutoFit/>
          </a:bodyPr>
          <a:lstStyle/>
          <a:p>
            <a:pPr marL="12724">
              <a:lnSpc>
                <a:spcPts val="2094"/>
              </a:lnSpc>
            </a:pPr>
            <a:r>
              <a:rPr sz="1803" spc="-50" dirty="0">
                <a:latin typeface="Arial MT"/>
                <a:cs typeface="Arial MT"/>
              </a:rPr>
              <a:t>1</a:t>
            </a:r>
            <a:endParaRPr sz="1803">
              <a:latin typeface="Arial MT"/>
              <a:cs typeface="Arial MT"/>
            </a:endParaRPr>
          </a:p>
        </p:txBody>
      </p:sp>
      <p:sp>
        <p:nvSpPr>
          <p:cNvPr id="10" name="object 10"/>
          <p:cNvSpPr txBox="1"/>
          <p:nvPr/>
        </p:nvSpPr>
        <p:spPr>
          <a:xfrm>
            <a:off x="5946625" y="6305098"/>
            <a:ext cx="281191" cy="269804"/>
          </a:xfrm>
          <a:prstGeom prst="rect">
            <a:avLst/>
          </a:prstGeom>
        </p:spPr>
        <p:txBody>
          <a:bodyPr vert="horz" wrap="square" lIns="0" tIns="0" rIns="0" bIns="0" rtlCol="0">
            <a:spAutoFit/>
          </a:bodyPr>
          <a:lstStyle/>
          <a:p>
            <a:pPr marL="12724">
              <a:lnSpc>
                <a:spcPts val="2094"/>
              </a:lnSpc>
            </a:pPr>
            <a:r>
              <a:rPr sz="1803" spc="-25" dirty="0">
                <a:latin typeface="Arial MT"/>
                <a:cs typeface="Arial MT"/>
              </a:rPr>
              <a:t>10</a:t>
            </a:r>
            <a:endParaRPr sz="1803">
              <a:latin typeface="Arial MT"/>
              <a:cs typeface="Arial MT"/>
            </a:endParaRPr>
          </a:p>
        </p:txBody>
      </p:sp>
      <p:sp>
        <p:nvSpPr>
          <p:cNvPr id="11" name="object 11"/>
          <p:cNvSpPr txBox="1"/>
          <p:nvPr/>
        </p:nvSpPr>
        <p:spPr>
          <a:xfrm>
            <a:off x="6939063" y="6305098"/>
            <a:ext cx="409063" cy="269804"/>
          </a:xfrm>
          <a:prstGeom prst="rect">
            <a:avLst/>
          </a:prstGeom>
        </p:spPr>
        <p:txBody>
          <a:bodyPr vert="horz" wrap="square" lIns="0" tIns="0" rIns="0" bIns="0" rtlCol="0">
            <a:spAutoFit/>
          </a:bodyPr>
          <a:lstStyle/>
          <a:p>
            <a:pPr marL="12724">
              <a:lnSpc>
                <a:spcPts val="2094"/>
              </a:lnSpc>
            </a:pPr>
            <a:r>
              <a:rPr sz="1803" spc="-25" dirty="0">
                <a:latin typeface="Arial MT"/>
                <a:cs typeface="Arial MT"/>
              </a:rPr>
              <a:t>100</a:t>
            </a:r>
            <a:endParaRPr sz="1803">
              <a:latin typeface="Arial MT"/>
              <a:cs typeface="Arial MT"/>
            </a:endParaRPr>
          </a:p>
        </p:txBody>
      </p:sp>
      <p:sp>
        <p:nvSpPr>
          <p:cNvPr id="12" name="object 12"/>
          <p:cNvSpPr txBox="1"/>
          <p:nvPr/>
        </p:nvSpPr>
        <p:spPr>
          <a:xfrm>
            <a:off x="7916232" y="6305098"/>
            <a:ext cx="537571" cy="269804"/>
          </a:xfrm>
          <a:prstGeom prst="rect">
            <a:avLst/>
          </a:prstGeom>
        </p:spPr>
        <p:txBody>
          <a:bodyPr vert="horz" wrap="square" lIns="0" tIns="0" rIns="0" bIns="0" rtlCol="0">
            <a:spAutoFit/>
          </a:bodyPr>
          <a:lstStyle/>
          <a:p>
            <a:pPr marL="12724">
              <a:lnSpc>
                <a:spcPts val="2094"/>
              </a:lnSpc>
            </a:pPr>
            <a:r>
              <a:rPr sz="1803" spc="-20" dirty="0">
                <a:latin typeface="Arial MT"/>
                <a:cs typeface="Arial MT"/>
              </a:rPr>
              <a:t>1000</a:t>
            </a:r>
            <a:endParaRPr sz="1803">
              <a:latin typeface="Arial MT"/>
              <a:cs typeface="Arial MT"/>
            </a:endParaRPr>
          </a:p>
        </p:txBody>
      </p:sp>
      <p:sp>
        <p:nvSpPr>
          <p:cNvPr id="13" name="object 13"/>
          <p:cNvSpPr txBox="1"/>
          <p:nvPr/>
        </p:nvSpPr>
        <p:spPr>
          <a:xfrm>
            <a:off x="8917832" y="6305098"/>
            <a:ext cx="666078" cy="269804"/>
          </a:xfrm>
          <a:prstGeom prst="rect">
            <a:avLst/>
          </a:prstGeom>
        </p:spPr>
        <p:txBody>
          <a:bodyPr vert="horz" wrap="square" lIns="0" tIns="0" rIns="0" bIns="0" rtlCol="0">
            <a:spAutoFit/>
          </a:bodyPr>
          <a:lstStyle/>
          <a:p>
            <a:pPr marL="12724">
              <a:lnSpc>
                <a:spcPts val="2094"/>
              </a:lnSpc>
            </a:pPr>
            <a:r>
              <a:rPr sz="1803" spc="-10" dirty="0">
                <a:latin typeface="Arial MT"/>
                <a:cs typeface="Arial MT"/>
              </a:rPr>
              <a:t>10000</a:t>
            </a:r>
            <a:endParaRPr sz="1803">
              <a:latin typeface="Arial MT"/>
              <a:cs typeface="Arial MT"/>
            </a:endParaRPr>
          </a:p>
        </p:txBody>
      </p:sp>
      <p:sp>
        <p:nvSpPr>
          <p:cNvPr id="15" name="object 15"/>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20</a:t>
            </a:r>
          </a:p>
        </p:txBody>
      </p:sp>
      <p:pic>
        <p:nvPicPr>
          <p:cNvPr id="16" name="Picture 15"/>
          <p:cNvPicPr>
            <a:picLocks noChangeAspect="1"/>
          </p:cNvPicPr>
          <p:nvPr/>
        </p:nvPicPr>
        <p:blipFill>
          <a:blip r:embed="rId4"/>
          <a:stretch>
            <a:fillRect/>
          </a:stretch>
        </p:blipFill>
        <p:spPr>
          <a:xfrm>
            <a:off x="6070418" y="2865992"/>
            <a:ext cx="692186" cy="711237"/>
          </a:xfrm>
          <a:prstGeom prst="rect">
            <a:avLst/>
          </a:prstGeom>
        </p:spPr>
      </p:pic>
      <p:pic>
        <p:nvPicPr>
          <p:cNvPr id="17" name="Picture 16"/>
          <p:cNvPicPr>
            <a:picLocks noChangeAspect="1"/>
          </p:cNvPicPr>
          <p:nvPr/>
        </p:nvPicPr>
        <p:blipFill>
          <a:blip r:embed="rId5"/>
          <a:stretch>
            <a:fillRect/>
          </a:stretch>
        </p:blipFill>
        <p:spPr>
          <a:xfrm>
            <a:off x="5249201" y="6183984"/>
            <a:ext cx="377725" cy="537328"/>
          </a:xfrm>
          <a:prstGeom prst="rect">
            <a:avLst/>
          </a:prstGeom>
        </p:spPr>
      </p:pic>
    </p:spTree>
    <p:extLst>
      <p:ext uri="{BB962C8B-B14F-4D97-AF65-F5344CB8AC3E}">
        <p14:creationId xmlns:p14="http://schemas.microsoft.com/office/powerpoint/2010/main" val="519565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2212090">
              <a:spcBef>
                <a:spcPts val="90"/>
              </a:spcBef>
            </a:pPr>
            <a:r>
              <a:rPr dirty="0"/>
              <a:t>Bell</a:t>
            </a:r>
            <a:r>
              <a:rPr spc="-45" dirty="0"/>
              <a:t> </a:t>
            </a:r>
            <a:r>
              <a:rPr dirty="0"/>
              <a:t>and</a:t>
            </a:r>
            <a:r>
              <a:rPr spc="-40" dirty="0"/>
              <a:t> </a:t>
            </a:r>
            <a:r>
              <a:rPr spc="-10" dirty="0"/>
              <a:t>deciBell</a:t>
            </a:r>
          </a:p>
        </p:txBody>
      </p:sp>
      <p:sp>
        <p:nvSpPr>
          <p:cNvPr id="3" name="object 3"/>
          <p:cNvSpPr/>
          <p:nvPr/>
        </p:nvSpPr>
        <p:spPr>
          <a:xfrm>
            <a:off x="5906482" y="2132659"/>
            <a:ext cx="758324" cy="0"/>
          </a:xfrm>
          <a:custGeom>
            <a:avLst/>
            <a:gdLst/>
            <a:ahLst/>
            <a:cxnLst/>
            <a:rect l="l" t="t" r="r" b="b"/>
            <a:pathLst>
              <a:path w="756920">
                <a:moveTo>
                  <a:pt x="0" y="0"/>
                </a:moveTo>
                <a:lnTo>
                  <a:pt x="756475" y="0"/>
                </a:lnTo>
              </a:path>
            </a:pathLst>
          </a:custGeom>
          <a:ln w="15441">
            <a:solidFill>
              <a:srgbClr val="000000"/>
            </a:solidFill>
          </a:ln>
        </p:spPr>
        <p:txBody>
          <a:bodyPr wrap="square" lIns="0" tIns="0" rIns="0" bIns="0" rtlCol="0"/>
          <a:lstStyle/>
          <a:p>
            <a:endParaRPr sz="1803"/>
          </a:p>
        </p:txBody>
      </p:sp>
      <p:sp>
        <p:nvSpPr>
          <p:cNvPr id="4" name="object 4"/>
          <p:cNvSpPr/>
          <p:nvPr/>
        </p:nvSpPr>
        <p:spPr>
          <a:xfrm>
            <a:off x="6334567" y="3335036"/>
            <a:ext cx="758324" cy="0"/>
          </a:xfrm>
          <a:custGeom>
            <a:avLst/>
            <a:gdLst/>
            <a:ahLst/>
            <a:cxnLst/>
            <a:rect l="l" t="t" r="r" b="b"/>
            <a:pathLst>
              <a:path w="756920">
                <a:moveTo>
                  <a:pt x="0" y="0"/>
                </a:moveTo>
                <a:lnTo>
                  <a:pt x="756475" y="0"/>
                </a:lnTo>
              </a:path>
            </a:pathLst>
          </a:custGeom>
          <a:ln w="15441">
            <a:solidFill>
              <a:srgbClr val="000000"/>
            </a:solidFill>
          </a:ln>
        </p:spPr>
        <p:txBody>
          <a:bodyPr wrap="square" lIns="0" tIns="0" rIns="0" bIns="0" rtlCol="0"/>
          <a:lstStyle/>
          <a:p>
            <a:endParaRPr sz="1803"/>
          </a:p>
        </p:txBody>
      </p:sp>
      <p:sp>
        <p:nvSpPr>
          <p:cNvPr id="5" name="object 5"/>
          <p:cNvSpPr/>
          <p:nvPr/>
        </p:nvSpPr>
        <p:spPr>
          <a:xfrm>
            <a:off x="6363385" y="5745897"/>
            <a:ext cx="746873" cy="0"/>
          </a:xfrm>
          <a:custGeom>
            <a:avLst/>
            <a:gdLst/>
            <a:ahLst/>
            <a:cxnLst/>
            <a:rect l="l" t="t" r="r" b="b"/>
            <a:pathLst>
              <a:path w="745489">
                <a:moveTo>
                  <a:pt x="0" y="0"/>
                </a:moveTo>
                <a:lnTo>
                  <a:pt x="745045" y="0"/>
                </a:lnTo>
              </a:path>
            </a:pathLst>
          </a:custGeom>
          <a:ln w="15441">
            <a:solidFill>
              <a:srgbClr val="000000"/>
            </a:solidFill>
          </a:ln>
        </p:spPr>
        <p:txBody>
          <a:bodyPr wrap="square" lIns="0" tIns="0" rIns="0" bIns="0" rtlCol="0"/>
          <a:lstStyle/>
          <a:p>
            <a:endParaRPr sz="1803"/>
          </a:p>
        </p:txBody>
      </p:sp>
      <p:sp>
        <p:nvSpPr>
          <p:cNvPr id="6" name="object 6"/>
          <p:cNvSpPr txBox="1"/>
          <p:nvPr/>
        </p:nvSpPr>
        <p:spPr>
          <a:xfrm>
            <a:off x="6160381" y="5431592"/>
            <a:ext cx="1152119" cy="881743"/>
          </a:xfrm>
          <a:prstGeom prst="rect">
            <a:avLst/>
          </a:prstGeom>
        </p:spPr>
        <p:txBody>
          <a:bodyPr vert="horz" wrap="square" lIns="0" tIns="15904" rIns="0" bIns="0" rtlCol="0">
            <a:spAutoFit/>
          </a:bodyPr>
          <a:lstStyle/>
          <a:p>
            <a:pPr marL="12724">
              <a:lnSpc>
                <a:spcPts val="3356"/>
              </a:lnSpc>
              <a:spcBef>
                <a:spcPts val="125"/>
              </a:spcBef>
              <a:tabLst>
                <a:tab pos="995663" algn="l"/>
              </a:tabLst>
            </a:pPr>
            <a:r>
              <a:rPr sz="2906" spc="-50" dirty="0">
                <a:latin typeface="Symbol"/>
                <a:cs typeface="Symbol"/>
              </a:rPr>
              <a:t></a:t>
            </a:r>
            <a:r>
              <a:rPr sz="2906" dirty="0">
                <a:latin typeface="Times New Roman"/>
                <a:cs typeface="Times New Roman"/>
              </a:rPr>
              <a:t>	</a:t>
            </a:r>
            <a:r>
              <a:rPr sz="2906" spc="-50" dirty="0">
                <a:latin typeface="Symbol"/>
                <a:cs typeface="Symbol"/>
              </a:rPr>
              <a:t></a:t>
            </a:r>
            <a:endParaRPr sz="2906">
              <a:latin typeface="Symbol"/>
              <a:cs typeface="Symbol"/>
            </a:endParaRPr>
          </a:p>
          <a:p>
            <a:pPr marL="12724">
              <a:lnSpc>
                <a:spcPts val="3356"/>
              </a:lnSpc>
              <a:tabLst>
                <a:tab pos="537594" algn="l"/>
                <a:tab pos="995663" algn="l"/>
              </a:tabLst>
            </a:pPr>
            <a:r>
              <a:rPr sz="2906" spc="-50" dirty="0">
                <a:latin typeface="Symbol"/>
                <a:cs typeface="Symbol"/>
              </a:rPr>
              <a:t></a:t>
            </a:r>
            <a:r>
              <a:rPr sz="2906" dirty="0">
                <a:latin typeface="Times New Roman"/>
                <a:cs typeface="Times New Roman"/>
              </a:rPr>
              <a:t>	</a:t>
            </a:r>
            <a:r>
              <a:rPr sz="1703" i="1" spc="-25" dirty="0">
                <a:latin typeface="Arial"/>
                <a:cs typeface="Arial"/>
              </a:rPr>
              <a:t>IN</a:t>
            </a:r>
            <a:r>
              <a:rPr sz="1703" i="1" dirty="0">
                <a:latin typeface="Arial"/>
                <a:cs typeface="Arial"/>
              </a:rPr>
              <a:t>	</a:t>
            </a:r>
            <a:r>
              <a:rPr sz="2906" spc="-50" dirty="0">
                <a:latin typeface="Symbol"/>
                <a:cs typeface="Symbol"/>
              </a:rPr>
              <a:t></a:t>
            </a:r>
            <a:endParaRPr sz="2906">
              <a:latin typeface="Symbol"/>
              <a:cs typeface="Symbol"/>
            </a:endParaRPr>
          </a:p>
        </p:txBody>
      </p:sp>
      <p:sp>
        <p:nvSpPr>
          <p:cNvPr id="34" name="object 34"/>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21</a:t>
            </a:r>
          </a:p>
        </p:txBody>
      </p:sp>
      <p:sp>
        <p:nvSpPr>
          <p:cNvPr id="7" name="object 7"/>
          <p:cNvSpPr txBox="1"/>
          <p:nvPr/>
        </p:nvSpPr>
        <p:spPr>
          <a:xfrm>
            <a:off x="8111666" y="4396404"/>
            <a:ext cx="168587" cy="472680"/>
          </a:xfrm>
          <a:prstGeom prst="rect">
            <a:avLst/>
          </a:prstGeom>
        </p:spPr>
        <p:txBody>
          <a:bodyPr vert="horz" wrap="square" lIns="0" tIns="15904" rIns="0" bIns="0" rtlCol="0">
            <a:spAutoFit/>
          </a:bodyPr>
          <a:lstStyle/>
          <a:p>
            <a:pPr marL="12724">
              <a:spcBef>
                <a:spcPts val="125"/>
              </a:spcBef>
            </a:pPr>
            <a:r>
              <a:rPr sz="2906" spc="-50" dirty="0">
                <a:latin typeface="Symbol"/>
                <a:cs typeface="Symbol"/>
              </a:rPr>
              <a:t></a:t>
            </a:r>
            <a:endParaRPr sz="2906">
              <a:latin typeface="Symbol"/>
              <a:cs typeface="Symbol"/>
            </a:endParaRPr>
          </a:p>
        </p:txBody>
      </p:sp>
      <p:sp>
        <p:nvSpPr>
          <p:cNvPr id="8" name="object 8"/>
          <p:cNvSpPr txBox="1"/>
          <p:nvPr/>
        </p:nvSpPr>
        <p:spPr>
          <a:xfrm>
            <a:off x="8111666" y="4225399"/>
            <a:ext cx="168587" cy="472680"/>
          </a:xfrm>
          <a:prstGeom prst="rect">
            <a:avLst/>
          </a:prstGeom>
        </p:spPr>
        <p:txBody>
          <a:bodyPr vert="horz" wrap="square" lIns="0" tIns="15904" rIns="0" bIns="0" rtlCol="0">
            <a:spAutoFit/>
          </a:bodyPr>
          <a:lstStyle/>
          <a:p>
            <a:pPr marL="12724">
              <a:spcBef>
                <a:spcPts val="125"/>
              </a:spcBef>
            </a:pPr>
            <a:r>
              <a:rPr sz="2906" spc="-50" dirty="0">
                <a:latin typeface="Symbol"/>
                <a:cs typeface="Symbol"/>
              </a:rPr>
              <a:t></a:t>
            </a:r>
            <a:endParaRPr sz="2906">
              <a:latin typeface="Symbol"/>
              <a:cs typeface="Symbol"/>
            </a:endParaRPr>
          </a:p>
        </p:txBody>
      </p:sp>
      <p:sp>
        <p:nvSpPr>
          <p:cNvPr id="9" name="object 9"/>
          <p:cNvSpPr txBox="1"/>
          <p:nvPr/>
        </p:nvSpPr>
        <p:spPr>
          <a:xfrm>
            <a:off x="8111666" y="3987214"/>
            <a:ext cx="168587" cy="472680"/>
          </a:xfrm>
          <a:prstGeom prst="rect">
            <a:avLst/>
          </a:prstGeom>
        </p:spPr>
        <p:txBody>
          <a:bodyPr vert="horz" wrap="square" lIns="0" tIns="15904" rIns="0" bIns="0" rtlCol="0">
            <a:spAutoFit/>
          </a:bodyPr>
          <a:lstStyle/>
          <a:p>
            <a:pPr marL="12724">
              <a:spcBef>
                <a:spcPts val="125"/>
              </a:spcBef>
            </a:pPr>
            <a:r>
              <a:rPr sz="2906" spc="-50" dirty="0">
                <a:latin typeface="Symbol"/>
                <a:cs typeface="Symbol"/>
              </a:rPr>
              <a:t></a:t>
            </a:r>
            <a:endParaRPr sz="2906">
              <a:latin typeface="Symbol"/>
              <a:cs typeface="Symbol"/>
            </a:endParaRPr>
          </a:p>
        </p:txBody>
      </p:sp>
      <p:sp>
        <p:nvSpPr>
          <p:cNvPr id="10" name="object 10"/>
          <p:cNvSpPr txBox="1"/>
          <p:nvPr/>
        </p:nvSpPr>
        <p:spPr>
          <a:xfrm>
            <a:off x="6129845" y="4396404"/>
            <a:ext cx="168587" cy="472680"/>
          </a:xfrm>
          <a:prstGeom prst="rect">
            <a:avLst/>
          </a:prstGeom>
        </p:spPr>
        <p:txBody>
          <a:bodyPr vert="horz" wrap="square" lIns="0" tIns="15904" rIns="0" bIns="0" rtlCol="0">
            <a:spAutoFit/>
          </a:bodyPr>
          <a:lstStyle/>
          <a:p>
            <a:pPr marL="12724">
              <a:spcBef>
                <a:spcPts val="125"/>
              </a:spcBef>
            </a:pPr>
            <a:r>
              <a:rPr sz="2906" spc="-50" dirty="0">
                <a:latin typeface="Symbol"/>
                <a:cs typeface="Symbol"/>
              </a:rPr>
              <a:t></a:t>
            </a:r>
            <a:endParaRPr sz="2906">
              <a:latin typeface="Symbol"/>
              <a:cs typeface="Symbol"/>
            </a:endParaRPr>
          </a:p>
        </p:txBody>
      </p:sp>
      <p:sp>
        <p:nvSpPr>
          <p:cNvPr id="11" name="object 11"/>
          <p:cNvSpPr txBox="1"/>
          <p:nvPr/>
        </p:nvSpPr>
        <p:spPr>
          <a:xfrm>
            <a:off x="6129845" y="4225399"/>
            <a:ext cx="168587" cy="472680"/>
          </a:xfrm>
          <a:prstGeom prst="rect">
            <a:avLst/>
          </a:prstGeom>
        </p:spPr>
        <p:txBody>
          <a:bodyPr vert="horz" wrap="square" lIns="0" tIns="15904" rIns="0" bIns="0" rtlCol="0">
            <a:spAutoFit/>
          </a:bodyPr>
          <a:lstStyle/>
          <a:p>
            <a:pPr marL="12724">
              <a:spcBef>
                <a:spcPts val="125"/>
              </a:spcBef>
            </a:pPr>
            <a:r>
              <a:rPr sz="2906" spc="-50" dirty="0">
                <a:latin typeface="Symbol"/>
                <a:cs typeface="Symbol"/>
              </a:rPr>
              <a:t></a:t>
            </a:r>
            <a:endParaRPr sz="2906">
              <a:latin typeface="Symbol"/>
              <a:cs typeface="Symbol"/>
            </a:endParaRPr>
          </a:p>
        </p:txBody>
      </p:sp>
      <p:sp>
        <p:nvSpPr>
          <p:cNvPr id="12" name="object 12"/>
          <p:cNvSpPr txBox="1"/>
          <p:nvPr/>
        </p:nvSpPr>
        <p:spPr>
          <a:xfrm>
            <a:off x="5702332" y="1822173"/>
            <a:ext cx="1164206" cy="876016"/>
          </a:xfrm>
          <a:prstGeom prst="rect">
            <a:avLst/>
          </a:prstGeom>
        </p:spPr>
        <p:txBody>
          <a:bodyPr vert="horz" wrap="square" lIns="0" tIns="15904" rIns="0" bIns="0" rtlCol="0">
            <a:spAutoFit/>
          </a:bodyPr>
          <a:lstStyle/>
          <a:p>
            <a:pPr marL="12724">
              <a:lnSpc>
                <a:spcPts val="3331"/>
              </a:lnSpc>
              <a:spcBef>
                <a:spcPts val="125"/>
              </a:spcBef>
              <a:tabLst>
                <a:tab pos="1007751" algn="l"/>
              </a:tabLst>
            </a:pPr>
            <a:r>
              <a:rPr sz="2906" spc="-50" dirty="0">
                <a:latin typeface="Symbol"/>
                <a:cs typeface="Symbol"/>
              </a:rPr>
              <a:t></a:t>
            </a:r>
            <a:r>
              <a:rPr sz="2906" dirty="0">
                <a:latin typeface="Times New Roman"/>
                <a:cs typeface="Times New Roman"/>
              </a:rPr>
              <a:t>	</a:t>
            </a:r>
            <a:r>
              <a:rPr sz="2906" spc="-50" dirty="0">
                <a:latin typeface="Symbol"/>
                <a:cs typeface="Symbol"/>
              </a:rPr>
              <a:t></a:t>
            </a:r>
            <a:endParaRPr sz="2906">
              <a:latin typeface="Symbol"/>
              <a:cs typeface="Symbol"/>
            </a:endParaRPr>
          </a:p>
          <a:p>
            <a:pPr marL="12724">
              <a:lnSpc>
                <a:spcPts val="3331"/>
              </a:lnSpc>
              <a:tabLst>
                <a:tab pos="549682" algn="l"/>
                <a:tab pos="1007751" algn="l"/>
              </a:tabLst>
            </a:pPr>
            <a:r>
              <a:rPr sz="2906" spc="-50" dirty="0">
                <a:latin typeface="Symbol"/>
                <a:cs typeface="Symbol"/>
              </a:rPr>
              <a:t></a:t>
            </a:r>
            <a:r>
              <a:rPr sz="2906" dirty="0">
                <a:latin typeface="Times New Roman"/>
                <a:cs typeface="Times New Roman"/>
              </a:rPr>
              <a:t>	</a:t>
            </a:r>
            <a:r>
              <a:rPr sz="1703" i="1" spc="-25" dirty="0">
                <a:latin typeface="Arial"/>
                <a:cs typeface="Arial"/>
              </a:rPr>
              <a:t>IN</a:t>
            </a:r>
            <a:r>
              <a:rPr sz="1703" i="1" dirty="0">
                <a:latin typeface="Arial"/>
                <a:cs typeface="Arial"/>
              </a:rPr>
              <a:t>	</a:t>
            </a:r>
            <a:r>
              <a:rPr sz="2906" spc="-50" dirty="0">
                <a:latin typeface="Symbol"/>
                <a:cs typeface="Symbol"/>
              </a:rPr>
              <a:t></a:t>
            </a:r>
            <a:endParaRPr sz="2906">
              <a:latin typeface="Symbol"/>
              <a:cs typeface="Symbol"/>
            </a:endParaRPr>
          </a:p>
        </p:txBody>
      </p:sp>
      <p:sp>
        <p:nvSpPr>
          <p:cNvPr id="13" name="object 13"/>
          <p:cNvSpPr txBox="1"/>
          <p:nvPr/>
        </p:nvSpPr>
        <p:spPr>
          <a:xfrm>
            <a:off x="6321844" y="4261468"/>
            <a:ext cx="1769211" cy="286280"/>
          </a:xfrm>
          <a:prstGeom prst="rect">
            <a:avLst/>
          </a:prstGeom>
        </p:spPr>
        <p:txBody>
          <a:bodyPr vert="horz" wrap="square" lIns="0" tIns="13360" rIns="0" bIns="0" rtlCol="0">
            <a:spAutoFit/>
          </a:bodyPr>
          <a:lstStyle/>
          <a:p>
            <a:pPr marL="12724">
              <a:spcBef>
                <a:spcPts val="105"/>
              </a:spcBef>
              <a:tabLst>
                <a:tab pos="214402" algn="l"/>
                <a:tab pos="1210065" algn="l"/>
              </a:tabLst>
            </a:pPr>
            <a:r>
              <a:rPr sz="1703" i="1" u="sng" dirty="0">
                <a:uFill>
                  <a:solidFill>
                    <a:srgbClr val="000000"/>
                  </a:solidFill>
                </a:uFill>
                <a:latin typeface="Arial"/>
                <a:cs typeface="Arial"/>
              </a:rPr>
              <a:t>	</a:t>
            </a:r>
            <a:r>
              <a:rPr sz="1703" i="1" u="sng" spc="-25" dirty="0">
                <a:uFill>
                  <a:solidFill>
                    <a:srgbClr val="000000"/>
                  </a:solidFill>
                </a:uFill>
                <a:latin typeface="Arial"/>
                <a:cs typeface="Arial"/>
              </a:rPr>
              <a:t>OUT</a:t>
            </a:r>
            <a:r>
              <a:rPr sz="1703" i="1" u="sng" dirty="0">
                <a:uFill>
                  <a:solidFill>
                    <a:srgbClr val="000000"/>
                  </a:solidFill>
                </a:uFill>
                <a:latin typeface="Arial"/>
                <a:cs typeface="Arial"/>
              </a:rPr>
              <a:t>	</a:t>
            </a:r>
            <a:r>
              <a:rPr sz="1703" i="1" u="sng" spc="-25" dirty="0">
                <a:uFill>
                  <a:solidFill>
                    <a:srgbClr val="000000"/>
                  </a:solidFill>
                </a:uFill>
                <a:latin typeface="Arial"/>
                <a:cs typeface="Arial"/>
              </a:rPr>
              <a:t>OUT</a:t>
            </a:r>
            <a:r>
              <a:rPr sz="1703" i="1" u="sng" spc="501" dirty="0">
                <a:uFill>
                  <a:solidFill>
                    <a:srgbClr val="000000"/>
                  </a:solidFill>
                </a:uFill>
                <a:latin typeface="Arial"/>
                <a:cs typeface="Arial"/>
              </a:rPr>
              <a:t> </a:t>
            </a:r>
            <a:endParaRPr sz="1703">
              <a:latin typeface="Arial"/>
              <a:cs typeface="Arial"/>
            </a:endParaRPr>
          </a:p>
        </p:txBody>
      </p:sp>
      <p:sp>
        <p:nvSpPr>
          <p:cNvPr id="14" name="object 14"/>
          <p:cNvSpPr txBox="1"/>
          <p:nvPr/>
        </p:nvSpPr>
        <p:spPr>
          <a:xfrm>
            <a:off x="6129845" y="3025313"/>
            <a:ext cx="1164206" cy="876016"/>
          </a:xfrm>
          <a:prstGeom prst="rect">
            <a:avLst/>
          </a:prstGeom>
        </p:spPr>
        <p:txBody>
          <a:bodyPr vert="horz" wrap="square" lIns="0" tIns="15904" rIns="0" bIns="0" rtlCol="0">
            <a:spAutoFit/>
          </a:bodyPr>
          <a:lstStyle/>
          <a:p>
            <a:pPr marL="12724">
              <a:lnSpc>
                <a:spcPts val="3331"/>
              </a:lnSpc>
              <a:spcBef>
                <a:spcPts val="125"/>
              </a:spcBef>
              <a:tabLst>
                <a:tab pos="1007751" algn="l"/>
              </a:tabLst>
            </a:pPr>
            <a:r>
              <a:rPr sz="2906" spc="-50" dirty="0">
                <a:latin typeface="Symbol"/>
                <a:cs typeface="Symbol"/>
              </a:rPr>
              <a:t></a:t>
            </a:r>
            <a:r>
              <a:rPr sz="2906" dirty="0">
                <a:latin typeface="Times New Roman"/>
                <a:cs typeface="Times New Roman"/>
              </a:rPr>
              <a:t>	</a:t>
            </a:r>
            <a:r>
              <a:rPr sz="2906" spc="-50" dirty="0">
                <a:latin typeface="Symbol"/>
                <a:cs typeface="Symbol"/>
              </a:rPr>
              <a:t></a:t>
            </a:r>
            <a:endParaRPr sz="2906">
              <a:latin typeface="Symbol"/>
              <a:cs typeface="Symbol"/>
            </a:endParaRPr>
          </a:p>
          <a:p>
            <a:pPr marL="12724">
              <a:lnSpc>
                <a:spcPts val="3331"/>
              </a:lnSpc>
              <a:tabLst>
                <a:tab pos="549682" algn="l"/>
                <a:tab pos="1007751" algn="l"/>
              </a:tabLst>
            </a:pPr>
            <a:r>
              <a:rPr sz="2906" spc="-50" dirty="0">
                <a:latin typeface="Symbol"/>
                <a:cs typeface="Symbol"/>
              </a:rPr>
              <a:t></a:t>
            </a:r>
            <a:r>
              <a:rPr sz="2906" dirty="0">
                <a:latin typeface="Times New Roman"/>
                <a:cs typeface="Times New Roman"/>
              </a:rPr>
              <a:t>	</a:t>
            </a:r>
            <a:r>
              <a:rPr sz="1703" i="1" spc="-25" dirty="0">
                <a:latin typeface="Arial"/>
                <a:cs typeface="Arial"/>
              </a:rPr>
              <a:t>IN</a:t>
            </a:r>
            <a:r>
              <a:rPr sz="1703" i="1" dirty="0">
                <a:latin typeface="Arial"/>
                <a:cs typeface="Arial"/>
              </a:rPr>
              <a:t>	</a:t>
            </a:r>
            <a:r>
              <a:rPr sz="2906" spc="-50" dirty="0">
                <a:latin typeface="Symbol"/>
                <a:cs typeface="Symbol"/>
              </a:rPr>
              <a:t></a:t>
            </a:r>
            <a:endParaRPr sz="2906">
              <a:latin typeface="Symbol"/>
              <a:cs typeface="Symbol"/>
            </a:endParaRPr>
          </a:p>
        </p:txBody>
      </p:sp>
      <p:sp>
        <p:nvSpPr>
          <p:cNvPr id="15" name="object 15"/>
          <p:cNvSpPr txBox="1"/>
          <p:nvPr/>
        </p:nvSpPr>
        <p:spPr>
          <a:xfrm>
            <a:off x="6453532" y="5746120"/>
            <a:ext cx="274193" cy="472680"/>
          </a:xfrm>
          <a:prstGeom prst="rect">
            <a:avLst/>
          </a:prstGeom>
        </p:spPr>
        <p:txBody>
          <a:bodyPr vert="horz" wrap="square" lIns="0" tIns="15904" rIns="0" bIns="0" rtlCol="0">
            <a:spAutoFit/>
          </a:bodyPr>
          <a:lstStyle/>
          <a:p>
            <a:pPr marL="12724">
              <a:spcBef>
                <a:spcPts val="125"/>
              </a:spcBef>
            </a:pPr>
            <a:r>
              <a:rPr sz="2906" i="1" spc="-50" dirty="0">
                <a:latin typeface="Arial"/>
                <a:cs typeface="Arial"/>
              </a:rPr>
              <a:t>V</a:t>
            </a:r>
            <a:endParaRPr sz="2906">
              <a:latin typeface="Arial"/>
              <a:cs typeface="Arial"/>
            </a:endParaRPr>
          </a:p>
        </p:txBody>
      </p:sp>
      <p:sp>
        <p:nvSpPr>
          <p:cNvPr id="16" name="object 16"/>
          <p:cNvSpPr txBox="1"/>
          <p:nvPr/>
        </p:nvSpPr>
        <p:spPr>
          <a:xfrm>
            <a:off x="6134934" y="5312501"/>
            <a:ext cx="1203013" cy="472680"/>
          </a:xfrm>
          <a:prstGeom prst="rect">
            <a:avLst/>
          </a:prstGeom>
        </p:spPr>
        <p:txBody>
          <a:bodyPr vert="horz" wrap="square" lIns="0" tIns="15904" rIns="0" bIns="0" rtlCol="0">
            <a:spAutoFit/>
          </a:bodyPr>
          <a:lstStyle/>
          <a:p>
            <a:pPr marL="38172">
              <a:spcBef>
                <a:spcPts val="125"/>
              </a:spcBef>
              <a:tabLst>
                <a:tab pos="1021111" algn="l"/>
              </a:tabLst>
            </a:pPr>
            <a:r>
              <a:rPr sz="4358" spc="-15" baseline="18199" dirty="0">
                <a:latin typeface="Symbol"/>
                <a:cs typeface="Symbol"/>
              </a:rPr>
              <a:t></a:t>
            </a:r>
            <a:r>
              <a:rPr sz="4358" i="1" spc="-15" baseline="14367" dirty="0">
                <a:latin typeface="Arial"/>
                <a:cs typeface="Arial"/>
              </a:rPr>
              <a:t>V</a:t>
            </a:r>
            <a:r>
              <a:rPr sz="1703" i="1" spc="-10" dirty="0">
                <a:latin typeface="Arial"/>
                <a:cs typeface="Arial"/>
              </a:rPr>
              <a:t>OUT</a:t>
            </a:r>
            <a:r>
              <a:rPr sz="1703" i="1" dirty="0">
                <a:latin typeface="Arial"/>
                <a:cs typeface="Arial"/>
              </a:rPr>
              <a:t>	</a:t>
            </a:r>
            <a:r>
              <a:rPr sz="4358" spc="-75" baseline="18199" dirty="0">
                <a:latin typeface="Symbol"/>
                <a:cs typeface="Symbol"/>
              </a:rPr>
              <a:t></a:t>
            </a:r>
            <a:endParaRPr sz="4358" baseline="18199">
              <a:latin typeface="Symbol"/>
              <a:cs typeface="Symbol"/>
            </a:endParaRPr>
          </a:p>
        </p:txBody>
      </p:sp>
      <p:sp>
        <p:nvSpPr>
          <p:cNvPr id="17" name="object 17"/>
          <p:cNvSpPr txBox="1"/>
          <p:nvPr/>
        </p:nvSpPr>
        <p:spPr>
          <a:xfrm>
            <a:off x="6459639" y="3333732"/>
            <a:ext cx="274193" cy="472680"/>
          </a:xfrm>
          <a:prstGeom prst="rect">
            <a:avLst/>
          </a:prstGeom>
        </p:spPr>
        <p:txBody>
          <a:bodyPr vert="horz" wrap="square" lIns="0" tIns="15904" rIns="0" bIns="0" rtlCol="0">
            <a:spAutoFit/>
          </a:bodyPr>
          <a:lstStyle/>
          <a:p>
            <a:pPr marL="12724">
              <a:spcBef>
                <a:spcPts val="125"/>
              </a:spcBef>
            </a:pPr>
            <a:r>
              <a:rPr sz="2906" i="1" spc="-50" dirty="0">
                <a:latin typeface="Arial"/>
                <a:cs typeface="Arial"/>
              </a:rPr>
              <a:t>P</a:t>
            </a:r>
            <a:endParaRPr sz="2906">
              <a:latin typeface="Arial"/>
              <a:cs typeface="Arial"/>
            </a:endParaRPr>
          </a:p>
        </p:txBody>
      </p:sp>
      <p:sp>
        <p:nvSpPr>
          <p:cNvPr id="18" name="object 18"/>
          <p:cNvSpPr txBox="1"/>
          <p:nvPr/>
        </p:nvSpPr>
        <p:spPr>
          <a:xfrm>
            <a:off x="6104398" y="2900113"/>
            <a:ext cx="1215100" cy="472680"/>
          </a:xfrm>
          <a:prstGeom prst="rect">
            <a:avLst/>
          </a:prstGeom>
        </p:spPr>
        <p:txBody>
          <a:bodyPr vert="horz" wrap="square" lIns="0" tIns="15904" rIns="0" bIns="0" rtlCol="0">
            <a:spAutoFit/>
          </a:bodyPr>
          <a:lstStyle/>
          <a:p>
            <a:pPr marL="38172">
              <a:spcBef>
                <a:spcPts val="125"/>
              </a:spcBef>
              <a:tabLst>
                <a:tab pos="1033199" algn="l"/>
              </a:tabLst>
            </a:pPr>
            <a:r>
              <a:rPr sz="4358" baseline="17241" dirty="0">
                <a:latin typeface="Symbol"/>
                <a:cs typeface="Symbol"/>
              </a:rPr>
              <a:t></a:t>
            </a:r>
            <a:r>
              <a:rPr sz="4358" spc="-368" baseline="17241" dirty="0">
                <a:latin typeface="Times New Roman"/>
                <a:cs typeface="Times New Roman"/>
              </a:rPr>
              <a:t> </a:t>
            </a:r>
            <a:r>
              <a:rPr sz="4358" i="1" spc="-30" baseline="13409" dirty="0">
                <a:latin typeface="Arial"/>
                <a:cs typeface="Arial"/>
              </a:rPr>
              <a:t>P</a:t>
            </a:r>
            <a:r>
              <a:rPr sz="1703" i="1" spc="-20" dirty="0">
                <a:latin typeface="Arial"/>
                <a:cs typeface="Arial"/>
              </a:rPr>
              <a:t>OUT</a:t>
            </a:r>
            <a:r>
              <a:rPr sz="1703" i="1" dirty="0">
                <a:latin typeface="Arial"/>
                <a:cs typeface="Arial"/>
              </a:rPr>
              <a:t>	</a:t>
            </a:r>
            <a:r>
              <a:rPr sz="4358" spc="-75" baseline="17241" dirty="0">
                <a:latin typeface="Symbol"/>
                <a:cs typeface="Symbol"/>
              </a:rPr>
              <a:t></a:t>
            </a:r>
            <a:endParaRPr sz="4358" baseline="17241">
              <a:latin typeface="Symbol"/>
              <a:cs typeface="Symbol"/>
            </a:endParaRPr>
          </a:p>
        </p:txBody>
      </p:sp>
      <p:sp>
        <p:nvSpPr>
          <p:cNvPr id="19" name="object 19"/>
          <p:cNvSpPr txBox="1"/>
          <p:nvPr/>
        </p:nvSpPr>
        <p:spPr>
          <a:xfrm>
            <a:off x="6104398" y="3843693"/>
            <a:ext cx="680074" cy="472680"/>
          </a:xfrm>
          <a:prstGeom prst="rect">
            <a:avLst/>
          </a:prstGeom>
        </p:spPr>
        <p:txBody>
          <a:bodyPr vert="horz" wrap="square" lIns="0" tIns="15904" rIns="0" bIns="0" rtlCol="0">
            <a:spAutoFit/>
          </a:bodyPr>
          <a:lstStyle/>
          <a:p>
            <a:pPr marL="38172">
              <a:spcBef>
                <a:spcPts val="125"/>
              </a:spcBef>
            </a:pPr>
            <a:r>
              <a:rPr sz="4358" spc="165" baseline="-22030" dirty="0">
                <a:latin typeface="Symbol"/>
                <a:cs typeface="Symbol"/>
              </a:rPr>
              <a:t></a:t>
            </a:r>
            <a:r>
              <a:rPr sz="4358" i="1" spc="165" baseline="-24904" dirty="0">
                <a:latin typeface="Arial"/>
                <a:cs typeface="Arial"/>
              </a:rPr>
              <a:t>V</a:t>
            </a:r>
            <a:r>
              <a:rPr sz="4358" i="1" spc="-466" baseline="-24904" dirty="0">
                <a:latin typeface="Arial"/>
                <a:cs typeface="Arial"/>
              </a:rPr>
              <a:t> </a:t>
            </a:r>
            <a:r>
              <a:rPr sz="1703" spc="-50" dirty="0">
                <a:latin typeface="Arial MT"/>
                <a:cs typeface="Arial MT"/>
              </a:rPr>
              <a:t>2</a:t>
            </a:r>
            <a:endParaRPr sz="1703">
              <a:latin typeface="Arial MT"/>
              <a:cs typeface="Arial MT"/>
            </a:endParaRPr>
          </a:p>
        </p:txBody>
      </p:sp>
      <p:sp>
        <p:nvSpPr>
          <p:cNvPr id="20" name="object 20"/>
          <p:cNvSpPr txBox="1"/>
          <p:nvPr/>
        </p:nvSpPr>
        <p:spPr>
          <a:xfrm>
            <a:off x="6032128" y="2130592"/>
            <a:ext cx="274193" cy="472680"/>
          </a:xfrm>
          <a:prstGeom prst="rect">
            <a:avLst/>
          </a:prstGeom>
        </p:spPr>
        <p:txBody>
          <a:bodyPr vert="horz" wrap="square" lIns="0" tIns="15904" rIns="0" bIns="0" rtlCol="0">
            <a:spAutoFit/>
          </a:bodyPr>
          <a:lstStyle/>
          <a:p>
            <a:pPr marL="12724">
              <a:spcBef>
                <a:spcPts val="125"/>
              </a:spcBef>
            </a:pPr>
            <a:r>
              <a:rPr sz="2906" i="1" spc="-50" dirty="0">
                <a:latin typeface="Arial"/>
                <a:cs typeface="Arial"/>
              </a:rPr>
              <a:t>P</a:t>
            </a:r>
            <a:endParaRPr sz="2906">
              <a:latin typeface="Arial"/>
              <a:cs typeface="Arial"/>
            </a:endParaRPr>
          </a:p>
        </p:txBody>
      </p:sp>
      <p:sp>
        <p:nvSpPr>
          <p:cNvPr id="21" name="object 21"/>
          <p:cNvSpPr txBox="1"/>
          <p:nvPr/>
        </p:nvSpPr>
        <p:spPr>
          <a:xfrm>
            <a:off x="5676885" y="1696973"/>
            <a:ext cx="1215100" cy="472680"/>
          </a:xfrm>
          <a:prstGeom prst="rect">
            <a:avLst/>
          </a:prstGeom>
        </p:spPr>
        <p:txBody>
          <a:bodyPr vert="horz" wrap="square" lIns="0" tIns="15904" rIns="0" bIns="0" rtlCol="0">
            <a:spAutoFit/>
          </a:bodyPr>
          <a:lstStyle/>
          <a:p>
            <a:pPr marL="38172">
              <a:spcBef>
                <a:spcPts val="125"/>
              </a:spcBef>
              <a:tabLst>
                <a:tab pos="1033199" algn="l"/>
              </a:tabLst>
            </a:pPr>
            <a:r>
              <a:rPr sz="4358" baseline="17241" dirty="0">
                <a:latin typeface="Symbol"/>
                <a:cs typeface="Symbol"/>
              </a:rPr>
              <a:t></a:t>
            </a:r>
            <a:r>
              <a:rPr sz="4358" spc="-368" baseline="17241" dirty="0">
                <a:latin typeface="Times New Roman"/>
                <a:cs typeface="Times New Roman"/>
              </a:rPr>
              <a:t> </a:t>
            </a:r>
            <a:r>
              <a:rPr sz="4358" i="1" spc="-30" baseline="13409" dirty="0">
                <a:latin typeface="Arial"/>
                <a:cs typeface="Arial"/>
              </a:rPr>
              <a:t>P</a:t>
            </a:r>
            <a:r>
              <a:rPr sz="1703" i="1" spc="-20" dirty="0">
                <a:latin typeface="Arial"/>
                <a:cs typeface="Arial"/>
              </a:rPr>
              <a:t>OUT</a:t>
            </a:r>
            <a:r>
              <a:rPr sz="1703" i="1" dirty="0">
                <a:latin typeface="Arial"/>
                <a:cs typeface="Arial"/>
              </a:rPr>
              <a:t>	</a:t>
            </a:r>
            <a:r>
              <a:rPr sz="4358" spc="-75" baseline="17241" dirty="0">
                <a:latin typeface="Symbol"/>
                <a:cs typeface="Symbol"/>
              </a:rPr>
              <a:t></a:t>
            </a:r>
            <a:endParaRPr sz="4358" baseline="17241">
              <a:latin typeface="Symbol"/>
              <a:cs typeface="Symbol"/>
            </a:endParaRPr>
          </a:p>
        </p:txBody>
      </p:sp>
      <p:sp>
        <p:nvSpPr>
          <p:cNvPr id="22" name="object 22"/>
          <p:cNvSpPr txBox="1"/>
          <p:nvPr/>
        </p:nvSpPr>
        <p:spPr>
          <a:xfrm>
            <a:off x="5882499" y="5702793"/>
            <a:ext cx="265922" cy="286280"/>
          </a:xfrm>
          <a:prstGeom prst="rect">
            <a:avLst/>
          </a:prstGeom>
        </p:spPr>
        <p:txBody>
          <a:bodyPr vert="horz" wrap="square" lIns="0" tIns="13360" rIns="0" bIns="0" rtlCol="0">
            <a:spAutoFit/>
          </a:bodyPr>
          <a:lstStyle/>
          <a:p>
            <a:pPr marL="12724">
              <a:spcBef>
                <a:spcPts val="105"/>
              </a:spcBef>
            </a:pPr>
            <a:r>
              <a:rPr sz="1703" spc="-25" dirty="0">
                <a:latin typeface="Arial MT"/>
                <a:cs typeface="Arial MT"/>
              </a:rPr>
              <a:t>10</a:t>
            </a:r>
            <a:endParaRPr sz="1703">
              <a:latin typeface="Arial MT"/>
              <a:cs typeface="Arial MT"/>
            </a:endParaRPr>
          </a:p>
        </p:txBody>
      </p:sp>
      <p:sp>
        <p:nvSpPr>
          <p:cNvPr id="23" name="object 23"/>
          <p:cNvSpPr txBox="1"/>
          <p:nvPr/>
        </p:nvSpPr>
        <p:spPr>
          <a:xfrm>
            <a:off x="4661037" y="5452969"/>
            <a:ext cx="1249454" cy="472680"/>
          </a:xfrm>
          <a:prstGeom prst="rect">
            <a:avLst/>
          </a:prstGeom>
        </p:spPr>
        <p:txBody>
          <a:bodyPr vert="horz" wrap="square" lIns="0" tIns="15904" rIns="0" bIns="0" rtlCol="0">
            <a:spAutoFit/>
          </a:bodyPr>
          <a:lstStyle/>
          <a:p>
            <a:pPr marL="12724">
              <a:spcBef>
                <a:spcPts val="125"/>
              </a:spcBef>
            </a:pPr>
            <a:r>
              <a:rPr sz="2906" dirty="0">
                <a:latin typeface="Symbol"/>
                <a:cs typeface="Symbol"/>
              </a:rPr>
              <a:t></a:t>
            </a:r>
            <a:r>
              <a:rPr sz="2906" spc="-15" dirty="0">
                <a:latin typeface="Times New Roman"/>
                <a:cs typeface="Times New Roman"/>
              </a:rPr>
              <a:t> </a:t>
            </a:r>
            <a:r>
              <a:rPr sz="2906" spc="-10" dirty="0">
                <a:latin typeface="Arial MT"/>
                <a:cs typeface="Arial MT"/>
              </a:rPr>
              <a:t>20log</a:t>
            </a:r>
            <a:endParaRPr sz="2906">
              <a:latin typeface="Arial MT"/>
              <a:cs typeface="Arial MT"/>
            </a:endParaRPr>
          </a:p>
        </p:txBody>
      </p:sp>
      <p:sp>
        <p:nvSpPr>
          <p:cNvPr id="24" name="object 24"/>
          <p:cNvSpPr txBox="1"/>
          <p:nvPr/>
        </p:nvSpPr>
        <p:spPr>
          <a:xfrm>
            <a:off x="5851962" y="4496599"/>
            <a:ext cx="265922" cy="286280"/>
          </a:xfrm>
          <a:prstGeom prst="rect">
            <a:avLst/>
          </a:prstGeom>
        </p:spPr>
        <p:txBody>
          <a:bodyPr vert="horz" wrap="square" lIns="0" tIns="13360" rIns="0" bIns="0" rtlCol="0">
            <a:spAutoFit/>
          </a:bodyPr>
          <a:lstStyle/>
          <a:p>
            <a:pPr marL="12724">
              <a:spcBef>
                <a:spcPts val="105"/>
              </a:spcBef>
            </a:pPr>
            <a:r>
              <a:rPr sz="1703" spc="-25" dirty="0">
                <a:latin typeface="Arial MT"/>
                <a:cs typeface="Arial MT"/>
              </a:rPr>
              <a:t>10</a:t>
            </a:r>
            <a:endParaRPr sz="1703">
              <a:latin typeface="Arial MT"/>
              <a:cs typeface="Arial MT"/>
            </a:endParaRPr>
          </a:p>
        </p:txBody>
      </p:sp>
      <p:sp>
        <p:nvSpPr>
          <p:cNvPr id="25" name="object 25"/>
          <p:cNvSpPr txBox="1"/>
          <p:nvPr/>
        </p:nvSpPr>
        <p:spPr>
          <a:xfrm>
            <a:off x="5851962" y="3290405"/>
            <a:ext cx="265922" cy="286280"/>
          </a:xfrm>
          <a:prstGeom prst="rect">
            <a:avLst/>
          </a:prstGeom>
        </p:spPr>
        <p:txBody>
          <a:bodyPr vert="horz" wrap="square" lIns="0" tIns="13360" rIns="0" bIns="0" rtlCol="0">
            <a:spAutoFit/>
          </a:bodyPr>
          <a:lstStyle/>
          <a:p>
            <a:pPr marL="12724">
              <a:spcBef>
                <a:spcPts val="105"/>
              </a:spcBef>
            </a:pPr>
            <a:r>
              <a:rPr sz="1703" spc="-25" dirty="0">
                <a:latin typeface="Arial MT"/>
                <a:cs typeface="Arial MT"/>
              </a:rPr>
              <a:t>10</a:t>
            </a:r>
            <a:endParaRPr sz="1703">
              <a:latin typeface="Arial MT"/>
              <a:cs typeface="Arial MT"/>
            </a:endParaRPr>
          </a:p>
        </p:txBody>
      </p:sp>
      <p:sp>
        <p:nvSpPr>
          <p:cNvPr id="26" name="object 26"/>
          <p:cNvSpPr txBox="1"/>
          <p:nvPr/>
        </p:nvSpPr>
        <p:spPr>
          <a:xfrm>
            <a:off x="6091674" y="4634589"/>
            <a:ext cx="2213900" cy="472680"/>
          </a:xfrm>
          <a:prstGeom prst="rect">
            <a:avLst/>
          </a:prstGeom>
        </p:spPr>
        <p:txBody>
          <a:bodyPr vert="horz" wrap="square" lIns="0" tIns="15904" rIns="0" bIns="0" rtlCol="0">
            <a:spAutoFit/>
          </a:bodyPr>
          <a:lstStyle/>
          <a:p>
            <a:pPr marL="50897">
              <a:spcBef>
                <a:spcPts val="125"/>
              </a:spcBef>
              <a:tabLst>
                <a:tab pos="472065" algn="l"/>
                <a:tab pos="2032680" algn="l"/>
              </a:tabLst>
            </a:pPr>
            <a:r>
              <a:rPr sz="2906" spc="-50" dirty="0">
                <a:latin typeface="Symbol"/>
                <a:cs typeface="Symbol"/>
              </a:rPr>
              <a:t></a:t>
            </a:r>
            <a:r>
              <a:rPr sz="2906" dirty="0">
                <a:latin typeface="Times New Roman"/>
                <a:cs typeface="Times New Roman"/>
              </a:rPr>
              <a:t>	</a:t>
            </a:r>
            <a:r>
              <a:rPr sz="4358" i="1" spc="-232" baseline="14367" dirty="0">
                <a:latin typeface="Arial"/>
                <a:cs typeface="Arial"/>
              </a:rPr>
              <a:t>V</a:t>
            </a:r>
            <a:r>
              <a:rPr sz="1703" i="1" spc="5" dirty="0">
                <a:latin typeface="Arial"/>
                <a:cs typeface="Arial"/>
              </a:rPr>
              <a:t>I</a:t>
            </a:r>
            <a:r>
              <a:rPr sz="1703" i="1" spc="-1067" dirty="0">
                <a:latin typeface="Arial"/>
                <a:cs typeface="Arial"/>
              </a:rPr>
              <a:t>N</a:t>
            </a:r>
            <a:r>
              <a:rPr sz="2555" baseline="66993" dirty="0">
                <a:latin typeface="Arial MT"/>
                <a:cs typeface="Arial MT"/>
              </a:rPr>
              <a:t>2</a:t>
            </a:r>
            <a:r>
              <a:rPr sz="2555" spc="736" baseline="66993" dirty="0">
                <a:latin typeface="Arial MT"/>
                <a:cs typeface="Arial MT"/>
              </a:rPr>
              <a:t> </a:t>
            </a:r>
            <a:r>
              <a:rPr sz="4358" baseline="14367" dirty="0">
                <a:latin typeface="Arial MT"/>
                <a:cs typeface="Arial MT"/>
              </a:rPr>
              <a:t>/</a:t>
            </a:r>
            <a:r>
              <a:rPr sz="4358" spc="-601" baseline="14367" dirty="0">
                <a:latin typeface="Arial MT"/>
                <a:cs typeface="Arial MT"/>
              </a:rPr>
              <a:t> </a:t>
            </a:r>
            <a:r>
              <a:rPr sz="4358" i="1" spc="-37" baseline="14367" dirty="0">
                <a:latin typeface="Arial"/>
                <a:cs typeface="Arial"/>
              </a:rPr>
              <a:t>R</a:t>
            </a:r>
            <a:r>
              <a:rPr sz="1703" i="1" spc="-25" dirty="0">
                <a:latin typeface="Arial"/>
                <a:cs typeface="Arial"/>
              </a:rPr>
              <a:t>IN</a:t>
            </a:r>
            <a:r>
              <a:rPr sz="1703" i="1" dirty="0">
                <a:latin typeface="Arial"/>
                <a:cs typeface="Arial"/>
              </a:rPr>
              <a:t>	</a:t>
            </a:r>
            <a:r>
              <a:rPr sz="2906" spc="-50" dirty="0">
                <a:latin typeface="Symbol"/>
                <a:cs typeface="Symbol"/>
              </a:rPr>
              <a:t></a:t>
            </a:r>
            <a:endParaRPr sz="2906">
              <a:latin typeface="Symbol"/>
              <a:cs typeface="Symbol"/>
            </a:endParaRPr>
          </a:p>
        </p:txBody>
      </p:sp>
      <p:sp>
        <p:nvSpPr>
          <p:cNvPr id="27" name="object 27"/>
          <p:cNvSpPr txBox="1"/>
          <p:nvPr/>
        </p:nvSpPr>
        <p:spPr>
          <a:xfrm>
            <a:off x="7107013" y="4011644"/>
            <a:ext cx="450414" cy="472680"/>
          </a:xfrm>
          <a:prstGeom prst="rect">
            <a:avLst/>
          </a:prstGeom>
        </p:spPr>
        <p:txBody>
          <a:bodyPr vert="horz" wrap="square" lIns="0" tIns="15904" rIns="0" bIns="0" rtlCol="0">
            <a:spAutoFit/>
          </a:bodyPr>
          <a:lstStyle/>
          <a:p>
            <a:pPr marL="12724">
              <a:spcBef>
                <a:spcPts val="125"/>
              </a:spcBef>
            </a:pPr>
            <a:r>
              <a:rPr sz="2906" dirty="0">
                <a:latin typeface="Arial MT"/>
                <a:cs typeface="Arial MT"/>
              </a:rPr>
              <a:t>/</a:t>
            </a:r>
            <a:r>
              <a:rPr sz="2906" spc="-396" dirty="0">
                <a:latin typeface="Arial MT"/>
                <a:cs typeface="Arial MT"/>
              </a:rPr>
              <a:t> </a:t>
            </a:r>
            <a:r>
              <a:rPr sz="2906" i="1" spc="-50" dirty="0">
                <a:latin typeface="Arial"/>
                <a:cs typeface="Arial"/>
              </a:rPr>
              <a:t>R</a:t>
            </a:r>
            <a:endParaRPr sz="2906">
              <a:latin typeface="Arial"/>
              <a:cs typeface="Arial"/>
            </a:endParaRPr>
          </a:p>
        </p:txBody>
      </p:sp>
      <p:sp>
        <p:nvSpPr>
          <p:cNvPr id="28" name="object 28"/>
          <p:cNvSpPr txBox="1"/>
          <p:nvPr/>
        </p:nvSpPr>
        <p:spPr>
          <a:xfrm>
            <a:off x="4661037" y="4246775"/>
            <a:ext cx="1221462" cy="472680"/>
          </a:xfrm>
          <a:prstGeom prst="rect">
            <a:avLst/>
          </a:prstGeom>
        </p:spPr>
        <p:txBody>
          <a:bodyPr vert="horz" wrap="square" lIns="0" tIns="15904" rIns="0" bIns="0" rtlCol="0">
            <a:spAutoFit/>
          </a:bodyPr>
          <a:lstStyle/>
          <a:p>
            <a:pPr marL="12724">
              <a:spcBef>
                <a:spcPts val="125"/>
              </a:spcBef>
            </a:pPr>
            <a:r>
              <a:rPr sz="2906" dirty="0">
                <a:latin typeface="Symbol"/>
                <a:cs typeface="Symbol"/>
              </a:rPr>
              <a:t></a:t>
            </a:r>
            <a:r>
              <a:rPr sz="2906" spc="-229" dirty="0">
                <a:latin typeface="Times New Roman"/>
                <a:cs typeface="Times New Roman"/>
              </a:rPr>
              <a:t> </a:t>
            </a:r>
            <a:r>
              <a:rPr sz="2906" spc="-20" dirty="0">
                <a:latin typeface="Arial MT"/>
                <a:cs typeface="Arial MT"/>
              </a:rPr>
              <a:t>10log</a:t>
            </a:r>
            <a:endParaRPr sz="2906">
              <a:latin typeface="Arial MT"/>
              <a:cs typeface="Arial MT"/>
            </a:endParaRPr>
          </a:p>
        </p:txBody>
      </p:sp>
      <p:sp>
        <p:nvSpPr>
          <p:cNvPr id="29" name="object 29"/>
          <p:cNvSpPr txBox="1"/>
          <p:nvPr/>
        </p:nvSpPr>
        <p:spPr>
          <a:xfrm>
            <a:off x="4099164" y="3043635"/>
            <a:ext cx="1783842" cy="472680"/>
          </a:xfrm>
          <a:prstGeom prst="rect">
            <a:avLst/>
          </a:prstGeom>
        </p:spPr>
        <p:txBody>
          <a:bodyPr vert="horz" wrap="square" lIns="0" tIns="15904" rIns="0" bIns="0" rtlCol="0">
            <a:spAutoFit/>
          </a:bodyPr>
          <a:lstStyle/>
          <a:p>
            <a:pPr marL="12724">
              <a:spcBef>
                <a:spcPts val="125"/>
              </a:spcBef>
            </a:pPr>
            <a:r>
              <a:rPr sz="2906" i="1" dirty="0">
                <a:latin typeface="Arial"/>
                <a:cs typeface="Arial"/>
              </a:rPr>
              <a:t>dB</a:t>
            </a:r>
            <a:r>
              <a:rPr sz="2906" i="1" spc="35" dirty="0">
                <a:latin typeface="Arial"/>
                <a:cs typeface="Arial"/>
              </a:rPr>
              <a:t> </a:t>
            </a:r>
            <a:r>
              <a:rPr sz="2906" dirty="0">
                <a:latin typeface="Symbol"/>
                <a:cs typeface="Symbol"/>
              </a:rPr>
              <a:t></a:t>
            </a:r>
            <a:r>
              <a:rPr sz="2906" spc="-240" dirty="0">
                <a:latin typeface="Times New Roman"/>
                <a:cs typeface="Times New Roman"/>
              </a:rPr>
              <a:t> </a:t>
            </a:r>
            <a:r>
              <a:rPr sz="2906" spc="-10" dirty="0">
                <a:latin typeface="Arial MT"/>
                <a:cs typeface="Arial MT"/>
              </a:rPr>
              <a:t>10log</a:t>
            </a:r>
            <a:endParaRPr sz="2906">
              <a:latin typeface="Arial MT"/>
              <a:cs typeface="Arial MT"/>
            </a:endParaRPr>
          </a:p>
        </p:txBody>
      </p:sp>
      <p:sp>
        <p:nvSpPr>
          <p:cNvPr id="30" name="object 30"/>
          <p:cNvSpPr txBox="1"/>
          <p:nvPr/>
        </p:nvSpPr>
        <p:spPr>
          <a:xfrm>
            <a:off x="5424451" y="2090319"/>
            <a:ext cx="265922" cy="286280"/>
          </a:xfrm>
          <a:prstGeom prst="rect">
            <a:avLst/>
          </a:prstGeom>
        </p:spPr>
        <p:txBody>
          <a:bodyPr vert="horz" wrap="square" lIns="0" tIns="13360" rIns="0" bIns="0" rtlCol="0">
            <a:spAutoFit/>
          </a:bodyPr>
          <a:lstStyle/>
          <a:p>
            <a:pPr marL="12724">
              <a:spcBef>
                <a:spcPts val="105"/>
              </a:spcBef>
            </a:pPr>
            <a:r>
              <a:rPr sz="1703" spc="-25" dirty="0">
                <a:latin typeface="Arial MT"/>
                <a:cs typeface="Arial MT"/>
              </a:rPr>
              <a:t>10</a:t>
            </a:r>
            <a:endParaRPr sz="1703">
              <a:latin typeface="Arial MT"/>
              <a:cs typeface="Arial MT"/>
            </a:endParaRPr>
          </a:p>
        </p:txBody>
      </p:sp>
      <p:sp>
        <p:nvSpPr>
          <p:cNvPr id="31" name="object 31"/>
          <p:cNvSpPr txBox="1"/>
          <p:nvPr/>
        </p:nvSpPr>
        <p:spPr>
          <a:xfrm>
            <a:off x="3909837" y="1840495"/>
            <a:ext cx="1545277" cy="472680"/>
          </a:xfrm>
          <a:prstGeom prst="rect">
            <a:avLst/>
          </a:prstGeom>
        </p:spPr>
        <p:txBody>
          <a:bodyPr vert="horz" wrap="square" lIns="0" tIns="15904" rIns="0" bIns="0" rtlCol="0">
            <a:spAutoFit/>
          </a:bodyPr>
          <a:lstStyle/>
          <a:p>
            <a:pPr marL="12724">
              <a:spcBef>
                <a:spcPts val="125"/>
              </a:spcBef>
            </a:pPr>
            <a:r>
              <a:rPr sz="2906" i="1" dirty="0">
                <a:latin typeface="Arial"/>
                <a:cs typeface="Arial"/>
              </a:rPr>
              <a:t>Bell</a:t>
            </a:r>
            <a:r>
              <a:rPr sz="2906" i="1" spc="220" dirty="0">
                <a:latin typeface="Arial"/>
                <a:cs typeface="Arial"/>
              </a:rPr>
              <a:t> </a:t>
            </a:r>
            <a:r>
              <a:rPr sz="2906" dirty="0">
                <a:latin typeface="Symbol"/>
                <a:cs typeface="Symbol"/>
              </a:rPr>
              <a:t></a:t>
            </a:r>
            <a:r>
              <a:rPr sz="2906" spc="-100" dirty="0">
                <a:latin typeface="Times New Roman"/>
                <a:cs typeface="Times New Roman"/>
              </a:rPr>
              <a:t> </a:t>
            </a:r>
            <a:r>
              <a:rPr sz="2906" spc="-25" dirty="0">
                <a:latin typeface="Arial MT"/>
                <a:cs typeface="Arial MT"/>
              </a:rPr>
              <a:t>log</a:t>
            </a:r>
            <a:endParaRPr sz="2906">
              <a:latin typeface="Arial MT"/>
              <a:cs typeface="Arial MT"/>
            </a:endParaRPr>
          </a:p>
        </p:txBody>
      </p:sp>
      <p:sp>
        <p:nvSpPr>
          <p:cNvPr id="32" name="object 32"/>
          <p:cNvSpPr txBox="1"/>
          <p:nvPr/>
        </p:nvSpPr>
        <p:spPr>
          <a:xfrm>
            <a:off x="8058737" y="5578009"/>
            <a:ext cx="1720225" cy="454231"/>
          </a:xfrm>
          <a:prstGeom prst="rect">
            <a:avLst/>
          </a:prstGeom>
        </p:spPr>
        <p:txBody>
          <a:bodyPr vert="horz" wrap="square" lIns="0" tIns="13360" rIns="0" bIns="0" rtlCol="0">
            <a:spAutoFit/>
          </a:bodyPr>
          <a:lstStyle/>
          <a:p>
            <a:pPr marL="38172">
              <a:spcBef>
                <a:spcPts val="105"/>
              </a:spcBef>
            </a:pPr>
            <a:r>
              <a:rPr sz="2805" i="1" dirty="0">
                <a:latin typeface="Calibri"/>
                <a:cs typeface="Calibri"/>
              </a:rPr>
              <a:t>If</a:t>
            </a:r>
            <a:r>
              <a:rPr sz="2805" i="1" spc="-15" dirty="0">
                <a:latin typeface="Calibri"/>
                <a:cs typeface="Calibri"/>
              </a:rPr>
              <a:t> </a:t>
            </a:r>
            <a:r>
              <a:rPr sz="2805" i="1" dirty="0">
                <a:latin typeface="Calibri"/>
                <a:cs typeface="Calibri"/>
              </a:rPr>
              <a:t>R</a:t>
            </a:r>
            <a:r>
              <a:rPr sz="2780" i="1" baseline="-19519" dirty="0">
                <a:latin typeface="Calibri"/>
                <a:cs typeface="Calibri"/>
              </a:rPr>
              <a:t>OUT</a:t>
            </a:r>
            <a:r>
              <a:rPr sz="2780" i="1" spc="293" baseline="-19519" dirty="0">
                <a:latin typeface="Calibri"/>
                <a:cs typeface="Calibri"/>
              </a:rPr>
              <a:t> </a:t>
            </a:r>
            <a:r>
              <a:rPr sz="2805" i="1" dirty="0">
                <a:latin typeface="Calibri"/>
                <a:cs typeface="Calibri"/>
              </a:rPr>
              <a:t>= </a:t>
            </a:r>
            <a:r>
              <a:rPr sz="2805" i="1" spc="-25" dirty="0">
                <a:latin typeface="Calibri"/>
                <a:cs typeface="Calibri"/>
              </a:rPr>
              <a:t>R</a:t>
            </a:r>
            <a:r>
              <a:rPr sz="2780" i="1" spc="-37" baseline="-19519" dirty="0">
                <a:latin typeface="Calibri"/>
                <a:cs typeface="Calibri"/>
              </a:rPr>
              <a:t>IN</a:t>
            </a:r>
            <a:endParaRPr sz="2780" baseline="-19519">
              <a:latin typeface="Calibri"/>
              <a:cs typeface="Calibri"/>
            </a:endParaRPr>
          </a:p>
        </p:txBody>
      </p:sp>
      <p:pic>
        <p:nvPicPr>
          <p:cNvPr id="35" name="Picture 34"/>
          <p:cNvPicPr>
            <a:picLocks noChangeAspect="1"/>
          </p:cNvPicPr>
          <p:nvPr/>
        </p:nvPicPr>
        <p:blipFill>
          <a:blip r:embed="rId2"/>
          <a:stretch>
            <a:fillRect/>
          </a:stretch>
        </p:blipFill>
        <p:spPr>
          <a:xfrm>
            <a:off x="3543560" y="5449563"/>
            <a:ext cx="896466" cy="699981"/>
          </a:xfrm>
          <a:prstGeom prst="rect">
            <a:avLst/>
          </a:prstGeom>
        </p:spPr>
      </p:pic>
    </p:spTree>
    <p:extLst>
      <p:ext uri="{BB962C8B-B14F-4D97-AF65-F5344CB8AC3E}">
        <p14:creationId xmlns:p14="http://schemas.microsoft.com/office/powerpoint/2010/main" val="2462071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3186122">
              <a:spcBef>
                <a:spcPts val="90"/>
              </a:spcBef>
            </a:pPr>
            <a:r>
              <a:rPr spc="-10" dirty="0"/>
              <a:t>deciBell</a:t>
            </a:r>
          </a:p>
        </p:txBody>
      </p:sp>
      <p:sp>
        <p:nvSpPr>
          <p:cNvPr id="3" name="object 3"/>
          <p:cNvSpPr/>
          <p:nvPr/>
        </p:nvSpPr>
        <p:spPr>
          <a:xfrm>
            <a:off x="4781783" y="1838174"/>
            <a:ext cx="0" cy="585920"/>
          </a:xfrm>
          <a:custGeom>
            <a:avLst/>
            <a:gdLst/>
            <a:ahLst/>
            <a:cxnLst/>
            <a:rect l="l" t="t" r="r" b="b"/>
            <a:pathLst>
              <a:path h="584835">
                <a:moveTo>
                  <a:pt x="0" y="0"/>
                </a:moveTo>
                <a:lnTo>
                  <a:pt x="0" y="584453"/>
                </a:lnTo>
              </a:path>
            </a:pathLst>
          </a:custGeom>
          <a:ln w="19719">
            <a:solidFill>
              <a:srgbClr val="000000"/>
            </a:solidFill>
          </a:ln>
        </p:spPr>
        <p:txBody>
          <a:bodyPr wrap="square" lIns="0" tIns="0" rIns="0" bIns="0" rtlCol="0"/>
          <a:lstStyle/>
          <a:p>
            <a:endParaRPr sz="1803"/>
          </a:p>
        </p:txBody>
      </p:sp>
      <p:sp>
        <p:nvSpPr>
          <p:cNvPr id="4" name="object 4"/>
          <p:cNvSpPr/>
          <p:nvPr/>
        </p:nvSpPr>
        <p:spPr>
          <a:xfrm>
            <a:off x="6064700" y="1838174"/>
            <a:ext cx="0" cy="585920"/>
          </a:xfrm>
          <a:custGeom>
            <a:avLst/>
            <a:gdLst/>
            <a:ahLst/>
            <a:cxnLst/>
            <a:rect l="l" t="t" r="r" b="b"/>
            <a:pathLst>
              <a:path h="584835">
                <a:moveTo>
                  <a:pt x="0" y="0"/>
                </a:moveTo>
                <a:lnTo>
                  <a:pt x="0" y="584453"/>
                </a:lnTo>
              </a:path>
            </a:pathLst>
          </a:custGeom>
          <a:ln w="19719">
            <a:solidFill>
              <a:srgbClr val="000000"/>
            </a:solidFill>
          </a:ln>
        </p:spPr>
        <p:txBody>
          <a:bodyPr wrap="square" lIns="0" tIns="0" rIns="0" bIns="0" rtlCol="0"/>
          <a:lstStyle/>
          <a:p>
            <a:endParaRPr sz="1803"/>
          </a:p>
        </p:txBody>
      </p:sp>
      <p:sp>
        <p:nvSpPr>
          <p:cNvPr id="5" name="object 5"/>
          <p:cNvSpPr txBox="1"/>
          <p:nvPr/>
        </p:nvSpPr>
        <p:spPr>
          <a:xfrm>
            <a:off x="4621340" y="1504148"/>
            <a:ext cx="1667423" cy="905281"/>
          </a:xfrm>
          <a:prstGeom prst="rect">
            <a:avLst/>
          </a:prstGeom>
        </p:spPr>
        <p:txBody>
          <a:bodyPr vert="horz" wrap="square" lIns="0" tIns="13996" rIns="0" bIns="0" rtlCol="0">
            <a:spAutoFit/>
          </a:bodyPr>
          <a:lstStyle/>
          <a:p>
            <a:pPr marL="12724">
              <a:spcBef>
                <a:spcPts val="110"/>
              </a:spcBef>
            </a:pPr>
            <a:r>
              <a:rPr sz="5761" spc="-125" dirty="0">
                <a:latin typeface="Symbol"/>
                <a:cs typeface="Symbol"/>
              </a:rPr>
              <a:t></a:t>
            </a:r>
            <a:r>
              <a:rPr sz="3757" i="1" spc="-125" dirty="0">
                <a:latin typeface="Arial"/>
                <a:cs typeface="Arial"/>
              </a:rPr>
              <a:t>H</a:t>
            </a:r>
            <a:r>
              <a:rPr sz="3757" spc="-125" dirty="0">
                <a:latin typeface="Arial MT"/>
                <a:cs typeface="Arial MT"/>
              </a:rPr>
              <a:t>(</a:t>
            </a:r>
            <a:r>
              <a:rPr sz="3757" spc="-346" dirty="0">
                <a:latin typeface="Arial MT"/>
                <a:cs typeface="Arial MT"/>
              </a:rPr>
              <a:t> </a:t>
            </a:r>
            <a:r>
              <a:rPr sz="3757" i="1" spc="-135" dirty="0">
                <a:latin typeface="Arial"/>
                <a:cs typeface="Arial"/>
              </a:rPr>
              <a:t>j</a:t>
            </a:r>
            <a:r>
              <a:rPr sz="3857" i="1" spc="-135" dirty="0">
                <a:latin typeface="Verdana"/>
                <a:cs typeface="Verdana"/>
              </a:rPr>
              <a:t>ω</a:t>
            </a:r>
            <a:r>
              <a:rPr sz="3757" spc="-135" dirty="0">
                <a:latin typeface="Arial MT"/>
                <a:cs typeface="Arial MT"/>
              </a:rPr>
              <a:t>)</a:t>
            </a:r>
            <a:r>
              <a:rPr sz="3757" spc="-466" dirty="0">
                <a:latin typeface="Arial MT"/>
                <a:cs typeface="Arial MT"/>
              </a:rPr>
              <a:t> </a:t>
            </a:r>
            <a:r>
              <a:rPr sz="5761" spc="-771" dirty="0">
                <a:latin typeface="Symbol"/>
                <a:cs typeface="Symbol"/>
              </a:rPr>
              <a:t></a:t>
            </a:r>
            <a:endParaRPr sz="5761">
              <a:latin typeface="Symbol"/>
              <a:cs typeface="Symbol"/>
            </a:endParaRPr>
          </a:p>
        </p:txBody>
      </p:sp>
      <p:sp>
        <p:nvSpPr>
          <p:cNvPr id="6" name="object 6"/>
          <p:cNvSpPr txBox="1"/>
          <p:nvPr/>
        </p:nvSpPr>
        <p:spPr>
          <a:xfrm>
            <a:off x="4257953" y="2078521"/>
            <a:ext cx="335902" cy="359441"/>
          </a:xfrm>
          <a:prstGeom prst="rect">
            <a:avLst/>
          </a:prstGeom>
        </p:spPr>
        <p:txBody>
          <a:bodyPr vert="horz" wrap="square" lIns="0" tIns="16541" rIns="0" bIns="0" rtlCol="0">
            <a:spAutoFit/>
          </a:bodyPr>
          <a:lstStyle/>
          <a:p>
            <a:pPr marL="12724">
              <a:spcBef>
                <a:spcPts val="130"/>
              </a:spcBef>
            </a:pPr>
            <a:r>
              <a:rPr sz="2154" spc="-25" dirty="0">
                <a:latin typeface="Arial MT"/>
                <a:cs typeface="Arial MT"/>
              </a:rPr>
              <a:t>10</a:t>
            </a:r>
            <a:endParaRPr sz="2154">
              <a:latin typeface="Arial MT"/>
              <a:cs typeface="Arial MT"/>
            </a:endParaRPr>
          </a:p>
        </p:txBody>
      </p:sp>
      <p:sp>
        <p:nvSpPr>
          <p:cNvPr id="7" name="object 7"/>
          <p:cNvSpPr txBox="1"/>
          <p:nvPr/>
        </p:nvSpPr>
        <p:spPr>
          <a:xfrm>
            <a:off x="2181469" y="2078521"/>
            <a:ext cx="366439" cy="359441"/>
          </a:xfrm>
          <a:prstGeom prst="rect">
            <a:avLst/>
          </a:prstGeom>
        </p:spPr>
        <p:txBody>
          <a:bodyPr vert="horz" wrap="square" lIns="0" tIns="16541" rIns="0" bIns="0" rtlCol="0">
            <a:spAutoFit/>
          </a:bodyPr>
          <a:lstStyle/>
          <a:p>
            <a:pPr marL="12724">
              <a:spcBef>
                <a:spcPts val="130"/>
              </a:spcBef>
            </a:pPr>
            <a:r>
              <a:rPr sz="2154" i="1" spc="-25" dirty="0">
                <a:latin typeface="Arial"/>
                <a:cs typeface="Arial"/>
              </a:rPr>
              <a:t>dB</a:t>
            </a:r>
            <a:endParaRPr sz="2154">
              <a:latin typeface="Arial"/>
              <a:cs typeface="Arial"/>
            </a:endParaRPr>
          </a:p>
        </p:txBody>
      </p:sp>
      <p:sp>
        <p:nvSpPr>
          <p:cNvPr id="8" name="object 8"/>
          <p:cNvSpPr txBox="1"/>
          <p:nvPr/>
        </p:nvSpPr>
        <p:spPr>
          <a:xfrm>
            <a:off x="1827245" y="1760941"/>
            <a:ext cx="2482367" cy="597371"/>
          </a:xfrm>
          <a:prstGeom prst="rect">
            <a:avLst/>
          </a:prstGeom>
        </p:spPr>
        <p:txBody>
          <a:bodyPr vert="horz" wrap="square" lIns="0" tIns="11451" rIns="0" bIns="0" rtlCol="0">
            <a:spAutoFit/>
          </a:bodyPr>
          <a:lstStyle/>
          <a:p>
            <a:pPr marL="12724">
              <a:spcBef>
                <a:spcPts val="90"/>
              </a:spcBef>
              <a:tabLst>
                <a:tab pos="885598" algn="l"/>
              </a:tabLst>
            </a:pPr>
            <a:r>
              <a:rPr sz="3757" i="1" spc="-50" dirty="0">
                <a:latin typeface="Arial"/>
                <a:cs typeface="Arial"/>
              </a:rPr>
              <a:t>H</a:t>
            </a:r>
            <a:r>
              <a:rPr sz="3757" i="1" dirty="0">
                <a:latin typeface="Arial"/>
                <a:cs typeface="Arial"/>
              </a:rPr>
              <a:t>	</a:t>
            </a:r>
            <a:r>
              <a:rPr sz="3757" dirty="0">
                <a:latin typeface="Symbol"/>
                <a:cs typeface="Symbol"/>
              </a:rPr>
              <a:t></a:t>
            </a:r>
            <a:r>
              <a:rPr sz="3757" spc="-45" dirty="0">
                <a:latin typeface="Times New Roman"/>
                <a:cs typeface="Times New Roman"/>
              </a:rPr>
              <a:t> </a:t>
            </a:r>
            <a:r>
              <a:rPr sz="3757" spc="-20" dirty="0">
                <a:latin typeface="Arial MT"/>
                <a:cs typeface="Arial MT"/>
              </a:rPr>
              <a:t>20log</a:t>
            </a:r>
            <a:endParaRPr sz="3757">
              <a:latin typeface="Arial MT"/>
              <a:cs typeface="Arial MT"/>
            </a:endParaRPr>
          </a:p>
        </p:txBody>
      </p:sp>
      <p:sp>
        <p:nvSpPr>
          <p:cNvPr id="9" name="object 9"/>
          <p:cNvSpPr txBox="1"/>
          <p:nvPr/>
        </p:nvSpPr>
        <p:spPr>
          <a:xfrm>
            <a:off x="9052193" y="2093790"/>
            <a:ext cx="956176" cy="4301836"/>
          </a:xfrm>
          <a:prstGeom prst="rect">
            <a:avLst/>
          </a:prstGeom>
        </p:spPr>
        <p:txBody>
          <a:bodyPr vert="horz" wrap="square" lIns="0" tIns="13360" rIns="0" bIns="0" rtlCol="0">
            <a:spAutoFit/>
          </a:bodyPr>
          <a:lstStyle/>
          <a:p>
            <a:pPr marL="192771">
              <a:spcBef>
                <a:spcPts val="105"/>
              </a:spcBef>
            </a:pPr>
            <a:r>
              <a:rPr sz="2805" b="1" spc="-25" dirty="0">
                <a:latin typeface="Calibri"/>
                <a:cs typeface="Calibri"/>
              </a:rPr>
              <a:t>0dB</a:t>
            </a:r>
            <a:endParaRPr sz="2805">
              <a:latin typeface="Calibri"/>
              <a:cs typeface="Calibri"/>
            </a:endParaRPr>
          </a:p>
          <a:p>
            <a:pPr marL="12724"/>
            <a:r>
              <a:rPr sz="2805" b="1" spc="-10" dirty="0">
                <a:latin typeface="Calibri"/>
                <a:cs typeface="Calibri"/>
              </a:rPr>
              <a:t>+20dB</a:t>
            </a:r>
            <a:endParaRPr sz="2805">
              <a:latin typeface="Calibri"/>
              <a:cs typeface="Calibri"/>
            </a:endParaRPr>
          </a:p>
          <a:p>
            <a:pPr marL="45807"/>
            <a:r>
              <a:rPr sz="2805" b="1" spc="-10" dirty="0">
                <a:latin typeface="Calibri"/>
                <a:cs typeface="Calibri"/>
              </a:rPr>
              <a:t>-</a:t>
            </a:r>
            <a:r>
              <a:rPr sz="2805" b="1" spc="-20" dirty="0">
                <a:latin typeface="Calibri"/>
                <a:cs typeface="Calibri"/>
              </a:rPr>
              <a:t>20dB</a:t>
            </a:r>
            <a:endParaRPr sz="2805">
              <a:latin typeface="Calibri"/>
              <a:cs typeface="Calibri"/>
            </a:endParaRPr>
          </a:p>
          <a:p>
            <a:pPr marL="12724"/>
            <a:r>
              <a:rPr sz="2805" b="1" spc="-10" dirty="0">
                <a:latin typeface="Calibri"/>
                <a:cs typeface="Calibri"/>
              </a:rPr>
              <a:t>+40dB</a:t>
            </a:r>
            <a:endParaRPr sz="2805">
              <a:latin typeface="Calibri"/>
              <a:cs typeface="Calibri"/>
            </a:endParaRPr>
          </a:p>
          <a:p>
            <a:pPr marL="45807"/>
            <a:r>
              <a:rPr sz="2805" b="1" spc="-10" dirty="0">
                <a:latin typeface="Calibri"/>
                <a:cs typeface="Calibri"/>
              </a:rPr>
              <a:t>-</a:t>
            </a:r>
            <a:r>
              <a:rPr sz="2805" b="1" spc="-20" dirty="0">
                <a:latin typeface="Calibri"/>
                <a:cs typeface="Calibri"/>
              </a:rPr>
              <a:t>40dB</a:t>
            </a:r>
            <a:endParaRPr sz="2805">
              <a:latin typeface="Calibri"/>
              <a:cs typeface="Calibri"/>
            </a:endParaRPr>
          </a:p>
          <a:p>
            <a:pPr marL="103702"/>
            <a:r>
              <a:rPr sz="2805" b="1" spc="-20" dirty="0">
                <a:latin typeface="Calibri"/>
                <a:cs typeface="Calibri"/>
              </a:rPr>
              <a:t>+6dB</a:t>
            </a:r>
            <a:endParaRPr sz="2805">
              <a:latin typeface="Calibri"/>
              <a:cs typeface="Calibri"/>
            </a:endParaRPr>
          </a:p>
          <a:p>
            <a:pPr marL="12724"/>
            <a:r>
              <a:rPr sz="2805" b="1" spc="-10" dirty="0">
                <a:latin typeface="Calibri"/>
                <a:cs typeface="Calibri"/>
              </a:rPr>
              <a:t>+12dB</a:t>
            </a:r>
            <a:endParaRPr sz="2805">
              <a:latin typeface="Calibri"/>
              <a:cs typeface="Calibri"/>
            </a:endParaRPr>
          </a:p>
          <a:p>
            <a:pPr marL="137421"/>
            <a:r>
              <a:rPr sz="2805" b="1" spc="-10" dirty="0">
                <a:latin typeface="Calibri"/>
                <a:cs typeface="Calibri"/>
              </a:rPr>
              <a:t>-</a:t>
            </a:r>
            <a:r>
              <a:rPr sz="2805" b="1" spc="-25" dirty="0">
                <a:latin typeface="Calibri"/>
                <a:cs typeface="Calibri"/>
              </a:rPr>
              <a:t>6dB</a:t>
            </a:r>
            <a:endParaRPr sz="2805">
              <a:latin typeface="Calibri"/>
              <a:cs typeface="Calibri"/>
            </a:endParaRPr>
          </a:p>
          <a:p>
            <a:pPr marL="103702"/>
            <a:r>
              <a:rPr sz="2805" b="1" spc="-20" dirty="0">
                <a:latin typeface="Calibri"/>
                <a:cs typeface="Calibri"/>
              </a:rPr>
              <a:t>+3dB</a:t>
            </a:r>
            <a:endParaRPr sz="2805">
              <a:latin typeface="Calibri"/>
              <a:cs typeface="Calibri"/>
            </a:endParaRPr>
          </a:p>
          <a:p>
            <a:pPr marL="137421"/>
            <a:r>
              <a:rPr sz="2805" b="1" spc="-10" dirty="0">
                <a:latin typeface="Calibri"/>
                <a:cs typeface="Calibri"/>
              </a:rPr>
              <a:t>-</a:t>
            </a:r>
            <a:r>
              <a:rPr sz="2805" b="1" spc="-25" dirty="0">
                <a:latin typeface="Calibri"/>
                <a:cs typeface="Calibri"/>
              </a:rPr>
              <a:t>3dB</a:t>
            </a:r>
            <a:endParaRPr sz="2805">
              <a:latin typeface="Calibri"/>
              <a:cs typeface="Calibri"/>
            </a:endParaRPr>
          </a:p>
        </p:txBody>
      </p:sp>
      <p:sp>
        <p:nvSpPr>
          <p:cNvPr id="10" name="object 10"/>
          <p:cNvSpPr txBox="1"/>
          <p:nvPr/>
        </p:nvSpPr>
        <p:spPr>
          <a:xfrm>
            <a:off x="9206911" y="1443361"/>
            <a:ext cx="535026" cy="391886"/>
          </a:xfrm>
          <a:prstGeom prst="rect">
            <a:avLst/>
          </a:prstGeom>
        </p:spPr>
        <p:txBody>
          <a:bodyPr vert="horz" wrap="square" lIns="0" tIns="12724" rIns="0" bIns="0" rtlCol="0">
            <a:spAutoFit/>
          </a:bodyPr>
          <a:lstStyle/>
          <a:p>
            <a:pPr marL="38172">
              <a:spcBef>
                <a:spcPts val="100"/>
              </a:spcBef>
            </a:pPr>
            <a:r>
              <a:rPr sz="3607" b="1" i="1" spc="-37" baseline="13888" dirty="0">
                <a:latin typeface="Arial"/>
                <a:cs typeface="Arial"/>
              </a:rPr>
              <a:t>H</a:t>
            </a:r>
            <a:r>
              <a:rPr sz="1403" b="1" i="1" spc="-25" dirty="0">
                <a:latin typeface="Arial"/>
                <a:cs typeface="Arial"/>
              </a:rPr>
              <a:t>dB</a:t>
            </a:r>
            <a:endParaRPr sz="1403">
              <a:latin typeface="Arial"/>
              <a:cs typeface="Arial"/>
            </a:endParaRPr>
          </a:p>
        </p:txBody>
      </p:sp>
      <p:sp>
        <p:nvSpPr>
          <p:cNvPr id="11" name="object 11"/>
          <p:cNvSpPr/>
          <p:nvPr/>
        </p:nvSpPr>
        <p:spPr>
          <a:xfrm>
            <a:off x="7146075" y="1451123"/>
            <a:ext cx="0" cy="355624"/>
          </a:xfrm>
          <a:custGeom>
            <a:avLst/>
            <a:gdLst/>
            <a:ahLst/>
            <a:cxnLst/>
            <a:rect l="l" t="t" r="r" b="b"/>
            <a:pathLst>
              <a:path h="354964">
                <a:moveTo>
                  <a:pt x="0" y="0"/>
                </a:moveTo>
                <a:lnTo>
                  <a:pt x="0" y="354901"/>
                </a:lnTo>
              </a:path>
            </a:pathLst>
          </a:custGeom>
          <a:ln w="12653">
            <a:solidFill>
              <a:srgbClr val="000000"/>
            </a:solidFill>
          </a:ln>
        </p:spPr>
        <p:txBody>
          <a:bodyPr wrap="square" lIns="0" tIns="0" rIns="0" bIns="0" rtlCol="0"/>
          <a:lstStyle/>
          <a:p>
            <a:endParaRPr sz="1803"/>
          </a:p>
        </p:txBody>
      </p:sp>
      <p:sp>
        <p:nvSpPr>
          <p:cNvPr id="12" name="object 12"/>
          <p:cNvSpPr/>
          <p:nvPr/>
        </p:nvSpPr>
        <p:spPr>
          <a:xfrm>
            <a:off x="7976669" y="1451123"/>
            <a:ext cx="0" cy="355624"/>
          </a:xfrm>
          <a:custGeom>
            <a:avLst/>
            <a:gdLst/>
            <a:ahLst/>
            <a:cxnLst/>
            <a:rect l="l" t="t" r="r" b="b"/>
            <a:pathLst>
              <a:path h="354964">
                <a:moveTo>
                  <a:pt x="0" y="0"/>
                </a:moveTo>
                <a:lnTo>
                  <a:pt x="0" y="354901"/>
                </a:lnTo>
              </a:path>
            </a:pathLst>
          </a:custGeom>
          <a:ln w="12653">
            <a:solidFill>
              <a:srgbClr val="000000"/>
            </a:solidFill>
          </a:ln>
        </p:spPr>
        <p:txBody>
          <a:bodyPr wrap="square" lIns="0" tIns="0" rIns="0" bIns="0" rtlCol="0"/>
          <a:lstStyle/>
          <a:p>
            <a:endParaRPr sz="1803"/>
          </a:p>
        </p:txBody>
      </p:sp>
      <p:sp>
        <p:nvSpPr>
          <p:cNvPr id="13" name="object 13"/>
          <p:cNvSpPr txBox="1"/>
          <p:nvPr/>
        </p:nvSpPr>
        <p:spPr>
          <a:xfrm>
            <a:off x="7155872" y="1392092"/>
            <a:ext cx="820670" cy="391250"/>
          </a:xfrm>
          <a:prstGeom prst="rect">
            <a:avLst/>
          </a:prstGeom>
        </p:spPr>
        <p:txBody>
          <a:bodyPr vert="horz" wrap="square" lIns="0" tIns="12087" rIns="0" bIns="0" rtlCol="0">
            <a:spAutoFit/>
          </a:bodyPr>
          <a:lstStyle/>
          <a:p>
            <a:pPr marL="12724">
              <a:spcBef>
                <a:spcPts val="95"/>
              </a:spcBef>
            </a:pPr>
            <a:r>
              <a:rPr sz="2405" b="1" i="1" spc="65" dirty="0">
                <a:latin typeface="Arial"/>
                <a:cs typeface="Arial"/>
              </a:rPr>
              <a:t>H</a:t>
            </a:r>
            <a:r>
              <a:rPr sz="2405" b="1" spc="65" dirty="0">
                <a:latin typeface="Arial"/>
                <a:cs typeface="Arial"/>
              </a:rPr>
              <a:t>(</a:t>
            </a:r>
            <a:r>
              <a:rPr sz="2405" b="1" spc="-240" dirty="0">
                <a:latin typeface="Arial"/>
                <a:cs typeface="Arial"/>
              </a:rPr>
              <a:t> </a:t>
            </a:r>
            <a:r>
              <a:rPr sz="2405" b="1" i="1" spc="-145" dirty="0">
                <a:latin typeface="Arial"/>
                <a:cs typeface="Arial"/>
              </a:rPr>
              <a:t>j</a:t>
            </a:r>
            <a:r>
              <a:rPr sz="2405" b="1" spc="-145" dirty="0">
                <a:latin typeface="Microsoft YaHei UI"/>
                <a:cs typeface="Microsoft YaHei UI"/>
              </a:rPr>
              <a:t>ω</a:t>
            </a:r>
            <a:r>
              <a:rPr sz="2405" b="1" spc="-145" dirty="0">
                <a:latin typeface="Arial"/>
                <a:cs typeface="Arial"/>
              </a:rPr>
              <a:t>)</a:t>
            </a:r>
            <a:endParaRPr sz="2405">
              <a:latin typeface="Arial"/>
              <a:cs typeface="Arial"/>
            </a:endParaRPr>
          </a:p>
        </p:txBody>
      </p:sp>
      <p:grpSp>
        <p:nvGrpSpPr>
          <p:cNvPr id="14" name="object 14"/>
          <p:cNvGrpSpPr/>
          <p:nvPr/>
        </p:nvGrpSpPr>
        <p:grpSpPr>
          <a:xfrm>
            <a:off x="6783835" y="1217899"/>
            <a:ext cx="3511703" cy="5150498"/>
            <a:chOff x="5239511" y="1215644"/>
            <a:chExt cx="3505200" cy="5140960"/>
          </a:xfrm>
        </p:grpSpPr>
        <p:sp>
          <p:nvSpPr>
            <p:cNvPr id="15" name="object 15"/>
            <p:cNvSpPr/>
            <p:nvPr/>
          </p:nvSpPr>
          <p:spPr>
            <a:xfrm>
              <a:off x="5239512" y="1215643"/>
              <a:ext cx="3505200" cy="5114925"/>
            </a:xfrm>
            <a:custGeom>
              <a:avLst/>
              <a:gdLst/>
              <a:ahLst/>
              <a:cxnLst/>
              <a:rect l="l" t="t" r="r" b="b"/>
              <a:pathLst>
                <a:path w="3505200" h="5114925">
                  <a:moveTo>
                    <a:pt x="3505200" y="829068"/>
                  </a:moveTo>
                  <a:lnTo>
                    <a:pt x="1923275" y="829068"/>
                  </a:lnTo>
                  <a:lnTo>
                    <a:pt x="1923275" y="0"/>
                  </a:lnTo>
                  <a:lnTo>
                    <a:pt x="1886712" y="0"/>
                  </a:lnTo>
                  <a:lnTo>
                    <a:pt x="1886712" y="829068"/>
                  </a:lnTo>
                  <a:lnTo>
                    <a:pt x="0" y="829068"/>
                  </a:lnTo>
                  <a:lnTo>
                    <a:pt x="0" y="865632"/>
                  </a:lnTo>
                  <a:lnTo>
                    <a:pt x="1886712" y="865632"/>
                  </a:lnTo>
                  <a:lnTo>
                    <a:pt x="1886712" y="5114544"/>
                  </a:lnTo>
                  <a:lnTo>
                    <a:pt x="1923275" y="5114544"/>
                  </a:lnTo>
                  <a:lnTo>
                    <a:pt x="1923275" y="865632"/>
                  </a:lnTo>
                  <a:lnTo>
                    <a:pt x="3505200" y="865632"/>
                  </a:lnTo>
                  <a:lnTo>
                    <a:pt x="3505200" y="829068"/>
                  </a:lnTo>
                  <a:close/>
                </a:path>
              </a:pathLst>
            </a:custGeom>
            <a:solidFill>
              <a:srgbClr val="000000"/>
            </a:solidFill>
          </p:spPr>
          <p:txBody>
            <a:bodyPr wrap="square" lIns="0" tIns="0" rIns="0" bIns="0" rtlCol="0"/>
            <a:lstStyle/>
            <a:p>
              <a:endParaRPr sz="1803"/>
            </a:p>
          </p:txBody>
        </p:sp>
        <p:sp>
          <p:nvSpPr>
            <p:cNvPr id="16" name="object 16"/>
            <p:cNvSpPr/>
            <p:nvPr/>
          </p:nvSpPr>
          <p:spPr>
            <a:xfrm>
              <a:off x="5255894" y="5779833"/>
              <a:ext cx="38100" cy="22225"/>
            </a:xfrm>
            <a:custGeom>
              <a:avLst/>
              <a:gdLst/>
              <a:ahLst/>
              <a:cxnLst/>
              <a:rect l="l" t="t" r="r" b="b"/>
              <a:pathLst>
                <a:path w="38100" h="22225">
                  <a:moveTo>
                    <a:pt x="0" y="21907"/>
                  </a:moveTo>
                  <a:lnTo>
                    <a:pt x="38100" y="0"/>
                  </a:lnTo>
                </a:path>
              </a:pathLst>
            </a:custGeom>
            <a:ln w="12491">
              <a:solidFill>
                <a:srgbClr val="000000"/>
              </a:solidFill>
            </a:ln>
          </p:spPr>
          <p:txBody>
            <a:bodyPr wrap="square" lIns="0" tIns="0" rIns="0" bIns="0" rtlCol="0"/>
            <a:lstStyle/>
            <a:p>
              <a:endParaRPr sz="1803"/>
            </a:p>
          </p:txBody>
        </p:sp>
        <p:sp>
          <p:nvSpPr>
            <p:cNvPr id="17" name="object 17"/>
            <p:cNvSpPr/>
            <p:nvPr/>
          </p:nvSpPr>
          <p:spPr>
            <a:xfrm>
              <a:off x="5293994" y="5786120"/>
              <a:ext cx="55244" cy="100965"/>
            </a:xfrm>
            <a:custGeom>
              <a:avLst/>
              <a:gdLst/>
              <a:ahLst/>
              <a:cxnLst/>
              <a:rect l="l" t="t" r="r" b="b"/>
              <a:pathLst>
                <a:path w="55245" h="100964">
                  <a:moveTo>
                    <a:pt x="0" y="0"/>
                  </a:moveTo>
                  <a:lnTo>
                    <a:pt x="55054" y="100393"/>
                  </a:lnTo>
                </a:path>
              </a:pathLst>
            </a:custGeom>
            <a:ln w="24984">
              <a:solidFill>
                <a:srgbClr val="000000"/>
              </a:solidFill>
            </a:ln>
          </p:spPr>
          <p:txBody>
            <a:bodyPr wrap="square" lIns="0" tIns="0" rIns="0" bIns="0" rtlCol="0"/>
            <a:lstStyle/>
            <a:p>
              <a:endParaRPr sz="1803"/>
            </a:p>
          </p:txBody>
        </p:sp>
        <p:sp>
          <p:nvSpPr>
            <p:cNvPr id="18" name="object 18"/>
            <p:cNvSpPr/>
            <p:nvPr/>
          </p:nvSpPr>
          <p:spPr>
            <a:xfrm>
              <a:off x="5355335" y="5586857"/>
              <a:ext cx="280035" cy="299720"/>
            </a:xfrm>
            <a:custGeom>
              <a:avLst/>
              <a:gdLst/>
              <a:ahLst/>
              <a:cxnLst/>
              <a:rect l="l" t="t" r="r" b="b"/>
              <a:pathLst>
                <a:path w="280035" h="299720">
                  <a:moveTo>
                    <a:pt x="0" y="299656"/>
                  </a:moveTo>
                  <a:lnTo>
                    <a:pt x="72961" y="0"/>
                  </a:lnTo>
                </a:path>
                <a:path w="280035" h="299720">
                  <a:moveTo>
                    <a:pt x="72961" y="0"/>
                  </a:moveTo>
                  <a:lnTo>
                    <a:pt x="279653" y="0"/>
                  </a:lnTo>
                </a:path>
              </a:pathLst>
            </a:custGeom>
            <a:ln w="12491">
              <a:solidFill>
                <a:srgbClr val="000000"/>
              </a:solidFill>
            </a:ln>
          </p:spPr>
          <p:txBody>
            <a:bodyPr wrap="square" lIns="0" tIns="0" rIns="0" bIns="0" rtlCol="0"/>
            <a:lstStyle/>
            <a:p>
              <a:endParaRPr sz="1803"/>
            </a:p>
          </p:txBody>
        </p:sp>
        <p:sp>
          <p:nvSpPr>
            <p:cNvPr id="19" name="object 19"/>
            <p:cNvSpPr/>
            <p:nvPr/>
          </p:nvSpPr>
          <p:spPr>
            <a:xfrm>
              <a:off x="5394388" y="6237033"/>
              <a:ext cx="38100" cy="22225"/>
            </a:xfrm>
            <a:custGeom>
              <a:avLst/>
              <a:gdLst/>
              <a:ahLst/>
              <a:cxnLst/>
              <a:rect l="l" t="t" r="r" b="b"/>
              <a:pathLst>
                <a:path w="38100" h="22225">
                  <a:moveTo>
                    <a:pt x="0" y="21907"/>
                  </a:moveTo>
                  <a:lnTo>
                    <a:pt x="38100" y="0"/>
                  </a:lnTo>
                </a:path>
              </a:pathLst>
            </a:custGeom>
            <a:ln w="12489">
              <a:solidFill>
                <a:srgbClr val="000000"/>
              </a:solidFill>
            </a:ln>
          </p:spPr>
          <p:txBody>
            <a:bodyPr wrap="square" lIns="0" tIns="0" rIns="0" bIns="0" rtlCol="0"/>
            <a:lstStyle/>
            <a:p>
              <a:endParaRPr sz="1803"/>
            </a:p>
          </p:txBody>
        </p:sp>
        <p:sp>
          <p:nvSpPr>
            <p:cNvPr id="20" name="object 20"/>
            <p:cNvSpPr/>
            <p:nvPr/>
          </p:nvSpPr>
          <p:spPr>
            <a:xfrm>
              <a:off x="5432488" y="6243320"/>
              <a:ext cx="55244" cy="100965"/>
            </a:xfrm>
            <a:custGeom>
              <a:avLst/>
              <a:gdLst/>
              <a:ahLst/>
              <a:cxnLst/>
              <a:rect l="l" t="t" r="r" b="b"/>
              <a:pathLst>
                <a:path w="55245" h="100964">
                  <a:moveTo>
                    <a:pt x="0" y="0"/>
                  </a:moveTo>
                  <a:lnTo>
                    <a:pt x="55054" y="100393"/>
                  </a:lnTo>
                </a:path>
              </a:pathLst>
            </a:custGeom>
            <a:ln w="24979">
              <a:solidFill>
                <a:srgbClr val="000000"/>
              </a:solidFill>
            </a:ln>
          </p:spPr>
          <p:txBody>
            <a:bodyPr wrap="square" lIns="0" tIns="0" rIns="0" bIns="0" rtlCol="0"/>
            <a:lstStyle/>
            <a:p>
              <a:endParaRPr sz="1803"/>
            </a:p>
          </p:txBody>
        </p:sp>
        <p:sp>
          <p:nvSpPr>
            <p:cNvPr id="21" name="object 21"/>
            <p:cNvSpPr/>
            <p:nvPr/>
          </p:nvSpPr>
          <p:spPr>
            <a:xfrm>
              <a:off x="5493829" y="6044057"/>
              <a:ext cx="280035" cy="299720"/>
            </a:xfrm>
            <a:custGeom>
              <a:avLst/>
              <a:gdLst/>
              <a:ahLst/>
              <a:cxnLst/>
              <a:rect l="l" t="t" r="r" b="b"/>
              <a:pathLst>
                <a:path w="280035" h="299720">
                  <a:moveTo>
                    <a:pt x="0" y="299656"/>
                  </a:moveTo>
                  <a:lnTo>
                    <a:pt x="72961" y="0"/>
                  </a:lnTo>
                </a:path>
                <a:path w="280035" h="299720">
                  <a:moveTo>
                    <a:pt x="72961" y="0"/>
                  </a:moveTo>
                  <a:lnTo>
                    <a:pt x="279654" y="0"/>
                  </a:lnTo>
                </a:path>
              </a:pathLst>
            </a:custGeom>
            <a:ln w="12489">
              <a:solidFill>
                <a:srgbClr val="000000"/>
              </a:solidFill>
            </a:ln>
          </p:spPr>
          <p:txBody>
            <a:bodyPr wrap="square" lIns="0" tIns="0" rIns="0" bIns="0" rtlCol="0"/>
            <a:lstStyle/>
            <a:p>
              <a:endParaRPr sz="1803"/>
            </a:p>
          </p:txBody>
        </p:sp>
      </p:grpSp>
      <p:sp>
        <p:nvSpPr>
          <p:cNvPr id="22" name="object 22"/>
          <p:cNvSpPr txBox="1"/>
          <p:nvPr/>
        </p:nvSpPr>
        <p:spPr>
          <a:xfrm>
            <a:off x="6575679" y="2075467"/>
            <a:ext cx="1839191" cy="4340007"/>
          </a:xfrm>
          <a:prstGeom prst="rect">
            <a:avLst/>
          </a:prstGeom>
        </p:spPr>
        <p:txBody>
          <a:bodyPr vert="horz" wrap="square" lIns="0" tIns="13360" rIns="0" bIns="0" rtlCol="0">
            <a:spAutoFit/>
          </a:bodyPr>
          <a:lstStyle/>
          <a:p>
            <a:pPr marL="101793" algn="ctr">
              <a:spcBef>
                <a:spcPts val="105"/>
              </a:spcBef>
            </a:pPr>
            <a:r>
              <a:rPr sz="2805" b="1" spc="-50" dirty="0">
                <a:latin typeface="Calibri"/>
                <a:cs typeface="Calibri"/>
              </a:rPr>
              <a:t>1</a:t>
            </a:r>
            <a:endParaRPr sz="2805">
              <a:latin typeface="Calibri"/>
              <a:cs typeface="Calibri"/>
            </a:endParaRPr>
          </a:p>
          <a:p>
            <a:pPr marL="104974" algn="ctr"/>
            <a:r>
              <a:rPr sz="2805" b="1" spc="-25" dirty="0">
                <a:latin typeface="Calibri"/>
                <a:cs typeface="Calibri"/>
              </a:rPr>
              <a:t>10</a:t>
            </a:r>
            <a:endParaRPr sz="2805">
              <a:latin typeface="Calibri"/>
              <a:cs typeface="Calibri"/>
            </a:endParaRPr>
          </a:p>
          <a:p>
            <a:pPr marL="102429" algn="ctr"/>
            <a:r>
              <a:rPr sz="2805" b="1" spc="-25" dirty="0">
                <a:latin typeface="Calibri"/>
                <a:cs typeface="Calibri"/>
              </a:rPr>
              <a:t>0.1</a:t>
            </a:r>
            <a:endParaRPr sz="2805">
              <a:latin typeface="Calibri"/>
              <a:cs typeface="Calibri"/>
            </a:endParaRPr>
          </a:p>
          <a:p>
            <a:pPr marL="102429" algn="ctr"/>
            <a:r>
              <a:rPr sz="2805" b="1" spc="-25" dirty="0">
                <a:latin typeface="Calibri"/>
                <a:cs typeface="Calibri"/>
              </a:rPr>
              <a:t>100</a:t>
            </a:r>
            <a:endParaRPr sz="2805">
              <a:latin typeface="Calibri"/>
              <a:cs typeface="Calibri"/>
            </a:endParaRPr>
          </a:p>
          <a:p>
            <a:pPr marL="105610" algn="ctr"/>
            <a:r>
              <a:rPr sz="2805" b="1" spc="-20" dirty="0">
                <a:latin typeface="Calibri"/>
                <a:cs typeface="Calibri"/>
              </a:rPr>
              <a:t>0.01</a:t>
            </a:r>
            <a:endParaRPr sz="2805">
              <a:latin typeface="Calibri"/>
              <a:cs typeface="Calibri"/>
            </a:endParaRPr>
          </a:p>
          <a:p>
            <a:pPr marL="101793" algn="ctr"/>
            <a:r>
              <a:rPr sz="2805" b="1" spc="-50" dirty="0">
                <a:latin typeface="Calibri"/>
                <a:cs typeface="Calibri"/>
              </a:rPr>
              <a:t>2</a:t>
            </a:r>
            <a:endParaRPr sz="2805">
              <a:latin typeface="Calibri"/>
              <a:cs typeface="Calibri"/>
            </a:endParaRPr>
          </a:p>
          <a:p>
            <a:pPr marL="101793" algn="ctr"/>
            <a:r>
              <a:rPr sz="2805" b="1" spc="-50" dirty="0">
                <a:latin typeface="Calibri"/>
                <a:cs typeface="Calibri"/>
              </a:rPr>
              <a:t>4</a:t>
            </a:r>
            <a:endParaRPr sz="2805">
              <a:latin typeface="Calibri"/>
              <a:cs typeface="Calibri"/>
            </a:endParaRPr>
          </a:p>
          <a:p>
            <a:pPr marL="102429" algn="ctr"/>
            <a:r>
              <a:rPr sz="2805" b="1" spc="-25" dirty="0">
                <a:latin typeface="Calibri"/>
                <a:cs typeface="Calibri"/>
              </a:rPr>
              <a:t>0.5</a:t>
            </a:r>
            <a:endParaRPr sz="2805">
              <a:latin typeface="Calibri"/>
              <a:cs typeface="Calibri"/>
            </a:endParaRPr>
          </a:p>
          <a:p>
            <a:pPr marL="406536">
              <a:spcBef>
                <a:spcPts val="596"/>
              </a:spcBef>
            </a:pPr>
            <a:r>
              <a:rPr sz="2354" b="1" i="1" dirty="0">
                <a:latin typeface="Arial"/>
                <a:cs typeface="Arial"/>
              </a:rPr>
              <a:t>2</a:t>
            </a:r>
            <a:r>
              <a:rPr sz="2354" b="1" i="1" spc="286" dirty="0">
                <a:latin typeface="Arial"/>
                <a:cs typeface="Arial"/>
              </a:rPr>
              <a:t> </a:t>
            </a:r>
            <a:r>
              <a:rPr sz="2354" b="1" spc="-506" dirty="0">
                <a:latin typeface="Microsoft YaHei UI"/>
                <a:cs typeface="Microsoft YaHei UI"/>
              </a:rPr>
              <a:t>=</a:t>
            </a:r>
            <a:r>
              <a:rPr sz="2354" b="1" spc="-254" dirty="0">
                <a:latin typeface="Microsoft YaHei UI"/>
                <a:cs typeface="Microsoft YaHei UI"/>
              </a:rPr>
              <a:t> </a:t>
            </a:r>
            <a:r>
              <a:rPr sz="2354" b="1" i="1" spc="-10" dirty="0">
                <a:latin typeface="Arial"/>
                <a:cs typeface="Arial"/>
              </a:rPr>
              <a:t>1</a:t>
            </a:r>
            <a:r>
              <a:rPr sz="2354" b="1" spc="-10" dirty="0">
                <a:latin typeface="Arial"/>
                <a:cs typeface="Arial"/>
              </a:rPr>
              <a:t>.</a:t>
            </a:r>
            <a:r>
              <a:rPr sz="2354" b="1" i="1" spc="-10" dirty="0">
                <a:latin typeface="Arial"/>
                <a:cs typeface="Arial"/>
              </a:rPr>
              <a:t>414</a:t>
            </a:r>
            <a:endParaRPr sz="2354">
              <a:latin typeface="Arial"/>
              <a:cs typeface="Arial"/>
            </a:endParaRPr>
          </a:p>
          <a:p>
            <a:pPr marL="12724">
              <a:spcBef>
                <a:spcPts val="781"/>
              </a:spcBef>
              <a:tabLst>
                <a:tab pos="543957" algn="l"/>
              </a:tabLst>
            </a:pPr>
            <a:r>
              <a:rPr sz="2354" b="1" i="1" dirty="0">
                <a:latin typeface="Arial"/>
                <a:cs typeface="Arial"/>
              </a:rPr>
              <a:t>1</a:t>
            </a:r>
            <a:r>
              <a:rPr sz="2354" b="1" i="1" spc="-366" dirty="0">
                <a:latin typeface="Arial"/>
                <a:cs typeface="Arial"/>
              </a:rPr>
              <a:t> </a:t>
            </a:r>
            <a:r>
              <a:rPr sz="2354" b="1" spc="-50" dirty="0">
                <a:latin typeface="Arial"/>
                <a:cs typeface="Arial"/>
              </a:rPr>
              <a:t>/</a:t>
            </a:r>
            <a:r>
              <a:rPr sz="2354" b="1" dirty="0">
                <a:latin typeface="Arial"/>
                <a:cs typeface="Arial"/>
              </a:rPr>
              <a:t>	</a:t>
            </a:r>
            <a:r>
              <a:rPr sz="2354" b="1" i="1" dirty="0">
                <a:latin typeface="Arial"/>
                <a:cs typeface="Arial"/>
              </a:rPr>
              <a:t>2</a:t>
            </a:r>
            <a:r>
              <a:rPr sz="2354" b="1" i="1" spc="286" dirty="0">
                <a:latin typeface="Arial"/>
                <a:cs typeface="Arial"/>
              </a:rPr>
              <a:t> </a:t>
            </a:r>
            <a:r>
              <a:rPr sz="2354" b="1" spc="-506" dirty="0">
                <a:latin typeface="Microsoft YaHei UI"/>
                <a:cs typeface="Microsoft YaHei UI"/>
              </a:rPr>
              <a:t>=</a:t>
            </a:r>
            <a:r>
              <a:rPr sz="2354" b="1" spc="-135" dirty="0">
                <a:latin typeface="Microsoft YaHei UI"/>
                <a:cs typeface="Microsoft YaHei UI"/>
              </a:rPr>
              <a:t> </a:t>
            </a:r>
            <a:r>
              <a:rPr sz="2354" b="1" i="1" spc="-10" dirty="0">
                <a:latin typeface="Arial"/>
                <a:cs typeface="Arial"/>
              </a:rPr>
              <a:t>0</a:t>
            </a:r>
            <a:r>
              <a:rPr sz="2354" b="1" spc="-10" dirty="0">
                <a:latin typeface="Arial"/>
                <a:cs typeface="Arial"/>
              </a:rPr>
              <a:t>.</a:t>
            </a:r>
            <a:r>
              <a:rPr sz="2354" b="1" i="1" spc="-10" dirty="0">
                <a:latin typeface="Arial"/>
                <a:cs typeface="Arial"/>
              </a:rPr>
              <a:t>707</a:t>
            </a:r>
            <a:endParaRPr sz="2354">
              <a:latin typeface="Arial"/>
              <a:cs typeface="Arial"/>
            </a:endParaRPr>
          </a:p>
        </p:txBody>
      </p:sp>
      <p:sp>
        <p:nvSpPr>
          <p:cNvPr id="25" name="object 25"/>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22</a:t>
            </a:r>
          </a:p>
        </p:txBody>
      </p:sp>
      <p:sp>
        <p:nvSpPr>
          <p:cNvPr id="23" name="object 23"/>
          <p:cNvSpPr txBox="1"/>
          <p:nvPr/>
        </p:nvSpPr>
        <p:spPr>
          <a:xfrm>
            <a:off x="2028787" y="3525953"/>
            <a:ext cx="2521174" cy="1491201"/>
          </a:xfrm>
          <a:prstGeom prst="rect">
            <a:avLst/>
          </a:prstGeom>
        </p:spPr>
        <p:txBody>
          <a:bodyPr vert="horz" wrap="square" lIns="0" tIns="12724" rIns="0" bIns="0" rtlCol="0">
            <a:spAutoFit/>
          </a:bodyPr>
          <a:lstStyle/>
          <a:p>
            <a:pPr marL="12724" marR="5090">
              <a:spcBef>
                <a:spcPts val="100"/>
              </a:spcBef>
            </a:pPr>
            <a:r>
              <a:rPr sz="2405" dirty="0">
                <a:latin typeface="Arial MT"/>
                <a:cs typeface="Arial MT"/>
              </a:rPr>
              <a:t>Power</a:t>
            </a:r>
            <a:r>
              <a:rPr sz="2405" spc="-45" dirty="0">
                <a:latin typeface="Arial MT"/>
                <a:cs typeface="Arial MT"/>
              </a:rPr>
              <a:t> </a:t>
            </a:r>
            <a:r>
              <a:rPr sz="2405" dirty="0">
                <a:latin typeface="Arial MT"/>
                <a:cs typeface="Arial MT"/>
              </a:rPr>
              <a:t>x2 =</a:t>
            </a:r>
            <a:r>
              <a:rPr sz="2405" spc="-45" dirty="0">
                <a:latin typeface="Arial MT"/>
                <a:cs typeface="Arial MT"/>
              </a:rPr>
              <a:t> </a:t>
            </a:r>
            <a:r>
              <a:rPr sz="2405" spc="-20" dirty="0">
                <a:latin typeface="Arial MT"/>
                <a:cs typeface="Arial MT"/>
              </a:rPr>
              <a:t>+3dB </a:t>
            </a:r>
            <a:r>
              <a:rPr sz="2405" spc="-10" dirty="0">
                <a:latin typeface="Arial MT"/>
                <a:cs typeface="Arial MT"/>
              </a:rPr>
              <a:t>Voltage</a:t>
            </a:r>
            <a:r>
              <a:rPr sz="2405" spc="-55" dirty="0">
                <a:latin typeface="Arial MT"/>
                <a:cs typeface="Arial MT"/>
              </a:rPr>
              <a:t> </a:t>
            </a:r>
            <a:r>
              <a:rPr sz="2405" dirty="0">
                <a:latin typeface="Arial MT"/>
                <a:cs typeface="Arial MT"/>
              </a:rPr>
              <a:t>x2</a:t>
            </a:r>
            <a:r>
              <a:rPr sz="2405" spc="-50" dirty="0">
                <a:latin typeface="Arial MT"/>
                <a:cs typeface="Arial MT"/>
              </a:rPr>
              <a:t> </a:t>
            </a:r>
            <a:r>
              <a:rPr sz="2405" dirty="0">
                <a:latin typeface="Arial MT"/>
                <a:cs typeface="Arial MT"/>
              </a:rPr>
              <a:t>=</a:t>
            </a:r>
            <a:r>
              <a:rPr sz="2405" spc="-65" dirty="0">
                <a:latin typeface="Arial MT"/>
                <a:cs typeface="Arial MT"/>
              </a:rPr>
              <a:t> </a:t>
            </a:r>
            <a:r>
              <a:rPr sz="2405" spc="-20" dirty="0">
                <a:latin typeface="Arial MT"/>
                <a:cs typeface="Arial MT"/>
              </a:rPr>
              <a:t>+6dB </a:t>
            </a:r>
            <a:r>
              <a:rPr sz="2405" dirty="0">
                <a:latin typeface="Arial MT"/>
                <a:cs typeface="Arial MT"/>
              </a:rPr>
              <a:t>Power</a:t>
            </a:r>
            <a:r>
              <a:rPr sz="2405" spc="-35" dirty="0">
                <a:latin typeface="Arial MT"/>
                <a:cs typeface="Arial MT"/>
              </a:rPr>
              <a:t> </a:t>
            </a:r>
            <a:r>
              <a:rPr sz="2405" dirty="0">
                <a:latin typeface="Arial MT"/>
                <a:cs typeface="Arial MT"/>
              </a:rPr>
              <a:t>/2</a:t>
            </a:r>
            <a:r>
              <a:rPr sz="2405" spc="-35" dirty="0">
                <a:latin typeface="Arial MT"/>
                <a:cs typeface="Arial MT"/>
              </a:rPr>
              <a:t> </a:t>
            </a:r>
            <a:r>
              <a:rPr sz="2405" dirty="0">
                <a:latin typeface="Arial MT"/>
                <a:cs typeface="Arial MT"/>
              </a:rPr>
              <a:t>=</a:t>
            </a:r>
            <a:r>
              <a:rPr sz="2405" spc="-25" dirty="0">
                <a:latin typeface="Arial MT"/>
                <a:cs typeface="Arial MT"/>
              </a:rPr>
              <a:t> -3dB </a:t>
            </a:r>
            <a:r>
              <a:rPr sz="2405" spc="-10" dirty="0">
                <a:latin typeface="Arial MT"/>
                <a:cs typeface="Arial MT"/>
              </a:rPr>
              <a:t>Voltage</a:t>
            </a:r>
            <a:r>
              <a:rPr sz="2405" spc="-45" dirty="0">
                <a:latin typeface="Arial MT"/>
                <a:cs typeface="Arial MT"/>
              </a:rPr>
              <a:t> </a:t>
            </a:r>
            <a:r>
              <a:rPr sz="2405" dirty="0">
                <a:latin typeface="Arial MT"/>
                <a:cs typeface="Arial MT"/>
              </a:rPr>
              <a:t>/2</a:t>
            </a:r>
            <a:r>
              <a:rPr sz="2405" spc="-60" dirty="0">
                <a:latin typeface="Arial MT"/>
                <a:cs typeface="Arial MT"/>
              </a:rPr>
              <a:t> </a:t>
            </a:r>
            <a:r>
              <a:rPr sz="2405" dirty="0">
                <a:latin typeface="Arial MT"/>
                <a:cs typeface="Arial MT"/>
              </a:rPr>
              <a:t>=</a:t>
            </a:r>
            <a:r>
              <a:rPr sz="2405" spc="-50" dirty="0">
                <a:latin typeface="Arial MT"/>
                <a:cs typeface="Arial MT"/>
              </a:rPr>
              <a:t> </a:t>
            </a:r>
            <a:r>
              <a:rPr sz="2405" spc="-25" dirty="0">
                <a:latin typeface="Arial MT"/>
                <a:cs typeface="Arial MT"/>
              </a:rPr>
              <a:t>-6dB</a:t>
            </a:r>
            <a:endParaRPr sz="2405" dirty="0">
              <a:latin typeface="Arial MT"/>
              <a:cs typeface="Arial MT"/>
            </a:endParaRPr>
          </a:p>
        </p:txBody>
      </p:sp>
      <p:pic>
        <p:nvPicPr>
          <p:cNvPr id="26" name="Picture 25"/>
          <p:cNvPicPr>
            <a:picLocks noChangeAspect="1"/>
          </p:cNvPicPr>
          <p:nvPr/>
        </p:nvPicPr>
        <p:blipFill>
          <a:blip r:embed="rId2"/>
          <a:stretch>
            <a:fillRect/>
          </a:stretch>
        </p:blipFill>
        <p:spPr>
          <a:xfrm>
            <a:off x="1039231" y="3478490"/>
            <a:ext cx="4610531" cy="2790335"/>
          </a:xfrm>
          <a:prstGeom prst="rect">
            <a:avLst/>
          </a:prstGeom>
        </p:spPr>
      </p:pic>
    </p:spTree>
    <p:extLst>
      <p:ext uri="{BB962C8B-B14F-4D97-AF65-F5344CB8AC3E}">
        <p14:creationId xmlns:p14="http://schemas.microsoft.com/office/powerpoint/2010/main" val="936408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2764953">
              <a:spcBef>
                <a:spcPts val="90"/>
              </a:spcBef>
            </a:pPr>
            <a:r>
              <a:rPr dirty="0"/>
              <a:t>dB</a:t>
            </a:r>
            <a:r>
              <a:rPr spc="-45" dirty="0"/>
              <a:t> </a:t>
            </a:r>
            <a:r>
              <a:rPr dirty="0"/>
              <a:t>and</a:t>
            </a:r>
            <a:r>
              <a:rPr spc="-45" dirty="0"/>
              <a:t> </a:t>
            </a:r>
            <a:r>
              <a:rPr spc="-25" dirty="0"/>
              <a:t>dBV</a:t>
            </a:r>
          </a:p>
        </p:txBody>
      </p:sp>
      <p:sp>
        <p:nvSpPr>
          <p:cNvPr id="3" name="object 3"/>
          <p:cNvSpPr txBox="1"/>
          <p:nvPr/>
        </p:nvSpPr>
        <p:spPr>
          <a:xfrm>
            <a:off x="5821426" y="2044931"/>
            <a:ext cx="321270" cy="513396"/>
          </a:xfrm>
          <a:prstGeom prst="rect">
            <a:avLst/>
          </a:prstGeom>
        </p:spPr>
        <p:txBody>
          <a:bodyPr vert="horz" wrap="square" lIns="0" tIns="11451" rIns="0" bIns="0" rtlCol="0">
            <a:spAutoFit/>
          </a:bodyPr>
          <a:lstStyle/>
          <a:p>
            <a:pPr marL="12724">
              <a:spcBef>
                <a:spcPts val="90"/>
              </a:spcBef>
            </a:pPr>
            <a:r>
              <a:rPr sz="3206" spc="-50" dirty="0">
                <a:latin typeface="Cambria Math"/>
                <a:cs typeface="Cambria Math"/>
              </a:rPr>
              <a:t>𝐻</a:t>
            </a:r>
            <a:endParaRPr sz="3206">
              <a:latin typeface="Cambria Math"/>
              <a:cs typeface="Cambria Math"/>
            </a:endParaRPr>
          </a:p>
        </p:txBody>
      </p:sp>
      <p:sp>
        <p:nvSpPr>
          <p:cNvPr id="4" name="object 4"/>
          <p:cNvSpPr txBox="1"/>
          <p:nvPr/>
        </p:nvSpPr>
        <p:spPr>
          <a:xfrm>
            <a:off x="6093200" y="2237311"/>
            <a:ext cx="416060" cy="381071"/>
          </a:xfrm>
          <a:prstGeom prst="rect">
            <a:avLst/>
          </a:prstGeom>
        </p:spPr>
        <p:txBody>
          <a:bodyPr vert="horz" wrap="square" lIns="0" tIns="15904" rIns="0" bIns="0" rtlCol="0">
            <a:spAutoFit/>
          </a:bodyPr>
          <a:lstStyle/>
          <a:p>
            <a:pPr marL="12724">
              <a:spcBef>
                <a:spcPts val="125"/>
              </a:spcBef>
            </a:pPr>
            <a:r>
              <a:rPr sz="2304" spc="55" dirty="0">
                <a:latin typeface="Cambria Math"/>
                <a:cs typeface="Cambria Math"/>
              </a:rPr>
              <a:t>𝑑𝐵</a:t>
            </a:r>
            <a:endParaRPr sz="2304">
              <a:latin typeface="Cambria Math"/>
              <a:cs typeface="Cambria Math"/>
            </a:endParaRPr>
          </a:p>
        </p:txBody>
      </p:sp>
      <p:sp>
        <p:nvSpPr>
          <p:cNvPr id="5" name="object 5"/>
          <p:cNvSpPr txBox="1"/>
          <p:nvPr/>
        </p:nvSpPr>
        <p:spPr>
          <a:xfrm>
            <a:off x="8355959" y="2237311"/>
            <a:ext cx="368347" cy="381071"/>
          </a:xfrm>
          <a:prstGeom prst="rect">
            <a:avLst/>
          </a:prstGeom>
        </p:spPr>
        <p:txBody>
          <a:bodyPr vert="horz" wrap="square" lIns="0" tIns="15904" rIns="0" bIns="0" rtlCol="0">
            <a:spAutoFit/>
          </a:bodyPr>
          <a:lstStyle/>
          <a:p>
            <a:pPr marL="12724">
              <a:spcBef>
                <a:spcPts val="125"/>
              </a:spcBef>
            </a:pPr>
            <a:r>
              <a:rPr sz="2304" spc="35" dirty="0">
                <a:latin typeface="Cambria Math"/>
                <a:cs typeface="Cambria Math"/>
              </a:rPr>
              <a:t>10</a:t>
            </a:r>
            <a:endParaRPr sz="2304">
              <a:latin typeface="Cambria Math"/>
              <a:cs typeface="Cambria Math"/>
            </a:endParaRPr>
          </a:p>
        </p:txBody>
      </p:sp>
      <p:sp>
        <p:nvSpPr>
          <p:cNvPr id="6" name="object 6"/>
          <p:cNvSpPr/>
          <p:nvPr/>
        </p:nvSpPr>
        <p:spPr>
          <a:xfrm>
            <a:off x="8768711" y="2164532"/>
            <a:ext cx="574469" cy="375981"/>
          </a:xfrm>
          <a:custGeom>
            <a:avLst/>
            <a:gdLst/>
            <a:ahLst/>
            <a:cxnLst/>
            <a:rect l="l" t="t" r="r" b="b"/>
            <a:pathLst>
              <a:path w="573404" h="375285">
                <a:moveTo>
                  <a:pt x="454152" y="0"/>
                </a:moveTo>
                <a:lnTo>
                  <a:pt x="448056" y="15239"/>
                </a:lnTo>
                <a:lnTo>
                  <a:pt x="469725" y="23860"/>
                </a:lnTo>
                <a:lnTo>
                  <a:pt x="488823" y="36195"/>
                </a:lnTo>
                <a:lnTo>
                  <a:pt x="518160" y="73151"/>
                </a:lnTo>
                <a:lnTo>
                  <a:pt x="534543" y="123825"/>
                </a:lnTo>
                <a:lnTo>
                  <a:pt x="539496" y="185927"/>
                </a:lnTo>
                <a:lnTo>
                  <a:pt x="538305" y="218551"/>
                </a:lnTo>
                <a:lnTo>
                  <a:pt x="527923" y="274653"/>
                </a:lnTo>
                <a:lnTo>
                  <a:pt x="505063" y="319801"/>
                </a:lnTo>
                <a:lnTo>
                  <a:pt x="469725" y="350567"/>
                </a:lnTo>
                <a:lnTo>
                  <a:pt x="448056" y="359663"/>
                </a:lnTo>
                <a:lnTo>
                  <a:pt x="454152" y="374903"/>
                </a:lnTo>
                <a:lnTo>
                  <a:pt x="505130" y="350567"/>
                </a:lnTo>
                <a:lnTo>
                  <a:pt x="542544" y="307848"/>
                </a:lnTo>
                <a:lnTo>
                  <a:pt x="565785" y="252603"/>
                </a:lnTo>
                <a:lnTo>
                  <a:pt x="573024" y="185927"/>
                </a:lnTo>
                <a:lnTo>
                  <a:pt x="571314" y="153304"/>
                </a:lnTo>
                <a:lnTo>
                  <a:pt x="556307" y="90773"/>
                </a:lnTo>
                <a:lnTo>
                  <a:pt x="525303" y="41147"/>
                </a:lnTo>
                <a:lnTo>
                  <a:pt x="481679" y="9143"/>
                </a:lnTo>
                <a:lnTo>
                  <a:pt x="454152" y="0"/>
                </a:lnTo>
                <a:close/>
              </a:path>
              <a:path w="573404" h="375285">
                <a:moveTo>
                  <a:pt x="121920" y="0"/>
                </a:moveTo>
                <a:lnTo>
                  <a:pt x="69723" y="22860"/>
                </a:lnTo>
                <a:lnTo>
                  <a:pt x="33528" y="64008"/>
                </a:lnTo>
                <a:lnTo>
                  <a:pt x="8763" y="120396"/>
                </a:lnTo>
                <a:lnTo>
                  <a:pt x="0" y="185927"/>
                </a:lnTo>
                <a:lnTo>
                  <a:pt x="2238" y="220837"/>
                </a:lnTo>
                <a:lnTo>
                  <a:pt x="19288" y="281511"/>
                </a:lnTo>
                <a:lnTo>
                  <a:pt x="49482" y="331184"/>
                </a:lnTo>
                <a:lnTo>
                  <a:pt x="93964" y="365283"/>
                </a:lnTo>
                <a:lnTo>
                  <a:pt x="121920" y="374903"/>
                </a:lnTo>
                <a:lnTo>
                  <a:pt x="124968" y="359663"/>
                </a:lnTo>
                <a:lnTo>
                  <a:pt x="103774" y="350567"/>
                </a:lnTo>
                <a:lnTo>
                  <a:pt x="85725" y="337185"/>
                </a:lnTo>
                <a:lnTo>
                  <a:pt x="57912" y="298703"/>
                </a:lnTo>
                <a:lnTo>
                  <a:pt x="41529" y="248031"/>
                </a:lnTo>
                <a:lnTo>
                  <a:pt x="36576" y="185927"/>
                </a:lnTo>
                <a:lnTo>
                  <a:pt x="37766" y="153304"/>
                </a:lnTo>
                <a:lnTo>
                  <a:pt x="48148" y="97202"/>
                </a:lnTo>
                <a:lnTo>
                  <a:pt x="70532" y="52530"/>
                </a:lnTo>
                <a:lnTo>
                  <a:pt x="103774" y="23860"/>
                </a:lnTo>
                <a:lnTo>
                  <a:pt x="124968" y="15239"/>
                </a:lnTo>
                <a:lnTo>
                  <a:pt x="121920" y="0"/>
                </a:lnTo>
                <a:close/>
              </a:path>
            </a:pathLst>
          </a:custGeom>
          <a:solidFill>
            <a:srgbClr val="000000"/>
          </a:solidFill>
        </p:spPr>
        <p:txBody>
          <a:bodyPr wrap="square" lIns="0" tIns="0" rIns="0" bIns="0" rtlCol="0"/>
          <a:lstStyle/>
          <a:p>
            <a:endParaRPr sz="1803"/>
          </a:p>
        </p:txBody>
      </p:sp>
      <p:sp>
        <p:nvSpPr>
          <p:cNvPr id="7" name="object 7"/>
          <p:cNvSpPr txBox="1"/>
          <p:nvPr/>
        </p:nvSpPr>
        <p:spPr>
          <a:xfrm>
            <a:off x="6624537" y="2044931"/>
            <a:ext cx="2584155" cy="513396"/>
          </a:xfrm>
          <a:prstGeom prst="rect">
            <a:avLst/>
          </a:prstGeom>
        </p:spPr>
        <p:txBody>
          <a:bodyPr vert="horz" wrap="square" lIns="0" tIns="11451" rIns="0" bIns="0" rtlCol="0">
            <a:spAutoFit/>
          </a:bodyPr>
          <a:lstStyle/>
          <a:p>
            <a:pPr marL="12724">
              <a:spcBef>
                <a:spcPts val="90"/>
              </a:spcBef>
              <a:tabLst>
                <a:tab pos="2275074" algn="l"/>
              </a:tabLst>
            </a:pPr>
            <a:r>
              <a:rPr sz="3206" dirty="0">
                <a:latin typeface="Cambria Math"/>
                <a:cs typeface="Cambria Math"/>
              </a:rPr>
              <a:t>=</a:t>
            </a:r>
            <a:r>
              <a:rPr sz="3206" spc="145" dirty="0">
                <a:latin typeface="Cambria Math"/>
                <a:cs typeface="Cambria Math"/>
              </a:rPr>
              <a:t> </a:t>
            </a:r>
            <a:r>
              <a:rPr sz="3206" dirty="0">
                <a:latin typeface="Cambria Math"/>
                <a:cs typeface="Cambria Math"/>
              </a:rPr>
              <a:t>20</a:t>
            </a:r>
            <a:r>
              <a:rPr sz="3206" spc="10" dirty="0">
                <a:latin typeface="Cambria Math"/>
                <a:cs typeface="Cambria Math"/>
              </a:rPr>
              <a:t> </a:t>
            </a:r>
            <a:r>
              <a:rPr sz="3206" spc="110" dirty="0">
                <a:latin typeface="Cambria Math"/>
                <a:cs typeface="Cambria Math"/>
              </a:rPr>
              <a:t>∙</a:t>
            </a:r>
            <a:r>
              <a:rPr sz="3206" spc="-15" dirty="0">
                <a:latin typeface="Cambria Math"/>
                <a:cs typeface="Cambria Math"/>
              </a:rPr>
              <a:t> </a:t>
            </a:r>
            <a:r>
              <a:rPr sz="3206" spc="-25" dirty="0">
                <a:latin typeface="Cambria Math"/>
                <a:cs typeface="Cambria Math"/>
              </a:rPr>
              <a:t>𝑙𝑜𝑔</a:t>
            </a:r>
            <a:r>
              <a:rPr sz="3206" dirty="0">
                <a:latin typeface="Cambria Math"/>
                <a:cs typeface="Cambria Math"/>
              </a:rPr>
              <a:t>	</a:t>
            </a:r>
            <a:r>
              <a:rPr sz="3206" spc="-50" dirty="0">
                <a:latin typeface="Cambria Math"/>
                <a:cs typeface="Cambria Math"/>
              </a:rPr>
              <a:t>𝐻</a:t>
            </a:r>
            <a:endParaRPr sz="3206">
              <a:latin typeface="Cambria Math"/>
              <a:cs typeface="Cambria Math"/>
            </a:endParaRPr>
          </a:p>
        </p:txBody>
      </p:sp>
      <p:sp>
        <p:nvSpPr>
          <p:cNvPr id="8" name="object 8"/>
          <p:cNvSpPr txBox="1"/>
          <p:nvPr/>
        </p:nvSpPr>
        <p:spPr>
          <a:xfrm>
            <a:off x="2940810" y="1803691"/>
            <a:ext cx="1715136" cy="739239"/>
          </a:xfrm>
          <a:prstGeom prst="rect">
            <a:avLst/>
          </a:prstGeom>
        </p:spPr>
        <p:txBody>
          <a:bodyPr vert="horz" wrap="square" lIns="0" tIns="11451" rIns="0" bIns="0" rtlCol="0">
            <a:spAutoFit/>
          </a:bodyPr>
          <a:lstStyle/>
          <a:p>
            <a:pPr marL="874784">
              <a:lnSpc>
                <a:spcPts val="2815"/>
              </a:lnSpc>
              <a:spcBef>
                <a:spcPts val="90"/>
              </a:spcBef>
            </a:pPr>
            <a:r>
              <a:rPr sz="4809" spc="-30" baseline="11284" dirty="0">
                <a:latin typeface="Cambria Math"/>
                <a:cs typeface="Cambria Math"/>
              </a:rPr>
              <a:t>𝑉</a:t>
            </a:r>
            <a:r>
              <a:rPr sz="2304" spc="-20" dirty="0">
                <a:latin typeface="Cambria Math"/>
                <a:cs typeface="Cambria Math"/>
              </a:rPr>
              <a:t>0𝑈𝑇</a:t>
            </a:r>
            <a:endParaRPr sz="2304">
              <a:latin typeface="Cambria Math"/>
              <a:cs typeface="Cambria Math"/>
            </a:endParaRPr>
          </a:p>
          <a:p>
            <a:pPr marL="38172">
              <a:lnSpc>
                <a:spcPts val="2815"/>
              </a:lnSpc>
            </a:pPr>
            <a:r>
              <a:rPr sz="3206" dirty="0">
                <a:latin typeface="Cambria Math"/>
                <a:cs typeface="Cambria Math"/>
              </a:rPr>
              <a:t>𝐻</a:t>
            </a:r>
            <a:r>
              <a:rPr sz="3206" spc="254" dirty="0">
                <a:latin typeface="Cambria Math"/>
                <a:cs typeface="Cambria Math"/>
              </a:rPr>
              <a:t> </a:t>
            </a:r>
            <a:r>
              <a:rPr sz="3206" spc="-60" dirty="0">
                <a:latin typeface="Cambria Math"/>
                <a:cs typeface="Cambria Math"/>
              </a:rPr>
              <a:t>=</a:t>
            </a:r>
            <a:endParaRPr sz="3206">
              <a:latin typeface="Cambria Math"/>
              <a:cs typeface="Cambria Math"/>
            </a:endParaRPr>
          </a:p>
        </p:txBody>
      </p:sp>
      <p:sp>
        <p:nvSpPr>
          <p:cNvPr id="9" name="object 9"/>
          <p:cNvSpPr txBox="1"/>
          <p:nvPr/>
        </p:nvSpPr>
        <p:spPr>
          <a:xfrm>
            <a:off x="3911872" y="2383887"/>
            <a:ext cx="614548" cy="513396"/>
          </a:xfrm>
          <a:prstGeom prst="rect">
            <a:avLst/>
          </a:prstGeom>
        </p:spPr>
        <p:txBody>
          <a:bodyPr vert="horz" wrap="square" lIns="0" tIns="11451" rIns="0" bIns="0" rtlCol="0">
            <a:spAutoFit/>
          </a:bodyPr>
          <a:lstStyle/>
          <a:p>
            <a:pPr marL="38172">
              <a:spcBef>
                <a:spcPts val="90"/>
              </a:spcBef>
            </a:pPr>
            <a:r>
              <a:rPr sz="4809" spc="-52" baseline="11284" dirty="0">
                <a:latin typeface="Cambria Math"/>
                <a:cs typeface="Cambria Math"/>
              </a:rPr>
              <a:t>𝑉</a:t>
            </a:r>
            <a:r>
              <a:rPr sz="2304" spc="-35" dirty="0">
                <a:latin typeface="Cambria Math"/>
                <a:cs typeface="Cambria Math"/>
              </a:rPr>
              <a:t>𝐼𝑁</a:t>
            </a:r>
            <a:endParaRPr sz="2304">
              <a:latin typeface="Cambria Math"/>
              <a:cs typeface="Cambria Math"/>
            </a:endParaRPr>
          </a:p>
        </p:txBody>
      </p:sp>
      <p:sp>
        <p:nvSpPr>
          <p:cNvPr id="10" name="object 10"/>
          <p:cNvSpPr/>
          <p:nvPr/>
        </p:nvSpPr>
        <p:spPr>
          <a:xfrm>
            <a:off x="3815682" y="2323322"/>
            <a:ext cx="830849" cy="27992"/>
          </a:xfrm>
          <a:custGeom>
            <a:avLst/>
            <a:gdLst/>
            <a:ahLst/>
            <a:cxnLst/>
            <a:rect l="l" t="t" r="r" b="b"/>
            <a:pathLst>
              <a:path w="829310" h="27939">
                <a:moveTo>
                  <a:pt x="829056" y="0"/>
                </a:moveTo>
                <a:lnTo>
                  <a:pt x="0" y="0"/>
                </a:lnTo>
                <a:lnTo>
                  <a:pt x="0" y="27431"/>
                </a:lnTo>
                <a:lnTo>
                  <a:pt x="829056" y="27431"/>
                </a:lnTo>
                <a:lnTo>
                  <a:pt x="829056" y="0"/>
                </a:lnTo>
                <a:close/>
              </a:path>
            </a:pathLst>
          </a:custGeom>
          <a:solidFill>
            <a:srgbClr val="000000"/>
          </a:solidFill>
        </p:spPr>
        <p:txBody>
          <a:bodyPr wrap="square" lIns="0" tIns="0" rIns="0" bIns="0" rtlCol="0"/>
          <a:lstStyle/>
          <a:p>
            <a:endParaRPr sz="1803"/>
          </a:p>
        </p:txBody>
      </p:sp>
      <p:sp>
        <p:nvSpPr>
          <p:cNvPr id="11" name="object 11"/>
          <p:cNvSpPr txBox="1"/>
          <p:nvPr/>
        </p:nvSpPr>
        <p:spPr>
          <a:xfrm>
            <a:off x="5821426" y="3568704"/>
            <a:ext cx="321270" cy="513396"/>
          </a:xfrm>
          <a:prstGeom prst="rect">
            <a:avLst/>
          </a:prstGeom>
        </p:spPr>
        <p:txBody>
          <a:bodyPr vert="horz" wrap="square" lIns="0" tIns="11451" rIns="0" bIns="0" rtlCol="0">
            <a:spAutoFit/>
          </a:bodyPr>
          <a:lstStyle/>
          <a:p>
            <a:pPr marL="12724">
              <a:spcBef>
                <a:spcPts val="90"/>
              </a:spcBef>
            </a:pPr>
            <a:r>
              <a:rPr sz="3206" spc="-50" dirty="0">
                <a:latin typeface="Cambria Math"/>
                <a:cs typeface="Cambria Math"/>
              </a:rPr>
              <a:t>𝐻</a:t>
            </a:r>
            <a:endParaRPr sz="3206">
              <a:latin typeface="Cambria Math"/>
              <a:cs typeface="Cambria Math"/>
            </a:endParaRPr>
          </a:p>
        </p:txBody>
      </p:sp>
      <p:sp>
        <p:nvSpPr>
          <p:cNvPr id="12" name="object 12"/>
          <p:cNvSpPr txBox="1"/>
          <p:nvPr/>
        </p:nvSpPr>
        <p:spPr>
          <a:xfrm>
            <a:off x="6093200" y="3761085"/>
            <a:ext cx="416060" cy="381071"/>
          </a:xfrm>
          <a:prstGeom prst="rect">
            <a:avLst/>
          </a:prstGeom>
        </p:spPr>
        <p:txBody>
          <a:bodyPr vert="horz" wrap="square" lIns="0" tIns="15904" rIns="0" bIns="0" rtlCol="0">
            <a:spAutoFit/>
          </a:bodyPr>
          <a:lstStyle/>
          <a:p>
            <a:pPr marL="12724">
              <a:spcBef>
                <a:spcPts val="125"/>
              </a:spcBef>
            </a:pPr>
            <a:r>
              <a:rPr sz="2304" spc="55" dirty="0">
                <a:latin typeface="Cambria Math"/>
                <a:cs typeface="Cambria Math"/>
              </a:rPr>
              <a:t>𝑑𝐵</a:t>
            </a:r>
            <a:endParaRPr sz="2304">
              <a:latin typeface="Cambria Math"/>
              <a:cs typeface="Cambria Math"/>
            </a:endParaRPr>
          </a:p>
        </p:txBody>
      </p:sp>
      <p:sp>
        <p:nvSpPr>
          <p:cNvPr id="13" name="object 13"/>
          <p:cNvSpPr txBox="1"/>
          <p:nvPr/>
        </p:nvSpPr>
        <p:spPr>
          <a:xfrm>
            <a:off x="8355959" y="3761085"/>
            <a:ext cx="368347" cy="381071"/>
          </a:xfrm>
          <a:prstGeom prst="rect">
            <a:avLst/>
          </a:prstGeom>
        </p:spPr>
        <p:txBody>
          <a:bodyPr vert="horz" wrap="square" lIns="0" tIns="15904" rIns="0" bIns="0" rtlCol="0">
            <a:spAutoFit/>
          </a:bodyPr>
          <a:lstStyle/>
          <a:p>
            <a:pPr marL="12724">
              <a:spcBef>
                <a:spcPts val="125"/>
              </a:spcBef>
            </a:pPr>
            <a:r>
              <a:rPr sz="2304" spc="35" dirty="0">
                <a:latin typeface="Cambria Math"/>
                <a:cs typeface="Cambria Math"/>
              </a:rPr>
              <a:t>10</a:t>
            </a:r>
            <a:endParaRPr sz="2304">
              <a:latin typeface="Cambria Math"/>
              <a:cs typeface="Cambria Math"/>
            </a:endParaRPr>
          </a:p>
        </p:txBody>
      </p:sp>
      <p:sp>
        <p:nvSpPr>
          <p:cNvPr id="14" name="object 14"/>
          <p:cNvSpPr/>
          <p:nvPr/>
        </p:nvSpPr>
        <p:spPr>
          <a:xfrm>
            <a:off x="8768711" y="3688307"/>
            <a:ext cx="574469" cy="375981"/>
          </a:xfrm>
          <a:custGeom>
            <a:avLst/>
            <a:gdLst/>
            <a:ahLst/>
            <a:cxnLst/>
            <a:rect l="l" t="t" r="r" b="b"/>
            <a:pathLst>
              <a:path w="573404" h="375285">
                <a:moveTo>
                  <a:pt x="454152" y="0"/>
                </a:moveTo>
                <a:lnTo>
                  <a:pt x="448056" y="15240"/>
                </a:lnTo>
                <a:lnTo>
                  <a:pt x="469725" y="24288"/>
                </a:lnTo>
                <a:lnTo>
                  <a:pt x="488823" y="37337"/>
                </a:lnTo>
                <a:lnTo>
                  <a:pt x="518160" y="73151"/>
                </a:lnTo>
                <a:lnTo>
                  <a:pt x="534543" y="123825"/>
                </a:lnTo>
                <a:lnTo>
                  <a:pt x="539496" y="185928"/>
                </a:lnTo>
                <a:lnTo>
                  <a:pt x="538305" y="218551"/>
                </a:lnTo>
                <a:lnTo>
                  <a:pt x="527923" y="274653"/>
                </a:lnTo>
                <a:lnTo>
                  <a:pt x="505063" y="319801"/>
                </a:lnTo>
                <a:lnTo>
                  <a:pt x="469725" y="350567"/>
                </a:lnTo>
                <a:lnTo>
                  <a:pt x="448056" y="359663"/>
                </a:lnTo>
                <a:lnTo>
                  <a:pt x="454152" y="374904"/>
                </a:lnTo>
                <a:lnTo>
                  <a:pt x="505206" y="352044"/>
                </a:lnTo>
                <a:lnTo>
                  <a:pt x="542544" y="310896"/>
                </a:lnTo>
                <a:lnTo>
                  <a:pt x="565785" y="252984"/>
                </a:lnTo>
                <a:lnTo>
                  <a:pt x="573024" y="185928"/>
                </a:lnTo>
                <a:lnTo>
                  <a:pt x="571292" y="153304"/>
                </a:lnTo>
                <a:lnTo>
                  <a:pt x="571261" y="152733"/>
                </a:lnTo>
                <a:lnTo>
                  <a:pt x="556307" y="92059"/>
                </a:lnTo>
                <a:lnTo>
                  <a:pt x="525303" y="41148"/>
                </a:lnTo>
                <a:lnTo>
                  <a:pt x="481679" y="9143"/>
                </a:lnTo>
                <a:lnTo>
                  <a:pt x="454152" y="0"/>
                </a:lnTo>
                <a:close/>
              </a:path>
              <a:path w="573404" h="375285">
                <a:moveTo>
                  <a:pt x="121920" y="0"/>
                </a:moveTo>
                <a:lnTo>
                  <a:pt x="69723" y="22860"/>
                </a:lnTo>
                <a:lnTo>
                  <a:pt x="33528" y="64007"/>
                </a:lnTo>
                <a:lnTo>
                  <a:pt x="8763" y="121538"/>
                </a:lnTo>
                <a:lnTo>
                  <a:pt x="0" y="185928"/>
                </a:lnTo>
                <a:lnTo>
                  <a:pt x="2238" y="220884"/>
                </a:lnTo>
                <a:lnTo>
                  <a:pt x="19288" y="282797"/>
                </a:lnTo>
                <a:lnTo>
                  <a:pt x="49482" y="333756"/>
                </a:lnTo>
                <a:lnTo>
                  <a:pt x="93964" y="365760"/>
                </a:lnTo>
                <a:lnTo>
                  <a:pt x="121920" y="374904"/>
                </a:lnTo>
                <a:lnTo>
                  <a:pt x="124968" y="359663"/>
                </a:lnTo>
                <a:lnTo>
                  <a:pt x="103774" y="350567"/>
                </a:lnTo>
                <a:lnTo>
                  <a:pt x="85725" y="337185"/>
                </a:lnTo>
                <a:lnTo>
                  <a:pt x="57912" y="298704"/>
                </a:lnTo>
                <a:lnTo>
                  <a:pt x="41529" y="248031"/>
                </a:lnTo>
                <a:lnTo>
                  <a:pt x="36576" y="185928"/>
                </a:lnTo>
                <a:lnTo>
                  <a:pt x="37766" y="153304"/>
                </a:lnTo>
                <a:lnTo>
                  <a:pt x="48148" y="97202"/>
                </a:lnTo>
                <a:lnTo>
                  <a:pt x="70532" y="53816"/>
                </a:lnTo>
                <a:lnTo>
                  <a:pt x="103774" y="24288"/>
                </a:lnTo>
                <a:lnTo>
                  <a:pt x="124968" y="15240"/>
                </a:lnTo>
                <a:lnTo>
                  <a:pt x="121920" y="0"/>
                </a:lnTo>
                <a:close/>
              </a:path>
            </a:pathLst>
          </a:custGeom>
          <a:solidFill>
            <a:srgbClr val="000000"/>
          </a:solidFill>
        </p:spPr>
        <p:txBody>
          <a:bodyPr wrap="square" lIns="0" tIns="0" rIns="0" bIns="0" rtlCol="0"/>
          <a:lstStyle/>
          <a:p>
            <a:endParaRPr sz="1803"/>
          </a:p>
        </p:txBody>
      </p:sp>
      <p:sp>
        <p:nvSpPr>
          <p:cNvPr id="15" name="object 15"/>
          <p:cNvSpPr txBox="1"/>
          <p:nvPr/>
        </p:nvSpPr>
        <p:spPr>
          <a:xfrm>
            <a:off x="6624537" y="3568704"/>
            <a:ext cx="2584155" cy="513396"/>
          </a:xfrm>
          <a:prstGeom prst="rect">
            <a:avLst/>
          </a:prstGeom>
        </p:spPr>
        <p:txBody>
          <a:bodyPr vert="horz" wrap="square" lIns="0" tIns="11451" rIns="0" bIns="0" rtlCol="0">
            <a:spAutoFit/>
          </a:bodyPr>
          <a:lstStyle/>
          <a:p>
            <a:pPr marL="12724">
              <a:spcBef>
                <a:spcPts val="90"/>
              </a:spcBef>
              <a:tabLst>
                <a:tab pos="2275074" algn="l"/>
              </a:tabLst>
            </a:pPr>
            <a:r>
              <a:rPr sz="3206" dirty="0">
                <a:latin typeface="Cambria Math"/>
                <a:cs typeface="Cambria Math"/>
              </a:rPr>
              <a:t>=</a:t>
            </a:r>
            <a:r>
              <a:rPr sz="3206" spc="145" dirty="0">
                <a:latin typeface="Cambria Math"/>
                <a:cs typeface="Cambria Math"/>
              </a:rPr>
              <a:t> </a:t>
            </a:r>
            <a:r>
              <a:rPr sz="3206" dirty="0">
                <a:latin typeface="Cambria Math"/>
                <a:cs typeface="Cambria Math"/>
              </a:rPr>
              <a:t>10</a:t>
            </a:r>
            <a:r>
              <a:rPr sz="3206" spc="10" dirty="0">
                <a:latin typeface="Cambria Math"/>
                <a:cs typeface="Cambria Math"/>
              </a:rPr>
              <a:t> </a:t>
            </a:r>
            <a:r>
              <a:rPr sz="3206" spc="110" dirty="0">
                <a:latin typeface="Cambria Math"/>
                <a:cs typeface="Cambria Math"/>
              </a:rPr>
              <a:t>∙</a:t>
            </a:r>
            <a:r>
              <a:rPr sz="3206" spc="-15" dirty="0">
                <a:latin typeface="Cambria Math"/>
                <a:cs typeface="Cambria Math"/>
              </a:rPr>
              <a:t> </a:t>
            </a:r>
            <a:r>
              <a:rPr sz="3206" spc="-25" dirty="0">
                <a:latin typeface="Cambria Math"/>
                <a:cs typeface="Cambria Math"/>
              </a:rPr>
              <a:t>𝑙𝑜𝑔</a:t>
            </a:r>
            <a:r>
              <a:rPr sz="3206" dirty="0">
                <a:latin typeface="Cambria Math"/>
                <a:cs typeface="Cambria Math"/>
              </a:rPr>
              <a:t>	</a:t>
            </a:r>
            <a:r>
              <a:rPr sz="3206" spc="-50" dirty="0">
                <a:latin typeface="Cambria Math"/>
                <a:cs typeface="Cambria Math"/>
              </a:rPr>
              <a:t>𝐻</a:t>
            </a:r>
            <a:endParaRPr sz="3206">
              <a:latin typeface="Cambria Math"/>
              <a:cs typeface="Cambria Math"/>
            </a:endParaRPr>
          </a:p>
        </p:txBody>
      </p:sp>
      <p:sp>
        <p:nvSpPr>
          <p:cNvPr id="16" name="object 16"/>
          <p:cNvSpPr txBox="1"/>
          <p:nvPr/>
        </p:nvSpPr>
        <p:spPr>
          <a:xfrm>
            <a:off x="2931650" y="3330519"/>
            <a:ext cx="1727224" cy="739239"/>
          </a:xfrm>
          <a:prstGeom prst="rect">
            <a:avLst/>
          </a:prstGeom>
        </p:spPr>
        <p:txBody>
          <a:bodyPr vert="horz" wrap="square" lIns="0" tIns="11451" rIns="0" bIns="0" rtlCol="0">
            <a:spAutoFit/>
          </a:bodyPr>
          <a:lstStyle/>
          <a:p>
            <a:pPr marL="877965">
              <a:lnSpc>
                <a:spcPts val="2815"/>
              </a:lnSpc>
              <a:spcBef>
                <a:spcPts val="90"/>
              </a:spcBef>
            </a:pPr>
            <a:r>
              <a:rPr sz="4809" spc="-30" baseline="11284" dirty="0">
                <a:latin typeface="Cambria Math"/>
                <a:cs typeface="Cambria Math"/>
              </a:rPr>
              <a:t>𝑃</a:t>
            </a:r>
            <a:r>
              <a:rPr sz="2304" spc="-20" dirty="0">
                <a:latin typeface="Cambria Math"/>
                <a:cs typeface="Cambria Math"/>
              </a:rPr>
              <a:t>0𝑈𝑇</a:t>
            </a:r>
            <a:endParaRPr sz="2304">
              <a:latin typeface="Cambria Math"/>
              <a:cs typeface="Cambria Math"/>
            </a:endParaRPr>
          </a:p>
          <a:p>
            <a:pPr marL="38172">
              <a:lnSpc>
                <a:spcPts val="2815"/>
              </a:lnSpc>
            </a:pPr>
            <a:r>
              <a:rPr sz="3206" dirty="0">
                <a:latin typeface="Cambria Math"/>
                <a:cs typeface="Cambria Math"/>
              </a:rPr>
              <a:t>𝐻</a:t>
            </a:r>
            <a:r>
              <a:rPr sz="3206" spc="254" dirty="0">
                <a:latin typeface="Cambria Math"/>
                <a:cs typeface="Cambria Math"/>
              </a:rPr>
              <a:t> </a:t>
            </a:r>
            <a:r>
              <a:rPr sz="3206" spc="-60" dirty="0">
                <a:latin typeface="Cambria Math"/>
                <a:cs typeface="Cambria Math"/>
              </a:rPr>
              <a:t>=</a:t>
            </a:r>
            <a:endParaRPr sz="3206">
              <a:latin typeface="Cambria Math"/>
              <a:cs typeface="Cambria Math"/>
            </a:endParaRPr>
          </a:p>
        </p:txBody>
      </p:sp>
      <p:sp>
        <p:nvSpPr>
          <p:cNvPr id="17" name="object 17"/>
          <p:cNvSpPr txBox="1"/>
          <p:nvPr/>
        </p:nvSpPr>
        <p:spPr>
          <a:xfrm>
            <a:off x="3902712" y="3910713"/>
            <a:ext cx="624091" cy="513396"/>
          </a:xfrm>
          <a:prstGeom prst="rect">
            <a:avLst/>
          </a:prstGeom>
        </p:spPr>
        <p:txBody>
          <a:bodyPr vert="horz" wrap="square" lIns="0" tIns="11451" rIns="0" bIns="0" rtlCol="0">
            <a:spAutoFit/>
          </a:bodyPr>
          <a:lstStyle/>
          <a:p>
            <a:pPr marL="38172">
              <a:spcBef>
                <a:spcPts val="90"/>
              </a:spcBef>
            </a:pPr>
            <a:r>
              <a:rPr sz="4809" spc="-37" baseline="11284" dirty="0">
                <a:latin typeface="Cambria Math"/>
                <a:cs typeface="Cambria Math"/>
              </a:rPr>
              <a:t>𝑃</a:t>
            </a:r>
            <a:r>
              <a:rPr sz="2304" spc="-25" dirty="0">
                <a:latin typeface="Cambria Math"/>
                <a:cs typeface="Cambria Math"/>
              </a:rPr>
              <a:t>𝐼𝑁</a:t>
            </a:r>
            <a:endParaRPr sz="2304">
              <a:latin typeface="Cambria Math"/>
              <a:cs typeface="Cambria Math"/>
            </a:endParaRPr>
          </a:p>
        </p:txBody>
      </p:sp>
      <p:sp>
        <p:nvSpPr>
          <p:cNvPr id="18" name="object 18"/>
          <p:cNvSpPr/>
          <p:nvPr/>
        </p:nvSpPr>
        <p:spPr>
          <a:xfrm>
            <a:off x="3809576" y="3847095"/>
            <a:ext cx="839755" cy="27992"/>
          </a:xfrm>
          <a:custGeom>
            <a:avLst/>
            <a:gdLst/>
            <a:ahLst/>
            <a:cxnLst/>
            <a:rect l="l" t="t" r="r" b="b"/>
            <a:pathLst>
              <a:path w="838200" h="27939">
                <a:moveTo>
                  <a:pt x="838200" y="0"/>
                </a:moveTo>
                <a:lnTo>
                  <a:pt x="0" y="0"/>
                </a:lnTo>
                <a:lnTo>
                  <a:pt x="0" y="27431"/>
                </a:lnTo>
                <a:lnTo>
                  <a:pt x="838200" y="27431"/>
                </a:lnTo>
                <a:lnTo>
                  <a:pt x="838200" y="0"/>
                </a:lnTo>
                <a:close/>
              </a:path>
            </a:pathLst>
          </a:custGeom>
          <a:solidFill>
            <a:srgbClr val="000000"/>
          </a:solidFill>
        </p:spPr>
        <p:txBody>
          <a:bodyPr wrap="square" lIns="0" tIns="0" rIns="0" bIns="0" rtlCol="0"/>
          <a:lstStyle/>
          <a:p>
            <a:endParaRPr sz="1803"/>
          </a:p>
        </p:txBody>
      </p:sp>
      <p:sp>
        <p:nvSpPr>
          <p:cNvPr id="19" name="object 19"/>
          <p:cNvSpPr txBox="1"/>
          <p:nvPr/>
        </p:nvSpPr>
        <p:spPr>
          <a:xfrm>
            <a:off x="4250828" y="5068050"/>
            <a:ext cx="3078466" cy="513396"/>
          </a:xfrm>
          <a:prstGeom prst="rect">
            <a:avLst/>
          </a:prstGeom>
        </p:spPr>
        <p:txBody>
          <a:bodyPr vert="horz" wrap="square" lIns="0" tIns="11451" rIns="0" bIns="0" rtlCol="0">
            <a:spAutoFit/>
          </a:bodyPr>
          <a:lstStyle/>
          <a:p>
            <a:pPr marL="38172">
              <a:spcBef>
                <a:spcPts val="90"/>
              </a:spcBef>
              <a:tabLst>
                <a:tab pos="963217" algn="l"/>
              </a:tabLst>
            </a:pPr>
            <a:r>
              <a:rPr sz="3206" spc="-20" dirty="0">
                <a:latin typeface="Cambria Math"/>
                <a:cs typeface="Cambria Math"/>
              </a:rPr>
              <a:t>𝑉</a:t>
            </a:r>
            <a:r>
              <a:rPr sz="3457" spc="-30" baseline="-15700" dirty="0">
                <a:latin typeface="Cambria Math"/>
                <a:cs typeface="Cambria Math"/>
              </a:rPr>
              <a:t>𝑑𝐵𝑉</a:t>
            </a:r>
            <a:r>
              <a:rPr sz="3457" baseline="-15700" dirty="0">
                <a:latin typeface="Cambria Math"/>
                <a:cs typeface="Cambria Math"/>
              </a:rPr>
              <a:t>	</a:t>
            </a:r>
            <a:r>
              <a:rPr sz="3206" dirty="0">
                <a:latin typeface="Cambria Math"/>
                <a:cs typeface="Cambria Math"/>
              </a:rPr>
              <a:t>=</a:t>
            </a:r>
            <a:r>
              <a:rPr sz="3206" spc="170" dirty="0">
                <a:latin typeface="Cambria Math"/>
                <a:cs typeface="Cambria Math"/>
              </a:rPr>
              <a:t> </a:t>
            </a:r>
            <a:r>
              <a:rPr sz="3206" dirty="0">
                <a:latin typeface="Cambria Math"/>
                <a:cs typeface="Cambria Math"/>
              </a:rPr>
              <a:t>20</a:t>
            </a:r>
            <a:r>
              <a:rPr sz="3206" spc="-15" dirty="0">
                <a:latin typeface="Cambria Math"/>
                <a:cs typeface="Cambria Math"/>
              </a:rPr>
              <a:t> </a:t>
            </a:r>
            <a:r>
              <a:rPr sz="3206" spc="110" dirty="0">
                <a:latin typeface="Cambria Math"/>
                <a:cs typeface="Cambria Math"/>
              </a:rPr>
              <a:t>∙</a:t>
            </a:r>
            <a:r>
              <a:rPr sz="3206" spc="-15" dirty="0">
                <a:latin typeface="Cambria Math"/>
                <a:cs typeface="Cambria Math"/>
              </a:rPr>
              <a:t> </a:t>
            </a:r>
            <a:r>
              <a:rPr sz="3206" spc="-20" dirty="0">
                <a:latin typeface="Cambria Math"/>
                <a:cs typeface="Cambria Math"/>
              </a:rPr>
              <a:t>𝑙𝑜𝑔</a:t>
            </a:r>
            <a:r>
              <a:rPr sz="3457" spc="-30" baseline="-15700" dirty="0">
                <a:latin typeface="Cambria Math"/>
                <a:cs typeface="Cambria Math"/>
              </a:rPr>
              <a:t>10</a:t>
            </a:r>
            <a:endParaRPr sz="3457" baseline="-15700">
              <a:latin typeface="Cambria Math"/>
              <a:cs typeface="Cambria Math"/>
            </a:endParaRPr>
          </a:p>
        </p:txBody>
      </p:sp>
      <p:sp>
        <p:nvSpPr>
          <p:cNvPr id="20" name="object 20"/>
          <p:cNvSpPr/>
          <p:nvPr/>
        </p:nvSpPr>
        <p:spPr>
          <a:xfrm>
            <a:off x="7345708" y="5184597"/>
            <a:ext cx="1112039" cy="379162"/>
          </a:xfrm>
          <a:custGeom>
            <a:avLst/>
            <a:gdLst/>
            <a:ahLst/>
            <a:cxnLst/>
            <a:rect l="l" t="t" r="r" b="b"/>
            <a:pathLst>
              <a:path w="1109979" h="378460">
                <a:moveTo>
                  <a:pt x="990600" y="0"/>
                </a:moveTo>
                <a:lnTo>
                  <a:pt x="984503" y="15239"/>
                </a:lnTo>
                <a:lnTo>
                  <a:pt x="1005697" y="25622"/>
                </a:lnTo>
                <a:lnTo>
                  <a:pt x="1023747" y="38861"/>
                </a:lnTo>
                <a:lnTo>
                  <a:pt x="1051559" y="76199"/>
                </a:lnTo>
                <a:lnTo>
                  <a:pt x="1069467" y="126491"/>
                </a:lnTo>
                <a:lnTo>
                  <a:pt x="1075944" y="185927"/>
                </a:lnTo>
                <a:lnTo>
                  <a:pt x="1074277" y="220313"/>
                </a:lnTo>
                <a:lnTo>
                  <a:pt x="1061799" y="277653"/>
                </a:lnTo>
                <a:lnTo>
                  <a:pt x="1038939" y="322421"/>
                </a:lnTo>
                <a:lnTo>
                  <a:pt x="1005502" y="352424"/>
                </a:lnTo>
                <a:lnTo>
                  <a:pt x="984503" y="362711"/>
                </a:lnTo>
                <a:lnTo>
                  <a:pt x="990600" y="377951"/>
                </a:lnTo>
                <a:lnTo>
                  <a:pt x="1040510" y="352424"/>
                </a:lnTo>
                <a:lnTo>
                  <a:pt x="1078991" y="310895"/>
                </a:lnTo>
                <a:lnTo>
                  <a:pt x="1101089" y="255650"/>
                </a:lnTo>
                <a:lnTo>
                  <a:pt x="1109472" y="188975"/>
                </a:lnTo>
                <a:lnTo>
                  <a:pt x="1107344" y="155066"/>
                </a:lnTo>
                <a:lnTo>
                  <a:pt x="1091469" y="93392"/>
                </a:lnTo>
                <a:lnTo>
                  <a:pt x="1061323" y="44148"/>
                </a:lnTo>
                <a:lnTo>
                  <a:pt x="1016841" y="10906"/>
                </a:lnTo>
                <a:lnTo>
                  <a:pt x="990600" y="0"/>
                </a:lnTo>
                <a:close/>
              </a:path>
              <a:path w="1109979" h="378460">
                <a:moveTo>
                  <a:pt x="118871" y="0"/>
                </a:moveTo>
                <a:lnTo>
                  <a:pt x="68854" y="25622"/>
                </a:lnTo>
                <a:lnTo>
                  <a:pt x="30479" y="67055"/>
                </a:lnTo>
                <a:lnTo>
                  <a:pt x="7238" y="122300"/>
                </a:lnTo>
                <a:lnTo>
                  <a:pt x="0" y="188975"/>
                </a:lnTo>
                <a:lnTo>
                  <a:pt x="1762" y="223885"/>
                </a:lnTo>
                <a:lnTo>
                  <a:pt x="16716" y="284559"/>
                </a:lnTo>
                <a:lnTo>
                  <a:pt x="48148" y="333803"/>
                </a:lnTo>
                <a:lnTo>
                  <a:pt x="92630" y="367045"/>
                </a:lnTo>
                <a:lnTo>
                  <a:pt x="118871" y="377951"/>
                </a:lnTo>
                <a:lnTo>
                  <a:pt x="124967" y="362711"/>
                </a:lnTo>
                <a:lnTo>
                  <a:pt x="103544" y="352424"/>
                </a:lnTo>
                <a:lnTo>
                  <a:pt x="84582" y="339089"/>
                </a:lnTo>
                <a:lnTo>
                  <a:pt x="57911" y="301751"/>
                </a:lnTo>
                <a:lnTo>
                  <a:pt x="40004" y="250697"/>
                </a:lnTo>
                <a:lnTo>
                  <a:pt x="33527" y="185927"/>
                </a:lnTo>
                <a:lnTo>
                  <a:pt x="35194" y="155066"/>
                </a:lnTo>
                <a:lnTo>
                  <a:pt x="47672" y="100202"/>
                </a:lnTo>
                <a:lnTo>
                  <a:pt x="69246" y="55530"/>
                </a:lnTo>
                <a:lnTo>
                  <a:pt x="103346" y="25622"/>
                </a:lnTo>
                <a:lnTo>
                  <a:pt x="124967" y="15239"/>
                </a:lnTo>
                <a:lnTo>
                  <a:pt x="118871" y="0"/>
                </a:lnTo>
                <a:close/>
              </a:path>
            </a:pathLst>
          </a:custGeom>
          <a:solidFill>
            <a:srgbClr val="000000"/>
          </a:solidFill>
        </p:spPr>
        <p:txBody>
          <a:bodyPr wrap="square" lIns="0" tIns="0" rIns="0" bIns="0" rtlCol="0"/>
          <a:lstStyle/>
          <a:p>
            <a:endParaRPr sz="1803"/>
          </a:p>
        </p:txBody>
      </p:sp>
      <p:sp>
        <p:nvSpPr>
          <p:cNvPr id="21" name="object 21"/>
          <p:cNvSpPr txBox="1"/>
          <p:nvPr/>
        </p:nvSpPr>
        <p:spPr>
          <a:xfrm>
            <a:off x="7441898" y="5150497"/>
            <a:ext cx="893830" cy="513396"/>
          </a:xfrm>
          <a:prstGeom prst="rect">
            <a:avLst/>
          </a:prstGeom>
        </p:spPr>
        <p:txBody>
          <a:bodyPr vert="horz" wrap="square" lIns="0" tIns="11451" rIns="0" bIns="0" rtlCol="0">
            <a:spAutoFit/>
          </a:bodyPr>
          <a:lstStyle/>
          <a:p>
            <a:pPr marL="38172">
              <a:spcBef>
                <a:spcPts val="90"/>
              </a:spcBef>
            </a:pPr>
            <a:r>
              <a:rPr sz="4809" spc="-30" baseline="11284" dirty="0">
                <a:latin typeface="Cambria Math"/>
                <a:cs typeface="Cambria Math"/>
              </a:rPr>
              <a:t>𝑉</a:t>
            </a:r>
            <a:r>
              <a:rPr sz="2304" spc="-20" dirty="0">
                <a:latin typeface="Cambria Math"/>
                <a:cs typeface="Cambria Math"/>
              </a:rPr>
              <a:t>𝑅𝑀𝑆</a:t>
            </a:r>
            <a:endParaRPr sz="2304">
              <a:latin typeface="Cambria Math"/>
              <a:cs typeface="Cambria Math"/>
            </a:endParaRPr>
          </a:p>
        </p:txBody>
      </p:sp>
      <p:sp>
        <p:nvSpPr>
          <p:cNvPr id="22" name="object 22"/>
          <p:cNvSpPr/>
          <p:nvPr/>
        </p:nvSpPr>
        <p:spPr>
          <a:xfrm>
            <a:off x="2420162" y="3007341"/>
            <a:ext cx="7511991" cy="0"/>
          </a:xfrm>
          <a:custGeom>
            <a:avLst/>
            <a:gdLst/>
            <a:ahLst/>
            <a:cxnLst/>
            <a:rect l="l" t="t" r="r" b="b"/>
            <a:pathLst>
              <a:path w="7498080">
                <a:moveTo>
                  <a:pt x="0" y="0"/>
                </a:moveTo>
                <a:lnTo>
                  <a:pt x="7498080" y="0"/>
                </a:lnTo>
              </a:path>
            </a:pathLst>
          </a:custGeom>
          <a:ln w="9142">
            <a:solidFill>
              <a:srgbClr val="000000"/>
            </a:solidFill>
          </a:ln>
        </p:spPr>
        <p:txBody>
          <a:bodyPr wrap="square" lIns="0" tIns="0" rIns="0" bIns="0" rtlCol="0"/>
          <a:lstStyle/>
          <a:p>
            <a:endParaRPr sz="1803"/>
          </a:p>
        </p:txBody>
      </p:sp>
      <p:sp>
        <p:nvSpPr>
          <p:cNvPr id="23" name="object 23"/>
          <p:cNvSpPr/>
          <p:nvPr/>
        </p:nvSpPr>
        <p:spPr>
          <a:xfrm>
            <a:off x="2420162" y="4665475"/>
            <a:ext cx="7511991" cy="0"/>
          </a:xfrm>
          <a:custGeom>
            <a:avLst/>
            <a:gdLst/>
            <a:ahLst/>
            <a:cxnLst/>
            <a:rect l="l" t="t" r="r" b="b"/>
            <a:pathLst>
              <a:path w="7498080">
                <a:moveTo>
                  <a:pt x="0" y="0"/>
                </a:moveTo>
                <a:lnTo>
                  <a:pt x="7498080" y="0"/>
                </a:lnTo>
              </a:path>
            </a:pathLst>
          </a:custGeom>
          <a:ln w="9142">
            <a:solidFill>
              <a:srgbClr val="000000"/>
            </a:solidFill>
          </a:ln>
        </p:spPr>
        <p:txBody>
          <a:bodyPr wrap="square" lIns="0" tIns="0" rIns="0" bIns="0" rtlCol="0"/>
          <a:lstStyle/>
          <a:p>
            <a:endParaRPr sz="1803"/>
          </a:p>
        </p:txBody>
      </p:sp>
      <p:sp>
        <p:nvSpPr>
          <p:cNvPr id="25" name="object 25"/>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23</a:t>
            </a:r>
          </a:p>
        </p:txBody>
      </p:sp>
    </p:spTree>
    <p:extLst>
      <p:ext uri="{BB962C8B-B14F-4D97-AF65-F5344CB8AC3E}">
        <p14:creationId xmlns:p14="http://schemas.microsoft.com/office/powerpoint/2010/main" val="2340091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2416312">
              <a:spcBef>
                <a:spcPts val="90"/>
              </a:spcBef>
            </a:pPr>
            <a:r>
              <a:rPr spc="-35" dirty="0"/>
              <a:t>Low-</a:t>
            </a:r>
            <a:r>
              <a:rPr dirty="0"/>
              <a:t>pass </a:t>
            </a:r>
            <a:r>
              <a:rPr spc="-10" dirty="0"/>
              <a:t>filter</a:t>
            </a:r>
          </a:p>
        </p:txBody>
      </p:sp>
      <p:sp>
        <p:nvSpPr>
          <p:cNvPr id="3" name="object 3"/>
          <p:cNvSpPr/>
          <p:nvPr/>
        </p:nvSpPr>
        <p:spPr>
          <a:xfrm>
            <a:off x="1863061" y="1647892"/>
            <a:ext cx="0" cy="474588"/>
          </a:xfrm>
          <a:custGeom>
            <a:avLst/>
            <a:gdLst/>
            <a:ahLst/>
            <a:cxnLst/>
            <a:rect l="l" t="t" r="r" b="b"/>
            <a:pathLst>
              <a:path h="473710">
                <a:moveTo>
                  <a:pt x="0" y="0"/>
                </a:moveTo>
                <a:lnTo>
                  <a:pt x="0" y="473201"/>
                </a:lnTo>
              </a:path>
            </a:pathLst>
          </a:custGeom>
          <a:ln w="16007">
            <a:solidFill>
              <a:srgbClr val="000000"/>
            </a:solidFill>
          </a:ln>
        </p:spPr>
        <p:txBody>
          <a:bodyPr wrap="square" lIns="0" tIns="0" rIns="0" bIns="0" rtlCol="0"/>
          <a:lstStyle/>
          <a:p>
            <a:endParaRPr sz="1803"/>
          </a:p>
        </p:txBody>
      </p:sp>
      <p:sp>
        <p:nvSpPr>
          <p:cNvPr id="4" name="object 4"/>
          <p:cNvSpPr/>
          <p:nvPr/>
        </p:nvSpPr>
        <p:spPr>
          <a:xfrm>
            <a:off x="2907411" y="1647892"/>
            <a:ext cx="0" cy="474588"/>
          </a:xfrm>
          <a:custGeom>
            <a:avLst/>
            <a:gdLst/>
            <a:ahLst/>
            <a:cxnLst/>
            <a:rect l="l" t="t" r="r" b="b"/>
            <a:pathLst>
              <a:path h="473710">
                <a:moveTo>
                  <a:pt x="0" y="0"/>
                </a:moveTo>
                <a:lnTo>
                  <a:pt x="0" y="473201"/>
                </a:lnTo>
              </a:path>
            </a:pathLst>
          </a:custGeom>
          <a:ln w="16007">
            <a:solidFill>
              <a:srgbClr val="000000"/>
            </a:solidFill>
          </a:ln>
        </p:spPr>
        <p:txBody>
          <a:bodyPr wrap="square" lIns="0" tIns="0" rIns="0" bIns="0" rtlCol="0"/>
          <a:lstStyle/>
          <a:p>
            <a:endParaRPr sz="1803"/>
          </a:p>
        </p:txBody>
      </p:sp>
      <p:grpSp>
        <p:nvGrpSpPr>
          <p:cNvPr id="5" name="object 5"/>
          <p:cNvGrpSpPr/>
          <p:nvPr/>
        </p:nvGrpSpPr>
        <p:grpSpPr>
          <a:xfrm>
            <a:off x="3387405" y="1933025"/>
            <a:ext cx="2098751" cy="594827"/>
            <a:chOff x="1849371" y="1929445"/>
            <a:chExt cx="2094864" cy="593725"/>
          </a:xfrm>
        </p:grpSpPr>
        <p:sp>
          <p:nvSpPr>
            <p:cNvPr id="6" name="object 6"/>
            <p:cNvSpPr/>
            <p:nvPr/>
          </p:nvSpPr>
          <p:spPr>
            <a:xfrm>
              <a:off x="1857374" y="2297493"/>
              <a:ext cx="49530" cy="28575"/>
            </a:xfrm>
            <a:custGeom>
              <a:avLst/>
              <a:gdLst/>
              <a:ahLst/>
              <a:cxnLst/>
              <a:rect l="l" t="t" r="r" b="b"/>
              <a:pathLst>
                <a:path w="49530" h="28575">
                  <a:moveTo>
                    <a:pt x="0" y="28003"/>
                  </a:moveTo>
                  <a:lnTo>
                    <a:pt x="48958" y="0"/>
                  </a:lnTo>
                </a:path>
              </a:pathLst>
            </a:custGeom>
            <a:ln w="16007">
              <a:solidFill>
                <a:srgbClr val="000000"/>
              </a:solidFill>
            </a:ln>
          </p:spPr>
          <p:txBody>
            <a:bodyPr wrap="square" lIns="0" tIns="0" rIns="0" bIns="0" rtlCol="0"/>
            <a:lstStyle/>
            <a:p>
              <a:endParaRPr sz="1803"/>
            </a:p>
          </p:txBody>
        </p:sp>
        <p:sp>
          <p:nvSpPr>
            <p:cNvPr id="7" name="object 7"/>
            <p:cNvSpPr/>
            <p:nvPr/>
          </p:nvSpPr>
          <p:spPr>
            <a:xfrm>
              <a:off x="1906333" y="2305494"/>
              <a:ext cx="71120" cy="201930"/>
            </a:xfrm>
            <a:custGeom>
              <a:avLst/>
              <a:gdLst/>
              <a:ahLst/>
              <a:cxnLst/>
              <a:rect l="l" t="t" r="r" b="b"/>
              <a:pathLst>
                <a:path w="71119" h="201930">
                  <a:moveTo>
                    <a:pt x="0" y="0"/>
                  </a:moveTo>
                  <a:lnTo>
                    <a:pt x="70866" y="201548"/>
                  </a:lnTo>
                </a:path>
              </a:pathLst>
            </a:custGeom>
            <a:ln w="32015">
              <a:solidFill>
                <a:srgbClr val="000000"/>
              </a:solidFill>
            </a:ln>
          </p:spPr>
          <p:txBody>
            <a:bodyPr wrap="square" lIns="0" tIns="0" rIns="0" bIns="0" rtlCol="0"/>
            <a:lstStyle/>
            <a:p>
              <a:endParaRPr sz="1803"/>
            </a:p>
          </p:txBody>
        </p:sp>
        <p:sp>
          <p:nvSpPr>
            <p:cNvPr id="8" name="object 8"/>
            <p:cNvSpPr/>
            <p:nvPr/>
          </p:nvSpPr>
          <p:spPr>
            <a:xfrm>
              <a:off x="1985200" y="1937448"/>
              <a:ext cx="1958975" cy="569595"/>
            </a:xfrm>
            <a:custGeom>
              <a:avLst/>
              <a:gdLst/>
              <a:ahLst/>
              <a:cxnLst/>
              <a:rect l="l" t="t" r="r" b="b"/>
              <a:pathLst>
                <a:path w="1958975" h="569594">
                  <a:moveTo>
                    <a:pt x="0" y="569594"/>
                  </a:moveTo>
                  <a:lnTo>
                    <a:pt x="93725" y="0"/>
                  </a:lnTo>
                </a:path>
                <a:path w="1958975" h="569594">
                  <a:moveTo>
                    <a:pt x="93725" y="0"/>
                  </a:moveTo>
                  <a:lnTo>
                    <a:pt x="1958721" y="0"/>
                  </a:lnTo>
                </a:path>
              </a:pathLst>
            </a:custGeom>
            <a:ln w="16007">
              <a:solidFill>
                <a:srgbClr val="000000"/>
              </a:solidFill>
            </a:ln>
          </p:spPr>
          <p:txBody>
            <a:bodyPr wrap="square" lIns="0" tIns="0" rIns="0" bIns="0" rtlCol="0"/>
            <a:lstStyle/>
            <a:p>
              <a:endParaRPr sz="1803"/>
            </a:p>
          </p:txBody>
        </p:sp>
      </p:grpSp>
      <p:sp>
        <p:nvSpPr>
          <p:cNvPr id="9" name="object 9"/>
          <p:cNvSpPr txBox="1"/>
          <p:nvPr/>
        </p:nvSpPr>
        <p:spPr>
          <a:xfrm>
            <a:off x="8279617" y="1263396"/>
            <a:ext cx="2087937" cy="868383"/>
          </a:xfrm>
          <a:prstGeom prst="rect">
            <a:avLst/>
          </a:prstGeom>
        </p:spPr>
        <p:txBody>
          <a:bodyPr vert="horz" wrap="square" lIns="0" tIns="14631" rIns="0" bIns="0" rtlCol="0">
            <a:spAutoFit/>
          </a:bodyPr>
          <a:lstStyle/>
          <a:p>
            <a:pPr marL="12724">
              <a:spcBef>
                <a:spcPts val="114"/>
              </a:spcBef>
              <a:tabLst>
                <a:tab pos="589763" algn="l"/>
                <a:tab pos="1661135" algn="l"/>
              </a:tabLst>
            </a:pPr>
            <a:r>
              <a:rPr sz="5510" spc="-917" dirty="0">
                <a:latin typeface="Symbol"/>
                <a:cs typeface="Symbol"/>
              </a:rPr>
              <a:t></a:t>
            </a:r>
            <a:r>
              <a:rPr sz="5510" dirty="0">
                <a:latin typeface="Times New Roman"/>
                <a:cs typeface="Times New Roman"/>
              </a:rPr>
              <a:t>	</a:t>
            </a:r>
            <a:r>
              <a:rPr sz="4108" spc="-435" dirty="0">
                <a:latin typeface="Symbol"/>
                <a:cs typeface="Symbol"/>
              </a:rPr>
              <a:t></a:t>
            </a:r>
            <a:r>
              <a:rPr sz="4108" dirty="0">
                <a:latin typeface="Times New Roman"/>
                <a:cs typeface="Times New Roman"/>
              </a:rPr>
              <a:t>	</a:t>
            </a:r>
            <a:r>
              <a:rPr sz="4108" spc="-386" dirty="0">
                <a:latin typeface="Symbol"/>
                <a:cs typeface="Symbol"/>
              </a:rPr>
              <a:t></a:t>
            </a:r>
            <a:r>
              <a:rPr sz="4108" spc="240" dirty="0">
                <a:latin typeface="Times New Roman"/>
                <a:cs typeface="Times New Roman"/>
              </a:rPr>
              <a:t> </a:t>
            </a:r>
            <a:r>
              <a:rPr sz="5510" spc="-917" dirty="0">
                <a:latin typeface="Symbol"/>
                <a:cs typeface="Symbol"/>
              </a:rPr>
              <a:t></a:t>
            </a:r>
            <a:endParaRPr sz="5510">
              <a:latin typeface="Symbol"/>
              <a:cs typeface="Symbol"/>
            </a:endParaRPr>
          </a:p>
        </p:txBody>
      </p:sp>
      <p:sp>
        <p:nvSpPr>
          <p:cNvPr id="10" name="object 10"/>
          <p:cNvSpPr txBox="1"/>
          <p:nvPr/>
        </p:nvSpPr>
        <p:spPr>
          <a:xfrm>
            <a:off x="10038523" y="1535935"/>
            <a:ext cx="150774" cy="295823"/>
          </a:xfrm>
          <a:prstGeom prst="rect">
            <a:avLst/>
          </a:prstGeom>
        </p:spPr>
        <p:txBody>
          <a:bodyPr vert="horz" wrap="square" lIns="0" tIns="14631" rIns="0" bIns="0" rtlCol="0">
            <a:spAutoFit/>
          </a:bodyPr>
          <a:lstStyle/>
          <a:p>
            <a:pPr marL="12724">
              <a:spcBef>
                <a:spcPts val="114"/>
              </a:spcBef>
            </a:pPr>
            <a:r>
              <a:rPr sz="1753" spc="-50" dirty="0">
                <a:latin typeface="Arial MT"/>
                <a:cs typeface="Arial MT"/>
              </a:rPr>
              <a:t>2</a:t>
            </a:r>
            <a:endParaRPr sz="1753">
              <a:latin typeface="Arial MT"/>
              <a:cs typeface="Arial MT"/>
            </a:endParaRPr>
          </a:p>
        </p:txBody>
      </p:sp>
      <p:sp>
        <p:nvSpPr>
          <p:cNvPr id="11" name="object 11"/>
          <p:cNvSpPr txBox="1"/>
          <p:nvPr/>
        </p:nvSpPr>
        <p:spPr>
          <a:xfrm>
            <a:off x="5293143" y="1951232"/>
            <a:ext cx="150774" cy="295823"/>
          </a:xfrm>
          <a:prstGeom prst="rect">
            <a:avLst/>
          </a:prstGeom>
        </p:spPr>
        <p:txBody>
          <a:bodyPr vert="horz" wrap="square" lIns="0" tIns="14631" rIns="0" bIns="0" rtlCol="0">
            <a:spAutoFit/>
          </a:bodyPr>
          <a:lstStyle/>
          <a:p>
            <a:pPr marL="12724">
              <a:spcBef>
                <a:spcPts val="114"/>
              </a:spcBef>
            </a:pPr>
            <a:r>
              <a:rPr sz="1753" spc="-50" dirty="0">
                <a:latin typeface="Arial MT"/>
                <a:cs typeface="Arial MT"/>
              </a:rPr>
              <a:t>2</a:t>
            </a:r>
            <a:endParaRPr sz="1753">
              <a:latin typeface="Arial MT"/>
              <a:cs typeface="Arial MT"/>
            </a:endParaRPr>
          </a:p>
        </p:txBody>
      </p:sp>
      <p:sp>
        <p:nvSpPr>
          <p:cNvPr id="12" name="object 12"/>
          <p:cNvSpPr txBox="1"/>
          <p:nvPr/>
        </p:nvSpPr>
        <p:spPr>
          <a:xfrm>
            <a:off x="9699566" y="1841300"/>
            <a:ext cx="188309" cy="295823"/>
          </a:xfrm>
          <a:prstGeom prst="rect">
            <a:avLst/>
          </a:prstGeom>
        </p:spPr>
        <p:txBody>
          <a:bodyPr vert="horz" wrap="square" lIns="0" tIns="14631" rIns="0" bIns="0" rtlCol="0">
            <a:spAutoFit/>
          </a:bodyPr>
          <a:lstStyle/>
          <a:p>
            <a:pPr marL="12724">
              <a:spcBef>
                <a:spcPts val="114"/>
              </a:spcBef>
            </a:pPr>
            <a:r>
              <a:rPr sz="1753" i="1" spc="-50" dirty="0">
                <a:latin typeface="Arial"/>
                <a:cs typeface="Arial"/>
              </a:rPr>
              <a:t>C</a:t>
            </a:r>
            <a:endParaRPr sz="1753">
              <a:latin typeface="Arial"/>
              <a:cs typeface="Arial"/>
            </a:endParaRPr>
          </a:p>
        </p:txBody>
      </p:sp>
      <p:sp>
        <p:nvSpPr>
          <p:cNvPr id="13" name="object 13"/>
          <p:cNvSpPr txBox="1"/>
          <p:nvPr/>
        </p:nvSpPr>
        <p:spPr>
          <a:xfrm>
            <a:off x="8337636" y="1569263"/>
            <a:ext cx="1395775" cy="505125"/>
          </a:xfrm>
          <a:prstGeom prst="rect">
            <a:avLst/>
          </a:prstGeom>
        </p:spPr>
        <p:txBody>
          <a:bodyPr vert="horz" wrap="square" lIns="0" tIns="17177" rIns="0" bIns="0" rtlCol="0">
            <a:spAutoFit/>
          </a:bodyPr>
          <a:lstStyle/>
          <a:p>
            <a:pPr marL="12724">
              <a:spcBef>
                <a:spcPts val="135"/>
              </a:spcBef>
              <a:tabLst>
                <a:tab pos="626027" algn="l"/>
              </a:tabLst>
            </a:pPr>
            <a:r>
              <a:rPr sz="3006" spc="50" dirty="0">
                <a:latin typeface="Arial MT"/>
                <a:cs typeface="Arial MT"/>
              </a:rPr>
              <a:t>1</a:t>
            </a:r>
            <a:r>
              <a:rPr sz="3006" spc="50" dirty="0">
                <a:latin typeface="Symbol"/>
                <a:cs typeface="Symbol"/>
              </a:rPr>
              <a:t></a:t>
            </a:r>
            <a:r>
              <a:rPr sz="3006" dirty="0">
                <a:latin typeface="Times New Roman"/>
                <a:cs typeface="Times New Roman"/>
              </a:rPr>
              <a:t>	</a:t>
            </a:r>
            <a:r>
              <a:rPr sz="3106" i="1" spc="-456" dirty="0">
                <a:latin typeface="Verdana"/>
                <a:cs typeface="Verdana"/>
              </a:rPr>
              <a:t>ω</a:t>
            </a:r>
            <a:r>
              <a:rPr sz="3106" i="1" spc="-485" dirty="0">
                <a:latin typeface="Verdana"/>
                <a:cs typeface="Verdana"/>
              </a:rPr>
              <a:t> </a:t>
            </a:r>
            <a:r>
              <a:rPr sz="3006" dirty="0">
                <a:latin typeface="Arial MT"/>
                <a:cs typeface="Arial MT"/>
              </a:rPr>
              <a:t>/</a:t>
            </a:r>
            <a:r>
              <a:rPr sz="3006" spc="-506" dirty="0">
                <a:latin typeface="Arial MT"/>
                <a:cs typeface="Arial MT"/>
              </a:rPr>
              <a:t> </a:t>
            </a:r>
            <a:r>
              <a:rPr sz="3106" i="1" spc="-506" dirty="0">
                <a:latin typeface="Verdana"/>
                <a:cs typeface="Verdana"/>
              </a:rPr>
              <a:t>ω</a:t>
            </a:r>
            <a:endParaRPr sz="3106">
              <a:latin typeface="Verdana"/>
              <a:cs typeface="Verdana"/>
            </a:endParaRPr>
          </a:p>
        </p:txBody>
      </p:sp>
      <p:sp>
        <p:nvSpPr>
          <p:cNvPr id="14" name="object 14"/>
          <p:cNvSpPr txBox="1"/>
          <p:nvPr/>
        </p:nvSpPr>
        <p:spPr>
          <a:xfrm>
            <a:off x="6789434" y="1582865"/>
            <a:ext cx="1523010" cy="488585"/>
          </a:xfrm>
          <a:prstGeom prst="rect">
            <a:avLst/>
          </a:prstGeom>
        </p:spPr>
        <p:txBody>
          <a:bodyPr vert="horz" wrap="square" lIns="0" tIns="16541" rIns="0" bIns="0" rtlCol="0">
            <a:spAutoFit/>
          </a:bodyPr>
          <a:lstStyle/>
          <a:p>
            <a:pPr marL="12724">
              <a:spcBef>
                <a:spcPts val="130"/>
              </a:spcBef>
            </a:pPr>
            <a:r>
              <a:rPr sz="3006" dirty="0">
                <a:latin typeface="Symbol"/>
                <a:cs typeface="Symbol"/>
              </a:rPr>
              <a:t></a:t>
            </a:r>
            <a:r>
              <a:rPr sz="3006" spc="20" dirty="0">
                <a:latin typeface="Times New Roman"/>
                <a:cs typeface="Times New Roman"/>
              </a:rPr>
              <a:t> </a:t>
            </a:r>
            <a:r>
              <a:rPr sz="3006" spc="40" dirty="0">
                <a:latin typeface="Symbol"/>
                <a:cs typeface="Symbol"/>
              </a:rPr>
              <a:t></a:t>
            </a:r>
            <a:r>
              <a:rPr sz="3006" spc="40" dirty="0">
                <a:latin typeface="Arial MT"/>
                <a:cs typeface="Arial MT"/>
              </a:rPr>
              <a:t>10log</a:t>
            </a:r>
            <a:endParaRPr sz="3006">
              <a:latin typeface="Arial MT"/>
              <a:cs typeface="Arial MT"/>
            </a:endParaRPr>
          </a:p>
        </p:txBody>
      </p:sp>
      <p:sp>
        <p:nvSpPr>
          <p:cNvPr id="15" name="object 15"/>
          <p:cNvSpPr txBox="1"/>
          <p:nvPr/>
        </p:nvSpPr>
        <p:spPr>
          <a:xfrm>
            <a:off x="6364977" y="1841300"/>
            <a:ext cx="300912" cy="295823"/>
          </a:xfrm>
          <a:prstGeom prst="rect">
            <a:avLst/>
          </a:prstGeom>
        </p:spPr>
        <p:txBody>
          <a:bodyPr vert="horz" wrap="square" lIns="0" tIns="14631" rIns="0" bIns="0" rtlCol="0">
            <a:spAutoFit/>
          </a:bodyPr>
          <a:lstStyle/>
          <a:p>
            <a:pPr marL="12724">
              <a:spcBef>
                <a:spcPts val="114"/>
              </a:spcBef>
            </a:pPr>
            <a:r>
              <a:rPr sz="1753" i="1" spc="-25" dirty="0">
                <a:latin typeface="Arial"/>
                <a:cs typeface="Arial"/>
              </a:rPr>
              <a:t>dB</a:t>
            </a:r>
            <a:endParaRPr sz="1753">
              <a:latin typeface="Arial"/>
              <a:cs typeface="Arial"/>
            </a:endParaRPr>
          </a:p>
        </p:txBody>
      </p:sp>
      <p:sp>
        <p:nvSpPr>
          <p:cNvPr id="16" name="object 16"/>
          <p:cNvSpPr txBox="1"/>
          <p:nvPr/>
        </p:nvSpPr>
        <p:spPr>
          <a:xfrm>
            <a:off x="4954187" y="2253544"/>
            <a:ext cx="188309" cy="295823"/>
          </a:xfrm>
          <a:prstGeom prst="rect">
            <a:avLst/>
          </a:prstGeom>
        </p:spPr>
        <p:txBody>
          <a:bodyPr vert="horz" wrap="square" lIns="0" tIns="14631" rIns="0" bIns="0" rtlCol="0">
            <a:spAutoFit/>
          </a:bodyPr>
          <a:lstStyle/>
          <a:p>
            <a:pPr marL="12724">
              <a:spcBef>
                <a:spcPts val="114"/>
              </a:spcBef>
            </a:pPr>
            <a:r>
              <a:rPr sz="1753" i="1" spc="-50" dirty="0">
                <a:latin typeface="Arial"/>
                <a:cs typeface="Arial"/>
              </a:rPr>
              <a:t>C</a:t>
            </a:r>
            <a:endParaRPr sz="1753">
              <a:latin typeface="Arial"/>
              <a:cs typeface="Arial"/>
            </a:endParaRPr>
          </a:p>
        </p:txBody>
      </p:sp>
      <p:sp>
        <p:nvSpPr>
          <p:cNvPr id="17" name="object 17"/>
          <p:cNvSpPr txBox="1"/>
          <p:nvPr/>
        </p:nvSpPr>
        <p:spPr>
          <a:xfrm>
            <a:off x="3592258" y="1861550"/>
            <a:ext cx="1729767" cy="652719"/>
          </a:xfrm>
          <a:prstGeom prst="rect">
            <a:avLst/>
          </a:prstGeom>
        </p:spPr>
        <p:txBody>
          <a:bodyPr vert="horz" wrap="square" lIns="0" tIns="13360" rIns="0" bIns="0" rtlCol="0">
            <a:spAutoFit/>
          </a:bodyPr>
          <a:lstStyle/>
          <a:p>
            <a:pPr marL="12724">
              <a:spcBef>
                <a:spcPts val="105"/>
              </a:spcBef>
              <a:tabLst>
                <a:tab pos="1603240" algn="l"/>
              </a:tabLst>
            </a:pPr>
            <a:r>
              <a:rPr sz="3006" spc="85" dirty="0">
                <a:latin typeface="Arial MT"/>
                <a:cs typeface="Arial MT"/>
              </a:rPr>
              <a:t>1</a:t>
            </a:r>
            <a:r>
              <a:rPr sz="3006" spc="85" dirty="0">
                <a:latin typeface="Symbol"/>
                <a:cs typeface="Symbol"/>
              </a:rPr>
              <a:t></a:t>
            </a:r>
            <a:r>
              <a:rPr sz="3006" spc="-155" dirty="0">
                <a:latin typeface="Times New Roman"/>
                <a:cs typeface="Times New Roman"/>
              </a:rPr>
              <a:t> </a:t>
            </a:r>
            <a:r>
              <a:rPr sz="4108" spc="-561" dirty="0">
                <a:latin typeface="Symbol"/>
                <a:cs typeface="Symbol"/>
              </a:rPr>
              <a:t></a:t>
            </a:r>
            <a:r>
              <a:rPr sz="3106" i="1" spc="-561" dirty="0">
                <a:latin typeface="Verdana"/>
                <a:cs typeface="Verdana"/>
              </a:rPr>
              <a:t>ω</a:t>
            </a:r>
            <a:r>
              <a:rPr sz="3106" i="1" spc="-481" dirty="0">
                <a:latin typeface="Verdana"/>
                <a:cs typeface="Verdana"/>
              </a:rPr>
              <a:t> </a:t>
            </a:r>
            <a:r>
              <a:rPr sz="3006" dirty="0">
                <a:latin typeface="Arial MT"/>
                <a:cs typeface="Arial MT"/>
              </a:rPr>
              <a:t>/</a:t>
            </a:r>
            <a:r>
              <a:rPr sz="3006" spc="-501" dirty="0">
                <a:latin typeface="Arial MT"/>
                <a:cs typeface="Arial MT"/>
              </a:rPr>
              <a:t> </a:t>
            </a:r>
            <a:r>
              <a:rPr sz="3106" i="1" spc="-506" dirty="0">
                <a:latin typeface="Verdana"/>
                <a:cs typeface="Verdana"/>
              </a:rPr>
              <a:t>ω</a:t>
            </a:r>
            <a:r>
              <a:rPr sz="3106" i="1" dirty="0">
                <a:latin typeface="Verdana"/>
                <a:cs typeface="Verdana"/>
              </a:rPr>
              <a:t>	</a:t>
            </a:r>
            <a:r>
              <a:rPr sz="4108" spc="-566" dirty="0">
                <a:latin typeface="Symbol"/>
                <a:cs typeface="Symbol"/>
              </a:rPr>
              <a:t></a:t>
            </a:r>
            <a:endParaRPr sz="4108">
              <a:latin typeface="Symbol"/>
              <a:cs typeface="Symbol"/>
            </a:endParaRPr>
          </a:p>
        </p:txBody>
      </p:sp>
      <p:sp>
        <p:nvSpPr>
          <p:cNvPr id="18" name="object 18"/>
          <p:cNvSpPr txBox="1"/>
          <p:nvPr/>
        </p:nvSpPr>
        <p:spPr>
          <a:xfrm>
            <a:off x="1853709" y="1569263"/>
            <a:ext cx="4550582" cy="505125"/>
          </a:xfrm>
          <a:prstGeom prst="rect">
            <a:avLst/>
          </a:prstGeom>
        </p:spPr>
        <p:txBody>
          <a:bodyPr vert="horz" wrap="square" lIns="0" tIns="17177" rIns="0" bIns="0" rtlCol="0">
            <a:spAutoFit/>
          </a:bodyPr>
          <a:lstStyle/>
          <a:p>
            <a:pPr marL="38172">
              <a:spcBef>
                <a:spcPts val="135"/>
              </a:spcBef>
              <a:tabLst>
                <a:tab pos="2490112" algn="l"/>
                <a:tab pos="3663913" algn="l"/>
              </a:tabLst>
            </a:pPr>
            <a:r>
              <a:rPr sz="3006" i="1" spc="90" dirty="0">
                <a:latin typeface="Arial"/>
                <a:cs typeface="Arial"/>
              </a:rPr>
              <a:t>H</a:t>
            </a:r>
            <a:r>
              <a:rPr sz="3006" spc="90" dirty="0">
                <a:latin typeface="Arial MT"/>
                <a:cs typeface="Arial MT"/>
              </a:rPr>
              <a:t>(</a:t>
            </a:r>
            <a:r>
              <a:rPr sz="3006" spc="-200" dirty="0">
                <a:latin typeface="Arial MT"/>
                <a:cs typeface="Arial MT"/>
              </a:rPr>
              <a:t> </a:t>
            </a:r>
            <a:r>
              <a:rPr sz="3006" i="1" dirty="0">
                <a:latin typeface="Arial"/>
                <a:cs typeface="Arial"/>
              </a:rPr>
              <a:t>j</a:t>
            </a:r>
            <a:r>
              <a:rPr sz="3106" i="1" dirty="0">
                <a:latin typeface="Verdana"/>
                <a:cs typeface="Verdana"/>
              </a:rPr>
              <a:t>ω</a:t>
            </a:r>
            <a:r>
              <a:rPr sz="3006" dirty="0">
                <a:latin typeface="Arial MT"/>
                <a:cs typeface="Arial MT"/>
              </a:rPr>
              <a:t>)</a:t>
            </a:r>
            <a:r>
              <a:rPr sz="3006" spc="441" dirty="0">
                <a:latin typeface="Arial MT"/>
                <a:cs typeface="Arial MT"/>
              </a:rPr>
              <a:t> </a:t>
            </a:r>
            <a:r>
              <a:rPr sz="3006" dirty="0">
                <a:latin typeface="Symbol"/>
                <a:cs typeface="Symbol"/>
              </a:rPr>
              <a:t></a:t>
            </a:r>
            <a:r>
              <a:rPr sz="3006" dirty="0">
                <a:latin typeface="Times New Roman"/>
                <a:cs typeface="Times New Roman"/>
              </a:rPr>
              <a:t> </a:t>
            </a:r>
            <a:r>
              <a:rPr sz="4509" u="sng" baseline="35185" dirty="0">
                <a:uFill>
                  <a:solidFill>
                    <a:srgbClr val="000000"/>
                  </a:solidFill>
                </a:uFill>
                <a:latin typeface="Arial MT"/>
                <a:cs typeface="Arial MT"/>
              </a:rPr>
              <a:t>	</a:t>
            </a:r>
            <a:r>
              <a:rPr sz="4509" u="sng" spc="-75" baseline="35185" dirty="0">
                <a:uFill>
                  <a:solidFill>
                    <a:srgbClr val="000000"/>
                  </a:solidFill>
                </a:uFill>
                <a:latin typeface="Arial MT"/>
                <a:cs typeface="Arial MT"/>
              </a:rPr>
              <a:t>1</a:t>
            </a:r>
            <a:r>
              <a:rPr sz="4509" u="sng" baseline="35185" dirty="0">
                <a:uFill>
                  <a:solidFill>
                    <a:srgbClr val="000000"/>
                  </a:solidFill>
                </a:uFill>
                <a:latin typeface="Arial MT"/>
                <a:cs typeface="Arial MT"/>
              </a:rPr>
              <a:t>	</a:t>
            </a:r>
            <a:r>
              <a:rPr sz="4509" baseline="35185" dirty="0">
                <a:latin typeface="Arial MT"/>
                <a:cs typeface="Arial MT"/>
              </a:rPr>
              <a:t> </a:t>
            </a:r>
            <a:r>
              <a:rPr sz="3006" dirty="0">
                <a:latin typeface="Symbol"/>
                <a:cs typeface="Symbol"/>
              </a:rPr>
              <a:t></a:t>
            </a:r>
            <a:r>
              <a:rPr sz="3006" dirty="0">
                <a:latin typeface="Times New Roman"/>
                <a:cs typeface="Times New Roman"/>
              </a:rPr>
              <a:t> </a:t>
            </a:r>
            <a:r>
              <a:rPr sz="3006" i="1" dirty="0">
                <a:latin typeface="Arial"/>
                <a:cs typeface="Arial"/>
              </a:rPr>
              <a:t>H</a:t>
            </a:r>
            <a:endParaRPr sz="3006">
              <a:latin typeface="Arial"/>
              <a:cs typeface="Arial"/>
            </a:endParaRPr>
          </a:p>
        </p:txBody>
      </p:sp>
      <p:sp>
        <p:nvSpPr>
          <p:cNvPr id="19" name="object 19"/>
          <p:cNvSpPr txBox="1"/>
          <p:nvPr/>
        </p:nvSpPr>
        <p:spPr>
          <a:xfrm>
            <a:off x="6580768" y="4074255"/>
            <a:ext cx="3665658" cy="1112039"/>
          </a:xfrm>
          <a:prstGeom prst="rect">
            <a:avLst/>
          </a:prstGeom>
        </p:spPr>
        <p:txBody>
          <a:bodyPr vert="horz" wrap="square" lIns="0" tIns="17177" rIns="0" bIns="0" rtlCol="0">
            <a:spAutoFit/>
          </a:bodyPr>
          <a:lstStyle/>
          <a:p>
            <a:pPr marL="98612">
              <a:lnSpc>
                <a:spcPts val="3597"/>
              </a:lnSpc>
              <a:spcBef>
                <a:spcPts val="135"/>
              </a:spcBef>
            </a:pPr>
            <a:r>
              <a:rPr sz="3006" dirty="0">
                <a:latin typeface="Symbol"/>
                <a:cs typeface="Symbol"/>
              </a:rPr>
              <a:t></a:t>
            </a:r>
            <a:r>
              <a:rPr sz="3006" spc="20" dirty="0">
                <a:latin typeface="Times New Roman"/>
                <a:cs typeface="Times New Roman"/>
              </a:rPr>
              <a:t> </a:t>
            </a:r>
            <a:r>
              <a:rPr sz="3006" spc="-20" dirty="0">
                <a:latin typeface="Symbol"/>
                <a:cs typeface="Symbol"/>
              </a:rPr>
              <a:t></a:t>
            </a:r>
            <a:r>
              <a:rPr sz="3006" spc="-20" dirty="0">
                <a:latin typeface="Arial MT"/>
                <a:cs typeface="Arial MT"/>
              </a:rPr>
              <a:t>3</a:t>
            </a:r>
            <a:r>
              <a:rPr sz="3006" i="1" spc="-20" dirty="0">
                <a:latin typeface="Arial"/>
                <a:cs typeface="Arial"/>
              </a:rPr>
              <a:t>dB</a:t>
            </a:r>
            <a:endParaRPr sz="3006">
              <a:latin typeface="Arial"/>
              <a:cs typeface="Arial"/>
            </a:endParaRPr>
          </a:p>
          <a:p>
            <a:pPr marL="38172">
              <a:lnSpc>
                <a:spcPts val="4919"/>
              </a:lnSpc>
            </a:pPr>
            <a:r>
              <a:rPr sz="3006" dirty="0">
                <a:latin typeface="Symbol"/>
                <a:cs typeface="Symbol"/>
              </a:rPr>
              <a:t></a:t>
            </a:r>
            <a:r>
              <a:rPr sz="3006" spc="55" dirty="0">
                <a:latin typeface="Times New Roman"/>
                <a:cs typeface="Times New Roman"/>
              </a:rPr>
              <a:t> </a:t>
            </a:r>
            <a:r>
              <a:rPr sz="3006" dirty="0">
                <a:latin typeface="Arial MT"/>
                <a:cs typeface="Arial MT"/>
              </a:rPr>
              <a:t>20log(</a:t>
            </a:r>
            <a:r>
              <a:rPr sz="3006" i="1" dirty="0">
                <a:latin typeface="Arial"/>
                <a:cs typeface="Arial"/>
              </a:rPr>
              <a:t>f</a:t>
            </a:r>
            <a:r>
              <a:rPr sz="2630" i="1" baseline="-23809" dirty="0">
                <a:latin typeface="Arial"/>
                <a:cs typeface="Arial"/>
              </a:rPr>
              <a:t>C</a:t>
            </a:r>
            <a:r>
              <a:rPr sz="2630" i="1" spc="52" baseline="-23809" dirty="0">
                <a:latin typeface="Arial"/>
                <a:cs typeface="Arial"/>
              </a:rPr>
              <a:t> </a:t>
            </a:r>
            <a:r>
              <a:rPr sz="3006" dirty="0">
                <a:latin typeface="Arial MT"/>
                <a:cs typeface="Arial MT"/>
              </a:rPr>
              <a:t>)</a:t>
            </a:r>
            <a:r>
              <a:rPr sz="3006" spc="-281" dirty="0">
                <a:latin typeface="Arial MT"/>
                <a:cs typeface="Arial MT"/>
              </a:rPr>
              <a:t> </a:t>
            </a:r>
            <a:r>
              <a:rPr sz="3006" dirty="0">
                <a:latin typeface="Symbol"/>
                <a:cs typeface="Symbol"/>
              </a:rPr>
              <a:t></a:t>
            </a:r>
            <a:r>
              <a:rPr sz="3006" spc="-120" dirty="0">
                <a:latin typeface="Times New Roman"/>
                <a:cs typeface="Times New Roman"/>
              </a:rPr>
              <a:t> </a:t>
            </a:r>
            <a:r>
              <a:rPr sz="3006" spc="-55" dirty="0">
                <a:latin typeface="Arial MT"/>
                <a:cs typeface="Arial MT"/>
              </a:rPr>
              <a:t>20log</a:t>
            </a:r>
            <a:r>
              <a:rPr sz="4108" spc="-55" dirty="0">
                <a:latin typeface="Symbol"/>
                <a:cs typeface="Symbol"/>
              </a:rPr>
              <a:t></a:t>
            </a:r>
            <a:r>
              <a:rPr sz="3006" i="1" spc="-55" dirty="0">
                <a:latin typeface="Arial"/>
                <a:cs typeface="Arial"/>
              </a:rPr>
              <a:t>f</a:t>
            </a:r>
            <a:r>
              <a:rPr sz="3006" i="1" spc="-150" dirty="0">
                <a:latin typeface="Arial"/>
                <a:cs typeface="Arial"/>
              </a:rPr>
              <a:t> </a:t>
            </a:r>
            <a:r>
              <a:rPr sz="4108" spc="-435" dirty="0">
                <a:latin typeface="Symbol"/>
                <a:cs typeface="Symbol"/>
              </a:rPr>
              <a:t></a:t>
            </a:r>
            <a:endParaRPr sz="4108">
              <a:latin typeface="Symbol"/>
              <a:cs typeface="Symbol"/>
            </a:endParaRPr>
          </a:p>
        </p:txBody>
      </p:sp>
      <p:sp>
        <p:nvSpPr>
          <p:cNvPr id="20" name="object 20"/>
          <p:cNvSpPr txBox="1"/>
          <p:nvPr/>
        </p:nvSpPr>
        <p:spPr>
          <a:xfrm>
            <a:off x="2262900" y="3942132"/>
            <a:ext cx="4306290" cy="1216373"/>
          </a:xfrm>
          <a:prstGeom prst="rect">
            <a:avLst/>
          </a:prstGeom>
        </p:spPr>
        <p:txBody>
          <a:bodyPr vert="horz" wrap="square" lIns="0" tIns="11451" rIns="0" bIns="0" rtlCol="0">
            <a:spAutoFit/>
          </a:bodyPr>
          <a:lstStyle/>
          <a:p>
            <a:pPr marL="38172" marR="30538">
              <a:lnSpc>
                <a:spcPct val="130000"/>
              </a:lnSpc>
              <a:spcBef>
                <a:spcPts val="90"/>
              </a:spcBef>
              <a:tabLst>
                <a:tab pos="309833" algn="l"/>
                <a:tab pos="1002661" algn="l"/>
                <a:tab pos="1213246" algn="l"/>
              </a:tabLst>
            </a:pPr>
            <a:r>
              <a:rPr sz="3006" i="1" spc="-50" dirty="0">
                <a:latin typeface="Arial"/>
                <a:cs typeface="Arial"/>
              </a:rPr>
              <a:t>f</a:t>
            </a:r>
            <a:r>
              <a:rPr sz="3006" i="1" dirty="0">
                <a:latin typeface="Arial"/>
                <a:cs typeface="Arial"/>
              </a:rPr>
              <a:t>	</a:t>
            </a:r>
            <a:r>
              <a:rPr sz="3006" dirty="0">
                <a:latin typeface="Symbol"/>
                <a:cs typeface="Symbol"/>
              </a:rPr>
              <a:t></a:t>
            </a:r>
            <a:r>
              <a:rPr sz="3006" spc="-65" dirty="0">
                <a:latin typeface="Times New Roman"/>
                <a:cs typeface="Times New Roman"/>
              </a:rPr>
              <a:t> </a:t>
            </a:r>
            <a:r>
              <a:rPr sz="3006" i="1" spc="-25" dirty="0">
                <a:latin typeface="Arial"/>
                <a:cs typeface="Arial"/>
              </a:rPr>
              <a:t>f</a:t>
            </a:r>
            <a:r>
              <a:rPr sz="2630" i="1" spc="-37" baseline="-23809" dirty="0">
                <a:latin typeface="Arial"/>
                <a:cs typeface="Arial"/>
              </a:rPr>
              <a:t>C</a:t>
            </a:r>
            <a:r>
              <a:rPr sz="2630" i="1" baseline="-23809" dirty="0">
                <a:latin typeface="Arial"/>
                <a:cs typeface="Arial"/>
              </a:rPr>
              <a:t>	</a:t>
            </a:r>
            <a:r>
              <a:rPr sz="3006" dirty="0">
                <a:latin typeface="Symbol"/>
                <a:cs typeface="Symbol"/>
              </a:rPr>
              <a:t></a:t>
            </a:r>
            <a:r>
              <a:rPr sz="3006" spc="-55" dirty="0">
                <a:latin typeface="Times New Roman"/>
                <a:cs typeface="Times New Roman"/>
              </a:rPr>
              <a:t> </a:t>
            </a:r>
            <a:r>
              <a:rPr sz="3006" i="1" dirty="0">
                <a:latin typeface="Arial"/>
                <a:cs typeface="Arial"/>
              </a:rPr>
              <a:t>H</a:t>
            </a:r>
            <a:r>
              <a:rPr sz="3006" i="1" spc="229" dirty="0">
                <a:latin typeface="Arial"/>
                <a:cs typeface="Arial"/>
              </a:rPr>
              <a:t> </a:t>
            </a:r>
            <a:r>
              <a:rPr sz="3006" dirty="0">
                <a:latin typeface="Symbol"/>
                <a:cs typeface="Symbol"/>
              </a:rPr>
              <a:t></a:t>
            </a:r>
            <a:r>
              <a:rPr sz="3006" spc="-40" dirty="0">
                <a:latin typeface="Times New Roman"/>
                <a:cs typeface="Times New Roman"/>
              </a:rPr>
              <a:t> </a:t>
            </a:r>
            <a:r>
              <a:rPr sz="3006" dirty="0">
                <a:latin typeface="Arial MT"/>
                <a:cs typeface="Arial MT"/>
              </a:rPr>
              <a:t>0.707</a:t>
            </a:r>
            <a:r>
              <a:rPr sz="3006" spc="-100" dirty="0">
                <a:latin typeface="Arial MT"/>
                <a:cs typeface="Arial MT"/>
              </a:rPr>
              <a:t> </a:t>
            </a:r>
            <a:r>
              <a:rPr sz="3006" dirty="0">
                <a:latin typeface="Symbol"/>
                <a:cs typeface="Symbol"/>
              </a:rPr>
              <a:t></a:t>
            </a:r>
            <a:r>
              <a:rPr sz="3006" spc="-50" dirty="0">
                <a:latin typeface="Times New Roman"/>
                <a:cs typeface="Times New Roman"/>
              </a:rPr>
              <a:t> </a:t>
            </a:r>
            <a:r>
              <a:rPr sz="3006" i="1" spc="-25" dirty="0">
                <a:latin typeface="Arial"/>
                <a:cs typeface="Arial"/>
              </a:rPr>
              <a:t>H</a:t>
            </a:r>
            <a:r>
              <a:rPr sz="2630" i="1" spc="-37" baseline="-23809" dirty="0">
                <a:latin typeface="Arial"/>
                <a:cs typeface="Arial"/>
              </a:rPr>
              <a:t>dB </a:t>
            </a:r>
            <a:r>
              <a:rPr sz="3006" i="1" spc="-50" dirty="0">
                <a:latin typeface="Arial"/>
                <a:cs typeface="Arial"/>
              </a:rPr>
              <a:t>f</a:t>
            </a:r>
            <a:r>
              <a:rPr sz="3006" i="1" dirty="0">
                <a:latin typeface="Arial"/>
                <a:cs typeface="Arial"/>
              </a:rPr>
              <a:t>	</a:t>
            </a:r>
            <a:r>
              <a:rPr sz="3006" dirty="0">
                <a:latin typeface="Symbol"/>
                <a:cs typeface="Symbol"/>
              </a:rPr>
              <a:t></a:t>
            </a:r>
            <a:r>
              <a:rPr sz="3006" spc="-85" dirty="0">
                <a:latin typeface="Times New Roman"/>
                <a:cs typeface="Times New Roman"/>
              </a:rPr>
              <a:t> </a:t>
            </a:r>
            <a:r>
              <a:rPr sz="3006" i="1" spc="-25" dirty="0">
                <a:latin typeface="Arial"/>
                <a:cs typeface="Arial"/>
              </a:rPr>
              <a:t>f</a:t>
            </a:r>
            <a:r>
              <a:rPr sz="2630" i="1" spc="-37" baseline="-23809" dirty="0">
                <a:latin typeface="Arial"/>
                <a:cs typeface="Arial"/>
              </a:rPr>
              <a:t>C</a:t>
            </a:r>
            <a:r>
              <a:rPr sz="2630" i="1" baseline="-23809" dirty="0">
                <a:latin typeface="Arial"/>
                <a:cs typeface="Arial"/>
              </a:rPr>
              <a:t>	</a:t>
            </a:r>
            <a:r>
              <a:rPr sz="3006" dirty="0">
                <a:latin typeface="Symbol"/>
                <a:cs typeface="Symbol"/>
              </a:rPr>
              <a:t></a:t>
            </a:r>
            <a:r>
              <a:rPr sz="3006" spc="-80" dirty="0">
                <a:latin typeface="Times New Roman"/>
                <a:cs typeface="Times New Roman"/>
              </a:rPr>
              <a:t> </a:t>
            </a:r>
            <a:r>
              <a:rPr sz="3006" i="1" dirty="0">
                <a:latin typeface="Arial"/>
                <a:cs typeface="Arial"/>
              </a:rPr>
              <a:t>H</a:t>
            </a:r>
            <a:r>
              <a:rPr sz="3006" i="1" spc="190" dirty="0">
                <a:latin typeface="Arial"/>
                <a:cs typeface="Arial"/>
              </a:rPr>
              <a:t> </a:t>
            </a:r>
            <a:r>
              <a:rPr sz="3006" dirty="0">
                <a:latin typeface="Symbol"/>
                <a:cs typeface="Symbol"/>
              </a:rPr>
              <a:t></a:t>
            </a:r>
            <a:r>
              <a:rPr sz="3006" spc="-65" dirty="0">
                <a:latin typeface="Times New Roman"/>
                <a:cs typeface="Times New Roman"/>
              </a:rPr>
              <a:t> </a:t>
            </a:r>
            <a:r>
              <a:rPr sz="3006" i="1" dirty="0">
                <a:latin typeface="Arial"/>
                <a:cs typeface="Arial"/>
              </a:rPr>
              <a:t>f</a:t>
            </a:r>
            <a:r>
              <a:rPr sz="2630" i="1" baseline="-23809" dirty="0">
                <a:latin typeface="Arial"/>
                <a:cs typeface="Arial"/>
              </a:rPr>
              <a:t>C</a:t>
            </a:r>
            <a:r>
              <a:rPr sz="2630" i="1" spc="556" baseline="-23809" dirty="0">
                <a:latin typeface="Arial"/>
                <a:cs typeface="Arial"/>
              </a:rPr>
              <a:t> </a:t>
            </a:r>
            <a:r>
              <a:rPr sz="3006" dirty="0">
                <a:latin typeface="Arial MT"/>
                <a:cs typeface="Arial MT"/>
              </a:rPr>
              <a:t>/</a:t>
            </a:r>
            <a:r>
              <a:rPr sz="3006" spc="-406" dirty="0">
                <a:latin typeface="Arial MT"/>
                <a:cs typeface="Arial MT"/>
              </a:rPr>
              <a:t> </a:t>
            </a:r>
            <a:r>
              <a:rPr sz="3006" i="1" dirty="0">
                <a:latin typeface="Arial"/>
                <a:cs typeface="Arial"/>
              </a:rPr>
              <a:t>f</a:t>
            </a:r>
            <a:r>
              <a:rPr sz="3006" i="1" spc="331" dirty="0">
                <a:latin typeface="Arial"/>
                <a:cs typeface="Arial"/>
              </a:rPr>
              <a:t> </a:t>
            </a:r>
            <a:r>
              <a:rPr sz="3006" dirty="0">
                <a:latin typeface="Symbol"/>
                <a:cs typeface="Symbol"/>
              </a:rPr>
              <a:t></a:t>
            </a:r>
            <a:r>
              <a:rPr sz="3006" spc="-75" dirty="0">
                <a:latin typeface="Times New Roman"/>
                <a:cs typeface="Times New Roman"/>
              </a:rPr>
              <a:t> </a:t>
            </a:r>
            <a:r>
              <a:rPr sz="3006" i="1" spc="-25" dirty="0">
                <a:latin typeface="Arial"/>
                <a:cs typeface="Arial"/>
              </a:rPr>
              <a:t>H</a:t>
            </a:r>
            <a:r>
              <a:rPr sz="2630" i="1" spc="-37" baseline="-23809" dirty="0">
                <a:latin typeface="Arial"/>
                <a:cs typeface="Arial"/>
              </a:rPr>
              <a:t>dB</a:t>
            </a:r>
            <a:endParaRPr sz="2630" baseline="-23809">
              <a:latin typeface="Arial"/>
              <a:cs typeface="Arial"/>
            </a:endParaRPr>
          </a:p>
        </p:txBody>
      </p:sp>
      <p:sp>
        <p:nvSpPr>
          <p:cNvPr id="21" name="object 21"/>
          <p:cNvSpPr txBox="1"/>
          <p:nvPr/>
        </p:nvSpPr>
        <p:spPr>
          <a:xfrm>
            <a:off x="2262900" y="3481846"/>
            <a:ext cx="4807598" cy="489221"/>
          </a:xfrm>
          <a:prstGeom prst="rect">
            <a:avLst/>
          </a:prstGeom>
        </p:spPr>
        <p:txBody>
          <a:bodyPr vert="horz" wrap="square" lIns="0" tIns="17177" rIns="0" bIns="0" rtlCol="0">
            <a:spAutoFit/>
          </a:bodyPr>
          <a:lstStyle/>
          <a:p>
            <a:pPr marL="38172">
              <a:spcBef>
                <a:spcPts val="135"/>
              </a:spcBef>
              <a:tabLst>
                <a:tab pos="1207520" algn="l"/>
                <a:tab pos="3787974" algn="l"/>
              </a:tabLst>
            </a:pPr>
            <a:r>
              <a:rPr sz="3006" i="1" dirty="0">
                <a:latin typeface="Arial"/>
                <a:cs typeface="Arial"/>
              </a:rPr>
              <a:t>f</a:t>
            </a:r>
            <a:r>
              <a:rPr sz="3006" i="1" spc="401" dirty="0">
                <a:latin typeface="Arial"/>
                <a:cs typeface="Arial"/>
              </a:rPr>
              <a:t> </a:t>
            </a:r>
            <a:r>
              <a:rPr sz="3006" dirty="0">
                <a:latin typeface="Symbol"/>
                <a:cs typeface="Symbol"/>
              </a:rPr>
              <a:t></a:t>
            </a:r>
            <a:r>
              <a:rPr sz="3006" spc="-65" dirty="0">
                <a:latin typeface="Times New Roman"/>
                <a:cs typeface="Times New Roman"/>
              </a:rPr>
              <a:t> </a:t>
            </a:r>
            <a:r>
              <a:rPr sz="3006" i="1" spc="-25" dirty="0">
                <a:latin typeface="Arial"/>
                <a:cs typeface="Arial"/>
              </a:rPr>
              <a:t>f</a:t>
            </a:r>
            <a:r>
              <a:rPr sz="2630" i="1" spc="-37" baseline="-23809" dirty="0">
                <a:latin typeface="Arial"/>
                <a:cs typeface="Arial"/>
              </a:rPr>
              <a:t>C</a:t>
            </a:r>
            <a:r>
              <a:rPr sz="2630" i="1" baseline="-23809" dirty="0">
                <a:latin typeface="Arial"/>
                <a:cs typeface="Arial"/>
              </a:rPr>
              <a:t>	</a:t>
            </a:r>
            <a:r>
              <a:rPr sz="3006" dirty="0">
                <a:latin typeface="Symbol"/>
                <a:cs typeface="Symbol"/>
              </a:rPr>
              <a:t></a:t>
            </a:r>
            <a:r>
              <a:rPr sz="3006" spc="-65" dirty="0">
                <a:latin typeface="Times New Roman"/>
                <a:cs typeface="Times New Roman"/>
              </a:rPr>
              <a:t> </a:t>
            </a:r>
            <a:r>
              <a:rPr sz="3006" i="1" dirty="0">
                <a:latin typeface="Arial"/>
                <a:cs typeface="Arial"/>
              </a:rPr>
              <a:t>H</a:t>
            </a:r>
            <a:r>
              <a:rPr sz="3006" i="1" spc="210" dirty="0">
                <a:latin typeface="Arial"/>
                <a:cs typeface="Arial"/>
              </a:rPr>
              <a:t> </a:t>
            </a:r>
            <a:r>
              <a:rPr sz="3006" dirty="0">
                <a:latin typeface="Symbol"/>
                <a:cs typeface="Symbol"/>
              </a:rPr>
              <a:t></a:t>
            </a:r>
            <a:r>
              <a:rPr sz="3006" spc="-250" dirty="0">
                <a:latin typeface="Times New Roman"/>
                <a:cs typeface="Times New Roman"/>
              </a:rPr>
              <a:t> </a:t>
            </a:r>
            <a:r>
              <a:rPr sz="3006" spc="150" dirty="0">
                <a:latin typeface="Arial MT"/>
                <a:cs typeface="Arial MT"/>
              </a:rPr>
              <a:t>1</a:t>
            </a:r>
            <a:r>
              <a:rPr sz="3006" spc="150" dirty="0">
                <a:latin typeface="Symbol"/>
                <a:cs typeface="Symbol"/>
              </a:rPr>
              <a:t></a:t>
            </a:r>
            <a:r>
              <a:rPr sz="3006" spc="-65" dirty="0">
                <a:latin typeface="Times New Roman"/>
                <a:cs typeface="Times New Roman"/>
              </a:rPr>
              <a:t> </a:t>
            </a:r>
            <a:r>
              <a:rPr sz="3006" i="1" spc="-25" dirty="0">
                <a:latin typeface="Arial"/>
                <a:cs typeface="Arial"/>
              </a:rPr>
              <a:t>H</a:t>
            </a:r>
            <a:r>
              <a:rPr sz="2630" i="1" spc="-37" baseline="-23809" dirty="0">
                <a:latin typeface="Arial"/>
                <a:cs typeface="Arial"/>
              </a:rPr>
              <a:t>dB</a:t>
            </a:r>
            <a:r>
              <a:rPr sz="2630" i="1" baseline="-23809" dirty="0">
                <a:latin typeface="Arial"/>
                <a:cs typeface="Arial"/>
              </a:rPr>
              <a:t>	</a:t>
            </a:r>
            <a:r>
              <a:rPr sz="3006" dirty="0">
                <a:latin typeface="Symbol"/>
                <a:cs typeface="Symbol"/>
              </a:rPr>
              <a:t></a:t>
            </a:r>
            <a:r>
              <a:rPr sz="3006" spc="-65" dirty="0">
                <a:latin typeface="Times New Roman"/>
                <a:cs typeface="Times New Roman"/>
              </a:rPr>
              <a:t> </a:t>
            </a:r>
            <a:r>
              <a:rPr sz="3006" spc="-25" dirty="0">
                <a:latin typeface="Arial MT"/>
                <a:cs typeface="Arial MT"/>
              </a:rPr>
              <a:t>0</a:t>
            </a:r>
            <a:r>
              <a:rPr sz="3006" i="1" spc="-25" dirty="0">
                <a:latin typeface="Arial"/>
                <a:cs typeface="Arial"/>
              </a:rPr>
              <a:t>dB</a:t>
            </a:r>
            <a:endParaRPr sz="3006">
              <a:latin typeface="Arial"/>
              <a:cs typeface="Arial"/>
            </a:endParaRPr>
          </a:p>
        </p:txBody>
      </p:sp>
      <p:sp>
        <p:nvSpPr>
          <p:cNvPr id="22" name="object 22"/>
          <p:cNvSpPr/>
          <p:nvPr/>
        </p:nvSpPr>
        <p:spPr>
          <a:xfrm>
            <a:off x="2583916" y="6128749"/>
            <a:ext cx="392522" cy="0"/>
          </a:xfrm>
          <a:custGeom>
            <a:avLst/>
            <a:gdLst/>
            <a:ahLst/>
            <a:cxnLst/>
            <a:rect l="l" t="t" r="r" b="b"/>
            <a:pathLst>
              <a:path w="391794">
                <a:moveTo>
                  <a:pt x="0" y="0"/>
                </a:moveTo>
                <a:lnTo>
                  <a:pt x="391477" y="0"/>
                </a:lnTo>
              </a:path>
            </a:pathLst>
          </a:custGeom>
          <a:ln w="12655">
            <a:solidFill>
              <a:srgbClr val="000000"/>
            </a:solidFill>
          </a:ln>
        </p:spPr>
        <p:txBody>
          <a:bodyPr wrap="square" lIns="0" tIns="0" rIns="0" bIns="0" rtlCol="0"/>
          <a:lstStyle/>
          <a:p>
            <a:endParaRPr sz="1803"/>
          </a:p>
        </p:txBody>
      </p:sp>
      <p:sp>
        <p:nvSpPr>
          <p:cNvPr id="23" name="object 23"/>
          <p:cNvSpPr txBox="1"/>
          <p:nvPr/>
        </p:nvSpPr>
        <p:spPr>
          <a:xfrm>
            <a:off x="2587605" y="6114254"/>
            <a:ext cx="346081" cy="404609"/>
          </a:xfrm>
          <a:prstGeom prst="rect">
            <a:avLst/>
          </a:prstGeom>
        </p:spPr>
        <p:txBody>
          <a:bodyPr vert="horz" wrap="square" lIns="0" tIns="16541" rIns="0" bIns="0" rtlCol="0">
            <a:spAutoFit/>
          </a:bodyPr>
          <a:lstStyle/>
          <a:p>
            <a:pPr marL="12724">
              <a:spcBef>
                <a:spcPts val="130"/>
              </a:spcBef>
            </a:pPr>
            <a:r>
              <a:rPr sz="2405" spc="-165" dirty="0">
                <a:latin typeface="Arial MT"/>
                <a:cs typeface="Arial MT"/>
              </a:rPr>
              <a:t>2</a:t>
            </a:r>
            <a:r>
              <a:rPr sz="2455" i="1" spc="-165" dirty="0">
                <a:latin typeface="Verdana"/>
                <a:cs typeface="Verdana"/>
              </a:rPr>
              <a:t>π</a:t>
            </a:r>
            <a:endParaRPr sz="2455">
              <a:latin typeface="Verdana"/>
              <a:cs typeface="Verdana"/>
            </a:endParaRPr>
          </a:p>
        </p:txBody>
      </p:sp>
      <p:sp>
        <p:nvSpPr>
          <p:cNvPr id="28" name="object 28"/>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25</a:t>
            </a:r>
          </a:p>
        </p:txBody>
      </p:sp>
      <p:sp>
        <p:nvSpPr>
          <p:cNvPr id="24" name="object 24"/>
          <p:cNvSpPr txBox="1"/>
          <p:nvPr/>
        </p:nvSpPr>
        <p:spPr>
          <a:xfrm>
            <a:off x="2293436" y="5683688"/>
            <a:ext cx="648265" cy="404609"/>
          </a:xfrm>
          <a:prstGeom prst="rect">
            <a:avLst/>
          </a:prstGeom>
        </p:spPr>
        <p:txBody>
          <a:bodyPr vert="horz" wrap="square" lIns="0" tIns="16541" rIns="0" bIns="0" rtlCol="0">
            <a:spAutoFit/>
          </a:bodyPr>
          <a:lstStyle/>
          <a:p>
            <a:pPr marL="38172">
              <a:spcBef>
                <a:spcPts val="130"/>
              </a:spcBef>
            </a:pPr>
            <a:r>
              <a:rPr sz="3607" baseline="-34722" dirty="0">
                <a:latin typeface="Symbol"/>
                <a:cs typeface="Symbol"/>
              </a:rPr>
              <a:t></a:t>
            </a:r>
            <a:r>
              <a:rPr sz="3607" spc="331" baseline="-34722" dirty="0">
                <a:latin typeface="Times New Roman"/>
                <a:cs typeface="Times New Roman"/>
              </a:rPr>
              <a:t> </a:t>
            </a:r>
            <a:r>
              <a:rPr sz="2455" i="1" spc="-45" dirty="0">
                <a:latin typeface="Verdana"/>
                <a:cs typeface="Verdana"/>
              </a:rPr>
              <a:t>ω</a:t>
            </a:r>
            <a:r>
              <a:rPr sz="2104" i="1" spc="-67" baseline="-23809" dirty="0">
                <a:latin typeface="Arial"/>
                <a:cs typeface="Arial"/>
              </a:rPr>
              <a:t>c</a:t>
            </a:r>
            <a:endParaRPr sz="2104" baseline="-23809">
              <a:latin typeface="Arial"/>
              <a:cs typeface="Arial"/>
            </a:endParaRPr>
          </a:p>
        </p:txBody>
      </p:sp>
      <p:sp>
        <p:nvSpPr>
          <p:cNvPr id="25" name="object 25"/>
          <p:cNvSpPr txBox="1"/>
          <p:nvPr/>
        </p:nvSpPr>
        <p:spPr>
          <a:xfrm>
            <a:off x="2071537" y="6090236"/>
            <a:ext cx="153955" cy="228499"/>
          </a:xfrm>
          <a:prstGeom prst="rect">
            <a:avLst/>
          </a:prstGeom>
        </p:spPr>
        <p:txBody>
          <a:bodyPr vert="horz" wrap="square" lIns="0" tIns="12087" rIns="0" bIns="0" rtlCol="0">
            <a:spAutoFit/>
          </a:bodyPr>
          <a:lstStyle/>
          <a:p>
            <a:pPr marL="12724">
              <a:spcBef>
                <a:spcPts val="95"/>
              </a:spcBef>
            </a:pPr>
            <a:r>
              <a:rPr sz="1403" i="1" spc="-50" dirty="0">
                <a:latin typeface="Arial"/>
                <a:cs typeface="Arial"/>
              </a:rPr>
              <a:t>C</a:t>
            </a:r>
            <a:endParaRPr sz="1403">
              <a:latin typeface="Arial"/>
              <a:cs typeface="Arial"/>
            </a:endParaRPr>
          </a:p>
        </p:txBody>
      </p:sp>
      <p:sp>
        <p:nvSpPr>
          <p:cNvPr id="26" name="object 26"/>
          <p:cNvSpPr txBox="1"/>
          <p:nvPr/>
        </p:nvSpPr>
        <p:spPr>
          <a:xfrm>
            <a:off x="1998249" y="5886822"/>
            <a:ext cx="110694" cy="391886"/>
          </a:xfrm>
          <a:prstGeom prst="rect">
            <a:avLst/>
          </a:prstGeom>
        </p:spPr>
        <p:txBody>
          <a:bodyPr vert="horz" wrap="square" lIns="0" tIns="12087" rIns="0" bIns="0" rtlCol="0">
            <a:spAutoFit/>
          </a:bodyPr>
          <a:lstStyle/>
          <a:p>
            <a:pPr marL="12724">
              <a:spcBef>
                <a:spcPts val="95"/>
              </a:spcBef>
            </a:pPr>
            <a:r>
              <a:rPr sz="2405" i="1" spc="-50" dirty="0">
                <a:latin typeface="Arial"/>
                <a:cs typeface="Arial"/>
              </a:rPr>
              <a:t>f</a:t>
            </a:r>
            <a:endParaRPr sz="2405">
              <a:latin typeface="Arial"/>
              <a:cs typeface="Arial"/>
            </a:endParaRPr>
          </a:p>
        </p:txBody>
      </p:sp>
      <p:sp>
        <p:nvSpPr>
          <p:cNvPr id="29" name="TextBox 28"/>
          <p:cNvSpPr txBox="1"/>
          <p:nvPr/>
        </p:nvSpPr>
        <p:spPr>
          <a:xfrm>
            <a:off x="6034338" y="5222449"/>
            <a:ext cx="5621026" cy="1200329"/>
          </a:xfrm>
          <a:prstGeom prst="rect">
            <a:avLst/>
          </a:prstGeom>
          <a:noFill/>
        </p:spPr>
        <p:txBody>
          <a:bodyPr wrap="none" rtlCol="0">
            <a:spAutoFit/>
          </a:bodyPr>
          <a:lstStyle/>
          <a:p>
            <a:r>
              <a:rPr lang="en-US" b="1" dirty="0" smtClean="0">
                <a:solidFill>
                  <a:srgbClr val="FF0000"/>
                </a:solidFill>
              </a:rPr>
              <a:t>Sinusoidal signal at input =sinusoidal signal at the output</a:t>
            </a:r>
          </a:p>
          <a:p>
            <a:r>
              <a:rPr lang="en-US" b="1" dirty="0" smtClean="0">
                <a:solidFill>
                  <a:srgbClr val="FF0000"/>
                </a:solidFill>
              </a:rPr>
              <a:t>The frequency is same</a:t>
            </a:r>
          </a:p>
          <a:p>
            <a:r>
              <a:rPr lang="en-US" b="1" dirty="0" smtClean="0">
                <a:solidFill>
                  <a:srgbClr val="FF0000"/>
                </a:solidFill>
              </a:rPr>
              <a:t>The waveform is same</a:t>
            </a:r>
          </a:p>
          <a:p>
            <a:r>
              <a:rPr lang="en-US" b="1" dirty="0" smtClean="0">
                <a:solidFill>
                  <a:srgbClr val="FF0000"/>
                </a:solidFill>
              </a:rPr>
              <a:t>But there is change in Magnitude and phase</a:t>
            </a:r>
            <a:endParaRPr lang="en-US" b="1" dirty="0">
              <a:solidFill>
                <a:srgbClr val="FF0000"/>
              </a:solidFill>
            </a:endParaRPr>
          </a:p>
        </p:txBody>
      </p:sp>
    </p:spTree>
    <p:extLst>
      <p:ext uri="{BB962C8B-B14F-4D97-AF65-F5344CB8AC3E}">
        <p14:creationId xmlns:p14="http://schemas.microsoft.com/office/powerpoint/2010/main" val="2665734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Low Frequency Response</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25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833681" y="996197"/>
            <a:ext cx="7721997" cy="4591286"/>
          </a:xfrm>
          <a:prstGeom prst="rect">
            <a:avLst/>
          </a:prstGeom>
        </p:spPr>
      </p:pic>
    </p:spTree>
    <p:extLst>
      <p:ext uri="{BB962C8B-B14F-4D97-AF65-F5344CB8AC3E}">
        <p14:creationId xmlns:p14="http://schemas.microsoft.com/office/powerpoint/2010/main" val="4102777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Medium Frequency</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26</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594283" y="970162"/>
            <a:ext cx="7855354" cy="4572235"/>
          </a:xfrm>
          <a:prstGeom prst="rect">
            <a:avLst/>
          </a:prstGeom>
        </p:spPr>
      </p:pic>
    </p:spTree>
    <p:extLst>
      <p:ext uri="{BB962C8B-B14F-4D97-AF65-F5344CB8AC3E}">
        <p14:creationId xmlns:p14="http://schemas.microsoft.com/office/powerpoint/2010/main" val="1229424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 Frequency</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27</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765736" y="920629"/>
            <a:ext cx="7715647" cy="4711942"/>
          </a:xfrm>
          <a:prstGeom prst="rect">
            <a:avLst/>
          </a:prstGeom>
        </p:spPr>
      </p:pic>
    </p:spTree>
    <p:extLst>
      <p:ext uri="{BB962C8B-B14F-4D97-AF65-F5344CB8AC3E}">
        <p14:creationId xmlns:p14="http://schemas.microsoft.com/office/powerpoint/2010/main" val="13921006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533894">
              <a:spcBef>
                <a:spcPts val="90"/>
              </a:spcBef>
            </a:pPr>
            <a:r>
              <a:rPr dirty="0"/>
              <a:t>Bode</a:t>
            </a:r>
            <a:r>
              <a:rPr spc="-35" dirty="0"/>
              <a:t> </a:t>
            </a:r>
            <a:r>
              <a:rPr dirty="0"/>
              <a:t>plot</a:t>
            </a:r>
            <a:r>
              <a:rPr spc="-50" dirty="0"/>
              <a:t> </a:t>
            </a:r>
            <a:r>
              <a:rPr dirty="0"/>
              <a:t>-</a:t>
            </a:r>
            <a:r>
              <a:rPr spc="-30" dirty="0"/>
              <a:t> </a:t>
            </a:r>
            <a:r>
              <a:rPr spc="-10" dirty="0"/>
              <a:t>magnitude</a:t>
            </a:r>
          </a:p>
        </p:txBody>
      </p:sp>
      <p:pic>
        <p:nvPicPr>
          <p:cNvPr id="3" name="object 3"/>
          <p:cNvPicPr/>
          <p:nvPr/>
        </p:nvPicPr>
        <p:blipFill>
          <a:blip r:embed="rId2" cstate="print"/>
          <a:stretch>
            <a:fillRect/>
          </a:stretch>
        </p:blipFill>
        <p:spPr>
          <a:xfrm>
            <a:off x="1754466" y="1217900"/>
            <a:ext cx="8693756" cy="5233964"/>
          </a:xfrm>
          <a:prstGeom prst="rect">
            <a:avLst/>
          </a:prstGeom>
        </p:spPr>
      </p:pic>
      <p:sp>
        <p:nvSpPr>
          <p:cNvPr id="4" name="object 4"/>
          <p:cNvSpPr txBox="1"/>
          <p:nvPr/>
        </p:nvSpPr>
        <p:spPr>
          <a:xfrm>
            <a:off x="8414486" y="3056199"/>
            <a:ext cx="1603169" cy="595753"/>
          </a:xfrm>
          <a:prstGeom prst="rect">
            <a:avLst/>
          </a:prstGeom>
          <a:solidFill>
            <a:srgbClr val="FFFFFF"/>
          </a:solidFill>
          <a:ln w="9142">
            <a:solidFill>
              <a:srgbClr val="000000"/>
            </a:solidFill>
          </a:ln>
        </p:spPr>
        <p:txBody>
          <a:bodyPr vert="horz" wrap="square" lIns="0" tIns="39443" rIns="0" bIns="0" rtlCol="0">
            <a:spAutoFit/>
          </a:bodyPr>
          <a:lstStyle/>
          <a:p>
            <a:pPr marL="88433">
              <a:spcBef>
                <a:spcPts val="311"/>
              </a:spcBef>
            </a:pPr>
            <a:r>
              <a:rPr sz="1803" b="1" spc="-10" dirty="0">
                <a:latin typeface="Arial"/>
                <a:cs typeface="Arial"/>
              </a:rPr>
              <a:t>-</a:t>
            </a:r>
            <a:r>
              <a:rPr sz="1803" b="1" dirty="0">
                <a:latin typeface="Arial"/>
                <a:cs typeface="Arial"/>
              </a:rPr>
              <a:t>20dB/dec</a:t>
            </a:r>
            <a:r>
              <a:rPr sz="1803" b="1" spc="-65" dirty="0">
                <a:latin typeface="Arial"/>
                <a:cs typeface="Arial"/>
              </a:rPr>
              <a:t> </a:t>
            </a:r>
            <a:r>
              <a:rPr sz="1803" b="1" spc="-25" dirty="0">
                <a:latin typeface="Arial"/>
                <a:cs typeface="Arial"/>
              </a:rPr>
              <a:t>or</a:t>
            </a:r>
            <a:endParaRPr sz="1803">
              <a:latin typeface="Arial"/>
              <a:cs typeface="Arial"/>
            </a:endParaRPr>
          </a:p>
          <a:p>
            <a:pPr marL="88433"/>
            <a:r>
              <a:rPr sz="1803" b="1" spc="-10" dirty="0">
                <a:latin typeface="Arial"/>
                <a:cs typeface="Arial"/>
              </a:rPr>
              <a:t>-6dB/oct</a:t>
            </a:r>
            <a:endParaRPr sz="1803">
              <a:latin typeface="Arial"/>
              <a:cs typeface="Arial"/>
            </a:endParaRPr>
          </a:p>
        </p:txBody>
      </p:sp>
      <p:sp>
        <p:nvSpPr>
          <p:cNvPr id="5" name="object 5"/>
          <p:cNvSpPr txBox="1"/>
          <p:nvPr/>
        </p:nvSpPr>
        <p:spPr>
          <a:xfrm>
            <a:off x="3137772" y="1715644"/>
            <a:ext cx="687072" cy="317792"/>
          </a:xfrm>
          <a:prstGeom prst="rect">
            <a:avLst/>
          </a:prstGeom>
          <a:solidFill>
            <a:srgbClr val="FFFFFF"/>
          </a:solidFill>
          <a:ln w="9142">
            <a:solidFill>
              <a:srgbClr val="000000"/>
            </a:solidFill>
          </a:ln>
        </p:spPr>
        <p:txBody>
          <a:bodyPr vert="horz" wrap="square" lIns="0" tIns="39443" rIns="0" bIns="0" rtlCol="0">
            <a:spAutoFit/>
          </a:bodyPr>
          <a:lstStyle/>
          <a:p>
            <a:pPr marL="88433">
              <a:spcBef>
                <a:spcPts val="311"/>
              </a:spcBef>
            </a:pPr>
            <a:r>
              <a:rPr sz="1803" b="1" spc="-25" dirty="0">
                <a:latin typeface="Arial"/>
                <a:cs typeface="Arial"/>
              </a:rPr>
              <a:t>0dB</a:t>
            </a:r>
            <a:endParaRPr sz="1803">
              <a:latin typeface="Arial"/>
              <a:cs typeface="Arial"/>
            </a:endParaRPr>
          </a:p>
        </p:txBody>
      </p:sp>
      <p:sp>
        <p:nvSpPr>
          <p:cNvPr id="6" name="object 6"/>
          <p:cNvSpPr txBox="1"/>
          <p:nvPr/>
        </p:nvSpPr>
        <p:spPr>
          <a:xfrm>
            <a:off x="6860176" y="1675948"/>
            <a:ext cx="763414" cy="317792"/>
          </a:xfrm>
          <a:prstGeom prst="rect">
            <a:avLst/>
          </a:prstGeom>
          <a:solidFill>
            <a:srgbClr val="FFFFFF"/>
          </a:solidFill>
          <a:ln w="9142">
            <a:solidFill>
              <a:srgbClr val="000000"/>
            </a:solidFill>
          </a:ln>
        </p:spPr>
        <p:txBody>
          <a:bodyPr vert="horz" wrap="square" lIns="0" tIns="39443" rIns="0" bIns="0" rtlCol="0">
            <a:spAutoFit/>
          </a:bodyPr>
          <a:lstStyle/>
          <a:p>
            <a:pPr marL="90978">
              <a:spcBef>
                <a:spcPts val="311"/>
              </a:spcBef>
            </a:pPr>
            <a:r>
              <a:rPr sz="1803" b="1" spc="-10" dirty="0">
                <a:latin typeface="Arial"/>
                <a:cs typeface="Arial"/>
              </a:rPr>
              <a:t>-</a:t>
            </a:r>
            <a:r>
              <a:rPr sz="1803" b="1" spc="-25" dirty="0">
                <a:latin typeface="Arial"/>
                <a:cs typeface="Arial"/>
              </a:rPr>
              <a:t>3dB</a:t>
            </a:r>
            <a:endParaRPr sz="1803">
              <a:latin typeface="Arial"/>
              <a:cs typeface="Arial"/>
            </a:endParaRPr>
          </a:p>
        </p:txBody>
      </p:sp>
      <p:sp>
        <p:nvSpPr>
          <p:cNvPr id="7" name="object 7"/>
          <p:cNvSpPr/>
          <p:nvPr/>
        </p:nvSpPr>
        <p:spPr>
          <a:xfrm>
            <a:off x="6554811" y="2014904"/>
            <a:ext cx="318089" cy="467591"/>
          </a:xfrm>
          <a:custGeom>
            <a:avLst/>
            <a:gdLst/>
            <a:ahLst/>
            <a:cxnLst/>
            <a:rect l="l" t="t" r="r" b="b"/>
            <a:pathLst>
              <a:path w="317500" h="466725">
                <a:moveTo>
                  <a:pt x="12191" y="371855"/>
                </a:moveTo>
                <a:lnTo>
                  <a:pt x="0" y="466343"/>
                </a:lnTo>
                <a:lnTo>
                  <a:pt x="85343" y="417575"/>
                </a:lnTo>
                <a:lnTo>
                  <a:pt x="80467" y="414527"/>
                </a:lnTo>
                <a:lnTo>
                  <a:pt x="51815" y="414527"/>
                </a:lnTo>
                <a:lnTo>
                  <a:pt x="30479" y="399288"/>
                </a:lnTo>
                <a:lnTo>
                  <a:pt x="37990" y="387979"/>
                </a:lnTo>
                <a:lnTo>
                  <a:pt x="12191" y="371855"/>
                </a:lnTo>
                <a:close/>
              </a:path>
              <a:path w="317500" h="466725">
                <a:moveTo>
                  <a:pt x="37990" y="387979"/>
                </a:moveTo>
                <a:lnTo>
                  <a:pt x="30479" y="399288"/>
                </a:lnTo>
                <a:lnTo>
                  <a:pt x="51815" y="414527"/>
                </a:lnTo>
                <a:lnTo>
                  <a:pt x="60265" y="401902"/>
                </a:lnTo>
                <a:lnTo>
                  <a:pt x="37990" y="387979"/>
                </a:lnTo>
                <a:close/>
              </a:path>
              <a:path w="317500" h="466725">
                <a:moveTo>
                  <a:pt x="60265" y="401902"/>
                </a:moveTo>
                <a:lnTo>
                  <a:pt x="51815" y="414527"/>
                </a:lnTo>
                <a:lnTo>
                  <a:pt x="80467" y="414527"/>
                </a:lnTo>
                <a:lnTo>
                  <a:pt x="60265" y="401902"/>
                </a:lnTo>
                <a:close/>
              </a:path>
              <a:path w="317500" h="466725">
                <a:moveTo>
                  <a:pt x="295655" y="0"/>
                </a:moveTo>
                <a:lnTo>
                  <a:pt x="37990" y="387979"/>
                </a:lnTo>
                <a:lnTo>
                  <a:pt x="60265" y="401902"/>
                </a:lnTo>
                <a:lnTo>
                  <a:pt x="316991" y="18287"/>
                </a:lnTo>
                <a:lnTo>
                  <a:pt x="295655" y="0"/>
                </a:lnTo>
                <a:close/>
              </a:path>
            </a:pathLst>
          </a:custGeom>
          <a:solidFill>
            <a:srgbClr val="000000"/>
          </a:solidFill>
        </p:spPr>
        <p:txBody>
          <a:bodyPr wrap="square" lIns="0" tIns="0" rIns="0" bIns="0" rtlCol="0"/>
          <a:lstStyle/>
          <a:p>
            <a:endParaRPr sz="1803"/>
          </a:p>
        </p:txBody>
      </p:sp>
      <p:sp>
        <p:nvSpPr>
          <p:cNvPr id="8" name="object 8"/>
          <p:cNvSpPr txBox="1"/>
          <p:nvPr/>
        </p:nvSpPr>
        <p:spPr>
          <a:xfrm>
            <a:off x="8542233" y="6046662"/>
            <a:ext cx="482859" cy="367075"/>
          </a:xfrm>
          <a:prstGeom prst="rect">
            <a:avLst/>
          </a:prstGeom>
        </p:spPr>
        <p:txBody>
          <a:bodyPr vert="horz" wrap="square" lIns="0" tIns="0" rIns="0" bIns="0" rtlCol="0">
            <a:spAutoFit/>
          </a:bodyPr>
          <a:lstStyle/>
          <a:p>
            <a:pPr marL="12724">
              <a:lnSpc>
                <a:spcPts val="2760"/>
              </a:lnSpc>
            </a:pPr>
            <a:r>
              <a:rPr sz="2405" b="1" spc="-20" dirty="0">
                <a:latin typeface="Arial"/>
                <a:cs typeface="Arial"/>
              </a:rPr>
              <a:t>f/fc</a:t>
            </a:r>
            <a:endParaRPr sz="2405">
              <a:latin typeface="Arial"/>
              <a:cs typeface="Arial"/>
            </a:endParaRPr>
          </a:p>
        </p:txBody>
      </p:sp>
      <p:sp>
        <p:nvSpPr>
          <p:cNvPr id="10" name="object 10"/>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26</a:t>
            </a:r>
          </a:p>
        </p:txBody>
      </p:sp>
    </p:spTree>
    <p:extLst>
      <p:ext uri="{BB962C8B-B14F-4D97-AF65-F5344CB8AC3E}">
        <p14:creationId xmlns:p14="http://schemas.microsoft.com/office/powerpoint/2010/main" val="1205859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29</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0" y="885676"/>
            <a:ext cx="7430781" cy="5093331"/>
          </a:xfrm>
          <a:prstGeom prst="rect">
            <a:avLst/>
          </a:prstGeom>
        </p:spPr>
      </p:pic>
      <p:sp>
        <p:nvSpPr>
          <p:cNvPr id="6" name="TextBox 5"/>
          <p:cNvSpPr txBox="1"/>
          <p:nvPr/>
        </p:nvSpPr>
        <p:spPr>
          <a:xfrm>
            <a:off x="6967592" y="5657671"/>
            <a:ext cx="5390899" cy="1200329"/>
          </a:xfrm>
          <a:prstGeom prst="rect">
            <a:avLst/>
          </a:prstGeom>
          <a:noFill/>
        </p:spPr>
        <p:txBody>
          <a:bodyPr wrap="none" rtlCol="0">
            <a:spAutoFit/>
          </a:bodyPr>
          <a:lstStyle/>
          <a:p>
            <a:r>
              <a:rPr lang="en-US" dirty="0" smtClean="0">
                <a:solidFill>
                  <a:srgbClr val="FF0000"/>
                </a:solidFill>
              </a:rPr>
              <a:t>If we increase the frequency by 10, so we multiply the </a:t>
            </a:r>
          </a:p>
          <a:p>
            <a:r>
              <a:rPr lang="en-US" dirty="0" smtClean="0">
                <a:solidFill>
                  <a:srgbClr val="FF0000"/>
                </a:solidFill>
              </a:rPr>
              <a:t>Frequency by 10, the attenuation </a:t>
            </a:r>
            <a:r>
              <a:rPr lang="en-US" dirty="0">
                <a:solidFill>
                  <a:srgbClr val="FF0000"/>
                </a:solidFill>
              </a:rPr>
              <a:t>increases with </a:t>
            </a:r>
            <a:r>
              <a:rPr lang="en-US" dirty="0" smtClean="0">
                <a:solidFill>
                  <a:srgbClr val="FF0000"/>
                </a:solidFill>
              </a:rPr>
              <a:t>20dB</a:t>
            </a:r>
          </a:p>
          <a:p>
            <a:r>
              <a:rPr lang="en-US" dirty="0" smtClean="0">
                <a:solidFill>
                  <a:srgbClr val="FF0000"/>
                </a:solidFill>
              </a:rPr>
              <a:t> </a:t>
            </a:r>
            <a:r>
              <a:rPr lang="en-US" dirty="0">
                <a:solidFill>
                  <a:srgbClr val="FF0000"/>
                </a:solidFill>
              </a:rPr>
              <a:t>if the frequency increases by a factor 10</a:t>
            </a:r>
            <a:endParaRPr lang="en-US" dirty="0" smtClean="0">
              <a:solidFill>
                <a:srgbClr val="FF0000"/>
              </a:solidFill>
            </a:endParaRPr>
          </a:p>
          <a:p>
            <a:endParaRPr lang="en-US" dirty="0">
              <a:solidFill>
                <a:srgbClr val="FF0000"/>
              </a:solidFill>
            </a:endParaRPr>
          </a:p>
        </p:txBody>
      </p:sp>
    </p:spTree>
    <p:extLst>
      <p:ext uri="{BB962C8B-B14F-4D97-AF65-F5344CB8AC3E}">
        <p14:creationId xmlns:p14="http://schemas.microsoft.com/office/powerpoint/2010/main" val="3317369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30</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819792" y="1242415"/>
            <a:ext cx="6591639" cy="4769095"/>
          </a:xfrm>
          <a:prstGeom prst="rect">
            <a:avLst/>
          </a:prstGeom>
        </p:spPr>
      </p:pic>
    </p:spTree>
    <p:extLst>
      <p:ext uri="{BB962C8B-B14F-4D97-AF65-F5344CB8AC3E}">
        <p14:creationId xmlns:p14="http://schemas.microsoft.com/office/powerpoint/2010/main" val="3778160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31</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656559" y="913168"/>
            <a:ext cx="8062476" cy="5697587"/>
          </a:xfrm>
          <a:prstGeom prst="rect">
            <a:avLst/>
          </a:prstGeom>
        </p:spPr>
      </p:pic>
    </p:spTree>
    <p:extLst>
      <p:ext uri="{BB962C8B-B14F-4D97-AF65-F5344CB8AC3E}">
        <p14:creationId xmlns:p14="http://schemas.microsoft.com/office/powerpoint/2010/main" val="3256711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5905">
              <a:spcBef>
                <a:spcPts val="90"/>
              </a:spcBef>
            </a:pPr>
            <a:r>
              <a:rPr dirty="0"/>
              <a:t>Bode</a:t>
            </a:r>
            <a:r>
              <a:rPr spc="-60" dirty="0"/>
              <a:t> </a:t>
            </a:r>
            <a:r>
              <a:rPr dirty="0"/>
              <a:t>plot</a:t>
            </a:r>
            <a:r>
              <a:rPr spc="-70" dirty="0"/>
              <a:t> </a:t>
            </a:r>
            <a:r>
              <a:rPr dirty="0"/>
              <a:t>–</a:t>
            </a:r>
            <a:r>
              <a:rPr spc="-60" dirty="0"/>
              <a:t> </a:t>
            </a:r>
            <a:r>
              <a:rPr dirty="0"/>
              <a:t>magnitude</a:t>
            </a:r>
            <a:r>
              <a:rPr spc="-20" dirty="0"/>
              <a:t> </a:t>
            </a:r>
            <a:r>
              <a:rPr dirty="0"/>
              <a:t>-</a:t>
            </a:r>
            <a:r>
              <a:rPr spc="-60" dirty="0"/>
              <a:t> </a:t>
            </a:r>
            <a:r>
              <a:rPr spc="-10" dirty="0"/>
              <a:t>asymptotic</a:t>
            </a:r>
          </a:p>
        </p:txBody>
      </p:sp>
      <p:grpSp>
        <p:nvGrpSpPr>
          <p:cNvPr id="3" name="object 3"/>
          <p:cNvGrpSpPr/>
          <p:nvPr/>
        </p:nvGrpSpPr>
        <p:grpSpPr>
          <a:xfrm>
            <a:off x="1754466" y="1217900"/>
            <a:ext cx="8694010" cy="5234473"/>
            <a:chOff x="219456" y="1215644"/>
            <a:chExt cx="8677910" cy="5224780"/>
          </a:xfrm>
        </p:grpSpPr>
        <p:pic>
          <p:nvPicPr>
            <p:cNvPr id="4" name="object 4"/>
            <p:cNvPicPr/>
            <p:nvPr/>
          </p:nvPicPr>
          <p:blipFill>
            <a:blip r:embed="rId2" cstate="print"/>
            <a:stretch>
              <a:fillRect/>
            </a:stretch>
          </p:blipFill>
          <p:spPr>
            <a:xfrm>
              <a:off x="219456" y="1215644"/>
              <a:ext cx="8677656" cy="5224271"/>
            </a:xfrm>
            <a:prstGeom prst="rect">
              <a:avLst/>
            </a:prstGeom>
          </p:spPr>
        </p:pic>
        <p:sp>
          <p:nvSpPr>
            <p:cNvPr id="5" name="object 5"/>
            <p:cNvSpPr/>
            <p:nvPr/>
          </p:nvSpPr>
          <p:spPr>
            <a:xfrm>
              <a:off x="5163311" y="1928876"/>
              <a:ext cx="622300" cy="396240"/>
            </a:xfrm>
            <a:custGeom>
              <a:avLst/>
              <a:gdLst/>
              <a:ahLst/>
              <a:cxnLst/>
              <a:rect l="l" t="t" r="r" b="b"/>
              <a:pathLst>
                <a:path w="622300" h="396239">
                  <a:moveTo>
                    <a:pt x="67055" y="286512"/>
                  </a:moveTo>
                  <a:lnTo>
                    <a:pt x="0" y="396239"/>
                  </a:lnTo>
                  <a:lnTo>
                    <a:pt x="128015" y="384048"/>
                  </a:lnTo>
                  <a:lnTo>
                    <a:pt x="114680" y="362712"/>
                  </a:lnTo>
                  <a:lnTo>
                    <a:pt x="91439" y="362712"/>
                  </a:lnTo>
                  <a:lnTo>
                    <a:pt x="73151" y="329184"/>
                  </a:lnTo>
                  <a:lnTo>
                    <a:pt x="87951" y="319944"/>
                  </a:lnTo>
                  <a:lnTo>
                    <a:pt x="67055" y="286512"/>
                  </a:lnTo>
                  <a:close/>
                </a:path>
                <a:path w="622300" h="396239">
                  <a:moveTo>
                    <a:pt x="87951" y="319944"/>
                  </a:moveTo>
                  <a:lnTo>
                    <a:pt x="73151" y="329184"/>
                  </a:lnTo>
                  <a:lnTo>
                    <a:pt x="91439" y="362712"/>
                  </a:lnTo>
                  <a:lnTo>
                    <a:pt x="108141" y="352249"/>
                  </a:lnTo>
                  <a:lnTo>
                    <a:pt x="87951" y="319944"/>
                  </a:lnTo>
                  <a:close/>
                </a:path>
                <a:path w="622300" h="396239">
                  <a:moveTo>
                    <a:pt x="108141" y="352249"/>
                  </a:moveTo>
                  <a:lnTo>
                    <a:pt x="91439" y="362712"/>
                  </a:lnTo>
                  <a:lnTo>
                    <a:pt x="114680" y="362712"/>
                  </a:lnTo>
                  <a:lnTo>
                    <a:pt x="108141" y="352249"/>
                  </a:lnTo>
                  <a:close/>
                </a:path>
                <a:path w="622300" h="396239">
                  <a:moveTo>
                    <a:pt x="600455" y="0"/>
                  </a:moveTo>
                  <a:lnTo>
                    <a:pt x="87951" y="319944"/>
                  </a:lnTo>
                  <a:lnTo>
                    <a:pt x="108141" y="352249"/>
                  </a:lnTo>
                  <a:lnTo>
                    <a:pt x="621791" y="30479"/>
                  </a:lnTo>
                  <a:lnTo>
                    <a:pt x="600455" y="0"/>
                  </a:lnTo>
                  <a:close/>
                </a:path>
              </a:pathLst>
            </a:custGeom>
            <a:solidFill>
              <a:srgbClr val="497DBA"/>
            </a:solidFill>
          </p:spPr>
          <p:txBody>
            <a:bodyPr wrap="square" lIns="0" tIns="0" rIns="0" bIns="0" rtlCol="0"/>
            <a:lstStyle/>
            <a:p>
              <a:endParaRPr sz="1803"/>
            </a:p>
          </p:txBody>
        </p:sp>
      </p:grpSp>
      <p:sp>
        <p:nvSpPr>
          <p:cNvPr id="6" name="object 6"/>
          <p:cNvSpPr txBox="1"/>
          <p:nvPr/>
        </p:nvSpPr>
        <p:spPr>
          <a:xfrm>
            <a:off x="7318224" y="1566016"/>
            <a:ext cx="1832193" cy="595753"/>
          </a:xfrm>
          <a:prstGeom prst="rect">
            <a:avLst/>
          </a:prstGeom>
          <a:solidFill>
            <a:srgbClr val="FFFFFF"/>
          </a:solidFill>
        </p:spPr>
        <p:txBody>
          <a:bodyPr vert="horz" wrap="square" lIns="0" tIns="39443" rIns="0" bIns="0" rtlCol="0">
            <a:spAutoFit/>
          </a:bodyPr>
          <a:lstStyle/>
          <a:p>
            <a:pPr marL="90978" marR="290110">
              <a:spcBef>
                <a:spcPts val="311"/>
              </a:spcBef>
            </a:pPr>
            <a:r>
              <a:rPr sz="1803" spc="-10" dirty="0">
                <a:latin typeface="Arial MT"/>
                <a:cs typeface="Arial MT"/>
              </a:rPr>
              <a:t>Asymptotic approximation</a:t>
            </a:r>
            <a:endParaRPr sz="1803">
              <a:latin typeface="Arial MT"/>
              <a:cs typeface="Arial MT"/>
            </a:endParaRPr>
          </a:p>
        </p:txBody>
      </p:sp>
      <p:sp>
        <p:nvSpPr>
          <p:cNvPr id="7" name="object 7"/>
          <p:cNvSpPr txBox="1"/>
          <p:nvPr/>
        </p:nvSpPr>
        <p:spPr>
          <a:xfrm>
            <a:off x="8542233" y="6046662"/>
            <a:ext cx="482859" cy="367075"/>
          </a:xfrm>
          <a:prstGeom prst="rect">
            <a:avLst/>
          </a:prstGeom>
        </p:spPr>
        <p:txBody>
          <a:bodyPr vert="horz" wrap="square" lIns="0" tIns="0" rIns="0" bIns="0" rtlCol="0">
            <a:spAutoFit/>
          </a:bodyPr>
          <a:lstStyle/>
          <a:p>
            <a:pPr marL="12724">
              <a:lnSpc>
                <a:spcPts val="2760"/>
              </a:lnSpc>
            </a:pPr>
            <a:r>
              <a:rPr sz="2405" b="1" spc="-20" dirty="0">
                <a:latin typeface="Arial"/>
                <a:cs typeface="Arial"/>
              </a:rPr>
              <a:t>f/fc</a:t>
            </a:r>
            <a:endParaRPr sz="2405">
              <a:latin typeface="Arial"/>
              <a:cs typeface="Arial"/>
            </a:endParaRPr>
          </a:p>
        </p:txBody>
      </p:sp>
      <p:sp>
        <p:nvSpPr>
          <p:cNvPr id="9" name="object 9"/>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27</a:t>
            </a:r>
          </a:p>
        </p:txBody>
      </p:sp>
    </p:spTree>
    <p:extLst>
      <p:ext uri="{BB962C8B-B14F-4D97-AF65-F5344CB8AC3E}">
        <p14:creationId xmlns:p14="http://schemas.microsoft.com/office/powerpoint/2010/main" val="373176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2080395">
              <a:spcBef>
                <a:spcPts val="90"/>
              </a:spcBef>
            </a:pPr>
            <a:r>
              <a:rPr dirty="0"/>
              <a:t>Bode</a:t>
            </a:r>
            <a:r>
              <a:rPr spc="-35" dirty="0"/>
              <a:t> </a:t>
            </a:r>
            <a:r>
              <a:rPr dirty="0"/>
              <a:t>plot</a:t>
            </a:r>
            <a:r>
              <a:rPr spc="-50" dirty="0"/>
              <a:t> </a:t>
            </a:r>
            <a:r>
              <a:rPr dirty="0"/>
              <a:t>-</a:t>
            </a:r>
            <a:r>
              <a:rPr spc="-30" dirty="0"/>
              <a:t> </a:t>
            </a:r>
            <a:r>
              <a:rPr spc="-10" dirty="0"/>
              <a:t>phase</a:t>
            </a:r>
          </a:p>
        </p:txBody>
      </p:sp>
      <p:pic>
        <p:nvPicPr>
          <p:cNvPr id="3" name="object 3"/>
          <p:cNvPicPr/>
          <p:nvPr/>
        </p:nvPicPr>
        <p:blipFill>
          <a:blip r:embed="rId2" cstate="print"/>
          <a:stretch>
            <a:fillRect/>
          </a:stretch>
        </p:blipFill>
        <p:spPr>
          <a:xfrm>
            <a:off x="1754466" y="1294241"/>
            <a:ext cx="8693756" cy="5056852"/>
          </a:xfrm>
          <a:prstGeom prst="rect">
            <a:avLst/>
          </a:prstGeom>
        </p:spPr>
      </p:pic>
      <p:sp>
        <p:nvSpPr>
          <p:cNvPr id="5" name="object 5"/>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28</a:t>
            </a:r>
          </a:p>
        </p:txBody>
      </p:sp>
    </p:spTree>
    <p:extLst>
      <p:ext uri="{BB962C8B-B14F-4D97-AF65-F5344CB8AC3E}">
        <p14:creationId xmlns:p14="http://schemas.microsoft.com/office/powerpoint/2010/main" val="1049152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34</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4" name="Picture 3"/>
          <p:cNvPicPr>
            <a:picLocks noChangeAspect="1"/>
          </p:cNvPicPr>
          <p:nvPr/>
        </p:nvPicPr>
        <p:blipFill>
          <a:blip r:embed="rId2"/>
          <a:stretch>
            <a:fillRect/>
          </a:stretch>
        </p:blipFill>
        <p:spPr>
          <a:xfrm>
            <a:off x="2914486" y="1234962"/>
            <a:ext cx="7381482" cy="5090424"/>
          </a:xfrm>
          <a:prstGeom prst="rect">
            <a:avLst/>
          </a:prstGeom>
        </p:spPr>
      </p:pic>
    </p:spTree>
    <p:extLst>
      <p:ext uri="{BB962C8B-B14F-4D97-AF65-F5344CB8AC3E}">
        <p14:creationId xmlns:p14="http://schemas.microsoft.com/office/powerpoint/2010/main" val="2967700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35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4" name="Picture 3"/>
          <p:cNvPicPr>
            <a:picLocks noChangeAspect="1"/>
          </p:cNvPicPr>
          <p:nvPr/>
        </p:nvPicPr>
        <p:blipFill>
          <a:blip r:embed="rId2"/>
          <a:stretch>
            <a:fillRect/>
          </a:stretch>
        </p:blipFill>
        <p:spPr>
          <a:xfrm>
            <a:off x="1923388" y="1158758"/>
            <a:ext cx="7597683" cy="5218389"/>
          </a:xfrm>
          <a:prstGeom prst="rect">
            <a:avLst/>
          </a:prstGeom>
        </p:spPr>
      </p:pic>
    </p:spTree>
    <p:extLst>
      <p:ext uri="{BB962C8B-B14F-4D97-AF65-F5344CB8AC3E}">
        <p14:creationId xmlns:p14="http://schemas.microsoft.com/office/powerpoint/2010/main" val="38849799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566224">
              <a:spcBef>
                <a:spcPts val="90"/>
              </a:spcBef>
            </a:pPr>
            <a:r>
              <a:rPr dirty="0"/>
              <a:t>Bode</a:t>
            </a:r>
            <a:r>
              <a:rPr spc="-40" dirty="0"/>
              <a:t> </a:t>
            </a:r>
            <a:r>
              <a:rPr dirty="0"/>
              <a:t>plot</a:t>
            </a:r>
            <a:r>
              <a:rPr spc="-50" dirty="0"/>
              <a:t> </a:t>
            </a:r>
            <a:r>
              <a:rPr dirty="0"/>
              <a:t>–</a:t>
            </a:r>
            <a:r>
              <a:rPr spc="-40" dirty="0"/>
              <a:t> </a:t>
            </a:r>
            <a:r>
              <a:rPr dirty="0"/>
              <a:t>phase</a:t>
            </a:r>
            <a:r>
              <a:rPr spc="-35" dirty="0"/>
              <a:t> </a:t>
            </a:r>
            <a:r>
              <a:rPr dirty="0"/>
              <a:t>-</a:t>
            </a:r>
            <a:r>
              <a:rPr spc="-35" dirty="0"/>
              <a:t> </a:t>
            </a:r>
            <a:r>
              <a:rPr spc="-10" dirty="0"/>
              <a:t>asymptotic</a:t>
            </a:r>
          </a:p>
        </p:txBody>
      </p:sp>
      <p:grpSp>
        <p:nvGrpSpPr>
          <p:cNvPr id="3" name="object 3"/>
          <p:cNvGrpSpPr/>
          <p:nvPr/>
        </p:nvGrpSpPr>
        <p:grpSpPr>
          <a:xfrm>
            <a:off x="1754466" y="1294241"/>
            <a:ext cx="8694010" cy="5056980"/>
            <a:chOff x="219456" y="1291844"/>
            <a:chExt cx="8677910" cy="5047615"/>
          </a:xfrm>
        </p:grpSpPr>
        <p:pic>
          <p:nvPicPr>
            <p:cNvPr id="4" name="object 4"/>
            <p:cNvPicPr/>
            <p:nvPr/>
          </p:nvPicPr>
          <p:blipFill>
            <a:blip r:embed="rId2" cstate="print"/>
            <a:stretch>
              <a:fillRect/>
            </a:stretch>
          </p:blipFill>
          <p:spPr>
            <a:xfrm>
              <a:off x="219456" y="1291844"/>
              <a:ext cx="8677656" cy="5047487"/>
            </a:xfrm>
            <a:prstGeom prst="rect">
              <a:avLst/>
            </a:prstGeom>
          </p:spPr>
        </p:pic>
        <p:sp>
          <p:nvSpPr>
            <p:cNvPr id="5" name="object 5"/>
            <p:cNvSpPr/>
            <p:nvPr/>
          </p:nvSpPr>
          <p:spPr>
            <a:xfrm>
              <a:off x="5849111" y="3821683"/>
              <a:ext cx="622300" cy="396240"/>
            </a:xfrm>
            <a:custGeom>
              <a:avLst/>
              <a:gdLst/>
              <a:ahLst/>
              <a:cxnLst/>
              <a:rect l="l" t="t" r="r" b="b"/>
              <a:pathLst>
                <a:path w="622300" h="396239">
                  <a:moveTo>
                    <a:pt x="96393" y="240934"/>
                  </a:moveTo>
                  <a:lnTo>
                    <a:pt x="89154" y="241173"/>
                  </a:lnTo>
                  <a:lnTo>
                    <a:pt x="83058" y="244268"/>
                  </a:lnTo>
                  <a:lnTo>
                    <a:pt x="79248" y="249936"/>
                  </a:lnTo>
                  <a:lnTo>
                    <a:pt x="0" y="396240"/>
                  </a:lnTo>
                  <a:lnTo>
                    <a:pt x="167639" y="393192"/>
                  </a:lnTo>
                  <a:lnTo>
                    <a:pt x="42672" y="393192"/>
                  </a:lnTo>
                  <a:lnTo>
                    <a:pt x="24384" y="362712"/>
                  </a:lnTo>
                  <a:lnTo>
                    <a:pt x="81139" y="326976"/>
                  </a:lnTo>
                  <a:lnTo>
                    <a:pt x="112775" y="268224"/>
                  </a:lnTo>
                  <a:lnTo>
                    <a:pt x="113919" y="260985"/>
                  </a:lnTo>
                  <a:lnTo>
                    <a:pt x="112776" y="253746"/>
                  </a:lnTo>
                  <a:lnTo>
                    <a:pt x="109347" y="247650"/>
                  </a:lnTo>
                  <a:lnTo>
                    <a:pt x="103632" y="243840"/>
                  </a:lnTo>
                  <a:lnTo>
                    <a:pt x="96393" y="240934"/>
                  </a:lnTo>
                  <a:close/>
                </a:path>
                <a:path w="622300" h="396239">
                  <a:moveTo>
                    <a:pt x="81139" y="326976"/>
                  </a:moveTo>
                  <a:lnTo>
                    <a:pt x="24384" y="362712"/>
                  </a:lnTo>
                  <a:lnTo>
                    <a:pt x="42672" y="393192"/>
                  </a:lnTo>
                  <a:lnTo>
                    <a:pt x="52487" y="387096"/>
                  </a:lnTo>
                  <a:lnTo>
                    <a:pt x="48767" y="387096"/>
                  </a:lnTo>
                  <a:lnTo>
                    <a:pt x="33527" y="359664"/>
                  </a:lnTo>
                  <a:lnTo>
                    <a:pt x="64310" y="358232"/>
                  </a:lnTo>
                  <a:lnTo>
                    <a:pt x="81139" y="326976"/>
                  </a:lnTo>
                  <a:close/>
                </a:path>
                <a:path w="622300" h="396239">
                  <a:moveTo>
                    <a:pt x="164591" y="353568"/>
                  </a:moveTo>
                  <a:lnTo>
                    <a:pt x="101768" y="356490"/>
                  </a:lnTo>
                  <a:lnTo>
                    <a:pt x="42672" y="393192"/>
                  </a:lnTo>
                  <a:lnTo>
                    <a:pt x="167639" y="393192"/>
                  </a:lnTo>
                  <a:lnTo>
                    <a:pt x="174355" y="391572"/>
                  </a:lnTo>
                  <a:lnTo>
                    <a:pt x="180212" y="387096"/>
                  </a:lnTo>
                  <a:lnTo>
                    <a:pt x="184356" y="380333"/>
                  </a:lnTo>
                  <a:lnTo>
                    <a:pt x="185927" y="371856"/>
                  </a:lnTo>
                  <a:lnTo>
                    <a:pt x="183022" y="365140"/>
                  </a:lnTo>
                  <a:lnTo>
                    <a:pt x="178688" y="359283"/>
                  </a:lnTo>
                  <a:lnTo>
                    <a:pt x="172640" y="355139"/>
                  </a:lnTo>
                  <a:lnTo>
                    <a:pt x="164591" y="353568"/>
                  </a:lnTo>
                  <a:close/>
                </a:path>
                <a:path w="622300" h="396239">
                  <a:moveTo>
                    <a:pt x="64310" y="358232"/>
                  </a:moveTo>
                  <a:lnTo>
                    <a:pt x="33527" y="359664"/>
                  </a:lnTo>
                  <a:lnTo>
                    <a:pt x="48767" y="387096"/>
                  </a:lnTo>
                  <a:lnTo>
                    <a:pt x="64310" y="358232"/>
                  </a:lnTo>
                  <a:close/>
                </a:path>
                <a:path w="622300" h="396239">
                  <a:moveTo>
                    <a:pt x="101768" y="356490"/>
                  </a:moveTo>
                  <a:lnTo>
                    <a:pt x="64310" y="358232"/>
                  </a:lnTo>
                  <a:lnTo>
                    <a:pt x="48767" y="387096"/>
                  </a:lnTo>
                  <a:lnTo>
                    <a:pt x="52487" y="387096"/>
                  </a:lnTo>
                  <a:lnTo>
                    <a:pt x="101768" y="356490"/>
                  </a:lnTo>
                  <a:close/>
                </a:path>
                <a:path w="622300" h="396239">
                  <a:moveTo>
                    <a:pt x="600455" y="0"/>
                  </a:moveTo>
                  <a:lnTo>
                    <a:pt x="81139" y="326976"/>
                  </a:lnTo>
                  <a:lnTo>
                    <a:pt x="64310" y="358232"/>
                  </a:lnTo>
                  <a:lnTo>
                    <a:pt x="101768" y="356490"/>
                  </a:lnTo>
                  <a:lnTo>
                    <a:pt x="621791" y="33528"/>
                  </a:lnTo>
                  <a:lnTo>
                    <a:pt x="600455" y="0"/>
                  </a:lnTo>
                  <a:close/>
                </a:path>
              </a:pathLst>
            </a:custGeom>
            <a:solidFill>
              <a:srgbClr val="000000"/>
            </a:solidFill>
          </p:spPr>
          <p:txBody>
            <a:bodyPr wrap="square" lIns="0" tIns="0" rIns="0" bIns="0" rtlCol="0"/>
            <a:lstStyle/>
            <a:p>
              <a:endParaRPr sz="1803"/>
            </a:p>
          </p:txBody>
        </p:sp>
      </p:grpSp>
      <p:sp>
        <p:nvSpPr>
          <p:cNvPr id="6" name="object 6"/>
          <p:cNvSpPr txBox="1"/>
          <p:nvPr/>
        </p:nvSpPr>
        <p:spPr>
          <a:xfrm>
            <a:off x="8005297" y="3462335"/>
            <a:ext cx="1832193" cy="595753"/>
          </a:xfrm>
          <a:prstGeom prst="rect">
            <a:avLst/>
          </a:prstGeom>
          <a:solidFill>
            <a:srgbClr val="FFFFFF"/>
          </a:solidFill>
        </p:spPr>
        <p:txBody>
          <a:bodyPr vert="horz" wrap="square" lIns="0" tIns="39443" rIns="0" bIns="0" rtlCol="0">
            <a:spAutoFit/>
          </a:bodyPr>
          <a:lstStyle/>
          <a:p>
            <a:pPr marL="121515" marR="118334" indent="173684">
              <a:spcBef>
                <a:spcPts val="311"/>
              </a:spcBef>
            </a:pPr>
            <a:r>
              <a:rPr sz="1803" b="1" spc="-10" dirty="0">
                <a:latin typeface="Arial"/>
                <a:cs typeface="Arial"/>
              </a:rPr>
              <a:t>Asymptotic approximation</a:t>
            </a:r>
            <a:endParaRPr sz="1803">
              <a:latin typeface="Arial"/>
              <a:cs typeface="Arial"/>
            </a:endParaRPr>
          </a:p>
        </p:txBody>
      </p:sp>
      <p:sp>
        <p:nvSpPr>
          <p:cNvPr id="7" name="object 7"/>
          <p:cNvSpPr/>
          <p:nvPr/>
        </p:nvSpPr>
        <p:spPr>
          <a:xfrm>
            <a:off x="4863087" y="2622580"/>
            <a:ext cx="608186" cy="549658"/>
          </a:xfrm>
          <a:custGeom>
            <a:avLst/>
            <a:gdLst/>
            <a:ahLst/>
            <a:cxnLst/>
            <a:rect l="l" t="t" r="r" b="b"/>
            <a:pathLst>
              <a:path w="607060" h="548639">
                <a:moveTo>
                  <a:pt x="550222" y="52406"/>
                </a:moveTo>
                <a:lnTo>
                  <a:pt x="510006" y="60823"/>
                </a:lnTo>
                <a:lnTo>
                  <a:pt x="0" y="521208"/>
                </a:lnTo>
                <a:lnTo>
                  <a:pt x="27431" y="548639"/>
                </a:lnTo>
                <a:lnTo>
                  <a:pt x="538223" y="87547"/>
                </a:lnTo>
                <a:lnTo>
                  <a:pt x="550222" y="52406"/>
                </a:lnTo>
                <a:close/>
              </a:path>
              <a:path w="607060" h="548639">
                <a:moveTo>
                  <a:pt x="602566" y="12191"/>
                </a:moveTo>
                <a:lnTo>
                  <a:pt x="563879" y="12191"/>
                </a:lnTo>
                <a:lnTo>
                  <a:pt x="591312" y="39624"/>
                </a:lnTo>
                <a:lnTo>
                  <a:pt x="538223" y="87547"/>
                </a:lnTo>
                <a:lnTo>
                  <a:pt x="518159" y="146303"/>
                </a:lnTo>
                <a:lnTo>
                  <a:pt x="517493" y="153542"/>
                </a:lnTo>
                <a:lnTo>
                  <a:pt x="519684" y="160781"/>
                </a:lnTo>
                <a:lnTo>
                  <a:pt x="524160" y="166877"/>
                </a:lnTo>
                <a:lnTo>
                  <a:pt x="530351" y="170687"/>
                </a:lnTo>
                <a:lnTo>
                  <a:pt x="538876" y="171354"/>
                </a:lnTo>
                <a:lnTo>
                  <a:pt x="545972" y="169163"/>
                </a:lnTo>
                <a:lnTo>
                  <a:pt x="551354" y="164687"/>
                </a:lnTo>
                <a:lnTo>
                  <a:pt x="554735" y="158496"/>
                </a:lnTo>
                <a:lnTo>
                  <a:pt x="602566" y="12191"/>
                </a:lnTo>
                <a:close/>
              </a:path>
              <a:path w="607060" h="548639">
                <a:moveTo>
                  <a:pt x="573024" y="21336"/>
                </a:moveTo>
                <a:lnTo>
                  <a:pt x="560831" y="21336"/>
                </a:lnTo>
                <a:lnTo>
                  <a:pt x="582167" y="45720"/>
                </a:lnTo>
                <a:lnTo>
                  <a:pt x="550222" y="52406"/>
                </a:lnTo>
                <a:lnTo>
                  <a:pt x="538223" y="87547"/>
                </a:lnTo>
                <a:lnTo>
                  <a:pt x="591312" y="39624"/>
                </a:lnTo>
                <a:lnTo>
                  <a:pt x="573024" y="21336"/>
                </a:lnTo>
                <a:close/>
              </a:path>
              <a:path w="607060" h="548639">
                <a:moveTo>
                  <a:pt x="606551" y="0"/>
                </a:moveTo>
                <a:lnTo>
                  <a:pt x="445007" y="33527"/>
                </a:lnTo>
                <a:lnTo>
                  <a:pt x="437054" y="36909"/>
                </a:lnTo>
                <a:lnTo>
                  <a:pt x="431673" y="42290"/>
                </a:lnTo>
                <a:lnTo>
                  <a:pt x="429148" y="49387"/>
                </a:lnTo>
                <a:lnTo>
                  <a:pt x="429767" y="57912"/>
                </a:lnTo>
                <a:lnTo>
                  <a:pt x="433101" y="64150"/>
                </a:lnTo>
                <a:lnTo>
                  <a:pt x="438149" y="68961"/>
                </a:lnTo>
                <a:lnTo>
                  <a:pt x="444341" y="72056"/>
                </a:lnTo>
                <a:lnTo>
                  <a:pt x="451103" y="73151"/>
                </a:lnTo>
                <a:lnTo>
                  <a:pt x="510006" y="60823"/>
                </a:lnTo>
                <a:lnTo>
                  <a:pt x="563879" y="12191"/>
                </a:lnTo>
                <a:lnTo>
                  <a:pt x="602566" y="12191"/>
                </a:lnTo>
                <a:lnTo>
                  <a:pt x="606551" y="0"/>
                </a:lnTo>
                <a:close/>
              </a:path>
              <a:path w="607060" h="548639">
                <a:moveTo>
                  <a:pt x="563879" y="12191"/>
                </a:moveTo>
                <a:lnTo>
                  <a:pt x="510006" y="60823"/>
                </a:lnTo>
                <a:lnTo>
                  <a:pt x="550222" y="52406"/>
                </a:lnTo>
                <a:lnTo>
                  <a:pt x="560831" y="21336"/>
                </a:lnTo>
                <a:lnTo>
                  <a:pt x="573024" y="21336"/>
                </a:lnTo>
                <a:lnTo>
                  <a:pt x="563879" y="12191"/>
                </a:lnTo>
                <a:close/>
              </a:path>
              <a:path w="607060" h="548639">
                <a:moveTo>
                  <a:pt x="560831" y="21336"/>
                </a:moveTo>
                <a:lnTo>
                  <a:pt x="550222" y="52406"/>
                </a:lnTo>
                <a:lnTo>
                  <a:pt x="582167" y="45720"/>
                </a:lnTo>
                <a:lnTo>
                  <a:pt x="560831" y="21336"/>
                </a:lnTo>
                <a:close/>
              </a:path>
            </a:pathLst>
          </a:custGeom>
          <a:solidFill>
            <a:srgbClr val="000000"/>
          </a:solidFill>
        </p:spPr>
        <p:txBody>
          <a:bodyPr wrap="square" lIns="0" tIns="0" rIns="0" bIns="0" rtlCol="0"/>
          <a:lstStyle/>
          <a:p>
            <a:endParaRPr sz="1803"/>
          </a:p>
        </p:txBody>
      </p:sp>
      <p:sp>
        <p:nvSpPr>
          <p:cNvPr id="8" name="object 8"/>
          <p:cNvSpPr txBox="1"/>
          <p:nvPr/>
        </p:nvSpPr>
        <p:spPr>
          <a:xfrm>
            <a:off x="3638571" y="3175291"/>
            <a:ext cx="1832193" cy="595753"/>
          </a:xfrm>
          <a:prstGeom prst="rect">
            <a:avLst/>
          </a:prstGeom>
          <a:solidFill>
            <a:srgbClr val="FFFFFF"/>
          </a:solidFill>
        </p:spPr>
        <p:txBody>
          <a:bodyPr vert="horz" wrap="square" lIns="0" tIns="39443" rIns="0" bIns="0" rtlCol="0">
            <a:spAutoFit/>
          </a:bodyPr>
          <a:lstStyle/>
          <a:p>
            <a:pPr marL="121515" marR="118971" indent="173684">
              <a:spcBef>
                <a:spcPts val="311"/>
              </a:spcBef>
            </a:pPr>
            <a:r>
              <a:rPr sz="1803" b="1" spc="-10" dirty="0">
                <a:latin typeface="Arial"/>
                <a:cs typeface="Arial"/>
              </a:rPr>
              <a:t>Asymptotic approximation</a:t>
            </a:r>
            <a:endParaRPr sz="1803">
              <a:latin typeface="Arial"/>
              <a:cs typeface="Arial"/>
            </a:endParaRPr>
          </a:p>
        </p:txBody>
      </p:sp>
      <p:sp>
        <p:nvSpPr>
          <p:cNvPr id="10" name="object 10"/>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29</a:t>
            </a:r>
          </a:p>
        </p:txBody>
      </p:sp>
    </p:spTree>
    <p:extLst>
      <p:ext uri="{BB962C8B-B14F-4D97-AF65-F5344CB8AC3E}">
        <p14:creationId xmlns:p14="http://schemas.microsoft.com/office/powerpoint/2010/main" val="3981363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37</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2241515" y="1035617"/>
            <a:ext cx="7555972" cy="5440597"/>
          </a:xfrm>
          <a:prstGeom prst="rect">
            <a:avLst/>
          </a:prstGeom>
        </p:spPr>
      </p:pic>
    </p:spTree>
    <p:extLst>
      <p:ext uri="{BB962C8B-B14F-4D97-AF65-F5344CB8AC3E}">
        <p14:creationId xmlns:p14="http://schemas.microsoft.com/office/powerpoint/2010/main" val="3632282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25905" y="463138"/>
            <a:ext cx="3338027" cy="696615"/>
          </a:xfrm>
          <a:prstGeom prst="rect">
            <a:avLst/>
          </a:prstGeom>
        </p:spPr>
        <p:txBody>
          <a:bodyPr vert="horz" wrap="square" lIns="0" tIns="11451" rIns="0" bIns="0" rtlCol="0">
            <a:spAutoFit/>
          </a:bodyPr>
          <a:lstStyle/>
          <a:p>
            <a:pPr marL="12724">
              <a:spcBef>
                <a:spcPts val="90"/>
              </a:spcBef>
            </a:pPr>
            <a:r>
              <a:rPr sz="4408" spc="-35" dirty="0">
                <a:latin typeface="Calibri"/>
                <a:cs typeface="Calibri"/>
              </a:rPr>
              <a:t>Low-</a:t>
            </a:r>
            <a:r>
              <a:rPr sz="4408" dirty="0">
                <a:latin typeface="Calibri"/>
                <a:cs typeface="Calibri"/>
              </a:rPr>
              <a:t>pass </a:t>
            </a:r>
            <a:r>
              <a:rPr sz="4408" spc="-10" dirty="0">
                <a:latin typeface="Calibri"/>
                <a:cs typeface="Calibri"/>
              </a:rPr>
              <a:t>filter</a:t>
            </a:r>
            <a:endParaRPr sz="4408">
              <a:latin typeface="Calibri"/>
              <a:cs typeface="Calibri"/>
            </a:endParaRPr>
          </a:p>
        </p:txBody>
      </p:sp>
      <p:grpSp>
        <p:nvGrpSpPr>
          <p:cNvPr id="3" name="object 3"/>
          <p:cNvGrpSpPr/>
          <p:nvPr/>
        </p:nvGrpSpPr>
        <p:grpSpPr>
          <a:xfrm>
            <a:off x="2236944" y="1141558"/>
            <a:ext cx="8420453" cy="3837426"/>
            <a:chOff x="701040" y="1139444"/>
            <a:chExt cx="8404860" cy="3830320"/>
          </a:xfrm>
        </p:grpSpPr>
        <p:pic>
          <p:nvPicPr>
            <p:cNvPr id="4" name="object 4"/>
            <p:cNvPicPr/>
            <p:nvPr/>
          </p:nvPicPr>
          <p:blipFill>
            <a:blip r:embed="rId2" cstate="print"/>
            <a:stretch>
              <a:fillRect/>
            </a:stretch>
          </p:blipFill>
          <p:spPr>
            <a:xfrm>
              <a:off x="701040" y="1139444"/>
              <a:ext cx="8404860" cy="2666999"/>
            </a:xfrm>
            <a:prstGeom prst="rect">
              <a:avLst/>
            </a:prstGeom>
          </p:spPr>
        </p:pic>
        <p:sp>
          <p:nvSpPr>
            <p:cNvPr id="5" name="object 5"/>
            <p:cNvSpPr/>
            <p:nvPr/>
          </p:nvSpPr>
          <p:spPr>
            <a:xfrm>
              <a:off x="972312" y="1971547"/>
              <a:ext cx="7964805" cy="2969260"/>
            </a:xfrm>
            <a:custGeom>
              <a:avLst/>
              <a:gdLst/>
              <a:ahLst/>
              <a:cxnLst/>
              <a:rect l="l" t="t" r="r" b="b"/>
              <a:pathLst>
                <a:path w="7964805" h="2969260">
                  <a:moveTo>
                    <a:pt x="152400" y="6096"/>
                  </a:moveTo>
                  <a:lnTo>
                    <a:pt x="3962400" y="6096"/>
                  </a:lnTo>
                </a:path>
                <a:path w="7964805" h="2969260">
                  <a:moveTo>
                    <a:pt x="3962400" y="0"/>
                  </a:moveTo>
                  <a:lnTo>
                    <a:pt x="7964423" y="1441703"/>
                  </a:lnTo>
                </a:path>
                <a:path w="7964805" h="2969260">
                  <a:moveTo>
                    <a:pt x="0" y="2109216"/>
                  </a:moveTo>
                  <a:lnTo>
                    <a:pt x="2743200" y="2109216"/>
                  </a:lnTo>
                </a:path>
                <a:path w="7964805" h="2969260">
                  <a:moveTo>
                    <a:pt x="5221224" y="2968752"/>
                  </a:moveTo>
                  <a:lnTo>
                    <a:pt x="7964423" y="2968752"/>
                  </a:lnTo>
                </a:path>
                <a:path w="7964805" h="2969260">
                  <a:moveTo>
                    <a:pt x="2743200" y="2103120"/>
                  </a:moveTo>
                  <a:lnTo>
                    <a:pt x="5181600" y="2968752"/>
                  </a:lnTo>
                </a:path>
              </a:pathLst>
            </a:custGeom>
            <a:ln w="57910">
              <a:solidFill>
                <a:srgbClr val="FF0000"/>
              </a:solidFill>
            </a:ln>
          </p:spPr>
          <p:txBody>
            <a:bodyPr wrap="square" lIns="0" tIns="0" rIns="0" bIns="0" rtlCol="0"/>
            <a:lstStyle/>
            <a:p>
              <a:endParaRPr sz="1803"/>
            </a:p>
          </p:txBody>
        </p:sp>
      </p:grpSp>
      <p:sp>
        <p:nvSpPr>
          <p:cNvPr id="6" name="object 6"/>
          <p:cNvSpPr txBox="1"/>
          <p:nvPr/>
        </p:nvSpPr>
        <p:spPr>
          <a:xfrm>
            <a:off x="2166200" y="3922929"/>
            <a:ext cx="381707" cy="1183291"/>
          </a:xfrm>
          <a:prstGeom prst="rect">
            <a:avLst/>
          </a:prstGeom>
        </p:spPr>
        <p:txBody>
          <a:bodyPr vert="horz" wrap="square" lIns="0" tIns="12724" rIns="0" bIns="0" rtlCol="0">
            <a:spAutoFit/>
          </a:bodyPr>
          <a:lstStyle/>
          <a:p>
            <a:pPr marR="65529" algn="r">
              <a:spcBef>
                <a:spcPts val="100"/>
              </a:spcBef>
            </a:pPr>
            <a:r>
              <a:rPr sz="1803" spc="-50" dirty="0">
                <a:latin typeface="Arial MT"/>
                <a:cs typeface="Arial MT"/>
              </a:rPr>
              <a:t>0</a:t>
            </a:r>
            <a:endParaRPr sz="1803">
              <a:latin typeface="Arial MT"/>
              <a:cs typeface="Arial MT"/>
            </a:endParaRPr>
          </a:p>
          <a:p>
            <a:pPr marR="5090" algn="r">
              <a:spcBef>
                <a:spcPts val="1323"/>
              </a:spcBef>
            </a:pPr>
            <a:r>
              <a:rPr sz="1803" spc="-10" dirty="0">
                <a:latin typeface="Arial MT"/>
                <a:cs typeface="Arial MT"/>
              </a:rPr>
              <a:t>-</a:t>
            </a:r>
            <a:r>
              <a:rPr sz="1803" spc="-25" dirty="0">
                <a:latin typeface="Arial MT"/>
                <a:cs typeface="Arial MT"/>
              </a:rPr>
              <a:t>45</a:t>
            </a:r>
            <a:endParaRPr sz="1803">
              <a:latin typeface="Arial MT"/>
              <a:cs typeface="Arial MT"/>
            </a:endParaRPr>
          </a:p>
          <a:p>
            <a:pPr marR="29264" algn="r">
              <a:spcBef>
                <a:spcPts val="1297"/>
              </a:spcBef>
            </a:pPr>
            <a:r>
              <a:rPr sz="1803" spc="-10" dirty="0">
                <a:latin typeface="Arial MT"/>
                <a:cs typeface="Arial MT"/>
              </a:rPr>
              <a:t>-</a:t>
            </a:r>
            <a:r>
              <a:rPr sz="1803" spc="-25" dirty="0">
                <a:latin typeface="Arial MT"/>
                <a:cs typeface="Arial MT"/>
              </a:rPr>
              <a:t>90</a:t>
            </a:r>
            <a:endParaRPr sz="1803">
              <a:latin typeface="Arial MT"/>
              <a:cs typeface="Arial MT"/>
            </a:endParaRPr>
          </a:p>
        </p:txBody>
      </p:sp>
      <p:sp>
        <p:nvSpPr>
          <p:cNvPr id="7" name="object 7"/>
          <p:cNvSpPr txBox="1"/>
          <p:nvPr/>
        </p:nvSpPr>
        <p:spPr>
          <a:xfrm>
            <a:off x="6351744" y="6176526"/>
            <a:ext cx="251290" cy="300276"/>
          </a:xfrm>
          <a:prstGeom prst="rect">
            <a:avLst/>
          </a:prstGeom>
        </p:spPr>
        <p:txBody>
          <a:bodyPr vert="horz" wrap="square" lIns="0" tIns="12724" rIns="0" bIns="0" rtlCol="0">
            <a:spAutoFit/>
          </a:bodyPr>
          <a:lstStyle/>
          <a:p>
            <a:pPr marL="38172">
              <a:spcBef>
                <a:spcPts val="100"/>
              </a:spcBef>
            </a:pPr>
            <a:r>
              <a:rPr sz="1803" spc="-25" dirty="0">
                <a:latin typeface="Arial MT"/>
                <a:cs typeface="Arial MT"/>
              </a:rPr>
              <a:t>f</a:t>
            </a:r>
            <a:r>
              <a:rPr sz="1803" spc="-37" baseline="-20833" dirty="0">
                <a:latin typeface="Arial MT"/>
                <a:cs typeface="Arial MT"/>
              </a:rPr>
              <a:t>C</a:t>
            </a:r>
            <a:endParaRPr sz="1803" baseline="-20833">
              <a:latin typeface="Arial MT"/>
              <a:cs typeface="Arial MT"/>
            </a:endParaRPr>
          </a:p>
        </p:txBody>
      </p:sp>
      <p:sp>
        <p:nvSpPr>
          <p:cNvPr id="8" name="object 8"/>
          <p:cNvSpPr txBox="1"/>
          <p:nvPr/>
        </p:nvSpPr>
        <p:spPr>
          <a:xfrm>
            <a:off x="7502971" y="6197901"/>
            <a:ext cx="596099" cy="300276"/>
          </a:xfrm>
          <a:prstGeom prst="rect">
            <a:avLst/>
          </a:prstGeom>
        </p:spPr>
        <p:txBody>
          <a:bodyPr vert="horz" wrap="square" lIns="0" tIns="12724" rIns="0" bIns="0" rtlCol="0">
            <a:spAutoFit/>
          </a:bodyPr>
          <a:lstStyle/>
          <a:p>
            <a:pPr marL="38172">
              <a:spcBef>
                <a:spcPts val="100"/>
              </a:spcBef>
            </a:pPr>
            <a:r>
              <a:rPr sz="1803" spc="-10" dirty="0">
                <a:latin typeface="Arial MT"/>
                <a:cs typeface="Arial MT"/>
              </a:rPr>
              <a:t>10*f</a:t>
            </a:r>
            <a:r>
              <a:rPr sz="1803" spc="-15" baseline="-20833" dirty="0">
                <a:latin typeface="Arial MT"/>
                <a:cs typeface="Arial MT"/>
              </a:rPr>
              <a:t>C</a:t>
            </a:r>
            <a:endParaRPr sz="1803" baseline="-20833">
              <a:latin typeface="Arial MT"/>
              <a:cs typeface="Arial MT"/>
            </a:endParaRPr>
          </a:p>
        </p:txBody>
      </p:sp>
      <p:sp>
        <p:nvSpPr>
          <p:cNvPr id="9" name="object 9"/>
          <p:cNvSpPr txBox="1"/>
          <p:nvPr/>
        </p:nvSpPr>
        <p:spPr>
          <a:xfrm>
            <a:off x="4925686" y="6197901"/>
            <a:ext cx="660353" cy="300276"/>
          </a:xfrm>
          <a:prstGeom prst="rect">
            <a:avLst/>
          </a:prstGeom>
        </p:spPr>
        <p:txBody>
          <a:bodyPr vert="horz" wrap="square" lIns="0" tIns="12724" rIns="0" bIns="0" rtlCol="0">
            <a:spAutoFit/>
          </a:bodyPr>
          <a:lstStyle/>
          <a:p>
            <a:pPr marL="38172">
              <a:spcBef>
                <a:spcPts val="100"/>
              </a:spcBef>
            </a:pPr>
            <a:r>
              <a:rPr sz="1803" spc="-10" dirty="0">
                <a:latin typeface="Arial MT"/>
                <a:cs typeface="Arial MT"/>
              </a:rPr>
              <a:t>0.1*f</a:t>
            </a:r>
            <a:r>
              <a:rPr sz="1803" spc="-15" baseline="-20833" dirty="0">
                <a:latin typeface="Arial MT"/>
                <a:cs typeface="Arial MT"/>
              </a:rPr>
              <a:t>C</a:t>
            </a:r>
            <a:endParaRPr sz="1803" baseline="-20833">
              <a:latin typeface="Arial MT"/>
              <a:cs typeface="Arial MT"/>
            </a:endParaRPr>
          </a:p>
        </p:txBody>
      </p:sp>
      <p:sp>
        <p:nvSpPr>
          <p:cNvPr id="10" name="object 10"/>
          <p:cNvSpPr txBox="1"/>
          <p:nvPr/>
        </p:nvSpPr>
        <p:spPr>
          <a:xfrm>
            <a:off x="1903586" y="3165621"/>
            <a:ext cx="638723" cy="300276"/>
          </a:xfrm>
          <a:prstGeom prst="rect">
            <a:avLst/>
          </a:prstGeom>
        </p:spPr>
        <p:txBody>
          <a:bodyPr vert="horz" wrap="square" lIns="0" tIns="12724" rIns="0" bIns="0" rtlCol="0">
            <a:spAutoFit/>
          </a:bodyPr>
          <a:lstStyle/>
          <a:p>
            <a:pPr marL="12724">
              <a:spcBef>
                <a:spcPts val="100"/>
              </a:spcBef>
            </a:pPr>
            <a:r>
              <a:rPr sz="1803" spc="-10" dirty="0">
                <a:latin typeface="Arial MT"/>
                <a:cs typeface="Arial MT"/>
              </a:rPr>
              <a:t>-</a:t>
            </a:r>
            <a:r>
              <a:rPr sz="1803" spc="-20" dirty="0">
                <a:latin typeface="Arial MT"/>
                <a:cs typeface="Arial MT"/>
              </a:rPr>
              <a:t>60dB</a:t>
            </a:r>
            <a:endParaRPr sz="1803">
              <a:latin typeface="Arial MT"/>
              <a:cs typeface="Arial MT"/>
            </a:endParaRPr>
          </a:p>
        </p:txBody>
      </p:sp>
      <p:sp>
        <p:nvSpPr>
          <p:cNvPr id="11" name="object 11"/>
          <p:cNvSpPr txBox="1"/>
          <p:nvPr/>
        </p:nvSpPr>
        <p:spPr>
          <a:xfrm>
            <a:off x="1882210" y="1400609"/>
            <a:ext cx="715700" cy="1595535"/>
          </a:xfrm>
          <a:prstGeom prst="rect">
            <a:avLst/>
          </a:prstGeom>
        </p:spPr>
        <p:txBody>
          <a:bodyPr vert="horz" wrap="square" lIns="0" tIns="12724" rIns="0" bIns="0" rtlCol="0">
            <a:spAutoFit/>
          </a:bodyPr>
          <a:lstStyle/>
          <a:p>
            <a:pPr marL="12724">
              <a:spcBef>
                <a:spcPts val="100"/>
              </a:spcBef>
            </a:pPr>
            <a:r>
              <a:rPr sz="1803" spc="-10" dirty="0">
                <a:latin typeface="Arial MT"/>
                <a:cs typeface="Arial MT"/>
              </a:rPr>
              <a:t>+20dB</a:t>
            </a:r>
            <a:endParaRPr sz="1803">
              <a:latin typeface="Arial MT"/>
              <a:cs typeface="Arial MT"/>
            </a:endParaRPr>
          </a:p>
          <a:p>
            <a:pPr marL="293291">
              <a:spcBef>
                <a:spcPts val="1323"/>
              </a:spcBef>
            </a:pPr>
            <a:r>
              <a:rPr sz="1803" spc="-25" dirty="0">
                <a:latin typeface="Arial MT"/>
                <a:cs typeface="Arial MT"/>
              </a:rPr>
              <a:t>0dB</a:t>
            </a:r>
            <a:endParaRPr sz="1803">
              <a:latin typeface="Arial MT"/>
              <a:cs typeface="Arial MT"/>
            </a:endParaRPr>
          </a:p>
          <a:p>
            <a:pPr marL="89069">
              <a:spcBef>
                <a:spcPts val="1393"/>
              </a:spcBef>
            </a:pPr>
            <a:r>
              <a:rPr sz="1803" spc="-10" dirty="0">
                <a:latin typeface="Arial MT"/>
                <a:cs typeface="Arial MT"/>
              </a:rPr>
              <a:t>-</a:t>
            </a:r>
            <a:r>
              <a:rPr sz="1803" spc="-20" dirty="0">
                <a:latin typeface="Arial MT"/>
                <a:cs typeface="Arial MT"/>
              </a:rPr>
              <a:t>20dB</a:t>
            </a:r>
            <a:endParaRPr sz="1803">
              <a:latin typeface="Arial MT"/>
              <a:cs typeface="Arial MT"/>
            </a:endParaRPr>
          </a:p>
          <a:p>
            <a:pPr marL="70619">
              <a:spcBef>
                <a:spcPts val="987"/>
              </a:spcBef>
            </a:pPr>
            <a:r>
              <a:rPr sz="1803" spc="-10" dirty="0">
                <a:latin typeface="Arial MT"/>
                <a:cs typeface="Arial MT"/>
              </a:rPr>
              <a:t>-</a:t>
            </a:r>
            <a:r>
              <a:rPr sz="1803" spc="-20" dirty="0">
                <a:latin typeface="Arial MT"/>
                <a:cs typeface="Arial MT"/>
              </a:rPr>
              <a:t>40dB</a:t>
            </a:r>
            <a:endParaRPr sz="1803">
              <a:latin typeface="Arial MT"/>
              <a:cs typeface="Arial MT"/>
            </a:endParaRPr>
          </a:p>
        </p:txBody>
      </p:sp>
      <p:grpSp>
        <p:nvGrpSpPr>
          <p:cNvPr id="12" name="object 12"/>
          <p:cNvGrpSpPr/>
          <p:nvPr/>
        </p:nvGrpSpPr>
        <p:grpSpPr>
          <a:xfrm>
            <a:off x="8170196" y="970553"/>
            <a:ext cx="2201812" cy="1246273"/>
            <a:chOff x="6623304" y="968755"/>
            <a:chExt cx="2197735" cy="1243965"/>
          </a:xfrm>
        </p:grpSpPr>
        <p:sp>
          <p:nvSpPr>
            <p:cNvPr id="13" name="object 13"/>
            <p:cNvSpPr/>
            <p:nvPr/>
          </p:nvSpPr>
          <p:spPr>
            <a:xfrm>
              <a:off x="6623304" y="968755"/>
              <a:ext cx="2197735" cy="1243965"/>
            </a:xfrm>
            <a:custGeom>
              <a:avLst/>
              <a:gdLst/>
              <a:ahLst/>
              <a:cxnLst/>
              <a:rect l="l" t="t" r="r" b="b"/>
              <a:pathLst>
                <a:path w="2197734" h="1243964">
                  <a:moveTo>
                    <a:pt x="2197607" y="0"/>
                  </a:moveTo>
                  <a:lnTo>
                    <a:pt x="0" y="0"/>
                  </a:lnTo>
                  <a:lnTo>
                    <a:pt x="0" y="1243584"/>
                  </a:lnTo>
                  <a:lnTo>
                    <a:pt x="2197607" y="1243584"/>
                  </a:lnTo>
                  <a:lnTo>
                    <a:pt x="2197607" y="0"/>
                  </a:lnTo>
                  <a:close/>
                </a:path>
              </a:pathLst>
            </a:custGeom>
            <a:solidFill>
              <a:srgbClr val="F1F1F1"/>
            </a:solidFill>
          </p:spPr>
          <p:txBody>
            <a:bodyPr wrap="square" lIns="0" tIns="0" rIns="0" bIns="0" rtlCol="0"/>
            <a:lstStyle/>
            <a:p>
              <a:endParaRPr sz="1803"/>
            </a:p>
          </p:txBody>
        </p:sp>
        <p:sp>
          <p:nvSpPr>
            <p:cNvPr id="14" name="object 14"/>
            <p:cNvSpPr/>
            <p:nvPr/>
          </p:nvSpPr>
          <p:spPr>
            <a:xfrm>
              <a:off x="8341042" y="1761807"/>
              <a:ext cx="386080" cy="0"/>
            </a:xfrm>
            <a:custGeom>
              <a:avLst/>
              <a:gdLst/>
              <a:ahLst/>
              <a:cxnLst/>
              <a:rect l="l" t="t" r="r" b="b"/>
              <a:pathLst>
                <a:path w="386079">
                  <a:moveTo>
                    <a:pt x="0" y="0"/>
                  </a:moveTo>
                  <a:lnTo>
                    <a:pt x="385952" y="0"/>
                  </a:lnTo>
                </a:path>
              </a:pathLst>
            </a:custGeom>
            <a:ln w="6329">
              <a:solidFill>
                <a:srgbClr val="000000"/>
              </a:solidFill>
            </a:ln>
          </p:spPr>
          <p:txBody>
            <a:bodyPr wrap="square" lIns="0" tIns="0" rIns="0" bIns="0" rtlCol="0"/>
            <a:lstStyle/>
            <a:p>
              <a:endParaRPr sz="1803"/>
            </a:p>
          </p:txBody>
        </p:sp>
        <p:sp>
          <p:nvSpPr>
            <p:cNvPr id="15" name="object 15"/>
            <p:cNvSpPr/>
            <p:nvPr/>
          </p:nvSpPr>
          <p:spPr>
            <a:xfrm>
              <a:off x="7747444" y="1374901"/>
              <a:ext cx="1005205" cy="0"/>
            </a:xfrm>
            <a:custGeom>
              <a:avLst/>
              <a:gdLst/>
              <a:ahLst/>
              <a:cxnLst/>
              <a:rect l="l" t="t" r="r" b="b"/>
              <a:pathLst>
                <a:path w="1005204">
                  <a:moveTo>
                    <a:pt x="0" y="0"/>
                  </a:moveTo>
                  <a:lnTo>
                    <a:pt x="1004887" y="0"/>
                  </a:lnTo>
                </a:path>
              </a:pathLst>
            </a:custGeom>
            <a:ln w="12659">
              <a:solidFill>
                <a:srgbClr val="000000"/>
              </a:solidFill>
            </a:ln>
          </p:spPr>
          <p:txBody>
            <a:bodyPr wrap="square" lIns="0" tIns="0" rIns="0" bIns="0" rtlCol="0"/>
            <a:lstStyle/>
            <a:p>
              <a:endParaRPr sz="1803"/>
            </a:p>
          </p:txBody>
        </p:sp>
      </p:grpSp>
      <p:sp>
        <p:nvSpPr>
          <p:cNvPr id="16" name="object 16"/>
          <p:cNvSpPr txBox="1"/>
          <p:nvPr/>
        </p:nvSpPr>
        <p:spPr>
          <a:xfrm>
            <a:off x="9867010" y="1747377"/>
            <a:ext cx="393794" cy="404609"/>
          </a:xfrm>
          <a:prstGeom prst="rect">
            <a:avLst/>
          </a:prstGeom>
        </p:spPr>
        <p:txBody>
          <a:bodyPr vert="horz" wrap="square" lIns="0" tIns="16541" rIns="0" bIns="0" rtlCol="0">
            <a:spAutoFit/>
          </a:bodyPr>
          <a:lstStyle/>
          <a:p>
            <a:pPr marL="25448">
              <a:spcBef>
                <a:spcPts val="130"/>
              </a:spcBef>
            </a:pPr>
            <a:r>
              <a:rPr sz="2455" i="1" spc="-85" dirty="0">
                <a:latin typeface="Verdana"/>
                <a:cs typeface="Verdana"/>
              </a:rPr>
              <a:t>ω</a:t>
            </a:r>
            <a:r>
              <a:rPr sz="2104" i="1" spc="-127" baseline="-23809" dirty="0">
                <a:latin typeface="Arial"/>
                <a:cs typeface="Arial"/>
              </a:rPr>
              <a:t>C</a:t>
            </a:r>
            <a:endParaRPr sz="2104" baseline="-23809">
              <a:latin typeface="Arial"/>
              <a:cs typeface="Arial"/>
            </a:endParaRPr>
          </a:p>
        </p:txBody>
      </p:sp>
      <p:sp>
        <p:nvSpPr>
          <p:cNvPr id="17" name="object 17"/>
          <p:cNvSpPr txBox="1"/>
          <p:nvPr/>
        </p:nvSpPr>
        <p:spPr>
          <a:xfrm>
            <a:off x="8206839" y="1027130"/>
            <a:ext cx="1017249" cy="521666"/>
          </a:xfrm>
          <a:prstGeom prst="rect">
            <a:avLst/>
          </a:prstGeom>
        </p:spPr>
        <p:txBody>
          <a:bodyPr vert="horz" wrap="square" lIns="0" tIns="12087" rIns="0" bIns="0" rtlCol="0">
            <a:spAutoFit/>
          </a:bodyPr>
          <a:lstStyle/>
          <a:p>
            <a:pPr>
              <a:spcBef>
                <a:spcPts val="95"/>
              </a:spcBef>
            </a:pPr>
            <a:r>
              <a:rPr sz="2405" i="1" spc="-80" dirty="0">
                <a:latin typeface="Arial"/>
                <a:cs typeface="Arial"/>
              </a:rPr>
              <a:t>H</a:t>
            </a:r>
            <a:r>
              <a:rPr sz="3256" spc="-80" dirty="0">
                <a:latin typeface="Symbol"/>
                <a:cs typeface="Symbol"/>
              </a:rPr>
              <a:t></a:t>
            </a:r>
            <a:r>
              <a:rPr sz="3256" spc="-506" dirty="0">
                <a:latin typeface="Times New Roman"/>
                <a:cs typeface="Times New Roman"/>
              </a:rPr>
              <a:t> </a:t>
            </a:r>
            <a:r>
              <a:rPr sz="2405" i="1" spc="-170" dirty="0">
                <a:latin typeface="Arial"/>
                <a:cs typeface="Arial"/>
              </a:rPr>
              <a:t>j</a:t>
            </a:r>
            <a:r>
              <a:rPr sz="2455" i="1" spc="-170" dirty="0">
                <a:latin typeface="Verdana"/>
                <a:cs typeface="Verdana"/>
              </a:rPr>
              <a:t>ω</a:t>
            </a:r>
            <a:r>
              <a:rPr sz="3256" spc="-170" dirty="0">
                <a:latin typeface="Symbol"/>
                <a:cs typeface="Symbol"/>
              </a:rPr>
              <a:t></a:t>
            </a:r>
            <a:r>
              <a:rPr sz="3256" spc="-381" dirty="0">
                <a:latin typeface="Times New Roman"/>
                <a:cs typeface="Times New Roman"/>
              </a:rPr>
              <a:t> </a:t>
            </a:r>
            <a:r>
              <a:rPr sz="2405" spc="-50" dirty="0">
                <a:latin typeface="Symbol"/>
                <a:cs typeface="Symbol"/>
              </a:rPr>
              <a:t></a:t>
            </a:r>
            <a:endParaRPr sz="2405">
              <a:latin typeface="Symbol"/>
              <a:cs typeface="Symbol"/>
            </a:endParaRPr>
          </a:p>
        </p:txBody>
      </p:sp>
      <p:sp>
        <p:nvSpPr>
          <p:cNvPr id="18" name="object 18"/>
          <p:cNvSpPr txBox="1"/>
          <p:nvPr/>
        </p:nvSpPr>
        <p:spPr>
          <a:xfrm>
            <a:off x="9262385" y="1512246"/>
            <a:ext cx="951086" cy="404609"/>
          </a:xfrm>
          <a:prstGeom prst="rect">
            <a:avLst/>
          </a:prstGeom>
        </p:spPr>
        <p:txBody>
          <a:bodyPr vert="horz" wrap="square" lIns="0" tIns="16541" rIns="0" bIns="0" rtlCol="0">
            <a:spAutoFit/>
          </a:bodyPr>
          <a:lstStyle/>
          <a:p>
            <a:pPr marL="25448">
              <a:spcBef>
                <a:spcPts val="130"/>
              </a:spcBef>
              <a:tabLst>
                <a:tab pos="703008" algn="l"/>
              </a:tabLst>
            </a:pPr>
            <a:r>
              <a:rPr sz="2405" spc="55" dirty="0">
                <a:latin typeface="Arial MT"/>
                <a:cs typeface="Arial MT"/>
              </a:rPr>
              <a:t>1</a:t>
            </a:r>
            <a:r>
              <a:rPr sz="2405" spc="55" dirty="0">
                <a:latin typeface="Symbol"/>
                <a:cs typeface="Symbol"/>
              </a:rPr>
              <a:t></a:t>
            </a:r>
            <a:r>
              <a:rPr sz="2405" spc="245" dirty="0">
                <a:latin typeface="Times New Roman"/>
                <a:cs typeface="Times New Roman"/>
              </a:rPr>
              <a:t> </a:t>
            </a:r>
            <a:r>
              <a:rPr sz="2405" i="1" spc="-50" dirty="0">
                <a:latin typeface="Arial"/>
                <a:cs typeface="Arial"/>
              </a:rPr>
              <a:t>j</a:t>
            </a:r>
            <a:r>
              <a:rPr sz="2405" i="1" dirty="0">
                <a:latin typeface="Arial"/>
                <a:cs typeface="Arial"/>
              </a:rPr>
              <a:t>	</a:t>
            </a:r>
            <a:r>
              <a:rPr sz="3682" i="1" spc="-616" baseline="32879" dirty="0">
                <a:latin typeface="Verdana"/>
                <a:cs typeface="Verdana"/>
              </a:rPr>
              <a:t>ω</a:t>
            </a:r>
            <a:endParaRPr sz="3682" baseline="32879">
              <a:latin typeface="Verdana"/>
              <a:cs typeface="Verdana"/>
            </a:endParaRPr>
          </a:p>
        </p:txBody>
      </p:sp>
      <p:sp>
        <p:nvSpPr>
          <p:cNvPr id="19" name="object 19"/>
          <p:cNvSpPr txBox="1"/>
          <p:nvPr/>
        </p:nvSpPr>
        <p:spPr>
          <a:xfrm>
            <a:off x="9724505" y="942810"/>
            <a:ext cx="182583" cy="391886"/>
          </a:xfrm>
          <a:prstGeom prst="rect">
            <a:avLst/>
          </a:prstGeom>
        </p:spPr>
        <p:txBody>
          <a:bodyPr vert="horz" wrap="square" lIns="0" tIns="12087" rIns="0" bIns="0" rtlCol="0">
            <a:spAutoFit/>
          </a:bodyPr>
          <a:lstStyle/>
          <a:p>
            <a:pPr>
              <a:spcBef>
                <a:spcPts val="95"/>
              </a:spcBef>
            </a:pPr>
            <a:r>
              <a:rPr sz="2405" spc="-50" dirty="0">
                <a:latin typeface="Arial MT"/>
                <a:cs typeface="Arial MT"/>
              </a:rPr>
              <a:t>1</a:t>
            </a:r>
            <a:endParaRPr sz="2405">
              <a:latin typeface="Arial MT"/>
              <a:cs typeface="Arial MT"/>
            </a:endParaRPr>
          </a:p>
        </p:txBody>
      </p:sp>
      <p:grpSp>
        <p:nvGrpSpPr>
          <p:cNvPr id="20" name="object 20"/>
          <p:cNvGrpSpPr/>
          <p:nvPr/>
        </p:nvGrpSpPr>
        <p:grpSpPr>
          <a:xfrm>
            <a:off x="1745305" y="946124"/>
            <a:ext cx="8651386" cy="5817213"/>
            <a:chOff x="210311" y="944372"/>
            <a:chExt cx="8635365" cy="5806440"/>
          </a:xfrm>
        </p:grpSpPr>
        <p:sp>
          <p:nvSpPr>
            <p:cNvPr id="21" name="object 21"/>
            <p:cNvSpPr/>
            <p:nvPr/>
          </p:nvSpPr>
          <p:spPr>
            <a:xfrm>
              <a:off x="6611111" y="956563"/>
              <a:ext cx="2222500" cy="1268095"/>
            </a:xfrm>
            <a:custGeom>
              <a:avLst/>
              <a:gdLst/>
              <a:ahLst/>
              <a:cxnLst/>
              <a:rect l="l" t="t" r="r" b="b"/>
              <a:pathLst>
                <a:path w="2222500" h="1268095">
                  <a:moveTo>
                    <a:pt x="0" y="0"/>
                  </a:moveTo>
                  <a:lnTo>
                    <a:pt x="2221992" y="0"/>
                  </a:lnTo>
                  <a:lnTo>
                    <a:pt x="2221992" y="1267968"/>
                  </a:lnTo>
                  <a:lnTo>
                    <a:pt x="0" y="1267968"/>
                  </a:lnTo>
                  <a:lnTo>
                    <a:pt x="0" y="0"/>
                  </a:lnTo>
                  <a:close/>
                </a:path>
              </a:pathLst>
            </a:custGeom>
            <a:ln w="24382">
              <a:solidFill>
                <a:srgbClr val="4E80BC"/>
              </a:solidFill>
            </a:ln>
          </p:spPr>
          <p:txBody>
            <a:bodyPr wrap="square" lIns="0" tIns="0" rIns="0" bIns="0" rtlCol="0"/>
            <a:lstStyle/>
            <a:p>
              <a:endParaRPr sz="1803"/>
            </a:p>
          </p:txBody>
        </p:sp>
        <p:pic>
          <p:nvPicPr>
            <p:cNvPr id="22" name="object 22"/>
            <p:cNvPicPr/>
            <p:nvPr/>
          </p:nvPicPr>
          <p:blipFill>
            <a:blip r:embed="rId3" cstate="print"/>
            <a:stretch>
              <a:fillRect/>
            </a:stretch>
          </p:blipFill>
          <p:spPr>
            <a:xfrm>
              <a:off x="210311" y="5559044"/>
              <a:ext cx="2560320" cy="1191768"/>
            </a:xfrm>
            <a:prstGeom prst="rect">
              <a:avLst/>
            </a:prstGeom>
          </p:spPr>
        </p:pic>
        <p:sp>
          <p:nvSpPr>
            <p:cNvPr id="23" name="object 23"/>
            <p:cNvSpPr/>
            <p:nvPr/>
          </p:nvSpPr>
          <p:spPr>
            <a:xfrm>
              <a:off x="4221479" y="2035555"/>
              <a:ext cx="658495" cy="612775"/>
            </a:xfrm>
            <a:custGeom>
              <a:avLst/>
              <a:gdLst/>
              <a:ahLst/>
              <a:cxnLst/>
              <a:rect l="l" t="t" r="r" b="b"/>
              <a:pathLst>
                <a:path w="658495" h="612775">
                  <a:moveTo>
                    <a:pt x="602797" y="52402"/>
                  </a:moveTo>
                  <a:lnTo>
                    <a:pt x="563425" y="60839"/>
                  </a:lnTo>
                  <a:lnTo>
                    <a:pt x="0" y="585216"/>
                  </a:lnTo>
                  <a:lnTo>
                    <a:pt x="27432" y="612648"/>
                  </a:lnTo>
                  <a:lnTo>
                    <a:pt x="591661" y="87523"/>
                  </a:lnTo>
                  <a:lnTo>
                    <a:pt x="602797" y="52402"/>
                  </a:lnTo>
                  <a:close/>
                </a:path>
                <a:path w="658495" h="612775">
                  <a:moveTo>
                    <a:pt x="654616" y="12192"/>
                  </a:moveTo>
                  <a:lnTo>
                    <a:pt x="615696" y="12192"/>
                  </a:lnTo>
                  <a:lnTo>
                    <a:pt x="643128" y="39624"/>
                  </a:lnTo>
                  <a:lnTo>
                    <a:pt x="591661" y="87523"/>
                  </a:lnTo>
                  <a:lnTo>
                    <a:pt x="573024" y="146304"/>
                  </a:lnTo>
                  <a:lnTo>
                    <a:pt x="572357" y="154828"/>
                  </a:lnTo>
                  <a:lnTo>
                    <a:pt x="574548" y="161925"/>
                  </a:lnTo>
                  <a:lnTo>
                    <a:pt x="579024" y="167306"/>
                  </a:lnTo>
                  <a:lnTo>
                    <a:pt x="585216" y="170688"/>
                  </a:lnTo>
                  <a:lnTo>
                    <a:pt x="593740" y="171354"/>
                  </a:lnTo>
                  <a:lnTo>
                    <a:pt x="600837" y="169163"/>
                  </a:lnTo>
                  <a:lnTo>
                    <a:pt x="606218" y="164687"/>
                  </a:lnTo>
                  <a:lnTo>
                    <a:pt x="609600" y="158496"/>
                  </a:lnTo>
                  <a:lnTo>
                    <a:pt x="654616" y="12192"/>
                  </a:lnTo>
                  <a:close/>
                </a:path>
                <a:path w="658495" h="612775">
                  <a:moveTo>
                    <a:pt x="624839" y="21336"/>
                  </a:moveTo>
                  <a:lnTo>
                    <a:pt x="612648" y="21336"/>
                  </a:lnTo>
                  <a:lnTo>
                    <a:pt x="633984" y="45720"/>
                  </a:lnTo>
                  <a:lnTo>
                    <a:pt x="602797" y="52402"/>
                  </a:lnTo>
                  <a:lnTo>
                    <a:pt x="591661" y="87523"/>
                  </a:lnTo>
                  <a:lnTo>
                    <a:pt x="643128" y="39624"/>
                  </a:lnTo>
                  <a:lnTo>
                    <a:pt x="624839" y="21336"/>
                  </a:lnTo>
                  <a:close/>
                </a:path>
                <a:path w="658495" h="612775">
                  <a:moveTo>
                    <a:pt x="658368" y="0"/>
                  </a:moveTo>
                  <a:lnTo>
                    <a:pt x="496824" y="36576"/>
                  </a:lnTo>
                  <a:lnTo>
                    <a:pt x="490156" y="39909"/>
                  </a:lnTo>
                  <a:lnTo>
                    <a:pt x="484632" y="44958"/>
                  </a:lnTo>
                  <a:lnTo>
                    <a:pt x="481393" y="51149"/>
                  </a:lnTo>
                  <a:lnTo>
                    <a:pt x="481584" y="57912"/>
                  </a:lnTo>
                  <a:lnTo>
                    <a:pt x="484965" y="65865"/>
                  </a:lnTo>
                  <a:lnTo>
                    <a:pt x="490347" y="71247"/>
                  </a:lnTo>
                  <a:lnTo>
                    <a:pt x="497443" y="73771"/>
                  </a:lnTo>
                  <a:lnTo>
                    <a:pt x="505968" y="73152"/>
                  </a:lnTo>
                  <a:lnTo>
                    <a:pt x="563425" y="60839"/>
                  </a:lnTo>
                  <a:lnTo>
                    <a:pt x="615696" y="12192"/>
                  </a:lnTo>
                  <a:lnTo>
                    <a:pt x="654616" y="12192"/>
                  </a:lnTo>
                  <a:lnTo>
                    <a:pt x="658368" y="0"/>
                  </a:lnTo>
                  <a:close/>
                </a:path>
                <a:path w="658495" h="612775">
                  <a:moveTo>
                    <a:pt x="615696" y="12192"/>
                  </a:moveTo>
                  <a:lnTo>
                    <a:pt x="563425" y="60839"/>
                  </a:lnTo>
                  <a:lnTo>
                    <a:pt x="602797" y="52402"/>
                  </a:lnTo>
                  <a:lnTo>
                    <a:pt x="612648" y="21336"/>
                  </a:lnTo>
                  <a:lnTo>
                    <a:pt x="624839" y="21336"/>
                  </a:lnTo>
                  <a:lnTo>
                    <a:pt x="615696" y="12192"/>
                  </a:lnTo>
                  <a:close/>
                </a:path>
                <a:path w="658495" h="612775">
                  <a:moveTo>
                    <a:pt x="612648" y="21336"/>
                  </a:moveTo>
                  <a:lnTo>
                    <a:pt x="602797" y="52402"/>
                  </a:lnTo>
                  <a:lnTo>
                    <a:pt x="633984" y="45720"/>
                  </a:lnTo>
                  <a:lnTo>
                    <a:pt x="612648" y="21336"/>
                  </a:lnTo>
                  <a:close/>
                </a:path>
              </a:pathLst>
            </a:custGeom>
            <a:solidFill>
              <a:srgbClr val="000000"/>
            </a:solidFill>
          </p:spPr>
          <p:txBody>
            <a:bodyPr wrap="square" lIns="0" tIns="0" rIns="0" bIns="0" rtlCol="0"/>
            <a:lstStyle/>
            <a:p>
              <a:endParaRPr sz="1803"/>
            </a:p>
          </p:txBody>
        </p:sp>
      </p:grpSp>
      <p:sp>
        <p:nvSpPr>
          <p:cNvPr id="24" name="object 24"/>
          <p:cNvSpPr/>
          <p:nvPr/>
        </p:nvSpPr>
        <p:spPr>
          <a:xfrm>
            <a:off x="2293245" y="555637"/>
            <a:ext cx="292006" cy="0"/>
          </a:xfrm>
          <a:custGeom>
            <a:avLst/>
            <a:gdLst/>
            <a:ahLst/>
            <a:cxnLst/>
            <a:rect l="l" t="t" r="r" b="b"/>
            <a:pathLst>
              <a:path w="291465">
                <a:moveTo>
                  <a:pt x="0" y="0"/>
                </a:moveTo>
                <a:lnTo>
                  <a:pt x="291084" y="0"/>
                </a:lnTo>
              </a:path>
            </a:pathLst>
          </a:custGeom>
          <a:ln w="9413">
            <a:solidFill>
              <a:srgbClr val="000000"/>
            </a:solidFill>
          </a:ln>
        </p:spPr>
        <p:txBody>
          <a:bodyPr wrap="square" lIns="0" tIns="0" rIns="0" bIns="0" rtlCol="0"/>
          <a:lstStyle/>
          <a:p>
            <a:endParaRPr sz="1803"/>
          </a:p>
        </p:txBody>
      </p:sp>
      <p:sp>
        <p:nvSpPr>
          <p:cNvPr id="25" name="object 25"/>
          <p:cNvSpPr/>
          <p:nvPr/>
        </p:nvSpPr>
        <p:spPr>
          <a:xfrm>
            <a:off x="2838895" y="555637"/>
            <a:ext cx="591646" cy="0"/>
          </a:xfrm>
          <a:custGeom>
            <a:avLst/>
            <a:gdLst/>
            <a:ahLst/>
            <a:cxnLst/>
            <a:rect l="l" t="t" r="r" b="b"/>
            <a:pathLst>
              <a:path w="590550">
                <a:moveTo>
                  <a:pt x="0" y="0"/>
                </a:moveTo>
                <a:lnTo>
                  <a:pt x="590359" y="0"/>
                </a:lnTo>
              </a:path>
            </a:pathLst>
          </a:custGeom>
          <a:ln w="9413">
            <a:solidFill>
              <a:srgbClr val="000000"/>
            </a:solidFill>
          </a:ln>
        </p:spPr>
        <p:txBody>
          <a:bodyPr wrap="square" lIns="0" tIns="0" rIns="0" bIns="0" rtlCol="0"/>
          <a:lstStyle/>
          <a:p>
            <a:endParaRPr sz="1803"/>
          </a:p>
        </p:txBody>
      </p:sp>
      <p:sp>
        <p:nvSpPr>
          <p:cNvPr id="26" name="object 26"/>
          <p:cNvSpPr txBox="1"/>
          <p:nvPr/>
        </p:nvSpPr>
        <p:spPr>
          <a:xfrm>
            <a:off x="2291400" y="542705"/>
            <a:ext cx="1130488" cy="307910"/>
          </a:xfrm>
          <a:prstGeom prst="rect">
            <a:avLst/>
          </a:prstGeom>
        </p:spPr>
        <p:txBody>
          <a:bodyPr vert="horz" wrap="square" lIns="0" tIns="12087" rIns="0" bIns="0" rtlCol="0">
            <a:spAutoFit/>
          </a:bodyPr>
          <a:lstStyle/>
          <a:p>
            <a:pPr marL="12724">
              <a:spcBef>
                <a:spcPts val="95"/>
              </a:spcBef>
              <a:tabLst>
                <a:tab pos="559226" algn="l"/>
              </a:tabLst>
            </a:pPr>
            <a:r>
              <a:rPr sz="1753" spc="-25" dirty="0">
                <a:latin typeface="Arial MT"/>
                <a:cs typeface="Arial MT"/>
              </a:rPr>
              <a:t>2</a:t>
            </a:r>
            <a:r>
              <a:rPr sz="1854" i="1" spc="-25" dirty="0">
                <a:latin typeface="Verdana"/>
                <a:cs typeface="Verdana"/>
              </a:rPr>
              <a:t>π</a:t>
            </a:r>
            <a:r>
              <a:rPr sz="1854" i="1" dirty="0">
                <a:latin typeface="Verdana"/>
                <a:cs typeface="Verdana"/>
              </a:rPr>
              <a:t>	</a:t>
            </a:r>
            <a:r>
              <a:rPr sz="1753" spc="-65" dirty="0">
                <a:latin typeface="Arial MT"/>
                <a:cs typeface="Arial MT"/>
              </a:rPr>
              <a:t>2</a:t>
            </a:r>
            <a:r>
              <a:rPr sz="1854" i="1" spc="-65" dirty="0">
                <a:latin typeface="Verdana"/>
                <a:cs typeface="Verdana"/>
              </a:rPr>
              <a:t>π</a:t>
            </a:r>
            <a:r>
              <a:rPr sz="1753" i="1" spc="-65" dirty="0">
                <a:latin typeface="Arial"/>
                <a:cs typeface="Arial"/>
              </a:rPr>
              <a:t>RC</a:t>
            </a:r>
            <a:endParaRPr sz="1753">
              <a:latin typeface="Arial"/>
              <a:cs typeface="Arial"/>
            </a:endParaRPr>
          </a:p>
        </p:txBody>
      </p:sp>
      <p:sp>
        <p:nvSpPr>
          <p:cNvPr id="34" name="object 34"/>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30</a:t>
            </a:r>
          </a:p>
        </p:txBody>
      </p:sp>
      <p:sp>
        <p:nvSpPr>
          <p:cNvPr id="27" name="object 27"/>
          <p:cNvSpPr txBox="1"/>
          <p:nvPr/>
        </p:nvSpPr>
        <p:spPr>
          <a:xfrm>
            <a:off x="1854727" y="373597"/>
            <a:ext cx="89065" cy="286456"/>
          </a:xfrm>
          <a:prstGeom prst="rect">
            <a:avLst/>
          </a:prstGeom>
        </p:spPr>
        <p:txBody>
          <a:bodyPr vert="horz" wrap="square" lIns="0" tIns="16541" rIns="0" bIns="0" rtlCol="0">
            <a:spAutoFit/>
          </a:bodyPr>
          <a:lstStyle/>
          <a:p>
            <a:pPr marL="12724">
              <a:spcBef>
                <a:spcPts val="130"/>
              </a:spcBef>
            </a:pPr>
            <a:r>
              <a:rPr sz="1753" i="1" spc="-50" dirty="0">
                <a:latin typeface="Arial"/>
                <a:cs typeface="Arial"/>
              </a:rPr>
              <a:t>f</a:t>
            </a:r>
            <a:endParaRPr sz="1753">
              <a:latin typeface="Arial"/>
              <a:cs typeface="Arial"/>
            </a:endParaRPr>
          </a:p>
        </p:txBody>
      </p:sp>
      <p:sp>
        <p:nvSpPr>
          <p:cNvPr id="28" name="object 28"/>
          <p:cNvSpPr txBox="1"/>
          <p:nvPr/>
        </p:nvSpPr>
        <p:spPr>
          <a:xfrm>
            <a:off x="2067466" y="222071"/>
            <a:ext cx="500035" cy="307910"/>
          </a:xfrm>
          <a:prstGeom prst="rect">
            <a:avLst/>
          </a:prstGeom>
        </p:spPr>
        <p:txBody>
          <a:bodyPr vert="horz" wrap="square" lIns="0" tIns="12087" rIns="0" bIns="0" rtlCol="0">
            <a:spAutoFit/>
          </a:bodyPr>
          <a:lstStyle/>
          <a:p>
            <a:pPr marL="38172">
              <a:spcBef>
                <a:spcPts val="95"/>
              </a:spcBef>
            </a:pPr>
            <a:r>
              <a:rPr sz="2630" baseline="-36507" dirty="0">
                <a:latin typeface="Symbol"/>
                <a:cs typeface="Symbol"/>
              </a:rPr>
              <a:t></a:t>
            </a:r>
            <a:r>
              <a:rPr sz="2630" spc="254" baseline="-36507" dirty="0">
                <a:latin typeface="Times New Roman"/>
                <a:cs typeface="Times New Roman"/>
              </a:rPr>
              <a:t> </a:t>
            </a:r>
            <a:r>
              <a:rPr sz="1854" i="1" spc="-25" dirty="0">
                <a:latin typeface="Verdana"/>
                <a:cs typeface="Verdana"/>
              </a:rPr>
              <a:t>ω</a:t>
            </a:r>
            <a:r>
              <a:rPr sz="1578" i="1" spc="-37" baseline="-23809" dirty="0">
                <a:latin typeface="Arial"/>
                <a:cs typeface="Arial"/>
              </a:rPr>
              <a:t>c</a:t>
            </a:r>
            <a:endParaRPr sz="1578" baseline="-23809">
              <a:latin typeface="Arial"/>
              <a:cs typeface="Arial"/>
            </a:endParaRPr>
          </a:p>
        </p:txBody>
      </p:sp>
      <p:sp>
        <p:nvSpPr>
          <p:cNvPr id="29" name="object 29"/>
          <p:cNvSpPr txBox="1"/>
          <p:nvPr/>
        </p:nvSpPr>
        <p:spPr>
          <a:xfrm>
            <a:off x="1909693" y="523128"/>
            <a:ext cx="121510" cy="173767"/>
          </a:xfrm>
          <a:prstGeom prst="rect">
            <a:avLst/>
          </a:prstGeom>
        </p:spPr>
        <p:txBody>
          <a:bodyPr vert="horz" wrap="square" lIns="0" tIns="11451" rIns="0" bIns="0" rtlCol="0">
            <a:spAutoFit/>
          </a:bodyPr>
          <a:lstStyle/>
          <a:p>
            <a:pPr marL="12724">
              <a:spcBef>
                <a:spcPts val="90"/>
              </a:spcBef>
            </a:pPr>
            <a:r>
              <a:rPr sz="1052" i="1" spc="-50" dirty="0">
                <a:latin typeface="Arial"/>
                <a:cs typeface="Arial"/>
              </a:rPr>
              <a:t>C</a:t>
            </a:r>
            <a:endParaRPr sz="1052">
              <a:latin typeface="Arial"/>
              <a:cs typeface="Arial"/>
            </a:endParaRPr>
          </a:p>
        </p:txBody>
      </p:sp>
      <p:sp>
        <p:nvSpPr>
          <p:cNvPr id="30" name="object 30"/>
          <p:cNvSpPr txBox="1"/>
          <p:nvPr/>
        </p:nvSpPr>
        <p:spPr>
          <a:xfrm>
            <a:off x="3067029" y="230075"/>
            <a:ext cx="152047" cy="286456"/>
          </a:xfrm>
          <a:prstGeom prst="rect">
            <a:avLst/>
          </a:prstGeom>
        </p:spPr>
        <p:txBody>
          <a:bodyPr vert="horz" wrap="square" lIns="0" tIns="16541" rIns="0" bIns="0" rtlCol="0">
            <a:spAutoFit/>
          </a:bodyPr>
          <a:lstStyle/>
          <a:p>
            <a:pPr marL="12724">
              <a:spcBef>
                <a:spcPts val="130"/>
              </a:spcBef>
            </a:pPr>
            <a:r>
              <a:rPr sz="1753" spc="-50" dirty="0">
                <a:latin typeface="Arial MT"/>
                <a:cs typeface="Arial MT"/>
              </a:rPr>
              <a:t>1</a:t>
            </a:r>
            <a:endParaRPr sz="1753">
              <a:latin typeface="Arial MT"/>
              <a:cs typeface="Arial MT"/>
            </a:endParaRPr>
          </a:p>
        </p:txBody>
      </p:sp>
      <p:sp>
        <p:nvSpPr>
          <p:cNvPr id="31" name="object 31"/>
          <p:cNvSpPr txBox="1"/>
          <p:nvPr/>
        </p:nvSpPr>
        <p:spPr>
          <a:xfrm>
            <a:off x="2639516" y="373597"/>
            <a:ext cx="150138" cy="286456"/>
          </a:xfrm>
          <a:prstGeom prst="rect">
            <a:avLst/>
          </a:prstGeom>
        </p:spPr>
        <p:txBody>
          <a:bodyPr vert="horz" wrap="square" lIns="0" tIns="16541" rIns="0" bIns="0" rtlCol="0">
            <a:spAutoFit/>
          </a:bodyPr>
          <a:lstStyle/>
          <a:p>
            <a:pPr marL="12724">
              <a:spcBef>
                <a:spcPts val="130"/>
              </a:spcBef>
            </a:pPr>
            <a:r>
              <a:rPr sz="1753" spc="-50" dirty="0">
                <a:latin typeface="Symbol"/>
                <a:cs typeface="Symbol"/>
              </a:rPr>
              <a:t></a:t>
            </a:r>
            <a:endParaRPr sz="1753">
              <a:latin typeface="Symbol"/>
              <a:cs typeface="Symbol"/>
            </a:endParaRPr>
          </a:p>
        </p:txBody>
      </p:sp>
      <p:sp>
        <p:nvSpPr>
          <p:cNvPr id="32" name="object 32"/>
          <p:cNvSpPr txBox="1"/>
          <p:nvPr/>
        </p:nvSpPr>
        <p:spPr>
          <a:xfrm>
            <a:off x="4624902" y="2711137"/>
            <a:ext cx="2061217" cy="535368"/>
          </a:xfrm>
          <a:prstGeom prst="rect">
            <a:avLst/>
          </a:prstGeom>
          <a:solidFill>
            <a:srgbClr val="FFFFFF"/>
          </a:solidFill>
        </p:spPr>
        <p:txBody>
          <a:bodyPr vert="horz" wrap="square" lIns="0" tIns="40715" rIns="0" bIns="0" rtlCol="0">
            <a:spAutoFit/>
          </a:bodyPr>
          <a:lstStyle/>
          <a:p>
            <a:pPr marL="91614" marR="218218">
              <a:spcBef>
                <a:spcPts val="321"/>
              </a:spcBef>
            </a:pPr>
            <a:r>
              <a:rPr sz="1603" b="1" spc="-25" dirty="0">
                <a:latin typeface="Arial"/>
                <a:cs typeface="Arial"/>
              </a:rPr>
              <a:t>-</a:t>
            </a:r>
            <a:r>
              <a:rPr sz="1603" b="1" dirty="0">
                <a:latin typeface="Arial"/>
                <a:cs typeface="Arial"/>
              </a:rPr>
              <a:t>3dB</a:t>
            </a:r>
            <a:r>
              <a:rPr sz="1603" b="1" spc="-35" dirty="0">
                <a:latin typeface="Arial"/>
                <a:cs typeface="Arial"/>
              </a:rPr>
              <a:t> </a:t>
            </a:r>
            <a:r>
              <a:rPr sz="1603" b="1" dirty="0">
                <a:latin typeface="Arial"/>
                <a:cs typeface="Arial"/>
              </a:rPr>
              <a:t>frequency</a:t>
            </a:r>
            <a:r>
              <a:rPr sz="1603" b="1" spc="-50" dirty="0">
                <a:latin typeface="Arial"/>
                <a:cs typeface="Arial"/>
              </a:rPr>
              <a:t> </a:t>
            </a:r>
            <a:r>
              <a:rPr sz="1603" b="1" spc="-25" dirty="0">
                <a:latin typeface="Arial"/>
                <a:cs typeface="Arial"/>
              </a:rPr>
              <a:t>or </a:t>
            </a:r>
            <a:r>
              <a:rPr sz="1603" b="1" dirty="0">
                <a:latin typeface="Arial"/>
                <a:cs typeface="Arial"/>
              </a:rPr>
              <a:t>corner</a:t>
            </a:r>
            <a:r>
              <a:rPr sz="1603" b="1" spc="-50" dirty="0">
                <a:latin typeface="Arial"/>
                <a:cs typeface="Arial"/>
              </a:rPr>
              <a:t> </a:t>
            </a:r>
            <a:r>
              <a:rPr sz="1603" b="1" spc="-10" dirty="0">
                <a:latin typeface="Arial"/>
                <a:cs typeface="Arial"/>
              </a:rPr>
              <a:t>frequency</a:t>
            </a:r>
            <a:endParaRPr sz="1603">
              <a:latin typeface="Arial"/>
              <a:cs typeface="Arial"/>
            </a:endParaRPr>
          </a:p>
        </p:txBody>
      </p:sp>
      <p:pic>
        <p:nvPicPr>
          <p:cNvPr id="35" name="Picture 34"/>
          <p:cNvPicPr>
            <a:picLocks noChangeAspect="1"/>
          </p:cNvPicPr>
          <p:nvPr/>
        </p:nvPicPr>
        <p:blipFill>
          <a:blip r:embed="rId4"/>
          <a:stretch>
            <a:fillRect/>
          </a:stretch>
        </p:blipFill>
        <p:spPr>
          <a:xfrm>
            <a:off x="1508417" y="3629155"/>
            <a:ext cx="9388969" cy="2921012"/>
          </a:xfrm>
          <a:prstGeom prst="rect">
            <a:avLst/>
          </a:prstGeom>
        </p:spPr>
      </p:pic>
    </p:spTree>
    <p:extLst>
      <p:ext uri="{BB962C8B-B14F-4D97-AF65-F5344CB8AC3E}">
        <p14:creationId xmlns:p14="http://schemas.microsoft.com/office/powerpoint/2010/main" val="38931295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39</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3" name="Picture 2"/>
          <p:cNvPicPr>
            <a:picLocks noChangeAspect="1"/>
          </p:cNvPicPr>
          <p:nvPr/>
        </p:nvPicPr>
        <p:blipFill>
          <a:blip r:embed="rId2"/>
          <a:stretch>
            <a:fillRect/>
          </a:stretch>
        </p:blipFill>
        <p:spPr>
          <a:xfrm>
            <a:off x="2363964" y="604862"/>
            <a:ext cx="7685009" cy="5577465"/>
          </a:xfrm>
          <a:prstGeom prst="rect">
            <a:avLst/>
          </a:prstGeom>
        </p:spPr>
      </p:pic>
    </p:spTree>
    <p:extLst>
      <p:ext uri="{BB962C8B-B14F-4D97-AF65-F5344CB8AC3E}">
        <p14:creationId xmlns:p14="http://schemas.microsoft.com/office/powerpoint/2010/main" val="22226148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64649" y="3843131"/>
            <a:ext cx="7591774" cy="2244664"/>
          </a:xfrm>
          <a:prstGeom prst="rect">
            <a:avLst/>
          </a:prstGeom>
        </p:spPr>
      </p:pic>
      <p:sp>
        <p:nvSpPr>
          <p:cNvPr id="3" name="object 3"/>
          <p:cNvSpPr txBox="1">
            <a:spLocks noGrp="1"/>
          </p:cNvSpPr>
          <p:nvPr>
            <p:ph type="title"/>
          </p:nvPr>
        </p:nvSpPr>
        <p:spPr>
          <a:prstGeom prst="rect">
            <a:avLst/>
          </a:prstGeom>
        </p:spPr>
        <p:txBody>
          <a:bodyPr vert="horz" wrap="square" lIns="0" tIns="11451" rIns="0" bIns="0" rtlCol="0">
            <a:spAutoFit/>
          </a:bodyPr>
          <a:lstStyle/>
          <a:p>
            <a:pPr marL="1995144">
              <a:spcBef>
                <a:spcPts val="90"/>
              </a:spcBef>
            </a:pPr>
            <a:r>
              <a:rPr spc="-25" dirty="0"/>
              <a:t>Bode-</a:t>
            </a:r>
            <a:r>
              <a:rPr dirty="0"/>
              <a:t>plot</a:t>
            </a:r>
            <a:r>
              <a:rPr spc="-15" dirty="0"/>
              <a:t> </a:t>
            </a:r>
            <a:r>
              <a:rPr dirty="0"/>
              <a:t>vs.</a:t>
            </a:r>
            <a:r>
              <a:rPr spc="-25" dirty="0"/>
              <a:t> </a:t>
            </a:r>
            <a:r>
              <a:rPr spc="-20" dirty="0"/>
              <a:t>time</a:t>
            </a:r>
          </a:p>
        </p:txBody>
      </p:sp>
      <p:grpSp>
        <p:nvGrpSpPr>
          <p:cNvPr id="4" name="object 4"/>
          <p:cNvGrpSpPr/>
          <p:nvPr/>
        </p:nvGrpSpPr>
        <p:grpSpPr>
          <a:xfrm>
            <a:off x="2236944" y="1141558"/>
            <a:ext cx="8420453" cy="3837426"/>
            <a:chOff x="701040" y="1139444"/>
            <a:chExt cx="8404860" cy="3830320"/>
          </a:xfrm>
        </p:grpSpPr>
        <p:pic>
          <p:nvPicPr>
            <p:cNvPr id="5" name="object 5"/>
            <p:cNvPicPr/>
            <p:nvPr/>
          </p:nvPicPr>
          <p:blipFill>
            <a:blip r:embed="rId3" cstate="print"/>
            <a:stretch>
              <a:fillRect/>
            </a:stretch>
          </p:blipFill>
          <p:spPr>
            <a:xfrm>
              <a:off x="701040" y="1139444"/>
              <a:ext cx="8404860" cy="2666999"/>
            </a:xfrm>
            <a:prstGeom prst="rect">
              <a:avLst/>
            </a:prstGeom>
          </p:spPr>
        </p:pic>
        <p:sp>
          <p:nvSpPr>
            <p:cNvPr id="6" name="object 6"/>
            <p:cNvSpPr/>
            <p:nvPr/>
          </p:nvSpPr>
          <p:spPr>
            <a:xfrm>
              <a:off x="972312" y="1971547"/>
              <a:ext cx="7964805" cy="2969260"/>
            </a:xfrm>
            <a:custGeom>
              <a:avLst/>
              <a:gdLst/>
              <a:ahLst/>
              <a:cxnLst/>
              <a:rect l="l" t="t" r="r" b="b"/>
              <a:pathLst>
                <a:path w="7964805" h="2969260">
                  <a:moveTo>
                    <a:pt x="152400" y="6096"/>
                  </a:moveTo>
                  <a:lnTo>
                    <a:pt x="3962400" y="6096"/>
                  </a:lnTo>
                </a:path>
                <a:path w="7964805" h="2969260">
                  <a:moveTo>
                    <a:pt x="3962400" y="0"/>
                  </a:moveTo>
                  <a:lnTo>
                    <a:pt x="7964423" y="1441703"/>
                  </a:lnTo>
                </a:path>
                <a:path w="7964805" h="2969260">
                  <a:moveTo>
                    <a:pt x="0" y="2109216"/>
                  </a:moveTo>
                  <a:lnTo>
                    <a:pt x="2743200" y="2109216"/>
                  </a:lnTo>
                </a:path>
                <a:path w="7964805" h="2969260">
                  <a:moveTo>
                    <a:pt x="5221224" y="2968752"/>
                  </a:moveTo>
                  <a:lnTo>
                    <a:pt x="7964423" y="2968752"/>
                  </a:lnTo>
                </a:path>
                <a:path w="7964805" h="2969260">
                  <a:moveTo>
                    <a:pt x="2743200" y="2103120"/>
                  </a:moveTo>
                  <a:lnTo>
                    <a:pt x="5181600" y="2968752"/>
                  </a:lnTo>
                </a:path>
              </a:pathLst>
            </a:custGeom>
            <a:ln w="57910">
              <a:solidFill>
                <a:srgbClr val="FF0000"/>
              </a:solidFill>
            </a:ln>
          </p:spPr>
          <p:txBody>
            <a:bodyPr wrap="square" lIns="0" tIns="0" rIns="0" bIns="0" rtlCol="0"/>
            <a:lstStyle/>
            <a:p>
              <a:endParaRPr sz="1803"/>
            </a:p>
          </p:txBody>
        </p:sp>
      </p:grpSp>
      <p:sp>
        <p:nvSpPr>
          <p:cNvPr id="7" name="object 7"/>
          <p:cNvSpPr txBox="1"/>
          <p:nvPr/>
        </p:nvSpPr>
        <p:spPr>
          <a:xfrm>
            <a:off x="1882210" y="1400609"/>
            <a:ext cx="715700" cy="3705101"/>
          </a:xfrm>
          <a:prstGeom prst="rect">
            <a:avLst/>
          </a:prstGeom>
        </p:spPr>
        <p:txBody>
          <a:bodyPr vert="horz" wrap="square" lIns="0" tIns="12724" rIns="0" bIns="0" rtlCol="0">
            <a:spAutoFit/>
          </a:bodyPr>
          <a:lstStyle/>
          <a:p>
            <a:pPr marL="12724">
              <a:spcBef>
                <a:spcPts val="100"/>
              </a:spcBef>
            </a:pPr>
            <a:r>
              <a:rPr sz="1803" spc="-10" dirty="0">
                <a:latin typeface="Arial MT"/>
                <a:cs typeface="Arial MT"/>
              </a:rPr>
              <a:t>+20dB</a:t>
            </a:r>
            <a:endParaRPr sz="1803">
              <a:latin typeface="Arial MT"/>
              <a:cs typeface="Arial MT"/>
            </a:endParaRPr>
          </a:p>
          <a:p>
            <a:pPr marL="293291">
              <a:spcBef>
                <a:spcPts val="1323"/>
              </a:spcBef>
            </a:pPr>
            <a:r>
              <a:rPr sz="1803" spc="-25" dirty="0">
                <a:latin typeface="Arial MT"/>
                <a:cs typeface="Arial MT"/>
              </a:rPr>
              <a:t>0dB</a:t>
            </a:r>
            <a:endParaRPr sz="1803">
              <a:latin typeface="Arial MT"/>
              <a:cs typeface="Arial MT"/>
            </a:endParaRPr>
          </a:p>
          <a:p>
            <a:pPr marL="89069">
              <a:spcBef>
                <a:spcPts val="1393"/>
              </a:spcBef>
            </a:pPr>
            <a:r>
              <a:rPr sz="1803" spc="-10" dirty="0">
                <a:latin typeface="Arial MT"/>
                <a:cs typeface="Arial MT"/>
              </a:rPr>
              <a:t>-</a:t>
            </a:r>
            <a:r>
              <a:rPr sz="1803" spc="-20" dirty="0">
                <a:latin typeface="Arial MT"/>
                <a:cs typeface="Arial MT"/>
              </a:rPr>
              <a:t>20dB</a:t>
            </a:r>
            <a:endParaRPr sz="1803">
              <a:latin typeface="Arial MT"/>
              <a:cs typeface="Arial MT"/>
            </a:endParaRPr>
          </a:p>
          <a:p>
            <a:pPr marL="70619">
              <a:spcBef>
                <a:spcPts val="987"/>
              </a:spcBef>
            </a:pPr>
            <a:r>
              <a:rPr sz="1803" spc="-10" dirty="0">
                <a:latin typeface="Arial MT"/>
                <a:cs typeface="Arial MT"/>
              </a:rPr>
              <a:t>-</a:t>
            </a:r>
            <a:r>
              <a:rPr sz="1803" spc="-20" dirty="0">
                <a:latin typeface="Arial MT"/>
                <a:cs typeface="Arial MT"/>
              </a:rPr>
              <a:t>40dB</a:t>
            </a:r>
            <a:endParaRPr sz="1803">
              <a:latin typeface="Arial MT"/>
              <a:cs typeface="Arial MT"/>
            </a:endParaRPr>
          </a:p>
          <a:p>
            <a:pPr marL="33719">
              <a:spcBef>
                <a:spcPts val="1538"/>
              </a:spcBef>
            </a:pPr>
            <a:r>
              <a:rPr sz="1803" spc="-10" dirty="0">
                <a:latin typeface="Arial MT"/>
                <a:cs typeface="Arial MT"/>
              </a:rPr>
              <a:t>-</a:t>
            </a:r>
            <a:r>
              <a:rPr sz="1803" spc="-20" dirty="0">
                <a:latin typeface="Arial MT"/>
                <a:cs typeface="Arial MT"/>
              </a:rPr>
              <a:t>60dB</a:t>
            </a:r>
            <a:endParaRPr sz="1803">
              <a:latin typeface="Arial MT"/>
              <a:cs typeface="Arial MT"/>
            </a:endParaRPr>
          </a:p>
          <a:p>
            <a:pPr>
              <a:spcBef>
                <a:spcPts val="1723"/>
              </a:spcBef>
            </a:pPr>
            <a:endParaRPr sz="1803">
              <a:latin typeface="Arial MT"/>
              <a:cs typeface="Arial MT"/>
            </a:endParaRPr>
          </a:p>
          <a:p>
            <a:pPr marR="115790" algn="r">
              <a:spcBef>
                <a:spcPts val="5"/>
              </a:spcBef>
            </a:pPr>
            <a:r>
              <a:rPr sz="1803" spc="-50" dirty="0">
                <a:latin typeface="Arial MT"/>
                <a:cs typeface="Arial MT"/>
              </a:rPr>
              <a:t>0</a:t>
            </a:r>
            <a:endParaRPr sz="1803">
              <a:latin typeface="Arial MT"/>
              <a:cs typeface="Arial MT"/>
            </a:endParaRPr>
          </a:p>
          <a:p>
            <a:pPr marR="54714" algn="r">
              <a:spcBef>
                <a:spcPts val="1323"/>
              </a:spcBef>
            </a:pPr>
            <a:r>
              <a:rPr sz="1803" spc="-10" dirty="0">
                <a:latin typeface="Arial MT"/>
                <a:cs typeface="Arial MT"/>
              </a:rPr>
              <a:t>-</a:t>
            </a:r>
            <a:r>
              <a:rPr sz="1803" spc="-25" dirty="0">
                <a:latin typeface="Arial MT"/>
                <a:cs typeface="Arial MT"/>
              </a:rPr>
              <a:t>45</a:t>
            </a:r>
            <a:endParaRPr sz="1803">
              <a:latin typeface="Arial MT"/>
              <a:cs typeface="Arial MT"/>
            </a:endParaRPr>
          </a:p>
          <a:p>
            <a:pPr marR="78890" algn="r">
              <a:spcBef>
                <a:spcPts val="1297"/>
              </a:spcBef>
            </a:pPr>
            <a:r>
              <a:rPr sz="1803" spc="-10" dirty="0">
                <a:latin typeface="Arial MT"/>
                <a:cs typeface="Arial MT"/>
              </a:rPr>
              <a:t>-</a:t>
            </a:r>
            <a:r>
              <a:rPr sz="1803" spc="-25" dirty="0">
                <a:latin typeface="Arial MT"/>
                <a:cs typeface="Arial MT"/>
              </a:rPr>
              <a:t>90</a:t>
            </a:r>
            <a:endParaRPr sz="1803">
              <a:latin typeface="Arial MT"/>
              <a:cs typeface="Arial MT"/>
            </a:endParaRPr>
          </a:p>
        </p:txBody>
      </p:sp>
      <p:sp>
        <p:nvSpPr>
          <p:cNvPr id="14" name="object 14"/>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31</a:t>
            </a:r>
          </a:p>
        </p:txBody>
      </p:sp>
      <p:sp>
        <p:nvSpPr>
          <p:cNvPr id="8" name="object 8"/>
          <p:cNvSpPr txBox="1"/>
          <p:nvPr/>
        </p:nvSpPr>
        <p:spPr>
          <a:xfrm>
            <a:off x="4911435" y="6197901"/>
            <a:ext cx="689617" cy="300276"/>
          </a:xfrm>
          <a:prstGeom prst="rect">
            <a:avLst/>
          </a:prstGeom>
        </p:spPr>
        <p:txBody>
          <a:bodyPr vert="horz" wrap="square" lIns="0" tIns="12724" rIns="0" bIns="0" rtlCol="0">
            <a:spAutoFit/>
          </a:bodyPr>
          <a:lstStyle/>
          <a:p>
            <a:pPr marL="12724">
              <a:spcBef>
                <a:spcPts val="100"/>
              </a:spcBef>
            </a:pPr>
            <a:r>
              <a:rPr sz="1803" spc="-10" dirty="0">
                <a:latin typeface="Arial MT"/>
                <a:cs typeface="Arial MT"/>
              </a:rPr>
              <a:t>100Hz</a:t>
            </a:r>
            <a:endParaRPr sz="1803">
              <a:latin typeface="Arial MT"/>
              <a:cs typeface="Arial MT"/>
            </a:endParaRPr>
          </a:p>
        </p:txBody>
      </p:sp>
      <p:sp>
        <p:nvSpPr>
          <p:cNvPr id="9" name="object 9"/>
          <p:cNvSpPr txBox="1"/>
          <p:nvPr/>
        </p:nvSpPr>
        <p:spPr>
          <a:xfrm>
            <a:off x="6203133" y="6194848"/>
            <a:ext cx="549022" cy="300276"/>
          </a:xfrm>
          <a:prstGeom prst="rect">
            <a:avLst/>
          </a:prstGeom>
        </p:spPr>
        <p:txBody>
          <a:bodyPr vert="horz" wrap="square" lIns="0" tIns="12724" rIns="0" bIns="0" rtlCol="0">
            <a:spAutoFit/>
          </a:bodyPr>
          <a:lstStyle/>
          <a:p>
            <a:pPr marL="12724">
              <a:spcBef>
                <a:spcPts val="100"/>
              </a:spcBef>
            </a:pPr>
            <a:r>
              <a:rPr sz="1803" spc="-20" dirty="0">
                <a:latin typeface="Arial MT"/>
                <a:cs typeface="Arial MT"/>
              </a:rPr>
              <a:t>1kHz</a:t>
            </a:r>
            <a:endParaRPr sz="1803">
              <a:latin typeface="Arial MT"/>
              <a:cs typeface="Arial MT"/>
            </a:endParaRPr>
          </a:p>
        </p:txBody>
      </p:sp>
      <p:sp>
        <p:nvSpPr>
          <p:cNvPr id="10" name="object 10"/>
          <p:cNvSpPr txBox="1"/>
          <p:nvPr/>
        </p:nvSpPr>
        <p:spPr>
          <a:xfrm>
            <a:off x="7391003" y="6204009"/>
            <a:ext cx="677530" cy="300276"/>
          </a:xfrm>
          <a:prstGeom prst="rect">
            <a:avLst/>
          </a:prstGeom>
        </p:spPr>
        <p:txBody>
          <a:bodyPr vert="horz" wrap="square" lIns="0" tIns="12724" rIns="0" bIns="0" rtlCol="0">
            <a:spAutoFit/>
          </a:bodyPr>
          <a:lstStyle/>
          <a:p>
            <a:pPr marL="12724">
              <a:spcBef>
                <a:spcPts val="100"/>
              </a:spcBef>
            </a:pPr>
            <a:r>
              <a:rPr sz="1803" spc="-10" dirty="0">
                <a:latin typeface="Arial MT"/>
                <a:cs typeface="Arial MT"/>
              </a:rPr>
              <a:t>10kHz</a:t>
            </a:r>
            <a:endParaRPr sz="1803">
              <a:latin typeface="Arial MT"/>
              <a:cs typeface="Arial MT"/>
            </a:endParaRPr>
          </a:p>
        </p:txBody>
      </p:sp>
      <p:sp>
        <p:nvSpPr>
          <p:cNvPr id="11" name="object 11"/>
          <p:cNvSpPr txBox="1"/>
          <p:nvPr/>
        </p:nvSpPr>
        <p:spPr>
          <a:xfrm>
            <a:off x="8597198" y="6204009"/>
            <a:ext cx="805401" cy="300276"/>
          </a:xfrm>
          <a:prstGeom prst="rect">
            <a:avLst/>
          </a:prstGeom>
        </p:spPr>
        <p:txBody>
          <a:bodyPr vert="horz" wrap="square" lIns="0" tIns="12724" rIns="0" bIns="0" rtlCol="0">
            <a:spAutoFit/>
          </a:bodyPr>
          <a:lstStyle/>
          <a:p>
            <a:pPr marL="12724">
              <a:spcBef>
                <a:spcPts val="100"/>
              </a:spcBef>
            </a:pPr>
            <a:r>
              <a:rPr sz="1803" spc="-10" dirty="0">
                <a:latin typeface="Arial MT"/>
                <a:cs typeface="Arial MT"/>
              </a:rPr>
              <a:t>100kHz</a:t>
            </a:r>
            <a:endParaRPr sz="1803">
              <a:latin typeface="Arial MT"/>
              <a:cs typeface="Arial MT"/>
            </a:endParaRPr>
          </a:p>
        </p:txBody>
      </p:sp>
      <p:sp>
        <p:nvSpPr>
          <p:cNvPr id="12" name="object 12"/>
          <p:cNvSpPr txBox="1"/>
          <p:nvPr/>
        </p:nvSpPr>
        <p:spPr>
          <a:xfrm>
            <a:off x="3809067" y="6204009"/>
            <a:ext cx="561745" cy="300276"/>
          </a:xfrm>
          <a:prstGeom prst="rect">
            <a:avLst/>
          </a:prstGeom>
        </p:spPr>
        <p:txBody>
          <a:bodyPr vert="horz" wrap="square" lIns="0" tIns="12724" rIns="0" bIns="0" rtlCol="0">
            <a:spAutoFit/>
          </a:bodyPr>
          <a:lstStyle/>
          <a:p>
            <a:pPr marL="12724">
              <a:spcBef>
                <a:spcPts val="100"/>
              </a:spcBef>
            </a:pPr>
            <a:r>
              <a:rPr sz="1803" spc="-20" dirty="0">
                <a:latin typeface="Arial MT"/>
                <a:cs typeface="Arial MT"/>
              </a:rPr>
              <a:t>10Hz</a:t>
            </a:r>
            <a:endParaRPr sz="1803">
              <a:latin typeface="Arial MT"/>
              <a:cs typeface="Arial MT"/>
            </a:endParaRPr>
          </a:p>
        </p:txBody>
      </p:sp>
    </p:spTree>
    <p:extLst>
      <p:ext uri="{BB962C8B-B14F-4D97-AF65-F5344CB8AC3E}">
        <p14:creationId xmlns:p14="http://schemas.microsoft.com/office/powerpoint/2010/main" val="3759850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026837">
              <a:spcBef>
                <a:spcPts val="90"/>
              </a:spcBef>
            </a:pPr>
            <a:r>
              <a:rPr spc="-25" dirty="0"/>
              <a:t>Bode-</a:t>
            </a:r>
            <a:r>
              <a:rPr dirty="0"/>
              <a:t>plot</a:t>
            </a:r>
            <a:r>
              <a:rPr spc="-35" dirty="0"/>
              <a:t> </a:t>
            </a:r>
            <a:r>
              <a:rPr dirty="0"/>
              <a:t>vs.</a:t>
            </a:r>
            <a:r>
              <a:rPr spc="-45" dirty="0"/>
              <a:t> </a:t>
            </a:r>
            <a:r>
              <a:rPr dirty="0"/>
              <a:t>Time</a:t>
            </a:r>
            <a:r>
              <a:rPr spc="-40" dirty="0"/>
              <a:t> </a:t>
            </a:r>
            <a:r>
              <a:rPr spc="-10" dirty="0"/>
              <a:t>domain</a:t>
            </a:r>
          </a:p>
        </p:txBody>
      </p:sp>
      <p:grpSp>
        <p:nvGrpSpPr>
          <p:cNvPr id="3" name="object 3"/>
          <p:cNvGrpSpPr/>
          <p:nvPr/>
        </p:nvGrpSpPr>
        <p:grpSpPr>
          <a:xfrm>
            <a:off x="4638890" y="1286853"/>
            <a:ext cx="5956536" cy="4277025"/>
            <a:chOff x="3098538" y="1284469"/>
            <a:chExt cx="5945505" cy="4269105"/>
          </a:xfrm>
        </p:grpSpPr>
        <p:pic>
          <p:nvPicPr>
            <p:cNvPr id="4" name="object 4"/>
            <p:cNvPicPr/>
            <p:nvPr/>
          </p:nvPicPr>
          <p:blipFill>
            <a:blip r:embed="rId2" cstate="print"/>
            <a:stretch>
              <a:fillRect/>
            </a:stretch>
          </p:blipFill>
          <p:spPr>
            <a:xfrm>
              <a:off x="3098538" y="1284469"/>
              <a:ext cx="5944877" cy="3647767"/>
            </a:xfrm>
            <a:prstGeom prst="rect">
              <a:avLst/>
            </a:prstGeom>
          </p:spPr>
        </p:pic>
        <p:sp>
          <p:nvSpPr>
            <p:cNvPr id="5" name="object 5"/>
            <p:cNvSpPr/>
            <p:nvPr/>
          </p:nvSpPr>
          <p:spPr>
            <a:xfrm>
              <a:off x="5087111" y="4644644"/>
              <a:ext cx="685800" cy="381000"/>
            </a:xfrm>
            <a:custGeom>
              <a:avLst/>
              <a:gdLst/>
              <a:ahLst/>
              <a:cxnLst/>
              <a:rect l="l" t="t" r="r" b="b"/>
              <a:pathLst>
                <a:path w="685800" h="381000">
                  <a:moveTo>
                    <a:pt x="0" y="64007"/>
                  </a:moveTo>
                  <a:lnTo>
                    <a:pt x="5286" y="39862"/>
                  </a:lnTo>
                  <a:lnTo>
                    <a:pt x="19430" y="19430"/>
                  </a:lnTo>
                  <a:lnTo>
                    <a:pt x="39862" y="5286"/>
                  </a:lnTo>
                  <a:lnTo>
                    <a:pt x="64008" y="0"/>
                  </a:lnTo>
                  <a:lnTo>
                    <a:pt x="624839" y="0"/>
                  </a:lnTo>
                  <a:lnTo>
                    <a:pt x="648509" y="5286"/>
                  </a:lnTo>
                  <a:lnTo>
                    <a:pt x="667892" y="19430"/>
                  </a:lnTo>
                  <a:lnTo>
                    <a:pt x="680989" y="39862"/>
                  </a:lnTo>
                  <a:lnTo>
                    <a:pt x="685800" y="64007"/>
                  </a:lnTo>
                  <a:lnTo>
                    <a:pt x="685800" y="320039"/>
                  </a:lnTo>
                  <a:lnTo>
                    <a:pt x="680989" y="343709"/>
                  </a:lnTo>
                  <a:lnTo>
                    <a:pt x="667892" y="363092"/>
                  </a:lnTo>
                  <a:lnTo>
                    <a:pt x="648509" y="376189"/>
                  </a:lnTo>
                  <a:lnTo>
                    <a:pt x="624839" y="380999"/>
                  </a:lnTo>
                  <a:lnTo>
                    <a:pt x="64008" y="380999"/>
                  </a:lnTo>
                  <a:lnTo>
                    <a:pt x="39862" y="376189"/>
                  </a:lnTo>
                  <a:lnTo>
                    <a:pt x="19431" y="363092"/>
                  </a:lnTo>
                  <a:lnTo>
                    <a:pt x="5286" y="343709"/>
                  </a:lnTo>
                  <a:lnTo>
                    <a:pt x="0" y="320039"/>
                  </a:lnTo>
                  <a:lnTo>
                    <a:pt x="0" y="64007"/>
                  </a:lnTo>
                  <a:close/>
                </a:path>
              </a:pathLst>
            </a:custGeom>
            <a:ln w="57910">
              <a:solidFill>
                <a:srgbClr val="FFBF00"/>
              </a:solidFill>
            </a:ln>
          </p:spPr>
          <p:txBody>
            <a:bodyPr wrap="square" lIns="0" tIns="0" rIns="0" bIns="0" rtlCol="0"/>
            <a:lstStyle/>
            <a:p>
              <a:endParaRPr sz="1803"/>
            </a:p>
          </p:txBody>
        </p:sp>
        <p:sp>
          <p:nvSpPr>
            <p:cNvPr id="6" name="object 6"/>
            <p:cNvSpPr/>
            <p:nvPr/>
          </p:nvSpPr>
          <p:spPr>
            <a:xfrm>
              <a:off x="5239511" y="5104892"/>
              <a:ext cx="381000" cy="436245"/>
            </a:xfrm>
            <a:custGeom>
              <a:avLst/>
              <a:gdLst/>
              <a:ahLst/>
              <a:cxnLst/>
              <a:rect l="l" t="t" r="r" b="b"/>
              <a:pathLst>
                <a:path w="381000" h="436245">
                  <a:moveTo>
                    <a:pt x="192024" y="0"/>
                  </a:moveTo>
                  <a:lnTo>
                    <a:pt x="0" y="188975"/>
                  </a:lnTo>
                  <a:lnTo>
                    <a:pt x="97536" y="188975"/>
                  </a:lnTo>
                  <a:lnTo>
                    <a:pt x="97536" y="435863"/>
                  </a:lnTo>
                  <a:lnTo>
                    <a:pt x="286512" y="435863"/>
                  </a:lnTo>
                  <a:lnTo>
                    <a:pt x="286512" y="188975"/>
                  </a:lnTo>
                  <a:lnTo>
                    <a:pt x="381000" y="188975"/>
                  </a:lnTo>
                  <a:lnTo>
                    <a:pt x="192024" y="0"/>
                  </a:lnTo>
                  <a:close/>
                </a:path>
              </a:pathLst>
            </a:custGeom>
            <a:solidFill>
              <a:srgbClr val="FFBF00"/>
            </a:solidFill>
          </p:spPr>
          <p:txBody>
            <a:bodyPr wrap="square" lIns="0" tIns="0" rIns="0" bIns="0" rtlCol="0"/>
            <a:lstStyle/>
            <a:p>
              <a:endParaRPr sz="1803"/>
            </a:p>
          </p:txBody>
        </p:sp>
        <p:sp>
          <p:nvSpPr>
            <p:cNvPr id="7" name="object 7"/>
            <p:cNvSpPr/>
            <p:nvPr/>
          </p:nvSpPr>
          <p:spPr>
            <a:xfrm>
              <a:off x="5239511" y="5104892"/>
              <a:ext cx="381000" cy="436245"/>
            </a:xfrm>
            <a:custGeom>
              <a:avLst/>
              <a:gdLst/>
              <a:ahLst/>
              <a:cxnLst/>
              <a:rect l="l" t="t" r="r" b="b"/>
              <a:pathLst>
                <a:path w="381000" h="436245">
                  <a:moveTo>
                    <a:pt x="381000" y="188975"/>
                  </a:moveTo>
                  <a:lnTo>
                    <a:pt x="286512" y="188975"/>
                  </a:lnTo>
                  <a:lnTo>
                    <a:pt x="286512" y="435863"/>
                  </a:lnTo>
                  <a:lnTo>
                    <a:pt x="97536" y="435863"/>
                  </a:lnTo>
                  <a:lnTo>
                    <a:pt x="97536" y="188975"/>
                  </a:lnTo>
                  <a:lnTo>
                    <a:pt x="0" y="188975"/>
                  </a:lnTo>
                  <a:lnTo>
                    <a:pt x="192024" y="0"/>
                  </a:lnTo>
                  <a:lnTo>
                    <a:pt x="381000" y="188975"/>
                  </a:lnTo>
                  <a:close/>
                </a:path>
              </a:pathLst>
            </a:custGeom>
            <a:ln w="24382">
              <a:solidFill>
                <a:srgbClr val="FFBF00"/>
              </a:solidFill>
            </a:ln>
          </p:spPr>
          <p:txBody>
            <a:bodyPr wrap="square" lIns="0" tIns="0" rIns="0" bIns="0" rtlCol="0"/>
            <a:lstStyle/>
            <a:p>
              <a:endParaRPr sz="1803"/>
            </a:p>
          </p:txBody>
        </p:sp>
        <p:sp>
          <p:nvSpPr>
            <p:cNvPr id="8" name="object 8"/>
            <p:cNvSpPr/>
            <p:nvPr/>
          </p:nvSpPr>
          <p:spPr>
            <a:xfrm>
              <a:off x="5291327" y="1678940"/>
              <a:ext cx="226060" cy="1691639"/>
            </a:xfrm>
            <a:custGeom>
              <a:avLst/>
              <a:gdLst/>
              <a:ahLst/>
              <a:cxnLst/>
              <a:rect l="l" t="t" r="r" b="b"/>
              <a:pathLst>
                <a:path w="226060" h="1691639">
                  <a:moveTo>
                    <a:pt x="0" y="36575"/>
                  </a:moveTo>
                  <a:lnTo>
                    <a:pt x="2714" y="21859"/>
                  </a:lnTo>
                  <a:lnTo>
                    <a:pt x="10287" y="10287"/>
                  </a:lnTo>
                  <a:lnTo>
                    <a:pt x="21859" y="2714"/>
                  </a:lnTo>
                  <a:lnTo>
                    <a:pt x="36575" y="0"/>
                  </a:lnTo>
                  <a:lnTo>
                    <a:pt x="188975" y="0"/>
                  </a:lnTo>
                  <a:lnTo>
                    <a:pt x="202406" y="2714"/>
                  </a:lnTo>
                  <a:lnTo>
                    <a:pt x="214122" y="10287"/>
                  </a:lnTo>
                  <a:lnTo>
                    <a:pt x="222408" y="21859"/>
                  </a:lnTo>
                  <a:lnTo>
                    <a:pt x="225551" y="36575"/>
                  </a:lnTo>
                  <a:lnTo>
                    <a:pt x="225551" y="195072"/>
                  </a:lnTo>
                  <a:lnTo>
                    <a:pt x="222408" y="209788"/>
                  </a:lnTo>
                  <a:lnTo>
                    <a:pt x="214122" y="221361"/>
                  </a:lnTo>
                  <a:lnTo>
                    <a:pt x="202406" y="228933"/>
                  </a:lnTo>
                  <a:lnTo>
                    <a:pt x="188975" y="231648"/>
                  </a:lnTo>
                  <a:lnTo>
                    <a:pt x="36575" y="231648"/>
                  </a:lnTo>
                  <a:lnTo>
                    <a:pt x="21859" y="228933"/>
                  </a:lnTo>
                  <a:lnTo>
                    <a:pt x="10287" y="221361"/>
                  </a:lnTo>
                  <a:lnTo>
                    <a:pt x="2714" y="209788"/>
                  </a:lnTo>
                  <a:lnTo>
                    <a:pt x="0" y="195072"/>
                  </a:lnTo>
                  <a:lnTo>
                    <a:pt x="0" y="36575"/>
                  </a:lnTo>
                  <a:close/>
                </a:path>
                <a:path w="226060" h="1691639">
                  <a:moveTo>
                    <a:pt x="0" y="1496568"/>
                  </a:moveTo>
                  <a:lnTo>
                    <a:pt x="2714" y="1481375"/>
                  </a:lnTo>
                  <a:lnTo>
                    <a:pt x="10287" y="1468755"/>
                  </a:lnTo>
                  <a:lnTo>
                    <a:pt x="21859" y="1460134"/>
                  </a:lnTo>
                  <a:lnTo>
                    <a:pt x="36575" y="1456944"/>
                  </a:lnTo>
                  <a:lnTo>
                    <a:pt x="188975" y="1456944"/>
                  </a:lnTo>
                  <a:lnTo>
                    <a:pt x="202406" y="1460134"/>
                  </a:lnTo>
                  <a:lnTo>
                    <a:pt x="214122" y="1468755"/>
                  </a:lnTo>
                  <a:lnTo>
                    <a:pt x="222408" y="1481375"/>
                  </a:lnTo>
                  <a:lnTo>
                    <a:pt x="225551" y="1496568"/>
                  </a:lnTo>
                  <a:lnTo>
                    <a:pt x="225551" y="1652015"/>
                  </a:lnTo>
                  <a:lnTo>
                    <a:pt x="222408" y="1667208"/>
                  </a:lnTo>
                  <a:lnTo>
                    <a:pt x="214122" y="1679828"/>
                  </a:lnTo>
                  <a:lnTo>
                    <a:pt x="202406" y="1688449"/>
                  </a:lnTo>
                  <a:lnTo>
                    <a:pt x="188975" y="1691639"/>
                  </a:lnTo>
                  <a:lnTo>
                    <a:pt x="36575" y="1691639"/>
                  </a:lnTo>
                  <a:lnTo>
                    <a:pt x="21859" y="1688449"/>
                  </a:lnTo>
                  <a:lnTo>
                    <a:pt x="10287" y="1679828"/>
                  </a:lnTo>
                  <a:lnTo>
                    <a:pt x="2714" y="1667208"/>
                  </a:lnTo>
                  <a:lnTo>
                    <a:pt x="0" y="1652015"/>
                  </a:lnTo>
                  <a:lnTo>
                    <a:pt x="0" y="1496568"/>
                  </a:lnTo>
                  <a:close/>
                </a:path>
              </a:pathLst>
            </a:custGeom>
            <a:ln w="57910">
              <a:solidFill>
                <a:srgbClr val="FFBF00"/>
              </a:solidFill>
            </a:ln>
          </p:spPr>
          <p:txBody>
            <a:bodyPr wrap="square" lIns="0" tIns="0" rIns="0" bIns="0" rtlCol="0"/>
            <a:lstStyle/>
            <a:p>
              <a:endParaRPr sz="1803"/>
            </a:p>
          </p:txBody>
        </p:sp>
      </p:grpSp>
      <p:pic>
        <p:nvPicPr>
          <p:cNvPr id="9" name="object 9"/>
          <p:cNvPicPr/>
          <p:nvPr/>
        </p:nvPicPr>
        <p:blipFill>
          <a:blip r:embed="rId3" cstate="print"/>
          <a:stretch>
            <a:fillRect/>
          </a:stretch>
        </p:blipFill>
        <p:spPr>
          <a:xfrm>
            <a:off x="1749359" y="1452804"/>
            <a:ext cx="2641148" cy="1207777"/>
          </a:xfrm>
          <a:prstGeom prst="rect">
            <a:avLst/>
          </a:prstGeom>
        </p:spPr>
      </p:pic>
      <p:sp>
        <p:nvSpPr>
          <p:cNvPr id="10" name="object 10"/>
          <p:cNvSpPr txBox="1"/>
          <p:nvPr/>
        </p:nvSpPr>
        <p:spPr>
          <a:xfrm>
            <a:off x="1781439" y="3113711"/>
            <a:ext cx="2856440" cy="1415508"/>
          </a:xfrm>
          <a:prstGeom prst="rect">
            <a:avLst/>
          </a:prstGeom>
        </p:spPr>
        <p:txBody>
          <a:bodyPr vert="horz" wrap="square" lIns="0" tIns="12724" rIns="0" bIns="0" rtlCol="0">
            <a:spAutoFit/>
          </a:bodyPr>
          <a:lstStyle/>
          <a:p>
            <a:pPr marL="12724" marR="5090">
              <a:spcBef>
                <a:spcPts val="100"/>
              </a:spcBef>
            </a:pPr>
            <a:r>
              <a:rPr sz="1803" dirty="0">
                <a:latin typeface="Arial MT"/>
                <a:cs typeface="Arial MT"/>
              </a:rPr>
              <a:t>Assume:</a:t>
            </a:r>
            <a:r>
              <a:rPr sz="1803" spc="-35" dirty="0">
                <a:latin typeface="Arial MT"/>
                <a:cs typeface="Arial MT"/>
              </a:rPr>
              <a:t> </a:t>
            </a:r>
            <a:r>
              <a:rPr sz="1803" dirty="0">
                <a:latin typeface="Arial MT"/>
                <a:cs typeface="Arial MT"/>
              </a:rPr>
              <a:t>input</a:t>
            </a:r>
            <a:r>
              <a:rPr sz="1803" spc="-30" dirty="0">
                <a:latin typeface="Arial MT"/>
                <a:cs typeface="Arial MT"/>
              </a:rPr>
              <a:t> </a:t>
            </a:r>
            <a:r>
              <a:rPr sz="1803" dirty="0">
                <a:latin typeface="Arial MT"/>
                <a:cs typeface="Arial MT"/>
              </a:rPr>
              <a:t>voltage</a:t>
            </a:r>
            <a:r>
              <a:rPr sz="1803" spc="-25" dirty="0">
                <a:latin typeface="Arial MT"/>
                <a:cs typeface="Arial MT"/>
              </a:rPr>
              <a:t> </a:t>
            </a:r>
            <a:r>
              <a:rPr sz="1803" spc="-50" dirty="0">
                <a:latin typeface="Arial MT"/>
                <a:cs typeface="Arial MT"/>
              </a:rPr>
              <a:t>= </a:t>
            </a:r>
            <a:r>
              <a:rPr sz="1803" dirty="0">
                <a:latin typeface="Arial MT"/>
                <a:cs typeface="Arial MT"/>
              </a:rPr>
              <a:t>sinewave</a:t>
            </a:r>
            <a:r>
              <a:rPr sz="1803" spc="-35" dirty="0">
                <a:latin typeface="Arial MT"/>
                <a:cs typeface="Arial MT"/>
              </a:rPr>
              <a:t> </a:t>
            </a:r>
            <a:r>
              <a:rPr sz="1803" dirty="0">
                <a:latin typeface="Arial MT"/>
                <a:cs typeface="Arial MT"/>
              </a:rPr>
              <a:t>with</a:t>
            </a:r>
            <a:r>
              <a:rPr sz="1803" spc="10" dirty="0">
                <a:latin typeface="Arial MT"/>
                <a:cs typeface="Arial MT"/>
              </a:rPr>
              <a:t> </a:t>
            </a:r>
            <a:r>
              <a:rPr sz="1803" dirty="0">
                <a:latin typeface="Arial MT"/>
                <a:cs typeface="Arial MT"/>
              </a:rPr>
              <a:t>1V</a:t>
            </a:r>
            <a:r>
              <a:rPr sz="1803" spc="-40" dirty="0">
                <a:latin typeface="Arial MT"/>
                <a:cs typeface="Arial MT"/>
              </a:rPr>
              <a:t> </a:t>
            </a:r>
            <a:r>
              <a:rPr sz="1803" spc="-10" dirty="0">
                <a:latin typeface="Arial MT"/>
                <a:cs typeface="Arial MT"/>
              </a:rPr>
              <a:t>amplitude </a:t>
            </a:r>
            <a:r>
              <a:rPr sz="1803" dirty="0">
                <a:latin typeface="Arial MT"/>
                <a:cs typeface="Arial MT"/>
              </a:rPr>
              <a:t>and</a:t>
            </a:r>
            <a:r>
              <a:rPr sz="1803" spc="-15" dirty="0">
                <a:latin typeface="Arial MT"/>
                <a:cs typeface="Arial MT"/>
              </a:rPr>
              <a:t> </a:t>
            </a:r>
            <a:r>
              <a:rPr sz="1803" dirty="0">
                <a:latin typeface="Arial MT"/>
                <a:cs typeface="Arial MT"/>
              </a:rPr>
              <a:t>100Hz</a:t>
            </a:r>
            <a:r>
              <a:rPr sz="1803" spc="-30" dirty="0">
                <a:latin typeface="Arial MT"/>
                <a:cs typeface="Arial MT"/>
              </a:rPr>
              <a:t> </a:t>
            </a:r>
            <a:r>
              <a:rPr sz="1803" spc="-10" dirty="0">
                <a:latin typeface="Arial MT"/>
                <a:cs typeface="Arial MT"/>
              </a:rPr>
              <a:t>frequency.</a:t>
            </a:r>
            <a:endParaRPr sz="1803">
              <a:latin typeface="Arial MT"/>
              <a:cs typeface="Arial MT"/>
            </a:endParaRPr>
          </a:p>
          <a:p>
            <a:pPr>
              <a:spcBef>
                <a:spcPts val="90"/>
              </a:spcBef>
            </a:pPr>
            <a:endParaRPr sz="1803">
              <a:latin typeface="Arial MT"/>
              <a:cs typeface="Arial MT"/>
            </a:endParaRPr>
          </a:p>
          <a:p>
            <a:pPr marL="12724"/>
            <a:r>
              <a:rPr sz="1803" dirty="0">
                <a:latin typeface="Arial MT"/>
                <a:cs typeface="Arial MT"/>
              </a:rPr>
              <a:t>Output</a:t>
            </a:r>
            <a:r>
              <a:rPr sz="1803" spc="-20" dirty="0">
                <a:latin typeface="Arial MT"/>
                <a:cs typeface="Arial MT"/>
              </a:rPr>
              <a:t> </a:t>
            </a:r>
            <a:r>
              <a:rPr sz="1803" dirty="0">
                <a:latin typeface="Arial MT"/>
                <a:cs typeface="Arial MT"/>
              </a:rPr>
              <a:t>voltage</a:t>
            </a:r>
            <a:r>
              <a:rPr sz="1803" spc="-40" dirty="0">
                <a:latin typeface="Arial MT"/>
                <a:cs typeface="Arial MT"/>
              </a:rPr>
              <a:t> </a:t>
            </a:r>
            <a:r>
              <a:rPr sz="1803" dirty="0">
                <a:latin typeface="Arial MT"/>
                <a:cs typeface="Arial MT"/>
              </a:rPr>
              <a:t>=</a:t>
            </a:r>
            <a:r>
              <a:rPr sz="1803" spc="10" dirty="0">
                <a:latin typeface="Arial MT"/>
                <a:cs typeface="Arial MT"/>
              </a:rPr>
              <a:t> </a:t>
            </a:r>
            <a:r>
              <a:rPr sz="1803" spc="-50" dirty="0">
                <a:latin typeface="Arial MT"/>
                <a:cs typeface="Arial MT"/>
              </a:rPr>
              <a:t>?</a:t>
            </a:r>
            <a:endParaRPr sz="1803">
              <a:latin typeface="Arial MT"/>
              <a:cs typeface="Arial MT"/>
            </a:endParaRPr>
          </a:p>
        </p:txBody>
      </p:sp>
      <p:sp>
        <p:nvSpPr>
          <p:cNvPr id="13" name="object 13"/>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32</a:t>
            </a:r>
          </a:p>
        </p:txBody>
      </p:sp>
      <p:sp>
        <p:nvSpPr>
          <p:cNvPr id="11" name="object 11"/>
          <p:cNvSpPr txBox="1"/>
          <p:nvPr/>
        </p:nvSpPr>
        <p:spPr>
          <a:xfrm>
            <a:off x="1781439" y="5718695"/>
            <a:ext cx="6429216" cy="645721"/>
          </a:xfrm>
          <a:prstGeom prst="rect">
            <a:avLst/>
          </a:prstGeom>
        </p:spPr>
        <p:txBody>
          <a:bodyPr vert="horz" wrap="square" lIns="0" tIns="30537" rIns="0" bIns="0" rtlCol="0">
            <a:spAutoFit/>
          </a:bodyPr>
          <a:lstStyle/>
          <a:p>
            <a:pPr marL="12724" marR="5090">
              <a:lnSpc>
                <a:spcPts val="2405"/>
              </a:lnSpc>
              <a:spcBef>
                <a:spcPts val="240"/>
              </a:spcBef>
            </a:pPr>
            <a:r>
              <a:rPr sz="2004" i="1" dirty="0">
                <a:latin typeface="Arial"/>
                <a:cs typeface="Arial"/>
              </a:rPr>
              <a:t>0dB</a:t>
            </a:r>
            <a:r>
              <a:rPr sz="2004" i="1" spc="-60" dirty="0">
                <a:latin typeface="Arial"/>
                <a:cs typeface="Arial"/>
              </a:rPr>
              <a:t> </a:t>
            </a:r>
            <a:r>
              <a:rPr sz="2054" dirty="0">
                <a:latin typeface="Wingdings"/>
                <a:cs typeface="Wingdings"/>
              </a:rPr>
              <a:t></a:t>
            </a:r>
            <a:r>
              <a:rPr sz="2054" spc="-15" dirty="0">
                <a:latin typeface="Times New Roman"/>
                <a:cs typeface="Times New Roman"/>
              </a:rPr>
              <a:t> </a:t>
            </a:r>
            <a:r>
              <a:rPr sz="2004" i="1" dirty="0">
                <a:latin typeface="Arial"/>
                <a:cs typeface="Arial"/>
              </a:rPr>
              <a:t>output</a:t>
            </a:r>
            <a:r>
              <a:rPr sz="2004" i="1" spc="-25" dirty="0">
                <a:latin typeface="Arial"/>
                <a:cs typeface="Arial"/>
              </a:rPr>
              <a:t> </a:t>
            </a:r>
            <a:r>
              <a:rPr sz="2004" i="1" dirty="0">
                <a:latin typeface="Arial"/>
                <a:cs typeface="Arial"/>
              </a:rPr>
              <a:t>amplitude is</a:t>
            </a:r>
            <a:r>
              <a:rPr sz="2004" i="1" spc="-50" dirty="0">
                <a:latin typeface="Arial"/>
                <a:cs typeface="Arial"/>
              </a:rPr>
              <a:t> </a:t>
            </a:r>
            <a:r>
              <a:rPr sz="2004" i="1" dirty="0">
                <a:latin typeface="Arial"/>
                <a:cs typeface="Arial"/>
              </a:rPr>
              <a:t>the</a:t>
            </a:r>
            <a:r>
              <a:rPr sz="2004" i="1" spc="-50" dirty="0">
                <a:latin typeface="Arial"/>
                <a:cs typeface="Arial"/>
              </a:rPr>
              <a:t> </a:t>
            </a:r>
            <a:r>
              <a:rPr sz="2004" i="1" dirty="0">
                <a:latin typeface="Arial"/>
                <a:cs typeface="Arial"/>
              </a:rPr>
              <a:t>same</a:t>
            </a:r>
            <a:r>
              <a:rPr sz="2004" i="1" spc="-65" dirty="0">
                <a:latin typeface="Arial"/>
                <a:cs typeface="Arial"/>
              </a:rPr>
              <a:t> </a:t>
            </a:r>
            <a:r>
              <a:rPr sz="2004" i="1" dirty="0">
                <a:latin typeface="Arial"/>
                <a:cs typeface="Arial"/>
              </a:rPr>
              <a:t>as</a:t>
            </a:r>
            <a:r>
              <a:rPr sz="2004" i="1" spc="-50" dirty="0">
                <a:latin typeface="Arial"/>
                <a:cs typeface="Arial"/>
              </a:rPr>
              <a:t> </a:t>
            </a:r>
            <a:r>
              <a:rPr sz="2004" i="1" dirty="0">
                <a:latin typeface="Arial"/>
                <a:cs typeface="Arial"/>
              </a:rPr>
              <a:t>input</a:t>
            </a:r>
            <a:r>
              <a:rPr sz="2004" i="1" spc="-25" dirty="0">
                <a:latin typeface="Arial"/>
                <a:cs typeface="Arial"/>
              </a:rPr>
              <a:t> </a:t>
            </a:r>
            <a:r>
              <a:rPr sz="2004" i="1" spc="-10" dirty="0">
                <a:latin typeface="Arial"/>
                <a:cs typeface="Arial"/>
              </a:rPr>
              <a:t>amplitude</a:t>
            </a:r>
            <a:r>
              <a:rPr sz="2004" i="1" spc="501" dirty="0">
                <a:latin typeface="Arial"/>
                <a:cs typeface="Arial"/>
              </a:rPr>
              <a:t> </a:t>
            </a:r>
            <a:r>
              <a:rPr sz="2004" i="1" dirty="0">
                <a:latin typeface="Arial"/>
                <a:cs typeface="Arial"/>
              </a:rPr>
              <a:t>0</a:t>
            </a:r>
            <a:r>
              <a:rPr sz="2004" i="1" spc="-55" dirty="0">
                <a:latin typeface="Arial"/>
                <a:cs typeface="Arial"/>
              </a:rPr>
              <a:t> </a:t>
            </a:r>
            <a:r>
              <a:rPr sz="2004" i="1" dirty="0">
                <a:latin typeface="Arial"/>
                <a:cs typeface="Arial"/>
              </a:rPr>
              <a:t>degree</a:t>
            </a:r>
            <a:r>
              <a:rPr sz="2004" i="1" spc="-20" dirty="0">
                <a:latin typeface="Arial"/>
                <a:cs typeface="Arial"/>
              </a:rPr>
              <a:t> </a:t>
            </a:r>
            <a:r>
              <a:rPr sz="2054" dirty="0">
                <a:latin typeface="Wingdings"/>
                <a:cs typeface="Wingdings"/>
              </a:rPr>
              <a:t></a:t>
            </a:r>
            <a:r>
              <a:rPr sz="2054" spc="-5" dirty="0">
                <a:latin typeface="Times New Roman"/>
                <a:cs typeface="Times New Roman"/>
              </a:rPr>
              <a:t> </a:t>
            </a:r>
            <a:r>
              <a:rPr sz="2004" i="1" dirty="0">
                <a:latin typeface="Arial"/>
                <a:cs typeface="Arial"/>
              </a:rPr>
              <a:t>output</a:t>
            </a:r>
            <a:r>
              <a:rPr sz="2004" i="1" spc="-30" dirty="0">
                <a:latin typeface="Arial"/>
                <a:cs typeface="Arial"/>
              </a:rPr>
              <a:t> </a:t>
            </a:r>
            <a:r>
              <a:rPr sz="2004" i="1" dirty="0">
                <a:latin typeface="Arial"/>
                <a:cs typeface="Arial"/>
              </a:rPr>
              <a:t>phase</a:t>
            </a:r>
            <a:r>
              <a:rPr sz="2004" i="1" spc="-35" dirty="0">
                <a:latin typeface="Arial"/>
                <a:cs typeface="Arial"/>
              </a:rPr>
              <a:t> </a:t>
            </a:r>
            <a:r>
              <a:rPr sz="2004" i="1" dirty="0">
                <a:latin typeface="Arial"/>
                <a:cs typeface="Arial"/>
              </a:rPr>
              <a:t>is</a:t>
            </a:r>
            <a:r>
              <a:rPr sz="2004" i="1" spc="-35" dirty="0">
                <a:latin typeface="Arial"/>
                <a:cs typeface="Arial"/>
              </a:rPr>
              <a:t> </a:t>
            </a:r>
            <a:r>
              <a:rPr sz="2004" i="1" dirty="0">
                <a:latin typeface="Arial"/>
                <a:cs typeface="Arial"/>
              </a:rPr>
              <a:t>the</a:t>
            </a:r>
            <a:r>
              <a:rPr sz="2004" i="1" spc="-35" dirty="0">
                <a:latin typeface="Arial"/>
                <a:cs typeface="Arial"/>
              </a:rPr>
              <a:t> </a:t>
            </a:r>
            <a:r>
              <a:rPr sz="2004" i="1" dirty="0">
                <a:latin typeface="Arial"/>
                <a:cs typeface="Arial"/>
              </a:rPr>
              <a:t>same</a:t>
            </a:r>
            <a:r>
              <a:rPr sz="2004" i="1" spc="-55" dirty="0">
                <a:latin typeface="Arial"/>
                <a:cs typeface="Arial"/>
              </a:rPr>
              <a:t> </a:t>
            </a:r>
            <a:r>
              <a:rPr sz="2004" i="1" dirty="0">
                <a:latin typeface="Arial"/>
                <a:cs typeface="Arial"/>
              </a:rPr>
              <a:t>as</a:t>
            </a:r>
            <a:r>
              <a:rPr sz="2004" i="1" spc="-35" dirty="0">
                <a:latin typeface="Arial"/>
                <a:cs typeface="Arial"/>
              </a:rPr>
              <a:t> </a:t>
            </a:r>
            <a:r>
              <a:rPr sz="2004" i="1" dirty="0">
                <a:latin typeface="Arial"/>
                <a:cs typeface="Arial"/>
              </a:rPr>
              <a:t>the</a:t>
            </a:r>
            <a:r>
              <a:rPr sz="2004" i="1" spc="-35" dirty="0">
                <a:latin typeface="Arial"/>
                <a:cs typeface="Arial"/>
              </a:rPr>
              <a:t> </a:t>
            </a:r>
            <a:r>
              <a:rPr sz="2004" i="1" dirty="0">
                <a:latin typeface="Arial"/>
                <a:cs typeface="Arial"/>
              </a:rPr>
              <a:t>input</a:t>
            </a:r>
            <a:r>
              <a:rPr sz="2004" i="1" spc="-30" dirty="0">
                <a:latin typeface="Arial"/>
                <a:cs typeface="Arial"/>
              </a:rPr>
              <a:t> </a:t>
            </a:r>
            <a:r>
              <a:rPr sz="2004" i="1" spc="-10" dirty="0">
                <a:latin typeface="Arial"/>
                <a:cs typeface="Arial"/>
              </a:rPr>
              <a:t>phase</a:t>
            </a:r>
            <a:endParaRPr sz="2004">
              <a:latin typeface="Arial"/>
              <a:cs typeface="Arial"/>
            </a:endParaRPr>
          </a:p>
        </p:txBody>
      </p:sp>
    </p:spTree>
    <p:extLst>
      <p:ext uri="{BB962C8B-B14F-4D97-AF65-F5344CB8AC3E}">
        <p14:creationId xmlns:p14="http://schemas.microsoft.com/office/powerpoint/2010/main" val="12975547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42</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791018" y="1000393"/>
            <a:ext cx="7748907" cy="5541241"/>
          </a:xfrm>
          <a:prstGeom prst="rect">
            <a:avLst/>
          </a:prstGeom>
        </p:spPr>
      </p:pic>
    </p:spTree>
    <p:extLst>
      <p:ext uri="{BB962C8B-B14F-4D97-AF65-F5344CB8AC3E}">
        <p14:creationId xmlns:p14="http://schemas.microsoft.com/office/powerpoint/2010/main" val="187789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026837">
              <a:spcBef>
                <a:spcPts val="90"/>
              </a:spcBef>
            </a:pPr>
            <a:r>
              <a:rPr spc="-25" dirty="0"/>
              <a:t>Bode-</a:t>
            </a:r>
            <a:r>
              <a:rPr dirty="0"/>
              <a:t>plot</a:t>
            </a:r>
            <a:r>
              <a:rPr spc="-35" dirty="0"/>
              <a:t> </a:t>
            </a:r>
            <a:r>
              <a:rPr dirty="0"/>
              <a:t>vs.</a:t>
            </a:r>
            <a:r>
              <a:rPr spc="-45" dirty="0"/>
              <a:t> </a:t>
            </a:r>
            <a:r>
              <a:rPr dirty="0"/>
              <a:t>Time</a:t>
            </a:r>
            <a:r>
              <a:rPr spc="-40" dirty="0"/>
              <a:t> </a:t>
            </a:r>
            <a:r>
              <a:rPr spc="-10" dirty="0"/>
              <a:t>domain</a:t>
            </a:r>
          </a:p>
        </p:txBody>
      </p:sp>
      <p:grpSp>
        <p:nvGrpSpPr>
          <p:cNvPr id="3" name="object 3"/>
          <p:cNvGrpSpPr/>
          <p:nvPr/>
        </p:nvGrpSpPr>
        <p:grpSpPr>
          <a:xfrm>
            <a:off x="4654123" y="1286852"/>
            <a:ext cx="5953355" cy="4289113"/>
            <a:chOff x="3113743" y="1284469"/>
            <a:chExt cx="5942330" cy="4281170"/>
          </a:xfrm>
        </p:grpSpPr>
        <p:pic>
          <p:nvPicPr>
            <p:cNvPr id="4" name="object 4"/>
            <p:cNvPicPr/>
            <p:nvPr/>
          </p:nvPicPr>
          <p:blipFill>
            <a:blip r:embed="rId2" cstate="print"/>
            <a:stretch>
              <a:fillRect/>
            </a:stretch>
          </p:blipFill>
          <p:spPr>
            <a:xfrm>
              <a:off x="3113743" y="1284469"/>
              <a:ext cx="5941864" cy="3647767"/>
            </a:xfrm>
            <a:prstGeom prst="rect">
              <a:avLst/>
            </a:prstGeom>
          </p:spPr>
        </p:pic>
        <p:sp>
          <p:nvSpPr>
            <p:cNvPr id="5" name="object 5"/>
            <p:cNvSpPr/>
            <p:nvPr/>
          </p:nvSpPr>
          <p:spPr>
            <a:xfrm>
              <a:off x="6001511" y="4659883"/>
              <a:ext cx="685800" cy="381000"/>
            </a:xfrm>
            <a:custGeom>
              <a:avLst/>
              <a:gdLst/>
              <a:ahLst/>
              <a:cxnLst/>
              <a:rect l="l" t="t" r="r" b="b"/>
              <a:pathLst>
                <a:path w="685800" h="381000">
                  <a:moveTo>
                    <a:pt x="0" y="60960"/>
                  </a:moveTo>
                  <a:lnTo>
                    <a:pt x="5286" y="37290"/>
                  </a:lnTo>
                  <a:lnTo>
                    <a:pt x="19430" y="17907"/>
                  </a:lnTo>
                  <a:lnTo>
                    <a:pt x="39862" y="4810"/>
                  </a:lnTo>
                  <a:lnTo>
                    <a:pt x="64008" y="0"/>
                  </a:lnTo>
                  <a:lnTo>
                    <a:pt x="624839" y="0"/>
                  </a:lnTo>
                  <a:lnTo>
                    <a:pt x="648509" y="4810"/>
                  </a:lnTo>
                  <a:lnTo>
                    <a:pt x="667892" y="17907"/>
                  </a:lnTo>
                  <a:lnTo>
                    <a:pt x="680989" y="37290"/>
                  </a:lnTo>
                  <a:lnTo>
                    <a:pt x="685799" y="60960"/>
                  </a:lnTo>
                  <a:lnTo>
                    <a:pt x="685799" y="316992"/>
                  </a:lnTo>
                  <a:lnTo>
                    <a:pt x="680989" y="341137"/>
                  </a:lnTo>
                  <a:lnTo>
                    <a:pt x="667892" y="361569"/>
                  </a:lnTo>
                  <a:lnTo>
                    <a:pt x="648509" y="375713"/>
                  </a:lnTo>
                  <a:lnTo>
                    <a:pt x="624839" y="381000"/>
                  </a:lnTo>
                  <a:lnTo>
                    <a:pt x="64008" y="381000"/>
                  </a:lnTo>
                  <a:lnTo>
                    <a:pt x="39862" y="375713"/>
                  </a:lnTo>
                  <a:lnTo>
                    <a:pt x="19431" y="361569"/>
                  </a:lnTo>
                  <a:lnTo>
                    <a:pt x="5286" y="341137"/>
                  </a:lnTo>
                  <a:lnTo>
                    <a:pt x="0" y="316992"/>
                  </a:lnTo>
                  <a:lnTo>
                    <a:pt x="0" y="60960"/>
                  </a:lnTo>
                  <a:close/>
                </a:path>
              </a:pathLst>
            </a:custGeom>
            <a:ln w="57910">
              <a:solidFill>
                <a:srgbClr val="FFBF00"/>
              </a:solidFill>
            </a:ln>
          </p:spPr>
          <p:txBody>
            <a:bodyPr wrap="square" lIns="0" tIns="0" rIns="0" bIns="0" rtlCol="0"/>
            <a:lstStyle/>
            <a:p>
              <a:endParaRPr sz="1803"/>
            </a:p>
          </p:txBody>
        </p:sp>
        <p:sp>
          <p:nvSpPr>
            <p:cNvPr id="6" name="object 6"/>
            <p:cNvSpPr/>
            <p:nvPr/>
          </p:nvSpPr>
          <p:spPr>
            <a:xfrm>
              <a:off x="6153911" y="5117083"/>
              <a:ext cx="381000" cy="436245"/>
            </a:xfrm>
            <a:custGeom>
              <a:avLst/>
              <a:gdLst/>
              <a:ahLst/>
              <a:cxnLst/>
              <a:rect l="l" t="t" r="r" b="b"/>
              <a:pathLst>
                <a:path w="381000" h="436245">
                  <a:moveTo>
                    <a:pt x="192024" y="0"/>
                  </a:moveTo>
                  <a:lnTo>
                    <a:pt x="0" y="188976"/>
                  </a:lnTo>
                  <a:lnTo>
                    <a:pt x="97536" y="188976"/>
                  </a:lnTo>
                  <a:lnTo>
                    <a:pt x="97536" y="435864"/>
                  </a:lnTo>
                  <a:lnTo>
                    <a:pt x="286512" y="435864"/>
                  </a:lnTo>
                  <a:lnTo>
                    <a:pt x="286512" y="188976"/>
                  </a:lnTo>
                  <a:lnTo>
                    <a:pt x="380999" y="188976"/>
                  </a:lnTo>
                  <a:lnTo>
                    <a:pt x="192024" y="0"/>
                  </a:lnTo>
                  <a:close/>
                </a:path>
              </a:pathLst>
            </a:custGeom>
            <a:solidFill>
              <a:srgbClr val="FFBF00"/>
            </a:solidFill>
          </p:spPr>
          <p:txBody>
            <a:bodyPr wrap="square" lIns="0" tIns="0" rIns="0" bIns="0" rtlCol="0"/>
            <a:lstStyle/>
            <a:p>
              <a:endParaRPr sz="1803"/>
            </a:p>
          </p:txBody>
        </p:sp>
        <p:sp>
          <p:nvSpPr>
            <p:cNvPr id="7" name="object 7"/>
            <p:cNvSpPr/>
            <p:nvPr/>
          </p:nvSpPr>
          <p:spPr>
            <a:xfrm>
              <a:off x="6153911" y="5117083"/>
              <a:ext cx="381000" cy="436245"/>
            </a:xfrm>
            <a:custGeom>
              <a:avLst/>
              <a:gdLst/>
              <a:ahLst/>
              <a:cxnLst/>
              <a:rect l="l" t="t" r="r" b="b"/>
              <a:pathLst>
                <a:path w="381000" h="436245">
                  <a:moveTo>
                    <a:pt x="380999" y="188976"/>
                  </a:moveTo>
                  <a:lnTo>
                    <a:pt x="286512" y="188976"/>
                  </a:lnTo>
                  <a:lnTo>
                    <a:pt x="286512" y="435864"/>
                  </a:lnTo>
                  <a:lnTo>
                    <a:pt x="97536" y="435864"/>
                  </a:lnTo>
                  <a:lnTo>
                    <a:pt x="97536" y="188976"/>
                  </a:lnTo>
                  <a:lnTo>
                    <a:pt x="0" y="188976"/>
                  </a:lnTo>
                  <a:lnTo>
                    <a:pt x="192024" y="0"/>
                  </a:lnTo>
                  <a:lnTo>
                    <a:pt x="380999" y="188976"/>
                  </a:lnTo>
                  <a:close/>
                </a:path>
              </a:pathLst>
            </a:custGeom>
            <a:ln w="24382">
              <a:solidFill>
                <a:srgbClr val="FFBF00"/>
              </a:solidFill>
            </a:ln>
          </p:spPr>
          <p:txBody>
            <a:bodyPr wrap="square" lIns="0" tIns="0" rIns="0" bIns="0" rtlCol="0"/>
            <a:lstStyle/>
            <a:p>
              <a:endParaRPr sz="1803"/>
            </a:p>
          </p:txBody>
        </p:sp>
        <p:sp>
          <p:nvSpPr>
            <p:cNvPr id="8" name="object 8"/>
            <p:cNvSpPr/>
            <p:nvPr/>
          </p:nvSpPr>
          <p:spPr>
            <a:xfrm>
              <a:off x="6156960" y="1691132"/>
              <a:ext cx="274320" cy="2002789"/>
            </a:xfrm>
            <a:custGeom>
              <a:avLst/>
              <a:gdLst/>
              <a:ahLst/>
              <a:cxnLst/>
              <a:rect l="l" t="t" r="r" b="b"/>
              <a:pathLst>
                <a:path w="274320" h="2002789">
                  <a:moveTo>
                    <a:pt x="48767" y="36575"/>
                  </a:moveTo>
                  <a:lnTo>
                    <a:pt x="51482" y="21859"/>
                  </a:lnTo>
                  <a:lnTo>
                    <a:pt x="59054" y="10287"/>
                  </a:lnTo>
                  <a:lnTo>
                    <a:pt x="70627" y="2714"/>
                  </a:lnTo>
                  <a:lnTo>
                    <a:pt x="85343" y="0"/>
                  </a:lnTo>
                  <a:lnTo>
                    <a:pt x="237743" y="0"/>
                  </a:lnTo>
                  <a:lnTo>
                    <a:pt x="251174" y="2714"/>
                  </a:lnTo>
                  <a:lnTo>
                    <a:pt x="262889" y="10287"/>
                  </a:lnTo>
                  <a:lnTo>
                    <a:pt x="271176" y="21859"/>
                  </a:lnTo>
                  <a:lnTo>
                    <a:pt x="274319" y="36575"/>
                  </a:lnTo>
                  <a:lnTo>
                    <a:pt x="274319" y="195071"/>
                  </a:lnTo>
                  <a:lnTo>
                    <a:pt x="271176" y="209788"/>
                  </a:lnTo>
                  <a:lnTo>
                    <a:pt x="262889" y="221360"/>
                  </a:lnTo>
                  <a:lnTo>
                    <a:pt x="251174" y="228933"/>
                  </a:lnTo>
                  <a:lnTo>
                    <a:pt x="237743" y="231647"/>
                  </a:lnTo>
                  <a:lnTo>
                    <a:pt x="85343" y="231647"/>
                  </a:lnTo>
                  <a:lnTo>
                    <a:pt x="70627" y="228933"/>
                  </a:lnTo>
                  <a:lnTo>
                    <a:pt x="59054" y="221360"/>
                  </a:lnTo>
                  <a:lnTo>
                    <a:pt x="51482" y="209788"/>
                  </a:lnTo>
                  <a:lnTo>
                    <a:pt x="48767" y="195071"/>
                  </a:lnTo>
                  <a:lnTo>
                    <a:pt x="48767" y="36575"/>
                  </a:lnTo>
                  <a:close/>
                </a:path>
                <a:path w="274320" h="2002789">
                  <a:moveTo>
                    <a:pt x="0" y="1807464"/>
                  </a:moveTo>
                  <a:lnTo>
                    <a:pt x="3190" y="1792271"/>
                  </a:lnTo>
                  <a:lnTo>
                    <a:pt x="11811" y="1779651"/>
                  </a:lnTo>
                  <a:lnTo>
                    <a:pt x="24431" y="1771030"/>
                  </a:lnTo>
                  <a:lnTo>
                    <a:pt x="39624" y="1767839"/>
                  </a:lnTo>
                  <a:lnTo>
                    <a:pt x="188975" y="1767839"/>
                  </a:lnTo>
                  <a:lnTo>
                    <a:pt x="203692" y="1771030"/>
                  </a:lnTo>
                  <a:lnTo>
                    <a:pt x="215264" y="1779651"/>
                  </a:lnTo>
                  <a:lnTo>
                    <a:pt x="222837" y="1792271"/>
                  </a:lnTo>
                  <a:lnTo>
                    <a:pt x="225551" y="1807464"/>
                  </a:lnTo>
                  <a:lnTo>
                    <a:pt x="225551" y="1962911"/>
                  </a:lnTo>
                  <a:lnTo>
                    <a:pt x="222837" y="1978104"/>
                  </a:lnTo>
                  <a:lnTo>
                    <a:pt x="215264" y="1990724"/>
                  </a:lnTo>
                  <a:lnTo>
                    <a:pt x="203692" y="1999345"/>
                  </a:lnTo>
                  <a:lnTo>
                    <a:pt x="188975" y="2002535"/>
                  </a:lnTo>
                  <a:lnTo>
                    <a:pt x="39624" y="2002535"/>
                  </a:lnTo>
                  <a:lnTo>
                    <a:pt x="24431" y="1999345"/>
                  </a:lnTo>
                  <a:lnTo>
                    <a:pt x="11811" y="1990724"/>
                  </a:lnTo>
                  <a:lnTo>
                    <a:pt x="3190" y="1978104"/>
                  </a:lnTo>
                  <a:lnTo>
                    <a:pt x="0" y="1962911"/>
                  </a:lnTo>
                  <a:lnTo>
                    <a:pt x="0" y="1807464"/>
                  </a:lnTo>
                  <a:close/>
                </a:path>
              </a:pathLst>
            </a:custGeom>
            <a:ln w="57910">
              <a:solidFill>
                <a:srgbClr val="FFBF00"/>
              </a:solidFill>
            </a:ln>
          </p:spPr>
          <p:txBody>
            <a:bodyPr wrap="square" lIns="0" tIns="0" rIns="0" bIns="0" rtlCol="0"/>
            <a:lstStyle/>
            <a:p>
              <a:endParaRPr sz="1803"/>
            </a:p>
          </p:txBody>
        </p:sp>
      </p:grpSp>
      <p:pic>
        <p:nvPicPr>
          <p:cNvPr id="9" name="object 9"/>
          <p:cNvPicPr/>
          <p:nvPr/>
        </p:nvPicPr>
        <p:blipFill>
          <a:blip r:embed="rId3" cstate="print"/>
          <a:stretch>
            <a:fillRect/>
          </a:stretch>
        </p:blipFill>
        <p:spPr>
          <a:xfrm>
            <a:off x="1749359" y="1452804"/>
            <a:ext cx="2641148" cy="1207777"/>
          </a:xfrm>
          <a:prstGeom prst="rect">
            <a:avLst/>
          </a:prstGeom>
        </p:spPr>
      </p:pic>
      <p:sp>
        <p:nvSpPr>
          <p:cNvPr id="10" name="object 10"/>
          <p:cNvSpPr txBox="1"/>
          <p:nvPr/>
        </p:nvSpPr>
        <p:spPr>
          <a:xfrm>
            <a:off x="1781439" y="3113711"/>
            <a:ext cx="2856440" cy="1415508"/>
          </a:xfrm>
          <a:prstGeom prst="rect">
            <a:avLst/>
          </a:prstGeom>
        </p:spPr>
        <p:txBody>
          <a:bodyPr vert="horz" wrap="square" lIns="0" tIns="12724" rIns="0" bIns="0" rtlCol="0">
            <a:spAutoFit/>
          </a:bodyPr>
          <a:lstStyle/>
          <a:p>
            <a:pPr marL="12724" marR="5090">
              <a:spcBef>
                <a:spcPts val="100"/>
              </a:spcBef>
            </a:pPr>
            <a:r>
              <a:rPr sz="1803" dirty="0">
                <a:latin typeface="Arial MT"/>
                <a:cs typeface="Arial MT"/>
              </a:rPr>
              <a:t>Assume:</a:t>
            </a:r>
            <a:r>
              <a:rPr sz="1803" spc="-35" dirty="0">
                <a:latin typeface="Arial MT"/>
                <a:cs typeface="Arial MT"/>
              </a:rPr>
              <a:t> </a:t>
            </a:r>
            <a:r>
              <a:rPr sz="1803" dirty="0">
                <a:latin typeface="Arial MT"/>
                <a:cs typeface="Arial MT"/>
              </a:rPr>
              <a:t>input</a:t>
            </a:r>
            <a:r>
              <a:rPr sz="1803" spc="-30" dirty="0">
                <a:latin typeface="Arial MT"/>
                <a:cs typeface="Arial MT"/>
              </a:rPr>
              <a:t> </a:t>
            </a:r>
            <a:r>
              <a:rPr sz="1803" dirty="0">
                <a:latin typeface="Arial MT"/>
                <a:cs typeface="Arial MT"/>
              </a:rPr>
              <a:t>voltage</a:t>
            </a:r>
            <a:r>
              <a:rPr sz="1803" spc="-25" dirty="0">
                <a:latin typeface="Arial MT"/>
                <a:cs typeface="Arial MT"/>
              </a:rPr>
              <a:t> </a:t>
            </a:r>
            <a:r>
              <a:rPr sz="1803" spc="-50" dirty="0">
                <a:latin typeface="Arial MT"/>
                <a:cs typeface="Arial MT"/>
              </a:rPr>
              <a:t>= </a:t>
            </a:r>
            <a:r>
              <a:rPr sz="1803" dirty="0">
                <a:latin typeface="Arial MT"/>
                <a:cs typeface="Arial MT"/>
              </a:rPr>
              <a:t>sinewave</a:t>
            </a:r>
            <a:r>
              <a:rPr sz="1803" spc="-35" dirty="0">
                <a:latin typeface="Arial MT"/>
                <a:cs typeface="Arial MT"/>
              </a:rPr>
              <a:t> </a:t>
            </a:r>
            <a:r>
              <a:rPr sz="1803" dirty="0">
                <a:latin typeface="Arial MT"/>
                <a:cs typeface="Arial MT"/>
              </a:rPr>
              <a:t>with</a:t>
            </a:r>
            <a:r>
              <a:rPr sz="1803" spc="10" dirty="0">
                <a:latin typeface="Arial MT"/>
                <a:cs typeface="Arial MT"/>
              </a:rPr>
              <a:t> </a:t>
            </a:r>
            <a:r>
              <a:rPr sz="1803" dirty="0">
                <a:latin typeface="Arial MT"/>
                <a:cs typeface="Arial MT"/>
              </a:rPr>
              <a:t>1V</a:t>
            </a:r>
            <a:r>
              <a:rPr sz="1803" spc="-40" dirty="0">
                <a:latin typeface="Arial MT"/>
                <a:cs typeface="Arial MT"/>
              </a:rPr>
              <a:t> </a:t>
            </a:r>
            <a:r>
              <a:rPr sz="1803" spc="-10" dirty="0">
                <a:latin typeface="Arial MT"/>
                <a:cs typeface="Arial MT"/>
              </a:rPr>
              <a:t>amplitude </a:t>
            </a:r>
            <a:r>
              <a:rPr sz="1803" dirty="0">
                <a:latin typeface="Arial MT"/>
                <a:cs typeface="Arial MT"/>
              </a:rPr>
              <a:t>and</a:t>
            </a:r>
            <a:r>
              <a:rPr sz="1803" spc="-15" dirty="0">
                <a:latin typeface="Arial MT"/>
                <a:cs typeface="Arial MT"/>
              </a:rPr>
              <a:t> </a:t>
            </a:r>
            <a:r>
              <a:rPr sz="1803" dirty="0">
                <a:latin typeface="Arial MT"/>
                <a:cs typeface="Arial MT"/>
              </a:rPr>
              <a:t>1kHz</a:t>
            </a:r>
            <a:r>
              <a:rPr sz="1803" spc="-5" dirty="0">
                <a:latin typeface="Arial MT"/>
                <a:cs typeface="Arial MT"/>
              </a:rPr>
              <a:t> </a:t>
            </a:r>
            <a:r>
              <a:rPr sz="1803" spc="-10" dirty="0">
                <a:latin typeface="Arial MT"/>
                <a:cs typeface="Arial MT"/>
              </a:rPr>
              <a:t>frequency.</a:t>
            </a:r>
            <a:endParaRPr sz="1803">
              <a:latin typeface="Arial MT"/>
              <a:cs typeface="Arial MT"/>
            </a:endParaRPr>
          </a:p>
          <a:p>
            <a:pPr>
              <a:spcBef>
                <a:spcPts val="90"/>
              </a:spcBef>
            </a:pPr>
            <a:endParaRPr sz="1803">
              <a:latin typeface="Arial MT"/>
              <a:cs typeface="Arial MT"/>
            </a:endParaRPr>
          </a:p>
          <a:p>
            <a:pPr marL="12724"/>
            <a:r>
              <a:rPr sz="1803" dirty="0">
                <a:latin typeface="Arial MT"/>
                <a:cs typeface="Arial MT"/>
              </a:rPr>
              <a:t>Output</a:t>
            </a:r>
            <a:r>
              <a:rPr sz="1803" spc="-20" dirty="0">
                <a:latin typeface="Arial MT"/>
                <a:cs typeface="Arial MT"/>
              </a:rPr>
              <a:t> </a:t>
            </a:r>
            <a:r>
              <a:rPr sz="1803" dirty="0">
                <a:latin typeface="Arial MT"/>
                <a:cs typeface="Arial MT"/>
              </a:rPr>
              <a:t>voltage</a:t>
            </a:r>
            <a:r>
              <a:rPr sz="1803" spc="-40" dirty="0">
                <a:latin typeface="Arial MT"/>
                <a:cs typeface="Arial MT"/>
              </a:rPr>
              <a:t> </a:t>
            </a:r>
            <a:r>
              <a:rPr sz="1803" dirty="0">
                <a:latin typeface="Arial MT"/>
                <a:cs typeface="Arial MT"/>
              </a:rPr>
              <a:t>=</a:t>
            </a:r>
            <a:r>
              <a:rPr sz="1803" spc="10" dirty="0">
                <a:latin typeface="Arial MT"/>
                <a:cs typeface="Arial MT"/>
              </a:rPr>
              <a:t> </a:t>
            </a:r>
            <a:r>
              <a:rPr sz="1803" spc="-50" dirty="0">
                <a:latin typeface="Arial MT"/>
                <a:cs typeface="Arial MT"/>
              </a:rPr>
              <a:t>?</a:t>
            </a:r>
            <a:endParaRPr sz="1803">
              <a:latin typeface="Arial MT"/>
              <a:cs typeface="Arial MT"/>
            </a:endParaRPr>
          </a:p>
        </p:txBody>
      </p:sp>
      <p:sp>
        <p:nvSpPr>
          <p:cNvPr id="12" name="object 12"/>
          <p:cNvSpPr txBox="1"/>
          <p:nvPr/>
        </p:nvSpPr>
        <p:spPr>
          <a:xfrm>
            <a:off x="1781439" y="6050582"/>
            <a:ext cx="7685667" cy="307777"/>
          </a:xfrm>
          <a:prstGeom prst="rect">
            <a:avLst/>
          </a:prstGeom>
        </p:spPr>
        <p:txBody>
          <a:bodyPr vert="horz" wrap="square" lIns="0" tIns="0" rIns="0" bIns="0" rtlCol="0">
            <a:spAutoFit/>
          </a:bodyPr>
          <a:lstStyle/>
          <a:p>
            <a:pPr marL="12724">
              <a:lnSpc>
                <a:spcPts val="2369"/>
              </a:lnSpc>
            </a:pPr>
            <a:r>
              <a:rPr sz="2004" i="1" dirty="0">
                <a:latin typeface="Arial"/>
                <a:cs typeface="Arial"/>
              </a:rPr>
              <a:t>-45</a:t>
            </a:r>
            <a:r>
              <a:rPr sz="2004" i="1" spc="-60" dirty="0">
                <a:latin typeface="Arial"/>
                <a:cs typeface="Arial"/>
              </a:rPr>
              <a:t> </a:t>
            </a:r>
            <a:r>
              <a:rPr sz="2004" i="1" dirty="0">
                <a:latin typeface="Arial"/>
                <a:cs typeface="Arial"/>
              </a:rPr>
              <a:t>degree</a:t>
            </a:r>
            <a:r>
              <a:rPr sz="2004" i="1" spc="-30" dirty="0">
                <a:latin typeface="Arial"/>
                <a:cs typeface="Arial"/>
              </a:rPr>
              <a:t> </a:t>
            </a:r>
            <a:r>
              <a:rPr sz="2054" dirty="0">
                <a:latin typeface="Wingdings"/>
                <a:cs typeface="Wingdings"/>
              </a:rPr>
              <a:t></a:t>
            </a:r>
            <a:r>
              <a:rPr sz="2054" spc="-10" dirty="0">
                <a:latin typeface="Times New Roman"/>
                <a:cs typeface="Times New Roman"/>
              </a:rPr>
              <a:t> </a:t>
            </a:r>
            <a:r>
              <a:rPr sz="2004" i="1" dirty="0">
                <a:latin typeface="Arial"/>
                <a:cs typeface="Arial"/>
              </a:rPr>
              <a:t>output</a:t>
            </a:r>
            <a:r>
              <a:rPr sz="2004" i="1" spc="-40" dirty="0">
                <a:latin typeface="Arial"/>
                <a:cs typeface="Arial"/>
              </a:rPr>
              <a:t> </a:t>
            </a:r>
            <a:r>
              <a:rPr sz="2004" i="1" dirty="0">
                <a:latin typeface="Arial"/>
                <a:cs typeface="Arial"/>
              </a:rPr>
              <a:t>phase</a:t>
            </a:r>
            <a:r>
              <a:rPr sz="2004" i="1" spc="-40" dirty="0">
                <a:latin typeface="Arial"/>
                <a:cs typeface="Arial"/>
              </a:rPr>
              <a:t> </a:t>
            </a:r>
            <a:r>
              <a:rPr sz="2004" i="1" dirty="0">
                <a:latin typeface="Arial"/>
                <a:cs typeface="Arial"/>
              </a:rPr>
              <a:t>is</a:t>
            </a:r>
            <a:r>
              <a:rPr sz="2004" i="1" spc="-65" dirty="0">
                <a:latin typeface="Arial"/>
                <a:cs typeface="Arial"/>
              </a:rPr>
              <a:t> </a:t>
            </a:r>
            <a:r>
              <a:rPr sz="2004" i="1" dirty="0">
                <a:latin typeface="Arial"/>
                <a:cs typeface="Arial"/>
              </a:rPr>
              <a:t>-45</a:t>
            </a:r>
            <a:r>
              <a:rPr sz="2004" i="1" spc="-60" dirty="0">
                <a:latin typeface="Arial"/>
                <a:cs typeface="Arial"/>
              </a:rPr>
              <a:t> </a:t>
            </a:r>
            <a:r>
              <a:rPr sz="2004" i="1" dirty="0">
                <a:latin typeface="Arial"/>
                <a:cs typeface="Arial"/>
              </a:rPr>
              <a:t>degrees</a:t>
            </a:r>
            <a:r>
              <a:rPr sz="2004" i="1" spc="-30" dirty="0">
                <a:latin typeface="Arial"/>
                <a:cs typeface="Arial"/>
              </a:rPr>
              <a:t> </a:t>
            </a:r>
            <a:r>
              <a:rPr sz="2004" i="1" dirty="0">
                <a:latin typeface="Arial"/>
                <a:cs typeface="Arial"/>
              </a:rPr>
              <a:t>compared</a:t>
            </a:r>
            <a:r>
              <a:rPr sz="2004" i="1" spc="-40" dirty="0">
                <a:latin typeface="Arial"/>
                <a:cs typeface="Arial"/>
              </a:rPr>
              <a:t> </a:t>
            </a:r>
            <a:r>
              <a:rPr sz="2004" i="1" dirty="0">
                <a:latin typeface="Arial"/>
                <a:cs typeface="Arial"/>
              </a:rPr>
              <a:t>to</a:t>
            </a:r>
            <a:r>
              <a:rPr sz="2004" i="1" spc="-40" dirty="0">
                <a:latin typeface="Arial"/>
                <a:cs typeface="Arial"/>
              </a:rPr>
              <a:t> </a:t>
            </a:r>
            <a:r>
              <a:rPr sz="2004" i="1" dirty="0">
                <a:latin typeface="Arial"/>
                <a:cs typeface="Arial"/>
              </a:rPr>
              <a:t>input</a:t>
            </a:r>
            <a:r>
              <a:rPr sz="2004" i="1" spc="-40" dirty="0">
                <a:latin typeface="Arial"/>
                <a:cs typeface="Arial"/>
              </a:rPr>
              <a:t> </a:t>
            </a:r>
            <a:r>
              <a:rPr sz="2004" i="1" spc="-10" dirty="0" smtClean="0">
                <a:latin typeface="Arial"/>
                <a:cs typeface="Arial"/>
              </a:rPr>
              <a:t>phase</a:t>
            </a:r>
            <a:endParaRPr sz="2004" dirty="0">
              <a:latin typeface="Arial"/>
              <a:cs typeface="Arial"/>
            </a:endParaRPr>
          </a:p>
        </p:txBody>
      </p:sp>
      <p:sp>
        <p:nvSpPr>
          <p:cNvPr id="13" name="object 13"/>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33</a:t>
            </a:r>
          </a:p>
        </p:txBody>
      </p:sp>
      <p:sp>
        <p:nvSpPr>
          <p:cNvPr id="11" name="object 11"/>
          <p:cNvSpPr txBox="1"/>
          <p:nvPr/>
        </p:nvSpPr>
        <p:spPr>
          <a:xfrm>
            <a:off x="1781440" y="5718695"/>
            <a:ext cx="7555887" cy="340355"/>
          </a:xfrm>
          <a:prstGeom prst="rect">
            <a:avLst/>
          </a:prstGeom>
        </p:spPr>
        <p:txBody>
          <a:bodyPr vert="horz" wrap="square" lIns="0" tIns="13996" rIns="0" bIns="0" rtlCol="0">
            <a:spAutoFit/>
          </a:bodyPr>
          <a:lstStyle/>
          <a:p>
            <a:pPr marL="12724">
              <a:spcBef>
                <a:spcPts val="110"/>
              </a:spcBef>
            </a:pPr>
            <a:r>
              <a:rPr sz="2004" i="1" dirty="0">
                <a:latin typeface="Arial"/>
                <a:cs typeface="Arial"/>
              </a:rPr>
              <a:t>-3dB</a:t>
            </a:r>
            <a:r>
              <a:rPr sz="2004" i="1" spc="-70" dirty="0">
                <a:latin typeface="Arial"/>
                <a:cs typeface="Arial"/>
              </a:rPr>
              <a:t> </a:t>
            </a:r>
            <a:r>
              <a:rPr sz="2054" dirty="0">
                <a:latin typeface="Wingdings"/>
                <a:cs typeface="Wingdings"/>
              </a:rPr>
              <a:t></a:t>
            </a:r>
            <a:r>
              <a:rPr sz="2054" spc="-35" dirty="0">
                <a:latin typeface="Times New Roman"/>
                <a:cs typeface="Times New Roman"/>
              </a:rPr>
              <a:t> </a:t>
            </a:r>
            <a:r>
              <a:rPr sz="2004" i="1" dirty="0">
                <a:latin typeface="Arial"/>
                <a:cs typeface="Arial"/>
              </a:rPr>
              <a:t>output</a:t>
            </a:r>
            <a:r>
              <a:rPr sz="2004" i="1" spc="-55" dirty="0">
                <a:latin typeface="Arial"/>
                <a:cs typeface="Arial"/>
              </a:rPr>
              <a:t> </a:t>
            </a:r>
            <a:r>
              <a:rPr sz="2004" i="1" dirty="0">
                <a:latin typeface="Arial"/>
                <a:cs typeface="Arial"/>
              </a:rPr>
              <a:t>amplitude</a:t>
            </a:r>
            <a:r>
              <a:rPr sz="2004" i="1" spc="-20" dirty="0">
                <a:latin typeface="Arial"/>
                <a:cs typeface="Arial"/>
              </a:rPr>
              <a:t> </a:t>
            </a:r>
            <a:r>
              <a:rPr sz="2004" i="1" dirty="0">
                <a:latin typeface="Arial"/>
                <a:cs typeface="Arial"/>
              </a:rPr>
              <a:t>attenuated</a:t>
            </a:r>
            <a:r>
              <a:rPr sz="2004" i="1" spc="-15" dirty="0">
                <a:latin typeface="Arial"/>
                <a:cs typeface="Arial"/>
              </a:rPr>
              <a:t> </a:t>
            </a:r>
            <a:r>
              <a:rPr sz="2004" i="1" dirty="0">
                <a:latin typeface="Arial"/>
                <a:cs typeface="Arial"/>
              </a:rPr>
              <a:t>by</a:t>
            </a:r>
            <a:r>
              <a:rPr sz="2004" i="1" spc="-65" dirty="0">
                <a:latin typeface="Arial"/>
                <a:cs typeface="Arial"/>
              </a:rPr>
              <a:t> </a:t>
            </a:r>
            <a:r>
              <a:rPr sz="2004" i="1" dirty="0">
                <a:latin typeface="Arial"/>
                <a:cs typeface="Arial"/>
              </a:rPr>
              <a:t>0.707</a:t>
            </a:r>
            <a:r>
              <a:rPr sz="2004" i="1" spc="-100" dirty="0">
                <a:latin typeface="Arial"/>
                <a:cs typeface="Arial"/>
              </a:rPr>
              <a:t> </a:t>
            </a:r>
            <a:r>
              <a:rPr sz="2054" dirty="0">
                <a:latin typeface="Wingdings"/>
                <a:cs typeface="Wingdings"/>
              </a:rPr>
              <a:t></a:t>
            </a:r>
            <a:r>
              <a:rPr sz="2054" spc="-35" dirty="0">
                <a:latin typeface="Times New Roman"/>
                <a:cs typeface="Times New Roman"/>
              </a:rPr>
              <a:t> </a:t>
            </a:r>
            <a:r>
              <a:rPr sz="2004" i="1" dirty="0">
                <a:latin typeface="Arial"/>
                <a:cs typeface="Arial"/>
              </a:rPr>
              <a:t>0.707V</a:t>
            </a:r>
            <a:r>
              <a:rPr sz="2004" i="1" spc="-40" dirty="0">
                <a:latin typeface="Arial"/>
                <a:cs typeface="Arial"/>
              </a:rPr>
              <a:t> </a:t>
            </a:r>
            <a:r>
              <a:rPr sz="2004" i="1" spc="-10" dirty="0">
                <a:latin typeface="Arial"/>
                <a:cs typeface="Arial"/>
              </a:rPr>
              <a:t>amplitude</a:t>
            </a:r>
            <a:endParaRPr sz="2004">
              <a:latin typeface="Arial"/>
              <a:cs typeface="Arial"/>
            </a:endParaRPr>
          </a:p>
        </p:txBody>
      </p:sp>
    </p:spTree>
    <p:extLst>
      <p:ext uri="{BB962C8B-B14F-4D97-AF65-F5344CB8AC3E}">
        <p14:creationId xmlns:p14="http://schemas.microsoft.com/office/powerpoint/2010/main" val="1212008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44</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2026886" y="850158"/>
            <a:ext cx="8295464" cy="5823463"/>
          </a:xfrm>
          <a:prstGeom prst="rect">
            <a:avLst/>
          </a:prstGeom>
        </p:spPr>
      </p:pic>
    </p:spTree>
    <p:extLst>
      <p:ext uri="{BB962C8B-B14F-4D97-AF65-F5344CB8AC3E}">
        <p14:creationId xmlns:p14="http://schemas.microsoft.com/office/powerpoint/2010/main" val="21564000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45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2665524" y="1821248"/>
            <a:ext cx="6502734" cy="2216264"/>
          </a:xfrm>
          <a:prstGeom prst="rect">
            <a:avLst/>
          </a:prstGeom>
        </p:spPr>
      </p:pic>
    </p:spTree>
    <p:extLst>
      <p:ext uri="{BB962C8B-B14F-4D97-AF65-F5344CB8AC3E}">
        <p14:creationId xmlns:p14="http://schemas.microsoft.com/office/powerpoint/2010/main" val="20544825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51" rIns="0" bIns="0" rtlCol="0">
            <a:spAutoFit/>
          </a:bodyPr>
          <a:lstStyle/>
          <a:p>
            <a:pPr marL="1026837">
              <a:spcBef>
                <a:spcPts val="90"/>
              </a:spcBef>
            </a:pPr>
            <a:r>
              <a:rPr spc="-25" dirty="0"/>
              <a:t>Bode-</a:t>
            </a:r>
            <a:r>
              <a:rPr dirty="0"/>
              <a:t>plot</a:t>
            </a:r>
            <a:r>
              <a:rPr spc="-35" dirty="0"/>
              <a:t> </a:t>
            </a:r>
            <a:r>
              <a:rPr dirty="0"/>
              <a:t>vs.</a:t>
            </a:r>
            <a:r>
              <a:rPr spc="-45" dirty="0"/>
              <a:t> </a:t>
            </a:r>
            <a:r>
              <a:rPr dirty="0"/>
              <a:t>Time</a:t>
            </a:r>
            <a:r>
              <a:rPr spc="-40" dirty="0"/>
              <a:t> </a:t>
            </a:r>
            <a:r>
              <a:rPr spc="-10" dirty="0"/>
              <a:t>domain</a:t>
            </a:r>
          </a:p>
        </p:txBody>
      </p:sp>
      <p:grpSp>
        <p:nvGrpSpPr>
          <p:cNvPr id="3" name="object 3"/>
          <p:cNvGrpSpPr/>
          <p:nvPr/>
        </p:nvGrpSpPr>
        <p:grpSpPr>
          <a:xfrm>
            <a:off x="4638890" y="1286852"/>
            <a:ext cx="5956536" cy="4289113"/>
            <a:chOff x="3098538" y="1284469"/>
            <a:chExt cx="5945505" cy="4281170"/>
          </a:xfrm>
        </p:grpSpPr>
        <p:pic>
          <p:nvPicPr>
            <p:cNvPr id="4" name="object 4"/>
            <p:cNvPicPr/>
            <p:nvPr/>
          </p:nvPicPr>
          <p:blipFill>
            <a:blip r:embed="rId2" cstate="print"/>
            <a:stretch>
              <a:fillRect/>
            </a:stretch>
          </p:blipFill>
          <p:spPr>
            <a:xfrm>
              <a:off x="3098538" y="1284469"/>
              <a:ext cx="5944877" cy="3647767"/>
            </a:xfrm>
            <a:prstGeom prst="rect">
              <a:avLst/>
            </a:prstGeom>
          </p:spPr>
        </p:pic>
        <p:sp>
          <p:nvSpPr>
            <p:cNvPr id="5" name="object 5"/>
            <p:cNvSpPr/>
            <p:nvPr/>
          </p:nvSpPr>
          <p:spPr>
            <a:xfrm>
              <a:off x="6818376" y="4659883"/>
              <a:ext cx="685800" cy="381000"/>
            </a:xfrm>
            <a:custGeom>
              <a:avLst/>
              <a:gdLst/>
              <a:ahLst/>
              <a:cxnLst/>
              <a:rect l="l" t="t" r="r" b="b"/>
              <a:pathLst>
                <a:path w="685800" h="381000">
                  <a:moveTo>
                    <a:pt x="0" y="60960"/>
                  </a:moveTo>
                  <a:lnTo>
                    <a:pt x="4857" y="37290"/>
                  </a:lnTo>
                  <a:lnTo>
                    <a:pt x="18288" y="17907"/>
                  </a:lnTo>
                  <a:lnTo>
                    <a:pt x="38576" y="4810"/>
                  </a:lnTo>
                  <a:lnTo>
                    <a:pt x="64007" y="0"/>
                  </a:lnTo>
                  <a:lnTo>
                    <a:pt x="621792" y="0"/>
                  </a:lnTo>
                  <a:lnTo>
                    <a:pt x="647223" y="4810"/>
                  </a:lnTo>
                  <a:lnTo>
                    <a:pt x="667511" y="17907"/>
                  </a:lnTo>
                  <a:lnTo>
                    <a:pt x="680942" y="37290"/>
                  </a:lnTo>
                  <a:lnTo>
                    <a:pt x="685800" y="60960"/>
                  </a:lnTo>
                  <a:lnTo>
                    <a:pt x="685800" y="316992"/>
                  </a:lnTo>
                  <a:lnTo>
                    <a:pt x="680942" y="341137"/>
                  </a:lnTo>
                  <a:lnTo>
                    <a:pt x="667511" y="361569"/>
                  </a:lnTo>
                  <a:lnTo>
                    <a:pt x="647223" y="375713"/>
                  </a:lnTo>
                  <a:lnTo>
                    <a:pt x="621792" y="381000"/>
                  </a:lnTo>
                  <a:lnTo>
                    <a:pt x="64007" y="381000"/>
                  </a:lnTo>
                  <a:lnTo>
                    <a:pt x="38576" y="375713"/>
                  </a:lnTo>
                  <a:lnTo>
                    <a:pt x="18288" y="361569"/>
                  </a:lnTo>
                  <a:lnTo>
                    <a:pt x="4857" y="341137"/>
                  </a:lnTo>
                  <a:lnTo>
                    <a:pt x="0" y="316992"/>
                  </a:lnTo>
                  <a:lnTo>
                    <a:pt x="0" y="60960"/>
                  </a:lnTo>
                  <a:close/>
                </a:path>
              </a:pathLst>
            </a:custGeom>
            <a:ln w="57910">
              <a:solidFill>
                <a:srgbClr val="FFBF00"/>
              </a:solidFill>
            </a:ln>
          </p:spPr>
          <p:txBody>
            <a:bodyPr wrap="square" lIns="0" tIns="0" rIns="0" bIns="0" rtlCol="0"/>
            <a:lstStyle/>
            <a:p>
              <a:endParaRPr sz="1803"/>
            </a:p>
          </p:txBody>
        </p:sp>
        <p:sp>
          <p:nvSpPr>
            <p:cNvPr id="6" name="object 6"/>
            <p:cNvSpPr/>
            <p:nvPr/>
          </p:nvSpPr>
          <p:spPr>
            <a:xfrm>
              <a:off x="6970776" y="5117083"/>
              <a:ext cx="381000" cy="436245"/>
            </a:xfrm>
            <a:custGeom>
              <a:avLst/>
              <a:gdLst/>
              <a:ahLst/>
              <a:cxnLst/>
              <a:rect l="l" t="t" r="r" b="b"/>
              <a:pathLst>
                <a:path w="381000" h="436245">
                  <a:moveTo>
                    <a:pt x="192024" y="0"/>
                  </a:moveTo>
                  <a:lnTo>
                    <a:pt x="0" y="188976"/>
                  </a:lnTo>
                  <a:lnTo>
                    <a:pt x="94488" y="188976"/>
                  </a:lnTo>
                  <a:lnTo>
                    <a:pt x="94488" y="435864"/>
                  </a:lnTo>
                  <a:lnTo>
                    <a:pt x="286512" y="435864"/>
                  </a:lnTo>
                  <a:lnTo>
                    <a:pt x="286512" y="188976"/>
                  </a:lnTo>
                  <a:lnTo>
                    <a:pt x="381000" y="188976"/>
                  </a:lnTo>
                  <a:lnTo>
                    <a:pt x="192024" y="0"/>
                  </a:lnTo>
                  <a:close/>
                </a:path>
              </a:pathLst>
            </a:custGeom>
            <a:solidFill>
              <a:srgbClr val="FFBF00"/>
            </a:solidFill>
          </p:spPr>
          <p:txBody>
            <a:bodyPr wrap="square" lIns="0" tIns="0" rIns="0" bIns="0" rtlCol="0"/>
            <a:lstStyle/>
            <a:p>
              <a:endParaRPr sz="1803"/>
            </a:p>
          </p:txBody>
        </p:sp>
        <p:sp>
          <p:nvSpPr>
            <p:cNvPr id="7" name="object 7"/>
            <p:cNvSpPr/>
            <p:nvPr/>
          </p:nvSpPr>
          <p:spPr>
            <a:xfrm>
              <a:off x="6970776" y="5117083"/>
              <a:ext cx="381000" cy="436245"/>
            </a:xfrm>
            <a:custGeom>
              <a:avLst/>
              <a:gdLst/>
              <a:ahLst/>
              <a:cxnLst/>
              <a:rect l="l" t="t" r="r" b="b"/>
              <a:pathLst>
                <a:path w="381000" h="436245">
                  <a:moveTo>
                    <a:pt x="381000" y="188976"/>
                  </a:moveTo>
                  <a:lnTo>
                    <a:pt x="286512" y="188976"/>
                  </a:lnTo>
                  <a:lnTo>
                    <a:pt x="286512" y="435864"/>
                  </a:lnTo>
                  <a:lnTo>
                    <a:pt x="94488" y="435864"/>
                  </a:lnTo>
                  <a:lnTo>
                    <a:pt x="94488" y="188976"/>
                  </a:lnTo>
                  <a:lnTo>
                    <a:pt x="0" y="188976"/>
                  </a:lnTo>
                  <a:lnTo>
                    <a:pt x="192024" y="0"/>
                  </a:lnTo>
                  <a:lnTo>
                    <a:pt x="381000" y="188976"/>
                  </a:lnTo>
                  <a:close/>
                </a:path>
              </a:pathLst>
            </a:custGeom>
            <a:ln w="24382">
              <a:solidFill>
                <a:srgbClr val="FFBF00"/>
              </a:solidFill>
            </a:ln>
          </p:spPr>
          <p:txBody>
            <a:bodyPr wrap="square" lIns="0" tIns="0" rIns="0" bIns="0" rtlCol="0"/>
            <a:lstStyle/>
            <a:p>
              <a:endParaRPr sz="1803"/>
            </a:p>
          </p:txBody>
        </p:sp>
        <p:sp>
          <p:nvSpPr>
            <p:cNvPr id="8" name="object 8"/>
            <p:cNvSpPr/>
            <p:nvPr/>
          </p:nvSpPr>
          <p:spPr>
            <a:xfrm>
              <a:off x="7043928" y="2002028"/>
              <a:ext cx="228600" cy="1963420"/>
            </a:xfrm>
            <a:custGeom>
              <a:avLst/>
              <a:gdLst/>
              <a:ahLst/>
              <a:cxnLst/>
              <a:rect l="l" t="t" r="r" b="b"/>
              <a:pathLst>
                <a:path w="228600" h="1963420">
                  <a:moveTo>
                    <a:pt x="0" y="39624"/>
                  </a:moveTo>
                  <a:lnTo>
                    <a:pt x="3190" y="24431"/>
                  </a:lnTo>
                  <a:lnTo>
                    <a:pt x="11811" y="11811"/>
                  </a:lnTo>
                  <a:lnTo>
                    <a:pt x="24431" y="3190"/>
                  </a:lnTo>
                  <a:lnTo>
                    <a:pt x="39624" y="0"/>
                  </a:lnTo>
                  <a:lnTo>
                    <a:pt x="188975" y="0"/>
                  </a:lnTo>
                  <a:lnTo>
                    <a:pt x="204168" y="3190"/>
                  </a:lnTo>
                  <a:lnTo>
                    <a:pt x="216789" y="11811"/>
                  </a:lnTo>
                  <a:lnTo>
                    <a:pt x="225409" y="24431"/>
                  </a:lnTo>
                  <a:lnTo>
                    <a:pt x="228600" y="39624"/>
                  </a:lnTo>
                  <a:lnTo>
                    <a:pt x="228600" y="195072"/>
                  </a:lnTo>
                  <a:lnTo>
                    <a:pt x="225409" y="210264"/>
                  </a:lnTo>
                  <a:lnTo>
                    <a:pt x="216788" y="222885"/>
                  </a:lnTo>
                  <a:lnTo>
                    <a:pt x="204168" y="231505"/>
                  </a:lnTo>
                  <a:lnTo>
                    <a:pt x="188975" y="234696"/>
                  </a:lnTo>
                  <a:lnTo>
                    <a:pt x="39624" y="234696"/>
                  </a:lnTo>
                  <a:lnTo>
                    <a:pt x="24431" y="231505"/>
                  </a:lnTo>
                  <a:lnTo>
                    <a:pt x="11811" y="222885"/>
                  </a:lnTo>
                  <a:lnTo>
                    <a:pt x="3190" y="210264"/>
                  </a:lnTo>
                  <a:lnTo>
                    <a:pt x="0" y="195072"/>
                  </a:lnTo>
                  <a:lnTo>
                    <a:pt x="0" y="39624"/>
                  </a:lnTo>
                  <a:close/>
                </a:path>
                <a:path w="228600" h="1963420">
                  <a:moveTo>
                    <a:pt x="0" y="1767840"/>
                  </a:moveTo>
                  <a:lnTo>
                    <a:pt x="3190" y="1754409"/>
                  </a:lnTo>
                  <a:lnTo>
                    <a:pt x="11811" y="1742694"/>
                  </a:lnTo>
                  <a:lnTo>
                    <a:pt x="24431" y="1734407"/>
                  </a:lnTo>
                  <a:lnTo>
                    <a:pt x="39624" y="1731264"/>
                  </a:lnTo>
                  <a:lnTo>
                    <a:pt x="188975" y="1731264"/>
                  </a:lnTo>
                  <a:lnTo>
                    <a:pt x="204168" y="1734407"/>
                  </a:lnTo>
                  <a:lnTo>
                    <a:pt x="216789" y="1742694"/>
                  </a:lnTo>
                  <a:lnTo>
                    <a:pt x="225409" y="1754409"/>
                  </a:lnTo>
                  <a:lnTo>
                    <a:pt x="228600" y="1767840"/>
                  </a:lnTo>
                  <a:lnTo>
                    <a:pt x="228600" y="1926336"/>
                  </a:lnTo>
                  <a:lnTo>
                    <a:pt x="225409" y="1941052"/>
                  </a:lnTo>
                  <a:lnTo>
                    <a:pt x="216788" y="1952625"/>
                  </a:lnTo>
                  <a:lnTo>
                    <a:pt x="204168" y="1960197"/>
                  </a:lnTo>
                  <a:lnTo>
                    <a:pt x="188975" y="1962912"/>
                  </a:lnTo>
                  <a:lnTo>
                    <a:pt x="39624" y="1962912"/>
                  </a:lnTo>
                  <a:lnTo>
                    <a:pt x="24431" y="1960197"/>
                  </a:lnTo>
                  <a:lnTo>
                    <a:pt x="11811" y="1952625"/>
                  </a:lnTo>
                  <a:lnTo>
                    <a:pt x="3190" y="1941052"/>
                  </a:lnTo>
                  <a:lnTo>
                    <a:pt x="0" y="1926336"/>
                  </a:lnTo>
                  <a:lnTo>
                    <a:pt x="0" y="1767840"/>
                  </a:lnTo>
                  <a:close/>
                </a:path>
              </a:pathLst>
            </a:custGeom>
            <a:ln w="57910">
              <a:solidFill>
                <a:srgbClr val="FFBF00"/>
              </a:solidFill>
            </a:ln>
          </p:spPr>
          <p:txBody>
            <a:bodyPr wrap="square" lIns="0" tIns="0" rIns="0" bIns="0" rtlCol="0"/>
            <a:lstStyle/>
            <a:p>
              <a:endParaRPr sz="1803"/>
            </a:p>
          </p:txBody>
        </p:sp>
      </p:grpSp>
      <p:pic>
        <p:nvPicPr>
          <p:cNvPr id="9" name="object 9"/>
          <p:cNvPicPr/>
          <p:nvPr/>
        </p:nvPicPr>
        <p:blipFill>
          <a:blip r:embed="rId3" cstate="print"/>
          <a:stretch>
            <a:fillRect/>
          </a:stretch>
        </p:blipFill>
        <p:spPr>
          <a:xfrm>
            <a:off x="1749359" y="1452804"/>
            <a:ext cx="2641148" cy="1207777"/>
          </a:xfrm>
          <a:prstGeom prst="rect">
            <a:avLst/>
          </a:prstGeom>
        </p:spPr>
      </p:pic>
      <p:sp>
        <p:nvSpPr>
          <p:cNvPr id="10" name="object 10"/>
          <p:cNvSpPr txBox="1"/>
          <p:nvPr/>
        </p:nvSpPr>
        <p:spPr>
          <a:xfrm>
            <a:off x="1781439" y="3113711"/>
            <a:ext cx="2856440" cy="1415508"/>
          </a:xfrm>
          <a:prstGeom prst="rect">
            <a:avLst/>
          </a:prstGeom>
        </p:spPr>
        <p:txBody>
          <a:bodyPr vert="horz" wrap="square" lIns="0" tIns="12724" rIns="0" bIns="0" rtlCol="0">
            <a:spAutoFit/>
          </a:bodyPr>
          <a:lstStyle/>
          <a:p>
            <a:pPr marL="12724" marR="5090">
              <a:spcBef>
                <a:spcPts val="100"/>
              </a:spcBef>
            </a:pPr>
            <a:r>
              <a:rPr sz="1803" dirty="0">
                <a:latin typeface="Arial MT"/>
                <a:cs typeface="Arial MT"/>
              </a:rPr>
              <a:t>Assume:</a:t>
            </a:r>
            <a:r>
              <a:rPr sz="1803" spc="-35" dirty="0">
                <a:latin typeface="Arial MT"/>
                <a:cs typeface="Arial MT"/>
              </a:rPr>
              <a:t> </a:t>
            </a:r>
            <a:r>
              <a:rPr sz="1803" dirty="0">
                <a:latin typeface="Arial MT"/>
                <a:cs typeface="Arial MT"/>
              </a:rPr>
              <a:t>input</a:t>
            </a:r>
            <a:r>
              <a:rPr sz="1803" spc="-30" dirty="0">
                <a:latin typeface="Arial MT"/>
                <a:cs typeface="Arial MT"/>
              </a:rPr>
              <a:t> </a:t>
            </a:r>
            <a:r>
              <a:rPr sz="1803" dirty="0">
                <a:latin typeface="Arial MT"/>
                <a:cs typeface="Arial MT"/>
              </a:rPr>
              <a:t>voltage</a:t>
            </a:r>
            <a:r>
              <a:rPr sz="1803" spc="-25" dirty="0">
                <a:latin typeface="Arial MT"/>
                <a:cs typeface="Arial MT"/>
              </a:rPr>
              <a:t> </a:t>
            </a:r>
            <a:r>
              <a:rPr sz="1803" spc="-50" dirty="0">
                <a:latin typeface="Arial MT"/>
                <a:cs typeface="Arial MT"/>
              </a:rPr>
              <a:t>= </a:t>
            </a:r>
            <a:r>
              <a:rPr sz="1803" dirty="0">
                <a:latin typeface="Arial MT"/>
                <a:cs typeface="Arial MT"/>
              </a:rPr>
              <a:t>sinewave</a:t>
            </a:r>
            <a:r>
              <a:rPr sz="1803" spc="-35" dirty="0">
                <a:latin typeface="Arial MT"/>
                <a:cs typeface="Arial MT"/>
              </a:rPr>
              <a:t> </a:t>
            </a:r>
            <a:r>
              <a:rPr sz="1803" dirty="0">
                <a:latin typeface="Arial MT"/>
                <a:cs typeface="Arial MT"/>
              </a:rPr>
              <a:t>with</a:t>
            </a:r>
            <a:r>
              <a:rPr sz="1803" spc="10" dirty="0">
                <a:latin typeface="Arial MT"/>
                <a:cs typeface="Arial MT"/>
              </a:rPr>
              <a:t> </a:t>
            </a:r>
            <a:r>
              <a:rPr sz="1803" dirty="0">
                <a:latin typeface="Arial MT"/>
                <a:cs typeface="Arial MT"/>
              </a:rPr>
              <a:t>1V</a:t>
            </a:r>
            <a:r>
              <a:rPr sz="1803" spc="-40" dirty="0">
                <a:latin typeface="Arial MT"/>
                <a:cs typeface="Arial MT"/>
              </a:rPr>
              <a:t> </a:t>
            </a:r>
            <a:r>
              <a:rPr sz="1803" spc="-10" dirty="0">
                <a:latin typeface="Arial MT"/>
                <a:cs typeface="Arial MT"/>
              </a:rPr>
              <a:t>amplitude </a:t>
            </a:r>
            <a:r>
              <a:rPr sz="1803" dirty="0">
                <a:latin typeface="Arial MT"/>
                <a:cs typeface="Arial MT"/>
              </a:rPr>
              <a:t>and</a:t>
            </a:r>
            <a:r>
              <a:rPr sz="1803" spc="-10" dirty="0">
                <a:latin typeface="Arial MT"/>
                <a:cs typeface="Arial MT"/>
              </a:rPr>
              <a:t> </a:t>
            </a:r>
            <a:r>
              <a:rPr sz="1803" dirty="0">
                <a:latin typeface="Arial MT"/>
                <a:cs typeface="Arial MT"/>
              </a:rPr>
              <a:t>10kHz</a:t>
            </a:r>
            <a:r>
              <a:rPr sz="1803" spc="-30" dirty="0">
                <a:latin typeface="Arial MT"/>
                <a:cs typeface="Arial MT"/>
              </a:rPr>
              <a:t> </a:t>
            </a:r>
            <a:r>
              <a:rPr sz="1803" spc="-10" dirty="0">
                <a:latin typeface="Arial MT"/>
                <a:cs typeface="Arial MT"/>
              </a:rPr>
              <a:t>frequency.</a:t>
            </a:r>
            <a:endParaRPr sz="1803">
              <a:latin typeface="Arial MT"/>
              <a:cs typeface="Arial MT"/>
            </a:endParaRPr>
          </a:p>
          <a:p>
            <a:pPr>
              <a:spcBef>
                <a:spcPts val="90"/>
              </a:spcBef>
            </a:pPr>
            <a:endParaRPr sz="1803">
              <a:latin typeface="Arial MT"/>
              <a:cs typeface="Arial MT"/>
            </a:endParaRPr>
          </a:p>
          <a:p>
            <a:pPr marL="12724"/>
            <a:r>
              <a:rPr sz="1803" dirty="0">
                <a:latin typeface="Arial MT"/>
                <a:cs typeface="Arial MT"/>
              </a:rPr>
              <a:t>Output</a:t>
            </a:r>
            <a:r>
              <a:rPr sz="1803" spc="-20" dirty="0">
                <a:latin typeface="Arial MT"/>
                <a:cs typeface="Arial MT"/>
              </a:rPr>
              <a:t> </a:t>
            </a:r>
            <a:r>
              <a:rPr sz="1803" dirty="0">
                <a:latin typeface="Arial MT"/>
                <a:cs typeface="Arial MT"/>
              </a:rPr>
              <a:t>voltage</a:t>
            </a:r>
            <a:r>
              <a:rPr sz="1803" spc="-40" dirty="0">
                <a:latin typeface="Arial MT"/>
                <a:cs typeface="Arial MT"/>
              </a:rPr>
              <a:t> </a:t>
            </a:r>
            <a:r>
              <a:rPr sz="1803" dirty="0">
                <a:latin typeface="Arial MT"/>
                <a:cs typeface="Arial MT"/>
              </a:rPr>
              <a:t>=</a:t>
            </a:r>
            <a:r>
              <a:rPr sz="1803" spc="10" dirty="0">
                <a:latin typeface="Arial MT"/>
                <a:cs typeface="Arial MT"/>
              </a:rPr>
              <a:t> </a:t>
            </a:r>
            <a:r>
              <a:rPr sz="1803" spc="-50" dirty="0">
                <a:latin typeface="Arial MT"/>
                <a:cs typeface="Arial MT"/>
              </a:rPr>
              <a:t>?</a:t>
            </a:r>
            <a:endParaRPr sz="1803">
              <a:latin typeface="Arial MT"/>
              <a:cs typeface="Arial MT"/>
            </a:endParaRPr>
          </a:p>
        </p:txBody>
      </p:sp>
      <p:sp>
        <p:nvSpPr>
          <p:cNvPr id="13" name="object 13"/>
          <p:cNvSpPr txBox="1">
            <a:spLocks noGrp="1"/>
          </p:cNvSpPr>
          <p:nvPr>
            <p:ph type="sldNum" sz="quarter" idx="7"/>
          </p:nvPr>
        </p:nvSpPr>
        <p:spPr>
          <a:xfrm>
            <a:off x="6492339" y="6418045"/>
            <a:ext cx="7216168" cy="220982"/>
          </a:xfrm>
          <a:prstGeom prst="rect">
            <a:avLst/>
          </a:prstGeom>
        </p:spPr>
        <p:txBody>
          <a:bodyPr vert="horz" wrap="square" lIns="0" tIns="5089" rIns="0" bIns="0" rtlCol="0">
            <a:spAutoFit/>
          </a:bodyPr>
          <a:lstStyle/>
          <a:p>
            <a:pPr marL="38172">
              <a:spcBef>
                <a:spcPts val="40"/>
              </a:spcBef>
            </a:pPr>
            <a:r>
              <a:rPr spc="-25" dirty="0"/>
              <a:t>34</a:t>
            </a:r>
          </a:p>
        </p:txBody>
      </p:sp>
      <p:sp>
        <p:nvSpPr>
          <p:cNvPr id="11" name="object 11"/>
          <p:cNvSpPr txBox="1"/>
          <p:nvPr/>
        </p:nvSpPr>
        <p:spPr>
          <a:xfrm>
            <a:off x="1781439" y="5718695"/>
            <a:ext cx="7685667" cy="645721"/>
          </a:xfrm>
          <a:prstGeom prst="rect">
            <a:avLst/>
          </a:prstGeom>
        </p:spPr>
        <p:txBody>
          <a:bodyPr vert="horz" wrap="square" lIns="0" tIns="13996" rIns="0" bIns="0" rtlCol="0">
            <a:spAutoFit/>
          </a:bodyPr>
          <a:lstStyle/>
          <a:p>
            <a:pPr marL="12724">
              <a:lnSpc>
                <a:spcPts val="2435"/>
              </a:lnSpc>
              <a:spcBef>
                <a:spcPts val="110"/>
              </a:spcBef>
            </a:pPr>
            <a:r>
              <a:rPr sz="2004" i="1" dirty="0">
                <a:latin typeface="Arial"/>
                <a:cs typeface="Arial"/>
              </a:rPr>
              <a:t>-20dB</a:t>
            </a:r>
            <a:r>
              <a:rPr sz="2004" i="1" spc="-70" dirty="0">
                <a:latin typeface="Arial"/>
                <a:cs typeface="Arial"/>
              </a:rPr>
              <a:t> </a:t>
            </a:r>
            <a:r>
              <a:rPr sz="2054" dirty="0">
                <a:latin typeface="Wingdings"/>
                <a:cs typeface="Wingdings"/>
              </a:rPr>
              <a:t></a:t>
            </a:r>
            <a:r>
              <a:rPr sz="2054" spc="-25" dirty="0">
                <a:latin typeface="Times New Roman"/>
                <a:cs typeface="Times New Roman"/>
              </a:rPr>
              <a:t> </a:t>
            </a:r>
            <a:r>
              <a:rPr sz="2004" i="1" dirty="0">
                <a:latin typeface="Arial"/>
                <a:cs typeface="Arial"/>
              </a:rPr>
              <a:t>output</a:t>
            </a:r>
            <a:r>
              <a:rPr sz="2004" i="1" spc="-50" dirty="0">
                <a:latin typeface="Arial"/>
                <a:cs typeface="Arial"/>
              </a:rPr>
              <a:t> </a:t>
            </a:r>
            <a:r>
              <a:rPr sz="2004" i="1" dirty="0">
                <a:latin typeface="Arial"/>
                <a:cs typeface="Arial"/>
              </a:rPr>
              <a:t>amplitude</a:t>
            </a:r>
            <a:r>
              <a:rPr sz="2004" i="1" spc="5" dirty="0">
                <a:latin typeface="Arial"/>
                <a:cs typeface="Arial"/>
              </a:rPr>
              <a:t> </a:t>
            </a:r>
            <a:r>
              <a:rPr sz="2004" i="1" dirty="0">
                <a:latin typeface="Arial"/>
                <a:cs typeface="Arial"/>
              </a:rPr>
              <a:t>attenuated</a:t>
            </a:r>
            <a:r>
              <a:rPr sz="2004" i="1" spc="-35" dirty="0">
                <a:latin typeface="Arial"/>
                <a:cs typeface="Arial"/>
              </a:rPr>
              <a:t> </a:t>
            </a:r>
            <a:r>
              <a:rPr sz="2004" i="1" dirty="0">
                <a:latin typeface="Arial"/>
                <a:cs typeface="Arial"/>
              </a:rPr>
              <a:t>by</a:t>
            </a:r>
            <a:r>
              <a:rPr sz="2004" i="1" spc="-60" dirty="0">
                <a:latin typeface="Arial"/>
                <a:cs typeface="Arial"/>
              </a:rPr>
              <a:t> </a:t>
            </a:r>
            <a:r>
              <a:rPr sz="2004" i="1" dirty="0">
                <a:latin typeface="Arial"/>
                <a:cs typeface="Arial"/>
              </a:rPr>
              <a:t>0.1</a:t>
            </a:r>
            <a:r>
              <a:rPr sz="2004" i="1" spc="-114" dirty="0">
                <a:latin typeface="Arial"/>
                <a:cs typeface="Arial"/>
              </a:rPr>
              <a:t> </a:t>
            </a:r>
            <a:r>
              <a:rPr sz="2054" dirty="0">
                <a:latin typeface="Wingdings"/>
                <a:cs typeface="Wingdings"/>
              </a:rPr>
              <a:t></a:t>
            </a:r>
            <a:r>
              <a:rPr sz="2054" spc="-25" dirty="0">
                <a:latin typeface="Times New Roman"/>
                <a:cs typeface="Times New Roman"/>
              </a:rPr>
              <a:t> </a:t>
            </a:r>
            <a:r>
              <a:rPr sz="2004" i="1" dirty="0">
                <a:latin typeface="Arial"/>
                <a:cs typeface="Arial"/>
              </a:rPr>
              <a:t>0.1V</a:t>
            </a:r>
            <a:r>
              <a:rPr sz="2004" i="1" spc="-40" dirty="0">
                <a:latin typeface="Arial"/>
                <a:cs typeface="Arial"/>
              </a:rPr>
              <a:t> </a:t>
            </a:r>
            <a:r>
              <a:rPr sz="2004" i="1" spc="-10" dirty="0">
                <a:latin typeface="Arial"/>
                <a:cs typeface="Arial"/>
              </a:rPr>
              <a:t>amplitude</a:t>
            </a:r>
            <a:endParaRPr sz="2004">
              <a:latin typeface="Arial"/>
              <a:cs typeface="Arial"/>
            </a:endParaRPr>
          </a:p>
          <a:p>
            <a:pPr marL="12724">
              <a:lnSpc>
                <a:spcPts val="2435"/>
              </a:lnSpc>
            </a:pPr>
            <a:r>
              <a:rPr sz="2004" i="1" dirty="0">
                <a:latin typeface="Arial"/>
                <a:cs typeface="Arial"/>
              </a:rPr>
              <a:t>-90</a:t>
            </a:r>
            <a:r>
              <a:rPr sz="2004" i="1" spc="-60" dirty="0">
                <a:latin typeface="Arial"/>
                <a:cs typeface="Arial"/>
              </a:rPr>
              <a:t> </a:t>
            </a:r>
            <a:r>
              <a:rPr sz="2004" i="1" dirty="0">
                <a:latin typeface="Arial"/>
                <a:cs typeface="Arial"/>
              </a:rPr>
              <a:t>degree</a:t>
            </a:r>
            <a:r>
              <a:rPr sz="2004" i="1" spc="-30" dirty="0">
                <a:latin typeface="Arial"/>
                <a:cs typeface="Arial"/>
              </a:rPr>
              <a:t> </a:t>
            </a:r>
            <a:r>
              <a:rPr sz="2054" dirty="0">
                <a:latin typeface="Wingdings"/>
                <a:cs typeface="Wingdings"/>
              </a:rPr>
              <a:t></a:t>
            </a:r>
            <a:r>
              <a:rPr sz="2054" spc="-10" dirty="0">
                <a:latin typeface="Times New Roman"/>
                <a:cs typeface="Times New Roman"/>
              </a:rPr>
              <a:t> </a:t>
            </a:r>
            <a:r>
              <a:rPr sz="2004" i="1" dirty="0">
                <a:latin typeface="Arial"/>
                <a:cs typeface="Arial"/>
              </a:rPr>
              <a:t>output</a:t>
            </a:r>
            <a:r>
              <a:rPr sz="2004" i="1" spc="-40" dirty="0">
                <a:latin typeface="Arial"/>
                <a:cs typeface="Arial"/>
              </a:rPr>
              <a:t> </a:t>
            </a:r>
            <a:r>
              <a:rPr sz="2004" i="1" dirty="0">
                <a:latin typeface="Arial"/>
                <a:cs typeface="Arial"/>
              </a:rPr>
              <a:t>phase</a:t>
            </a:r>
            <a:r>
              <a:rPr sz="2004" i="1" spc="-40" dirty="0">
                <a:latin typeface="Arial"/>
                <a:cs typeface="Arial"/>
              </a:rPr>
              <a:t> </a:t>
            </a:r>
            <a:r>
              <a:rPr sz="2004" i="1" dirty="0">
                <a:latin typeface="Arial"/>
                <a:cs typeface="Arial"/>
              </a:rPr>
              <a:t>is</a:t>
            </a:r>
            <a:r>
              <a:rPr sz="2004" i="1" spc="-65" dirty="0">
                <a:latin typeface="Arial"/>
                <a:cs typeface="Arial"/>
              </a:rPr>
              <a:t> </a:t>
            </a:r>
            <a:r>
              <a:rPr sz="2004" i="1" dirty="0">
                <a:latin typeface="Arial"/>
                <a:cs typeface="Arial"/>
              </a:rPr>
              <a:t>-90</a:t>
            </a:r>
            <a:r>
              <a:rPr sz="2004" i="1" spc="-60" dirty="0">
                <a:latin typeface="Arial"/>
                <a:cs typeface="Arial"/>
              </a:rPr>
              <a:t> </a:t>
            </a:r>
            <a:r>
              <a:rPr sz="2004" i="1" dirty="0">
                <a:latin typeface="Arial"/>
                <a:cs typeface="Arial"/>
              </a:rPr>
              <a:t>degrees</a:t>
            </a:r>
            <a:r>
              <a:rPr sz="2004" i="1" spc="-30" dirty="0">
                <a:latin typeface="Arial"/>
                <a:cs typeface="Arial"/>
              </a:rPr>
              <a:t> </a:t>
            </a:r>
            <a:r>
              <a:rPr sz="2004" i="1" dirty="0">
                <a:latin typeface="Arial"/>
                <a:cs typeface="Arial"/>
              </a:rPr>
              <a:t>compared</a:t>
            </a:r>
            <a:r>
              <a:rPr sz="2004" i="1" spc="-40" dirty="0">
                <a:latin typeface="Arial"/>
                <a:cs typeface="Arial"/>
              </a:rPr>
              <a:t> </a:t>
            </a:r>
            <a:r>
              <a:rPr sz="2004" i="1" dirty="0">
                <a:latin typeface="Arial"/>
                <a:cs typeface="Arial"/>
              </a:rPr>
              <a:t>to</a:t>
            </a:r>
            <a:r>
              <a:rPr sz="2004" i="1" spc="-40" dirty="0">
                <a:latin typeface="Arial"/>
                <a:cs typeface="Arial"/>
              </a:rPr>
              <a:t> </a:t>
            </a:r>
            <a:r>
              <a:rPr sz="2004" i="1" dirty="0">
                <a:latin typeface="Arial"/>
                <a:cs typeface="Arial"/>
              </a:rPr>
              <a:t>input</a:t>
            </a:r>
            <a:r>
              <a:rPr sz="2004" i="1" spc="-40" dirty="0">
                <a:latin typeface="Arial"/>
                <a:cs typeface="Arial"/>
              </a:rPr>
              <a:t> </a:t>
            </a:r>
            <a:r>
              <a:rPr sz="2004" i="1" spc="-10" dirty="0">
                <a:latin typeface="Arial"/>
                <a:cs typeface="Arial"/>
              </a:rPr>
              <a:t>phase</a:t>
            </a:r>
            <a:endParaRPr sz="2004">
              <a:latin typeface="Arial"/>
              <a:cs typeface="Arial"/>
            </a:endParaRPr>
          </a:p>
        </p:txBody>
      </p:sp>
    </p:spTree>
    <p:extLst>
      <p:ext uri="{BB962C8B-B14F-4D97-AF65-F5344CB8AC3E}">
        <p14:creationId xmlns:p14="http://schemas.microsoft.com/office/powerpoint/2010/main" val="8876994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47</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2099421" y="941646"/>
            <a:ext cx="7333793" cy="5110362"/>
          </a:xfrm>
          <a:prstGeom prst="rect">
            <a:avLst/>
          </a:prstGeom>
        </p:spPr>
      </p:pic>
    </p:spTree>
    <p:extLst>
      <p:ext uri="{BB962C8B-B14F-4D97-AF65-F5344CB8AC3E}">
        <p14:creationId xmlns:p14="http://schemas.microsoft.com/office/powerpoint/2010/main" val="8160302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48</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2835799" y="1038102"/>
            <a:ext cx="6388428" cy="4781796"/>
          </a:xfrm>
          <a:prstGeom prst="rect">
            <a:avLst/>
          </a:prstGeom>
        </p:spPr>
      </p:pic>
    </p:spTree>
    <p:extLst>
      <p:ext uri="{BB962C8B-B14F-4D97-AF65-F5344CB8AC3E}">
        <p14:creationId xmlns:p14="http://schemas.microsoft.com/office/powerpoint/2010/main" val="3198261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Source amplifier</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49</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594241" y="862953"/>
            <a:ext cx="4635738" cy="463574"/>
          </a:xfrm>
          <a:prstGeom prst="rect">
            <a:avLst/>
          </a:prstGeom>
        </p:spPr>
      </p:pic>
      <p:pic>
        <p:nvPicPr>
          <p:cNvPr id="6" name="Picture 5"/>
          <p:cNvPicPr>
            <a:picLocks noChangeAspect="1"/>
          </p:cNvPicPr>
          <p:nvPr/>
        </p:nvPicPr>
        <p:blipFill>
          <a:blip r:embed="rId3"/>
          <a:stretch>
            <a:fillRect/>
          </a:stretch>
        </p:blipFill>
        <p:spPr>
          <a:xfrm>
            <a:off x="2619321" y="1565232"/>
            <a:ext cx="2101958" cy="1657435"/>
          </a:xfrm>
          <a:prstGeom prst="rect">
            <a:avLst/>
          </a:prstGeom>
        </p:spPr>
      </p:pic>
    </p:spTree>
    <p:extLst>
      <p:ext uri="{BB962C8B-B14F-4D97-AF65-F5344CB8AC3E}">
        <p14:creationId xmlns:p14="http://schemas.microsoft.com/office/powerpoint/2010/main" val="20375794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a:t>
            </a:r>
            <a:r>
              <a:rPr lang="en-US" baseline="30000" dirty="0" smtClean="0"/>
              <a:t>st</a:t>
            </a:r>
            <a:r>
              <a:rPr lang="en-US" dirty="0" smtClean="0"/>
              <a:t> Order Small Signal Model (Active Region)</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50</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555237" y="1185334"/>
            <a:ext cx="10245181" cy="4148666"/>
          </a:xfrm>
          <a:prstGeom prst="rect">
            <a:avLst/>
          </a:prstGeom>
        </p:spPr>
      </p:pic>
    </p:spTree>
    <p:extLst>
      <p:ext uri="{BB962C8B-B14F-4D97-AF65-F5344CB8AC3E}">
        <p14:creationId xmlns:p14="http://schemas.microsoft.com/office/powerpoint/2010/main" val="3906399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Source Amplifier</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51</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509999" y="1039275"/>
            <a:ext cx="8049450" cy="518592"/>
          </a:xfrm>
          <a:prstGeom prst="rect">
            <a:avLst/>
          </a:prstGeom>
        </p:spPr>
      </p:pic>
      <p:pic>
        <p:nvPicPr>
          <p:cNvPr id="6" name="Picture 5"/>
          <p:cNvPicPr>
            <a:picLocks noChangeAspect="1"/>
          </p:cNvPicPr>
          <p:nvPr/>
        </p:nvPicPr>
        <p:blipFill>
          <a:blip r:embed="rId3"/>
          <a:stretch>
            <a:fillRect/>
          </a:stretch>
        </p:blipFill>
        <p:spPr>
          <a:xfrm>
            <a:off x="1008441" y="1684867"/>
            <a:ext cx="8816790" cy="3022600"/>
          </a:xfrm>
          <a:prstGeom prst="rect">
            <a:avLst/>
          </a:prstGeom>
        </p:spPr>
      </p:pic>
    </p:spTree>
    <p:extLst>
      <p:ext uri="{BB962C8B-B14F-4D97-AF65-F5344CB8AC3E}">
        <p14:creationId xmlns:p14="http://schemas.microsoft.com/office/powerpoint/2010/main" val="18293402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52</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993425" y="931333"/>
            <a:ext cx="3802983" cy="814926"/>
          </a:xfrm>
          <a:prstGeom prst="rect">
            <a:avLst/>
          </a:prstGeom>
        </p:spPr>
      </p:pic>
      <p:pic>
        <p:nvPicPr>
          <p:cNvPr id="6" name="Picture 5"/>
          <p:cNvPicPr>
            <a:picLocks noChangeAspect="1"/>
          </p:cNvPicPr>
          <p:nvPr/>
        </p:nvPicPr>
        <p:blipFill>
          <a:blip r:embed="rId3"/>
          <a:stretch>
            <a:fillRect/>
          </a:stretch>
        </p:blipFill>
        <p:spPr>
          <a:xfrm>
            <a:off x="1155250" y="1761648"/>
            <a:ext cx="7943384" cy="2571796"/>
          </a:xfrm>
          <a:prstGeom prst="rect">
            <a:avLst/>
          </a:prstGeom>
        </p:spPr>
      </p:pic>
    </p:spTree>
    <p:extLst>
      <p:ext uri="{BB962C8B-B14F-4D97-AF65-F5344CB8AC3E}">
        <p14:creationId xmlns:p14="http://schemas.microsoft.com/office/powerpoint/2010/main" val="38035667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53</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726528" y="1261533"/>
            <a:ext cx="3804259" cy="1907148"/>
          </a:xfrm>
          <a:prstGeom prst="rect">
            <a:avLst/>
          </a:prstGeom>
        </p:spPr>
      </p:pic>
      <p:pic>
        <p:nvPicPr>
          <p:cNvPr id="6" name="Picture 5"/>
          <p:cNvPicPr>
            <a:picLocks noChangeAspect="1"/>
          </p:cNvPicPr>
          <p:nvPr/>
        </p:nvPicPr>
        <p:blipFill>
          <a:blip r:embed="rId3"/>
          <a:stretch>
            <a:fillRect/>
          </a:stretch>
        </p:blipFill>
        <p:spPr>
          <a:xfrm>
            <a:off x="6676960" y="1082624"/>
            <a:ext cx="4067239" cy="3177207"/>
          </a:xfrm>
          <a:prstGeom prst="rect">
            <a:avLst/>
          </a:prstGeom>
        </p:spPr>
      </p:pic>
    </p:spTree>
    <p:extLst>
      <p:ext uri="{BB962C8B-B14F-4D97-AF65-F5344CB8AC3E}">
        <p14:creationId xmlns:p14="http://schemas.microsoft.com/office/powerpoint/2010/main" val="33946336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54</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541868" y="1162475"/>
            <a:ext cx="3776198" cy="2407325"/>
          </a:xfrm>
          <a:prstGeom prst="rect">
            <a:avLst/>
          </a:prstGeom>
        </p:spPr>
      </p:pic>
      <p:pic>
        <p:nvPicPr>
          <p:cNvPr id="6" name="Picture 5"/>
          <p:cNvPicPr>
            <a:picLocks noChangeAspect="1"/>
          </p:cNvPicPr>
          <p:nvPr/>
        </p:nvPicPr>
        <p:blipFill>
          <a:blip r:embed="rId3"/>
          <a:stretch>
            <a:fillRect/>
          </a:stretch>
        </p:blipFill>
        <p:spPr>
          <a:xfrm>
            <a:off x="7091829" y="1073099"/>
            <a:ext cx="3840688" cy="3092501"/>
          </a:xfrm>
          <a:prstGeom prst="rect">
            <a:avLst/>
          </a:prstGeom>
        </p:spPr>
      </p:pic>
    </p:spTree>
    <p:extLst>
      <p:ext uri="{BB962C8B-B14F-4D97-AF65-F5344CB8AC3E}">
        <p14:creationId xmlns:p14="http://schemas.microsoft.com/office/powerpoint/2010/main" val="1727481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328328" y="1041400"/>
            <a:ext cx="4191878" cy="1816128"/>
          </a:xfrm>
          <a:prstGeom prst="rect">
            <a:avLst/>
          </a:prstGeom>
        </p:spPr>
      </p:pic>
      <p:pic>
        <p:nvPicPr>
          <p:cNvPr id="6" name="Picture 5"/>
          <p:cNvPicPr>
            <a:picLocks noChangeAspect="1"/>
          </p:cNvPicPr>
          <p:nvPr/>
        </p:nvPicPr>
        <p:blipFill>
          <a:blip r:embed="rId3"/>
          <a:stretch>
            <a:fillRect/>
          </a:stretch>
        </p:blipFill>
        <p:spPr>
          <a:xfrm>
            <a:off x="7202954" y="1117550"/>
            <a:ext cx="3608979" cy="2872066"/>
          </a:xfrm>
          <a:prstGeom prst="rect">
            <a:avLst/>
          </a:prstGeom>
        </p:spPr>
      </p:pic>
    </p:spTree>
    <p:extLst>
      <p:ext uri="{BB962C8B-B14F-4D97-AF65-F5344CB8AC3E}">
        <p14:creationId xmlns:p14="http://schemas.microsoft.com/office/powerpoint/2010/main" val="35543156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56</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812462" y="1193800"/>
            <a:ext cx="3452686" cy="2190791"/>
          </a:xfrm>
          <a:prstGeom prst="rect">
            <a:avLst/>
          </a:prstGeom>
        </p:spPr>
      </p:pic>
      <p:pic>
        <p:nvPicPr>
          <p:cNvPr id="6" name="Picture 5"/>
          <p:cNvPicPr>
            <a:picLocks noChangeAspect="1"/>
          </p:cNvPicPr>
          <p:nvPr/>
        </p:nvPicPr>
        <p:blipFill>
          <a:blip r:embed="rId3"/>
          <a:stretch>
            <a:fillRect/>
          </a:stretch>
        </p:blipFill>
        <p:spPr>
          <a:xfrm>
            <a:off x="6144620" y="1176817"/>
            <a:ext cx="3397313" cy="2703620"/>
          </a:xfrm>
          <a:prstGeom prst="rect">
            <a:avLst/>
          </a:prstGeom>
        </p:spPr>
      </p:pic>
    </p:spTree>
    <p:extLst>
      <p:ext uri="{BB962C8B-B14F-4D97-AF65-F5344CB8AC3E}">
        <p14:creationId xmlns:p14="http://schemas.microsoft.com/office/powerpoint/2010/main" val="16339745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Transistor in Triode Region</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57</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3487126" y="1080527"/>
            <a:ext cx="4386391" cy="1696540"/>
          </a:xfrm>
          <a:prstGeom prst="rect">
            <a:avLst/>
          </a:prstGeom>
        </p:spPr>
      </p:pic>
      <p:pic>
        <p:nvPicPr>
          <p:cNvPr id="6" name="Picture 5"/>
          <p:cNvPicPr>
            <a:picLocks noChangeAspect="1"/>
          </p:cNvPicPr>
          <p:nvPr/>
        </p:nvPicPr>
        <p:blipFill>
          <a:blip r:embed="rId3"/>
          <a:stretch>
            <a:fillRect/>
          </a:stretch>
        </p:blipFill>
        <p:spPr>
          <a:xfrm>
            <a:off x="843273" y="3047980"/>
            <a:ext cx="7938915" cy="1126087"/>
          </a:xfrm>
          <a:prstGeom prst="rect">
            <a:avLst/>
          </a:prstGeom>
        </p:spPr>
      </p:pic>
    </p:spTree>
    <p:extLst>
      <p:ext uri="{BB962C8B-B14F-4D97-AF65-F5344CB8AC3E}">
        <p14:creationId xmlns:p14="http://schemas.microsoft.com/office/powerpoint/2010/main" val="25541654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Transistor in Active region</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58</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3650119" y="941886"/>
            <a:ext cx="3924724" cy="1640447"/>
          </a:xfrm>
          <a:prstGeom prst="rect">
            <a:avLst/>
          </a:prstGeom>
        </p:spPr>
      </p:pic>
      <p:pic>
        <p:nvPicPr>
          <p:cNvPr id="6" name="Picture 5"/>
          <p:cNvPicPr>
            <a:picLocks noChangeAspect="1"/>
          </p:cNvPicPr>
          <p:nvPr/>
        </p:nvPicPr>
        <p:blipFill>
          <a:blip r:embed="rId3"/>
          <a:stretch>
            <a:fillRect/>
          </a:stretch>
        </p:blipFill>
        <p:spPr>
          <a:xfrm>
            <a:off x="1429666" y="2894518"/>
            <a:ext cx="9094747" cy="1542016"/>
          </a:xfrm>
          <a:prstGeom prst="rect">
            <a:avLst/>
          </a:prstGeom>
        </p:spPr>
      </p:pic>
    </p:spTree>
    <p:extLst>
      <p:ext uri="{BB962C8B-B14F-4D97-AF65-F5344CB8AC3E}">
        <p14:creationId xmlns:p14="http://schemas.microsoft.com/office/powerpoint/2010/main" val="21339066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Transistor Off</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59</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4173993" y="1007503"/>
            <a:ext cx="3566379" cy="1464763"/>
          </a:xfrm>
          <a:prstGeom prst="rect">
            <a:avLst/>
          </a:prstGeom>
        </p:spPr>
      </p:pic>
      <p:pic>
        <p:nvPicPr>
          <p:cNvPr id="6" name="Picture 5"/>
          <p:cNvPicPr>
            <a:picLocks noChangeAspect="1"/>
          </p:cNvPicPr>
          <p:nvPr/>
        </p:nvPicPr>
        <p:blipFill>
          <a:blip r:embed="rId3"/>
          <a:stretch>
            <a:fillRect/>
          </a:stretch>
        </p:blipFill>
        <p:spPr>
          <a:xfrm>
            <a:off x="1776803" y="2734714"/>
            <a:ext cx="9457197" cy="1346220"/>
          </a:xfrm>
          <a:prstGeom prst="rect">
            <a:avLst/>
          </a:prstGeom>
        </p:spPr>
      </p:pic>
    </p:spTree>
    <p:extLst>
      <p:ext uri="{BB962C8B-B14F-4D97-AF65-F5344CB8AC3E}">
        <p14:creationId xmlns:p14="http://schemas.microsoft.com/office/powerpoint/2010/main" val="11229293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Intrinsic MOS Capacitor summary</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60</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901433" y="1273064"/>
            <a:ext cx="10389134" cy="4311872"/>
          </a:xfrm>
          <a:prstGeom prst="rect">
            <a:avLst/>
          </a:prstGeom>
        </p:spPr>
      </p:pic>
    </p:spTree>
    <p:extLst>
      <p:ext uri="{BB962C8B-B14F-4D97-AF65-F5344CB8AC3E}">
        <p14:creationId xmlns:p14="http://schemas.microsoft.com/office/powerpoint/2010/main" val="10553829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Source amplifier revisited</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61</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680723" y="973667"/>
            <a:ext cx="3992932" cy="831861"/>
          </a:xfrm>
          <a:prstGeom prst="rect">
            <a:avLst/>
          </a:prstGeom>
        </p:spPr>
      </p:pic>
      <p:pic>
        <p:nvPicPr>
          <p:cNvPr id="6" name="Picture 5"/>
          <p:cNvPicPr>
            <a:picLocks noChangeAspect="1"/>
          </p:cNvPicPr>
          <p:nvPr/>
        </p:nvPicPr>
        <p:blipFill>
          <a:blip r:embed="rId3"/>
          <a:stretch>
            <a:fillRect/>
          </a:stretch>
        </p:blipFill>
        <p:spPr>
          <a:xfrm>
            <a:off x="1640276" y="2176947"/>
            <a:ext cx="8269973" cy="2657520"/>
          </a:xfrm>
          <a:prstGeom prst="rect">
            <a:avLst/>
          </a:prstGeom>
        </p:spPr>
      </p:pic>
    </p:spTree>
    <p:extLst>
      <p:ext uri="{BB962C8B-B14F-4D97-AF65-F5344CB8AC3E}">
        <p14:creationId xmlns:p14="http://schemas.microsoft.com/office/powerpoint/2010/main" val="4180373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Frequency Response</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62</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608667" y="1078173"/>
            <a:ext cx="8818601" cy="4619894"/>
          </a:xfrm>
          <a:prstGeom prst="rect">
            <a:avLst/>
          </a:prstGeom>
        </p:spPr>
      </p:pic>
    </p:spTree>
    <p:extLst>
      <p:ext uri="{BB962C8B-B14F-4D97-AF65-F5344CB8AC3E}">
        <p14:creationId xmlns:p14="http://schemas.microsoft.com/office/powerpoint/2010/main" val="14922718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63</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2254052" y="952372"/>
            <a:ext cx="7683895" cy="4953255"/>
          </a:xfrm>
          <a:prstGeom prst="rect">
            <a:avLst/>
          </a:prstGeom>
        </p:spPr>
      </p:pic>
    </p:spTree>
    <p:extLst>
      <p:ext uri="{BB962C8B-B14F-4D97-AF65-F5344CB8AC3E}">
        <p14:creationId xmlns:p14="http://schemas.microsoft.com/office/powerpoint/2010/main" val="1826083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Extrinsic Capacitance</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64</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977813" y="980949"/>
            <a:ext cx="8236373" cy="4896102"/>
          </a:xfrm>
          <a:prstGeom prst="rect">
            <a:avLst/>
          </a:prstGeom>
        </p:spPr>
      </p:pic>
    </p:spTree>
    <p:extLst>
      <p:ext uri="{BB962C8B-B14F-4D97-AF65-F5344CB8AC3E}">
        <p14:creationId xmlns:p14="http://schemas.microsoft.com/office/powerpoint/2010/main" val="23581928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Overlap Capacitance</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007533" y="1294428"/>
            <a:ext cx="6962890" cy="2883920"/>
          </a:xfrm>
          <a:prstGeom prst="rect">
            <a:avLst/>
          </a:prstGeom>
        </p:spPr>
      </p:pic>
    </p:spTree>
    <p:extLst>
      <p:ext uri="{BB962C8B-B14F-4D97-AF65-F5344CB8AC3E}">
        <p14:creationId xmlns:p14="http://schemas.microsoft.com/office/powerpoint/2010/main" val="1382075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 Capacitor Summary</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66</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375796" y="1329267"/>
            <a:ext cx="11186690" cy="4106333"/>
          </a:xfrm>
          <a:prstGeom prst="rect">
            <a:avLst/>
          </a:prstGeom>
        </p:spPr>
      </p:pic>
    </p:spTree>
    <p:extLst>
      <p:ext uri="{BB962C8B-B14F-4D97-AF65-F5344CB8AC3E}">
        <p14:creationId xmlns:p14="http://schemas.microsoft.com/office/powerpoint/2010/main" val="7737126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Source amplifier revisited</a:t>
            </a:r>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67</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809552" y="1035044"/>
            <a:ext cx="5463513" cy="421223"/>
          </a:xfrm>
          <a:prstGeom prst="rect">
            <a:avLst/>
          </a:prstGeom>
        </p:spPr>
      </p:pic>
      <p:pic>
        <p:nvPicPr>
          <p:cNvPr id="6" name="Picture 5"/>
          <p:cNvPicPr>
            <a:picLocks noChangeAspect="1"/>
          </p:cNvPicPr>
          <p:nvPr/>
        </p:nvPicPr>
        <p:blipFill>
          <a:blip r:embed="rId3"/>
          <a:stretch>
            <a:fillRect/>
          </a:stretch>
        </p:blipFill>
        <p:spPr>
          <a:xfrm>
            <a:off x="1629692" y="1785361"/>
            <a:ext cx="8728784" cy="2845905"/>
          </a:xfrm>
          <a:prstGeom prst="rect">
            <a:avLst/>
          </a:prstGeom>
        </p:spPr>
      </p:pic>
    </p:spTree>
    <p:extLst>
      <p:ext uri="{BB962C8B-B14F-4D97-AF65-F5344CB8AC3E}">
        <p14:creationId xmlns:p14="http://schemas.microsoft.com/office/powerpoint/2010/main" val="5085500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Bandwidth Estimation</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68</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455958" y="897467"/>
            <a:ext cx="9097971" cy="4963708"/>
          </a:xfrm>
          <a:prstGeom prst="rect">
            <a:avLst/>
          </a:prstGeom>
        </p:spPr>
      </p:pic>
    </p:spTree>
    <p:extLst>
      <p:ext uri="{BB962C8B-B14F-4D97-AF65-F5344CB8AC3E}">
        <p14:creationId xmlns:p14="http://schemas.microsoft.com/office/powerpoint/2010/main" val="26050331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Millar Approximation</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69</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615668" y="977774"/>
            <a:ext cx="10960663" cy="4902452"/>
          </a:xfrm>
          <a:prstGeom prst="rect">
            <a:avLst/>
          </a:prstGeom>
        </p:spPr>
      </p:pic>
    </p:spTree>
    <p:extLst>
      <p:ext uri="{BB962C8B-B14F-4D97-AF65-F5344CB8AC3E}">
        <p14:creationId xmlns:p14="http://schemas.microsoft.com/office/powerpoint/2010/main" val="13607730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Modified Input Network</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70</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558692" y="1085729"/>
            <a:ext cx="9074616" cy="4686541"/>
          </a:xfrm>
          <a:prstGeom prst="rect">
            <a:avLst/>
          </a:prstGeom>
        </p:spPr>
      </p:pic>
    </p:spTree>
    <p:extLst>
      <p:ext uri="{BB962C8B-B14F-4D97-AF65-F5344CB8AC3E}">
        <p14:creationId xmlns:p14="http://schemas.microsoft.com/office/powerpoint/2010/main" val="31480844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Improved Bandwidth estimate</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71</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162098" y="948268"/>
            <a:ext cx="9480735" cy="4766850"/>
          </a:xfrm>
          <a:prstGeom prst="rect">
            <a:avLst/>
          </a:prstGeom>
        </p:spPr>
      </p:pic>
    </p:spTree>
    <p:extLst>
      <p:ext uri="{BB962C8B-B14F-4D97-AF65-F5344CB8AC3E}">
        <p14:creationId xmlns:p14="http://schemas.microsoft.com/office/powerpoint/2010/main" val="33167967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Assumptions Check</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72</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599792" y="1101605"/>
            <a:ext cx="10992415" cy="4654789"/>
          </a:xfrm>
          <a:prstGeom prst="rect">
            <a:avLst/>
          </a:prstGeom>
        </p:spPr>
      </p:pic>
    </p:spTree>
    <p:extLst>
      <p:ext uri="{BB962C8B-B14F-4D97-AF65-F5344CB8AC3E}">
        <p14:creationId xmlns:p14="http://schemas.microsoft.com/office/powerpoint/2010/main" val="26809661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Effect of output Loading (1)</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73</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533290" y="1009525"/>
            <a:ext cx="9125419" cy="4838949"/>
          </a:xfrm>
          <a:prstGeom prst="rect">
            <a:avLst/>
          </a:prstGeom>
        </p:spPr>
      </p:pic>
    </p:spTree>
    <p:extLst>
      <p:ext uri="{BB962C8B-B14F-4D97-AF65-F5344CB8AC3E}">
        <p14:creationId xmlns:p14="http://schemas.microsoft.com/office/powerpoint/2010/main" val="31757863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output Loading </a:t>
            </a:r>
            <a:r>
              <a:rPr lang="en-US" dirty="0" smtClean="0"/>
              <a:t>(2)</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74</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571392" y="1158758"/>
            <a:ext cx="9049215" cy="4540483"/>
          </a:xfrm>
          <a:prstGeom prst="rect">
            <a:avLst/>
          </a:prstGeom>
        </p:spPr>
      </p:pic>
    </p:spTree>
    <p:extLst>
      <p:ext uri="{BB962C8B-B14F-4D97-AF65-F5344CB8AC3E}">
        <p14:creationId xmlns:p14="http://schemas.microsoft.com/office/powerpoint/2010/main" val="16201215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Time constant Analysis</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539641" y="1206386"/>
            <a:ext cx="9112718" cy="4445228"/>
          </a:xfrm>
          <a:prstGeom prst="rect">
            <a:avLst/>
          </a:prstGeom>
        </p:spPr>
      </p:pic>
    </p:spTree>
    <p:extLst>
      <p:ext uri="{BB962C8B-B14F-4D97-AF65-F5344CB8AC3E}">
        <p14:creationId xmlns:p14="http://schemas.microsoft.com/office/powerpoint/2010/main" val="26349826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76</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330080" y="1120656"/>
            <a:ext cx="9531840" cy="4616687"/>
          </a:xfrm>
          <a:prstGeom prst="rect">
            <a:avLst/>
          </a:prstGeom>
        </p:spPr>
      </p:pic>
    </p:spTree>
    <p:extLst>
      <p:ext uri="{BB962C8B-B14F-4D97-AF65-F5344CB8AC3E}">
        <p14:creationId xmlns:p14="http://schemas.microsoft.com/office/powerpoint/2010/main" val="33688750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77</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214734" y="1084733"/>
            <a:ext cx="9068266" cy="2267067"/>
          </a:xfrm>
          <a:prstGeom prst="rect">
            <a:avLst/>
          </a:prstGeom>
        </p:spPr>
      </p:pic>
      <p:pic>
        <p:nvPicPr>
          <p:cNvPr id="6" name="Picture 5"/>
          <p:cNvPicPr>
            <a:picLocks noChangeAspect="1"/>
          </p:cNvPicPr>
          <p:nvPr/>
        </p:nvPicPr>
        <p:blipFill>
          <a:blip r:embed="rId3"/>
          <a:stretch>
            <a:fillRect/>
          </a:stretch>
        </p:blipFill>
        <p:spPr>
          <a:xfrm>
            <a:off x="861209" y="3329452"/>
            <a:ext cx="10655848" cy="2502029"/>
          </a:xfrm>
          <a:prstGeom prst="rect">
            <a:avLst/>
          </a:prstGeom>
        </p:spPr>
      </p:pic>
    </p:spTree>
    <p:extLst>
      <p:ext uri="{BB962C8B-B14F-4D97-AF65-F5344CB8AC3E}">
        <p14:creationId xmlns:p14="http://schemas.microsoft.com/office/powerpoint/2010/main" val="5903504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Bandwidth estimation based on ZVCT</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78</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533290" y="1092080"/>
            <a:ext cx="9125419" cy="4673840"/>
          </a:xfrm>
          <a:prstGeom prst="rect">
            <a:avLst/>
          </a:prstGeom>
        </p:spPr>
      </p:pic>
    </p:spTree>
    <p:extLst>
      <p:ext uri="{BB962C8B-B14F-4D97-AF65-F5344CB8AC3E}">
        <p14:creationId xmlns:p14="http://schemas.microsoft.com/office/powerpoint/2010/main" val="1872811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Inclusion of CL</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79</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345970" y="1008527"/>
            <a:ext cx="8941260" cy="2521080"/>
          </a:xfrm>
          <a:prstGeom prst="rect">
            <a:avLst/>
          </a:prstGeom>
        </p:spPr>
      </p:pic>
      <p:pic>
        <p:nvPicPr>
          <p:cNvPr id="6" name="Picture 5"/>
          <p:cNvPicPr>
            <a:picLocks noChangeAspect="1"/>
          </p:cNvPicPr>
          <p:nvPr/>
        </p:nvPicPr>
        <p:blipFill>
          <a:blip r:embed="rId3"/>
          <a:stretch>
            <a:fillRect/>
          </a:stretch>
        </p:blipFill>
        <p:spPr>
          <a:xfrm>
            <a:off x="1081358" y="3468100"/>
            <a:ext cx="10046216" cy="2292468"/>
          </a:xfrm>
          <a:prstGeom prst="rect">
            <a:avLst/>
          </a:prstGeom>
        </p:spPr>
      </p:pic>
    </p:spTree>
    <p:extLst>
      <p:ext uri="{BB962C8B-B14F-4D97-AF65-F5344CB8AC3E}">
        <p14:creationId xmlns:p14="http://schemas.microsoft.com/office/powerpoint/2010/main" val="25121674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ZVTCs works</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80</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489067" y="999067"/>
            <a:ext cx="10134715" cy="4392184"/>
          </a:xfrm>
          <a:prstGeom prst="rect">
            <a:avLst/>
          </a:prstGeom>
        </p:spPr>
      </p:pic>
    </p:spTree>
    <p:extLst>
      <p:ext uri="{BB962C8B-B14F-4D97-AF65-F5344CB8AC3E}">
        <p14:creationId xmlns:p14="http://schemas.microsoft.com/office/powerpoint/2010/main" val="13255823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81</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sp>
        <p:nvSpPr>
          <p:cNvPr id="11" name="Rectangle 6"/>
          <p:cNvSpPr>
            <a:spLocks noChangeArrowheads="1"/>
          </p:cNvSpPr>
          <p:nvPr/>
        </p:nvSpPr>
        <p:spPr bwMode="auto">
          <a:xfrm>
            <a:off x="135467" y="1195909"/>
            <a:ext cx="112268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1" u="none" strike="noStrike" cap="none" normalizeH="0" baseline="0" dirty="0" smtClean="0">
                <a:ln>
                  <a:noFill/>
                </a:ln>
                <a:solidFill>
                  <a:schemeClr val="tx1"/>
                </a:solidFill>
                <a:effectLst/>
                <a:latin typeface="Arial" panose="020B0604020202020204" pitchFamily="34" charset="0"/>
              </a:rPr>
              <a:t>When we talk about analog and mixed-signal design, one invisible force keeps showing up everywhere—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1" u="none" strike="noStrike" cap="none" normalizeH="0" baseline="0" dirty="0" smtClean="0">
                <a:ln>
                  <a:noFill/>
                </a:ln>
                <a:solidFill>
                  <a:schemeClr val="tx1"/>
                </a:solidFill>
                <a:effectLst/>
                <a:latin typeface="Arial" panose="020B0604020202020204" pitchFamily="34" charset="0"/>
              </a:rPr>
              <a:t>feedback. It quietly controls gain, sets bias points, stabilizes oscillators, shapes filters, and even allows our amplifiers to work linearly. Without feedback, most of our circuits would either blow up in instability or behave unpredictably.”</a:t>
            </a:r>
          </a:p>
          <a:p>
            <a:pPr marL="0" marR="0" lvl="0" indent="0" algn="l" defTabSz="914400" rtl="0" eaLnBrk="0" fontAlgn="base" latinLnBrk="0" hangingPunct="0">
              <a:lnSpc>
                <a:spcPct val="100000"/>
              </a:lnSpc>
              <a:spcBef>
                <a:spcPct val="0"/>
              </a:spcBef>
              <a:spcAft>
                <a:spcPct val="0"/>
              </a:spcAft>
              <a:buClrTx/>
              <a:buSzTx/>
              <a:tabLst/>
            </a:pPr>
            <a:endParaRPr lang="en-US" altLang="en-US" i="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1"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Feedback is like </a:t>
            </a:r>
            <a:r>
              <a:rPr kumimoji="0" lang="en-US" altLang="en-US" sz="1800" b="1" i="0" u="none" strike="noStrike" cap="none" normalizeH="0" baseline="0" dirty="0" smtClean="0">
                <a:ln>
                  <a:noFill/>
                </a:ln>
                <a:solidFill>
                  <a:schemeClr val="tx1"/>
                </a:solidFill>
                <a:effectLst/>
                <a:latin typeface="Arial" panose="020B0604020202020204" pitchFamily="34" charset="0"/>
              </a:rPr>
              <a:t>the steering wheel in a car</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Without it, you go off-road.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With too much of it, you oversteer.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With the right balance, you drive smoothly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43010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82</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sp>
        <p:nvSpPr>
          <p:cNvPr id="5" name="Rectangle 4"/>
          <p:cNvSpPr/>
          <p:nvPr/>
        </p:nvSpPr>
        <p:spPr>
          <a:xfrm>
            <a:off x="926173" y="1017064"/>
            <a:ext cx="8229600" cy="5078313"/>
          </a:xfrm>
          <a:prstGeom prst="rect">
            <a:avLst/>
          </a:prstGeom>
        </p:spPr>
        <p:txBody>
          <a:bodyPr wrap="square">
            <a:spAutoFit/>
          </a:bodyPr>
          <a:lstStyle/>
          <a:p>
            <a:r>
              <a:rPr lang="en-US" b="1" dirty="0"/>
              <a:t>2. Types of Feedback</a:t>
            </a:r>
          </a:p>
          <a:p>
            <a:r>
              <a:rPr lang="en-US" b="1" dirty="0"/>
              <a:t>(a) Positive Feedback</a:t>
            </a:r>
          </a:p>
          <a:p>
            <a:pPr>
              <a:buFont typeface="Arial" panose="020B0604020202020204" pitchFamily="34" charset="0"/>
              <a:buChar char="•"/>
            </a:pPr>
            <a:r>
              <a:rPr lang="en-US" dirty="0"/>
              <a:t>Intuition: It’s like talking in a room with a microphone and a loudspeaker.</a:t>
            </a:r>
          </a:p>
          <a:p>
            <a:pPr marL="742950" lvl="1" indent="-285750">
              <a:buFont typeface="Arial" panose="020B0604020202020204" pitchFamily="34" charset="0"/>
              <a:buChar char="•"/>
            </a:pPr>
            <a:r>
              <a:rPr lang="en-US" dirty="0"/>
              <a:t>Your voice enters the mic → amplified → fed back into the loudspeaker → mic again → louder and louder → instability (screeching sound).</a:t>
            </a:r>
          </a:p>
          <a:p>
            <a:pPr>
              <a:buFont typeface="Arial" panose="020B0604020202020204" pitchFamily="34" charset="0"/>
              <a:buChar char="•"/>
            </a:pPr>
            <a:r>
              <a:rPr lang="en-US" dirty="0"/>
              <a:t>In circuits:</a:t>
            </a:r>
          </a:p>
          <a:p>
            <a:pPr marL="742950" lvl="1" indent="-285750">
              <a:buFont typeface="Arial" panose="020B0604020202020204" pitchFamily="34" charset="0"/>
              <a:buChar char="•"/>
            </a:pPr>
            <a:r>
              <a:rPr lang="en-US" dirty="0"/>
              <a:t>Positive feedback reinforces signals.</a:t>
            </a:r>
          </a:p>
          <a:p>
            <a:pPr marL="742950" lvl="1" indent="-285750">
              <a:buFont typeface="Arial" panose="020B0604020202020204" pitchFamily="34" charset="0"/>
              <a:buChar char="•"/>
            </a:pPr>
            <a:r>
              <a:rPr lang="en-US" dirty="0"/>
              <a:t>Used in oscillators, comparators, regenerative circuits.</a:t>
            </a:r>
          </a:p>
          <a:p>
            <a:pPr marL="742950" lvl="1" indent="-285750">
              <a:buFont typeface="Arial" panose="020B0604020202020204" pitchFamily="34" charset="0"/>
              <a:buChar char="•"/>
            </a:pPr>
            <a:r>
              <a:rPr lang="en-US" dirty="0"/>
              <a:t>But if left uncontrolled, it leads to instability.</a:t>
            </a:r>
          </a:p>
          <a:p>
            <a:r>
              <a:rPr lang="en-US" b="1" dirty="0"/>
              <a:t>(b) Negative Feedback</a:t>
            </a:r>
          </a:p>
          <a:p>
            <a:pPr>
              <a:buFont typeface="Arial" panose="020B0604020202020204" pitchFamily="34" charset="0"/>
              <a:buChar char="•"/>
            </a:pPr>
            <a:r>
              <a:rPr lang="en-US" dirty="0"/>
              <a:t>Intuition: Think of </a:t>
            </a:r>
            <a:r>
              <a:rPr lang="en-US" b="1" dirty="0"/>
              <a:t>a thermostat in an air conditioner</a:t>
            </a:r>
            <a:r>
              <a:rPr lang="en-US" dirty="0"/>
              <a:t>:</a:t>
            </a:r>
          </a:p>
          <a:p>
            <a:pPr marL="742950" lvl="1" indent="-285750">
              <a:buFont typeface="Arial" panose="020B0604020202020204" pitchFamily="34" charset="0"/>
              <a:buChar char="•"/>
            </a:pPr>
            <a:r>
              <a:rPr lang="en-US" dirty="0"/>
              <a:t>If temperature rises, AC cools harder.</a:t>
            </a:r>
          </a:p>
          <a:p>
            <a:pPr marL="742950" lvl="1" indent="-285750">
              <a:buFont typeface="Arial" panose="020B0604020202020204" pitchFamily="34" charset="0"/>
              <a:buChar char="•"/>
            </a:pPr>
            <a:r>
              <a:rPr lang="en-US" dirty="0"/>
              <a:t>If temperature drops, AC relaxes.</a:t>
            </a:r>
          </a:p>
          <a:p>
            <a:pPr marL="742950" lvl="1" indent="-285750">
              <a:buFont typeface="Arial" panose="020B0604020202020204" pitchFamily="34" charset="0"/>
              <a:buChar char="•"/>
            </a:pPr>
            <a:r>
              <a:rPr lang="en-US" dirty="0"/>
              <a:t>Outcome: room stabilizes at a set point.</a:t>
            </a:r>
          </a:p>
          <a:p>
            <a:pPr>
              <a:buFont typeface="Arial" panose="020B0604020202020204" pitchFamily="34" charset="0"/>
              <a:buChar char="•"/>
            </a:pPr>
            <a:r>
              <a:rPr lang="en-US" dirty="0"/>
              <a:t>In circuits:</a:t>
            </a:r>
          </a:p>
          <a:p>
            <a:pPr marL="742950" lvl="1" indent="-285750">
              <a:buFont typeface="Arial" panose="020B0604020202020204" pitchFamily="34" charset="0"/>
              <a:buChar char="•"/>
            </a:pPr>
            <a:r>
              <a:rPr lang="en-US" dirty="0"/>
              <a:t>Reduces gain variation.</a:t>
            </a:r>
          </a:p>
          <a:p>
            <a:pPr marL="742950" lvl="1" indent="-285750">
              <a:buFont typeface="Arial" panose="020B0604020202020204" pitchFamily="34" charset="0"/>
              <a:buChar char="•"/>
            </a:pPr>
            <a:r>
              <a:rPr lang="en-US" dirty="0"/>
              <a:t>Improves linearity.</a:t>
            </a:r>
          </a:p>
          <a:p>
            <a:pPr marL="742950" lvl="1" indent="-285750">
              <a:buFont typeface="Arial" panose="020B0604020202020204" pitchFamily="34" charset="0"/>
              <a:buChar char="•"/>
            </a:pPr>
            <a:r>
              <a:rPr lang="en-US" dirty="0"/>
              <a:t>Expands bandwidth.</a:t>
            </a:r>
          </a:p>
        </p:txBody>
      </p:sp>
    </p:spTree>
    <p:extLst>
      <p:ext uri="{BB962C8B-B14F-4D97-AF65-F5344CB8AC3E}">
        <p14:creationId xmlns:p14="http://schemas.microsoft.com/office/powerpoint/2010/main" val="41178635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without feedback</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83</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98611" y="893452"/>
            <a:ext cx="5493032" cy="1949550"/>
          </a:xfrm>
          <a:prstGeom prst="rect">
            <a:avLst/>
          </a:prstGeom>
        </p:spPr>
      </p:pic>
      <p:pic>
        <p:nvPicPr>
          <p:cNvPr id="6" name="Picture 5"/>
          <p:cNvPicPr>
            <a:picLocks noChangeAspect="1"/>
          </p:cNvPicPr>
          <p:nvPr/>
        </p:nvPicPr>
        <p:blipFill>
          <a:blip r:embed="rId3"/>
          <a:stretch>
            <a:fillRect/>
          </a:stretch>
        </p:blipFill>
        <p:spPr>
          <a:xfrm>
            <a:off x="122131" y="2886814"/>
            <a:ext cx="2609984" cy="1987652"/>
          </a:xfrm>
          <a:prstGeom prst="rect">
            <a:avLst/>
          </a:prstGeom>
        </p:spPr>
      </p:pic>
      <p:pic>
        <p:nvPicPr>
          <p:cNvPr id="7" name="Picture 6"/>
          <p:cNvPicPr>
            <a:picLocks noChangeAspect="1"/>
          </p:cNvPicPr>
          <p:nvPr/>
        </p:nvPicPr>
        <p:blipFill rotWithShape="1">
          <a:blip r:embed="rId4"/>
          <a:srcRect r="66392"/>
          <a:stretch/>
        </p:blipFill>
        <p:spPr>
          <a:xfrm>
            <a:off x="3058255" y="2928075"/>
            <a:ext cx="2518409" cy="2063856"/>
          </a:xfrm>
          <a:prstGeom prst="rect">
            <a:avLst/>
          </a:prstGeom>
        </p:spPr>
      </p:pic>
      <p:sp>
        <p:nvSpPr>
          <p:cNvPr id="3" name="Rectangle 2"/>
          <p:cNvSpPr/>
          <p:nvPr/>
        </p:nvSpPr>
        <p:spPr>
          <a:xfrm>
            <a:off x="6611414" y="1098982"/>
            <a:ext cx="6096000" cy="4801314"/>
          </a:xfrm>
          <a:prstGeom prst="rect">
            <a:avLst/>
          </a:prstGeom>
        </p:spPr>
        <p:txBody>
          <a:bodyPr>
            <a:spAutoFit/>
          </a:bodyPr>
          <a:lstStyle/>
          <a:p>
            <a:r>
              <a:rPr lang="en-US" b="1" dirty="0"/>
              <a:t>2. Life Without Feedback</a:t>
            </a:r>
          </a:p>
          <a:p>
            <a:r>
              <a:rPr lang="en-US" b="1" dirty="0"/>
              <a:t>Consider: A voltage amplifier with gain A₀.</a:t>
            </a:r>
          </a:p>
          <a:p>
            <a:r>
              <a:rPr lang="en-US" dirty="0"/>
              <a:t>It suffers from four major limitations:</a:t>
            </a:r>
          </a:p>
          <a:p>
            <a:pPr>
              <a:buFont typeface="+mj-lt"/>
              <a:buAutoNum type="arabicPeriod"/>
            </a:pPr>
            <a:r>
              <a:rPr lang="en-US" b="1" dirty="0"/>
              <a:t>Gain Variation with Environment</a:t>
            </a:r>
            <a:endParaRPr lang="en-US" dirty="0"/>
          </a:p>
          <a:p>
            <a:pPr marL="742950" lvl="1" indent="-285750">
              <a:buFont typeface="+mj-lt"/>
              <a:buAutoNum type="arabicPeriod"/>
            </a:pPr>
            <a:r>
              <a:rPr lang="en-US" dirty="0"/>
              <a:t>Gain depends on supply voltage and temperature.</a:t>
            </a:r>
          </a:p>
          <a:p>
            <a:pPr marL="742950" lvl="1" indent="-285750">
              <a:buFont typeface="+mj-lt"/>
              <a:buAutoNum type="arabicPeriod"/>
            </a:pPr>
            <a:r>
              <a:rPr lang="en-US" dirty="0"/>
              <a:t>Gain can vary by a factor of 1–2 over normal temperature ranges.</a:t>
            </a:r>
          </a:p>
          <a:p>
            <a:pPr>
              <a:buFont typeface="+mj-lt"/>
              <a:buAutoNum type="arabicPeriod"/>
            </a:pPr>
            <a:r>
              <a:rPr lang="en-US" b="1" dirty="0"/>
              <a:t>Frequency Dependence (Bandwidth Limitation)</a:t>
            </a:r>
            <a:endParaRPr lang="en-US" dirty="0"/>
          </a:p>
          <a:p>
            <a:pPr marL="742950" lvl="1" indent="-285750">
              <a:buFont typeface="+mj-lt"/>
              <a:buAutoNum type="arabicPeriod"/>
            </a:pPr>
            <a:r>
              <a:rPr lang="en-US" dirty="0"/>
              <a:t>Gain decreases beyond a certain frequency.</a:t>
            </a:r>
          </a:p>
          <a:p>
            <a:pPr marL="742950" lvl="1" indent="-285750">
              <a:buFont typeface="+mj-lt"/>
              <a:buAutoNum type="arabicPeriod"/>
            </a:pPr>
            <a:r>
              <a:rPr lang="en-US" dirty="0"/>
              <a:t>Usable only up to bandwidth </a:t>
            </a:r>
            <a:r>
              <a:rPr lang="en-US" b="1" dirty="0"/>
              <a:t>f₀</a:t>
            </a:r>
            <a:r>
              <a:rPr lang="en-US" dirty="0"/>
              <a:t>.</a:t>
            </a:r>
          </a:p>
          <a:p>
            <a:pPr>
              <a:buFont typeface="+mj-lt"/>
              <a:buAutoNum type="arabicPeriod"/>
            </a:pPr>
            <a:r>
              <a:rPr lang="en-US" b="1" dirty="0"/>
              <a:t>Finite Output Resistance</a:t>
            </a:r>
            <a:endParaRPr lang="en-US" dirty="0"/>
          </a:p>
          <a:p>
            <a:pPr marL="742950" lvl="1" indent="-285750">
              <a:buFont typeface="+mj-lt"/>
              <a:buAutoNum type="arabicPeriod"/>
            </a:pPr>
            <a:r>
              <a:rPr lang="en-US" dirty="0"/>
              <a:t>Output gain depends on the load resistance.</a:t>
            </a:r>
          </a:p>
          <a:p>
            <a:pPr marL="742950" lvl="1" indent="-285750">
              <a:buFont typeface="+mj-lt"/>
              <a:buAutoNum type="arabicPeriod"/>
            </a:pPr>
            <a:r>
              <a:rPr lang="en-US" dirty="0"/>
              <a:t>Heavier load → lower gain.</a:t>
            </a:r>
          </a:p>
          <a:p>
            <a:pPr>
              <a:buFont typeface="+mj-lt"/>
              <a:buAutoNum type="arabicPeriod"/>
            </a:pPr>
            <a:r>
              <a:rPr lang="en-US" b="1" dirty="0"/>
              <a:t>Nonlinearity</a:t>
            </a:r>
            <a:endParaRPr lang="en-US" dirty="0"/>
          </a:p>
          <a:p>
            <a:pPr marL="742950" lvl="1" indent="-285750">
              <a:buFont typeface="+mj-lt"/>
              <a:buAutoNum type="arabicPeriod"/>
            </a:pPr>
            <a:r>
              <a:rPr lang="en-US" dirty="0"/>
              <a:t>For large signal swings, gain reduces.</a:t>
            </a:r>
          </a:p>
          <a:p>
            <a:pPr marL="742950" lvl="1" indent="-285750">
              <a:buFont typeface="+mj-lt"/>
              <a:buAutoNum type="arabicPeriod"/>
            </a:pPr>
            <a:r>
              <a:rPr lang="en-US" dirty="0"/>
              <a:t>Leads to distortion and nonlinear response.</a:t>
            </a:r>
          </a:p>
          <a:p>
            <a:r>
              <a:rPr lang="en-US" dirty="0"/>
              <a:t>➡️ These four issues limit practical usability.</a:t>
            </a:r>
          </a:p>
        </p:txBody>
      </p:sp>
      <p:pic>
        <p:nvPicPr>
          <p:cNvPr id="8" name="Picture 7"/>
          <p:cNvPicPr>
            <a:picLocks noChangeAspect="1"/>
          </p:cNvPicPr>
          <p:nvPr/>
        </p:nvPicPr>
        <p:blipFill rotWithShape="1">
          <a:blip r:embed="rId4"/>
          <a:srcRect l="56766"/>
          <a:stretch/>
        </p:blipFill>
        <p:spPr>
          <a:xfrm>
            <a:off x="0" y="5007387"/>
            <a:ext cx="3239708" cy="2063856"/>
          </a:xfrm>
          <a:prstGeom prst="rect">
            <a:avLst/>
          </a:prstGeom>
        </p:spPr>
      </p:pic>
    </p:spTree>
    <p:extLst>
      <p:ext uri="{BB962C8B-B14F-4D97-AF65-F5344CB8AC3E}">
        <p14:creationId xmlns:p14="http://schemas.microsoft.com/office/powerpoint/2010/main" val="17922409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with feedback (1)</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84</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389361" y="919645"/>
            <a:ext cx="4064209" cy="1835244"/>
          </a:xfrm>
          <a:prstGeom prst="rect">
            <a:avLst/>
          </a:prstGeom>
        </p:spPr>
      </p:pic>
      <p:pic>
        <p:nvPicPr>
          <p:cNvPr id="6" name="Picture 5"/>
          <p:cNvPicPr>
            <a:picLocks noChangeAspect="1"/>
          </p:cNvPicPr>
          <p:nvPr/>
        </p:nvPicPr>
        <p:blipFill>
          <a:blip r:embed="rId3"/>
          <a:stretch>
            <a:fillRect/>
          </a:stretch>
        </p:blipFill>
        <p:spPr>
          <a:xfrm>
            <a:off x="458156" y="3153772"/>
            <a:ext cx="3943553" cy="2362321"/>
          </a:xfrm>
          <a:prstGeom prst="rect">
            <a:avLst/>
          </a:prstGeom>
        </p:spPr>
      </p:pic>
      <p:pic>
        <p:nvPicPr>
          <p:cNvPr id="7" name="Picture 6"/>
          <p:cNvPicPr>
            <a:picLocks noChangeAspect="1"/>
          </p:cNvPicPr>
          <p:nvPr/>
        </p:nvPicPr>
        <p:blipFill>
          <a:blip r:embed="rId4"/>
          <a:stretch>
            <a:fillRect/>
          </a:stretch>
        </p:blipFill>
        <p:spPr>
          <a:xfrm>
            <a:off x="6960542" y="943966"/>
            <a:ext cx="4502381" cy="2616334"/>
          </a:xfrm>
          <a:prstGeom prst="rect">
            <a:avLst/>
          </a:prstGeom>
        </p:spPr>
      </p:pic>
      <p:pic>
        <p:nvPicPr>
          <p:cNvPr id="8" name="Picture 7"/>
          <p:cNvPicPr>
            <a:picLocks noChangeAspect="1"/>
          </p:cNvPicPr>
          <p:nvPr/>
        </p:nvPicPr>
        <p:blipFill>
          <a:blip r:embed="rId5"/>
          <a:stretch>
            <a:fillRect/>
          </a:stretch>
        </p:blipFill>
        <p:spPr>
          <a:xfrm>
            <a:off x="158983" y="5640145"/>
            <a:ext cx="4197566" cy="1054154"/>
          </a:xfrm>
          <a:prstGeom prst="rect">
            <a:avLst/>
          </a:prstGeom>
        </p:spPr>
      </p:pic>
      <p:pic>
        <p:nvPicPr>
          <p:cNvPr id="3" name="Picture 2"/>
          <p:cNvPicPr>
            <a:picLocks noChangeAspect="1"/>
          </p:cNvPicPr>
          <p:nvPr/>
        </p:nvPicPr>
        <p:blipFill>
          <a:blip r:embed="rId6"/>
          <a:stretch>
            <a:fillRect/>
          </a:stretch>
        </p:blipFill>
        <p:spPr>
          <a:xfrm>
            <a:off x="7044924" y="3850238"/>
            <a:ext cx="4483330" cy="2705239"/>
          </a:xfrm>
          <a:prstGeom prst="rect">
            <a:avLst/>
          </a:prstGeom>
        </p:spPr>
      </p:pic>
    </p:spTree>
    <p:extLst>
      <p:ext uri="{BB962C8B-B14F-4D97-AF65-F5344CB8AC3E}">
        <p14:creationId xmlns:p14="http://schemas.microsoft.com/office/powerpoint/2010/main" val="41335463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with feedback </a:t>
            </a:r>
            <a:r>
              <a:rPr lang="en-US" dirty="0" smtClean="0"/>
              <a:t>(2)</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85</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50841" y="671993"/>
            <a:ext cx="6487315" cy="2123526"/>
          </a:xfrm>
          <a:prstGeom prst="rect">
            <a:avLst/>
          </a:prstGeom>
        </p:spPr>
      </p:pic>
      <p:pic>
        <p:nvPicPr>
          <p:cNvPr id="6" name="Picture 5"/>
          <p:cNvPicPr>
            <a:picLocks noChangeAspect="1"/>
          </p:cNvPicPr>
          <p:nvPr/>
        </p:nvPicPr>
        <p:blipFill>
          <a:blip r:embed="rId3"/>
          <a:stretch>
            <a:fillRect/>
          </a:stretch>
        </p:blipFill>
        <p:spPr>
          <a:xfrm>
            <a:off x="8851244" y="0"/>
            <a:ext cx="2921150" cy="2254366"/>
          </a:xfrm>
          <a:prstGeom prst="rect">
            <a:avLst/>
          </a:prstGeom>
        </p:spPr>
      </p:pic>
      <p:pic>
        <p:nvPicPr>
          <p:cNvPr id="7" name="Picture 6"/>
          <p:cNvPicPr>
            <a:picLocks noChangeAspect="1"/>
          </p:cNvPicPr>
          <p:nvPr/>
        </p:nvPicPr>
        <p:blipFill>
          <a:blip r:embed="rId4"/>
          <a:stretch>
            <a:fillRect/>
          </a:stretch>
        </p:blipFill>
        <p:spPr>
          <a:xfrm>
            <a:off x="64466" y="2626554"/>
            <a:ext cx="4483330" cy="2209914"/>
          </a:xfrm>
          <a:prstGeom prst="rect">
            <a:avLst/>
          </a:prstGeom>
        </p:spPr>
      </p:pic>
      <p:pic>
        <p:nvPicPr>
          <p:cNvPr id="8" name="Picture 7"/>
          <p:cNvPicPr>
            <a:picLocks noChangeAspect="1"/>
          </p:cNvPicPr>
          <p:nvPr/>
        </p:nvPicPr>
        <p:blipFill>
          <a:blip r:embed="rId5"/>
          <a:stretch>
            <a:fillRect/>
          </a:stretch>
        </p:blipFill>
        <p:spPr>
          <a:xfrm>
            <a:off x="212516" y="4895749"/>
            <a:ext cx="2787793" cy="1962251"/>
          </a:xfrm>
          <a:prstGeom prst="rect">
            <a:avLst/>
          </a:prstGeom>
        </p:spPr>
      </p:pic>
      <p:sp>
        <p:nvSpPr>
          <p:cNvPr id="3" name="Rectangle 2"/>
          <p:cNvSpPr/>
          <p:nvPr/>
        </p:nvSpPr>
        <p:spPr>
          <a:xfrm>
            <a:off x="6195420" y="2610683"/>
            <a:ext cx="6096000" cy="4247317"/>
          </a:xfrm>
          <a:prstGeom prst="rect">
            <a:avLst/>
          </a:prstGeom>
        </p:spPr>
        <p:txBody>
          <a:bodyPr>
            <a:spAutoFit/>
          </a:bodyPr>
          <a:lstStyle/>
          <a:p>
            <a:r>
              <a:rPr lang="en-US" b="1" dirty="0"/>
              <a:t>How Feedback Solves the Four Issues:</a:t>
            </a:r>
          </a:p>
          <a:p>
            <a:pPr>
              <a:buFont typeface="+mj-lt"/>
              <a:buAutoNum type="arabicPeriod"/>
            </a:pPr>
            <a:r>
              <a:rPr lang="en-US" b="1" dirty="0"/>
              <a:t>Gain Stability</a:t>
            </a:r>
            <a:endParaRPr lang="en-US" dirty="0"/>
          </a:p>
          <a:p>
            <a:pPr marL="742950" lvl="1" indent="-285750">
              <a:buFont typeface="+mj-lt"/>
              <a:buAutoNum type="arabicPeriod"/>
            </a:pPr>
            <a:r>
              <a:rPr lang="en-US" dirty="0"/>
              <a:t>Even if A₀ varies with temperature, y/x remains ≈1.</a:t>
            </a:r>
          </a:p>
          <a:p>
            <a:pPr marL="742950" lvl="1" indent="-285750">
              <a:buFont typeface="+mj-lt"/>
              <a:buAutoNum type="arabicPeriod"/>
            </a:pPr>
            <a:r>
              <a:rPr lang="en-US" dirty="0"/>
              <a:t>Output less sensitive to environmental changes.</a:t>
            </a:r>
          </a:p>
          <a:p>
            <a:pPr>
              <a:buFont typeface="+mj-lt"/>
              <a:buAutoNum type="arabicPeriod"/>
            </a:pPr>
            <a:r>
              <a:rPr lang="en-US" b="1" dirty="0"/>
              <a:t>Wider Bandwidth</a:t>
            </a:r>
            <a:endParaRPr lang="en-US" dirty="0"/>
          </a:p>
          <a:p>
            <a:pPr marL="742950" lvl="1" indent="-285750">
              <a:buFont typeface="+mj-lt"/>
              <a:buAutoNum type="arabicPeriod"/>
            </a:pPr>
            <a:r>
              <a:rPr lang="en-US" dirty="0"/>
              <a:t>Gain from x → y remains near unity up to bandwidth ≈ A₀·f₀.</a:t>
            </a:r>
          </a:p>
          <a:p>
            <a:pPr marL="742950" lvl="1" indent="-285750">
              <a:buFont typeface="+mj-lt"/>
              <a:buAutoNum type="arabicPeriod"/>
            </a:pPr>
            <a:r>
              <a:rPr lang="en-US" dirty="0"/>
              <a:t>Feedback extends effective bandwidth.</a:t>
            </a:r>
          </a:p>
          <a:p>
            <a:pPr>
              <a:buFont typeface="+mj-lt"/>
              <a:buAutoNum type="arabicPeriod"/>
            </a:pPr>
            <a:r>
              <a:rPr lang="en-US" b="1" dirty="0"/>
              <a:t>Lower Output Resistance</a:t>
            </a:r>
            <a:endParaRPr lang="en-US" dirty="0"/>
          </a:p>
          <a:p>
            <a:pPr marL="742950" lvl="1" indent="-285750">
              <a:buFont typeface="+mj-lt"/>
              <a:buAutoNum type="arabicPeriod"/>
            </a:pPr>
            <a:r>
              <a:rPr lang="en-US" dirty="0"/>
              <a:t>Effective output resistance reduced by factor </a:t>
            </a:r>
            <a:r>
              <a:rPr lang="en-US" b="1" dirty="0"/>
              <a:t>(1 + A₀)</a:t>
            </a:r>
            <a:r>
              <a:rPr lang="en-US" dirty="0"/>
              <a:t>.</a:t>
            </a:r>
          </a:p>
          <a:p>
            <a:pPr marL="742950" lvl="1" indent="-285750">
              <a:buFont typeface="+mj-lt"/>
              <a:buAutoNum type="arabicPeriod"/>
            </a:pPr>
            <a:r>
              <a:rPr lang="en-US" dirty="0"/>
              <a:t>Less sensitive to load variations.</a:t>
            </a:r>
          </a:p>
          <a:p>
            <a:pPr>
              <a:buFont typeface="+mj-lt"/>
              <a:buAutoNum type="arabicPeriod"/>
            </a:pPr>
            <a:r>
              <a:rPr lang="en-US" b="1" dirty="0"/>
              <a:t>Improved Linearity</a:t>
            </a:r>
            <a:endParaRPr lang="en-US" dirty="0"/>
          </a:p>
          <a:p>
            <a:pPr marL="742950" lvl="1" indent="-285750">
              <a:buFont typeface="+mj-lt"/>
              <a:buAutoNum type="arabicPeriod"/>
            </a:pPr>
            <a:r>
              <a:rPr lang="en-US" dirty="0"/>
              <a:t>Output remains a faithful copy of input even at higher swings.</a:t>
            </a:r>
          </a:p>
          <a:p>
            <a:pPr marL="742950" lvl="1" indent="-285750">
              <a:buFont typeface="+mj-lt"/>
              <a:buAutoNum type="arabicPeriod"/>
            </a:pPr>
            <a:r>
              <a:rPr lang="en-US" dirty="0"/>
              <a:t>Nonlinearity suppressed</a:t>
            </a:r>
          </a:p>
        </p:txBody>
      </p:sp>
    </p:spTree>
    <p:extLst>
      <p:ext uri="{BB962C8B-B14F-4D97-AF65-F5344CB8AC3E}">
        <p14:creationId xmlns:p14="http://schemas.microsoft.com/office/powerpoint/2010/main" val="2904390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8242097" y="3123828"/>
            <a:ext cx="3949903" cy="3149762"/>
          </a:xfrm>
          <a:prstGeom prst="rect">
            <a:avLst/>
          </a:prstGeom>
        </p:spPr>
      </p:pic>
      <p:sp>
        <p:nvSpPr>
          <p:cNvPr id="2" name="Title 1"/>
          <p:cNvSpPr>
            <a:spLocks noGrp="1"/>
          </p:cNvSpPr>
          <p:nvPr>
            <p:ph type="title"/>
          </p:nvPr>
        </p:nvSpPr>
        <p:spPr/>
        <p:txBody>
          <a:bodyPr/>
          <a:lstStyle/>
          <a:p>
            <a:r>
              <a:rPr lang="en-US" dirty="0" smtClean="0"/>
              <a:t>Why better than wire</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86</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6" name="Picture 5"/>
          <p:cNvPicPr>
            <a:picLocks noChangeAspect="1"/>
          </p:cNvPicPr>
          <p:nvPr/>
        </p:nvPicPr>
        <p:blipFill>
          <a:blip r:embed="rId3"/>
          <a:stretch>
            <a:fillRect/>
          </a:stretch>
        </p:blipFill>
        <p:spPr>
          <a:xfrm>
            <a:off x="0" y="1046635"/>
            <a:ext cx="3753043" cy="2190863"/>
          </a:xfrm>
          <a:prstGeom prst="rect">
            <a:avLst/>
          </a:prstGeom>
        </p:spPr>
      </p:pic>
      <p:pic>
        <p:nvPicPr>
          <p:cNvPr id="7" name="Picture 6"/>
          <p:cNvPicPr>
            <a:picLocks noChangeAspect="1"/>
          </p:cNvPicPr>
          <p:nvPr/>
        </p:nvPicPr>
        <p:blipFill>
          <a:blip r:embed="rId4"/>
          <a:stretch>
            <a:fillRect/>
          </a:stretch>
        </p:blipFill>
        <p:spPr>
          <a:xfrm>
            <a:off x="4357647" y="198904"/>
            <a:ext cx="4064209" cy="3835597"/>
          </a:xfrm>
          <a:prstGeom prst="rect">
            <a:avLst/>
          </a:prstGeom>
        </p:spPr>
      </p:pic>
      <p:pic>
        <p:nvPicPr>
          <p:cNvPr id="8" name="Picture 7"/>
          <p:cNvPicPr>
            <a:picLocks noChangeAspect="1"/>
          </p:cNvPicPr>
          <p:nvPr/>
        </p:nvPicPr>
        <p:blipFill>
          <a:blip r:embed="rId5"/>
          <a:stretch>
            <a:fillRect/>
          </a:stretch>
        </p:blipFill>
        <p:spPr>
          <a:xfrm>
            <a:off x="8127791" y="146236"/>
            <a:ext cx="4064209" cy="2838596"/>
          </a:xfrm>
          <a:prstGeom prst="rect">
            <a:avLst/>
          </a:prstGeom>
        </p:spPr>
      </p:pic>
      <p:pic>
        <p:nvPicPr>
          <p:cNvPr id="3" name="Picture 2"/>
          <p:cNvPicPr>
            <a:picLocks noChangeAspect="1"/>
          </p:cNvPicPr>
          <p:nvPr/>
        </p:nvPicPr>
        <p:blipFill>
          <a:blip r:embed="rId6"/>
          <a:stretch>
            <a:fillRect/>
          </a:stretch>
        </p:blipFill>
        <p:spPr>
          <a:xfrm>
            <a:off x="103165" y="3429009"/>
            <a:ext cx="5353325" cy="3359323"/>
          </a:xfrm>
          <a:prstGeom prst="rect">
            <a:avLst/>
          </a:prstGeom>
        </p:spPr>
      </p:pic>
      <p:sp>
        <p:nvSpPr>
          <p:cNvPr id="5" name="TextBox 4"/>
          <p:cNvSpPr txBox="1"/>
          <p:nvPr/>
        </p:nvSpPr>
        <p:spPr>
          <a:xfrm>
            <a:off x="9110133" y="1244600"/>
            <a:ext cx="1641219" cy="369332"/>
          </a:xfrm>
          <a:prstGeom prst="rect">
            <a:avLst/>
          </a:prstGeom>
          <a:noFill/>
        </p:spPr>
        <p:txBody>
          <a:bodyPr wrap="none" rtlCol="0">
            <a:spAutoFit/>
          </a:bodyPr>
          <a:lstStyle/>
          <a:p>
            <a:r>
              <a:rPr lang="en-US" dirty="0" smtClean="0">
                <a:solidFill>
                  <a:srgbClr val="FF0000"/>
                </a:solidFill>
              </a:rPr>
              <a:t>Source follower</a:t>
            </a:r>
            <a:endParaRPr lang="en-US" dirty="0">
              <a:solidFill>
                <a:srgbClr val="FF0000"/>
              </a:solidFill>
            </a:endParaRPr>
          </a:p>
        </p:txBody>
      </p:sp>
      <p:sp>
        <p:nvSpPr>
          <p:cNvPr id="10" name="TextBox 9"/>
          <p:cNvSpPr txBox="1"/>
          <p:nvPr/>
        </p:nvSpPr>
        <p:spPr>
          <a:xfrm>
            <a:off x="7426581" y="2810934"/>
            <a:ext cx="4934236" cy="923330"/>
          </a:xfrm>
          <a:prstGeom prst="rect">
            <a:avLst/>
          </a:prstGeom>
          <a:noFill/>
        </p:spPr>
        <p:txBody>
          <a:bodyPr wrap="none" rtlCol="0">
            <a:spAutoFit/>
          </a:bodyPr>
          <a:lstStyle/>
          <a:p>
            <a:r>
              <a:rPr lang="en-US" dirty="0" smtClean="0">
                <a:solidFill>
                  <a:srgbClr val="FF0000"/>
                </a:solidFill>
              </a:rPr>
              <a:t>The issue is load does not need a constant current </a:t>
            </a:r>
          </a:p>
          <a:p>
            <a:r>
              <a:rPr lang="en-US" dirty="0" smtClean="0">
                <a:solidFill>
                  <a:srgbClr val="FF0000"/>
                </a:solidFill>
              </a:rPr>
              <a:t>And the SF have some out put resistance so it </a:t>
            </a:r>
          </a:p>
          <a:p>
            <a:r>
              <a:rPr lang="en-US" dirty="0" smtClean="0">
                <a:solidFill>
                  <a:srgbClr val="FF0000"/>
                </a:solidFill>
              </a:rPr>
              <a:t>creates a problem</a:t>
            </a:r>
            <a:endParaRPr lang="en-US" dirty="0">
              <a:solidFill>
                <a:srgbClr val="FF0000"/>
              </a:solidFill>
            </a:endParaRPr>
          </a:p>
        </p:txBody>
      </p:sp>
    </p:spTree>
    <p:extLst>
      <p:ext uri="{BB962C8B-B14F-4D97-AF65-F5344CB8AC3E}">
        <p14:creationId xmlns:p14="http://schemas.microsoft.com/office/powerpoint/2010/main" val="4736379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output to input</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87</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155503" y="923868"/>
            <a:ext cx="2787793" cy="2216264"/>
          </a:xfrm>
          <a:prstGeom prst="rect">
            <a:avLst/>
          </a:prstGeom>
        </p:spPr>
      </p:pic>
      <p:pic>
        <p:nvPicPr>
          <p:cNvPr id="6" name="Picture 5"/>
          <p:cNvPicPr>
            <a:picLocks noChangeAspect="1"/>
          </p:cNvPicPr>
          <p:nvPr/>
        </p:nvPicPr>
        <p:blipFill>
          <a:blip r:embed="rId3"/>
          <a:stretch>
            <a:fillRect/>
          </a:stretch>
        </p:blipFill>
        <p:spPr>
          <a:xfrm>
            <a:off x="3726325" y="912220"/>
            <a:ext cx="2571882" cy="2425825"/>
          </a:xfrm>
          <a:prstGeom prst="rect">
            <a:avLst/>
          </a:prstGeom>
        </p:spPr>
      </p:pic>
      <p:pic>
        <p:nvPicPr>
          <p:cNvPr id="7" name="Picture 6"/>
          <p:cNvPicPr>
            <a:picLocks noChangeAspect="1"/>
          </p:cNvPicPr>
          <p:nvPr/>
        </p:nvPicPr>
        <p:blipFill>
          <a:blip r:embed="rId4"/>
          <a:stretch>
            <a:fillRect/>
          </a:stretch>
        </p:blipFill>
        <p:spPr>
          <a:xfrm>
            <a:off x="7676020" y="833891"/>
            <a:ext cx="2749691" cy="2921150"/>
          </a:xfrm>
          <a:prstGeom prst="rect">
            <a:avLst/>
          </a:prstGeom>
        </p:spPr>
      </p:pic>
      <p:pic>
        <p:nvPicPr>
          <p:cNvPr id="8" name="Picture 7"/>
          <p:cNvPicPr>
            <a:picLocks noChangeAspect="1"/>
          </p:cNvPicPr>
          <p:nvPr/>
        </p:nvPicPr>
        <p:blipFill>
          <a:blip r:embed="rId5"/>
          <a:stretch>
            <a:fillRect/>
          </a:stretch>
        </p:blipFill>
        <p:spPr>
          <a:xfrm>
            <a:off x="9143851" y="3326259"/>
            <a:ext cx="2895749" cy="3219615"/>
          </a:xfrm>
          <a:prstGeom prst="rect">
            <a:avLst/>
          </a:prstGeom>
        </p:spPr>
      </p:pic>
    </p:spTree>
    <p:extLst>
      <p:ext uri="{BB962C8B-B14F-4D97-AF65-F5344CB8AC3E}">
        <p14:creationId xmlns:p14="http://schemas.microsoft.com/office/powerpoint/2010/main" val="27559059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88</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7" name="Picture 6"/>
          <p:cNvPicPr>
            <a:picLocks noChangeAspect="1"/>
          </p:cNvPicPr>
          <p:nvPr/>
        </p:nvPicPr>
        <p:blipFill>
          <a:blip r:embed="rId2"/>
          <a:stretch>
            <a:fillRect/>
          </a:stretch>
        </p:blipFill>
        <p:spPr>
          <a:xfrm>
            <a:off x="973666" y="1011553"/>
            <a:ext cx="8343026" cy="4921572"/>
          </a:xfrm>
          <a:prstGeom prst="rect">
            <a:avLst/>
          </a:prstGeom>
        </p:spPr>
      </p:pic>
    </p:spTree>
    <p:extLst>
      <p:ext uri="{BB962C8B-B14F-4D97-AF65-F5344CB8AC3E}">
        <p14:creationId xmlns:p14="http://schemas.microsoft.com/office/powerpoint/2010/main" val="30832203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89</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779801" y="1070922"/>
            <a:ext cx="8791403" cy="5101278"/>
          </a:xfrm>
          <a:prstGeom prst="rect">
            <a:avLst/>
          </a:prstGeom>
        </p:spPr>
      </p:pic>
    </p:spTree>
    <p:extLst>
      <p:ext uri="{BB962C8B-B14F-4D97-AF65-F5344CB8AC3E}">
        <p14:creationId xmlns:p14="http://schemas.microsoft.com/office/powerpoint/2010/main" val="12456759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 ground for high linearity</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90</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210451" y="1066702"/>
            <a:ext cx="6115364" cy="3810196"/>
          </a:xfrm>
          <a:prstGeom prst="rect">
            <a:avLst/>
          </a:prstGeom>
        </p:spPr>
      </p:pic>
      <p:pic>
        <p:nvPicPr>
          <p:cNvPr id="6" name="Picture 5"/>
          <p:cNvPicPr>
            <a:picLocks noChangeAspect="1"/>
          </p:cNvPicPr>
          <p:nvPr/>
        </p:nvPicPr>
        <p:blipFill>
          <a:blip r:embed="rId3"/>
          <a:stretch>
            <a:fillRect/>
          </a:stretch>
        </p:blipFill>
        <p:spPr>
          <a:xfrm>
            <a:off x="6772150" y="1184182"/>
            <a:ext cx="4845299" cy="3626036"/>
          </a:xfrm>
          <a:prstGeom prst="rect">
            <a:avLst/>
          </a:prstGeom>
        </p:spPr>
      </p:pic>
      <p:pic>
        <p:nvPicPr>
          <p:cNvPr id="7" name="Picture 6"/>
          <p:cNvPicPr>
            <a:picLocks noChangeAspect="1"/>
          </p:cNvPicPr>
          <p:nvPr/>
        </p:nvPicPr>
        <p:blipFill>
          <a:blip r:embed="rId4"/>
          <a:stretch>
            <a:fillRect/>
          </a:stretch>
        </p:blipFill>
        <p:spPr>
          <a:xfrm>
            <a:off x="133475" y="4851297"/>
            <a:ext cx="6807550" cy="2006703"/>
          </a:xfrm>
          <a:prstGeom prst="rect">
            <a:avLst/>
          </a:prstGeom>
        </p:spPr>
      </p:pic>
    </p:spTree>
    <p:extLst>
      <p:ext uri="{BB962C8B-B14F-4D97-AF65-F5344CB8AC3E}">
        <p14:creationId xmlns:p14="http://schemas.microsoft.com/office/powerpoint/2010/main" val="33214744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ground for high linearity</a:t>
            </a:r>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91</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5" name="Picture 4"/>
          <p:cNvPicPr>
            <a:picLocks noChangeAspect="1"/>
          </p:cNvPicPr>
          <p:nvPr/>
        </p:nvPicPr>
        <p:blipFill>
          <a:blip r:embed="rId2"/>
          <a:stretch>
            <a:fillRect/>
          </a:stretch>
        </p:blipFill>
        <p:spPr>
          <a:xfrm>
            <a:off x="96154" y="941820"/>
            <a:ext cx="6039160" cy="3721291"/>
          </a:xfrm>
          <a:prstGeom prst="rect">
            <a:avLst/>
          </a:prstGeom>
        </p:spPr>
      </p:pic>
      <p:pic>
        <p:nvPicPr>
          <p:cNvPr id="6" name="Picture 5"/>
          <p:cNvPicPr>
            <a:picLocks noChangeAspect="1"/>
          </p:cNvPicPr>
          <p:nvPr/>
        </p:nvPicPr>
        <p:blipFill>
          <a:blip r:embed="rId3"/>
          <a:stretch>
            <a:fillRect/>
          </a:stretch>
        </p:blipFill>
        <p:spPr>
          <a:xfrm>
            <a:off x="968260" y="5042950"/>
            <a:ext cx="4464279" cy="311166"/>
          </a:xfrm>
          <a:prstGeom prst="rect">
            <a:avLst/>
          </a:prstGeom>
        </p:spPr>
      </p:pic>
      <p:pic>
        <p:nvPicPr>
          <p:cNvPr id="3" name="Picture 2"/>
          <p:cNvPicPr>
            <a:picLocks noChangeAspect="1"/>
          </p:cNvPicPr>
          <p:nvPr/>
        </p:nvPicPr>
        <p:blipFill>
          <a:blip r:embed="rId4"/>
          <a:stretch>
            <a:fillRect/>
          </a:stretch>
        </p:blipFill>
        <p:spPr>
          <a:xfrm>
            <a:off x="6403860" y="1054868"/>
            <a:ext cx="5569236" cy="1930499"/>
          </a:xfrm>
          <a:prstGeom prst="rect">
            <a:avLst/>
          </a:prstGeom>
        </p:spPr>
      </p:pic>
    </p:spTree>
    <p:extLst>
      <p:ext uri="{BB962C8B-B14F-4D97-AF65-F5344CB8AC3E}">
        <p14:creationId xmlns:p14="http://schemas.microsoft.com/office/powerpoint/2010/main" val="19820656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 ground for </a:t>
            </a:r>
            <a:r>
              <a:rPr lang="en-US" smtClean="0"/>
              <a:t>wider bandwidth</a:t>
            </a:r>
            <a:endParaRPr lang="en-US" dirty="0"/>
          </a:p>
        </p:txBody>
      </p:sp>
      <p:sp>
        <p:nvSpPr>
          <p:cNvPr id="4" name="Slide Number Placeholder 3"/>
          <p:cNvSpPr>
            <a:spLocks noGrp="1"/>
          </p:cNvSpPr>
          <p:nvPr>
            <p:ph type="sldNum" sz="quarter" idx="7"/>
          </p:nvPr>
        </p:nvSpPr>
        <p:spPr/>
        <p:txBody>
          <a:bodyPr/>
          <a:lstStyle/>
          <a:p>
            <a:pPr marL="7061834" marR="0" lvl="0" indent="0" algn="l" defTabSz="914400" rtl="0" eaLnBrk="1" fontAlgn="auto" latinLnBrk="0" hangingPunct="1">
              <a:lnSpc>
                <a:spcPts val="1435"/>
              </a:lnSpc>
              <a:spcBef>
                <a:spcPts val="0"/>
              </a:spcBef>
              <a:spcAft>
                <a:spcPts val="0"/>
              </a:spcAft>
              <a:buClrTx/>
              <a:buSzTx/>
              <a:buFontTx/>
              <a:buNone/>
              <a:tabLst/>
              <a:defRPr/>
            </a:pPr>
            <a:fld id="{81D60167-4931-47E6-BA6A-407CBD079E47}" type="slidenum">
              <a:rPr kumimoji="0" lang="en-US" sz="1400" b="1" i="0" u="none" strike="noStrike" kern="0" cap="none" spc="-50" normalizeH="0" baseline="0" noProof="0" smtClean="0">
                <a:ln>
                  <a:noFill/>
                </a:ln>
                <a:solidFill>
                  <a:srgbClr val="0000FF"/>
                </a:solidFill>
                <a:effectLst/>
                <a:uLnTx/>
                <a:uFillTx/>
                <a:latin typeface="Calibri"/>
                <a:ea typeface="+mn-ea"/>
                <a:cs typeface="Calibri"/>
              </a:rPr>
              <a:pPr marL="7061834" marR="0" lvl="0" indent="0" algn="l" defTabSz="914400" rtl="0" eaLnBrk="1" fontAlgn="auto" latinLnBrk="0" hangingPunct="1">
                <a:lnSpc>
                  <a:spcPts val="1435"/>
                </a:lnSpc>
                <a:spcBef>
                  <a:spcPts val="0"/>
                </a:spcBef>
                <a:spcAft>
                  <a:spcPts val="0"/>
                </a:spcAft>
                <a:buClrTx/>
                <a:buSzTx/>
                <a:buFontTx/>
                <a:buNone/>
                <a:tabLst/>
                <a:defRPr/>
              </a:pPr>
              <a:t>92</a:t>
            </a:fld>
            <a:endParaRPr kumimoji="0" lang="en-US" sz="1400" b="1" i="0" u="none" strike="noStrike" kern="0" cap="none" spc="-50" normalizeH="0" baseline="0" noProof="0" dirty="0">
              <a:ln>
                <a:noFill/>
              </a:ln>
              <a:solidFill>
                <a:srgbClr val="0000FF"/>
              </a:solidFill>
              <a:effectLst/>
              <a:uLnTx/>
              <a:uFillTx/>
              <a:latin typeface="Calibri"/>
              <a:ea typeface="+mn-ea"/>
              <a:cs typeface="Calibri"/>
            </a:endParaRPr>
          </a:p>
        </p:txBody>
      </p:sp>
      <p:pic>
        <p:nvPicPr>
          <p:cNvPr id="3" name="Picture 2"/>
          <p:cNvPicPr>
            <a:picLocks noChangeAspect="1"/>
          </p:cNvPicPr>
          <p:nvPr/>
        </p:nvPicPr>
        <p:blipFill>
          <a:blip r:embed="rId2"/>
          <a:stretch>
            <a:fillRect/>
          </a:stretch>
        </p:blipFill>
        <p:spPr>
          <a:xfrm>
            <a:off x="318365" y="1105875"/>
            <a:ext cx="10663521" cy="4575258"/>
          </a:xfrm>
          <a:prstGeom prst="rect">
            <a:avLst/>
          </a:prstGeom>
        </p:spPr>
      </p:pic>
    </p:spTree>
    <p:extLst>
      <p:ext uri="{BB962C8B-B14F-4D97-AF65-F5344CB8AC3E}">
        <p14:creationId xmlns:p14="http://schemas.microsoft.com/office/powerpoint/2010/main" val="3132230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3396</TotalTime>
  <Words>2040</Words>
  <Application>Microsoft Office PowerPoint</Application>
  <PresentationFormat>Widescreen</PresentationFormat>
  <Paragraphs>590</Paragraphs>
  <Slides>92</Slides>
  <Notes>0</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92</vt:i4>
      </vt:variant>
    </vt:vector>
  </HeadingPairs>
  <TitlesOfParts>
    <vt:vector size="106" baseType="lpstr">
      <vt:lpstr>Microsoft YaHei UI</vt:lpstr>
      <vt:lpstr>Arial</vt:lpstr>
      <vt:lpstr>Arial MT</vt:lpstr>
      <vt:lpstr>Calibri</vt:lpstr>
      <vt:lpstr>Calibri Light</vt:lpstr>
      <vt:lpstr>Cambria Math</vt:lpstr>
      <vt:lpstr>CIDFont+F5</vt:lpstr>
      <vt:lpstr>CIDFont+F7</vt:lpstr>
      <vt:lpstr>Symbol</vt:lpstr>
      <vt:lpstr>Times New Roman</vt:lpstr>
      <vt:lpstr>Verdana</vt:lpstr>
      <vt:lpstr>Wingdings</vt:lpstr>
      <vt:lpstr>Office Theme</vt:lpstr>
      <vt:lpstr>2_Office Theme</vt:lpstr>
      <vt:lpstr>PowerPoint Presentation</vt:lpstr>
      <vt:lpstr>Basic of Restive Load</vt:lpstr>
      <vt:lpstr>Basic of Capacitive Load</vt:lpstr>
      <vt:lpstr>Circuit analysis with phasors and complex impedances</vt:lpstr>
      <vt:lpstr>PowerPoint Presentation</vt:lpstr>
      <vt:lpstr>Bode Plot</vt:lpstr>
      <vt:lpstr>Circuit analysis with phasors and complex impedances</vt:lpstr>
      <vt:lpstr>Circuit analysis with phasors and complex impedances</vt:lpstr>
      <vt:lpstr>Circuit analysis with phasors and complex impedances</vt:lpstr>
      <vt:lpstr>RC low-pass filter</vt:lpstr>
      <vt:lpstr>RC low-pass filter (2)</vt:lpstr>
      <vt:lpstr>RL low-pass filter</vt:lpstr>
      <vt:lpstr>RL low-pass filter (2)</vt:lpstr>
      <vt:lpstr>low-pass filter: magnitude</vt:lpstr>
      <vt:lpstr>low-pass filter: phase</vt:lpstr>
      <vt:lpstr>Low-pass filter: magnitude</vt:lpstr>
      <vt:lpstr>log 10x   x</vt:lpstr>
      <vt:lpstr>Benefit of logarithms</vt:lpstr>
      <vt:lpstr>Semilog paper</vt:lpstr>
      <vt:lpstr>Semilog paper</vt:lpstr>
      <vt:lpstr>Bell and deciBell</vt:lpstr>
      <vt:lpstr>deciBell</vt:lpstr>
      <vt:lpstr>dB and dBV</vt:lpstr>
      <vt:lpstr>Low-pass filter</vt:lpstr>
      <vt:lpstr>Low Frequency Response</vt:lpstr>
      <vt:lpstr>Medium Frequency</vt:lpstr>
      <vt:lpstr>High Frequency</vt:lpstr>
      <vt:lpstr>Bode plot - magnitude</vt:lpstr>
      <vt:lpstr>PowerPoint Presentation</vt:lpstr>
      <vt:lpstr>PowerPoint Presentation</vt:lpstr>
      <vt:lpstr>PowerPoint Presentation</vt:lpstr>
      <vt:lpstr>Bode plot – magnitude - asymptotic</vt:lpstr>
      <vt:lpstr>Bode plot - phase</vt:lpstr>
      <vt:lpstr>PowerPoint Presentation</vt:lpstr>
      <vt:lpstr>PowerPoint Presentation</vt:lpstr>
      <vt:lpstr>Bode plot – phase - asymptotic</vt:lpstr>
      <vt:lpstr>PowerPoint Presentation</vt:lpstr>
      <vt:lpstr>PowerPoint Presentation</vt:lpstr>
      <vt:lpstr>PowerPoint Presentation</vt:lpstr>
      <vt:lpstr>Bode-plot vs. time</vt:lpstr>
      <vt:lpstr>Bode-plot vs. Time domain</vt:lpstr>
      <vt:lpstr>PowerPoint Presentation</vt:lpstr>
      <vt:lpstr>Bode-plot vs. Time domain</vt:lpstr>
      <vt:lpstr>PowerPoint Presentation</vt:lpstr>
      <vt:lpstr>PowerPoint Presentation</vt:lpstr>
      <vt:lpstr>Bode-plot vs. Time domain</vt:lpstr>
      <vt:lpstr>PowerPoint Presentation</vt:lpstr>
      <vt:lpstr>PowerPoint Presentation</vt:lpstr>
      <vt:lpstr>Common Source amplifier</vt:lpstr>
      <vt:lpstr>1st Order Small Signal Model (Active Region)</vt:lpstr>
      <vt:lpstr>Common Source Amplifier</vt:lpstr>
      <vt:lpstr>PowerPoint Presentation</vt:lpstr>
      <vt:lpstr>PowerPoint Presentation</vt:lpstr>
      <vt:lpstr>PowerPoint Presentation</vt:lpstr>
      <vt:lpstr>PowerPoint Presentation</vt:lpstr>
      <vt:lpstr>PowerPoint Presentation</vt:lpstr>
      <vt:lpstr>Transistor in Triode Region</vt:lpstr>
      <vt:lpstr>Transistor in Active region</vt:lpstr>
      <vt:lpstr>Transistor Off</vt:lpstr>
      <vt:lpstr>Intrinsic MOS Capacitor summary</vt:lpstr>
      <vt:lpstr>Common Source amplifier revisited</vt:lpstr>
      <vt:lpstr>Frequency Response</vt:lpstr>
      <vt:lpstr>PowerPoint Presentation</vt:lpstr>
      <vt:lpstr>Extrinsic Capacitance</vt:lpstr>
      <vt:lpstr>Overlap Capacitance</vt:lpstr>
      <vt:lpstr>MOS Capacitor Summary</vt:lpstr>
      <vt:lpstr>Common Source amplifier revisited</vt:lpstr>
      <vt:lpstr>Bandwidth Estimation</vt:lpstr>
      <vt:lpstr>Millar Approximation</vt:lpstr>
      <vt:lpstr>Modified Input Network</vt:lpstr>
      <vt:lpstr>Improved Bandwidth estimate</vt:lpstr>
      <vt:lpstr>Assumptions Check</vt:lpstr>
      <vt:lpstr>Effect of output Loading (1)</vt:lpstr>
      <vt:lpstr>Effect of output Loading (2)</vt:lpstr>
      <vt:lpstr>Zero Time constant Analysis</vt:lpstr>
      <vt:lpstr>Example (1)</vt:lpstr>
      <vt:lpstr>Example (2)</vt:lpstr>
      <vt:lpstr>Bandwidth estimation based on ZVCT</vt:lpstr>
      <vt:lpstr>Inclusion of CL</vt:lpstr>
      <vt:lpstr>How ZVTCs works</vt:lpstr>
      <vt:lpstr>PowerPoint Presentation</vt:lpstr>
      <vt:lpstr>PowerPoint Presentation</vt:lpstr>
      <vt:lpstr>Life without feedback</vt:lpstr>
      <vt:lpstr>Life with feedback (1)</vt:lpstr>
      <vt:lpstr>Life with feedback (2)</vt:lpstr>
      <vt:lpstr>Why better than wire</vt:lpstr>
      <vt:lpstr>From output to input</vt:lpstr>
      <vt:lpstr>PowerPoint Presentation</vt:lpstr>
      <vt:lpstr>PowerPoint Presentation</vt:lpstr>
      <vt:lpstr>Virtual ground for high linearity</vt:lpstr>
      <vt:lpstr>Virtual ground for high linearity</vt:lpstr>
      <vt:lpstr>Virtual ground for wider bandwidth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27</cp:revision>
  <dcterms:created xsi:type="dcterms:W3CDTF">2025-08-17T11:35:40Z</dcterms:created>
  <dcterms:modified xsi:type="dcterms:W3CDTF">2025-08-20T05:58:29Z</dcterms:modified>
</cp:coreProperties>
</file>