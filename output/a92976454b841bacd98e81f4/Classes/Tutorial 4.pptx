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86" r:id="rId4"/>
    <p:sldId id="287" r:id="rId5"/>
    <p:sldId id="288" r:id="rId6"/>
    <p:sldId id="276" r:id="rId7"/>
    <p:sldId id="289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57" r:id="rId29"/>
    <p:sldId id="258" r:id="rId30"/>
    <p:sldId id="259" r:id="rId31"/>
    <p:sldId id="260" r:id="rId32"/>
    <p:sldId id="261" r:id="rId33"/>
    <p:sldId id="262" r:id="rId34"/>
    <p:sldId id="26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1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7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84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1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6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1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5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0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7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A8AC9-05C7-4317-A815-9F8D81BD723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AD286-6E50-42F8-B0C4-FF4808989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6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Depletion-Load NMOS Inverter?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This </a:t>
            </a:r>
            <a:r>
              <a:rPr lang="en-US" dirty="0"/>
              <a:t>inverter uses two NMOS transistors:</a:t>
            </a:r>
          </a:p>
          <a:p>
            <a:pPr algn="just"/>
            <a:r>
              <a:rPr lang="en-US" dirty="0"/>
              <a:t>Load transistor (depletion-type NMOS): Always ON (negative threshold voltage), acts as a "pull-up."</a:t>
            </a:r>
          </a:p>
          <a:p>
            <a:pPr algn="just"/>
            <a:r>
              <a:rPr lang="en-US" dirty="0"/>
              <a:t>Driver transistor (enhancement-type NMOS): Switches ON when input is HIGH, acts as a "pull-down."</a:t>
            </a:r>
          </a:p>
          <a:p>
            <a:pPr algn="just"/>
            <a:r>
              <a:rPr lang="en-US" dirty="0"/>
              <a:t>This topology was foundational before CMOS; it’s still used for analysis and education on complementary logic design, noise margins, and sizing for power/performance tradeoffs.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04" y="0"/>
            <a:ext cx="4687433" cy="64855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787" y="1496529"/>
            <a:ext cx="5073911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9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2" y="86725"/>
            <a:ext cx="4750777" cy="64316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78" y="140078"/>
            <a:ext cx="4991357" cy="64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0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7" y="1025433"/>
            <a:ext cx="5188217" cy="3587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43" y="0"/>
            <a:ext cx="4798423" cy="66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1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0" y="1"/>
            <a:ext cx="8614361" cy="3759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606" y="3163147"/>
            <a:ext cx="3429176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14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97" y="1037671"/>
            <a:ext cx="5207268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0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2" y="248593"/>
            <a:ext cx="5649576" cy="29915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590" b="5071"/>
          <a:stretch/>
        </p:blipFill>
        <p:spPr>
          <a:xfrm>
            <a:off x="437490" y="3898861"/>
            <a:ext cx="10383536" cy="255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69" y="282522"/>
            <a:ext cx="9685633" cy="489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0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9" y="41375"/>
            <a:ext cx="7132308" cy="667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7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61" y="221083"/>
            <a:ext cx="9276496" cy="529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8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65" y="130004"/>
            <a:ext cx="7474334" cy="6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1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79" y="48500"/>
            <a:ext cx="6977788" cy="648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1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76" y="161829"/>
            <a:ext cx="11592190" cy="556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4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541565" cy="62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4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84" y="464501"/>
            <a:ext cx="10914906" cy="61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2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644" y="1980167"/>
            <a:ext cx="5283472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98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24" y="428233"/>
            <a:ext cx="6801200" cy="15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25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11" y="1541294"/>
            <a:ext cx="6369377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3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45" y="1944119"/>
            <a:ext cx="7207620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34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64" y="48960"/>
            <a:ext cx="6464632" cy="21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96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98" y="671751"/>
            <a:ext cx="7029811" cy="586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28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5314"/>
          <a:stretch/>
        </p:blipFill>
        <p:spPr>
          <a:xfrm>
            <a:off x="1809071" y="232116"/>
            <a:ext cx="4685916" cy="15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15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01" y="191653"/>
            <a:ext cx="7055213" cy="652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08" y="305370"/>
            <a:ext cx="5874052" cy="2197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94" y="3295203"/>
            <a:ext cx="5486682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39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24" y="523183"/>
            <a:ext cx="6572588" cy="520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21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94" y="583998"/>
            <a:ext cx="7849003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3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2764" y="0"/>
            <a:ext cx="118688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effectLst/>
                <a:latin typeface="fkGrotesk"/>
              </a:rPr>
              <a:t>Depletion-Load NMOS Inverter: Comprehensive Design Perspective</a:t>
            </a:r>
          </a:p>
          <a:p>
            <a:endParaRPr lang="en-US" b="0" i="0" dirty="0" smtClean="0">
              <a:effectLst/>
              <a:latin typeface="fkGrotesk"/>
            </a:endParaRPr>
          </a:p>
          <a:p>
            <a:r>
              <a:rPr lang="en-US" b="0" i="0" dirty="0" smtClean="0">
                <a:effectLst/>
                <a:latin typeface="fkGroteskNeue"/>
              </a:rPr>
              <a:t>The depletion-load NMOS inverter was a key early building block in digital VLSI before the widespread adoption of CMOS. Understanding its sizing, operation regions, and noise margin estimation is foundational for students of VLSI.</a:t>
            </a:r>
            <a:endParaRPr lang="en-US" b="0" i="0" dirty="0">
              <a:effectLst/>
              <a:latin typeface="fkGroteskNeu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434" y="1492816"/>
            <a:ext cx="7125066" cy="29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7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544" y="320225"/>
            <a:ext cx="6655142" cy="3187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392" y="3914977"/>
            <a:ext cx="5277121" cy="16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63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42" y="301258"/>
            <a:ext cx="7353678" cy="153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13" y="2588874"/>
            <a:ext cx="7067913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5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00" y="178879"/>
            <a:ext cx="6655142" cy="36196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56" y="4250523"/>
            <a:ext cx="6617040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41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39" y="302055"/>
            <a:ext cx="7055213" cy="2368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56" y="2913555"/>
            <a:ext cx="7321926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59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00" y="212710"/>
            <a:ext cx="6655142" cy="1644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3695" y="2576373"/>
            <a:ext cx="1170667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i="0" dirty="0" smtClean="0">
                <a:effectLst/>
                <a:latin typeface="fkGrotesk"/>
              </a:rPr>
              <a:t>Practical Design Insights</a:t>
            </a:r>
          </a:p>
          <a:p>
            <a:pPr algn="just"/>
            <a:endParaRPr lang="en-US" b="0" i="0" dirty="0" smtClean="0">
              <a:effectLst/>
              <a:latin typeface="fkGrotesk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(W/L) Ratio drives both speed (capacitance), noise margin, and power.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The depletion load allows for a better output swing and higher noise margins compared to resistive or enhancement-only loads.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The sizing procedure is iterative: set one parameter (e.g., VOL, power), compute current and region, solve for ratios.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Final device equations incorporate all real-world effects (quadratics, nonlinearities). The manual equation setup and solution reinforce deep understanding of MOSFET operation in logic design.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71875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7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68</Words>
  <Application>Microsoft Office PowerPoint</Application>
  <PresentationFormat>Widescreen</PresentationFormat>
  <Paragraphs>14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fkGrotesk</vt:lpstr>
      <vt:lpstr>fkGroteskNeue</vt:lpstr>
      <vt:lpstr>Office Theme</vt:lpstr>
      <vt:lpstr>PowerPoint Presentation</vt:lpstr>
      <vt:lpstr>What Is a Depletion-Load NMOS Inverter?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10</cp:revision>
  <dcterms:created xsi:type="dcterms:W3CDTF">2025-09-02T05:50:34Z</dcterms:created>
  <dcterms:modified xsi:type="dcterms:W3CDTF">2025-09-03T02:28:20Z</dcterms:modified>
</cp:coreProperties>
</file>