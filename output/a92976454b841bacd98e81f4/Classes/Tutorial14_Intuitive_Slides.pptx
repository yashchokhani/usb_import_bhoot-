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48" r:id="rId1"/>
  </p:sldMasterIdLst>
  <p:notesMasterIdLst>
    <p:notesMasterId r:id="rId25"/>
  </p:notesMasterIdLst>
  <p:sldIdLst>
    <p:sldId id="256" r:id="rId2"/>
    <p:sldId id="267" r:id="rId3"/>
    <p:sldId id="268" r:id="rId4"/>
    <p:sldId id="257" r:id="rId5"/>
    <p:sldId id="258" r:id="rId6"/>
    <p:sldId id="259" r:id="rId7"/>
    <p:sldId id="260" r:id="rId8"/>
    <p:sldId id="269" r:id="rId9"/>
    <p:sldId id="271" r:id="rId10"/>
    <p:sldId id="272" r:id="rId11"/>
    <p:sldId id="270" r:id="rId12"/>
    <p:sldId id="273" r:id="rId13"/>
    <p:sldId id="261" r:id="rId14"/>
    <p:sldId id="262" r:id="rId15"/>
    <p:sldId id="263" r:id="rId16"/>
    <p:sldId id="264" r:id="rId17"/>
    <p:sldId id="274" r:id="rId18"/>
    <p:sldId id="275" r:id="rId19"/>
    <p:sldId id="265" r:id="rId20"/>
    <p:sldId id="276" r:id="rId21"/>
    <p:sldId id="278" r:id="rId22"/>
    <p:sldId id="277" r:id="rId23"/>
    <p:sldId id="26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509" autoAdjust="0"/>
  </p:normalViewPr>
  <p:slideViewPr>
    <p:cSldViewPr snapToGrid="0" snapToObjects="1">
      <p:cViewPr varScale="1">
        <p:scale>
          <a:sx n="50" d="100"/>
          <a:sy n="50" d="100"/>
        </p:scale>
        <p:origin x="174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F1248-B225-4D5A-991F-1307F918176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1FA19-CCC6-449D-8DF0-8C1E9B317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4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session focuses on three fundamental digital design skills:</a:t>
            </a:r>
          </a:p>
          <a:p>
            <a:r>
              <a:rPr lang="en-US" dirty="0" smtClean="0"/>
              <a:t>Understanding how delays affect gate-level circuits (EX-OR example).</a:t>
            </a:r>
          </a:p>
          <a:p>
            <a:r>
              <a:rPr lang="en-US" dirty="0" smtClean="0"/>
              <a:t>Mapping Verilog code to hardware circuits and identifying standard blocks like full adders.</a:t>
            </a:r>
          </a:p>
          <a:p>
            <a:r>
              <a:rPr lang="en-US" dirty="0" smtClean="0"/>
              <a:t>Designing an adder–</a:t>
            </a:r>
            <a:r>
              <a:rPr lang="en-US" dirty="0" err="1" smtClean="0"/>
              <a:t>subtracter</a:t>
            </a:r>
            <a:r>
              <a:rPr lang="en-US" dirty="0" smtClean="0"/>
              <a:t> using conditional operators in Verilog.</a:t>
            </a:r>
          </a:p>
          <a:p>
            <a:r>
              <a:rPr lang="en-US" dirty="0" smtClean="0"/>
              <a:t>These concepts build intuition for real hardware, not just theoretical symbols.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2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 EX-OR gate outputs </a:t>
            </a:r>
            <a:r>
              <a:rPr lang="en-US" b="1" dirty="0" smtClean="0"/>
              <a:t>1 only when the inputs differ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To understand its timing behavior, we break the EX-OR into basic gates:</a:t>
            </a:r>
          </a:p>
          <a:p>
            <a:r>
              <a:rPr lang="en-US" dirty="0" smtClean="0"/>
              <a:t>Two NOT gates</a:t>
            </a:r>
          </a:p>
          <a:p>
            <a:r>
              <a:rPr lang="en-US" dirty="0" smtClean="0"/>
              <a:t>Two AND gates</a:t>
            </a:r>
          </a:p>
          <a:p>
            <a:r>
              <a:rPr lang="en-US" dirty="0" smtClean="0"/>
              <a:t>One OR gate</a:t>
            </a:r>
          </a:p>
          <a:p>
            <a:r>
              <a:rPr lang="en-US" dirty="0" smtClean="0"/>
              <a:t>Real electrical circuits </a:t>
            </a:r>
            <a:r>
              <a:rPr lang="en-US" b="1" dirty="0" smtClean="0"/>
              <a:t>never change output instantly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Every logic gate has a propagation delay → this governs when each internal signal actually updates.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83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Propagation delay is like water flow:</a:t>
            </a:r>
            <a:br>
              <a:rPr lang="en-US" dirty="0" smtClean="0"/>
            </a:br>
            <a:r>
              <a:rPr lang="en-US" dirty="0" smtClean="0"/>
              <a:t>If you turn a tap, water doesn't exit the pipe instantly.</a:t>
            </a:r>
            <a:br>
              <a:rPr lang="en-US" dirty="0" smtClean="0"/>
            </a:br>
            <a:r>
              <a:rPr lang="en-US" dirty="0" smtClean="0"/>
              <a:t>Similarly, a change at a gate’s input takes time to appear at its output.</a:t>
            </a:r>
          </a:p>
          <a:p>
            <a:r>
              <a:rPr lang="en-US" dirty="0" smtClean="0"/>
              <a:t>Gate delays:</a:t>
            </a:r>
          </a:p>
          <a:p>
            <a:r>
              <a:rPr lang="en-US" dirty="0" smtClean="0"/>
              <a:t>NOT = 4 ns</a:t>
            </a:r>
          </a:p>
          <a:p>
            <a:r>
              <a:rPr lang="en-US" dirty="0" smtClean="0"/>
              <a:t>AND = 8 ns</a:t>
            </a:r>
          </a:p>
          <a:p>
            <a:r>
              <a:rPr lang="en-US" dirty="0" smtClean="0"/>
              <a:t>OR = 10 ns</a:t>
            </a:r>
          </a:p>
          <a:p>
            <a:r>
              <a:rPr lang="en-US" dirty="0" smtClean="0"/>
              <a:t>Understanding delay helps interpret timing diagrams, glitches, and hazards in real circuits.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65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Students often assume the EX-OR output changes immediately — but here we track the signals properly:</a:t>
            </a:r>
          </a:p>
          <a:p>
            <a:r>
              <a:rPr lang="en-US" b="1" dirty="0" smtClean="0"/>
              <a:t>t = 0</a:t>
            </a:r>
            <a:r>
              <a:rPr lang="en-US" dirty="0" smtClean="0"/>
              <a:t>: Input is x=1, y=1</a:t>
            </a:r>
          </a:p>
          <a:p>
            <a:r>
              <a:rPr lang="en-US" b="1" dirty="0" smtClean="0"/>
              <a:t>t = 4 ns</a:t>
            </a:r>
            <a:r>
              <a:rPr lang="en-US" dirty="0" smtClean="0"/>
              <a:t>: NOT gates respond → </a:t>
            </a:r>
            <a:r>
              <a:rPr lang="en-US" dirty="0" err="1" smtClean="0"/>
              <a:t>xnot</a:t>
            </a:r>
            <a:r>
              <a:rPr lang="en-US" dirty="0" smtClean="0"/>
              <a:t>=0, </a:t>
            </a:r>
            <a:r>
              <a:rPr lang="en-US" dirty="0" err="1" smtClean="0"/>
              <a:t>ynot</a:t>
            </a:r>
            <a:r>
              <a:rPr lang="en-US" dirty="0" smtClean="0"/>
              <a:t>=0</a:t>
            </a:r>
          </a:p>
          <a:p>
            <a:r>
              <a:rPr lang="en-US" b="1" dirty="0" smtClean="0"/>
              <a:t>t = 12 ns</a:t>
            </a:r>
            <a:r>
              <a:rPr lang="en-US" dirty="0" smtClean="0"/>
              <a:t>: AND gates use updated NOT values → both AND outputs become 0</a:t>
            </a:r>
          </a:p>
          <a:p>
            <a:r>
              <a:rPr lang="en-US" b="1" dirty="0" smtClean="0"/>
              <a:t>t = 22 ns</a:t>
            </a:r>
            <a:r>
              <a:rPr lang="en-US" dirty="0" smtClean="0"/>
              <a:t>: OR gate combines AND outputs → final output = 0</a:t>
            </a:r>
          </a:p>
          <a:p>
            <a:r>
              <a:rPr lang="en-US" dirty="0" smtClean="0"/>
              <a:t>This step-by-step tracing is how timing analysis is done in digital design.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77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Structural Verilog allows us to </a:t>
            </a:r>
            <a:r>
              <a:rPr lang="en-US" b="1" dirty="0" smtClean="0"/>
              <a:t>instantiate actual gates</a:t>
            </a:r>
            <a:r>
              <a:rPr lang="en-US" dirty="0" smtClean="0"/>
              <a:t> and assign delays.</a:t>
            </a:r>
            <a:br>
              <a:rPr lang="en-US" dirty="0" smtClean="0"/>
            </a:br>
            <a:r>
              <a:rPr lang="en-US" dirty="0" smtClean="0"/>
              <a:t>Example:</a:t>
            </a:r>
            <a:br>
              <a:rPr lang="en-US" dirty="0" smtClean="0"/>
            </a:br>
            <a:r>
              <a:rPr lang="en-US" dirty="0" smtClean="0"/>
              <a:t>not #4 n1(</a:t>
            </a:r>
            <a:r>
              <a:rPr lang="en-US" dirty="0" err="1" smtClean="0"/>
              <a:t>xnot</a:t>
            </a:r>
            <a:r>
              <a:rPr lang="en-US" dirty="0" smtClean="0"/>
              <a:t>, x); means a NOT gate with a 4 ns propagation delay.</a:t>
            </a:r>
          </a:p>
          <a:p>
            <a:r>
              <a:rPr lang="en-US" dirty="0" smtClean="0"/>
              <a:t>This models the </a:t>
            </a:r>
            <a:r>
              <a:rPr lang="en-US" i="1" dirty="0" smtClean="0"/>
              <a:t>real hardware response</a:t>
            </a:r>
            <a:r>
              <a:rPr lang="en-US" dirty="0" smtClean="0"/>
              <a:t>, not just ideal logic.</a:t>
            </a:r>
            <a:br>
              <a:rPr lang="en-US" dirty="0" smtClean="0"/>
            </a:br>
            <a:r>
              <a:rPr lang="en-US" dirty="0" smtClean="0"/>
              <a:t>Students should learn structural modeling before relying on behavioral descriptions.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80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Important skill:</a:t>
            </a:r>
            <a:br>
              <a:rPr lang="en-US" dirty="0" smtClean="0"/>
            </a:br>
            <a:r>
              <a:rPr lang="en-US" dirty="0" smtClean="0"/>
              <a:t>Given Verilog code → Draw its hardware circuit → Identify what block it represents.</a:t>
            </a:r>
          </a:p>
          <a:p>
            <a:r>
              <a:rPr lang="en-US" dirty="0" smtClean="0"/>
              <a:t>Every hardware designer must be able to translate between:</a:t>
            </a:r>
          </a:p>
          <a:p>
            <a:r>
              <a:rPr lang="en-US" dirty="0" smtClean="0"/>
              <a:t>Code</a:t>
            </a:r>
          </a:p>
          <a:p>
            <a:r>
              <a:rPr lang="en-US" dirty="0" smtClean="0"/>
              <a:t>Gates</a:t>
            </a:r>
          </a:p>
          <a:p>
            <a:r>
              <a:rPr lang="en-US" dirty="0" smtClean="0"/>
              <a:t>Standard templates (adders, </a:t>
            </a:r>
            <a:r>
              <a:rPr lang="en-US" dirty="0" err="1" smtClean="0"/>
              <a:t>subtractors</a:t>
            </a:r>
            <a:r>
              <a:rPr lang="en-US" dirty="0" smtClean="0"/>
              <a:t>, decoders, </a:t>
            </a:r>
            <a:r>
              <a:rPr lang="en-US" dirty="0" err="1" smtClean="0"/>
              <a:t>muxes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This problem teaches pattern recognition in digital logic.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18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Many circuits repeat standard forms. For example:</a:t>
            </a:r>
          </a:p>
          <a:p>
            <a:r>
              <a:rPr lang="en-US" dirty="0" smtClean="0"/>
              <a:t>EX-OR patterns → addition or comparison</a:t>
            </a:r>
          </a:p>
          <a:p>
            <a:r>
              <a:rPr lang="en-US" dirty="0" smtClean="0"/>
              <a:t>sum = A ⊕ B ⊕ </a:t>
            </a:r>
            <a:r>
              <a:rPr lang="en-US" dirty="0" err="1" smtClean="0"/>
              <a:t>Cin</a:t>
            </a:r>
            <a:r>
              <a:rPr lang="en-US" dirty="0" smtClean="0"/>
              <a:t> → Full Adder</a:t>
            </a:r>
          </a:p>
          <a:p>
            <a:r>
              <a:rPr lang="en-US" dirty="0" smtClean="0"/>
              <a:t>carry = AB + </a:t>
            </a:r>
            <a:r>
              <a:rPr lang="en-US" dirty="0" err="1" smtClean="0"/>
              <a:t>Cin</a:t>
            </a:r>
            <a:r>
              <a:rPr lang="en-US" dirty="0" smtClean="0"/>
              <a:t>(A ⊕ B) → Full Adder carry</a:t>
            </a:r>
          </a:p>
          <a:p>
            <a:r>
              <a:rPr lang="en-US" dirty="0" smtClean="0"/>
              <a:t>If B is modified using XOR with a select signal, it's usually an adder/</a:t>
            </a:r>
            <a:r>
              <a:rPr lang="en-US" dirty="0" err="1" smtClean="0"/>
              <a:t>subtractor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Students should learn to detect these patterns instantly.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00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Circuit0 implements:</a:t>
            </a:r>
          </a:p>
          <a:p>
            <a:r>
              <a:rPr lang="en-US" dirty="0" smtClean="0"/>
              <a:t>Sum = A ⊕ B ⊕ </a:t>
            </a:r>
            <a:r>
              <a:rPr lang="en-US" dirty="0" err="1" smtClean="0"/>
              <a:t>Cin</a:t>
            </a:r>
            <a:endParaRPr lang="en-US" dirty="0" smtClean="0"/>
          </a:p>
          <a:p>
            <a:r>
              <a:rPr lang="en-US" dirty="0" smtClean="0"/>
              <a:t>Carry = AB + </a:t>
            </a:r>
            <a:r>
              <a:rPr lang="en-US" dirty="0" err="1" smtClean="0"/>
              <a:t>Cin</a:t>
            </a:r>
            <a:r>
              <a:rPr lang="en-US" dirty="0" smtClean="0"/>
              <a:t>(A ⊕ B)</a:t>
            </a:r>
          </a:p>
          <a:p>
            <a:r>
              <a:rPr lang="en-US" dirty="0" smtClean="0"/>
              <a:t>This matches exactly the logic of a </a:t>
            </a:r>
            <a:r>
              <a:rPr lang="en-US" b="1" dirty="0" smtClean="0"/>
              <a:t>full adder</a:t>
            </a:r>
            <a:r>
              <a:rPr lang="en-US" dirty="0" smtClean="0"/>
              <a:t>, a fundamental arithmetic building block used in ALUs, microprocessors, and counters.</a:t>
            </a:r>
          </a:p>
          <a:p>
            <a:r>
              <a:rPr lang="en-US" dirty="0" smtClean="0"/>
              <a:t>Full adders chain together to form multi-bit ripple adders.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35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Key digital trick:</a:t>
            </a:r>
            <a:br>
              <a:rPr lang="en-US" dirty="0" smtClean="0"/>
            </a:br>
            <a:r>
              <a:rPr lang="en-US" b="1" dirty="0" smtClean="0"/>
              <a:t>A − B = A + (~B + 1)</a:t>
            </a:r>
            <a:endParaRPr lang="en-US" dirty="0" smtClean="0"/>
          </a:p>
          <a:p>
            <a:r>
              <a:rPr lang="en-US" dirty="0" smtClean="0"/>
              <a:t>Verilog commonly does this by:</a:t>
            </a:r>
          </a:p>
          <a:p>
            <a:r>
              <a:rPr lang="en-US" dirty="0" smtClean="0"/>
              <a:t>Computing </a:t>
            </a:r>
            <a:r>
              <a:rPr lang="en-US" dirty="0" err="1" smtClean="0"/>
              <a:t>B⊕sel</a:t>
            </a:r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 err="1" smtClean="0"/>
              <a:t>sel</a:t>
            </a:r>
            <a:r>
              <a:rPr lang="en-US" dirty="0" smtClean="0"/>
              <a:t> as the carry-in</a:t>
            </a:r>
          </a:p>
          <a:p>
            <a:r>
              <a:rPr lang="en-US" dirty="0" smtClean="0"/>
              <a:t>If </a:t>
            </a:r>
            <a:r>
              <a:rPr lang="en-US" dirty="0" err="1" smtClean="0"/>
              <a:t>sel</a:t>
            </a:r>
            <a:r>
              <a:rPr lang="en-US" dirty="0" smtClean="0"/>
              <a:t> = 0 →</a:t>
            </a:r>
          </a:p>
          <a:p>
            <a:r>
              <a:rPr lang="en-US" dirty="0" smtClean="0"/>
              <a:t>B⊕0 = B</a:t>
            </a:r>
          </a:p>
          <a:p>
            <a:r>
              <a:rPr lang="en-US" dirty="0" err="1" smtClean="0"/>
              <a:t>Cin</a:t>
            </a:r>
            <a:r>
              <a:rPr lang="en-US" dirty="0" smtClean="0"/>
              <a:t> = 0</a:t>
            </a:r>
            <a:br>
              <a:rPr lang="en-US" dirty="0" smtClean="0"/>
            </a:br>
            <a:r>
              <a:rPr lang="en-US" dirty="0" smtClean="0"/>
              <a:t>→ Performs A + B</a:t>
            </a:r>
          </a:p>
          <a:p>
            <a:r>
              <a:rPr lang="en-US" dirty="0" smtClean="0"/>
              <a:t>If </a:t>
            </a:r>
            <a:r>
              <a:rPr lang="en-US" dirty="0" err="1" smtClean="0"/>
              <a:t>sel</a:t>
            </a:r>
            <a:r>
              <a:rPr lang="en-US" dirty="0" smtClean="0"/>
              <a:t> = 1 →</a:t>
            </a:r>
          </a:p>
          <a:p>
            <a:r>
              <a:rPr lang="en-US" dirty="0" smtClean="0"/>
              <a:t>B⊕1 = ~B</a:t>
            </a:r>
          </a:p>
          <a:p>
            <a:r>
              <a:rPr lang="en-US" dirty="0" err="1" smtClean="0"/>
              <a:t>Cin</a:t>
            </a:r>
            <a:r>
              <a:rPr lang="en-US" dirty="0" smtClean="0"/>
              <a:t> = 1</a:t>
            </a:r>
            <a:br>
              <a:rPr lang="en-US" dirty="0" smtClean="0"/>
            </a:br>
            <a:r>
              <a:rPr lang="en-US" dirty="0" smtClean="0"/>
              <a:t>→ Performs A + (~B + 1) = A − B</a:t>
            </a:r>
          </a:p>
          <a:p>
            <a:r>
              <a:rPr lang="en-US" dirty="0" smtClean="0"/>
              <a:t>Thus with a single bit select input, the circuit can switch between addition and subtraction.</a:t>
            </a:r>
          </a:p>
          <a:p>
            <a:r>
              <a:rPr lang="en-US" dirty="0" smtClean="0"/>
              <a:t>This is one of the MOST important ideas in arithmetic circuits.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3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otes</a:t>
            </a:r>
            <a:r>
              <a:rPr lang="en-US" b="1" dirty="0" smtClean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conditional operator allows compact code:</a:t>
            </a:r>
            <a:br>
              <a:rPr lang="en-US" dirty="0" smtClean="0"/>
            </a:br>
            <a:r>
              <a:rPr lang="en-US" dirty="0" err="1" smtClean="0"/>
              <a:t>sel</a:t>
            </a:r>
            <a:r>
              <a:rPr lang="en-US" dirty="0" smtClean="0"/>
              <a:t> ? A+B : A-B</a:t>
            </a:r>
          </a:p>
          <a:p>
            <a:r>
              <a:rPr lang="en-US" dirty="0" smtClean="0"/>
              <a:t>This does not show gate-level implementation, but it is useful for higher-level behavioral design.</a:t>
            </a:r>
          </a:p>
          <a:p>
            <a:r>
              <a:rPr lang="en-US" dirty="0" smtClean="0"/>
              <a:t>Hardware mapping still follows the same logic as circuit1.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38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Notes:</a:t>
            </a:r>
            <a:endParaRPr lang="en-US" dirty="0" smtClean="0"/>
          </a:p>
          <a:p>
            <a:r>
              <a:rPr lang="en-US" dirty="0" smtClean="0"/>
              <a:t>Timing analysis helps understand real circuit behavior.</a:t>
            </a:r>
          </a:p>
          <a:p>
            <a:r>
              <a:rPr lang="en-US" dirty="0" smtClean="0"/>
              <a:t>Structural Verilog → maps exactly to physical gate networks.</a:t>
            </a:r>
          </a:p>
          <a:p>
            <a:r>
              <a:rPr lang="en-US" dirty="0" smtClean="0"/>
              <a:t>Add/Sub trick using XOR and </a:t>
            </a:r>
            <a:r>
              <a:rPr lang="en-US" dirty="0" err="1" smtClean="0"/>
              <a:t>Cin</a:t>
            </a:r>
            <a:r>
              <a:rPr lang="en-US" dirty="0" smtClean="0"/>
              <a:t> is a universal digital design technique.</a:t>
            </a:r>
          </a:p>
          <a:p>
            <a:r>
              <a:rPr lang="en-US" dirty="0" smtClean="0"/>
              <a:t>Conditional operator simplifies behavioral coding.</a:t>
            </a:r>
          </a:p>
          <a:p>
            <a:r>
              <a:rPr lang="en-US" dirty="0" smtClean="0"/>
              <a:t>These skills help students bridge the gap between theory and real hardware implementation.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01FA19-CCC6-449D-8DF0-8C1E9B31700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1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14 – Digital Design</a:t>
            </a:r>
          </a:p>
          <a:p>
            <a:r>
              <a:t>Intuitive Explanations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EX-OR timing • Verilog to Circuit • 4‑bit Adder/Subtractor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81" y="857250"/>
            <a:ext cx="8092611" cy="272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6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7158" y="228600"/>
            <a:ext cx="8438242" cy="6609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675"/>
              </a:spcBef>
              <a:spcAft>
                <a:spcPts val="675"/>
              </a:spcAft>
            </a:pP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Propagation delay is the time required for a signal to travel through a logic gate. When we cascade multiple gates (connect output of one to input of another), these delays accumulate. Understanding this is crucial because:</a:t>
            </a:r>
          </a:p>
          <a:p>
            <a:pPr marL="257175" lvl="0" indent="-257175">
              <a:spcBef>
                <a:spcPts val="135"/>
              </a:spcBef>
              <a:spcAft>
                <a:spcPts val="135"/>
              </a:spcAft>
              <a:buFont typeface="Symbol" panose="05050102010706020507" pitchFamily="18" charset="2"/>
              <a:buChar char=""/>
            </a:pPr>
            <a:r>
              <a:rPr lang="en-US" sz="2000" b="1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Each gate adds its own delay</a:t>
            </a: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to the signal path</a:t>
            </a:r>
          </a:p>
          <a:p>
            <a:pPr marL="257175" lvl="0" indent="-257175">
              <a:spcBef>
                <a:spcPts val="135"/>
              </a:spcBef>
              <a:spcAft>
                <a:spcPts val="135"/>
              </a:spcAft>
              <a:buFont typeface="Symbol" panose="05050102010706020507" pitchFamily="18" charset="2"/>
              <a:buChar char=""/>
            </a:pPr>
            <a:r>
              <a:rPr lang="en-US" sz="2000" b="1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Signals ripple through the circuit</a:t>
            </a: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, creating different states at different times</a:t>
            </a:r>
          </a:p>
          <a:p>
            <a:pPr marL="257175" lvl="0" indent="-257175">
              <a:spcBef>
                <a:spcPts val="135"/>
              </a:spcBef>
              <a:spcAft>
                <a:spcPts val="135"/>
              </a:spcAft>
              <a:buFont typeface="Symbol" panose="05050102010706020507" pitchFamily="18" charset="2"/>
              <a:buChar char=""/>
            </a:pPr>
            <a:r>
              <a:rPr lang="en-US" sz="2000" b="1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Final output only reflects the true logic function after all delays accumulate</a:t>
            </a:r>
            <a:endParaRPr lang="en-US" sz="20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Symbol" panose="05050102010706020507" pitchFamily="18" charset="2"/>
            </a:endParaRPr>
          </a:p>
          <a:p>
            <a:pPr lvl="0">
              <a:spcBef>
                <a:spcPts val="675"/>
              </a:spcBef>
              <a:spcAft>
                <a:spcPts val="675"/>
              </a:spcAft>
            </a:pP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The circuit is an XOR (Exclusive OR) gate, which outputs 1 when inputs differ and 0 when they’re the same.</a:t>
            </a:r>
          </a:p>
          <a:p>
            <a:pPr lvl="0">
              <a:spcBef>
                <a:spcPts val="300"/>
              </a:spcBef>
              <a:spcAft>
                <a:spcPts val="150"/>
              </a:spcAft>
            </a:pPr>
            <a:r>
              <a:rPr lang="en-US" sz="2000" b="1" i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Circuit Structure</a:t>
            </a:r>
          </a:p>
          <a:p>
            <a:pPr lvl="0">
              <a:spcBef>
                <a:spcPts val="675"/>
              </a:spcBef>
              <a:spcAft>
                <a:spcPts val="675"/>
              </a:spcAft>
            </a:pP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The XOR gate consists of: - Two NOT gates (inverters): delay = 4 ns each - Two AND gates: delay = 8 ns each</a:t>
            </a:r>
            <a:b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- One OR gate: delay = 10 ns</a:t>
            </a:r>
          </a:p>
          <a:p>
            <a:pPr lvl="0">
              <a:spcBef>
                <a:spcPts val="675"/>
              </a:spcBef>
              <a:spcAft>
                <a:spcPts val="675"/>
              </a:spcAft>
            </a:pP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The logic function is: </a:t>
            </a:r>
            <a:r>
              <a:rPr lang="en-US" sz="2000" b="1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OUT = (X · Y’) + (Y · X’)</a:t>
            </a: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where prime (’) means NOT.</a:t>
            </a:r>
          </a:p>
          <a:p>
            <a:pPr lvl="0">
              <a:spcBef>
                <a:spcPts val="300"/>
              </a:spcBef>
              <a:spcAft>
                <a:spcPts val="150"/>
              </a:spcAft>
            </a:pPr>
            <a:r>
              <a:rPr lang="en-US" sz="2000" b="1" i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Input Condition</a:t>
            </a:r>
          </a:p>
          <a:p>
            <a:pPr lvl="0">
              <a:spcBef>
                <a:spcPts val="675"/>
              </a:spcBef>
              <a:spcAft>
                <a:spcPts val="675"/>
              </a:spcAft>
            </a:pP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The input transitions from </a:t>
            </a:r>
            <a:r>
              <a:rPr lang="en-US" sz="2000" b="1" dirty="0" err="1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000" b="1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= 00 to </a:t>
            </a:r>
            <a:r>
              <a:rPr lang="en-US" sz="2000" b="1" dirty="0" err="1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sz="2000" b="1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= 01</a:t>
            </a: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(x goes from 0 to 1, y stays 0).</a:t>
            </a:r>
          </a:p>
          <a:p>
            <a:pPr lvl="0">
              <a:spcBef>
                <a:spcPts val="675"/>
              </a:spcBef>
              <a:spcAft>
                <a:spcPts val="675"/>
              </a:spcAft>
            </a:pPr>
            <a:r>
              <a:rPr lang="en-US" sz="2000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Wait, there’s an important clarification in the provided solution: Initially x=1, y=1 at t=0 (not 00). The change happens at t=0, so we track from there.</a:t>
            </a:r>
          </a:p>
          <a:p>
            <a:pPr marL="342900" lvl="0" indent="-342900">
              <a:spcBef>
                <a:spcPct val="20000"/>
              </a:spcBef>
              <a:buFont typeface="Arial"/>
              <a:buChar char="•"/>
            </a:pPr>
            <a:endParaRPr lang="en-US" sz="5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95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Q1: Understanding the EX‑OR Gate (Basics)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EX‑OR = outputs 1 only when inputs differ (0,1 or 1,0)</a:t>
            </a:r>
          </a:p>
          <a:p>
            <a:r>
              <a:t>Implemented using: two NOT gates, two AND gates, one OR gate</a:t>
            </a:r>
          </a:p>
          <a:p>
            <a:r>
              <a:t>Each gate has delay → output does not change instantly</a:t>
            </a:r>
          </a:p>
          <a:p>
            <a:r>
              <a:t>Goal: Track how signals propagate from t=0 → 50 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Q1: Why Propagation Delay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A gate takes time to react to input changes</a:t>
            </a:r>
          </a:p>
          <a:p>
            <a:r>
              <a:t>Think of delay like water flowing through pipes — change at input takes time to reach output</a:t>
            </a:r>
          </a:p>
          <a:p>
            <a:r>
              <a:t>NOT gate: 4 ns delay</a:t>
            </a:r>
          </a:p>
          <a:p>
            <a:r>
              <a:t>AND gate: 8 ns</a:t>
            </a:r>
          </a:p>
          <a:p>
            <a:r>
              <a:t>OR gate: 10 ns</a:t>
            </a:r>
          </a:p>
          <a:p>
            <a:r>
              <a:t>Total path delay = sum of delays along the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Step‑by‑Step Signal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t=0: initial x=1, y=1 (from file)</a:t>
            </a:r>
          </a:p>
          <a:p>
            <a:r>
              <a:t>t=4 ns: NOT gates update → xnot=0, ynot=0</a:t>
            </a:r>
          </a:p>
          <a:p>
            <a:r>
              <a:t>t=12 ns: AND gates update based on new NOT outputs</a:t>
            </a:r>
          </a:p>
          <a:p>
            <a:r>
              <a:t>t=22 ns: OR gate produces final EX‑OR output</a:t>
            </a:r>
          </a:p>
          <a:p>
            <a:r>
              <a:t>Waveform shows how each internal node changes at its own delayed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Structural Verilog (with Delays)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Each gate is instantiated with a delay (#number)</a:t>
            </a:r>
          </a:p>
          <a:p>
            <a:r>
              <a:t>Example: not #4 n1(xnot, x); → NOT gate with 4 ns delay</a:t>
            </a:r>
          </a:p>
          <a:p>
            <a:r>
              <a:t>This models real hardware timing</a:t>
            </a:r>
          </a:p>
          <a:p>
            <a:r>
              <a:t>The OR gate combines the AND outputs with 10 ns delay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456173"/>
              </p:ext>
            </p:extLst>
          </p:nvPr>
        </p:nvGraphicFramePr>
        <p:xfrm>
          <a:off x="457200" y="1562100"/>
          <a:ext cx="7886699" cy="4953000"/>
        </p:xfrm>
        <a:graphic>
          <a:graphicData uri="http://schemas.openxmlformats.org/drawingml/2006/table">
            <a:tbl>
              <a:tblPr firstRow="1" bandRow="1" bandCol="1"/>
              <a:tblGrid>
                <a:gridCol w="2222500">
                  <a:extLst>
                    <a:ext uri="{9D8B030D-6E8A-4147-A177-3AD203B41FA5}">
                      <a16:colId xmlns:a16="http://schemas.microsoft.com/office/drawing/2014/main" val="2415906733"/>
                    </a:ext>
                  </a:extLst>
                </a:gridCol>
                <a:gridCol w="2672452">
                  <a:extLst>
                    <a:ext uri="{9D8B030D-6E8A-4147-A177-3AD203B41FA5}">
                      <a16:colId xmlns:a16="http://schemas.microsoft.com/office/drawing/2014/main" val="427207703"/>
                    </a:ext>
                  </a:extLst>
                </a:gridCol>
                <a:gridCol w="2991747">
                  <a:extLst>
                    <a:ext uri="{9D8B030D-6E8A-4147-A177-3AD203B41FA5}">
                      <a16:colId xmlns:a16="http://schemas.microsoft.com/office/drawing/2014/main" val="860048742"/>
                    </a:ext>
                  </a:extLst>
                </a:gridCol>
              </a:tblGrid>
              <a:tr h="12569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(ns)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Event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Intuition</a:t>
                      </a:r>
                    </a:p>
                  </a:txBody>
                  <a:tcPr marL="51435" marR="5143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37761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= 0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Input changes: x=0→1, y=1→1 (or x=1, y=1 as per solution)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Inputs stabilize at new value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18344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= 0 to t = 4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NOT gates are processing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Inverters need 4 ns to respond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6082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= 4</a:t>
                      </a:r>
                      <a:endParaRPr lang="en-US" sz="20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 err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xnot</a:t>
                      </a:r>
                      <a:r>
                        <a:rPr lang="en-US" sz="20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0, </a:t>
                      </a:r>
                      <a:r>
                        <a:rPr lang="en-US" sz="2000" b="1" dirty="0" err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ynot</a:t>
                      </a:r>
                      <a:r>
                        <a:rPr lang="en-US" sz="20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0</a:t>
                      </a:r>
                      <a:endParaRPr lang="en-US" sz="20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Inverted signals become available after 4 ns delay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5853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= 4 to t = 12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gates are processing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gates need 8 ns from their inputs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34639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= 12</a:t>
                      </a:r>
                      <a:endParaRPr lang="en-US" sz="20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= (x · </a:t>
                      </a:r>
                      <a:r>
                        <a:rPr lang="en-US" sz="2000" b="1" dirty="0" err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ynot</a:t>
                      </a:r>
                      <a:r>
                        <a:rPr lang="en-US" sz="20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= 1 · 0 = 0</a:t>
                      </a:r>
                      <a:endParaRPr lang="en-US" sz="20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First AND output: x=1, ynot=0 → 0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5754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 = (y · xnot) = 1 · 0 = 0</a:t>
                      </a:r>
                      <a:endParaRPr lang="en-US" sz="20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Second AND output: y=1, </a:t>
                      </a:r>
                      <a:r>
                        <a:rPr lang="en-US" sz="2000" dirty="0" err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xnot</a:t>
                      </a: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=0 → 0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27844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= 12 to t = 22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 gate is processing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 gate needs 10 ns from AND inputs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13693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= 22</a:t>
                      </a:r>
                      <a:endParaRPr lang="en-US" sz="20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 = (a OR b) = 0 OR 0 = 0</a:t>
                      </a:r>
                      <a:endParaRPr lang="en-US" sz="20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Final output: 0 (both AND outputs are 0)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9865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 = 22 to t = 50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Output stable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20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more changes, output remains 0</a:t>
                      </a:r>
                    </a:p>
                  </a:txBody>
                  <a:tcPr marL="51435" marR="5143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710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61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atinLnBrk="1">
              <a:spcBef>
                <a:spcPts val="0"/>
              </a:spcBef>
              <a:spcAft>
                <a:spcPts val="750"/>
              </a:spcAf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 | x | y |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xnot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ynot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a (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x·ynot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| b (</a:t>
            </a:r>
            <a:r>
              <a:rPr lang="en-US" dirty="0" err="1" smtClean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y·xnot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| 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------|---|---|------|------|------------|------------|-----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    | 1 | 1 |  X   |  X   |     X      |     X      |  X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1-3   | 1 | 1 |  X   |  X   |     X      |     X      |  X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    | 1 | 1 |  0   |  0   |     X      |     X      |  X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5-11  | 1 | 1 |  0   |  0   |     X      |     X      |  X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    | 1 | 1 |  0   |  0   |     0      |     0      |  X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13-21 | 1 | 1 |  0   |  0   |     0      |     0      |  X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    | 1 | 1 |  0   |  0   |     0      |     0      |  0</a:t>
            </a:r>
            <a:b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23-50 | 1 | 1 |  0   |  0   |     0      |     0      |  0</a:t>
            </a:r>
          </a:p>
          <a:p>
            <a:pPr marL="0">
              <a:spcBef>
                <a:spcPts val="675"/>
              </a:spcBef>
              <a:spcAft>
                <a:spcPts val="675"/>
              </a:spcAft>
            </a:pPr>
            <a:r>
              <a:rPr lang="en-US" sz="240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Where X means: signal not yet determined/undefined</a:t>
            </a:r>
            <a:endParaRPr lang="en-US" sz="2400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143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972" y="2180981"/>
            <a:ext cx="7389944" cy="243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31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550333"/>
            <a:ext cx="7886700" cy="4926940"/>
          </a:xfrm>
        </p:spPr>
        <p:txBody>
          <a:bodyPr>
            <a:normAutofit fontScale="25000" lnSpcReduction="20000"/>
          </a:bodyPr>
          <a:lstStyle/>
          <a:p>
            <a:pPr marL="0" latinLnBrk="1">
              <a:spcBef>
                <a:spcPts val="0"/>
              </a:spcBef>
              <a:spcAft>
                <a:spcPts val="750"/>
              </a:spcAft>
            </a:pPr>
            <a:r>
              <a:rPr lang="en-US" sz="4800" b="1" dirty="0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xor_gate_structural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out</a:t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Internal wires to connect gates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These represent the metal wires in physical circuit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xnot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ynot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Outputs of inverters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Outputs of AND gates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NOT gate instantiation: inverts x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#4 specifies 4 ns propagation delay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n1 is the instance name (unique identifier for this gate)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#4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n1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xnot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NOT gate instantiation: inverts y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#4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n2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ynot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AND gate instantiation: a = x AND (NOT y)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#8 specifies 8 ns propagation delay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Inputs: x, </a:t>
            </a:r>
            <a:r>
              <a:rPr lang="en-US" sz="4800" i="1" dirty="0" err="1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ynot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Output: a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#8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a1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ynot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AND gate instantiation: b = y AND (NOT x)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Inputs: y, </a:t>
            </a:r>
            <a:r>
              <a:rPr lang="en-US" sz="4800" i="1" dirty="0" err="1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xnot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 Output: b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#8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a2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xnot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OR gate instantiation: out = a OR b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#10 specifies 10 ns propagation delay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This is the final stage combining both AND outputs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48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#10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o1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4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err="1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US" sz="4000" dirty="0"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68999" y="608891"/>
            <a:ext cx="3175001" cy="3957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50"/>
              </a:spcAft>
            </a:pPr>
            <a:r>
              <a:rPr lang="en-US" sz="1350" b="1" i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Code Explanation</a:t>
            </a:r>
          </a:p>
          <a:p>
            <a:pPr>
              <a:spcBef>
                <a:spcPts val="675"/>
              </a:spcBef>
              <a:spcAft>
                <a:spcPts val="675"/>
              </a:spcAft>
            </a:pPr>
            <a:r>
              <a:rPr lang="en-US" sz="135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Module Declaration: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12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xor_gate_structural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Module name -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 x, y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Two 1-bit inputs -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 out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One 1-bit output</a:t>
            </a:r>
          </a:p>
          <a:p>
            <a:pPr>
              <a:spcBef>
                <a:spcPts val="675"/>
              </a:spcBef>
              <a:spcAft>
                <a:spcPts val="675"/>
              </a:spcAft>
            </a:pPr>
            <a:r>
              <a:rPr lang="en-US" sz="135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Wire Declaration: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 </a:t>
            </a:r>
            <a:r>
              <a:rPr lang="en-US" sz="12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xnot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ynot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Internal signals (inverted inputs) -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wire a, b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Internal signals (AND gate outputs)</a:t>
            </a:r>
          </a:p>
          <a:p>
            <a:pPr>
              <a:spcBef>
                <a:spcPts val="675"/>
              </a:spcBef>
              <a:spcAft>
                <a:spcPts val="675"/>
              </a:spcAft>
            </a:pPr>
            <a:r>
              <a:rPr lang="en-US" sz="135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Gate Instantiations: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Format: </a:t>
            </a:r>
            <a:r>
              <a:rPr lang="en-US" sz="12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gate_type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#(delay) </a:t>
            </a:r>
            <a:r>
              <a:rPr lang="en-US" sz="12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instance_name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(output, inputs...);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#4 n1(</a:t>
            </a:r>
            <a:r>
              <a:rPr lang="en-US" sz="12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xnot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x)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NOT gate with 4ns delay, input=x, output=</a:t>
            </a:r>
            <a:r>
              <a:rPr lang="en-US" sz="1350" dirty="0" err="1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xnot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Similar pattern for all other gates</a:t>
            </a:r>
          </a:p>
          <a:p>
            <a:r>
              <a:rPr lang="en-US" sz="135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Delay Specification: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#4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#8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#10</a:t>
            </a:r>
            <a:r>
              <a:rPr lang="en-US" sz="135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Propagation delays in nanoseconds - These model real-world gate delays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11799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227" y="764920"/>
            <a:ext cx="7677545" cy="41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530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Q2: From Verilog to Circuit (Fundamental 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Verilog describes hardware behavior → can be mapped to physical gates</a:t>
            </a:r>
          </a:p>
          <a:p>
            <a:r>
              <a:t>We analyze each always block / assign statement</a:t>
            </a:r>
          </a:p>
          <a:p>
            <a:r>
              <a:t>Goal: Draw equivalent logic circuit</a:t>
            </a:r>
          </a:p>
          <a:p>
            <a:r>
              <a:t>Also identify what standard digital block it represents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Q2: Intuition — Recognizing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Digital circuits follow common templates:</a:t>
            </a:r>
          </a:p>
          <a:p>
            <a:pPr marL="0" indent="0">
              <a:buNone/>
            </a:pPr>
            <a:r>
              <a:rPr dirty="0"/>
              <a:t>• A ⊕ B implemented using XOR expression</a:t>
            </a:r>
          </a:p>
          <a:p>
            <a:pPr marL="0" indent="0">
              <a:buNone/>
            </a:pPr>
            <a:r>
              <a:rPr dirty="0"/>
              <a:t>• A + B implemented using AND/OR/Carry logic</a:t>
            </a:r>
          </a:p>
          <a:p>
            <a:pPr marL="0" indent="0">
              <a:buNone/>
            </a:pPr>
            <a:r>
              <a:rPr dirty="0"/>
              <a:t>If code includes '</a:t>
            </a:r>
            <a:r>
              <a:rPr dirty="0" err="1"/>
              <a:t>cin</a:t>
            </a:r>
            <a:r>
              <a:rPr dirty="0"/>
              <a:t>', 'sum', 'carry' → likely full adder</a:t>
            </a:r>
          </a:p>
          <a:p>
            <a:r>
              <a:rPr dirty="0"/>
              <a:t>If code uses B ⊕ </a:t>
            </a:r>
            <a:r>
              <a:rPr dirty="0" err="1"/>
              <a:t>sel</a:t>
            </a:r>
            <a:r>
              <a:rPr dirty="0"/>
              <a:t> and carry=</a:t>
            </a:r>
            <a:r>
              <a:rPr dirty="0" err="1"/>
              <a:t>sel</a:t>
            </a:r>
            <a:r>
              <a:rPr dirty="0"/>
              <a:t> → it's adder/</a:t>
            </a:r>
            <a:r>
              <a:rPr dirty="0" err="1"/>
              <a:t>subtractor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Circuit0 → Full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Inputs: A, B, Cin</a:t>
            </a:r>
          </a:p>
          <a:p>
            <a:r>
              <a:t>Outputs: Sum and Carry</a:t>
            </a:r>
          </a:p>
          <a:p>
            <a:r>
              <a:t>Pattern: sum = A ⊕ B ⊕ Cin</a:t>
            </a:r>
          </a:p>
          <a:p>
            <a:r>
              <a:t>carry = AB + Cin(A ⊕ B)</a:t>
            </a:r>
          </a:p>
          <a:p>
            <a:r>
              <a:t>This is exactly the behavior encoded in circuit0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Q2: Circuit1 → Why It Is an Adder/Subtractor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r>
              <a:t>Key trick: Subtraction A − B can be done as A + (~B + 1)</a:t>
            </a:r>
          </a:p>
          <a:p>
            <a:r>
              <a:t>Verilog typically uses:</a:t>
            </a:r>
          </a:p>
          <a:p>
            <a:r>
              <a:t>• Bxor = B ⊕ sel</a:t>
            </a:r>
          </a:p>
          <a:p>
            <a:r>
              <a:t>• Cin = sel</a:t>
            </a:r>
          </a:p>
          <a:p>
            <a:r>
              <a:t>If sel=0: Bxor = B, Cin=0 → A + B</a:t>
            </a:r>
          </a:p>
          <a:p>
            <a:r>
              <a:t>If sel=1: Bxor = ~B, Cin=1 → A + (~B+1) = A − B</a:t>
            </a:r>
          </a:p>
          <a:p>
            <a:r>
              <a:t>Thus circuit1 toggles between add/sub depending on sel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748" y="1570610"/>
            <a:ext cx="7417181" cy="441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61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728" y="1729120"/>
            <a:ext cx="7455283" cy="116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50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Q3: 4‑bit Adder/Subtractor Using ?: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Conditional operator: (condition) ? expr1 : expr2</a:t>
            </a:r>
          </a:p>
          <a:p>
            <a:r>
              <a:t>One‑line arithmetic selector</a:t>
            </a:r>
          </a:p>
          <a:p>
            <a:r>
              <a:t>{carry, result} = sel ? A+B : A−B;</a:t>
            </a:r>
          </a:p>
          <a:p>
            <a:r>
              <a:t>sel=0 → subtraction, sel=1 → addition</a:t>
            </a:r>
          </a:p>
          <a:p>
            <a:r>
              <a:t>Compact behavioral modeling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marR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Background: Data Flow vs. Structural Modeling</a:t>
            </a: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Structural: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Describes gate connections (how it’s built)</a:t>
            </a:r>
          </a:p>
          <a:p>
            <a:pPr marL="0" lvl="0" indent="0">
              <a:spcBef>
                <a:spcPts val="180"/>
              </a:spcBef>
              <a:spcAft>
                <a:spcPts val="180"/>
              </a:spcAft>
              <a:buNone/>
            </a:pPr>
            <a:r>
              <a:rPr lang="en-US" b="1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Data Flow: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 Describes behavior using operations like +, -, ?, : (what it does)</a:t>
            </a:r>
          </a:p>
          <a:p>
            <a:pPr marL="0" marR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Data flow is more abstract and easier to write for arithmetic operations.</a:t>
            </a:r>
          </a:p>
          <a:p>
            <a:pPr marL="0" marR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The Conditional Operator (? :)</a:t>
            </a:r>
          </a:p>
          <a:p>
            <a:pPr marL="0" marR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 ? 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true_value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false_value</a:t>
            </a:r>
            <a:endParaRPr lang="en-US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Intuition: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“If condition is true, use this value; otherwise use that value</a:t>
            </a:r>
            <a:r>
              <a:rPr lang="en-US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895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prstClr val="black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1400" dirty="0">
              <a:solidFill>
                <a:prstClr val="black"/>
              </a:solidFill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latinLnBrk="1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max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Selects larger of a or b</a:t>
            </a:r>
            <a:endParaRPr lang="en-US" sz="1200" dirty="0">
              <a:solidFill>
                <a:prstClr val="black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Solution: 4-Bit Adder-</a:t>
            </a:r>
            <a:r>
              <a:rPr lang="en-US" sz="2000" b="1" dirty="0" err="1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Subtractor</a:t>
            </a:r>
            <a:r>
              <a:rPr lang="en-US" sz="20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Code</a:t>
            </a:r>
          </a:p>
          <a:p>
            <a:pPr marL="0" lvl="0" indent="0" latinLnBrk="1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adder_subtractor_4bit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sum_diff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4-bit output (sum or difference)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carry_borrow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Carry out or borrow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4-bit input A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40A07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4-bit input B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solidFill>
                  <a:srgbClr val="902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sel_diff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Selection: 0=add, 1=subtract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Conditional operator selects operation based on </a:t>
            </a:r>
            <a:r>
              <a:rPr lang="en-US" sz="1200" i="1" dirty="0" err="1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sel_diff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{</a:t>
            </a:r>
            <a:r>
              <a:rPr lang="en-US" sz="1200" i="1" dirty="0" err="1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carry_borrow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 err="1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sum_diff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 creates a 5-bit result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i="1" dirty="0">
                <a:solidFill>
                  <a:srgbClr val="60A0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Upper bit is carry/borrow, lower 4 bits are the sum/difference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dirty="0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carry_borrow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sum_diff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sel_diff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12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sz="1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 err="1">
                <a:solidFill>
                  <a:srgbClr val="00702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US" sz="1200" dirty="0">
              <a:solidFill>
                <a:prstClr val="black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972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>
              <a:spcBef>
                <a:spcPts val="400"/>
              </a:spcBef>
              <a:spcAft>
                <a:spcPts val="200"/>
              </a:spcAft>
            </a:pPr>
            <a:r>
              <a:rPr lang="en-US" b="1" i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Code Breakdown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Output Declaration: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[3:0] 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sum_diff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4-bit output for result - 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carry_borrow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1-bit output for carry (addition) or borrow (subtraction) - 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carry_borrow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sum_diff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Concatenation creating 5-bit result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Input Declaration: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[3:0] A, B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Two 4-bit unsigned numbers - 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sel_diff</a:t>
            </a:r>
            <a:r>
              <a:rPr lang="en-US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: Control signal (0 for add, 1 for subtract)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</a:pPr>
            <a:r>
              <a:rPr lang="en-US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Operation Selection:</a:t>
            </a:r>
            <a:endParaRPr lang="en-US" dirty="0"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atinLnBrk="1">
              <a:spcBef>
                <a:spcPts val="0"/>
              </a:spcBef>
              <a:spcAft>
                <a:spcPts val="1000"/>
              </a:spcAft>
            </a:pP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sel_diff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8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When 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Symbol" panose="05050102010706020507" pitchFamily="18" charset="2"/>
              </a:rPr>
              <a:t>sel_diff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Symbol" panose="05050102010706020507" pitchFamily="18" charset="2"/>
              </a:rPr>
              <a:t> = 0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: Performs A + B (addition)</a:t>
            </a:r>
          </a:p>
          <a:p>
            <a:pPr lvl="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When </a:t>
            </a:r>
            <a:r>
              <a:rPr lang="en-US" sz="2800" dirty="0" err="1">
                <a:latin typeface="Consolas" panose="020B0609020204030204" pitchFamily="49" charset="0"/>
                <a:ea typeface="Times New Roman" panose="02020603050405020304" pitchFamily="18" charset="0"/>
                <a:cs typeface="Symbol" panose="05050102010706020507" pitchFamily="18" charset="2"/>
              </a:rPr>
              <a:t>sel_diff</a:t>
            </a:r>
            <a:r>
              <a:rPr lang="en-US" sz="2800" dirty="0">
                <a:latin typeface="Consolas" panose="020B0609020204030204" pitchFamily="49" charset="0"/>
                <a:ea typeface="Times New Roman" panose="02020603050405020304" pitchFamily="18" charset="0"/>
                <a:cs typeface="Symbol" panose="05050102010706020507" pitchFamily="18" charset="2"/>
              </a:rPr>
              <a:t> = 1</a:t>
            </a:r>
            <a:r>
              <a:rPr lang="en-US" dirty="0">
                <a:latin typeface="Aptos"/>
                <a:ea typeface="Times New Roman" panose="02020603050405020304" pitchFamily="18" charset="0"/>
                <a:cs typeface="Symbol" panose="05050102010706020507" pitchFamily="18" charset="2"/>
              </a:rPr>
              <a:t>: Performs A - B (subtraction)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06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Propagation delay defines timing behavior → essential for real circuits</a:t>
            </a:r>
          </a:p>
          <a:p>
            <a:r>
              <a:t>Structural Verilog maps directly to gate-level diagrams</a:t>
            </a:r>
          </a:p>
          <a:p>
            <a:r>
              <a:t>Adder/Subtractor logic relies on B ⊕ sel and Cin=sel trick</a:t>
            </a:r>
          </a:p>
          <a:p>
            <a:r>
              <a:t>Conditional operator provides compact arithmetic description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</TotalTime>
  <Words>1283</Words>
  <Application>Microsoft Office PowerPoint</Application>
  <PresentationFormat>On-screen Show (4:3)</PresentationFormat>
  <Paragraphs>212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Consolas</vt:lpstr>
      <vt:lpstr>Symbol</vt:lpstr>
      <vt:lpstr>Times New Roman</vt:lpstr>
      <vt:lpstr>Office Theme</vt:lpstr>
      <vt:lpstr>Tutorial 14 – Digital Design Intuitive Explanations</vt:lpstr>
      <vt:lpstr>PowerPoint Presentation</vt:lpstr>
      <vt:lpstr>PowerPoint Presentation</vt:lpstr>
      <vt:lpstr>Q1: Understanding the EX‑OR Gate (Basics)</vt:lpstr>
      <vt:lpstr>Q1: Why Propagation Delay Matters</vt:lpstr>
      <vt:lpstr>Q1: Step‑by‑Step Signal Evolution</vt:lpstr>
      <vt:lpstr>Q1: Structural Verilog (with Delays)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Q2: From Verilog to Circuit (Fundamental Idea)</vt:lpstr>
      <vt:lpstr>Q2: Intuition — Recognizing Patterns</vt:lpstr>
      <vt:lpstr>Q2: Circuit0 → Full Adder</vt:lpstr>
      <vt:lpstr>Q2: Circuit1 → Why It Is an Adder/Subtractor</vt:lpstr>
      <vt:lpstr>PowerPoint Presentation</vt:lpstr>
      <vt:lpstr>PowerPoint Presentation</vt:lpstr>
      <vt:lpstr>Q3: 4‑bit Adder/Subtractor Using ?: Operator</vt:lpstr>
      <vt:lpstr>PowerPoint Presentation</vt:lpstr>
      <vt:lpstr>PowerPoint Presentation</vt:lpstr>
      <vt:lpstr>PowerPoint Presentation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14 – Digital Design Intuitive Explanations</dc:title>
  <dc:subject/>
  <dc:creator>Neeraj Mishra</dc:creator>
  <cp:keywords/>
  <dc:description>generated using python-pptx</dc:description>
  <cp:lastModifiedBy>Neeraj Mishra</cp:lastModifiedBy>
  <cp:revision>6</cp:revision>
  <dcterms:created xsi:type="dcterms:W3CDTF">2013-01-27T09:14:16Z</dcterms:created>
  <dcterms:modified xsi:type="dcterms:W3CDTF">2025-11-25T02:20:55Z</dcterms:modified>
  <cp:category/>
</cp:coreProperties>
</file>