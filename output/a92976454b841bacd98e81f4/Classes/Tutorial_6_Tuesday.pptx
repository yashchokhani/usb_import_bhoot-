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5" r:id="rId2"/>
    <p:sldId id="280" r:id="rId3"/>
    <p:sldId id="309" r:id="rId4"/>
    <p:sldId id="284" r:id="rId5"/>
    <p:sldId id="296" r:id="rId6"/>
    <p:sldId id="310" r:id="rId7"/>
    <p:sldId id="311" r:id="rId8"/>
    <p:sldId id="312" r:id="rId9"/>
    <p:sldId id="289" r:id="rId10"/>
    <p:sldId id="301" r:id="rId11"/>
    <p:sldId id="302" r:id="rId12"/>
    <p:sldId id="300" r:id="rId13"/>
    <p:sldId id="313" r:id="rId14"/>
    <p:sldId id="315" r:id="rId15"/>
    <p:sldId id="314" r:id="rId16"/>
    <p:sldId id="293" r:id="rId17"/>
    <p:sldId id="30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27BFE-3365-4765-993C-DAAA3D0FD27E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4AE6D-2700-4C61-8646-972FBA78A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5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3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8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3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16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02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71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5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4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2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3FA69-DF3B-4733-8C3D-EF20E85D4180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5A9FF-6384-409C-985F-C272AC7C3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5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.emf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8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73943" y="1838100"/>
            <a:ext cx="8171543" cy="2075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DIGITAL DESIGN(DD)</a:t>
            </a:r>
          </a:p>
          <a:p>
            <a:pPr marL="270510" marR="0" indent="-27051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INSTR F243/EEE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F215 </a:t>
            </a: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/ECE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F215 </a:t>
            </a: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/CS F215</a:t>
            </a:r>
            <a:r>
              <a:rPr lang="en-US" sz="3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 </a:t>
            </a:r>
          </a:p>
          <a:p>
            <a:pPr marL="270510" marR="0" indent="-27051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16/09/2025- Tutorial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# </a:t>
            </a:r>
            <a:r>
              <a:rPr lang="en-US" sz="3600" dirty="0" smtClean="0">
                <a:latin typeface="Calibri" panose="020F0502020204030204" pitchFamily="34" charset="0"/>
                <a:ea typeface="Calibri" panose="020F0502020204030204" pitchFamily="34" charset="0"/>
                <a:cs typeface="Mangal"/>
              </a:rPr>
              <a:t>6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2983362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7547" y="415637"/>
            <a:ext cx="112914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Q1. A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PN flip-flop has four operations: set to 1, no change, complement, and clear to 0, when inputs P and N are 00, 01, 10, and 11, respectively. </a:t>
            </a:r>
            <a:endParaRPr lang="en-US" sz="20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lvl="0"/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457200" lvl="0" indent="-457200"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Tabulate the characteristic table.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Derive the characteristic equation. </a:t>
            </a:r>
          </a:p>
          <a:p>
            <a:pPr marL="457200" lvl="0" indent="-457200">
              <a:buFont typeface="+mj-lt"/>
              <a:buAutoNum type="alphaLcParenR"/>
            </a:pP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Tabulate the excitation table.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3163" y="2894271"/>
            <a:ext cx="37961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 truth table for PN flip-flop is 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33516"/>
              </p:ext>
            </p:extLst>
          </p:nvPr>
        </p:nvGraphicFramePr>
        <p:xfrm>
          <a:off x="4160982" y="3505200"/>
          <a:ext cx="3380508" cy="2493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7571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1065794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1157143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</a:tblGrid>
              <a:tr h="493282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</a:t>
                      </a:r>
                      <a:r>
                        <a:rPr lang="en-US" b="1" baseline="-25000" dirty="0" smtClean="0"/>
                        <a:t>n+1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/>
                        <a:t>Q</a:t>
                      </a:r>
                      <a:r>
                        <a:rPr lang="en-US" b="1" baseline="-25000" dirty="0" err="1" smtClean="0"/>
                        <a:t>n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/>
                        <a:t>Q</a:t>
                      </a:r>
                      <a:r>
                        <a:rPr lang="en-US" sz="18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b="1" dirty="0" smtClean="0"/>
                        <a:t>’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5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414261"/>
              </p:ext>
            </p:extLst>
          </p:nvPr>
        </p:nvGraphicFramePr>
        <p:xfrm>
          <a:off x="789711" y="1343890"/>
          <a:ext cx="3101193" cy="3815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3891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575189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529585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574976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  <a:gridCol w="947552">
                  <a:extLst>
                    <a:ext uri="{9D8B030D-6E8A-4147-A177-3AD203B41FA5}">
                      <a16:colId xmlns:a16="http://schemas.microsoft.com/office/drawing/2014/main" val="1210500153"/>
                    </a:ext>
                  </a:extLst>
                </a:gridCol>
              </a:tblGrid>
              <a:tr h="40178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/>
                        <a:t>Q</a:t>
                      </a:r>
                      <a:r>
                        <a:rPr lang="en-US" b="1" baseline="-25000" dirty="0" err="1" smtClean="0"/>
                        <a:t>n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</a:t>
                      </a:r>
                      <a:r>
                        <a:rPr lang="en-US" b="1" baseline="-25000" dirty="0" smtClean="0"/>
                        <a:t>n+1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62625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1303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43044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3933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11413" y="176868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1413" y="215340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7559" y="257364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1416" y="301944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11414" y="344805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1414" y="386674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53" name="TextBox 52"/>
          <p:cNvSpPr txBox="1"/>
          <p:nvPr/>
        </p:nvSpPr>
        <p:spPr>
          <a:xfrm>
            <a:off x="3211416" y="429930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97559" y="471265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graphicFrame>
        <p:nvGraphicFramePr>
          <p:cNvPr id="67" name="Table 66"/>
          <p:cNvGraphicFramePr>
            <a:graphicFrameLocks noGrp="1"/>
          </p:cNvGraphicFramePr>
          <p:nvPr>
            <p:extLst/>
          </p:nvPr>
        </p:nvGraphicFramePr>
        <p:xfrm>
          <a:off x="6446129" y="2116679"/>
          <a:ext cx="4641272" cy="2241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156">
                  <a:extLst>
                    <a:ext uri="{9D8B030D-6E8A-4147-A177-3AD203B41FA5}">
                      <a16:colId xmlns:a16="http://schemas.microsoft.com/office/drawing/2014/main" val="2479272134"/>
                    </a:ext>
                  </a:extLst>
                </a:gridCol>
                <a:gridCol w="834930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1067493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1160316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1129377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</a:tblGrid>
              <a:tr h="354052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00</a:t>
                      </a:r>
                      <a:endParaRPr lang="en-US" sz="1600" b="1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01</a:t>
                      </a:r>
                      <a:endParaRPr lang="en-US" sz="1600" b="1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11</a:t>
                      </a:r>
                      <a:endParaRPr lang="en-US" sz="1600" b="1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/>
                        <a:t>10</a:t>
                      </a:r>
                      <a:endParaRPr lang="en-US" sz="1600" b="1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924549"/>
                  </a:ext>
                </a:extLst>
              </a:tr>
              <a:tr h="943651">
                <a:tc>
                  <a:txBody>
                    <a:bodyPr/>
                    <a:lstStyle/>
                    <a:p>
                      <a:pPr algn="r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0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3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2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943651">
                <a:tc>
                  <a:txBody>
                    <a:bodyPr/>
                    <a:lstStyle/>
                    <a:p>
                      <a:pPr algn="r"/>
                      <a:r>
                        <a:rPr lang="en-US" sz="1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4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5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7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dirty="0" smtClean="0"/>
                        <a:t>6</a:t>
                      </a:r>
                      <a:endParaRPr lang="en-US" sz="105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</a:tbl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5871673" y="2062754"/>
            <a:ext cx="387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18590" y="1510631"/>
            <a:ext cx="759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NQ</a:t>
            </a:r>
            <a:r>
              <a:rPr lang="en-US" sz="2400" baseline="-25000" dirty="0" err="1" smtClean="0"/>
              <a:t>n</a:t>
            </a:r>
            <a:endParaRPr lang="en-US" sz="2400" baseline="-25000" dirty="0"/>
          </a:p>
        </p:txBody>
      </p:sp>
      <p:cxnSp>
        <p:nvCxnSpPr>
          <p:cNvPr id="71" name="Straight Connector 70"/>
          <p:cNvCxnSpPr/>
          <p:nvPr/>
        </p:nvCxnSpPr>
        <p:spPr>
          <a:xfrm flipH="1" flipV="1">
            <a:off x="5899383" y="1548643"/>
            <a:ext cx="546746" cy="5680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 rot="5400000">
            <a:off x="6620182" y="3127397"/>
            <a:ext cx="1362819" cy="515477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46106" y="1299260"/>
            <a:ext cx="88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Q</a:t>
            </a:r>
            <a:r>
              <a:rPr lang="en-US" sz="2400" b="1" baseline="-25000" dirty="0" smtClean="0"/>
              <a:t>n+1</a:t>
            </a:r>
            <a:endParaRPr lang="en-US" sz="2400" b="1" baseline="-25000" dirty="0"/>
          </a:p>
        </p:txBody>
      </p:sp>
      <p:sp>
        <p:nvSpPr>
          <p:cNvPr id="76" name="TextBox 75"/>
          <p:cNvSpPr txBox="1"/>
          <p:nvPr/>
        </p:nvSpPr>
        <p:spPr>
          <a:xfrm>
            <a:off x="8120603" y="2737374"/>
            <a:ext cx="345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77" name="TextBox 76"/>
          <p:cNvSpPr txBox="1"/>
          <p:nvPr/>
        </p:nvSpPr>
        <p:spPr>
          <a:xfrm>
            <a:off x="7171582" y="3656832"/>
            <a:ext cx="41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78" name="TextBox 77"/>
          <p:cNvSpPr txBox="1"/>
          <p:nvPr/>
        </p:nvSpPr>
        <p:spPr>
          <a:xfrm>
            <a:off x="7178298" y="2753946"/>
            <a:ext cx="41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79" name="TextBox 78"/>
          <p:cNvSpPr txBox="1"/>
          <p:nvPr/>
        </p:nvSpPr>
        <p:spPr>
          <a:xfrm>
            <a:off x="9273126" y="2779561"/>
            <a:ext cx="415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1099004" y="717639"/>
            <a:ext cx="22747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characteristic table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7219" y="5020915"/>
            <a:ext cx="280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</a:t>
            </a:r>
            <a:r>
              <a:rPr lang="en-US" sz="2400" baseline="-25000" dirty="0" smtClean="0"/>
              <a:t>n+1</a:t>
            </a:r>
            <a:r>
              <a:rPr lang="en-US" sz="2400" dirty="0" smtClean="0"/>
              <a:t>=</a:t>
            </a:r>
            <a:r>
              <a:rPr lang="en-US" sz="2400" dirty="0" err="1" smtClean="0"/>
              <a:t>N’Q</a:t>
            </a:r>
            <a:r>
              <a:rPr lang="en-US" sz="2400" baseline="-25000" dirty="0" err="1" smtClean="0"/>
              <a:t>n</a:t>
            </a:r>
            <a:r>
              <a:rPr lang="en-US" sz="2400" dirty="0"/>
              <a:t>’ </a:t>
            </a:r>
            <a:r>
              <a:rPr lang="en-US" sz="2400" dirty="0" smtClean="0"/>
              <a:t>+ </a:t>
            </a:r>
            <a:r>
              <a:rPr lang="en-US" sz="2400" dirty="0" err="1" smtClean="0"/>
              <a:t>P’Q</a:t>
            </a:r>
            <a:r>
              <a:rPr lang="en-US" sz="2400" baseline="-25000" dirty="0" err="1"/>
              <a:t>n</a:t>
            </a:r>
            <a:endParaRPr lang="en-US" sz="2400" baseline="-25000" dirty="0"/>
          </a:p>
        </p:txBody>
      </p:sp>
      <p:sp>
        <p:nvSpPr>
          <p:cNvPr id="49" name="Rectangle 48"/>
          <p:cNvSpPr/>
          <p:nvPr/>
        </p:nvSpPr>
        <p:spPr>
          <a:xfrm>
            <a:off x="7529912" y="672856"/>
            <a:ext cx="26855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characteristic equation</a:t>
            </a:r>
          </a:p>
        </p:txBody>
      </p:sp>
      <p:sp>
        <p:nvSpPr>
          <p:cNvPr id="30" name="Rectangle 29"/>
          <p:cNvSpPr/>
          <p:nvPr/>
        </p:nvSpPr>
        <p:spPr>
          <a:xfrm rot="10800000">
            <a:off x="8057646" y="2679689"/>
            <a:ext cx="1603408" cy="515477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70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1982" y="808215"/>
            <a:ext cx="18846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Excitation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242224"/>
              </p:ext>
            </p:extLst>
          </p:nvPr>
        </p:nvGraphicFramePr>
        <p:xfrm>
          <a:off x="3716464" y="1514762"/>
          <a:ext cx="3380509" cy="24161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80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794007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862061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  <a:gridCol w="862061">
                  <a:extLst>
                    <a:ext uri="{9D8B030D-6E8A-4147-A177-3AD203B41FA5}">
                      <a16:colId xmlns:a16="http://schemas.microsoft.com/office/drawing/2014/main" val="1666140734"/>
                    </a:ext>
                  </a:extLst>
                </a:gridCol>
              </a:tblGrid>
              <a:tr h="4156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/>
                        <a:t>Q</a:t>
                      </a:r>
                      <a:r>
                        <a:rPr lang="en-US" sz="18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US" sz="18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Q</a:t>
                      </a:r>
                      <a:r>
                        <a:rPr lang="en-US" b="1" baseline="-25000" dirty="0" smtClean="0"/>
                        <a:t>n+1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5001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45196" y="344186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9558" y="196868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5195" y="295279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9558" y="251384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" name="Cross 7"/>
          <p:cNvSpPr/>
          <p:nvPr/>
        </p:nvSpPr>
        <p:spPr>
          <a:xfrm rot="2492486">
            <a:off x="5662679" y="2087083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/>
          <p:cNvSpPr/>
          <p:nvPr/>
        </p:nvSpPr>
        <p:spPr>
          <a:xfrm rot="2492486">
            <a:off x="5679612" y="2540764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/>
          <p:cNvSpPr/>
          <p:nvPr/>
        </p:nvSpPr>
        <p:spPr>
          <a:xfrm rot="2492486">
            <a:off x="6521895" y="3035813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/>
          <p:cNvSpPr/>
          <p:nvPr/>
        </p:nvSpPr>
        <p:spPr>
          <a:xfrm rot="2492486">
            <a:off x="6503609" y="3531985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78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6830" y="292423"/>
            <a:ext cx="112914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Q2. For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following sequential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circuit,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construct the state table and state diagram. Also, state whether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it is a Mealy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or Moore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machine?</a:t>
            </a:r>
          </a:p>
        </p:txBody>
      </p:sp>
      <p:pic>
        <p:nvPicPr>
          <p:cNvPr id="3" name="Picture 2"/>
          <p:cNvPicPr/>
          <p:nvPr/>
        </p:nvPicPr>
        <p:blipFill rotWithShape="1">
          <a:blip r:embed="rId2">
            <a:lum bright="-26000" contrast="42000"/>
          </a:blip>
          <a:srcRect l="3991" t="3475" r="5730" b="5376"/>
          <a:stretch/>
        </p:blipFill>
        <p:spPr>
          <a:xfrm>
            <a:off x="3241820" y="1702780"/>
            <a:ext cx="5394180" cy="424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3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3" y="1843692"/>
            <a:ext cx="6045511" cy="21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896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99" y="1842328"/>
            <a:ext cx="6197919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7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97" y="1834397"/>
            <a:ext cx="6331275" cy="30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2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35" y="363507"/>
            <a:ext cx="5172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(a)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lum bright="-26000" contrast="42000"/>
          </a:blip>
          <a:srcRect l="3991" t="3475" r="5730" b="5376"/>
          <a:stretch/>
        </p:blipFill>
        <p:spPr>
          <a:xfrm>
            <a:off x="4922982" y="1497930"/>
            <a:ext cx="6677892" cy="5153972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929119"/>
              </p:ext>
            </p:extLst>
          </p:nvPr>
        </p:nvGraphicFramePr>
        <p:xfrm>
          <a:off x="1964857" y="2000407"/>
          <a:ext cx="1449387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" name="Equation" r:id="rId4" imgW="596880" imgH="304560" progId="Equation.3">
                  <p:embed/>
                </p:oleObj>
              </mc:Choice>
              <mc:Fallback>
                <p:oleObj name="Equation" r:id="rId4" imgW="596880" imgH="30456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857" y="2000407"/>
                        <a:ext cx="1449387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015727"/>
              </p:ext>
            </p:extLst>
          </p:nvPr>
        </p:nvGraphicFramePr>
        <p:xfrm>
          <a:off x="1964857" y="3136005"/>
          <a:ext cx="14192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" name="Equation" r:id="rId6" imgW="583920" imgH="203040" progId="Equation.3">
                  <p:embed/>
                </p:oleObj>
              </mc:Choice>
              <mc:Fallback>
                <p:oleObj name="Equation" r:id="rId6" imgW="583920" imgH="20304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857" y="3136005"/>
                        <a:ext cx="14192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80439"/>
              </p:ext>
            </p:extLst>
          </p:nvPr>
        </p:nvGraphicFramePr>
        <p:xfrm>
          <a:off x="1832299" y="4023953"/>
          <a:ext cx="184943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Equation" r:id="rId8" imgW="761760" imgH="203040" progId="Equation.3">
                  <p:embed/>
                </p:oleObj>
              </mc:Choice>
              <mc:Fallback>
                <p:oleObj name="Equation" r:id="rId8" imgW="761760" imgH="203040" progId="Equation.3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299" y="4023953"/>
                        <a:ext cx="184943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428878"/>
              </p:ext>
            </p:extLst>
          </p:nvPr>
        </p:nvGraphicFramePr>
        <p:xfrm>
          <a:off x="1909292" y="4910313"/>
          <a:ext cx="16954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Equation" r:id="rId10" imgW="698400" imgH="203040" progId="Equation.3">
                  <p:embed/>
                </p:oleObj>
              </mc:Choice>
              <mc:Fallback>
                <p:oleObj name="Equation" r:id="rId10" imgW="698400" imgH="203040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292" y="4910313"/>
                        <a:ext cx="16954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10309" y="963016"/>
            <a:ext cx="58987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ambria" panose="02040503050406030204" pitchFamily="18" charset="0"/>
              </a:rPr>
              <a:t>i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) Find the Boolean expressions for the JK flip-flop inputs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220357"/>
              </p:ext>
            </p:extLst>
          </p:nvPr>
        </p:nvGraphicFramePr>
        <p:xfrm>
          <a:off x="304326" y="2212189"/>
          <a:ext cx="8986030" cy="3815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741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794683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  <a:gridCol w="922569">
                  <a:extLst>
                    <a:ext uri="{9D8B030D-6E8A-4147-A177-3AD203B41FA5}">
                      <a16:colId xmlns:a16="http://schemas.microsoft.com/office/drawing/2014/main" val="1210500153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1711886340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3674449875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219376442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1948203226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3896916010"/>
                    </a:ext>
                  </a:extLst>
                </a:gridCol>
              </a:tblGrid>
              <a:tr h="4017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X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K1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K2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Q1+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Q2+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Z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62625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1303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43044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39332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09667"/>
              </p:ext>
            </p:extLst>
          </p:nvPr>
        </p:nvGraphicFramePr>
        <p:xfrm>
          <a:off x="633854" y="5981339"/>
          <a:ext cx="14478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name="Equation" r:id="rId3" imgW="596880" imgH="304560" progId="Equation.3">
                  <p:embed/>
                </p:oleObj>
              </mc:Choice>
              <mc:Fallback>
                <p:oleObj name="Equation" r:id="rId3" imgW="596880" imgH="304560" progId="Equation.3">
                  <p:embed/>
                  <p:pic>
                    <p:nvPicPr>
                      <p:cNvPr id="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54" y="5981339"/>
                        <a:ext cx="14478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539444"/>
              </p:ext>
            </p:extLst>
          </p:nvPr>
        </p:nvGraphicFramePr>
        <p:xfrm>
          <a:off x="2693963" y="6239976"/>
          <a:ext cx="14192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Equation" r:id="rId5" imgW="583920" imgH="203040" progId="Equation.3">
                  <p:embed/>
                </p:oleObj>
              </mc:Choice>
              <mc:Fallback>
                <p:oleObj name="Equation" r:id="rId5" imgW="583920" imgH="203040" progId="Equation.3">
                  <p:embed/>
                  <p:pic>
                    <p:nvPicPr>
                      <p:cNvPr id="2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63" y="6239976"/>
                        <a:ext cx="14192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424939"/>
              </p:ext>
            </p:extLst>
          </p:nvPr>
        </p:nvGraphicFramePr>
        <p:xfrm>
          <a:off x="4801285" y="6213115"/>
          <a:ext cx="18494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6" name="Equation" r:id="rId7" imgW="761760" imgH="203040" progId="Equation.3">
                  <p:embed/>
                </p:oleObj>
              </mc:Choice>
              <mc:Fallback>
                <p:oleObj name="Equation" r:id="rId7" imgW="761760" imgH="203040" progId="Equation.3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285" y="6213115"/>
                        <a:ext cx="18494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209575"/>
              </p:ext>
            </p:extLst>
          </p:nvPr>
        </p:nvGraphicFramePr>
        <p:xfrm>
          <a:off x="7188028" y="6164739"/>
          <a:ext cx="16954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" name="Equation" r:id="rId9" imgW="698400" imgH="203040" progId="Equation.3">
                  <p:embed/>
                </p:oleObj>
              </mc:Choice>
              <mc:Fallback>
                <p:oleObj name="Equation" r:id="rId9" imgW="698400" imgH="203040" progId="Equation.3">
                  <p:embed/>
                  <p:pic>
                    <p:nvPicPr>
                      <p:cNvPr id="8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028" y="6164739"/>
                        <a:ext cx="16954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18209" y="260927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8209" y="306524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8208" y="346535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8207" y="390718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8206" y="430180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8205" y="475777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2518205" y="513853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8204" y="559422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1045" y="261051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1044" y="348982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8198" y="428825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9206" y="516764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8197" y="308971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3354796" y="388814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3354796" y="476746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3388197" y="562795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5440752" y="260927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751" y="348859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7905" y="428702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8913" y="516640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7904" y="308848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404503" y="388691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5404503" y="476623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5437904" y="562672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4390837" y="26254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8836" y="307979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2588" y="348680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5885" y="391133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2588" y="436756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5054" y="478148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5885" y="520388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5884" y="561596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8604488" y="26254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8564216" y="564010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41" name="TextBox 40"/>
          <p:cNvSpPr txBox="1"/>
          <p:nvPr/>
        </p:nvSpPr>
        <p:spPr>
          <a:xfrm>
            <a:off x="8567542" y="388691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8550197" y="434595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43" name="TextBox 42"/>
          <p:cNvSpPr txBox="1"/>
          <p:nvPr/>
        </p:nvSpPr>
        <p:spPr>
          <a:xfrm>
            <a:off x="8597497" y="307053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88109" y="351520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67542" y="473404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4108" y="519308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60645" y="260087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8810" y="303550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5962" y="349146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0645" y="390293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8711" y="433755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4030" y="477721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949" y="523949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8711" y="562522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97657" y="260688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97657" y="305684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97657" y="350680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2286" y="392773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527886" y="433755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9248" y="476877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4494" y="523949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539249" y="564034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01570" y="190575"/>
            <a:ext cx="11665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(ii) Use the expressions to find the actual JK flip-flop input values and output Z for each possible combination of present states and input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11747" y="1757061"/>
            <a:ext cx="461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PS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904460" y="1766297"/>
            <a:ext cx="567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</a:rPr>
              <a:t>N</a:t>
            </a:r>
            <a:r>
              <a:rPr lang="en-US" sz="20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S</a:t>
            </a:r>
            <a:endParaRPr lang="en-US" sz="20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708421" y="1771994"/>
            <a:ext cx="5699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421966" y="1783641"/>
            <a:ext cx="6281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74913" y="868018"/>
            <a:ext cx="11665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(iii) Use the JK flip-flop characteristic table to find the </a:t>
            </a:r>
            <a:r>
              <a:rPr lang="en-US" dirty="0" smtClean="0">
                <a:solidFill>
                  <a:srgbClr val="FF0000"/>
                </a:solidFill>
                <a:latin typeface="Cambria" panose="02040503050406030204" pitchFamily="18" charset="0"/>
              </a:rPr>
              <a:t>next states (NS)</a:t>
            </a:r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, based on the JK flip-flop input vales  and the present states (PS).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graphicFrame>
        <p:nvGraphicFramePr>
          <p:cNvPr id="70" name="Table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575902"/>
              </p:ext>
            </p:extLst>
          </p:nvPr>
        </p:nvGraphicFramePr>
        <p:xfrm>
          <a:off x="9472456" y="2962242"/>
          <a:ext cx="2518302" cy="21952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793961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862011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</a:tblGrid>
              <a:tr h="434232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K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</a:t>
                      </a:r>
                      <a:r>
                        <a:rPr lang="en-US" b="1" baseline="-25000" dirty="0" smtClean="0"/>
                        <a:t>n+1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4026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/>
                        <a:t>Q</a:t>
                      </a:r>
                      <a:r>
                        <a:rPr lang="en-US" b="1" baseline="-25000" dirty="0" err="1" smtClean="0"/>
                        <a:t>n</a:t>
                      </a:r>
                      <a:endParaRPr lang="en-US" b="1" baseline="-250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4026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baseline="-25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4026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40264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/>
                        <a:t>Q</a:t>
                      </a:r>
                      <a:r>
                        <a:rPr lang="en-US" sz="18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b="1" dirty="0" smtClean="0"/>
                        <a:t>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8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33489"/>
              </p:ext>
            </p:extLst>
          </p:nvPr>
        </p:nvGraphicFramePr>
        <p:xfrm>
          <a:off x="596329" y="1780542"/>
          <a:ext cx="3864834" cy="2804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1800">
                  <a:extLst>
                    <a:ext uri="{9D8B030D-6E8A-4147-A177-3AD203B41FA5}">
                      <a16:colId xmlns:a16="http://schemas.microsoft.com/office/drawing/2014/main" val="2858532314"/>
                    </a:ext>
                  </a:extLst>
                </a:gridCol>
                <a:gridCol w="611800">
                  <a:extLst>
                    <a:ext uri="{9D8B030D-6E8A-4147-A177-3AD203B41FA5}">
                      <a16:colId xmlns:a16="http://schemas.microsoft.com/office/drawing/2014/main" val="335053333"/>
                    </a:ext>
                  </a:extLst>
                </a:gridCol>
                <a:gridCol w="611800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544967">
                  <a:extLst>
                    <a:ext uri="{9D8B030D-6E8A-4147-A177-3AD203B41FA5}">
                      <a16:colId xmlns:a16="http://schemas.microsoft.com/office/drawing/2014/main" val="3844919091"/>
                    </a:ext>
                  </a:extLst>
                </a:gridCol>
                <a:gridCol w="459231">
                  <a:extLst>
                    <a:ext uri="{9D8B030D-6E8A-4147-A177-3AD203B41FA5}">
                      <a16:colId xmlns:a16="http://schemas.microsoft.com/office/drawing/2014/main" val="4224948637"/>
                    </a:ext>
                  </a:extLst>
                </a:gridCol>
                <a:gridCol w="477738">
                  <a:extLst>
                    <a:ext uri="{9D8B030D-6E8A-4147-A177-3AD203B41FA5}">
                      <a16:colId xmlns:a16="http://schemas.microsoft.com/office/drawing/2014/main" val="639966519"/>
                    </a:ext>
                  </a:extLst>
                </a:gridCol>
                <a:gridCol w="547498">
                  <a:extLst>
                    <a:ext uri="{9D8B030D-6E8A-4147-A177-3AD203B41FA5}">
                      <a16:colId xmlns:a16="http://schemas.microsoft.com/office/drawing/2014/main" val="374323122"/>
                    </a:ext>
                  </a:extLst>
                </a:gridCol>
              </a:tblGrid>
              <a:tr h="348343">
                <a:tc gridSpan="3">
                  <a:txBody>
                    <a:bodyPr/>
                    <a:lstStyle/>
                    <a:p>
                      <a:endParaRPr lang="en-US" sz="20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X=0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X=1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388287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baseline="0" dirty="0" smtClean="0"/>
                        <a:t>PS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/>
                        <a:t>NS</a:t>
                      </a:r>
                      <a:endParaRPr lang="en-US" sz="2000" b="1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/>
                        <a:t>Z</a:t>
                      </a:r>
                      <a:endParaRPr lang="en-US" sz="2000" b="1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baseline="0" dirty="0" smtClean="0"/>
                        <a:t>NS</a:t>
                      </a:r>
                      <a:endParaRPr lang="en-US" sz="2000" b="1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baseline="0" dirty="0" smtClean="0"/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398165"/>
                  </a:ext>
                </a:extLst>
              </a:tr>
              <a:tr h="502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502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502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50288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6634549" y="1477710"/>
            <a:ext cx="678994" cy="637117"/>
          </a:xfrm>
          <a:prstGeom prst="ellips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 smtClean="0">
                <a:solidFill>
                  <a:srgbClr val="000000"/>
                </a:solidFill>
                <a:effectLst/>
                <a:ea typeface="Calibri" panose="020F0502020204030204" pitchFamily="34" charset="0"/>
                <a:cs typeface="Mangal"/>
              </a:rPr>
              <a:t>00</a:t>
            </a:r>
            <a:endParaRPr lang="en-US" sz="2000" dirty="0">
              <a:effectLst/>
              <a:ea typeface="Calibri" panose="020F0502020204030204" pitchFamily="34" charset="0"/>
              <a:cs typeface="Mangal"/>
            </a:endParaRPr>
          </a:p>
        </p:txBody>
      </p:sp>
      <p:sp>
        <p:nvSpPr>
          <p:cNvPr id="4" name="Oval 3"/>
          <p:cNvSpPr/>
          <p:nvPr/>
        </p:nvSpPr>
        <p:spPr>
          <a:xfrm>
            <a:off x="9296908" y="3789686"/>
            <a:ext cx="678994" cy="637117"/>
          </a:xfrm>
          <a:prstGeom prst="ellips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 smtClean="0">
                <a:solidFill>
                  <a:srgbClr val="000000"/>
                </a:solidFill>
                <a:ea typeface="Calibri" panose="020F0502020204030204" pitchFamily="34" charset="0"/>
                <a:cs typeface="Mangal"/>
              </a:rPr>
              <a:t>10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Mangal"/>
            </a:endParaRPr>
          </a:p>
        </p:txBody>
      </p:sp>
      <p:sp>
        <p:nvSpPr>
          <p:cNvPr id="5" name="Oval 4"/>
          <p:cNvSpPr/>
          <p:nvPr/>
        </p:nvSpPr>
        <p:spPr>
          <a:xfrm>
            <a:off x="6634549" y="3789687"/>
            <a:ext cx="678994" cy="637117"/>
          </a:xfrm>
          <a:prstGeom prst="ellips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 smtClean="0">
                <a:solidFill>
                  <a:srgbClr val="000000"/>
                </a:solidFill>
                <a:ea typeface="Calibri" panose="020F0502020204030204" pitchFamily="34" charset="0"/>
                <a:cs typeface="Mangal"/>
              </a:rPr>
              <a:t>11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Mang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9248042" y="1477709"/>
            <a:ext cx="678994" cy="637117"/>
          </a:xfrm>
          <a:prstGeom prst="ellipse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000" dirty="0" smtClean="0">
                <a:solidFill>
                  <a:srgbClr val="000000"/>
                </a:solidFill>
                <a:ea typeface="Calibri" panose="020F0502020204030204" pitchFamily="34" charset="0"/>
                <a:cs typeface="Mangal"/>
              </a:rPr>
              <a:t>01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Mangal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7460995" y="1796267"/>
            <a:ext cx="16091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991805" y="1458226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1</a:t>
            </a: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/0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rved Down Arrow 8"/>
          <p:cNvSpPr/>
          <p:nvPr/>
        </p:nvSpPr>
        <p:spPr>
          <a:xfrm rot="20258496">
            <a:off x="6424703" y="825474"/>
            <a:ext cx="512062" cy="690933"/>
          </a:xfrm>
          <a:prstGeom prst="curvedDownArrow">
            <a:avLst>
              <a:gd name="adj1" fmla="val 4630"/>
              <a:gd name="adj2" fmla="val 24297"/>
              <a:gd name="adj3" fmla="val 17575"/>
            </a:avLst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9587539" y="2245674"/>
            <a:ext cx="0" cy="13934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209526" y="754051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0/1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7308230" y="2095947"/>
            <a:ext cx="2026668" cy="17721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909576" y="2403926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1</a:t>
            </a: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/1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rved Down Arrow 13"/>
          <p:cNvSpPr/>
          <p:nvPr/>
        </p:nvSpPr>
        <p:spPr>
          <a:xfrm rot="14214575">
            <a:off x="6056503" y="4165895"/>
            <a:ext cx="512062" cy="690933"/>
          </a:xfrm>
          <a:prstGeom prst="curvedDownArrow">
            <a:avLst>
              <a:gd name="adj1" fmla="val 4630"/>
              <a:gd name="adj2" fmla="val 24297"/>
              <a:gd name="adj3" fmla="val 17575"/>
            </a:avLst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06408" y="4745361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0/1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03559" y="490873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0/0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662033" y="2704925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1/1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401371" y="4347967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0</a:t>
            </a: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/0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7003580" y="2219933"/>
            <a:ext cx="10370" cy="14041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480154" y="2760551"/>
            <a:ext cx="54749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0510" marR="0" indent="-27051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Mangal"/>
              </a:rPr>
              <a:t>1/0</a:t>
            </a:r>
            <a:endParaRPr lang="en-US" sz="1600" b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770" y="5739921"/>
            <a:ext cx="109539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 smtClean="0">
                <a:solidFill>
                  <a:srgbClr val="000000"/>
                </a:solidFill>
                <a:latin typeface="Cambria" panose="02040503050406030204" pitchFamily="18" charset="0"/>
              </a:rPr>
              <a:t>Since the output depends on the present states and the present input, the sequential circuit is a Mealy machine </a:t>
            </a:r>
            <a:endParaRPr 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85817" y="1198723"/>
            <a:ext cx="15819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State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76" y="318479"/>
            <a:ext cx="17224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State diagram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8" name="Curved Down Arrow 27"/>
          <p:cNvSpPr/>
          <p:nvPr/>
        </p:nvSpPr>
        <p:spPr>
          <a:xfrm rot="1921757">
            <a:off x="9729382" y="872512"/>
            <a:ext cx="512062" cy="690933"/>
          </a:xfrm>
          <a:prstGeom prst="curvedDownArrow">
            <a:avLst>
              <a:gd name="adj1" fmla="val 4630"/>
              <a:gd name="adj2" fmla="val 24297"/>
              <a:gd name="adj3" fmla="val 17575"/>
            </a:avLst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 rot="8044858">
            <a:off x="9892629" y="4277121"/>
            <a:ext cx="512062" cy="690933"/>
          </a:xfrm>
          <a:prstGeom prst="curvedDownArrow">
            <a:avLst>
              <a:gd name="adj1" fmla="val 4630"/>
              <a:gd name="adj2" fmla="val 24297"/>
              <a:gd name="adj3" fmla="val 17575"/>
            </a:avLst>
          </a:prstGeom>
          <a:solidFill>
            <a:srgbClr val="0070C0"/>
          </a:solidFill>
          <a:ln w="31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516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0649" y="119472"/>
            <a:ext cx="112914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Q3. Design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a sequential circuit using JK flip-flops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and logic </a:t>
            </a:r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gates for the following state diagram.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769" y="704894"/>
            <a:ext cx="5058467" cy="1574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273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0" y="82403"/>
            <a:ext cx="5816899" cy="24448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11" y="2746670"/>
            <a:ext cx="6578938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4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69" y="852077"/>
            <a:ext cx="6363027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99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435496"/>
              </p:ext>
            </p:extLst>
          </p:nvPr>
        </p:nvGraphicFramePr>
        <p:xfrm>
          <a:off x="6769780" y="2779708"/>
          <a:ext cx="5151756" cy="3815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741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219376442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1948203226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3896916010"/>
                    </a:ext>
                  </a:extLst>
                </a:gridCol>
              </a:tblGrid>
              <a:tr h="4017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X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Q1+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Q2+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Z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62625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1303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43044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3933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20236" y="2364665"/>
            <a:ext cx="461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PS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79858" y="2379754"/>
            <a:ext cx="567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ambria" panose="02040503050406030204" pitchFamily="18" charset="0"/>
              </a:rPr>
              <a:t>N</a:t>
            </a:r>
            <a:r>
              <a:rPr lang="en-US" sz="2000" dirty="0" smtClean="0">
                <a:latin typeface="Cambria" panose="02040503050406030204" pitchFamily="18" charset="0"/>
              </a:rPr>
              <a:t>S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16910" y="2379598"/>
            <a:ext cx="5699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067699" y="2364665"/>
            <a:ext cx="6901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2255" y="3376047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46841" y="4287521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427" y="5117101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4277" y="5946681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D</a:t>
            </a:r>
          </a:p>
        </p:txBody>
      </p:sp>
      <p:sp>
        <p:nvSpPr>
          <p:cNvPr id="13" name="Left Brace 12"/>
          <p:cNvSpPr/>
          <p:nvPr/>
        </p:nvSpPr>
        <p:spPr>
          <a:xfrm>
            <a:off x="6624382" y="3299407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>
            <a:off x="6612747" y="4208254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>
            <a:off x="6599806" y="5062432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/>
          <p:cNvSpPr/>
          <p:nvPr/>
        </p:nvSpPr>
        <p:spPr>
          <a:xfrm>
            <a:off x="6582215" y="5867414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139089" y="320216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7254" y="363678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406" y="409274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9139089" y="450421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7155" y="493883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2474" y="537849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9189" y="578614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7155" y="622651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6101" y="320816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6" name="TextBox 25"/>
          <p:cNvSpPr txBox="1"/>
          <p:nvPr/>
        </p:nvSpPr>
        <p:spPr>
          <a:xfrm>
            <a:off x="10176101" y="365812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6101" y="410808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0730" y="452901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10206330" y="493883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17692" y="537005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38" y="584078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7693" y="624162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2371" y="318783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11248857" y="621037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11205425" y="444928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11188080" y="490832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11235380" y="363290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8" name="TextBox 37"/>
          <p:cNvSpPr txBox="1"/>
          <p:nvPr/>
        </p:nvSpPr>
        <p:spPr>
          <a:xfrm>
            <a:off x="11225992" y="407757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11205425" y="529641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11191991" y="575545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210" y="3625311"/>
            <a:ext cx="53941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Four states are present in the state diagram, so two JK flip-flops are required.</a:t>
            </a:r>
          </a:p>
          <a:p>
            <a:pPr algn="just"/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Tabulate the state table with present states (PS) and next states (NS) along with input and output, as shown in the state diagram.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395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71654"/>
              </p:ext>
            </p:extLst>
          </p:nvPr>
        </p:nvGraphicFramePr>
        <p:xfrm>
          <a:off x="664543" y="627635"/>
          <a:ext cx="5151756" cy="3815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741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658741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219376442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1948203226"/>
                    </a:ext>
                  </a:extLst>
                </a:gridCol>
                <a:gridCol w="1058511">
                  <a:extLst>
                    <a:ext uri="{9D8B030D-6E8A-4147-A177-3AD203B41FA5}">
                      <a16:colId xmlns:a16="http://schemas.microsoft.com/office/drawing/2014/main" val="3896916010"/>
                    </a:ext>
                  </a:extLst>
                </a:gridCol>
              </a:tblGrid>
              <a:tr h="4017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Q2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X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Q1+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Q2+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Z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62625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1303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43044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3933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214999" y="212592"/>
            <a:ext cx="461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PS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4621" y="227681"/>
            <a:ext cx="5671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ambria" panose="02040503050406030204" pitchFamily="18" charset="0"/>
              </a:rPr>
              <a:t>N</a:t>
            </a:r>
            <a:r>
              <a:rPr lang="en-US" sz="2000" dirty="0" smtClean="0">
                <a:latin typeface="Cambria" panose="02040503050406030204" pitchFamily="18" charset="0"/>
              </a:rPr>
              <a:t>S</a:t>
            </a:r>
            <a:endParaRPr lang="en-US" sz="2000" dirty="0">
              <a:latin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11673" y="227525"/>
            <a:ext cx="5699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I/P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62462" y="212592"/>
            <a:ext cx="6901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O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/P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7018" y="1223974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A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1604" y="2135448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B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90" y="2965028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C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9040" y="3794608"/>
            <a:ext cx="4008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D</a:t>
            </a:r>
          </a:p>
        </p:txBody>
      </p:sp>
      <p:sp>
        <p:nvSpPr>
          <p:cNvPr id="11" name="Left Brace 10"/>
          <p:cNvSpPr/>
          <p:nvPr/>
        </p:nvSpPr>
        <p:spPr>
          <a:xfrm>
            <a:off x="519145" y="1147334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>
            <a:off x="507510" y="2056181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 Brace 12"/>
          <p:cNvSpPr/>
          <p:nvPr/>
        </p:nvSpPr>
        <p:spPr>
          <a:xfrm>
            <a:off x="494569" y="2910359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e 13"/>
          <p:cNvSpPr/>
          <p:nvPr/>
        </p:nvSpPr>
        <p:spPr>
          <a:xfrm>
            <a:off x="476978" y="3715341"/>
            <a:ext cx="84334" cy="55864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033852" y="1050088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2017" y="148470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9169" y="194067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3033852" y="235214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1918" y="27867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237" y="322642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3952" y="363407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1918" y="407443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0864" y="1056092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4070864" y="150605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0864" y="195601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5493" y="237694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4101093" y="27867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2455" y="321798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4130" y="362480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7134" y="10357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5143620" y="405830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5100188" y="229721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5082843" y="275625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5130143" y="148083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120755" y="192550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5100188" y="314434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0</a:t>
            </a:r>
            <a:endParaRPr 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5086754" y="360338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481866"/>
              </p:ext>
            </p:extLst>
          </p:nvPr>
        </p:nvGraphicFramePr>
        <p:xfrm>
          <a:off x="6373090" y="627635"/>
          <a:ext cx="2733964" cy="3815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454">
                  <a:extLst>
                    <a:ext uri="{9D8B030D-6E8A-4147-A177-3AD203B41FA5}">
                      <a16:colId xmlns:a16="http://schemas.microsoft.com/office/drawing/2014/main" val="2759413692"/>
                    </a:ext>
                  </a:extLst>
                </a:gridCol>
                <a:gridCol w="593454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593454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953602">
                  <a:extLst>
                    <a:ext uri="{9D8B030D-6E8A-4147-A177-3AD203B41FA5}">
                      <a16:colId xmlns:a16="http://schemas.microsoft.com/office/drawing/2014/main" val="3896916010"/>
                    </a:ext>
                  </a:extLst>
                </a:gridCol>
              </a:tblGrid>
              <a:tr h="40178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J1</a:t>
                      </a:r>
                      <a:endParaRPr 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K1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J2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K2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62625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13031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743044"/>
                  </a:ext>
                </a:extLst>
              </a:tr>
              <a:tr h="42675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939332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814241"/>
              </p:ext>
            </p:extLst>
          </p:nvPr>
        </p:nvGraphicFramePr>
        <p:xfrm>
          <a:off x="8793017" y="4601623"/>
          <a:ext cx="2839011" cy="2090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4242">
                  <a:extLst>
                    <a:ext uri="{9D8B030D-6E8A-4147-A177-3AD203B41FA5}">
                      <a16:colId xmlns:a16="http://schemas.microsoft.com/office/drawing/2014/main" val="1651392005"/>
                    </a:ext>
                  </a:extLst>
                </a:gridCol>
                <a:gridCol w="666821">
                  <a:extLst>
                    <a:ext uri="{9D8B030D-6E8A-4147-A177-3AD203B41FA5}">
                      <a16:colId xmlns:a16="http://schemas.microsoft.com/office/drawing/2014/main" val="2303724646"/>
                    </a:ext>
                  </a:extLst>
                </a:gridCol>
                <a:gridCol w="723974">
                  <a:extLst>
                    <a:ext uri="{9D8B030D-6E8A-4147-A177-3AD203B41FA5}">
                      <a16:colId xmlns:a16="http://schemas.microsoft.com/office/drawing/2014/main" val="3152260713"/>
                    </a:ext>
                  </a:extLst>
                </a:gridCol>
                <a:gridCol w="723974">
                  <a:extLst>
                    <a:ext uri="{9D8B030D-6E8A-4147-A177-3AD203B41FA5}">
                      <a16:colId xmlns:a16="http://schemas.microsoft.com/office/drawing/2014/main" val="1666140734"/>
                    </a:ext>
                  </a:extLst>
                </a:gridCol>
              </a:tblGrid>
              <a:tr h="35843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/>
                        <a:t>Q</a:t>
                      </a:r>
                      <a:r>
                        <a:rPr lang="en-US" sz="1800" b="1" kern="1200" baseline="-250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en-US" sz="1800" b="1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Q</a:t>
                      </a:r>
                      <a:r>
                        <a:rPr lang="en-US" b="1" baseline="-25000" dirty="0" smtClean="0"/>
                        <a:t>n+1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J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K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658819"/>
                  </a:ext>
                </a:extLst>
              </a:tr>
              <a:tr h="4313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712028"/>
                  </a:ext>
                </a:extLst>
              </a:tr>
              <a:tr h="4313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953786"/>
                  </a:ext>
                </a:extLst>
              </a:tr>
              <a:tr h="4313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99371"/>
                  </a:ext>
                </a:extLst>
              </a:tr>
              <a:tr h="4313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94561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1090031" y="6354053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64979" y="5453544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0031" y="5900372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6293" y="5021913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0</a:t>
            </a:r>
          </a:p>
        </p:txBody>
      </p:sp>
      <p:sp>
        <p:nvSpPr>
          <p:cNvPr id="44" name="Cross 43"/>
          <p:cNvSpPr/>
          <p:nvPr/>
        </p:nvSpPr>
        <p:spPr>
          <a:xfrm rot="2492486">
            <a:off x="11223698" y="5090214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5" name="Cross 44"/>
          <p:cNvSpPr/>
          <p:nvPr/>
        </p:nvSpPr>
        <p:spPr>
          <a:xfrm rot="2492486">
            <a:off x="11232628" y="5487037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6" name="Cross 45"/>
          <p:cNvSpPr/>
          <p:nvPr/>
        </p:nvSpPr>
        <p:spPr>
          <a:xfrm rot="2492486">
            <a:off x="10440548" y="5943426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7" name="Cross 46"/>
          <p:cNvSpPr/>
          <p:nvPr/>
        </p:nvSpPr>
        <p:spPr>
          <a:xfrm rot="2492486">
            <a:off x="10440549" y="6411562"/>
            <a:ext cx="232417" cy="234082"/>
          </a:xfrm>
          <a:prstGeom prst="plus">
            <a:avLst>
              <a:gd name="adj" fmla="val 4381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Rectangle 47"/>
          <p:cNvSpPr/>
          <p:nvPr/>
        </p:nvSpPr>
        <p:spPr>
          <a:xfrm>
            <a:off x="9531098" y="4143950"/>
            <a:ext cx="19197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Excitation </a:t>
            </a: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table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12725" y="405416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endParaRPr lang="en-US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6523698" y="1003480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1863" y="143810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9015" y="189406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23698" y="230553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86660" y="274015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1979" y="3179813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8694" y="358746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60" y="402782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48821" y="96896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12" y="1466585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53584" y="2734391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80911" y="316700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56130" y="1894067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350813" y="2305534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40913" y="3587466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08879" y="4027829"/>
            <a:ext cx="277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2" name="Cross 81"/>
          <p:cNvSpPr/>
          <p:nvPr/>
        </p:nvSpPr>
        <p:spPr>
          <a:xfrm rot="2492486">
            <a:off x="7163077" y="1142321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3" name="Cross 82"/>
          <p:cNvSpPr/>
          <p:nvPr/>
        </p:nvSpPr>
        <p:spPr>
          <a:xfrm rot="2492486">
            <a:off x="8523751" y="1127608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4" name="Cross 83"/>
          <p:cNvSpPr/>
          <p:nvPr/>
        </p:nvSpPr>
        <p:spPr>
          <a:xfrm rot="2492486">
            <a:off x="7141031" y="1553680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5" name="Cross 84"/>
          <p:cNvSpPr/>
          <p:nvPr/>
        </p:nvSpPr>
        <p:spPr>
          <a:xfrm rot="2492486">
            <a:off x="8469762" y="1567920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6" name="Cross 85"/>
          <p:cNvSpPr/>
          <p:nvPr/>
        </p:nvSpPr>
        <p:spPr>
          <a:xfrm rot="2492486">
            <a:off x="7141029" y="1997462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7" name="Cross 86"/>
          <p:cNvSpPr/>
          <p:nvPr/>
        </p:nvSpPr>
        <p:spPr>
          <a:xfrm rot="2492486">
            <a:off x="7733024" y="1988301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8" name="Cross 87"/>
          <p:cNvSpPr/>
          <p:nvPr/>
        </p:nvSpPr>
        <p:spPr>
          <a:xfrm rot="2492486">
            <a:off x="7141029" y="2432099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89" name="Cross 88"/>
          <p:cNvSpPr/>
          <p:nvPr/>
        </p:nvSpPr>
        <p:spPr>
          <a:xfrm rot="2492486">
            <a:off x="7726986" y="2435155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0" name="Cross 89"/>
          <p:cNvSpPr/>
          <p:nvPr/>
        </p:nvSpPr>
        <p:spPr>
          <a:xfrm rot="2492486">
            <a:off x="8469761" y="2824204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1" name="Cross 90"/>
          <p:cNvSpPr/>
          <p:nvPr/>
        </p:nvSpPr>
        <p:spPr>
          <a:xfrm rot="2492486">
            <a:off x="8463723" y="3271058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2" name="Cross 91"/>
          <p:cNvSpPr/>
          <p:nvPr/>
        </p:nvSpPr>
        <p:spPr>
          <a:xfrm rot="2492486">
            <a:off x="7756112" y="3672433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3" name="Cross 92"/>
          <p:cNvSpPr/>
          <p:nvPr/>
        </p:nvSpPr>
        <p:spPr>
          <a:xfrm rot="2492486">
            <a:off x="7750074" y="4119287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4" name="Cross 93"/>
          <p:cNvSpPr/>
          <p:nvPr/>
        </p:nvSpPr>
        <p:spPr>
          <a:xfrm rot="2492486">
            <a:off x="6564915" y="2852794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5" name="Cross 94"/>
          <p:cNvSpPr/>
          <p:nvPr/>
        </p:nvSpPr>
        <p:spPr>
          <a:xfrm rot="2492486">
            <a:off x="6558877" y="3299648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6" name="Cross 95"/>
          <p:cNvSpPr/>
          <p:nvPr/>
        </p:nvSpPr>
        <p:spPr>
          <a:xfrm rot="2492486">
            <a:off x="6543805" y="3672433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7" name="Cross 96"/>
          <p:cNvSpPr/>
          <p:nvPr/>
        </p:nvSpPr>
        <p:spPr>
          <a:xfrm rot="2492486">
            <a:off x="6537767" y="4119287"/>
            <a:ext cx="232417" cy="234082"/>
          </a:xfrm>
          <a:prstGeom prst="plus">
            <a:avLst>
              <a:gd name="adj" fmla="val 438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rgbClr val="FF0000"/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292659" y="4961101"/>
            <a:ext cx="78334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From the present states (PS) and next states (NS) fill out the JK flip-flop inputs using the excitation table for JK flip-flop.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000" dirty="0" smtClean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Then use the K maps to find the expressions for the JK flip-flop inputs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57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202348"/>
              </p:ext>
            </p:extLst>
          </p:nvPr>
        </p:nvGraphicFramePr>
        <p:xfrm>
          <a:off x="1307956" y="586365"/>
          <a:ext cx="1241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name="Equation" r:id="rId3" imgW="457200" imgH="177480" progId="Equation.3">
                  <p:embed/>
                </p:oleObj>
              </mc:Choice>
              <mc:Fallback>
                <p:oleObj name="Equation" r:id="rId3" imgW="457200" imgH="177480" progId="Equation.3">
                  <p:embed/>
                  <p:pic>
                    <p:nvPicPr>
                      <p:cNvPr id="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56" y="586365"/>
                        <a:ext cx="12414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2299"/>
              </p:ext>
            </p:extLst>
          </p:nvPr>
        </p:nvGraphicFramePr>
        <p:xfrm>
          <a:off x="3348038" y="628650"/>
          <a:ext cx="15509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5" imgW="571320" imgH="164880" progId="Equation.3">
                  <p:embed/>
                </p:oleObj>
              </mc:Choice>
              <mc:Fallback>
                <p:oleObj name="Equation" r:id="rId5" imgW="571320" imgH="164880" progId="Equation.3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628650"/>
                        <a:ext cx="155098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011539"/>
              </p:ext>
            </p:extLst>
          </p:nvPr>
        </p:nvGraphicFramePr>
        <p:xfrm>
          <a:off x="5487988" y="628650"/>
          <a:ext cx="14827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9" name="Equation" r:id="rId7" imgW="545760" imgH="164880" progId="Equation.3">
                  <p:embed/>
                </p:oleObj>
              </mc:Choice>
              <mc:Fallback>
                <p:oleObj name="Equation" r:id="rId7" imgW="545760" imgH="164880" progId="Equation.3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628650"/>
                        <a:ext cx="14827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009208"/>
              </p:ext>
            </p:extLst>
          </p:nvPr>
        </p:nvGraphicFramePr>
        <p:xfrm>
          <a:off x="7721456" y="585788"/>
          <a:ext cx="1000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0" name="Equation" r:id="rId9" imgW="368280" imgH="177480" progId="Equation.3">
                  <p:embed/>
                </p:oleObj>
              </mc:Choice>
              <mc:Fallback>
                <p:oleObj name="Equation" r:id="rId9" imgW="368280" imgH="177480" progId="Equation.3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1456" y="585788"/>
                        <a:ext cx="10001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982701"/>
              </p:ext>
            </p:extLst>
          </p:nvPr>
        </p:nvGraphicFramePr>
        <p:xfrm>
          <a:off x="9472324" y="612919"/>
          <a:ext cx="14128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1" name="Equation" r:id="rId11" imgW="520560" imgH="164880" progId="Equation.3">
                  <p:embed/>
                </p:oleObj>
              </mc:Choice>
              <mc:Fallback>
                <p:oleObj name="Equation" r:id="rId11" imgW="520560" imgH="164880" progId="Equation.3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2324" y="612919"/>
                        <a:ext cx="14128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22240" y="1479604"/>
            <a:ext cx="7152240" cy="50179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0442" y="3588454"/>
            <a:ext cx="3317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000000"/>
                </a:solidFill>
                <a:latin typeface="Cambria" panose="02040503050406030204" pitchFamily="18" charset="0"/>
              </a:rPr>
              <a:t>Draw the sequential circuit</a:t>
            </a:r>
            <a:endParaRPr lang="en-US" sz="20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51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5179</TotalTime>
  <Words>742</Words>
  <Application>Microsoft Office PowerPoint</Application>
  <PresentationFormat>Widescreen</PresentationFormat>
  <Paragraphs>442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Mangal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Neeraj Mishra</cp:lastModifiedBy>
  <cp:revision>264</cp:revision>
  <dcterms:created xsi:type="dcterms:W3CDTF">2022-09-16T05:51:40Z</dcterms:created>
  <dcterms:modified xsi:type="dcterms:W3CDTF">2025-09-16T02:31:34Z</dcterms:modified>
</cp:coreProperties>
</file>