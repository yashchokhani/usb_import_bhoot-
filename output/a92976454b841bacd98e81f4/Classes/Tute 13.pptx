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60" r:id="rId1"/>
    <p:sldMasterId id="2147483672" r:id="rId2"/>
  </p:sldMasterIdLst>
  <p:sldIdLst>
    <p:sldId id="258" r:id="rId3"/>
    <p:sldId id="259" r:id="rId4"/>
    <p:sldId id="260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75" d="100"/>
          <a:sy n="75" d="100"/>
        </p:scale>
        <p:origin x="3432" y="2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254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94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12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33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17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0454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15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47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63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5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465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8279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16435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3602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0674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773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14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3054" y="984503"/>
            <a:ext cx="10609580" cy="114300"/>
          </a:xfrm>
          <a:custGeom>
            <a:avLst/>
            <a:gdLst/>
            <a:ahLst/>
            <a:cxnLst/>
            <a:rect l="l" t="t" r="r" b="b"/>
            <a:pathLst>
              <a:path w="10609580" h="114300">
                <a:moveTo>
                  <a:pt x="10609326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114300"/>
                </a:lnTo>
                <a:lnTo>
                  <a:pt x="6206490" y="114300"/>
                </a:lnTo>
                <a:lnTo>
                  <a:pt x="6206490" y="9144"/>
                </a:lnTo>
                <a:lnTo>
                  <a:pt x="10609326" y="9144"/>
                </a:lnTo>
                <a:lnTo>
                  <a:pt x="10609326" y="0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813053" y="6169914"/>
            <a:ext cx="10565130" cy="3175"/>
          </a:xfrm>
          <a:custGeom>
            <a:avLst/>
            <a:gdLst/>
            <a:ahLst/>
            <a:cxnLst/>
            <a:rect l="l" t="t" r="r" b="b"/>
            <a:pathLst>
              <a:path w="10565130" h="3175">
                <a:moveTo>
                  <a:pt x="10565130" y="3048"/>
                </a:moveTo>
                <a:lnTo>
                  <a:pt x="10565130" y="0"/>
                </a:lnTo>
                <a:lnTo>
                  <a:pt x="0" y="0"/>
                </a:lnTo>
                <a:lnTo>
                  <a:pt x="0" y="3048"/>
                </a:lnTo>
                <a:lnTo>
                  <a:pt x="10565130" y="3048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72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5730875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31611" y="6276791"/>
            <a:ext cx="1130300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1794" y="6276028"/>
            <a:ext cx="1085214" cy="21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2988" y="6276028"/>
            <a:ext cx="384399" cy="21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875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30287"/>
            <a:ext cx="6443133" cy="5790663"/>
          </a:xfrm>
          <a:prstGeom prst="rect">
            <a:avLst/>
          </a:prstGeom>
        </p:spPr>
      </p:pic>
      <p:sp>
        <p:nvSpPr>
          <p:cNvPr id="4" name="object 2"/>
          <p:cNvSpPr txBox="1"/>
          <p:nvPr/>
        </p:nvSpPr>
        <p:spPr>
          <a:xfrm>
            <a:off x="2169075" y="953173"/>
            <a:ext cx="8444910" cy="5793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EB5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Advance Analog and Mixed Signal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3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25" normalizeH="0" baseline="0" noProof="0" dirty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Lecture</a:t>
            </a:r>
            <a:r>
              <a:rPr kumimoji="0" sz="3600" b="1" i="0" u="none" strike="noStrike" kern="0" cap="none" spc="-165" normalizeH="0" baseline="0" noProof="0" dirty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3600" b="1" i="0" u="none" strike="noStrike" kern="0" cap="none" spc="-25" normalizeH="0" baseline="0" noProof="0" dirty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lang="en-US" sz="3600" b="1" i="0" u="none" strike="noStrike" kern="0" cap="none" spc="-25" normalizeH="0" baseline="0" noProof="0" dirty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1</a:t>
            </a: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-25" normalizeH="0" baseline="0" noProof="0" dirty="0" smtClean="0">
              <a:ln>
                <a:noFill/>
              </a:ln>
              <a:solidFill>
                <a:srgbClr val="8AA7DA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0" normalizeH="0" baseline="0" noProof="0" dirty="0" smtClean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Oscillator Fundamental</a:t>
            </a:r>
            <a:endParaRPr kumimoji="0" lang="en-US" sz="3600" b="0" i="0" u="none" strike="noStrike" kern="1200" cap="none" spc="-1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-10" normalizeH="0" baseline="0" noProof="0" dirty="0" smtClean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Dr.</a:t>
            </a:r>
            <a:r>
              <a:rPr kumimoji="0" sz="3200" b="1" i="0" u="none" strike="noStrike" kern="0" cap="none" spc="-75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lang="en-US" sz="3200" b="1" i="0" u="none" strike="noStrike" kern="0" cap="none" spc="-3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Neeraj Mishra</a:t>
            </a:r>
            <a:endParaRPr kumimoji="0" sz="32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High Performance Electronics Lab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Electrical &amp; </a:t>
            </a:r>
            <a:r>
              <a:rPr kumimoji="0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Electronic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s</a:t>
            </a:r>
            <a:r>
              <a:rPr kumimoji="0" sz="2400" b="0" i="0" u="none" strike="noStrike" kern="0" cap="none" spc="-4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Eng.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Dept.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697355" marR="16941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Birla Institute of Technology &amp; Science </a:t>
            </a:r>
            <a:r>
              <a:rPr kumimoji="0" lang="en-US" sz="2400" b="0" i="0" u="none" strike="noStrike" kern="0" cap="none" spc="-1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Pilani</a:t>
            </a: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, </a:t>
            </a:r>
            <a:r>
              <a:rPr kumimoji="0" lang="en-US" sz="2400" b="0" i="0" u="none" strike="noStrike" kern="0" cap="none" spc="-1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Pilani</a:t>
            </a: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Campus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0667" y="995172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40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EEB5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10667" y="223570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91BCE3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20955" y="428397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6" y="87966"/>
            <a:ext cx="3093560" cy="802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410" y="5828120"/>
            <a:ext cx="3113590" cy="102988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2200" y="0"/>
            <a:ext cx="22098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5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430887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b="1" dirty="0">
              <a:solidFill>
                <a:srgbClr val="0F4761"/>
              </a:solidFill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10627871" cy="2885405"/>
          </a:xfrm>
        </p:spPr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 digital circuit that:</a:t>
            </a:r>
            <a:endParaRPr lang="en-US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Detects the bit pattern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‘110’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in a serial bit stream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Searches for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16 consecutive clock cycles only</a:t>
            </a:r>
            <a:endParaRPr lang="en-US" dirty="0"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Begins search when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START signal is asserted</a:t>
            </a:r>
            <a:endParaRPr lang="en-US" dirty="0"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A counter is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incremented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with every clock pulse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When pattern is found →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Flip-flop F is SET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and operation STOPS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If pattern NOT found within 16 clocks →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 remains CLEARED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and operation STOPS</a:t>
            </a:r>
          </a:p>
          <a:p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Operation can restart when START is asserted again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5483484" y="6411543"/>
            <a:ext cx="1331202" cy="229887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Pilani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>
          <a:xfrm>
            <a:off x="766666" y="6362655"/>
            <a:ext cx="1085214" cy="211583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799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1077218"/>
          </a:xfrm>
        </p:spPr>
        <p:txBody>
          <a:bodyPr/>
          <a:lstStyle/>
          <a:p>
            <a:pPr marL="0" marR="0">
              <a:spcBef>
                <a:spcPts val="800"/>
              </a:spcBef>
              <a:spcAft>
                <a:spcPts val="400"/>
              </a:spcAft>
            </a:pPr>
            <a:r>
              <a:rPr lang="en-US" sz="36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PART (a): ASM CHART</a:t>
            </a:r>
            <a:br>
              <a:rPr lang="en-US" sz="36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5517005" cy="4847481"/>
          </a:xfrm>
        </p:spPr>
        <p:txBody>
          <a:bodyPr/>
          <a:lstStyle/>
          <a:p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ASM = Algorithmic State Machine Chart</a:t>
            </a:r>
            <a:endParaRPr lang="en-US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that shows: </a:t>
            </a:r>
            <a:endParaRPr lang="en-US" dirty="0" smtClean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Rectangles</a:t>
            </a:r>
            <a:r>
              <a:rPr lang="en-US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= States (conditions the circuit can be in) </a:t>
            </a:r>
            <a:endParaRPr lang="en-US" dirty="0" smtClean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Diamonds/Ovals</a:t>
            </a:r>
            <a:r>
              <a:rPr lang="en-US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= Decisions (checks to make) </a:t>
            </a:r>
            <a:endParaRPr lang="en-US" dirty="0" smtClean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Arrows</a:t>
            </a:r>
            <a:r>
              <a:rPr lang="en-US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= Transitions (how we move between states) </a:t>
            </a:r>
            <a:endParaRPr lang="en-US" dirty="0" smtClean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Actions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inside boxes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= What happens in each state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Think of it like a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recipe with decision points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- “Wait for signal” - “If signal comes, start cooking” - “Check if done” - “If done, stop; if not, keep cooking”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25518" y="1164971"/>
            <a:ext cx="4268922" cy="689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en-US" sz="1600" b="1" dirty="0" smtClean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IDENTIFY THE STATES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12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Our circuit needs FOUR main states:</a:t>
            </a:r>
            <a:endParaRPr lang="en-US" sz="12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798968"/>
              </p:ext>
            </p:extLst>
          </p:nvPr>
        </p:nvGraphicFramePr>
        <p:xfrm>
          <a:off x="6715759" y="2142490"/>
          <a:ext cx="5203827" cy="1828800"/>
        </p:xfrm>
        <a:graphic>
          <a:graphicData uri="http://schemas.openxmlformats.org/drawingml/2006/table">
            <a:tbl>
              <a:tblPr firstRow="1" bandRow="1" bandCol="1"/>
              <a:tblGrid>
                <a:gridCol w="1132841">
                  <a:extLst>
                    <a:ext uri="{9D8B030D-6E8A-4147-A177-3AD203B41FA5}">
                      <a16:colId xmlns:a16="http://schemas.microsoft.com/office/drawing/2014/main" val="230261826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58469374"/>
                    </a:ext>
                  </a:extLst>
                </a:gridCol>
                <a:gridCol w="3065146">
                  <a:extLst>
                    <a:ext uri="{9D8B030D-6E8A-4147-A177-3AD203B41FA5}">
                      <a16:colId xmlns:a16="http://schemas.microsoft.com/office/drawing/2014/main" val="244235828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5965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T0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IDLE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Wait for START signal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4194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Read bits and look for “110”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5037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FOUND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Pattern detected! Set output F=1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6507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 complete, wait for new START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96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28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470" y="1205433"/>
            <a:ext cx="6013450" cy="369332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Key Signals in </a:t>
            </a:r>
            <a:r>
              <a:rPr lang="en-US" sz="24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ASM</a:t>
            </a:r>
            <a:endParaRPr lang="en-US" sz="2400" b="1" dirty="0">
              <a:solidFill>
                <a:srgbClr val="0F4761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25243"/>
              </p:ext>
            </p:extLst>
          </p:nvPr>
        </p:nvGraphicFramePr>
        <p:xfrm>
          <a:off x="498216" y="1753870"/>
          <a:ext cx="5806065" cy="2926080"/>
        </p:xfrm>
        <a:graphic>
          <a:graphicData uri="http://schemas.openxmlformats.org/drawingml/2006/table">
            <a:tbl>
              <a:tblPr firstRow="1" bandRow="1" bandCol="1"/>
              <a:tblGrid>
                <a:gridCol w="1935355">
                  <a:extLst>
                    <a:ext uri="{9D8B030D-6E8A-4147-A177-3AD203B41FA5}">
                      <a16:colId xmlns:a16="http://schemas.microsoft.com/office/drawing/2014/main" val="1282822188"/>
                    </a:ext>
                  </a:extLst>
                </a:gridCol>
                <a:gridCol w="1935355">
                  <a:extLst>
                    <a:ext uri="{9D8B030D-6E8A-4147-A177-3AD203B41FA5}">
                      <a16:colId xmlns:a16="http://schemas.microsoft.com/office/drawing/2014/main" val="2561398481"/>
                    </a:ext>
                  </a:extLst>
                </a:gridCol>
                <a:gridCol w="1935355">
                  <a:extLst>
                    <a:ext uri="{9D8B030D-6E8A-4147-A177-3AD203B41FA5}">
                      <a16:colId xmlns:a16="http://schemas.microsoft.com/office/drawing/2014/main" val="824069203"/>
                    </a:ext>
                  </a:extLst>
                </a:gridCol>
              </a:tblGrid>
              <a:tr h="1291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</a:p>
                  </a:txBody>
                  <a:tcPr marL="48419" marR="4841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48419" marR="4841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48419" marR="4841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459468"/>
                  </a:ext>
                </a:extLst>
              </a:tr>
              <a:tr h="258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6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START signal (external control)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2435314"/>
                  </a:ext>
                </a:extLst>
              </a:tr>
              <a:tr h="1291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Serial input bit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5645439"/>
                  </a:ext>
                </a:extLst>
              </a:tr>
              <a:tr h="258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Internal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Counter (counts 16 down to 0)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325394"/>
                  </a:ext>
                </a:extLst>
              </a:tr>
              <a:tr h="258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 = 1 when counter reaches 0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1619314"/>
                  </a:ext>
                </a:extLst>
              </a:tr>
              <a:tr h="258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6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 = 1 when pattern “110” found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5486339"/>
                  </a:ext>
                </a:extLst>
              </a:tr>
              <a:tr h="258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 dirty="0" smtClean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6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 (F = 1 if pattern found)</a:t>
                      </a:r>
                    </a:p>
                  </a:txBody>
                  <a:tcPr marL="48419" marR="4841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78319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58647"/>
              </p:ext>
            </p:extLst>
          </p:nvPr>
        </p:nvGraphicFramePr>
        <p:xfrm>
          <a:off x="666750" y="4712970"/>
          <a:ext cx="5730876" cy="539750"/>
        </p:xfrm>
        <a:graphic>
          <a:graphicData uri="http://schemas.openxmlformats.org/drawingml/2006/table">
            <a:tbl>
              <a:tblPr firstRow="1" bandRow="1" bandCol="1"/>
              <a:tblGrid>
                <a:gridCol w="1910292">
                  <a:extLst>
                    <a:ext uri="{9D8B030D-6E8A-4147-A177-3AD203B41FA5}">
                      <a16:colId xmlns:a16="http://schemas.microsoft.com/office/drawing/2014/main" val="3046780282"/>
                    </a:ext>
                  </a:extLst>
                </a:gridCol>
                <a:gridCol w="1910292">
                  <a:extLst>
                    <a:ext uri="{9D8B030D-6E8A-4147-A177-3AD203B41FA5}">
                      <a16:colId xmlns:a16="http://schemas.microsoft.com/office/drawing/2014/main" val="3806264925"/>
                    </a:ext>
                  </a:extLst>
                </a:gridCol>
                <a:gridCol w="1910292">
                  <a:extLst>
                    <a:ext uri="{9D8B030D-6E8A-4147-A177-3AD203B41FA5}">
                      <a16:colId xmlns:a16="http://schemas.microsoft.com/office/drawing/2014/main" val="3928172930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T0, T1, </a:t>
                      </a:r>
                      <a:r>
                        <a:rPr lang="en-US" sz="1600" b="1" dirty="0" smtClean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T2,</a:t>
                      </a:r>
                      <a:r>
                        <a:rPr lang="en-US" sz="1600" b="1" dirty="0" smtClean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T3,</a:t>
                      </a:r>
                      <a:endParaRPr lang="en-US" sz="1600" dirty="0" smtClean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600" b="1" dirty="0" smtClean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  <a:endParaRPr lang="en-US" sz="16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state indicators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0871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0" y="1179565"/>
            <a:ext cx="6096000" cy="11054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600" b="1" dirty="0" smtClean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CONTROLLER DESIGN: ONE-HOT ENCODING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2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What is One-Hot Encoding?</a:t>
            </a:r>
            <a:endParaRPr lang="en-US" sz="1200" dirty="0" smtClean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2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2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one flip-flop per state</a:t>
            </a:r>
            <a:r>
              <a:rPr lang="en-US" sz="12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. At any time, </a:t>
            </a:r>
            <a:r>
              <a:rPr lang="en-US" sz="12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exactly ONE</a:t>
            </a:r>
            <a:r>
              <a:rPr lang="en-US" sz="12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is active (=1).</a:t>
            </a:r>
            <a:endParaRPr lang="en-US" sz="12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706991"/>
              </p:ext>
            </p:extLst>
          </p:nvPr>
        </p:nvGraphicFramePr>
        <p:xfrm>
          <a:off x="7441564" y="2426970"/>
          <a:ext cx="4003676" cy="1920240"/>
        </p:xfrm>
        <a:graphic>
          <a:graphicData uri="http://schemas.openxmlformats.org/drawingml/2006/table">
            <a:tbl>
              <a:tblPr firstRow="1" bandRow="1" bandCol="1"/>
              <a:tblGrid>
                <a:gridCol w="1412876">
                  <a:extLst>
                    <a:ext uri="{9D8B030D-6E8A-4147-A177-3AD203B41FA5}">
                      <a16:colId xmlns:a16="http://schemas.microsoft.com/office/drawing/2014/main" val="4047782248"/>
                    </a:ext>
                  </a:extLst>
                </a:gridCol>
                <a:gridCol w="447040">
                  <a:extLst>
                    <a:ext uri="{9D8B030D-6E8A-4147-A177-3AD203B41FA5}">
                      <a16:colId xmlns:a16="http://schemas.microsoft.com/office/drawing/2014/main" val="4193977183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4268929764"/>
                    </a:ext>
                  </a:extLst>
                </a:gridCol>
                <a:gridCol w="415736">
                  <a:extLst>
                    <a:ext uri="{9D8B030D-6E8A-4147-A177-3AD203B41FA5}">
                      <a16:colId xmlns:a16="http://schemas.microsoft.com/office/drawing/2014/main" val="2326275096"/>
                    </a:ext>
                  </a:extLst>
                </a:gridCol>
                <a:gridCol w="610642">
                  <a:extLst>
                    <a:ext uri="{9D8B030D-6E8A-4147-A177-3AD203B41FA5}">
                      <a16:colId xmlns:a16="http://schemas.microsoft.com/office/drawing/2014/main" val="479036889"/>
                    </a:ext>
                  </a:extLst>
                </a:gridCol>
                <a:gridCol w="639862">
                  <a:extLst>
                    <a:ext uri="{9D8B030D-6E8A-4147-A177-3AD203B41FA5}">
                      <a16:colId xmlns:a16="http://schemas.microsoft.com/office/drawing/2014/main" val="99545846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T0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701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T0 (IDLE)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2066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T1 (SEARCH)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5250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T2 (FOUND)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1490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T4 (STOP)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7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41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r>
              <a:rPr lang="en-US" dirty="0" smtClean="0"/>
              <a:t>Basics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3946" b="31597"/>
          <a:stretch/>
        </p:blipFill>
        <p:spPr>
          <a:xfrm>
            <a:off x="838200" y="2031998"/>
            <a:ext cx="2658533" cy="19303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2084" b="34791"/>
          <a:stretch/>
        </p:blipFill>
        <p:spPr>
          <a:xfrm>
            <a:off x="6756400" y="1396857"/>
            <a:ext cx="4758267" cy="40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9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82" y="110066"/>
            <a:ext cx="2770818" cy="64459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729" y="5483393"/>
            <a:ext cx="2028070" cy="10800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554134" y="5230169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 T1, check two things EVERY clock: 1. </a:t>
            </a: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Pattern “110” found?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→ Go to T2 2. </a:t>
            </a: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16 clocks passed (counter = 0)?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→ Go to T4 3. </a:t>
            </a: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Neither?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→ Stay in T1, keep searching</a:t>
            </a:r>
            <a:endParaRPr lang="en-US" sz="20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6667" y="3089510"/>
            <a:ext cx="7535333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S: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START signal (external input)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I: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Serial input bit (incoming data)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C: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Counter (incremented each clock: C ← C + 1)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Z: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Counter terminal status (Z=1 when C reaches 16 or count expires)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0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F:</a:t>
            </a:r>
            <a:r>
              <a:rPr lang="en-US" sz="20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Output flip-flop (F=1 when “110” found)</a:t>
            </a:r>
            <a:endParaRPr lang="en-US" sz="2000" dirty="0">
              <a:effectLst/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51765"/>
              </p:ext>
            </p:extLst>
          </p:nvPr>
        </p:nvGraphicFramePr>
        <p:xfrm>
          <a:off x="5018617" y="1297517"/>
          <a:ext cx="5730874" cy="914400"/>
        </p:xfrm>
        <a:graphic>
          <a:graphicData uri="http://schemas.openxmlformats.org/drawingml/2006/table">
            <a:tbl>
              <a:tblPr firstRow="1" bandRow="1" bandCol="1"/>
              <a:tblGrid>
                <a:gridCol w="2865437">
                  <a:extLst>
                    <a:ext uri="{9D8B030D-6E8A-4147-A177-3AD203B41FA5}">
                      <a16:colId xmlns:a16="http://schemas.microsoft.com/office/drawing/2014/main" val="318900910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92032257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8584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T0</a:t>
                      </a:r>
                      <a:endParaRPr lang="en-US" sz="12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IDLE - Wait for START signal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54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  <a:endParaRPr lang="en-US" sz="12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SEARCH - Search for pattern “110”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1619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  <a:endParaRPr lang="en-US" sz="12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FOUND - Pattern detected, set F=1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4613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  <a:endParaRPr lang="en-US" sz="12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STOP - Operation complete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07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508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17067" y="1074715"/>
            <a:ext cx="6747933" cy="5511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These equations define D inputs for the state flip-flops: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600" b="1" i="1" dirty="0" smtClean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DTO = T0·S’ + T4·S’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T0: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Stay in T0 if S=0 (START not asserted)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T4: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Return to T0 from STOP if S=0 (START not asserted)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600" b="1" i="1" dirty="0" smtClean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DTI = T0·S + T1·Z’·I’ + T2·Z’·I’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T0: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Enter T1 when S=1 (START asserted)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T1: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Stay in T1 if counting not complete (Z’=1, meaning Z=0) AND no pattern detected yet (I’=1)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T2: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Continue if counting not complete AND no pattern found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600" b="1" i="1" dirty="0" smtClean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DT2 = T1·Z’·I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T1: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Move to T2 when counting not complete (Z’=1) AND pattern detected (I=1)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600" b="1" i="1" dirty="0" smtClean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DT3 = T2·Z’·I + T3·Z’·I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T2: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Stay or move to T3 based on pattern and count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T3: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Continue based on same conditions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600" b="1" i="1" dirty="0" smtClean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DT4 = T3·Z’·I + (T1+T2+T3)·Z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T3: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Move to T4 under pattern/count conditions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From T1, T2, or T3: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Move to T4 when counter expires (Z=1)</a:t>
            </a:r>
            <a:endParaRPr lang="en-US" sz="1600" dirty="0">
              <a:effectLst/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82" y="110066"/>
            <a:ext cx="2770818" cy="644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3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318887"/>
            <a:ext cx="5730875" cy="2718693"/>
          </a:xfrm>
        </p:spPr>
        <p:txBody>
          <a:bodyPr/>
          <a:lstStyle/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T0 → T1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when START=1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T1 loops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while searching (Z’=1 and pattern not found)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T1 → T2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when pattern “110” found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T2 → T4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(after setting F=1)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T1 → T4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or </a:t>
            </a: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T2 → T4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when counter reaches 16 (Z=1)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T4 → T0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when START=1 </a:t>
            </a:r>
            <a:r>
              <a:rPr lang="en-US" dirty="0" smtClean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again</a:t>
            </a:r>
            <a:endParaRPr lang="en-US" dirty="0"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917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7088717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400" b="1" dirty="0" smtClean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Controller Implementation: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5 flip-flops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for one-hot encoding (T0, T1, T2, T3, T4)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Next-state equations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determine which state is active next cycle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Inputs: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S (START), Z (counter), P (pattern), I (serial bit)</a:t>
            </a: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b="1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Outputs:</a:t>
            </a:r>
            <a:r>
              <a:rPr lang="en-US" sz="1600" dirty="0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T0-T4 state signals to </a:t>
            </a:r>
            <a:r>
              <a:rPr lang="en-US" sz="1600" dirty="0" err="1" smtClean="0">
                <a:effectLst/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datapath</a:t>
            </a:r>
            <a:endParaRPr lang="en-US" sz="1600" dirty="0">
              <a:effectLst/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576" y="1164043"/>
            <a:ext cx="4153113" cy="48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4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1933" y="1077634"/>
            <a:ext cx="10947400" cy="634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zh-CN" sz="2400" b="0" i="0" u="none" strike="noStrike" cap="none" normalizeH="0" baseline="0" dirty="0" smtClean="0" bmk="">
                <a:ln>
                  <a:noFill/>
                </a:ln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omponent 1: 4-bit Counter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zh-CN" sz="2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Count from 0 to 16 to limit search duration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Operation:</a:t>
            </a:r>
            <a:r>
              <a:rPr kumimoji="0" lang="en-US" altLang="zh-CN" sz="2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Loads initial value (0) - Increments by 1 on each clock pulse - Output signal Z becomes 1 when counter reaches 16 (or 11111 in binary)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Control Signal:</a:t>
            </a:r>
            <a:r>
              <a:rPr kumimoji="0" lang="en-US" altLang="zh-CN" sz="2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Counter Enable (from T1 state)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Timing: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Clock:  0   1   2   3  ...  15  16</a:t>
            </a:r>
            <a:b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Count:  0   1   2   3  ...  15  16 ← Z becomes 1 here</a:t>
            </a:r>
            <a:endParaRPr kumimoji="0" lang="en-US" altLang="zh-CN" sz="2400" b="0" i="0" u="none" strike="noStrike" cap="none" normalizeH="0" baseline="0" dirty="0" smtClean="0" bmk="">
              <a:ln>
                <a:noFill/>
              </a:ln>
              <a:solidFill>
                <a:srgbClr val="0F476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 bmk="">
                <a:ln>
                  <a:noFill/>
                </a:ln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Component 2: 3-bit Shift Register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zh-CN" sz="2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Maintain the last 3 bits of the input stream to detect “110”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  <a:r>
              <a:rPr kumimoji="0" lang="en-US" altLang="zh-CN" sz="2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Serial input bit (I) - Shift enable (active during T1 state) - Clock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kumimoji="0" lang="en-US" altLang="zh-CN" sz="2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B2, B1, B0 (representing the 3-bit window)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Operation:</a:t>
            </a:r>
            <a:endParaRPr kumimoji="0" lang="en-US" altLang="zh-CN" sz="11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Clock   Serial Input (I)    B2  B1  B0</a:t>
            </a:r>
            <a:b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0          -              X   </a:t>
            </a:r>
            <a:r>
              <a:rPr kumimoji="0" lang="en-US" altLang="zh-CN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zh-CN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(initial)</a:t>
            </a:r>
            <a:b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1          0              0   X   </a:t>
            </a:r>
            <a:r>
              <a:rPr kumimoji="0" lang="en-US" altLang="zh-CN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          1              1   0   X</a:t>
            </a:r>
            <a:b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3          1              1   1   0   ← Can check "110"</a:t>
            </a:r>
            <a:b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4          0              0   1   1  5          1              1   0   1</a:t>
            </a:r>
            <a:endParaRPr kumimoji="0" lang="en-US" altLang="zh-CN" sz="2400" b="0" i="0" u="none" strike="noStrike" cap="none" normalizeH="0" baseline="0" dirty="0" smtClean="0" bmk="">
              <a:ln>
                <a:noFill/>
              </a:ln>
              <a:solidFill>
                <a:srgbClr val="0F476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31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10322983" cy="4124206"/>
          </a:xfrm>
        </p:spPr>
        <p:txBody>
          <a:bodyPr/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kern="1200" dirty="0" bmk="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Component 3: Pattern Detector Logic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altLang="zh-CN" kern="1200" dirty="0" bmk="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Detect when shift register contains “110”</a:t>
            </a:r>
            <a:endParaRPr lang="en-US" altLang="zh-CN" sz="1100" kern="1200" dirty="0" bmk="">
              <a:solidFill>
                <a:prstClr val="black"/>
              </a:solidFill>
              <a:latin typeface="Calibri"/>
              <a:cs typeface="+mn-cs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  <a:endParaRPr lang="en-US" altLang="zh-CN" sz="1100" kern="1200" dirty="0" bmk="">
              <a:solidFill>
                <a:prstClr val="black"/>
              </a:solidFill>
              <a:latin typeface="Calibri"/>
              <a:cs typeface="+mn-cs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kern="1200" dirty="0" bmk="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B2 AND B1 AND NOT(B0)</a:t>
            </a:r>
            <a:br>
              <a:rPr lang="en-US" altLang="zh-CN" sz="1800" kern="1200" dirty="0" bmk="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kern="1200" dirty="0" bmk="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1 when B2=1, B1=1, B0=0</a:t>
            </a:r>
            <a:endParaRPr lang="en-US" altLang="zh-CN" sz="1100" kern="1200" dirty="0" bmk="">
              <a:solidFill>
                <a:prstClr val="black"/>
              </a:solidFill>
              <a:latin typeface="Calibri"/>
              <a:cs typeface="+mn-cs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  <a:r>
              <a:rPr lang="en-US" altLang="zh-CN" kern="1200" dirty="0" bmk="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One AND gate + one </a:t>
            </a:r>
            <a:r>
              <a:rPr lang="en-US" altLang="zh-CN" kern="1200" dirty="0" smtClean="0" bmk="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400" kern="1200" dirty="0" bmk="">
              <a:solidFill>
                <a:srgbClr val="0F4761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kern="1200" dirty="0" bmk="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Component 4: Output Flip-Flop (F)</a:t>
            </a:r>
            <a:endParaRPr lang="en-US" altLang="zh-CN" sz="2400" kern="1200" dirty="0">
              <a:solidFill>
                <a:srgbClr val="0F4761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altLang="zh-CN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Store and output the “pattern found” status</a:t>
            </a:r>
            <a:endParaRPr lang="en-US" altLang="zh-CN" sz="1100" kern="1200" dirty="0" bmk="component-4-output-flip-flop-f">
              <a:solidFill>
                <a:prstClr val="black"/>
              </a:solidFill>
              <a:latin typeface="Calibri"/>
              <a:cs typeface="+mn-cs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Set Condition:</a:t>
            </a:r>
            <a:r>
              <a:rPr lang="en-US" altLang="zh-CN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P=1 (pattern detected in shift register)</a:t>
            </a:r>
            <a:endParaRPr lang="en-US" altLang="zh-CN" sz="1100" kern="1200" dirty="0" bmk="component-4-output-flip-flop-f">
              <a:solidFill>
                <a:prstClr val="black"/>
              </a:solidFill>
              <a:latin typeface="Calibri"/>
              <a:cs typeface="+mn-cs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Clear Condition:</a:t>
            </a:r>
            <a:r>
              <a:rPr lang="en-US" altLang="zh-CN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S=1 during T0 (START signal in IDLE state resets the circuit)</a:t>
            </a:r>
            <a:endParaRPr lang="en-US" altLang="zh-CN" sz="1100" kern="1200" dirty="0" bmk="component-4-output-flip-flop-f">
              <a:solidFill>
                <a:prstClr val="black"/>
              </a:solidFill>
              <a:latin typeface="Calibri"/>
              <a:cs typeface="+mn-cs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zh-CN" kern="1200" dirty="0" bmk="component-4-output-flip-flop-f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F=1: Pattern “110” found - F=0: Pattern not found within 16 clocks</a:t>
            </a:r>
            <a:endParaRPr lang="en-US" altLang="zh-CN" sz="1100" kern="1200" dirty="0">
              <a:solidFill>
                <a:prstClr val="black"/>
              </a:solidFill>
              <a:latin typeface="Calibri"/>
              <a:cs typeface="+mn-cs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0999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1963" b="24024"/>
          <a:stretch/>
        </p:blipFill>
        <p:spPr>
          <a:xfrm>
            <a:off x="6316134" y="1182620"/>
            <a:ext cx="5588000" cy="47694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0583" t="8405" r="16809" b="66638"/>
          <a:stretch/>
        </p:blipFill>
        <p:spPr>
          <a:xfrm>
            <a:off x="584200" y="1659467"/>
            <a:ext cx="3090333" cy="164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4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99" y="335356"/>
            <a:ext cx="8096434" cy="59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928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1011</Words>
  <Application>Microsoft Office PowerPoint</Application>
  <PresentationFormat>Widescreen</PresentationFormat>
  <Paragraphs>204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SimSun</vt:lpstr>
      <vt:lpstr>Aptos</vt:lpstr>
      <vt:lpstr>Aptos Display</vt:lpstr>
      <vt:lpstr>Arial</vt:lpstr>
      <vt:lpstr>Calibri</vt:lpstr>
      <vt:lpstr>Calibri Light</vt:lpstr>
      <vt:lpstr>Consolas</vt:lpstr>
      <vt:lpstr>Symbol</vt:lpstr>
      <vt:lpstr>Times New Roman</vt:lpstr>
      <vt:lpstr>Verdana</vt:lpstr>
      <vt:lpstr>1_Office Theme</vt:lpstr>
      <vt:lpstr>2_Office Theme</vt:lpstr>
      <vt:lpstr>PowerPoint Presentation</vt:lpstr>
      <vt:lpstr>PROBLEM STATEMENT</vt:lpstr>
      <vt:lpstr>PART (a): ASM CHART </vt:lpstr>
      <vt:lpstr>PowerPoint Presentation</vt:lpstr>
      <vt:lpstr>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5</cp:revision>
  <dcterms:created xsi:type="dcterms:W3CDTF">2025-11-17T12:36:15Z</dcterms:created>
  <dcterms:modified xsi:type="dcterms:W3CDTF">2025-11-17T13:02:14Z</dcterms:modified>
</cp:coreProperties>
</file>