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1" r:id="rId3"/>
    <p:sldId id="272" r:id="rId4"/>
    <p:sldId id="257" r:id="rId5"/>
    <p:sldId id="273" r:id="rId6"/>
    <p:sldId id="274" r:id="rId7"/>
    <p:sldId id="268" r:id="rId8"/>
    <p:sldId id="258" r:id="rId9"/>
    <p:sldId id="259" r:id="rId10"/>
    <p:sldId id="275" r:id="rId11"/>
    <p:sldId id="260" r:id="rId12"/>
    <p:sldId id="276" r:id="rId13"/>
    <p:sldId id="277" r:id="rId14"/>
    <p:sldId id="269" r:id="rId15"/>
    <p:sldId id="270" r:id="rId16"/>
    <p:sldId id="263" r:id="rId17"/>
    <p:sldId id="264" r:id="rId18"/>
    <p:sldId id="266" r:id="rId19"/>
    <p:sldId id="278" r:id="rId20"/>
    <p:sldId id="279" r:id="rId21"/>
    <p:sldId id="267" r:id="rId22"/>
    <p:sldId id="26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5" autoAdjust="0"/>
    <p:restoredTop sz="94660"/>
  </p:normalViewPr>
  <p:slideViewPr>
    <p:cSldViewPr snapToGrid="0">
      <p:cViewPr>
        <p:scale>
          <a:sx n="150" d="100"/>
          <a:sy n="15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ADB16D-DC24-4E35-B7EE-BFDF6E4FEE34}"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B9104-3CE1-4321-AA6D-EA889E15FFC3}" type="slidenum">
              <a:rPr lang="en-US" smtClean="0"/>
              <a:t>‹#›</a:t>
            </a:fld>
            <a:endParaRPr lang="en-US"/>
          </a:p>
        </p:txBody>
      </p:sp>
    </p:spTree>
    <p:extLst>
      <p:ext uri="{BB962C8B-B14F-4D97-AF65-F5344CB8AC3E}">
        <p14:creationId xmlns:p14="http://schemas.microsoft.com/office/powerpoint/2010/main" val="21575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4B9104-3CE1-4321-AA6D-EA889E15FFC3}" type="slidenum">
              <a:rPr lang="en-US" smtClean="0"/>
              <a:t>4</a:t>
            </a:fld>
            <a:endParaRPr lang="en-US"/>
          </a:p>
        </p:txBody>
      </p:sp>
    </p:spTree>
    <p:extLst>
      <p:ext uri="{BB962C8B-B14F-4D97-AF65-F5344CB8AC3E}">
        <p14:creationId xmlns:p14="http://schemas.microsoft.com/office/powerpoint/2010/main" val="3415309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013D-EB80-CFCB-6CCD-A0379B7913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948F10-023E-0A92-4D8F-216AD7B49B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EA4029-E681-A0B3-2665-703CE3206D25}"/>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4BF0954E-6D8A-1668-0F87-1C84FB728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8995F-5674-767D-A0AC-8EF7DED7F847}"/>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49176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8A181-7CC1-3789-B50B-AF48E6DF41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BE8FBA-0D76-E1E1-B813-C03E7F7078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DF04D6-0A1C-08D3-09C6-0054AD046FB9}"/>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9CA35AF1-FE18-5B8F-AD58-474B47B043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CCAE7-811E-77AE-104E-4008643EB631}"/>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567719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0212-F763-6172-C2B8-CA250C8AD1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9AFC2B-B7B1-B8BB-1E62-9E905BDDFE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5FE03B-DE82-FD43-B53A-239CBC611EEB}"/>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A9B9947A-6042-F378-D529-E41F41A3A1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25FFDB-1A4E-5D51-0DE2-FFAB94A3D8CF}"/>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59449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7357-4D8B-8D2B-1550-CDDABD3BE3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B70730-0163-CA5E-65C9-D7993AA9C3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0D86A7-5087-26C6-C3B7-60F68AD0E1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759E5C-8C99-0846-9009-A168F9228DC5}"/>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6" name="Footer Placeholder 5">
            <a:extLst>
              <a:ext uri="{FF2B5EF4-FFF2-40B4-BE49-F238E27FC236}">
                <a16:creationId xmlns:a16="http://schemas.microsoft.com/office/drawing/2014/main" id="{06F30A7C-F606-FF7A-899C-605FD22EC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B57184-1DB2-F47A-2FAC-F9C3A0BA75E0}"/>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3296560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A9709-C31B-7D78-6B2A-20A93297FD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B9E8C8-919A-7C51-86A0-42D88E97D6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3A2912-D2A0-0E17-960B-6DBDF907D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EA389A-67BD-9A74-1191-2F4293D239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9B32CE-9E7C-C035-1952-C090492684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E79AFE-1F6D-76EF-F2D5-30005B7BEA56}"/>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8" name="Footer Placeholder 7">
            <a:extLst>
              <a:ext uri="{FF2B5EF4-FFF2-40B4-BE49-F238E27FC236}">
                <a16:creationId xmlns:a16="http://schemas.microsoft.com/office/drawing/2014/main" id="{D2A2229D-A864-C14B-449A-5D23AC64AB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1A9F05-33EF-7B0B-6F6A-7B97278D2340}"/>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2772587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57E4-031B-92C8-0732-938405329A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50E7D3-B653-2CDF-485A-23EEDB6054E3}"/>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4" name="Footer Placeholder 3">
            <a:extLst>
              <a:ext uri="{FF2B5EF4-FFF2-40B4-BE49-F238E27FC236}">
                <a16:creationId xmlns:a16="http://schemas.microsoft.com/office/drawing/2014/main" id="{107B7154-2122-7D65-EA20-3227F3157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CF38EC-CAB2-5FE4-8046-6E2DDB8BA3A9}"/>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3309863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89A6AC-1EBB-79DF-5831-9839A3C5D24C}"/>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3" name="Footer Placeholder 2">
            <a:extLst>
              <a:ext uri="{FF2B5EF4-FFF2-40B4-BE49-F238E27FC236}">
                <a16:creationId xmlns:a16="http://schemas.microsoft.com/office/drawing/2014/main" id="{517D8BFF-7211-212F-288E-071B475AC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5404EF-66F5-20F7-C5AD-3696BBD6BC9E}"/>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306675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BB42-A065-2FE4-67FF-641C751148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252DF0-40A9-1096-B3C5-5AAC694FE2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52558A-E3A1-309A-3A51-2B7B0B7CE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2C18BC-6F97-49A0-887D-7F4ABD9A30A8}"/>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6" name="Footer Placeholder 5">
            <a:extLst>
              <a:ext uri="{FF2B5EF4-FFF2-40B4-BE49-F238E27FC236}">
                <a16:creationId xmlns:a16="http://schemas.microsoft.com/office/drawing/2014/main" id="{C7C87576-0840-4F73-CA5E-F7A8788B29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6CFE9B-BB0A-0053-C9E0-E729CD3AFDAE}"/>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145738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C6BC5-11A9-2998-FE9E-B091A8BF8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9F807B-21E5-9439-7879-F34D6F182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EE2403-AF6A-05FC-4709-172B7FC7D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DA06E-9A85-4690-44B2-419178A4A520}"/>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6" name="Footer Placeholder 5">
            <a:extLst>
              <a:ext uri="{FF2B5EF4-FFF2-40B4-BE49-F238E27FC236}">
                <a16:creationId xmlns:a16="http://schemas.microsoft.com/office/drawing/2014/main" id="{222D7992-3F70-D3BC-1D8D-26F51A5FE4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403EE3-DE2C-9472-0295-845044E69DDE}"/>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24561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1AA9A-8259-E5CE-A0D3-9244D401F6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21E020-95DC-335C-C722-DF210A5B2B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AC967A-134E-FA8F-C5DE-DCEDEE2C96EB}"/>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C2B4C901-E45A-CEB4-2617-9125E8018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C83E3C-2138-3A75-330B-317075DC83AD}"/>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3876202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5282BD-1E93-9111-7159-55F4D4D8E8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4C4D60-F88C-E471-4C6B-F71AF25E06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7898A7-EDBE-C768-0252-9920926C9EC4}"/>
              </a:ext>
            </a:extLst>
          </p:cNvPr>
          <p:cNvSpPr>
            <a:spLocks noGrp="1"/>
          </p:cNvSpPr>
          <p:nvPr>
            <p:ph type="dt" sz="half" idx="10"/>
          </p:nvPr>
        </p:nvSpPr>
        <p:spPr/>
        <p:txBody>
          <a:body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E4AB7C59-9770-2AA6-EC57-79A5E7D90D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CE45B-C74F-CD09-70F3-7B37B10F9914}"/>
              </a:ext>
            </a:extLst>
          </p:cNvPr>
          <p:cNvSpPr>
            <a:spLocks noGrp="1"/>
          </p:cNvSpPr>
          <p:nvPr>
            <p:ph type="sldNum" sz="quarter" idx="12"/>
          </p:nvPr>
        </p:nvSpPr>
        <p:spPr/>
        <p:txBody>
          <a:bodyPr/>
          <a:lstStyle/>
          <a:p>
            <a:fld id="{454ACCB2-9D54-4643-81E9-320266C02CAC}" type="slidenum">
              <a:rPr lang="en-IN" smtClean="0"/>
              <a:t>‹#›</a:t>
            </a:fld>
            <a:endParaRPr lang="en-IN"/>
          </a:p>
        </p:txBody>
      </p:sp>
    </p:spTree>
    <p:extLst>
      <p:ext uri="{BB962C8B-B14F-4D97-AF65-F5344CB8AC3E}">
        <p14:creationId xmlns:p14="http://schemas.microsoft.com/office/powerpoint/2010/main" val="2292092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EF652A-1059-773C-37D8-D90E457A44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2C48AC-CFA0-C568-1800-5B45F19422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8B5181-46A5-8DF6-3ED3-B6BD4EC917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30ED0C-EF2F-4522-971A-36D73BFFE5D3}" type="datetimeFigureOut">
              <a:rPr lang="en-IN" smtClean="0"/>
              <a:t>22-09-2025</a:t>
            </a:fld>
            <a:endParaRPr lang="en-IN"/>
          </a:p>
        </p:txBody>
      </p:sp>
      <p:sp>
        <p:nvSpPr>
          <p:cNvPr id="5" name="Footer Placeholder 4">
            <a:extLst>
              <a:ext uri="{FF2B5EF4-FFF2-40B4-BE49-F238E27FC236}">
                <a16:creationId xmlns:a16="http://schemas.microsoft.com/office/drawing/2014/main" id="{716AE431-2EA8-DE91-0B6B-9755D4E89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4ABF28-0BDE-AF9B-207F-DB6B773F5E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ACCB2-9D54-4643-81E9-320266C02CAC}" type="slidenum">
              <a:rPr lang="en-IN" smtClean="0"/>
              <a:t>‹#›</a:t>
            </a:fld>
            <a:endParaRPr lang="en-IN"/>
          </a:p>
        </p:txBody>
      </p:sp>
    </p:spTree>
    <p:extLst>
      <p:ext uri="{BB962C8B-B14F-4D97-AF65-F5344CB8AC3E}">
        <p14:creationId xmlns:p14="http://schemas.microsoft.com/office/powerpoint/2010/main" val="702194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0.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11.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80.png"/><Relationship Id="rId7" Type="http://schemas.openxmlformats.org/officeDocument/2006/relationships/image" Target="../media/image23.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png"/><Relationship Id="rId10" Type="http://schemas.openxmlformats.org/officeDocument/2006/relationships/image" Target="../media/image26.png"/><Relationship Id="rId4" Type="http://schemas.openxmlformats.org/officeDocument/2006/relationships/image" Target="../media/image9.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FA69AD-5B9A-B5BB-119C-5A6A33B0CF65}"/>
              </a:ext>
            </a:extLst>
          </p:cNvPr>
          <p:cNvSpPr txBox="1"/>
          <p:nvPr/>
        </p:nvSpPr>
        <p:spPr>
          <a:xfrm>
            <a:off x="1472527" y="1800413"/>
            <a:ext cx="9246945" cy="3257174"/>
          </a:xfrm>
          <a:prstGeom prst="rect">
            <a:avLst/>
          </a:prstGeom>
          <a:noFill/>
        </p:spPr>
        <p:txBody>
          <a:bodyPr wrap="square" rtlCol="0">
            <a:spAutoFit/>
          </a:bodyPr>
          <a:lstStyle/>
          <a:p>
            <a:pPr algn="ctr">
              <a:lnSpc>
                <a:spcPct val="150000"/>
              </a:lnSpc>
            </a:pPr>
            <a:r>
              <a:rPr lang="en-IN" sz="2800" dirty="0">
                <a:solidFill>
                  <a:schemeClr val="accent1">
                    <a:lumMod val="75000"/>
                  </a:schemeClr>
                </a:solidFill>
              </a:rPr>
              <a:t>Ques: Design a 3-bit sequence detector using D Flip-Flops to detect a sequence ‘101’. Don’t allow overlapping. Show the state diagram for Mealy and Moore Machine based implementation. Design the Mealy Machine based implementation.</a:t>
            </a:r>
          </a:p>
        </p:txBody>
      </p:sp>
    </p:spTree>
    <p:extLst>
      <p:ext uri="{BB962C8B-B14F-4D97-AF65-F5344CB8AC3E}">
        <p14:creationId xmlns:p14="http://schemas.microsoft.com/office/powerpoint/2010/main" val="192473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Concepts</a:t>
            </a: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Design a 3-bit sequence detector using </a:t>
            </a:r>
            <a:r>
              <a:rPr lang="en-US" b="1" dirty="0">
                <a:latin typeface="Times New Roman" panose="02020603050405020304" pitchFamily="18" charset="0"/>
                <a:cs typeface="Times New Roman" panose="02020603050405020304" pitchFamily="18" charset="0"/>
              </a:rPr>
              <a:t>D Flip-Flops</a:t>
            </a:r>
            <a:r>
              <a:rPr lang="en-US" dirty="0">
                <a:latin typeface="Times New Roman" panose="02020603050405020304" pitchFamily="18" charset="0"/>
                <a:cs typeface="Times New Roman" panose="02020603050405020304" pitchFamily="18" charset="0"/>
              </a:rPr>
              <a:t> that detects the bit pattern </a:t>
            </a:r>
            <a:r>
              <a:rPr lang="en-US" b="1" dirty="0">
                <a:latin typeface="Times New Roman" panose="02020603050405020304" pitchFamily="18" charset="0"/>
                <a:cs typeface="Times New Roman" panose="02020603050405020304" pitchFamily="18" charset="0"/>
              </a:rPr>
              <a:t>“101”</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No overlapping allowed</a:t>
            </a:r>
            <a:r>
              <a:rPr lang="en-US" dirty="0">
                <a:latin typeface="Times New Roman" panose="02020603050405020304" pitchFamily="18" charset="0"/>
                <a:cs typeface="Times New Roman" panose="02020603050405020304" pitchFamily="18" charset="0"/>
              </a:rPr>
              <a:t> → after detecting “101”, the machine must reset instead of reusing part of the sequence.</a:t>
            </a:r>
          </a:p>
          <a:p>
            <a:r>
              <a:rPr lang="en-US" dirty="0">
                <a:latin typeface="Times New Roman" panose="02020603050405020304" pitchFamily="18" charset="0"/>
                <a:cs typeface="Times New Roman" panose="02020603050405020304" pitchFamily="18" charset="0"/>
              </a:rPr>
              <a:t>Show </a:t>
            </a:r>
            <a:r>
              <a:rPr lang="en-US" b="1" dirty="0">
                <a:latin typeface="Times New Roman" panose="02020603050405020304" pitchFamily="18" charset="0"/>
                <a:cs typeface="Times New Roman" panose="02020603050405020304" pitchFamily="18" charset="0"/>
              </a:rPr>
              <a:t>state diagrams</a:t>
            </a:r>
            <a:r>
              <a:rPr lang="en-US" dirty="0">
                <a:latin typeface="Times New Roman" panose="02020603050405020304" pitchFamily="18" charset="0"/>
                <a:cs typeface="Times New Roman" panose="02020603050405020304" pitchFamily="18" charset="0"/>
              </a:rPr>
              <a:t> for </a:t>
            </a:r>
            <a:r>
              <a:rPr lang="en-US" b="1" dirty="0">
                <a:latin typeface="Times New Roman" panose="02020603050405020304" pitchFamily="18" charset="0"/>
                <a:cs typeface="Times New Roman" panose="02020603050405020304" pitchFamily="18" charset="0"/>
              </a:rPr>
              <a:t>Mealy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Moore</a:t>
            </a:r>
            <a:r>
              <a:rPr lang="en-US" dirty="0">
                <a:latin typeface="Times New Roman" panose="02020603050405020304" pitchFamily="18" charset="0"/>
                <a:cs typeface="Times New Roman" panose="02020603050405020304" pitchFamily="18" charset="0"/>
              </a:rPr>
              <a:t> machines.</a:t>
            </a:r>
          </a:p>
          <a:p>
            <a:r>
              <a:rPr lang="en-US" dirty="0">
                <a:latin typeface="Times New Roman" panose="02020603050405020304" pitchFamily="18" charset="0"/>
                <a:cs typeface="Times New Roman" panose="02020603050405020304" pitchFamily="18" charset="0"/>
              </a:rPr>
              <a:t>Finally, implement the </a:t>
            </a:r>
            <a:r>
              <a:rPr lang="en-US" b="1" dirty="0">
                <a:latin typeface="Times New Roman" panose="02020603050405020304" pitchFamily="18" charset="0"/>
                <a:cs typeface="Times New Roman" panose="02020603050405020304" pitchFamily="18" charset="0"/>
              </a:rPr>
              <a:t>Mealy machine</a:t>
            </a:r>
            <a:r>
              <a:rPr lang="en-US" dirty="0">
                <a:latin typeface="Times New Roman" panose="02020603050405020304" pitchFamily="18" charset="0"/>
                <a:cs typeface="Times New Roman" panose="02020603050405020304" pitchFamily="18" charset="0"/>
              </a:rPr>
              <a:t> with D Flip-Flops.</a:t>
            </a:r>
          </a:p>
          <a:p>
            <a:pPr marL="0" indent="0">
              <a:buNone/>
            </a:pPr>
            <a:endParaRPr lang="en-US" dirty="0"/>
          </a:p>
        </p:txBody>
      </p:sp>
    </p:spTree>
    <p:extLst>
      <p:ext uri="{BB962C8B-B14F-4D97-AF65-F5344CB8AC3E}">
        <p14:creationId xmlns:p14="http://schemas.microsoft.com/office/powerpoint/2010/main" val="147896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idx="1"/>
          </p:nvPr>
        </p:nvSpPr>
        <p:spPr bwMode="auto">
          <a:xfrm>
            <a:off x="763387" y="396215"/>
            <a:ext cx="1024665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1: Understanding the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sequence detector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checks a serial bit stream (one bit per clock) and outputs 1 whenever a particular sequence is found.</a:t>
            </a:r>
          </a:p>
          <a:p>
            <a:pPr eaLnBrk="0" fontAlgn="base" hangingPunct="0">
              <a:lnSpc>
                <a:spcPct val="100000"/>
              </a:lnSpc>
              <a:spcBef>
                <a:spcPct val="0"/>
              </a:spcBef>
              <a:spcAft>
                <a:spcPct val="0"/>
              </a:spcAf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Here, the sequence is 101.</a:t>
            </a:r>
          </a:p>
          <a:p>
            <a:pPr eaLnBrk="0" fontAlgn="base" hangingPunct="0">
              <a:lnSpc>
                <a:spcPct val="100000"/>
              </a:lnSpc>
              <a:spcBef>
                <a:spcPct val="0"/>
              </a:spcBef>
              <a:spcAft>
                <a:spcPct val="0"/>
              </a:spcAf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overlapping” means if the input is 10101, only the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first “101”</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detected, and the machine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resets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before looking for another match.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Example:</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stream: …1010…</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stream: …0010…</a:t>
            </a:r>
          </a:p>
          <a:p>
            <a:pPr eaLnBrk="0" fontAlgn="base" hangingPunct="0">
              <a:lnSpc>
                <a:spcPct val="100000"/>
              </a:lnSpc>
              <a:spcBef>
                <a:spcPct val="0"/>
              </a:spcBef>
              <a:spcAft>
                <a:spcPct val="0"/>
              </a:spcAf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Detection at the end of “101” gives output 1.</a:t>
            </a:r>
          </a:p>
          <a:p>
            <a:pPr eaLnBrk="0" fontAlgn="base" hangingPunct="0">
              <a:lnSpc>
                <a:spcPct val="100000"/>
              </a:lnSpc>
              <a:spcBef>
                <a:spcPct val="0"/>
              </a:spcBef>
              <a:spcAft>
                <a:spcPct val="0"/>
              </a:spcAf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Then it resets before continuing.</a:t>
            </a:r>
          </a:p>
        </p:txBody>
      </p:sp>
      <p:sp>
        <p:nvSpPr>
          <p:cNvPr id="6" name="Rectangle 5"/>
          <p:cNvSpPr/>
          <p:nvPr/>
        </p:nvSpPr>
        <p:spPr>
          <a:xfrm>
            <a:off x="745374" y="2672511"/>
            <a:ext cx="10227426" cy="1384995"/>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Step 2: Difference Between Mealy and Moore Machines</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Mealy Machine</a:t>
            </a:r>
            <a:r>
              <a:rPr lang="en-US" sz="1400" dirty="0">
                <a:latin typeface="Times New Roman" panose="02020603050405020304" pitchFamily="18" charset="0"/>
                <a:cs typeface="Times New Roman" panose="02020603050405020304" pitchFamily="18" charset="0"/>
              </a:rPr>
              <a:t>: Output depends on </a:t>
            </a:r>
            <a:r>
              <a:rPr lang="en-US" sz="1400" b="1" dirty="0">
                <a:latin typeface="Times New Roman" panose="02020603050405020304" pitchFamily="18" charset="0"/>
                <a:cs typeface="Times New Roman" panose="02020603050405020304" pitchFamily="18" charset="0"/>
              </a:rPr>
              <a:t>state + input</a:t>
            </a:r>
            <a:r>
              <a:rPr lang="en-US" sz="1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Advantage: Fewer states, faster detection (output is immediate).</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Moore Machine</a:t>
            </a:r>
            <a:r>
              <a:rPr lang="en-US" sz="1400" dirty="0">
                <a:latin typeface="Times New Roman" panose="02020603050405020304" pitchFamily="18" charset="0"/>
                <a:cs typeface="Times New Roman" panose="02020603050405020304" pitchFamily="18" charset="0"/>
              </a:rPr>
              <a:t>: Output depends on </a:t>
            </a:r>
            <a:r>
              <a:rPr lang="en-US" sz="1400" b="1" dirty="0">
                <a:latin typeface="Times New Roman" panose="02020603050405020304" pitchFamily="18" charset="0"/>
                <a:cs typeface="Times New Roman" panose="02020603050405020304" pitchFamily="18" charset="0"/>
              </a:rPr>
              <a:t>state only</a:t>
            </a:r>
            <a:r>
              <a:rPr lang="en-US" sz="1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Advantage: Simpler conceptual model, but more states needed.</a:t>
            </a:r>
          </a:p>
          <a:p>
            <a:r>
              <a:rPr lang="en-US" sz="1400" dirty="0">
                <a:latin typeface="Times New Roman" panose="02020603050405020304" pitchFamily="18" charset="0"/>
                <a:cs typeface="Times New Roman" panose="02020603050405020304" pitchFamily="18" charset="0"/>
              </a:rPr>
              <a:t>👉 In our case, we will </a:t>
            </a:r>
            <a:r>
              <a:rPr lang="en-US" sz="1400" b="1" dirty="0">
                <a:latin typeface="Times New Roman" panose="02020603050405020304" pitchFamily="18" charset="0"/>
                <a:cs typeface="Times New Roman" panose="02020603050405020304" pitchFamily="18" charset="0"/>
              </a:rPr>
              <a:t>design both diagrams</a:t>
            </a:r>
            <a:r>
              <a:rPr lang="en-US" sz="1400" dirty="0">
                <a:latin typeface="Times New Roman" panose="02020603050405020304" pitchFamily="18" charset="0"/>
                <a:cs typeface="Times New Roman" panose="02020603050405020304" pitchFamily="18" charset="0"/>
              </a:rPr>
              <a:t> but </a:t>
            </a:r>
            <a:r>
              <a:rPr lang="en-US" sz="1400" b="1" dirty="0">
                <a:latin typeface="Times New Roman" panose="02020603050405020304" pitchFamily="18" charset="0"/>
                <a:cs typeface="Times New Roman" panose="02020603050405020304" pitchFamily="18" charset="0"/>
              </a:rPr>
              <a:t>implement the Mealy version</a:t>
            </a:r>
            <a:r>
              <a:rPr lang="en-US" sz="1400" dirty="0">
                <a:latin typeface="Times New Roman" panose="02020603050405020304" pitchFamily="18" charset="0"/>
                <a:cs typeface="Times New Roman" panose="02020603050405020304" pitchFamily="18" charset="0"/>
              </a:rPr>
              <a:t>.</a:t>
            </a:r>
          </a:p>
        </p:txBody>
      </p:sp>
      <p:sp>
        <p:nvSpPr>
          <p:cNvPr id="7" name="Rectangle 3"/>
          <p:cNvSpPr>
            <a:spLocks noChangeArrowheads="1"/>
          </p:cNvSpPr>
          <p:nvPr/>
        </p:nvSpPr>
        <p:spPr bwMode="auto">
          <a:xfrm>
            <a:off x="777906" y="4333233"/>
            <a:ext cx="644657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3: Define the States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We define states based on </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how much of “101” we have matched so far</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S0</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Initial state (no bits matched yet).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S1</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Detected first 1.</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S2</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Detected 10.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Detected full sequence 101.</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Because we don’t allow overlapping, after reaching </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we must </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reset to S0</a:t>
            </a:r>
            <a:r>
              <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5568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97D5B55-DEF1-06D4-1B5B-B3D9FE278DF7}"/>
              </a:ext>
            </a:extLst>
          </p:cNvPr>
          <p:cNvSpPr/>
          <p:nvPr/>
        </p:nvSpPr>
        <p:spPr>
          <a:xfrm>
            <a:off x="2071552" y="58040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 name="Oval 2">
            <a:extLst>
              <a:ext uri="{FF2B5EF4-FFF2-40B4-BE49-F238E27FC236}">
                <a16:creationId xmlns:a16="http://schemas.microsoft.com/office/drawing/2014/main" id="{D3813962-8437-43A4-1A83-F18AD34715F1}"/>
              </a:ext>
            </a:extLst>
          </p:cNvPr>
          <p:cNvSpPr/>
          <p:nvPr/>
        </p:nvSpPr>
        <p:spPr>
          <a:xfrm>
            <a:off x="2071551" y="204332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26AC1A0C-9C77-C46C-AF62-DDF499ACC632}"/>
              </a:ext>
            </a:extLst>
          </p:cNvPr>
          <p:cNvSpPr/>
          <p:nvPr/>
        </p:nvSpPr>
        <p:spPr>
          <a:xfrm>
            <a:off x="2071550" y="353071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Oval 4">
            <a:extLst>
              <a:ext uri="{FF2B5EF4-FFF2-40B4-BE49-F238E27FC236}">
                <a16:creationId xmlns:a16="http://schemas.microsoft.com/office/drawing/2014/main" id="{71D2C062-DF05-3B58-8E5C-7B01C2B5C6D9}"/>
              </a:ext>
            </a:extLst>
          </p:cNvPr>
          <p:cNvSpPr/>
          <p:nvPr/>
        </p:nvSpPr>
        <p:spPr>
          <a:xfrm>
            <a:off x="2071549" y="4946006"/>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AE44821D-1825-AB29-BE27-517F4C623272}"/>
              </a:ext>
            </a:extLst>
          </p:cNvPr>
          <p:cNvSpPr txBox="1"/>
          <p:nvPr/>
        </p:nvSpPr>
        <p:spPr>
          <a:xfrm>
            <a:off x="2319829" y="840522"/>
            <a:ext cx="490506" cy="461665"/>
          </a:xfrm>
          <a:prstGeom prst="rect">
            <a:avLst/>
          </a:prstGeom>
          <a:noFill/>
        </p:spPr>
        <p:txBody>
          <a:bodyPr wrap="square" rtlCol="0">
            <a:spAutoFit/>
          </a:bodyPr>
          <a:lstStyle/>
          <a:p>
            <a:r>
              <a:rPr lang="en-IN" sz="2400" dirty="0"/>
              <a:t>S0</a:t>
            </a:r>
          </a:p>
        </p:txBody>
      </p:sp>
      <p:sp>
        <p:nvSpPr>
          <p:cNvPr id="7" name="TextBox 6">
            <a:extLst>
              <a:ext uri="{FF2B5EF4-FFF2-40B4-BE49-F238E27FC236}">
                <a16:creationId xmlns:a16="http://schemas.microsoft.com/office/drawing/2014/main" id="{D4D0E496-53B5-C618-26A5-E91A88EDE10D}"/>
              </a:ext>
            </a:extLst>
          </p:cNvPr>
          <p:cNvSpPr txBox="1"/>
          <p:nvPr/>
        </p:nvSpPr>
        <p:spPr>
          <a:xfrm>
            <a:off x="2319829" y="2279627"/>
            <a:ext cx="490506" cy="461665"/>
          </a:xfrm>
          <a:prstGeom prst="rect">
            <a:avLst/>
          </a:prstGeom>
          <a:noFill/>
        </p:spPr>
        <p:txBody>
          <a:bodyPr wrap="square" rtlCol="0">
            <a:spAutoFit/>
          </a:bodyPr>
          <a:lstStyle/>
          <a:p>
            <a:r>
              <a:rPr lang="en-IN" sz="2400" dirty="0"/>
              <a:t>S1</a:t>
            </a:r>
          </a:p>
        </p:txBody>
      </p:sp>
      <p:sp>
        <p:nvSpPr>
          <p:cNvPr id="8" name="TextBox 7">
            <a:extLst>
              <a:ext uri="{FF2B5EF4-FFF2-40B4-BE49-F238E27FC236}">
                <a16:creationId xmlns:a16="http://schemas.microsoft.com/office/drawing/2014/main" id="{6BAF9ACB-CD38-2804-EF16-87C745EDF871}"/>
              </a:ext>
            </a:extLst>
          </p:cNvPr>
          <p:cNvSpPr txBox="1"/>
          <p:nvPr/>
        </p:nvSpPr>
        <p:spPr>
          <a:xfrm>
            <a:off x="2319829" y="3817591"/>
            <a:ext cx="490506" cy="461665"/>
          </a:xfrm>
          <a:prstGeom prst="rect">
            <a:avLst/>
          </a:prstGeom>
          <a:noFill/>
        </p:spPr>
        <p:txBody>
          <a:bodyPr wrap="square" rtlCol="0">
            <a:spAutoFit/>
          </a:bodyPr>
          <a:lstStyle/>
          <a:p>
            <a:r>
              <a:rPr lang="en-IN" sz="2400" dirty="0"/>
              <a:t>S2</a:t>
            </a:r>
          </a:p>
        </p:txBody>
      </p:sp>
      <p:sp>
        <p:nvSpPr>
          <p:cNvPr id="9" name="TextBox 8">
            <a:extLst>
              <a:ext uri="{FF2B5EF4-FFF2-40B4-BE49-F238E27FC236}">
                <a16:creationId xmlns:a16="http://schemas.microsoft.com/office/drawing/2014/main" id="{F412692F-56D4-B6ED-3189-40254FA1FF84}"/>
              </a:ext>
            </a:extLst>
          </p:cNvPr>
          <p:cNvSpPr txBox="1"/>
          <p:nvPr/>
        </p:nvSpPr>
        <p:spPr>
          <a:xfrm>
            <a:off x="2319829" y="5196595"/>
            <a:ext cx="490506" cy="461665"/>
          </a:xfrm>
          <a:prstGeom prst="rect">
            <a:avLst/>
          </a:prstGeom>
          <a:noFill/>
        </p:spPr>
        <p:txBody>
          <a:bodyPr wrap="square" rtlCol="0">
            <a:spAutoFit/>
          </a:bodyPr>
          <a:lstStyle/>
          <a:p>
            <a:r>
              <a:rPr lang="en-IN" sz="2400" dirty="0"/>
              <a:t>S3</a:t>
            </a:r>
          </a:p>
        </p:txBody>
      </p:sp>
      <p:cxnSp>
        <p:nvCxnSpPr>
          <p:cNvPr id="11" name="Straight Arrow Connector 10">
            <a:extLst>
              <a:ext uri="{FF2B5EF4-FFF2-40B4-BE49-F238E27FC236}">
                <a16:creationId xmlns:a16="http://schemas.microsoft.com/office/drawing/2014/main" id="{5D70351A-7B9E-840E-E531-4D3B66898EBE}"/>
              </a:ext>
            </a:extLst>
          </p:cNvPr>
          <p:cNvCxnSpPr>
            <a:cxnSpLocks/>
            <a:endCxn id="3" idx="0"/>
          </p:cNvCxnSpPr>
          <p:nvPr/>
        </p:nvCxnSpPr>
        <p:spPr>
          <a:xfrm>
            <a:off x="2565080" y="1527876"/>
            <a:ext cx="5" cy="515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544A3A3C-FCA8-189C-B75A-EBBD0AA98265}"/>
              </a:ext>
            </a:extLst>
          </p:cNvPr>
          <p:cNvCxnSpPr>
            <a:cxnSpLocks/>
            <a:endCxn id="4" idx="0"/>
          </p:cNvCxnSpPr>
          <p:nvPr/>
        </p:nvCxnSpPr>
        <p:spPr>
          <a:xfrm>
            <a:off x="2565080" y="3012689"/>
            <a:ext cx="4" cy="5180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3DD2BA69-543E-7A70-3A1C-BFB5082820DE}"/>
              </a:ext>
            </a:extLst>
          </p:cNvPr>
          <p:cNvCxnSpPr>
            <a:cxnSpLocks/>
          </p:cNvCxnSpPr>
          <p:nvPr/>
        </p:nvCxnSpPr>
        <p:spPr>
          <a:xfrm>
            <a:off x="2565080" y="4485634"/>
            <a:ext cx="1" cy="4603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Arc 14">
            <a:extLst>
              <a:ext uri="{FF2B5EF4-FFF2-40B4-BE49-F238E27FC236}">
                <a16:creationId xmlns:a16="http://schemas.microsoft.com/office/drawing/2014/main" id="{B1D03428-3FE0-E93A-A575-C7E9FFCD81D3}"/>
              </a:ext>
            </a:extLst>
          </p:cNvPr>
          <p:cNvSpPr/>
          <p:nvPr/>
        </p:nvSpPr>
        <p:spPr>
          <a:xfrm rot="14916952">
            <a:off x="2998250" y="1996706"/>
            <a:ext cx="267943" cy="978566"/>
          </a:xfrm>
          <a:prstGeom prst="arc">
            <a:avLst>
              <a:gd name="adj1" fmla="val 2739880"/>
              <a:gd name="adj2" fmla="val 1377828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9730E4DF-1AAB-8E2B-4C44-1E8DBAA4649D}"/>
              </a:ext>
            </a:extLst>
          </p:cNvPr>
          <p:cNvCxnSpPr>
            <a:cxnSpLocks/>
            <a:endCxn id="2" idx="2"/>
          </p:cNvCxnSpPr>
          <p:nvPr/>
        </p:nvCxnSpPr>
        <p:spPr>
          <a:xfrm flipV="1">
            <a:off x="2004337" y="1061830"/>
            <a:ext cx="67215" cy="308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Arc 23">
            <a:extLst>
              <a:ext uri="{FF2B5EF4-FFF2-40B4-BE49-F238E27FC236}">
                <a16:creationId xmlns:a16="http://schemas.microsoft.com/office/drawing/2014/main" id="{7B838217-A784-D6F7-5078-2050CADD5FDB}"/>
              </a:ext>
            </a:extLst>
          </p:cNvPr>
          <p:cNvSpPr/>
          <p:nvPr/>
        </p:nvSpPr>
        <p:spPr>
          <a:xfrm>
            <a:off x="2026233" y="1061826"/>
            <a:ext cx="2207946" cy="3036540"/>
          </a:xfrm>
          <a:prstGeom prst="arc">
            <a:avLst>
              <a:gd name="adj1" fmla="val 16200000"/>
              <a:gd name="adj2" fmla="val 5597586"/>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D899F599-B1AA-2C1F-A686-7CEDB3ED19F8}"/>
              </a:ext>
            </a:extLst>
          </p:cNvPr>
          <p:cNvCxnSpPr>
            <a:cxnSpLocks/>
            <a:endCxn id="2" idx="6"/>
          </p:cNvCxnSpPr>
          <p:nvPr/>
        </p:nvCxnSpPr>
        <p:spPr>
          <a:xfrm flipH="1">
            <a:off x="3058619" y="1061828"/>
            <a:ext cx="82201"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1" name="Arc 30">
            <a:extLst>
              <a:ext uri="{FF2B5EF4-FFF2-40B4-BE49-F238E27FC236}">
                <a16:creationId xmlns:a16="http://schemas.microsoft.com/office/drawing/2014/main" id="{9221BF7E-4C41-B5B5-A592-900787FDA5B7}"/>
              </a:ext>
            </a:extLst>
          </p:cNvPr>
          <p:cNvSpPr/>
          <p:nvPr/>
        </p:nvSpPr>
        <p:spPr>
          <a:xfrm>
            <a:off x="552450" y="1201814"/>
            <a:ext cx="2337708" cy="4333196"/>
          </a:xfrm>
          <a:prstGeom prst="arc">
            <a:avLst>
              <a:gd name="adj1" fmla="val 4845275"/>
              <a:gd name="adj2" fmla="val 1616964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F48C7A97-A58B-500F-A803-4F65F8BE1727}"/>
              </a:ext>
            </a:extLst>
          </p:cNvPr>
          <p:cNvCxnSpPr>
            <a:cxnSpLocks/>
            <a:stCxn id="31" idx="2"/>
          </p:cNvCxnSpPr>
          <p:nvPr/>
        </p:nvCxnSpPr>
        <p:spPr>
          <a:xfrm>
            <a:off x="1702172" y="1202104"/>
            <a:ext cx="387091" cy="24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5432674F-5888-32EC-20BC-4E058069D883}"/>
              </a:ext>
            </a:extLst>
          </p:cNvPr>
          <p:cNvSpPr txBox="1"/>
          <p:nvPr/>
        </p:nvSpPr>
        <p:spPr>
          <a:xfrm>
            <a:off x="705081" y="527833"/>
            <a:ext cx="659044" cy="461665"/>
          </a:xfrm>
          <a:prstGeom prst="rect">
            <a:avLst/>
          </a:prstGeom>
          <a:noFill/>
        </p:spPr>
        <p:txBody>
          <a:bodyPr wrap="square" rtlCol="0">
            <a:spAutoFit/>
          </a:bodyPr>
          <a:lstStyle/>
          <a:p>
            <a:r>
              <a:rPr lang="en-IN" sz="2400" dirty="0"/>
              <a:t>0/0</a:t>
            </a:r>
          </a:p>
        </p:txBody>
      </p:sp>
      <p:sp>
        <p:nvSpPr>
          <p:cNvPr id="41" name="TextBox 40">
            <a:extLst>
              <a:ext uri="{FF2B5EF4-FFF2-40B4-BE49-F238E27FC236}">
                <a16:creationId xmlns:a16="http://schemas.microsoft.com/office/drawing/2014/main" id="{869BC1A6-5C22-98DD-8ED6-711CC659C887}"/>
              </a:ext>
            </a:extLst>
          </p:cNvPr>
          <p:cNvSpPr txBox="1"/>
          <p:nvPr/>
        </p:nvSpPr>
        <p:spPr>
          <a:xfrm>
            <a:off x="2577042" y="3001561"/>
            <a:ext cx="696332" cy="461665"/>
          </a:xfrm>
          <a:prstGeom prst="rect">
            <a:avLst/>
          </a:prstGeom>
          <a:noFill/>
        </p:spPr>
        <p:txBody>
          <a:bodyPr wrap="square" rtlCol="0">
            <a:spAutoFit/>
          </a:bodyPr>
          <a:lstStyle/>
          <a:p>
            <a:r>
              <a:rPr lang="en-IN" sz="2400" dirty="0"/>
              <a:t>0/0</a:t>
            </a:r>
          </a:p>
        </p:txBody>
      </p:sp>
      <p:sp>
        <p:nvSpPr>
          <p:cNvPr id="42" name="TextBox 41">
            <a:extLst>
              <a:ext uri="{FF2B5EF4-FFF2-40B4-BE49-F238E27FC236}">
                <a16:creationId xmlns:a16="http://schemas.microsoft.com/office/drawing/2014/main" id="{5251C4CD-D573-0DCB-CCE6-0C092ECC20AF}"/>
              </a:ext>
            </a:extLst>
          </p:cNvPr>
          <p:cNvSpPr txBox="1"/>
          <p:nvPr/>
        </p:nvSpPr>
        <p:spPr>
          <a:xfrm>
            <a:off x="2591120" y="4419165"/>
            <a:ext cx="725394" cy="461665"/>
          </a:xfrm>
          <a:prstGeom prst="rect">
            <a:avLst/>
          </a:prstGeom>
          <a:noFill/>
        </p:spPr>
        <p:txBody>
          <a:bodyPr wrap="square" rtlCol="0">
            <a:spAutoFit/>
          </a:bodyPr>
          <a:lstStyle/>
          <a:p>
            <a:r>
              <a:rPr lang="en-IN" sz="2400" dirty="0"/>
              <a:t>1/1</a:t>
            </a:r>
          </a:p>
        </p:txBody>
      </p:sp>
      <p:sp>
        <p:nvSpPr>
          <p:cNvPr id="43" name="TextBox 42">
            <a:extLst>
              <a:ext uri="{FF2B5EF4-FFF2-40B4-BE49-F238E27FC236}">
                <a16:creationId xmlns:a16="http://schemas.microsoft.com/office/drawing/2014/main" id="{057EF874-4B48-3C3C-6577-FD23936C67B2}"/>
              </a:ext>
            </a:extLst>
          </p:cNvPr>
          <p:cNvSpPr txBox="1"/>
          <p:nvPr/>
        </p:nvSpPr>
        <p:spPr>
          <a:xfrm>
            <a:off x="2537980" y="1534393"/>
            <a:ext cx="696332" cy="461665"/>
          </a:xfrm>
          <a:prstGeom prst="rect">
            <a:avLst/>
          </a:prstGeom>
          <a:noFill/>
        </p:spPr>
        <p:txBody>
          <a:bodyPr wrap="square" rtlCol="0">
            <a:spAutoFit/>
          </a:bodyPr>
          <a:lstStyle/>
          <a:p>
            <a:r>
              <a:rPr lang="en-IN" sz="2400" dirty="0"/>
              <a:t>1/0</a:t>
            </a:r>
          </a:p>
        </p:txBody>
      </p:sp>
      <p:sp>
        <p:nvSpPr>
          <p:cNvPr id="44" name="TextBox 43">
            <a:extLst>
              <a:ext uri="{FF2B5EF4-FFF2-40B4-BE49-F238E27FC236}">
                <a16:creationId xmlns:a16="http://schemas.microsoft.com/office/drawing/2014/main" id="{77E8126B-91EE-2AA8-D4F0-68F7C600E614}"/>
              </a:ext>
            </a:extLst>
          </p:cNvPr>
          <p:cNvSpPr txBox="1"/>
          <p:nvPr/>
        </p:nvSpPr>
        <p:spPr>
          <a:xfrm>
            <a:off x="4033605" y="1581662"/>
            <a:ext cx="659044" cy="461665"/>
          </a:xfrm>
          <a:prstGeom prst="rect">
            <a:avLst/>
          </a:prstGeom>
          <a:noFill/>
        </p:spPr>
        <p:txBody>
          <a:bodyPr wrap="square" rtlCol="0">
            <a:spAutoFit/>
          </a:bodyPr>
          <a:lstStyle/>
          <a:p>
            <a:r>
              <a:rPr lang="en-IN" sz="2400" dirty="0"/>
              <a:t>0/0</a:t>
            </a:r>
          </a:p>
        </p:txBody>
      </p:sp>
      <p:sp>
        <p:nvSpPr>
          <p:cNvPr id="45" name="TextBox 44">
            <a:extLst>
              <a:ext uri="{FF2B5EF4-FFF2-40B4-BE49-F238E27FC236}">
                <a16:creationId xmlns:a16="http://schemas.microsoft.com/office/drawing/2014/main" id="{B632840C-3C5D-8258-93C5-23E95E8CA478}"/>
              </a:ext>
            </a:extLst>
          </p:cNvPr>
          <p:cNvSpPr txBox="1"/>
          <p:nvPr/>
        </p:nvSpPr>
        <p:spPr>
          <a:xfrm>
            <a:off x="768244" y="1908985"/>
            <a:ext cx="659044" cy="461665"/>
          </a:xfrm>
          <a:prstGeom prst="rect">
            <a:avLst/>
          </a:prstGeom>
          <a:noFill/>
        </p:spPr>
        <p:txBody>
          <a:bodyPr wrap="square" rtlCol="0">
            <a:spAutoFit/>
          </a:bodyPr>
          <a:lstStyle/>
          <a:p>
            <a:r>
              <a:rPr lang="en-IN" sz="2400" dirty="0"/>
              <a:t>0/0</a:t>
            </a:r>
          </a:p>
        </p:txBody>
      </p:sp>
      <p:sp>
        <p:nvSpPr>
          <p:cNvPr id="50" name="TextBox 49">
            <a:extLst>
              <a:ext uri="{FF2B5EF4-FFF2-40B4-BE49-F238E27FC236}">
                <a16:creationId xmlns:a16="http://schemas.microsoft.com/office/drawing/2014/main" id="{1E0EB1E6-2454-4D56-C2DD-820A622E26FD}"/>
              </a:ext>
            </a:extLst>
          </p:cNvPr>
          <p:cNvSpPr txBox="1"/>
          <p:nvPr/>
        </p:nvSpPr>
        <p:spPr>
          <a:xfrm>
            <a:off x="4272937" y="208941"/>
            <a:ext cx="3646125" cy="461665"/>
          </a:xfrm>
          <a:prstGeom prst="rect">
            <a:avLst/>
          </a:prstGeom>
          <a:noFill/>
        </p:spPr>
        <p:txBody>
          <a:bodyPr wrap="square" rtlCol="0">
            <a:spAutoFit/>
          </a:bodyPr>
          <a:lstStyle/>
          <a:p>
            <a:r>
              <a:rPr lang="en-IN" sz="2400" b="1" dirty="0"/>
              <a:t>State Transition Diagram</a:t>
            </a:r>
          </a:p>
        </p:txBody>
      </p:sp>
      <p:sp>
        <p:nvSpPr>
          <p:cNvPr id="10" name="Arc 9">
            <a:extLst>
              <a:ext uri="{FF2B5EF4-FFF2-40B4-BE49-F238E27FC236}">
                <a16:creationId xmlns:a16="http://schemas.microsoft.com/office/drawing/2014/main" id="{9E22AEC8-94D7-CB13-436E-9A0C36B07A8B}"/>
              </a:ext>
            </a:extLst>
          </p:cNvPr>
          <p:cNvSpPr/>
          <p:nvPr/>
        </p:nvSpPr>
        <p:spPr>
          <a:xfrm rot="7224164">
            <a:off x="1450852" y="269383"/>
            <a:ext cx="530382" cy="978566"/>
          </a:xfrm>
          <a:prstGeom prst="arc">
            <a:avLst>
              <a:gd name="adj1" fmla="val 17190316"/>
              <a:gd name="adj2" fmla="val 1479445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F621A6B8-1804-2B87-27B4-773D36F12B86}"/>
              </a:ext>
            </a:extLst>
          </p:cNvPr>
          <p:cNvCxnSpPr>
            <a:cxnSpLocks/>
            <a:stCxn id="15" idx="0"/>
          </p:cNvCxnSpPr>
          <p:nvPr/>
        </p:nvCxnSpPr>
        <p:spPr>
          <a:xfrm flipH="1">
            <a:off x="3032581" y="2317728"/>
            <a:ext cx="175545" cy="549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379D7723-DF3F-574A-9739-009F6EC39BF0}"/>
              </a:ext>
            </a:extLst>
          </p:cNvPr>
          <p:cNvSpPr txBox="1"/>
          <p:nvPr/>
        </p:nvSpPr>
        <p:spPr>
          <a:xfrm>
            <a:off x="3288504" y="2389638"/>
            <a:ext cx="696332" cy="461665"/>
          </a:xfrm>
          <a:prstGeom prst="rect">
            <a:avLst/>
          </a:prstGeom>
          <a:noFill/>
        </p:spPr>
        <p:txBody>
          <a:bodyPr wrap="square" rtlCol="0">
            <a:spAutoFit/>
          </a:bodyPr>
          <a:lstStyle/>
          <a:p>
            <a:r>
              <a:rPr lang="en-IN" sz="2400" dirty="0"/>
              <a:t>1/0</a:t>
            </a:r>
          </a:p>
        </p:txBody>
      </p:sp>
      <p:sp>
        <p:nvSpPr>
          <p:cNvPr id="33" name="Arc 32">
            <a:extLst>
              <a:ext uri="{FF2B5EF4-FFF2-40B4-BE49-F238E27FC236}">
                <a16:creationId xmlns:a16="http://schemas.microsoft.com/office/drawing/2014/main" id="{CD2F70ED-A5A5-8E1D-58B0-15F02154EA22}"/>
              </a:ext>
            </a:extLst>
          </p:cNvPr>
          <p:cNvSpPr/>
          <p:nvPr/>
        </p:nvSpPr>
        <p:spPr>
          <a:xfrm rot="20728440">
            <a:off x="1336204" y="2579139"/>
            <a:ext cx="2207946" cy="2686327"/>
          </a:xfrm>
          <a:prstGeom prst="arc">
            <a:avLst>
              <a:gd name="adj1" fmla="val 7057072"/>
              <a:gd name="adj2" fmla="val 15563807"/>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34" name="Straight Arrow Connector 33">
            <a:extLst>
              <a:ext uri="{FF2B5EF4-FFF2-40B4-BE49-F238E27FC236}">
                <a16:creationId xmlns:a16="http://schemas.microsoft.com/office/drawing/2014/main" id="{60CA7ED3-2889-EC28-482F-B7DE0FDDE24D}"/>
              </a:ext>
            </a:extLst>
          </p:cNvPr>
          <p:cNvCxnSpPr>
            <a:cxnSpLocks/>
            <a:stCxn id="33" idx="2"/>
          </p:cNvCxnSpPr>
          <p:nvPr/>
        </p:nvCxnSpPr>
        <p:spPr>
          <a:xfrm flipV="1">
            <a:off x="1874369" y="2597637"/>
            <a:ext cx="186006" cy="1183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8" name="TextBox 37">
            <a:extLst>
              <a:ext uri="{FF2B5EF4-FFF2-40B4-BE49-F238E27FC236}">
                <a16:creationId xmlns:a16="http://schemas.microsoft.com/office/drawing/2014/main" id="{25CDCA70-8C81-4966-1073-AC4FA26524AF}"/>
              </a:ext>
            </a:extLst>
          </p:cNvPr>
          <p:cNvSpPr txBox="1"/>
          <p:nvPr/>
        </p:nvSpPr>
        <p:spPr>
          <a:xfrm>
            <a:off x="1297028" y="3368412"/>
            <a:ext cx="696332" cy="461665"/>
          </a:xfrm>
          <a:prstGeom prst="rect">
            <a:avLst/>
          </a:prstGeom>
          <a:noFill/>
        </p:spPr>
        <p:txBody>
          <a:bodyPr wrap="square" rtlCol="0">
            <a:spAutoFit/>
          </a:bodyPr>
          <a:lstStyle/>
          <a:p>
            <a:r>
              <a:rPr lang="en-IN" sz="2400" dirty="0"/>
              <a:t>1/0</a:t>
            </a:r>
          </a:p>
        </p:txBody>
      </p:sp>
      <p:sp>
        <p:nvSpPr>
          <p:cNvPr id="111" name="TextBox 110">
            <a:extLst>
              <a:ext uri="{FF2B5EF4-FFF2-40B4-BE49-F238E27FC236}">
                <a16:creationId xmlns:a16="http://schemas.microsoft.com/office/drawing/2014/main" id="{024B87B3-07C5-0DAF-2A6E-C2E4D0EAE8D0}"/>
              </a:ext>
            </a:extLst>
          </p:cNvPr>
          <p:cNvSpPr txBox="1"/>
          <p:nvPr/>
        </p:nvSpPr>
        <p:spPr>
          <a:xfrm>
            <a:off x="346535" y="6149439"/>
            <a:ext cx="4927600" cy="369332"/>
          </a:xfrm>
          <a:prstGeom prst="rect">
            <a:avLst/>
          </a:prstGeom>
          <a:noFill/>
        </p:spPr>
        <p:txBody>
          <a:bodyPr wrap="square" rtlCol="0">
            <a:spAutoFit/>
          </a:bodyPr>
          <a:lstStyle/>
          <a:p>
            <a:r>
              <a:rPr lang="en-IN" dirty="0"/>
              <a:t>Mealy Machine based implemented State diagram</a:t>
            </a:r>
          </a:p>
        </p:txBody>
      </p:sp>
      <p:sp>
        <p:nvSpPr>
          <p:cNvPr id="16" name="Rectangle 1"/>
          <p:cNvSpPr>
            <a:spLocks noChangeArrowheads="1"/>
          </p:cNvSpPr>
          <p:nvPr/>
        </p:nvSpPr>
        <p:spPr bwMode="auto">
          <a:xfrm>
            <a:off x="5199844" y="1103021"/>
            <a:ext cx="68547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4: Mealy Machine Design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a Mealy machine, the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is shown on transitions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(state + input).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S0</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0 → stay in S0, output 0.</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1 → go to S1, output 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S1</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(matched first 1):</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0 → go to S2, output 0.</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1 → stay in S1, output 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S2</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(matched 10):</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1 → detected 101 → go to S3, output 1.</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0 → reset to S0, output 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(matched 101):</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 1 given already → reset to S0 regardless of next input.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matches the left diagram in your image (Mealy).</a:t>
            </a:r>
          </a:p>
        </p:txBody>
      </p:sp>
    </p:spTree>
    <p:extLst>
      <p:ext uri="{BB962C8B-B14F-4D97-AF65-F5344CB8AC3E}">
        <p14:creationId xmlns:p14="http://schemas.microsoft.com/office/powerpoint/2010/main" val="3631531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p:cNvGrpSpPr/>
          <p:nvPr/>
        </p:nvGrpSpPr>
        <p:grpSpPr>
          <a:xfrm>
            <a:off x="-54033" y="662371"/>
            <a:ext cx="5520110" cy="5968621"/>
            <a:chOff x="6309313" y="554306"/>
            <a:chExt cx="5520110" cy="5968621"/>
          </a:xfrm>
        </p:grpSpPr>
        <p:sp>
          <p:nvSpPr>
            <p:cNvPr id="3" name="Oval 2">
              <a:extLst>
                <a:ext uri="{FF2B5EF4-FFF2-40B4-BE49-F238E27FC236}">
                  <a16:creationId xmlns:a16="http://schemas.microsoft.com/office/drawing/2014/main" id="{94A55AF7-F850-86A4-510A-D38B66B11D3D}"/>
                </a:ext>
              </a:extLst>
            </p:cNvPr>
            <p:cNvSpPr/>
            <p:nvPr/>
          </p:nvSpPr>
          <p:spPr>
            <a:xfrm>
              <a:off x="9299296" y="58040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17320F07-7DA3-2089-7C98-A26100A9C0BD}"/>
                </a:ext>
              </a:extLst>
            </p:cNvPr>
            <p:cNvSpPr/>
            <p:nvPr/>
          </p:nvSpPr>
          <p:spPr>
            <a:xfrm>
              <a:off x="9299295" y="204332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 name="Oval 4">
              <a:extLst>
                <a:ext uri="{FF2B5EF4-FFF2-40B4-BE49-F238E27FC236}">
                  <a16:creationId xmlns:a16="http://schemas.microsoft.com/office/drawing/2014/main" id="{C71F25F1-2081-AE23-28F0-201A0BC3BF3E}"/>
                </a:ext>
              </a:extLst>
            </p:cNvPr>
            <p:cNvSpPr/>
            <p:nvPr/>
          </p:nvSpPr>
          <p:spPr>
            <a:xfrm>
              <a:off x="9299294" y="353071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Oval 5">
              <a:extLst>
                <a:ext uri="{FF2B5EF4-FFF2-40B4-BE49-F238E27FC236}">
                  <a16:creationId xmlns:a16="http://schemas.microsoft.com/office/drawing/2014/main" id="{1907F133-6D18-6752-10E6-CD34FB9EFEAA}"/>
                </a:ext>
              </a:extLst>
            </p:cNvPr>
            <p:cNvSpPr/>
            <p:nvPr/>
          </p:nvSpPr>
          <p:spPr>
            <a:xfrm>
              <a:off x="9299293" y="4946004"/>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82DDD4D-DE31-BB94-CDE1-ADEEE3206684}"/>
                    </a:ext>
                  </a:extLst>
                </p:cNvPr>
                <p:cNvSpPr txBox="1"/>
                <p:nvPr/>
              </p:nvSpPr>
              <p:spPr>
                <a:xfrm>
                  <a:off x="9551296" y="681506"/>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0</m:t>
                            </m:r>
                          </m:num>
                          <m:den>
                            <m:r>
                              <a:rPr lang="en-IN" sz="2400" b="0" i="1" smtClean="0">
                                <a:latin typeface="Cambria Math" panose="02040503050406030204" pitchFamily="18" charset="0"/>
                              </a:rPr>
                              <m:t>0</m:t>
                            </m:r>
                          </m:den>
                        </m:f>
                      </m:oMath>
                    </m:oMathPara>
                  </a14:m>
                  <a:endParaRPr lang="en-IN" sz="2400" dirty="0"/>
                </a:p>
              </p:txBody>
            </p:sp>
          </mc:Choice>
          <mc:Fallback>
            <p:sp>
              <p:nvSpPr>
                <p:cNvPr id="7" name="TextBox 6">
                  <a:extLst>
                    <a:ext uri="{FF2B5EF4-FFF2-40B4-BE49-F238E27FC236}">
                      <a16:creationId xmlns:a16="http://schemas.microsoft.com/office/drawing/2014/main" id="{282DDD4D-DE31-BB94-CDE1-ADEEE3206684}"/>
                    </a:ext>
                  </a:extLst>
                </p:cNvPr>
                <p:cNvSpPr txBox="1">
                  <a:spLocks noRot="1" noChangeAspect="1" noMove="1" noResize="1" noEditPoints="1" noAdjustHandles="1" noChangeArrowheads="1" noChangeShapeType="1" noTextEdit="1"/>
                </p:cNvSpPr>
                <p:nvPr/>
              </p:nvSpPr>
              <p:spPr>
                <a:xfrm>
                  <a:off x="9551296" y="681506"/>
                  <a:ext cx="490506" cy="783804"/>
                </a:xfrm>
                <a:prstGeom prst="rect">
                  <a:avLst/>
                </a:prstGeom>
                <a:blipFill>
                  <a:blip r:embed="rId2"/>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D2042B5B-068C-C8BA-DC6A-3B58707C4E98}"/>
                </a:ext>
              </a:extLst>
            </p:cNvPr>
            <p:cNvCxnSpPr>
              <a:cxnSpLocks/>
              <a:endCxn id="4" idx="0"/>
            </p:cNvCxnSpPr>
            <p:nvPr/>
          </p:nvCxnSpPr>
          <p:spPr>
            <a:xfrm>
              <a:off x="9792824" y="1527874"/>
              <a:ext cx="5" cy="515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D88EF953-3E4C-5B84-BC25-D441CC2C8798}"/>
                </a:ext>
              </a:extLst>
            </p:cNvPr>
            <p:cNvCxnSpPr>
              <a:cxnSpLocks/>
              <a:endCxn id="5" idx="0"/>
            </p:cNvCxnSpPr>
            <p:nvPr/>
          </p:nvCxnSpPr>
          <p:spPr>
            <a:xfrm>
              <a:off x="9792824" y="3012687"/>
              <a:ext cx="4" cy="5180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5E07A665-54F1-C4CC-B66B-F189361BE079}"/>
                </a:ext>
              </a:extLst>
            </p:cNvPr>
            <p:cNvCxnSpPr>
              <a:cxnSpLocks/>
            </p:cNvCxnSpPr>
            <p:nvPr/>
          </p:nvCxnSpPr>
          <p:spPr>
            <a:xfrm>
              <a:off x="9792824" y="4485632"/>
              <a:ext cx="1" cy="4603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B2DB4403-8D43-25C2-72AF-628309D3A73C}"/>
                </a:ext>
              </a:extLst>
            </p:cNvPr>
            <p:cNvSpPr txBox="1"/>
            <p:nvPr/>
          </p:nvSpPr>
          <p:spPr>
            <a:xfrm>
              <a:off x="9804786" y="3001559"/>
              <a:ext cx="696332" cy="461665"/>
            </a:xfrm>
            <a:prstGeom prst="rect">
              <a:avLst/>
            </a:prstGeom>
            <a:noFill/>
          </p:spPr>
          <p:txBody>
            <a:bodyPr wrap="square" rtlCol="0">
              <a:spAutoFit/>
            </a:bodyPr>
            <a:lstStyle/>
            <a:p>
              <a:r>
                <a:rPr lang="en-IN" sz="2400" dirty="0"/>
                <a:t>0</a:t>
              </a:r>
            </a:p>
          </p:txBody>
        </p:sp>
        <p:sp>
          <p:nvSpPr>
            <p:cNvPr id="12" name="TextBox 11">
              <a:extLst>
                <a:ext uri="{FF2B5EF4-FFF2-40B4-BE49-F238E27FC236}">
                  <a16:creationId xmlns:a16="http://schemas.microsoft.com/office/drawing/2014/main" id="{1251ABC0-A617-970B-FDEA-C7DC9D309B48}"/>
                </a:ext>
              </a:extLst>
            </p:cNvPr>
            <p:cNvSpPr txBox="1"/>
            <p:nvPr/>
          </p:nvSpPr>
          <p:spPr>
            <a:xfrm>
              <a:off x="9804786" y="4419164"/>
              <a:ext cx="303619" cy="461665"/>
            </a:xfrm>
            <a:prstGeom prst="rect">
              <a:avLst/>
            </a:prstGeom>
            <a:noFill/>
          </p:spPr>
          <p:txBody>
            <a:bodyPr wrap="square" rtlCol="0">
              <a:spAutoFit/>
            </a:bodyPr>
            <a:lstStyle/>
            <a:p>
              <a:r>
                <a:rPr lang="en-IN" sz="2400" dirty="0"/>
                <a:t>1</a:t>
              </a:r>
            </a:p>
          </p:txBody>
        </p:sp>
        <p:sp>
          <p:nvSpPr>
            <p:cNvPr id="13" name="TextBox 12">
              <a:extLst>
                <a:ext uri="{FF2B5EF4-FFF2-40B4-BE49-F238E27FC236}">
                  <a16:creationId xmlns:a16="http://schemas.microsoft.com/office/drawing/2014/main" id="{306DA956-075E-29A6-23A9-786DE33D2DB6}"/>
                </a:ext>
              </a:extLst>
            </p:cNvPr>
            <p:cNvSpPr txBox="1"/>
            <p:nvPr/>
          </p:nvSpPr>
          <p:spPr>
            <a:xfrm>
              <a:off x="9765724" y="1534391"/>
              <a:ext cx="696332" cy="461665"/>
            </a:xfrm>
            <a:prstGeom prst="rect">
              <a:avLst/>
            </a:prstGeom>
            <a:noFill/>
          </p:spPr>
          <p:txBody>
            <a:bodyPr wrap="square" rtlCol="0">
              <a:spAutoFit/>
            </a:bodyPr>
            <a:lstStyle/>
            <a:p>
              <a:r>
                <a:rPr lang="en-IN" sz="2400" dirty="0"/>
                <a:t>1</a:t>
              </a:r>
            </a:p>
          </p:txBody>
        </p:sp>
        <p:cxnSp>
          <p:nvCxnSpPr>
            <p:cNvPr id="14" name="Straight Arrow Connector 13">
              <a:extLst>
                <a:ext uri="{FF2B5EF4-FFF2-40B4-BE49-F238E27FC236}">
                  <a16:creationId xmlns:a16="http://schemas.microsoft.com/office/drawing/2014/main" id="{CED8C531-D0C0-7D87-6939-1B50FA9D77DD}"/>
                </a:ext>
              </a:extLst>
            </p:cNvPr>
            <p:cNvCxnSpPr>
              <a:cxnSpLocks/>
            </p:cNvCxnSpPr>
            <p:nvPr/>
          </p:nvCxnSpPr>
          <p:spPr>
            <a:xfrm flipV="1">
              <a:off x="9194856" y="1129011"/>
              <a:ext cx="67215" cy="308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26A37EB4-4859-8B78-1E40-B830CD02F350}"/>
                </a:ext>
              </a:extLst>
            </p:cNvPr>
            <p:cNvSpPr txBox="1"/>
            <p:nvPr/>
          </p:nvSpPr>
          <p:spPr>
            <a:xfrm>
              <a:off x="8181404" y="595014"/>
              <a:ext cx="373239" cy="461665"/>
            </a:xfrm>
            <a:prstGeom prst="rect">
              <a:avLst/>
            </a:prstGeom>
            <a:noFill/>
          </p:spPr>
          <p:txBody>
            <a:bodyPr wrap="square" rtlCol="0">
              <a:spAutoFit/>
            </a:bodyPr>
            <a:lstStyle/>
            <a:p>
              <a:r>
                <a:rPr lang="en-IN" sz="2400" dirty="0"/>
                <a:t>0</a:t>
              </a:r>
            </a:p>
          </p:txBody>
        </p:sp>
        <p:sp>
          <p:nvSpPr>
            <p:cNvPr id="16" name="Arc 15">
              <a:extLst>
                <a:ext uri="{FF2B5EF4-FFF2-40B4-BE49-F238E27FC236}">
                  <a16:creationId xmlns:a16="http://schemas.microsoft.com/office/drawing/2014/main" id="{AB8D9769-3556-E293-9162-8510CC00D41B}"/>
                </a:ext>
              </a:extLst>
            </p:cNvPr>
            <p:cNvSpPr/>
            <p:nvPr/>
          </p:nvSpPr>
          <p:spPr>
            <a:xfrm rot="7224164">
              <a:off x="8673121" y="330214"/>
              <a:ext cx="530382" cy="978566"/>
            </a:xfrm>
            <a:prstGeom prst="arc">
              <a:avLst>
                <a:gd name="adj1" fmla="val 17190316"/>
                <a:gd name="adj2" fmla="val 1479445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
          <p:nvSpPr>
            <p:cNvPr id="17" name="Arc 16">
              <a:extLst>
                <a:ext uri="{FF2B5EF4-FFF2-40B4-BE49-F238E27FC236}">
                  <a16:creationId xmlns:a16="http://schemas.microsoft.com/office/drawing/2014/main" id="{1D5B3C64-34CF-D7EC-6210-7BB0DF75F684}"/>
                </a:ext>
              </a:extLst>
            </p:cNvPr>
            <p:cNvSpPr/>
            <p:nvPr/>
          </p:nvSpPr>
          <p:spPr>
            <a:xfrm>
              <a:off x="7815244" y="1465310"/>
              <a:ext cx="2337708" cy="4333196"/>
            </a:xfrm>
            <a:prstGeom prst="arc">
              <a:avLst>
                <a:gd name="adj1" fmla="val 4758413"/>
                <a:gd name="adj2" fmla="val 1586615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6A695A8F-AA9C-A767-A934-439AE6F4048E}"/>
                </a:ext>
              </a:extLst>
            </p:cNvPr>
            <p:cNvCxnSpPr>
              <a:cxnSpLocks/>
              <a:stCxn id="17" idx="2"/>
            </p:cNvCxnSpPr>
            <p:nvPr/>
          </p:nvCxnSpPr>
          <p:spPr>
            <a:xfrm flipV="1">
              <a:off x="8776391" y="1299854"/>
              <a:ext cx="597575" cy="1999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D76BD670-510D-56EB-BDEC-08D03E00B7EA}"/>
                </a:ext>
              </a:extLst>
            </p:cNvPr>
            <p:cNvSpPr txBox="1"/>
            <p:nvPr/>
          </p:nvSpPr>
          <p:spPr>
            <a:xfrm>
              <a:off x="7814237" y="3271701"/>
              <a:ext cx="367167" cy="461665"/>
            </a:xfrm>
            <a:prstGeom prst="rect">
              <a:avLst/>
            </a:prstGeom>
            <a:noFill/>
          </p:spPr>
          <p:txBody>
            <a:bodyPr wrap="square" rtlCol="0">
              <a:spAutoFit/>
            </a:bodyPr>
            <a:lstStyle/>
            <a:p>
              <a:r>
                <a:rPr lang="en-IN" sz="2400" dirty="0"/>
                <a:t>0</a:t>
              </a:r>
            </a:p>
          </p:txBody>
        </p:sp>
        <p:sp>
          <p:nvSpPr>
            <p:cNvPr id="20" name="Arc 19">
              <a:extLst>
                <a:ext uri="{FF2B5EF4-FFF2-40B4-BE49-F238E27FC236}">
                  <a16:creationId xmlns:a16="http://schemas.microsoft.com/office/drawing/2014/main" id="{F8420310-0C02-7E89-DAA8-B14D5217E352}"/>
                </a:ext>
              </a:extLst>
            </p:cNvPr>
            <p:cNvSpPr/>
            <p:nvPr/>
          </p:nvSpPr>
          <p:spPr>
            <a:xfrm rot="14916952">
              <a:off x="10258862" y="1923602"/>
              <a:ext cx="267943" cy="978566"/>
            </a:xfrm>
            <a:prstGeom prst="arc">
              <a:avLst>
                <a:gd name="adj1" fmla="val 2739880"/>
                <a:gd name="adj2" fmla="val 1377828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45F72EA3-386C-A9C5-922A-C5A1EE3AB467}"/>
                </a:ext>
              </a:extLst>
            </p:cNvPr>
            <p:cNvCxnSpPr>
              <a:cxnSpLocks/>
              <a:stCxn id="20" idx="0"/>
            </p:cNvCxnSpPr>
            <p:nvPr/>
          </p:nvCxnSpPr>
          <p:spPr>
            <a:xfrm flipH="1">
              <a:off x="10253793" y="2244624"/>
              <a:ext cx="214945" cy="7310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2A15DBFA-2559-1EED-C6B1-1CB34EB2738D}"/>
                </a:ext>
              </a:extLst>
            </p:cNvPr>
            <p:cNvSpPr txBox="1"/>
            <p:nvPr/>
          </p:nvSpPr>
          <p:spPr>
            <a:xfrm>
              <a:off x="10779891" y="1999133"/>
              <a:ext cx="359598" cy="461665"/>
            </a:xfrm>
            <a:prstGeom prst="rect">
              <a:avLst/>
            </a:prstGeom>
            <a:noFill/>
          </p:spPr>
          <p:txBody>
            <a:bodyPr wrap="square" rtlCol="0">
              <a:spAutoFit/>
            </a:bodyPr>
            <a:lstStyle/>
            <a:p>
              <a:r>
                <a:rPr lang="en-IN" sz="2400" dirty="0"/>
                <a:t>1</a:t>
              </a:r>
            </a:p>
          </p:txBody>
        </p:sp>
        <p:sp>
          <p:nvSpPr>
            <p:cNvPr id="23" name="Arc 22">
              <a:extLst>
                <a:ext uri="{FF2B5EF4-FFF2-40B4-BE49-F238E27FC236}">
                  <a16:creationId xmlns:a16="http://schemas.microsoft.com/office/drawing/2014/main" id="{F7E83C41-66F0-AD1E-D727-9A3874B191EC}"/>
                </a:ext>
              </a:extLst>
            </p:cNvPr>
            <p:cNvSpPr/>
            <p:nvPr/>
          </p:nvSpPr>
          <p:spPr>
            <a:xfrm>
              <a:off x="9194856" y="2770172"/>
              <a:ext cx="2219666" cy="2675907"/>
            </a:xfrm>
            <a:prstGeom prst="arc">
              <a:avLst>
                <a:gd name="adj1" fmla="val 16232683"/>
                <a:gd name="adj2" fmla="val 5461367"/>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1E959A8D-76A6-A0A1-04E0-6EB2FD2239B8}"/>
                </a:ext>
              </a:extLst>
            </p:cNvPr>
            <p:cNvCxnSpPr>
              <a:cxnSpLocks/>
              <a:stCxn id="23" idx="0"/>
            </p:cNvCxnSpPr>
            <p:nvPr/>
          </p:nvCxnSpPr>
          <p:spPr>
            <a:xfrm flipH="1">
              <a:off x="10211458" y="2770260"/>
              <a:ext cx="105951" cy="55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0D0115EC-A9B5-A9B4-43C3-E3EB4284027F}"/>
                </a:ext>
              </a:extLst>
            </p:cNvPr>
            <p:cNvSpPr txBox="1"/>
            <p:nvPr/>
          </p:nvSpPr>
          <p:spPr>
            <a:xfrm>
              <a:off x="11364602" y="3636701"/>
              <a:ext cx="303619" cy="461665"/>
            </a:xfrm>
            <a:prstGeom prst="rect">
              <a:avLst/>
            </a:prstGeom>
            <a:noFill/>
          </p:spPr>
          <p:txBody>
            <a:bodyPr wrap="square" rtlCol="0">
              <a:spAutoFit/>
            </a:bodyPr>
            <a:lstStyle/>
            <a:p>
              <a:r>
                <a:rPr lang="en-IN" sz="2400" dirty="0"/>
                <a:t>1</a:t>
              </a:r>
            </a:p>
          </p:txBody>
        </p:sp>
        <p:sp>
          <p:nvSpPr>
            <p:cNvPr id="26" name="Arc 25">
              <a:extLst>
                <a:ext uri="{FF2B5EF4-FFF2-40B4-BE49-F238E27FC236}">
                  <a16:creationId xmlns:a16="http://schemas.microsoft.com/office/drawing/2014/main" id="{3FD965B9-02EE-8DB2-AB1A-B1533A6D790D}"/>
                </a:ext>
              </a:extLst>
            </p:cNvPr>
            <p:cNvSpPr/>
            <p:nvPr/>
          </p:nvSpPr>
          <p:spPr>
            <a:xfrm rot="20381417">
              <a:off x="8661819" y="1720089"/>
              <a:ext cx="1544304" cy="2647937"/>
            </a:xfrm>
            <a:prstGeom prst="arc">
              <a:avLst>
                <a:gd name="adj1" fmla="val 6898633"/>
                <a:gd name="adj2" fmla="val 1596859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3F661C34-EB01-8133-EC24-7D72DAB5178C}"/>
                </a:ext>
              </a:extLst>
            </p:cNvPr>
            <p:cNvCxnSpPr>
              <a:cxnSpLocks/>
              <a:stCxn id="26" idx="2"/>
            </p:cNvCxnSpPr>
            <p:nvPr/>
          </p:nvCxnSpPr>
          <p:spPr>
            <a:xfrm flipV="1">
              <a:off x="8894316" y="1449434"/>
              <a:ext cx="607830" cy="39195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3043D570-77CD-D2F9-6265-E91D8B9331DF}"/>
                </a:ext>
              </a:extLst>
            </p:cNvPr>
            <p:cNvSpPr txBox="1"/>
            <p:nvPr/>
          </p:nvSpPr>
          <p:spPr>
            <a:xfrm>
              <a:off x="8663106" y="2973681"/>
              <a:ext cx="367167" cy="461665"/>
            </a:xfrm>
            <a:prstGeom prst="rect">
              <a:avLst/>
            </a:prstGeom>
            <a:noFill/>
          </p:spPr>
          <p:txBody>
            <a:bodyPr wrap="square" rtlCol="0">
              <a:spAutoFit/>
            </a:bodyPr>
            <a:lstStyle/>
            <a:p>
              <a:r>
                <a:rPr lang="en-IN" sz="2400" dirty="0"/>
                <a:t>0</a:t>
              </a:r>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2BF5135E-05C0-F617-7820-53AF062F8339}"/>
                    </a:ext>
                  </a:extLst>
                </p:cNvPr>
                <p:cNvSpPr txBox="1"/>
                <p:nvPr/>
              </p:nvSpPr>
              <p:spPr>
                <a:xfrm>
                  <a:off x="9538039" y="2095995"/>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1</m:t>
                            </m:r>
                          </m:num>
                          <m:den>
                            <m:r>
                              <a:rPr lang="en-IN" sz="2400" b="0" i="1" smtClean="0">
                                <a:latin typeface="Cambria Math" panose="02040503050406030204" pitchFamily="18" charset="0"/>
                              </a:rPr>
                              <m:t>0</m:t>
                            </m:r>
                          </m:den>
                        </m:f>
                      </m:oMath>
                    </m:oMathPara>
                  </a14:m>
                  <a:endParaRPr lang="en-IN" sz="2400" dirty="0"/>
                </a:p>
              </p:txBody>
            </p:sp>
          </mc:Choice>
          <mc:Fallback>
            <p:sp>
              <p:nvSpPr>
                <p:cNvPr id="29" name="TextBox 28">
                  <a:extLst>
                    <a:ext uri="{FF2B5EF4-FFF2-40B4-BE49-F238E27FC236}">
                      <a16:creationId xmlns:a16="http://schemas.microsoft.com/office/drawing/2014/main" id="{2BF5135E-05C0-F617-7820-53AF062F8339}"/>
                    </a:ext>
                  </a:extLst>
                </p:cNvPr>
                <p:cNvSpPr txBox="1">
                  <a:spLocks noRot="1" noChangeAspect="1" noMove="1" noResize="1" noEditPoints="1" noAdjustHandles="1" noChangeArrowheads="1" noChangeShapeType="1" noTextEdit="1"/>
                </p:cNvSpPr>
                <p:nvPr/>
              </p:nvSpPr>
              <p:spPr>
                <a:xfrm>
                  <a:off x="9538039" y="2095995"/>
                  <a:ext cx="490506" cy="7838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4A169178-C8A4-EB02-0EB4-693EBAFBD2E6}"/>
                    </a:ext>
                  </a:extLst>
                </p:cNvPr>
                <p:cNvSpPr txBox="1"/>
                <p:nvPr/>
              </p:nvSpPr>
              <p:spPr>
                <a:xfrm>
                  <a:off x="9528144" y="3640342"/>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2</m:t>
                            </m:r>
                          </m:num>
                          <m:den>
                            <m:r>
                              <a:rPr lang="en-IN" sz="2400" b="0" i="1" smtClean="0">
                                <a:latin typeface="Cambria Math" panose="02040503050406030204" pitchFamily="18" charset="0"/>
                              </a:rPr>
                              <m:t>0</m:t>
                            </m:r>
                          </m:den>
                        </m:f>
                      </m:oMath>
                    </m:oMathPara>
                  </a14:m>
                  <a:endParaRPr lang="en-IN" sz="2400" dirty="0"/>
                </a:p>
              </p:txBody>
            </p:sp>
          </mc:Choice>
          <mc:Fallback>
            <p:sp>
              <p:nvSpPr>
                <p:cNvPr id="30" name="TextBox 29">
                  <a:extLst>
                    <a:ext uri="{FF2B5EF4-FFF2-40B4-BE49-F238E27FC236}">
                      <a16:creationId xmlns:a16="http://schemas.microsoft.com/office/drawing/2014/main" id="{4A169178-C8A4-EB02-0EB4-693EBAFBD2E6}"/>
                    </a:ext>
                  </a:extLst>
                </p:cNvPr>
                <p:cNvSpPr txBox="1">
                  <a:spLocks noRot="1" noChangeAspect="1" noMove="1" noResize="1" noEditPoints="1" noAdjustHandles="1" noChangeArrowheads="1" noChangeShapeType="1" noTextEdit="1"/>
                </p:cNvSpPr>
                <p:nvPr/>
              </p:nvSpPr>
              <p:spPr>
                <a:xfrm>
                  <a:off x="9528144" y="3640342"/>
                  <a:ext cx="490506" cy="7838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2A451529-217B-2AF1-E9CC-ACF6F645EE20}"/>
                    </a:ext>
                  </a:extLst>
                </p:cNvPr>
                <p:cNvSpPr txBox="1"/>
                <p:nvPr/>
              </p:nvSpPr>
              <p:spPr>
                <a:xfrm>
                  <a:off x="9525173" y="5021219"/>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3</m:t>
                            </m:r>
                          </m:num>
                          <m:den>
                            <m:r>
                              <a:rPr lang="en-IN" sz="2400" b="0" i="1" smtClean="0">
                                <a:latin typeface="Cambria Math" panose="02040503050406030204" pitchFamily="18" charset="0"/>
                              </a:rPr>
                              <m:t>1</m:t>
                            </m:r>
                          </m:den>
                        </m:f>
                      </m:oMath>
                    </m:oMathPara>
                  </a14:m>
                  <a:endParaRPr lang="en-IN" sz="2400" dirty="0"/>
                </a:p>
              </p:txBody>
            </p:sp>
          </mc:Choice>
          <mc:Fallback>
            <p:sp>
              <p:nvSpPr>
                <p:cNvPr id="31" name="TextBox 30">
                  <a:extLst>
                    <a:ext uri="{FF2B5EF4-FFF2-40B4-BE49-F238E27FC236}">
                      <a16:creationId xmlns:a16="http://schemas.microsoft.com/office/drawing/2014/main" id="{2A451529-217B-2AF1-E9CC-ACF6F645EE20}"/>
                    </a:ext>
                  </a:extLst>
                </p:cNvPr>
                <p:cNvSpPr txBox="1">
                  <a:spLocks noRot="1" noChangeAspect="1" noMove="1" noResize="1" noEditPoints="1" noAdjustHandles="1" noChangeArrowheads="1" noChangeShapeType="1" noTextEdit="1"/>
                </p:cNvSpPr>
                <p:nvPr/>
              </p:nvSpPr>
              <p:spPr>
                <a:xfrm>
                  <a:off x="9525173" y="5021219"/>
                  <a:ext cx="490506" cy="783804"/>
                </a:xfrm>
                <a:prstGeom prst="rect">
                  <a:avLst/>
                </a:prstGeom>
                <a:blipFill>
                  <a:blip r:embed="rId5"/>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BB07AF79-8E1D-2E76-29A3-A66F42E9C139}"/>
                </a:ext>
              </a:extLst>
            </p:cNvPr>
            <p:cNvSpPr txBox="1"/>
            <p:nvPr/>
          </p:nvSpPr>
          <p:spPr>
            <a:xfrm>
              <a:off x="6901823" y="6153595"/>
              <a:ext cx="4927600" cy="369332"/>
            </a:xfrm>
            <a:prstGeom prst="rect">
              <a:avLst/>
            </a:prstGeom>
            <a:noFill/>
          </p:spPr>
          <p:txBody>
            <a:bodyPr wrap="square" rtlCol="0">
              <a:spAutoFit/>
            </a:bodyPr>
            <a:lstStyle/>
            <a:p>
              <a:r>
                <a:rPr lang="en-IN" dirty="0"/>
                <a:t>Moore Machine based implemented State diagram</a:t>
              </a:r>
            </a:p>
          </p:txBody>
        </p:sp>
        <p:sp>
          <p:nvSpPr>
            <p:cNvPr id="33" name="TextBox 32">
              <a:extLst>
                <a:ext uri="{FF2B5EF4-FFF2-40B4-BE49-F238E27FC236}">
                  <a16:creationId xmlns:a16="http://schemas.microsoft.com/office/drawing/2014/main" id="{F4202C04-56D9-8F74-E214-1B6A6C01E586}"/>
                </a:ext>
              </a:extLst>
            </p:cNvPr>
            <p:cNvSpPr txBox="1"/>
            <p:nvPr/>
          </p:nvSpPr>
          <p:spPr>
            <a:xfrm>
              <a:off x="6309313" y="5248278"/>
              <a:ext cx="1992431" cy="830997"/>
            </a:xfrm>
            <a:prstGeom prst="rect">
              <a:avLst/>
            </a:prstGeom>
            <a:noFill/>
          </p:spPr>
          <p:txBody>
            <a:bodyPr wrap="square" rtlCol="0">
              <a:spAutoFit/>
            </a:bodyPr>
            <a:lstStyle/>
            <a:p>
              <a:pPr algn="ctr"/>
              <a:r>
                <a:rPr lang="en-IN" sz="1600" dirty="0"/>
                <a:t>In Moore’s Machine, output depends on present state only.</a:t>
              </a:r>
            </a:p>
          </p:txBody>
        </p:sp>
      </p:grpSp>
      <p:sp>
        <p:nvSpPr>
          <p:cNvPr id="35" name="Rectangle 1"/>
          <p:cNvSpPr>
            <a:spLocks noChangeArrowheads="1"/>
          </p:cNvSpPr>
          <p:nvPr/>
        </p:nvSpPr>
        <p:spPr bwMode="auto">
          <a:xfrm>
            <a:off x="6114011" y="1224617"/>
            <a:ext cx="612078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5: Moore Machine Design</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Moore machine, output depends only on the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 output 1 to state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S1</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S2</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output 1.</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Transition rules same as Mealy, except the output is tied to states.</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matches the right diagram in your image (Moore).</a:t>
            </a:r>
          </a:p>
        </p:txBody>
      </p:sp>
    </p:spTree>
    <p:extLst>
      <p:ext uri="{BB962C8B-B14F-4D97-AF65-F5344CB8AC3E}">
        <p14:creationId xmlns:p14="http://schemas.microsoft.com/office/powerpoint/2010/main" val="1466457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43931006"/>
              </p:ext>
            </p:extLst>
          </p:nvPr>
        </p:nvGraphicFramePr>
        <p:xfrm>
          <a:off x="784167" y="1864924"/>
          <a:ext cx="10515600" cy="2926080"/>
        </p:xfrm>
        <a:graphic>
          <a:graphicData uri="http://schemas.openxmlformats.org/drawingml/2006/table">
            <a:tbl>
              <a:tblPr/>
              <a:tblGrid>
                <a:gridCol w="2628900">
                  <a:extLst>
                    <a:ext uri="{9D8B030D-6E8A-4147-A177-3AD203B41FA5}">
                      <a16:colId xmlns:a16="http://schemas.microsoft.com/office/drawing/2014/main" val="1654059949"/>
                    </a:ext>
                  </a:extLst>
                </a:gridCol>
                <a:gridCol w="2628900">
                  <a:extLst>
                    <a:ext uri="{9D8B030D-6E8A-4147-A177-3AD203B41FA5}">
                      <a16:colId xmlns:a16="http://schemas.microsoft.com/office/drawing/2014/main" val="1125876862"/>
                    </a:ext>
                  </a:extLst>
                </a:gridCol>
                <a:gridCol w="2628900">
                  <a:extLst>
                    <a:ext uri="{9D8B030D-6E8A-4147-A177-3AD203B41FA5}">
                      <a16:colId xmlns:a16="http://schemas.microsoft.com/office/drawing/2014/main" val="341049799"/>
                    </a:ext>
                  </a:extLst>
                </a:gridCol>
                <a:gridCol w="2628900">
                  <a:extLst>
                    <a:ext uri="{9D8B030D-6E8A-4147-A177-3AD203B41FA5}">
                      <a16:colId xmlns:a16="http://schemas.microsoft.com/office/drawing/2014/main" val="4280166503"/>
                    </a:ext>
                  </a:extLst>
                </a:gridCol>
              </a:tblGrid>
              <a:tr h="0">
                <a:tc>
                  <a:txBody>
                    <a:bodyPr/>
                    <a:lstStyle/>
                    <a:p>
                      <a:r>
                        <a:rPr lang="en-US"/>
                        <a:t>Present State</a:t>
                      </a:r>
                    </a:p>
                  </a:txBody>
                  <a:tcPr anchor="ctr">
                    <a:lnL>
                      <a:noFill/>
                    </a:lnL>
                    <a:lnR>
                      <a:noFill/>
                    </a:lnR>
                    <a:lnT>
                      <a:noFill/>
                    </a:lnT>
                    <a:lnB>
                      <a:noFill/>
                    </a:lnB>
                  </a:tcPr>
                </a:tc>
                <a:tc>
                  <a:txBody>
                    <a:bodyPr/>
                    <a:lstStyle/>
                    <a:p>
                      <a:r>
                        <a:rPr lang="en-US"/>
                        <a:t>Input</a:t>
                      </a:r>
                    </a:p>
                  </a:txBody>
                  <a:tcPr anchor="ctr">
                    <a:lnL>
                      <a:noFill/>
                    </a:lnL>
                    <a:lnR>
                      <a:noFill/>
                    </a:lnR>
                    <a:lnT>
                      <a:noFill/>
                    </a:lnT>
                    <a:lnB>
                      <a:noFill/>
                    </a:lnB>
                  </a:tcPr>
                </a:tc>
                <a:tc>
                  <a:txBody>
                    <a:bodyPr/>
                    <a:lstStyle/>
                    <a:p>
                      <a:r>
                        <a:rPr lang="en-US" dirty="0"/>
                        <a:t>Next State</a:t>
                      </a:r>
                    </a:p>
                  </a:txBody>
                  <a:tcPr anchor="ctr">
                    <a:lnL>
                      <a:noFill/>
                    </a:lnL>
                    <a:lnR>
                      <a:noFill/>
                    </a:lnR>
                    <a:lnT>
                      <a:noFill/>
                    </a:lnT>
                    <a:lnB>
                      <a:noFill/>
                    </a:lnB>
                  </a:tcPr>
                </a:tc>
                <a:tc>
                  <a:txBody>
                    <a:bodyPr/>
                    <a:lstStyle/>
                    <a:p>
                      <a:r>
                        <a:rPr lang="en-US"/>
                        <a:t>Output</a:t>
                      </a:r>
                    </a:p>
                  </a:txBody>
                  <a:tcPr anchor="ctr">
                    <a:lnL>
                      <a:noFill/>
                    </a:lnL>
                    <a:lnR>
                      <a:noFill/>
                    </a:lnR>
                    <a:lnT>
                      <a:noFill/>
                    </a:lnT>
                    <a:lnB>
                      <a:noFill/>
                    </a:lnB>
                  </a:tcPr>
                </a:tc>
                <a:extLst>
                  <a:ext uri="{0D108BD9-81ED-4DB2-BD59-A6C34878D82A}">
                    <a16:rowId xmlns:a16="http://schemas.microsoft.com/office/drawing/2014/main" val="860869498"/>
                  </a:ext>
                </a:extLst>
              </a:tr>
              <a:tr h="0">
                <a:tc>
                  <a:txBody>
                    <a:bodyPr/>
                    <a:lstStyle/>
                    <a:p>
                      <a:r>
                        <a:rPr lang="en-US"/>
                        <a:t>S0</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S0</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extLst>
                  <a:ext uri="{0D108BD9-81ED-4DB2-BD59-A6C34878D82A}">
                    <a16:rowId xmlns:a16="http://schemas.microsoft.com/office/drawing/2014/main" val="1477607639"/>
                  </a:ext>
                </a:extLst>
              </a:tr>
              <a:tr h="0">
                <a:tc>
                  <a:txBody>
                    <a:bodyPr/>
                    <a:lstStyle/>
                    <a:p>
                      <a:r>
                        <a:rPr lang="en-US"/>
                        <a:t>S0</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a:t>S1</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extLst>
                  <a:ext uri="{0D108BD9-81ED-4DB2-BD59-A6C34878D82A}">
                    <a16:rowId xmlns:a16="http://schemas.microsoft.com/office/drawing/2014/main" val="3571445008"/>
                  </a:ext>
                </a:extLst>
              </a:tr>
              <a:tr h="0">
                <a:tc>
                  <a:txBody>
                    <a:bodyPr/>
                    <a:lstStyle/>
                    <a:p>
                      <a:r>
                        <a:rPr lang="en-US"/>
                        <a:t>S1</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S2</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extLst>
                  <a:ext uri="{0D108BD9-81ED-4DB2-BD59-A6C34878D82A}">
                    <a16:rowId xmlns:a16="http://schemas.microsoft.com/office/drawing/2014/main" val="3186193874"/>
                  </a:ext>
                </a:extLst>
              </a:tr>
              <a:tr h="0">
                <a:tc>
                  <a:txBody>
                    <a:bodyPr/>
                    <a:lstStyle/>
                    <a:p>
                      <a:r>
                        <a:rPr lang="en-US"/>
                        <a:t>S1</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a:t>S1</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extLst>
                  <a:ext uri="{0D108BD9-81ED-4DB2-BD59-A6C34878D82A}">
                    <a16:rowId xmlns:a16="http://schemas.microsoft.com/office/drawing/2014/main" val="1136934900"/>
                  </a:ext>
                </a:extLst>
              </a:tr>
              <a:tr h="0">
                <a:tc>
                  <a:txBody>
                    <a:bodyPr/>
                    <a:lstStyle/>
                    <a:p>
                      <a:r>
                        <a:rPr lang="en-US"/>
                        <a:t>S2</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S0</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extLst>
                  <a:ext uri="{0D108BD9-81ED-4DB2-BD59-A6C34878D82A}">
                    <a16:rowId xmlns:a16="http://schemas.microsoft.com/office/drawing/2014/main" val="2510413118"/>
                  </a:ext>
                </a:extLst>
              </a:tr>
              <a:tr h="0">
                <a:tc>
                  <a:txBody>
                    <a:bodyPr/>
                    <a:lstStyle/>
                    <a:p>
                      <a:r>
                        <a:rPr lang="en-US"/>
                        <a:t>S2</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a:t>S3</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extLst>
                  <a:ext uri="{0D108BD9-81ED-4DB2-BD59-A6C34878D82A}">
                    <a16:rowId xmlns:a16="http://schemas.microsoft.com/office/drawing/2014/main" val="4250177149"/>
                  </a:ext>
                </a:extLst>
              </a:tr>
              <a:tr h="0">
                <a:tc>
                  <a:txBody>
                    <a:bodyPr/>
                    <a:lstStyle/>
                    <a:p>
                      <a:r>
                        <a:rPr lang="en-US"/>
                        <a:t>S3</a:t>
                      </a:r>
                    </a:p>
                  </a:txBody>
                  <a:tcPr anchor="ctr">
                    <a:lnL>
                      <a:noFill/>
                    </a:lnL>
                    <a:lnR>
                      <a:noFill/>
                    </a:lnR>
                    <a:lnT>
                      <a:noFill/>
                    </a:lnT>
                    <a:lnB>
                      <a:noFill/>
                    </a:lnB>
                  </a:tcPr>
                </a:tc>
                <a:tc>
                  <a:txBody>
                    <a:bodyPr/>
                    <a:lstStyle/>
                    <a:p>
                      <a:r>
                        <a:rPr lang="en-US"/>
                        <a:t>X</a:t>
                      </a:r>
                    </a:p>
                  </a:txBody>
                  <a:tcPr anchor="ctr">
                    <a:lnL>
                      <a:noFill/>
                    </a:lnL>
                    <a:lnR>
                      <a:noFill/>
                    </a:lnR>
                    <a:lnT>
                      <a:noFill/>
                    </a:lnT>
                    <a:lnB>
                      <a:noFill/>
                    </a:lnB>
                  </a:tcPr>
                </a:tc>
                <a:tc>
                  <a:txBody>
                    <a:bodyPr/>
                    <a:lstStyle/>
                    <a:p>
                      <a:r>
                        <a:rPr lang="en-US"/>
                        <a:t>S0</a:t>
                      </a:r>
                    </a:p>
                  </a:txBody>
                  <a:tcPr anchor="ctr">
                    <a:lnL>
                      <a:noFill/>
                    </a:lnL>
                    <a:lnR>
                      <a:noFill/>
                    </a:lnR>
                    <a:lnT>
                      <a:noFill/>
                    </a:lnT>
                    <a:lnB>
                      <a:noFill/>
                    </a:lnB>
                  </a:tcPr>
                </a:tc>
                <a:tc>
                  <a:txBody>
                    <a:bodyPr/>
                    <a:lstStyle/>
                    <a:p>
                      <a:r>
                        <a:rPr lang="en-US" dirty="0"/>
                        <a:t>0</a:t>
                      </a:r>
                    </a:p>
                  </a:txBody>
                  <a:tcPr anchor="ctr">
                    <a:lnL>
                      <a:noFill/>
                    </a:lnL>
                    <a:lnR>
                      <a:noFill/>
                    </a:lnR>
                    <a:lnT>
                      <a:noFill/>
                    </a:lnT>
                    <a:lnB>
                      <a:noFill/>
                    </a:lnB>
                  </a:tcPr>
                </a:tc>
                <a:extLst>
                  <a:ext uri="{0D108BD9-81ED-4DB2-BD59-A6C34878D82A}">
                    <a16:rowId xmlns:a16="http://schemas.microsoft.com/office/drawing/2014/main" val="2605009970"/>
                  </a:ext>
                </a:extLst>
              </a:tr>
            </a:tbl>
          </a:graphicData>
        </a:graphic>
      </p:graphicFrame>
      <p:sp>
        <p:nvSpPr>
          <p:cNvPr id="3" name="Rectangle 1"/>
          <p:cNvSpPr>
            <a:spLocks noChangeArrowheads="1"/>
          </p:cNvSpPr>
          <p:nvPr/>
        </p:nvSpPr>
        <p:spPr bwMode="auto">
          <a:xfrm>
            <a:off x="763385" y="1067646"/>
            <a:ext cx="44567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6: State Table for Mealy Machine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We create a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state table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(used for flip-flop implementation):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36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70F934C7-DF71-CEA8-D3E1-0D65197CDDF6}"/>
              </a:ext>
            </a:extLst>
          </p:cNvPr>
          <p:cNvSpPr txBox="1"/>
          <p:nvPr/>
        </p:nvSpPr>
        <p:spPr>
          <a:xfrm>
            <a:off x="3222625" y="1843950"/>
            <a:ext cx="5746750" cy="3170099"/>
          </a:xfrm>
          <a:prstGeom prst="rect">
            <a:avLst/>
          </a:prstGeom>
          <a:noFill/>
        </p:spPr>
        <p:txBody>
          <a:bodyPr wrap="square" rtlCol="0">
            <a:spAutoFit/>
          </a:bodyPr>
          <a:lstStyle/>
          <a:p>
            <a:pPr algn="ctr"/>
            <a:r>
              <a:rPr lang="en-IN" sz="2000" dirty="0"/>
              <a:t>From the state diagram,</a:t>
            </a:r>
          </a:p>
          <a:p>
            <a:pPr algn="ctr"/>
            <a:r>
              <a:rPr lang="en-IN" sz="2000" dirty="0"/>
              <a:t>we have four states S0, S1, S2, S3.</a:t>
            </a:r>
          </a:p>
          <a:p>
            <a:pPr algn="ctr"/>
            <a:endParaRPr lang="en-IN" sz="2000" dirty="0"/>
          </a:p>
          <a:p>
            <a:pPr algn="ctr"/>
            <a:r>
              <a:rPr lang="en-IN" sz="2000" dirty="0"/>
              <a:t>Encode:  S0 as 00</a:t>
            </a:r>
          </a:p>
          <a:p>
            <a:pPr lvl="2" algn="ctr"/>
            <a:r>
              <a:rPr lang="en-IN" sz="2000" dirty="0"/>
              <a:t>S1 as 01</a:t>
            </a:r>
          </a:p>
          <a:p>
            <a:pPr lvl="2" algn="ctr"/>
            <a:r>
              <a:rPr lang="en-IN" sz="2000" dirty="0"/>
              <a:t>S2 as 10</a:t>
            </a:r>
          </a:p>
          <a:p>
            <a:pPr lvl="2" algn="ctr"/>
            <a:r>
              <a:rPr lang="en-IN" sz="2000" dirty="0"/>
              <a:t>S3 as 11</a:t>
            </a:r>
          </a:p>
          <a:p>
            <a:pPr lvl="2" algn="ctr"/>
            <a:endParaRPr lang="en-IN" sz="2000" dirty="0"/>
          </a:p>
          <a:p>
            <a:pPr algn="ctr"/>
            <a:r>
              <a:rPr lang="en-IN" sz="2000" dirty="0"/>
              <a:t>So for 4 states, 2 flip flops are required. Call their output as Q1, Q0.</a:t>
            </a:r>
          </a:p>
        </p:txBody>
      </p:sp>
    </p:spTree>
    <p:extLst>
      <p:ext uri="{BB962C8B-B14F-4D97-AF65-F5344CB8AC3E}">
        <p14:creationId xmlns:p14="http://schemas.microsoft.com/office/powerpoint/2010/main" val="6721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F75E7D6-09A3-E716-45B7-99ED6504F381}"/>
                  </a:ext>
                </a:extLst>
              </p:cNvPr>
              <p:cNvGraphicFramePr>
                <a:graphicFrameLocks noGrp="1"/>
              </p:cNvGraphicFramePr>
              <p:nvPr>
                <p:extLst>
                  <p:ext uri="{D42A27DB-BD31-4B8C-83A1-F6EECF244321}">
                    <p14:modId xmlns:p14="http://schemas.microsoft.com/office/powerpoint/2010/main" val="3052805231"/>
                  </p:ext>
                </p:extLst>
              </p:nvPr>
            </p:nvGraphicFramePr>
            <p:xfrm>
              <a:off x="686813" y="679337"/>
              <a:ext cx="10828800" cy="3688080"/>
            </p:xfrm>
            <a:graphic>
              <a:graphicData uri="http://schemas.openxmlformats.org/drawingml/2006/table">
                <a:tbl>
                  <a:tblPr firstRow="1" bandRow="1">
                    <a:tableStyleId>{5940675A-B579-460E-94D1-54222C63F5DA}</a:tableStyleId>
                  </a:tblPr>
                  <a:tblGrid>
                    <a:gridCol w="1353600">
                      <a:extLst>
                        <a:ext uri="{9D8B030D-6E8A-4147-A177-3AD203B41FA5}">
                          <a16:colId xmlns:a16="http://schemas.microsoft.com/office/drawing/2014/main" val="3437135134"/>
                        </a:ext>
                      </a:extLst>
                    </a:gridCol>
                    <a:gridCol w="1353600">
                      <a:extLst>
                        <a:ext uri="{9D8B030D-6E8A-4147-A177-3AD203B41FA5}">
                          <a16:colId xmlns:a16="http://schemas.microsoft.com/office/drawing/2014/main" val="2933985549"/>
                        </a:ext>
                      </a:extLst>
                    </a:gridCol>
                    <a:gridCol w="1353600">
                      <a:extLst>
                        <a:ext uri="{9D8B030D-6E8A-4147-A177-3AD203B41FA5}">
                          <a16:colId xmlns:a16="http://schemas.microsoft.com/office/drawing/2014/main" val="1762740387"/>
                        </a:ext>
                      </a:extLst>
                    </a:gridCol>
                    <a:gridCol w="1353600">
                      <a:extLst>
                        <a:ext uri="{9D8B030D-6E8A-4147-A177-3AD203B41FA5}">
                          <a16:colId xmlns:a16="http://schemas.microsoft.com/office/drawing/2014/main" val="2234014298"/>
                        </a:ext>
                      </a:extLst>
                    </a:gridCol>
                    <a:gridCol w="1353600">
                      <a:extLst>
                        <a:ext uri="{9D8B030D-6E8A-4147-A177-3AD203B41FA5}">
                          <a16:colId xmlns:a16="http://schemas.microsoft.com/office/drawing/2014/main" val="3859240692"/>
                        </a:ext>
                      </a:extLst>
                    </a:gridCol>
                    <a:gridCol w="1353600">
                      <a:extLst>
                        <a:ext uri="{9D8B030D-6E8A-4147-A177-3AD203B41FA5}">
                          <a16:colId xmlns:a16="http://schemas.microsoft.com/office/drawing/2014/main" val="2397332516"/>
                        </a:ext>
                      </a:extLst>
                    </a:gridCol>
                    <a:gridCol w="1353600">
                      <a:extLst>
                        <a:ext uri="{9D8B030D-6E8A-4147-A177-3AD203B41FA5}">
                          <a16:colId xmlns:a16="http://schemas.microsoft.com/office/drawing/2014/main" val="674611442"/>
                        </a:ext>
                      </a:extLst>
                    </a:gridCol>
                    <a:gridCol w="1353600">
                      <a:extLst>
                        <a:ext uri="{9D8B030D-6E8A-4147-A177-3AD203B41FA5}">
                          <a16:colId xmlns:a16="http://schemas.microsoft.com/office/drawing/2014/main" val="2502184966"/>
                        </a:ext>
                      </a:extLst>
                    </a:gridCol>
                  </a:tblGrid>
                  <a:tr h="0">
                    <a:tc gridSpan="2">
                      <a:txBody>
                        <a:bodyPr/>
                        <a:lstStyle/>
                        <a:p>
                          <a:pPr algn="ctr"/>
                          <a:r>
                            <a:rPr lang="en-IN" dirty="0"/>
                            <a:t>Present State</a:t>
                          </a:r>
                        </a:p>
                      </a:txBody>
                      <a:tcPr marL="121706" marR="121706"/>
                    </a:tc>
                    <a:tc hMerge="1">
                      <a:txBody>
                        <a:bodyPr/>
                        <a:lstStyle/>
                        <a:p>
                          <a:endParaRPr lang="en-IN" dirty="0"/>
                        </a:p>
                      </a:txBody>
                      <a:tcPr marL="121706" marR="121706"/>
                    </a:tc>
                    <a:tc>
                      <a:txBody>
                        <a:bodyPr/>
                        <a:lstStyle/>
                        <a:p>
                          <a:pPr algn="ctr"/>
                          <a:r>
                            <a:rPr lang="en-IN" dirty="0"/>
                            <a:t>Input</a:t>
                          </a:r>
                        </a:p>
                      </a:txBody>
                      <a:tcPr marL="121706" marR="121706"/>
                    </a:tc>
                    <a:tc gridSpan="2">
                      <a:txBody>
                        <a:bodyPr/>
                        <a:lstStyle/>
                        <a:p>
                          <a:pPr algn="ctr"/>
                          <a:r>
                            <a:rPr lang="en-IN" dirty="0"/>
                            <a:t>Next State</a:t>
                          </a:r>
                        </a:p>
                      </a:txBody>
                      <a:tcPr marL="121706" marR="121706"/>
                    </a:tc>
                    <a:tc hMerge="1">
                      <a:txBody>
                        <a:bodyPr/>
                        <a:lstStyle/>
                        <a:p>
                          <a:endParaRPr lang="en-IN" dirty="0"/>
                        </a:p>
                      </a:txBody>
                      <a:tcPr marL="121706" marR="121706"/>
                    </a:tc>
                    <a:tc>
                      <a:txBody>
                        <a:bodyPr/>
                        <a:lstStyle/>
                        <a:p>
                          <a:pPr algn="ctr"/>
                          <a:r>
                            <a:rPr lang="en-IN" dirty="0"/>
                            <a:t>Output</a:t>
                          </a:r>
                        </a:p>
                      </a:txBody>
                      <a:tcPr marL="121706" marR="121706"/>
                    </a:tc>
                    <a:tc gridSpan="2">
                      <a:txBody>
                        <a:bodyPr/>
                        <a:lstStyle/>
                        <a:p>
                          <a:pPr algn="ctr"/>
                          <a:r>
                            <a:rPr lang="en-IN" dirty="0"/>
                            <a:t>Flip-Flop inputs</a:t>
                          </a:r>
                        </a:p>
                      </a:txBody>
                      <a:tcPr marL="121706" marR="121706"/>
                    </a:tc>
                    <a:tc hMerge="1">
                      <a:txBody>
                        <a:bodyPr/>
                        <a:lstStyle/>
                        <a:p>
                          <a:pPr algn="ctr"/>
                          <a:endParaRPr lang="en-IN" dirty="0"/>
                        </a:p>
                      </a:txBody>
                      <a:tcPr marL="121706" marR="121706"/>
                    </a:tc>
                    <a:extLst>
                      <a:ext uri="{0D108BD9-81ED-4DB2-BD59-A6C34878D82A}">
                        <a16:rowId xmlns:a16="http://schemas.microsoft.com/office/drawing/2014/main" val="2878732794"/>
                      </a:ext>
                    </a:extLst>
                  </a:tr>
                  <a:tr h="0">
                    <a:tc>
                      <a:txBody>
                        <a:bodyPr/>
                        <a:lstStyle/>
                        <a:p>
                          <a:pPr algn="ctr"/>
                          <a:r>
                            <a:rPr lang="en-IN" b="1" dirty="0"/>
                            <a:t>Q1</a:t>
                          </a:r>
                        </a:p>
                      </a:txBody>
                      <a:tcPr marL="121706" marR="121706"/>
                    </a:tc>
                    <a:tc>
                      <a:txBody>
                        <a:bodyPr/>
                        <a:lstStyle/>
                        <a:p>
                          <a:pPr algn="ctr"/>
                          <a:r>
                            <a:rPr lang="en-IN" b="1" dirty="0"/>
                            <a:t>Q0</a:t>
                          </a:r>
                        </a:p>
                      </a:txBody>
                      <a:tcPr marL="121706" marR="121706"/>
                    </a:tc>
                    <a:tc>
                      <a:txBody>
                        <a:bodyPr/>
                        <a:lstStyle/>
                        <a:p>
                          <a:pPr algn="ctr"/>
                          <a:r>
                            <a:rPr lang="en-IN" b="1" dirty="0"/>
                            <a:t>X</a:t>
                          </a:r>
                        </a:p>
                      </a:txBody>
                      <a:tcPr marL="121706" marR="121706"/>
                    </a:tc>
                    <a:tc>
                      <a:txBody>
                        <a:bodyPr/>
                        <a:lstStyle/>
                        <a:p>
                          <a:pPr algn="ctr"/>
                          <a14:m>
                            <m:oMathPara xmlns:m="http://schemas.openxmlformats.org/officeDocument/2006/math">
                              <m:oMathParaPr>
                                <m:jc m:val="centerGroup"/>
                              </m:oMathParaPr>
                              <m:oMath xmlns:m="http://schemas.openxmlformats.org/officeDocument/2006/math">
                                <m:sSup>
                                  <m:sSupPr>
                                    <m:ctrlPr>
                                      <a:rPr lang="en-IN" sz="1800" b="1" i="1" smtClean="0">
                                        <a:latin typeface="Cambria Math" panose="02040503050406030204" pitchFamily="18" charset="0"/>
                                      </a:rPr>
                                    </m:ctrlPr>
                                  </m:sSupPr>
                                  <m:e>
                                    <m:r>
                                      <a:rPr lang="en-IN" sz="1800" b="1" i="1" smtClean="0">
                                        <a:latin typeface="Cambria Math" panose="02040503050406030204" pitchFamily="18" charset="0"/>
                                      </a:rPr>
                                      <m:t>𝑸</m:t>
                                    </m:r>
                                    <m:r>
                                      <a:rPr lang="en-IN" sz="1800" b="1" i="1" smtClean="0">
                                        <a:latin typeface="Cambria Math" panose="02040503050406030204" pitchFamily="18" charset="0"/>
                                      </a:rPr>
                                      <m:t>𝟏</m:t>
                                    </m:r>
                                  </m:e>
                                  <m:sup>
                                    <m:r>
                                      <a:rPr lang="en-IN" sz="1800" b="1" i="1" smtClean="0">
                                        <a:latin typeface="Cambria Math" panose="02040503050406030204" pitchFamily="18" charset="0"/>
                                      </a:rPr>
                                      <m:t>+</m:t>
                                    </m:r>
                                  </m:sup>
                                </m:sSup>
                              </m:oMath>
                            </m:oMathPara>
                          </a14:m>
                          <a:endParaRPr lang="en-IN" b="1" dirty="0"/>
                        </a:p>
                      </a:txBody>
                      <a:tcPr marL="121706" marR="121706"/>
                    </a:tc>
                    <a:tc>
                      <a:txBody>
                        <a:bodyPr/>
                        <a:lstStyle/>
                        <a:p>
                          <a:pPr algn="ctr"/>
                          <a14:m>
                            <m:oMathPara xmlns:m="http://schemas.openxmlformats.org/officeDocument/2006/math">
                              <m:oMathParaPr>
                                <m:jc m:val="centerGroup"/>
                              </m:oMathParaPr>
                              <m:oMath xmlns:m="http://schemas.openxmlformats.org/officeDocument/2006/math">
                                <m:sSup>
                                  <m:sSupPr>
                                    <m:ctrlPr>
                                      <a:rPr lang="en-IN" sz="2000" b="1" i="1" smtClean="0">
                                        <a:latin typeface="Cambria Math" panose="02040503050406030204" pitchFamily="18" charset="0"/>
                                      </a:rPr>
                                    </m:ctrlPr>
                                  </m:sSupPr>
                                  <m:e>
                                    <m:r>
                                      <a:rPr lang="en-IN" sz="2000" b="1" i="1" smtClean="0">
                                        <a:latin typeface="Cambria Math" panose="02040503050406030204" pitchFamily="18" charset="0"/>
                                      </a:rPr>
                                      <m:t>𝑸</m:t>
                                    </m:r>
                                    <m:r>
                                      <a:rPr lang="en-IN" sz="2000" b="1" i="1" smtClean="0">
                                        <a:latin typeface="Cambria Math" panose="02040503050406030204" pitchFamily="18" charset="0"/>
                                      </a:rPr>
                                      <m:t>𝟎</m:t>
                                    </m:r>
                                  </m:e>
                                  <m:sup>
                                    <m:r>
                                      <a:rPr lang="en-IN" sz="2000" b="1" i="1" smtClean="0">
                                        <a:latin typeface="Cambria Math" panose="02040503050406030204" pitchFamily="18" charset="0"/>
                                      </a:rPr>
                                      <m:t>+</m:t>
                                    </m:r>
                                  </m:sup>
                                </m:sSup>
                              </m:oMath>
                            </m:oMathPara>
                          </a14:m>
                          <a:endParaRPr lang="en-IN" sz="2000" b="1" dirty="0"/>
                        </a:p>
                      </a:txBody>
                      <a:tcPr marL="121706" marR="121706"/>
                    </a:tc>
                    <a:tc>
                      <a:txBody>
                        <a:bodyPr/>
                        <a:lstStyle/>
                        <a:p>
                          <a:pPr algn="ctr"/>
                          <a:r>
                            <a:rPr lang="en-IN" b="1" dirty="0"/>
                            <a:t>Z</a:t>
                          </a:r>
                        </a:p>
                      </a:txBody>
                      <a:tcPr marL="121706" marR="121706"/>
                    </a:tc>
                    <a:tc>
                      <a:txBody>
                        <a:bodyPr/>
                        <a:lstStyle/>
                        <a:p>
                          <a:pPr algn="ctr"/>
                          <a:r>
                            <a:rPr lang="en-IN" b="1" dirty="0"/>
                            <a:t>D1</a:t>
                          </a:r>
                        </a:p>
                      </a:txBody>
                      <a:tcPr marL="121706" marR="121706"/>
                    </a:tc>
                    <a:tc>
                      <a:txBody>
                        <a:bodyPr/>
                        <a:lstStyle/>
                        <a:p>
                          <a:pPr algn="ctr"/>
                          <a:r>
                            <a:rPr lang="en-IN" b="1" dirty="0"/>
                            <a:t>D0</a:t>
                          </a:r>
                        </a:p>
                      </a:txBody>
                      <a:tcPr marL="121706" marR="121706"/>
                    </a:tc>
                    <a:extLst>
                      <a:ext uri="{0D108BD9-81ED-4DB2-BD59-A6C34878D82A}">
                        <a16:rowId xmlns:a16="http://schemas.microsoft.com/office/drawing/2014/main" val="3367109654"/>
                      </a:ext>
                    </a:extLst>
                  </a:tr>
                  <a:tr h="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783127527"/>
                      </a:ext>
                    </a:extLst>
                  </a:tr>
                  <a:tr h="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361314861"/>
                      </a:ext>
                    </a:extLst>
                  </a:tr>
                  <a:tr h="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2728514999"/>
                      </a:ext>
                    </a:extLst>
                  </a:tr>
                  <a:tr h="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004251963"/>
                      </a:ext>
                    </a:extLst>
                  </a:tr>
                  <a:tr h="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3965152139"/>
                      </a:ext>
                    </a:extLst>
                  </a:tr>
                  <a:tr h="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003450018"/>
                      </a:ext>
                    </a:extLst>
                  </a:tr>
                  <a:tr h="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1669904233"/>
                      </a:ext>
                    </a:extLst>
                  </a:tr>
                  <a:tr h="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255474343"/>
                      </a:ext>
                    </a:extLst>
                  </a:tr>
                </a:tbl>
              </a:graphicData>
            </a:graphic>
          </p:graphicFrame>
        </mc:Choice>
        <mc:Fallback xmlns="">
          <p:graphicFrame>
            <p:nvGraphicFramePr>
              <p:cNvPr id="3" name="Table 2">
                <a:extLst>
                  <a:ext uri="{FF2B5EF4-FFF2-40B4-BE49-F238E27FC236}">
                    <a16:creationId xmlns:a16="http://schemas.microsoft.com/office/drawing/2014/main" id="{AF75E7D6-09A3-E716-45B7-99ED6504F381}"/>
                  </a:ext>
                </a:extLst>
              </p:cNvPr>
              <p:cNvGraphicFramePr>
                <a:graphicFrameLocks noGrp="1"/>
              </p:cNvGraphicFramePr>
              <p:nvPr>
                <p:extLst>
                  <p:ext uri="{D42A27DB-BD31-4B8C-83A1-F6EECF244321}">
                    <p14:modId xmlns:p14="http://schemas.microsoft.com/office/powerpoint/2010/main" val="3052805231"/>
                  </p:ext>
                </p:extLst>
              </p:nvPr>
            </p:nvGraphicFramePr>
            <p:xfrm>
              <a:off x="686813" y="679337"/>
              <a:ext cx="10828800" cy="3688080"/>
            </p:xfrm>
            <a:graphic>
              <a:graphicData uri="http://schemas.openxmlformats.org/drawingml/2006/table">
                <a:tbl>
                  <a:tblPr firstRow="1" bandRow="1">
                    <a:tableStyleId>{5940675A-B579-460E-94D1-54222C63F5DA}</a:tableStyleId>
                  </a:tblPr>
                  <a:tblGrid>
                    <a:gridCol w="1353600">
                      <a:extLst>
                        <a:ext uri="{9D8B030D-6E8A-4147-A177-3AD203B41FA5}">
                          <a16:colId xmlns:a16="http://schemas.microsoft.com/office/drawing/2014/main" val="3437135134"/>
                        </a:ext>
                      </a:extLst>
                    </a:gridCol>
                    <a:gridCol w="1353600">
                      <a:extLst>
                        <a:ext uri="{9D8B030D-6E8A-4147-A177-3AD203B41FA5}">
                          <a16:colId xmlns:a16="http://schemas.microsoft.com/office/drawing/2014/main" val="2933985549"/>
                        </a:ext>
                      </a:extLst>
                    </a:gridCol>
                    <a:gridCol w="1353600">
                      <a:extLst>
                        <a:ext uri="{9D8B030D-6E8A-4147-A177-3AD203B41FA5}">
                          <a16:colId xmlns:a16="http://schemas.microsoft.com/office/drawing/2014/main" val="1762740387"/>
                        </a:ext>
                      </a:extLst>
                    </a:gridCol>
                    <a:gridCol w="1353600">
                      <a:extLst>
                        <a:ext uri="{9D8B030D-6E8A-4147-A177-3AD203B41FA5}">
                          <a16:colId xmlns:a16="http://schemas.microsoft.com/office/drawing/2014/main" val="2234014298"/>
                        </a:ext>
                      </a:extLst>
                    </a:gridCol>
                    <a:gridCol w="1353600">
                      <a:extLst>
                        <a:ext uri="{9D8B030D-6E8A-4147-A177-3AD203B41FA5}">
                          <a16:colId xmlns:a16="http://schemas.microsoft.com/office/drawing/2014/main" val="3859240692"/>
                        </a:ext>
                      </a:extLst>
                    </a:gridCol>
                    <a:gridCol w="1353600">
                      <a:extLst>
                        <a:ext uri="{9D8B030D-6E8A-4147-A177-3AD203B41FA5}">
                          <a16:colId xmlns:a16="http://schemas.microsoft.com/office/drawing/2014/main" val="2397332516"/>
                        </a:ext>
                      </a:extLst>
                    </a:gridCol>
                    <a:gridCol w="1353600">
                      <a:extLst>
                        <a:ext uri="{9D8B030D-6E8A-4147-A177-3AD203B41FA5}">
                          <a16:colId xmlns:a16="http://schemas.microsoft.com/office/drawing/2014/main" val="674611442"/>
                        </a:ext>
                      </a:extLst>
                    </a:gridCol>
                    <a:gridCol w="1353600">
                      <a:extLst>
                        <a:ext uri="{9D8B030D-6E8A-4147-A177-3AD203B41FA5}">
                          <a16:colId xmlns:a16="http://schemas.microsoft.com/office/drawing/2014/main" val="2502184966"/>
                        </a:ext>
                      </a:extLst>
                    </a:gridCol>
                  </a:tblGrid>
                  <a:tr h="365760">
                    <a:tc gridSpan="2">
                      <a:txBody>
                        <a:bodyPr/>
                        <a:lstStyle/>
                        <a:p>
                          <a:pPr algn="ctr"/>
                          <a:r>
                            <a:rPr lang="en-IN" dirty="0"/>
                            <a:t>Present State</a:t>
                          </a:r>
                        </a:p>
                      </a:txBody>
                      <a:tcPr marL="121706" marR="121706"/>
                    </a:tc>
                    <a:tc hMerge="1">
                      <a:txBody>
                        <a:bodyPr/>
                        <a:lstStyle/>
                        <a:p>
                          <a:endParaRPr lang="en-IN" dirty="0"/>
                        </a:p>
                      </a:txBody>
                      <a:tcPr marL="121706" marR="121706"/>
                    </a:tc>
                    <a:tc>
                      <a:txBody>
                        <a:bodyPr/>
                        <a:lstStyle/>
                        <a:p>
                          <a:pPr algn="ctr"/>
                          <a:r>
                            <a:rPr lang="en-IN" dirty="0"/>
                            <a:t>Input</a:t>
                          </a:r>
                        </a:p>
                      </a:txBody>
                      <a:tcPr marL="121706" marR="121706"/>
                    </a:tc>
                    <a:tc gridSpan="2">
                      <a:txBody>
                        <a:bodyPr/>
                        <a:lstStyle/>
                        <a:p>
                          <a:pPr algn="ctr"/>
                          <a:r>
                            <a:rPr lang="en-IN" dirty="0"/>
                            <a:t>Next State</a:t>
                          </a:r>
                        </a:p>
                      </a:txBody>
                      <a:tcPr marL="121706" marR="121706"/>
                    </a:tc>
                    <a:tc hMerge="1">
                      <a:txBody>
                        <a:bodyPr/>
                        <a:lstStyle/>
                        <a:p>
                          <a:endParaRPr lang="en-IN" dirty="0"/>
                        </a:p>
                      </a:txBody>
                      <a:tcPr marL="121706" marR="121706"/>
                    </a:tc>
                    <a:tc>
                      <a:txBody>
                        <a:bodyPr/>
                        <a:lstStyle/>
                        <a:p>
                          <a:pPr algn="ctr"/>
                          <a:r>
                            <a:rPr lang="en-IN" dirty="0"/>
                            <a:t>Output</a:t>
                          </a:r>
                        </a:p>
                      </a:txBody>
                      <a:tcPr marL="121706" marR="121706"/>
                    </a:tc>
                    <a:tc gridSpan="2">
                      <a:txBody>
                        <a:bodyPr/>
                        <a:lstStyle/>
                        <a:p>
                          <a:pPr algn="ctr"/>
                          <a:r>
                            <a:rPr lang="en-IN" dirty="0"/>
                            <a:t>Flip-Flop inputs</a:t>
                          </a:r>
                        </a:p>
                      </a:txBody>
                      <a:tcPr marL="121706" marR="121706"/>
                    </a:tc>
                    <a:tc hMerge="1">
                      <a:txBody>
                        <a:bodyPr/>
                        <a:lstStyle/>
                        <a:p>
                          <a:pPr algn="ctr"/>
                          <a:endParaRPr lang="en-IN" dirty="0"/>
                        </a:p>
                      </a:txBody>
                      <a:tcPr marL="121706" marR="121706"/>
                    </a:tc>
                    <a:extLst>
                      <a:ext uri="{0D108BD9-81ED-4DB2-BD59-A6C34878D82A}">
                        <a16:rowId xmlns:a16="http://schemas.microsoft.com/office/drawing/2014/main" val="2878732794"/>
                      </a:ext>
                    </a:extLst>
                  </a:tr>
                  <a:tr h="396240">
                    <a:tc>
                      <a:txBody>
                        <a:bodyPr/>
                        <a:lstStyle/>
                        <a:p>
                          <a:pPr algn="ctr"/>
                          <a:r>
                            <a:rPr lang="en-IN" b="1" dirty="0"/>
                            <a:t>Q1</a:t>
                          </a:r>
                        </a:p>
                      </a:txBody>
                      <a:tcPr marL="121706" marR="121706"/>
                    </a:tc>
                    <a:tc>
                      <a:txBody>
                        <a:bodyPr/>
                        <a:lstStyle/>
                        <a:p>
                          <a:pPr algn="ctr"/>
                          <a:r>
                            <a:rPr lang="en-IN" b="1" dirty="0"/>
                            <a:t>Q0</a:t>
                          </a:r>
                        </a:p>
                      </a:txBody>
                      <a:tcPr marL="121706" marR="121706"/>
                    </a:tc>
                    <a:tc>
                      <a:txBody>
                        <a:bodyPr/>
                        <a:lstStyle/>
                        <a:p>
                          <a:pPr algn="ctr"/>
                          <a:r>
                            <a:rPr lang="en-IN" b="1" dirty="0"/>
                            <a:t>X</a:t>
                          </a:r>
                        </a:p>
                      </a:txBody>
                      <a:tcPr marL="121706" marR="121706"/>
                    </a:tc>
                    <a:tc>
                      <a:txBody>
                        <a:bodyPr/>
                        <a:lstStyle/>
                        <a:p>
                          <a:endParaRPr lang="en-US"/>
                        </a:p>
                      </a:txBody>
                      <a:tcPr marL="121706" marR="121706">
                        <a:blipFill>
                          <a:blip r:embed="rId2"/>
                          <a:stretch>
                            <a:fillRect l="-300901" t="-100000" r="-401351" b="-763077"/>
                          </a:stretch>
                        </a:blipFill>
                      </a:tcPr>
                    </a:tc>
                    <a:tc>
                      <a:txBody>
                        <a:bodyPr/>
                        <a:lstStyle/>
                        <a:p>
                          <a:endParaRPr lang="en-US"/>
                        </a:p>
                      </a:txBody>
                      <a:tcPr marL="121706" marR="121706">
                        <a:blipFill>
                          <a:blip r:embed="rId2"/>
                          <a:stretch>
                            <a:fillRect l="-400901" t="-100000" r="-301351" b="-763077"/>
                          </a:stretch>
                        </a:blipFill>
                      </a:tcPr>
                    </a:tc>
                    <a:tc>
                      <a:txBody>
                        <a:bodyPr/>
                        <a:lstStyle/>
                        <a:p>
                          <a:pPr algn="ctr"/>
                          <a:r>
                            <a:rPr lang="en-IN" b="1" dirty="0"/>
                            <a:t>Z</a:t>
                          </a:r>
                        </a:p>
                      </a:txBody>
                      <a:tcPr marL="121706" marR="121706"/>
                    </a:tc>
                    <a:tc>
                      <a:txBody>
                        <a:bodyPr/>
                        <a:lstStyle/>
                        <a:p>
                          <a:pPr algn="ctr"/>
                          <a:r>
                            <a:rPr lang="en-IN" b="1" dirty="0"/>
                            <a:t>D1</a:t>
                          </a:r>
                        </a:p>
                      </a:txBody>
                      <a:tcPr marL="121706" marR="121706"/>
                    </a:tc>
                    <a:tc>
                      <a:txBody>
                        <a:bodyPr/>
                        <a:lstStyle/>
                        <a:p>
                          <a:pPr algn="ctr"/>
                          <a:r>
                            <a:rPr lang="en-IN" b="1" dirty="0"/>
                            <a:t>D0</a:t>
                          </a:r>
                        </a:p>
                      </a:txBody>
                      <a:tcPr marL="121706" marR="121706"/>
                    </a:tc>
                    <a:extLst>
                      <a:ext uri="{0D108BD9-81ED-4DB2-BD59-A6C34878D82A}">
                        <a16:rowId xmlns:a16="http://schemas.microsoft.com/office/drawing/2014/main" val="3367109654"/>
                      </a:ext>
                    </a:extLst>
                  </a:tr>
                  <a:tr h="36576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783127527"/>
                      </a:ext>
                    </a:extLst>
                  </a:tr>
                  <a:tr h="36576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361314861"/>
                      </a:ext>
                    </a:extLst>
                  </a:tr>
                  <a:tr h="36576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2728514999"/>
                      </a:ext>
                    </a:extLst>
                  </a:tr>
                  <a:tr h="36576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004251963"/>
                      </a:ext>
                    </a:extLst>
                  </a:tr>
                  <a:tr h="36576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3965152139"/>
                      </a:ext>
                    </a:extLst>
                  </a:tr>
                  <a:tr h="36576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003450018"/>
                      </a:ext>
                    </a:extLst>
                  </a:tr>
                  <a:tr h="36576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1669904233"/>
                      </a:ext>
                    </a:extLst>
                  </a:tr>
                  <a:tr h="36576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255474343"/>
                      </a:ext>
                    </a:extLst>
                  </a:tr>
                </a:tbl>
              </a:graphicData>
            </a:graphic>
          </p:graphicFrame>
        </mc:Fallback>
      </mc:AlternateContent>
      <p:graphicFrame>
        <p:nvGraphicFramePr>
          <p:cNvPr id="4" name="Table 3">
            <a:extLst>
              <a:ext uri="{FF2B5EF4-FFF2-40B4-BE49-F238E27FC236}">
                <a16:creationId xmlns:a16="http://schemas.microsoft.com/office/drawing/2014/main" id="{B97C6883-463E-516C-698F-E7BD0EEBB9F1}"/>
              </a:ext>
            </a:extLst>
          </p:cNvPr>
          <p:cNvGraphicFramePr>
            <a:graphicFrameLocks noGrp="1"/>
          </p:cNvGraphicFramePr>
          <p:nvPr>
            <p:extLst>
              <p:ext uri="{D42A27DB-BD31-4B8C-83A1-F6EECF244321}">
                <p14:modId xmlns:p14="http://schemas.microsoft.com/office/powerpoint/2010/main" val="1594579844"/>
              </p:ext>
            </p:extLst>
          </p:nvPr>
        </p:nvGraphicFramePr>
        <p:xfrm>
          <a:off x="1665608" y="5113962"/>
          <a:ext cx="3086696" cy="741680"/>
        </p:xfrm>
        <a:graphic>
          <a:graphicData uri="http://schemas.openxmlformats.org/drawingml/2006/table">
            <a:tbl>
              <a:tblPr firstRow="1" bandRow="1">
                <a:tableStyleId>{5940675A-B579-460E-94D1-54222C63F5DA}</a:tableStyleId>
              </a:tblPr>
              <a:tblGrid>
                <a:gridCol w="771674">
                  <a:extLst>
                    <a:ext uri="{9D8B030D-6E8A-4147-A177-3AD203B41FA5}">
                      <a16:colId xmlns:a16="http://schemas.microsoft.com/office/drawing/2014/main" val="2883689593"/>
                    </a:ext>
                  </a:extLst>
                </a:gridCol>
                <a:gridCol w="771674">
                  <a:extLst>
                    <a:ext uri="{9D8B030D-6E8A-4147-A177-3AD203B41FA5}">
                      <a16:colId xmlns:a16="http://schemas.microsoft.com/office/drawing/2014/main" val="2298902156"/>
                    </a:ext>
                  </a:extLst>
                </a:gridCol>
                <a:gridCol w="771674">
                  <a:extLst>
                    <a:ext uri="{9D8B030D-6E8A-4147-A177-3AD203B41FA5}">
                      <a16:colId xmlns:a16="http://schemas.microsoft.com/office/drawing/2014/main" val="2269983470"/>
                    </a:ext>
                  </a:extLst>
                </a:gridCol>
                <a:gridCol w="771674">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884910185"/>
                  </a:ext>
                </a:extLst>
              </a:tr>
            </a:tbl>
          </a:graphicData>
        </a:graphic>
      </p:graphicFrame>
      <p:graphicFrame>
        <p:nvGraphicFramePr>
          <p:cNvPr id="5" name="Table 4">
            <a:extLst>
              <a:ext uri="{FF2B5EF4-FFF2-40B4-BE49-F238E27FC236}">
                <a16:creationId xmlns:a16="http://schemas.microsoft.com/office/drawing/2014/main" id="{BF6BC87C-FFE4-3F9A-CEBA-A53E127F0627}"/>
              </a:ext>
            </a:extLst>
          </p:cNvPr>
          <p:cNvGraphicFramePr>
            <a:graphicFrameLocks noGrp="1"/>
          </p:cNvGraphicFramePr>
          <p:nvPr>
            <p:extLst>
              <p:ext uri="{D42A27DB-BD31-4B8C-83A1-F6EECF244321}">
                <p14:modId xmlns:p14="http://schemas.microsoft.com/office/powerpoint/2010/main" val="812247113"/>
              </p:ext>
            </p:extLst>
          </p:nvPr>
        </p:nvGraphicFramePr>
        <p:xfrm>
          <a:off x="7838941" y="5113962"/>
          <a:ext cx="3086696" cy="741680"/>
        </p:xfrm>
        <a:graphic>
          <a:graphicData uri="http://schemas.openxmlformats.org/drawingml/2006/table">
            <a:tbl>
              <a:tblPr firstRow="1" bandRow="1">
                <a:tableStyleId>{5940675A-B579-460E-94D1-54222C63F5DA}</a:tableStyleId>
              </a:tblPr>
              <a:tblGrid>
                <a:gridCol w="771674">
                  <a:extLst>
                    <a:ext uri="{9D8B030D-6E8A-4147-A177-3AD203B41FA5}">
                      <a16:colId xmlns:a16="http://schemas.microsoft.com/office/drawing/2014/main" val="2883689593"/>
                    </a:ext>
                  </a:extLst>
                </a:gridCol>
                <a:gridCol w="771674">
                  <a:extLst>
                    <a:ext uri="{9D8B030D-6E8A-4147-A177-3AD203B41FA5}">
                      <a16:colId xmlns:a16="http://schemas.microsoft.com/office/drawing/2014/main" val="2298902156"/>
                    </a:ext>
                  </a:extLst>
                </a:gridCol>
                <a:gridCol w="771674">
                  <a:extLst>
                    <a:ext uri="{9D8B030D-6E8A-4147-A177-3AD203B41FA5}">
                      <a16:colId xmlns:a16="http://schemas.microsoft.com/office/drawing/2014/main" val="2269983470"/>
                    </a:ext>
                  </a:extLst>
                </a:gridCol>
                <a:gridCol w="771674">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884910185"/>
                  </a:ext>
                </a:extLst>
              </a:tr>
            </a:tbl>
          </a:graphicData>
        </a:graphic>
      </p:graphicFrame>
      <p:sp>
        <p:nvSpPr>
          <p:cNvPr id="6" name="TextBox 5">
            <a:extLst>
              <a:ext uri="{FF2B5EF4-FFF2-40B4-BE49-F238E27FC236}">
                <a16:creationId xmlns:a16="http://schemas.microsoft.com/office/drawing/2014/main" id="{6B2CEC10-8463-7A67-7B8B-20B8CB3F59C2}"/>
              </a:ext>
            </a:extLst>
          </p:cNvPr>
          <p:cNvSpPr txBox="1"/>
          <p:nvPr/>
        </p:nvSpPr>
        <p:spPr>
          <a:xfrm>
            <a:off x="7838941" y="4744630"/>
            <a:ext cx="3086696" cy="369332"/>
          </a:xfrm>
          <a:prstGeom prst="rect">
            <a:avLst/>
          </a:prstGeom>
          <a:noFill/>
        </p:spPr>
        <p:txBody>
          <a:bodyPr wrap="square" rtlCol="0">
            <a:spAutoFit/>
          </a:bodyPr>
          <a:lstStyle/>
          <a:p>
            <a:r>
              <a:rPr lang="en-IN" dirty="0"/>
              <a:t>    00          01          11          10</a:t>
            </a:r>
          </a:p>
        </p:txBody>
      </p:sp>
      <p:sp>
        <p:nvSpPr>
          <p:cNvPr id="8" name="TextBox 7">
            <a:extLst>
              <a:ext uri="{FF2B5EF4-FFF2-40B4-BE49-F238E27FC236}">
                <a16:creationId xmlns:a16="http://schemas.microsoft.com/office/drawing/2014/main" id="{E1AEEB1F-EA2E-6400-BFC3-6E6E118E39FE}"/>
              </a:ext>
            </a:extLst>
          </p:cNvPr>
          <p:cNvSpPr txBox="1"/>
          <p:nvPr/>
        </p:nvSpPr>
        <p:spPr>
          <a:xfrm>
            <a:off x="7518401" y="5105327"/>
            <a:ext cx="352736"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9" name="TextBox 8">
            <a:extLst>
              <a:ext uri="{FF2B5EF4-FFF2-40B4-BE49-F238E27FC236}">
                <a16:creationId xmlns:a16="http://schemas.microsoft.com/office/drawing/2014/main" id="{4B5896DE-716D-4096-B762-D7DDBDD801B0}"/>
              </a:ext>
            </a:extLst>
          </p:cNvPr>
          <p:cNvSpPr txBox="1"/>
          <p:nvPr/>
        </p:nvSpPr>
        <p:spPr>
          <a:xfrm>
            <a:off x="1369878" y="5075676"/>
            <a:ext cx="278528"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10" name="TextBox 9">
            <a:extLst>
              <a:ext uri="{FF2B5EF4-FFF2-40B4-BE49-F238E27FC236}">
                <a16:creationId xmlns:a16="http://schemas.microsoft.com/office/drawing/2014/main" id="{5631EA03-334D-90A6-86A4-F29236604FDD}"/>
              </a:ext>
            </a:extLst>
          </p:cNvPr>
          <p:cNvSpPr txBox="1"/>
          <p:nvPr/>
        </p:nvSpPr>
        <p:spPr>
          <a:xfrm>
            <a:off x="1682810" y="4744630"/>
            <a:ext cx="3086696" cy="369332"/>
          </a:xfrm>
          <a:prstGeom prst="rect">
            <a:avLst/>
          </a:prstGeom>
          <a:noFill/>
        </p:spPr>
        <p:txBody>
          <a:bodyPr wrap="square" rtlCol="0">
            <a:spAutoFit/>
          </a:bodyPr>
          <a:lstStyle/>
          <a:p>
            <a:r>
              <a:rPr lang="en-IN" dirty="0"/>
              <a:t>    00          01          11          10</a:t>
            </a:r>
          </a:p>
        </p:txBody>
      </p:sp>
      <p:sp>
        <p:nvSpPr>
          <p:cNvPr id="11" name="TextBox 10">
            <a:extLst>
              <a:ext uri="{FF2B5EF4-FFF2-40B4-BE49-F238E27FC236}">
                <a16:creationId xmlns:a16="http://schemas.microsoft.com/office/drawing/2014/main" id="{AFBFB4F4-374E-AD9C-F5B1-A31167258DDA}"/>
              </a:ext>
            </a:extLst>
          </p:cNvPr>
          <p:cNvSpPr txBox="1"/>
          <p:nvPr/>
        </p:nvSpPr>
        <p:spPr>
          <a:xfrm>
            <a:off x="6703453" y="4533694"/>
            <a:ext cx="444321" cy="369332"/>
          </a:xfrm>
          <a:prstGeom prst="rect">
            <a:avLst/>
          </a:prstGeom>
          <a:noFill/>
        </p:spPr>
        <p:txBody>
          <a:bodyPr wrap="square" rtlCol="0">
            <a:spAutoFit/>
          </a:bodyPr>
          <a:lstStyle/>
          <a:p>
            <a:r>
              <a:rPr lang="en-IN" dirty="0"/>
              <a:t>D0</a:t>
            </a:r>
          </a:p>
        </p:txBody>
      </p:sp>
      <p:sp>
        <p:nvSpPr>
          <p:cNvPr id="12" name="TextBox 11">
            <a:extLst>
              <a:ext uri="{FF2B5EF4-FFF2-40B4-BE49-F238E27FC236}">
                <a16:creationId xmlns:a16="http://schemas.microsoft.com/office/drawing/2014/main" id="{8D177AD5-8CAA-D518-CDFF-169C57DCE591}"/>
              </a:ext>
            </a:extLst>
          </p:cNvPr>
          <p:cNvSpPr txBox="1"/>
          <p:nvPr/>
        </p:nvSpPr>
        <p:spPr>
          <a:xfrm>
            <a:off x="629339" y="4484050"/>
            <a:ext cx="444321" cy="369332"/>
          </a:xfrm>
          <a:prstGeom prst="rect">
            <a:avLst/>
          </a:prstGeom>
          <a:noFill/>
        </p:spPr>
        <p:txBody>
          <a:bodyPr wrap="square" rtlCol="0">
            <a:spAutoFit/>
          </a:bodyPr>
          <a:lstStyle/>
          <a:p>
            <a:r>
              <a:rPr lang="en-IN" dirty="0"/>
              <a:t>D1</a:t>
            </a:r>
          </a:p>
        </p:txBody>
      </p:sp>
      <p:cxnSp>
        <p:nvCxnSpPr>
          <p:cNvPr id="15" name="Straight Connector 14">
            <a:extLst>
              <a:ext uri="{FF2B5EF4-FFF2-40B4-BE49-F238E27FC236}">
                <a16:creationId xmlns:a16="http://schemas.microsoft.com/office/drawing/2014/main" id="{5B0A3C81-7167-83BE-3BA6-3DE4079E8297}"/>
              </a:ext>
            </a:extLst>
          </p:cNvPr>
          <p:cNvCxnSpPr>
            <a:cxnSpLocks/>
            <a:endCxn id="11" idx="3"/>
          </p:cNvCxnSpPr>
          <p:nvPr/>
        </p:nvCxnSpPr>
        <p:spPr>
          <a:xfrm flipH="1" flipV="1">
            <a:off x="7147774" y="4718360"/>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4C359607-8A04-D148-58D9-956C3C5417EC}"/>
              </a:ext>
            </a:extLst>
          </p:cNvPr>
          <p:cNvSpPr txBox="1"/>
          <p:nvPr/>
        </p:nvSpPr>
        <p:spPr>
          <a:xfrm>
            <a:off x="7057028" y="4827769"/>
            <a:ext cx="518379" cy="369332"/>
          </a:xfrm>
          <a:prstGeom prst="rect">
            <a:avLst/>
          </a:prstGeom>
          <a:noFill/>
        </p:spPr>
        <p:txBody>
          <a:bodyPr wrap="square" rtlCol="0">
            <a:spAutoFit/>
          </a:bodyPr>
          <a:lstStyle/>
          <a:p>
            <a:r>
              <a:rPr lang="en-IN" dirty="0"/>
              <a:t>Q1</a:t>
            </a:r>
          </a:p>
        </p:txBody>
      </p:sp>
      <p:sp>
        <p:nvSpPr>
          <p:cNvPr id="20" name="TextBox 19">
            <a:extLst>
              <a:ext uri="{FF2B5EF4-FFF2-40B4-BE49-F238E27FC236}">
                <a16:creationId xmlns:a16="http://schemas.microsoft.com/office/drawing/2014/main" id="{F1A9FEA6-DB13-1F10-8A1D-164D0A303FED}"/>
              </a:ext>
            </a:extLst>
          </p:cNvPr>
          <p:cNvSpPr txBox="1"/>
          <p:nvPr/>
        </p:nvSpPr>
        <p:spPr>
          <a:xfrm>
            <a:off x="851499" y="4857721"/>
            <a:ext cx="518379" cy="369332"/>
          </a:xfrm>
          <a:prstGeom prst="rect">
            <a:avLst/>
          </a:prstGeom>
          <a:noFill/>
        </p:spPr>
        <p:txBody>
          <a:bodyPr wrap="square" rtlCol="0">
            <a:spAutoFit/>
          </a:bodyPr>
          <a:lstStyle/>
          <a:p>
            <a:r>
              <a:rPr lang="en-IN" dirty="0"/>
              <a:t>Q1</a:t>
            </a:r>
          </a:p>
        </p:txBody>
      </p:sp>
      <p:cxnSp>
        <p:nvCxnSpPr>
          <p:cNvPr id="25" name="Straight Connector 24">
            <a:extLst>
              <a:ext uri="{FF2B5EF4-FFF2-40B4-BE49-F238E27FC236}">
                <a16:creationId xmlns:a16="http://schemas.microsoft.com/office/drawing/2014/main" id="{32CEBB0B-2E6B-E7D1-6797-169DFA4F163E}"/>
              </a:ext>
            </a:extLst>
          </p:cNvPr>
          <p:cNvCxnSpPr>
            <a:cxnSpLocks/>
          </p:cNvCxnSpPr>
          <p:nvPr/>
        </p:nvCxnSpPr>
        <p:spPr>
          <a:xfrm flipH="1" flipV="1">
            <a:off x="999367" y="4718360"/>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F0621750-0E4F-928E-2C27-0BCFB425D0C5}"/>
              </a:ext>
            </a:extLst>
          </p:cNvPr>
          <p:cNvSpPr txBox="1"/>
          <p:nvPr/>
        </p:nvSpPr>
        <p:spPr>
          <a:xfrm>
            <a:off x="7203961" y="4496066"/>
            <a:ext cx="651078" cy="369332"/>
          </a:xfrm>
          <a:prstGeom prst="rect">
            <a:avLst/>
          </a:prstGeom>
          <a:noFill/>
        </p:spPr>
        <p:txBody>
          <a:bodyPr wrap="square" rtlCol="0">
            <a:spAutoFit/>
          </a:bodyPr>
          <a:lstStyle/>
          <a:p>
            <a:r>
              <a:rPr lang="en-IN" dirty="0"/>
              <a:t>Q0 X</a:t>
            </a:r>
          </a:p>
        </p:txBody>
      </p:sp>
      <p:sp>
        <p:nvSpPr>
          <p:cNvPr id="27" name="TextBox 26">
            <a:extLst>
              <a:ext uri="{FF2B5EF4-FFF2-40B4-BE49-F238E27FC236}">
                <a16:creationId xmlns:a16="http://schemas.microsoft.com/office/drawing/2014/main" id="{D53AD92A-95BA-1131-3E71-E4E9B735439C}"/>
              </a:ext>
            </a:extLst>
          </p:cNvPr>
          <p:cNvSpPr txBox="1"/>
          <p:nvPr/>
        </p:nvSpPr>
        <p:spPr>
          <a:xfrm>
            <a:off x="1055554" y="4502535"/>
            <a:ext cx="651078" cy="369332"/>
          </a:xfrm>
          <a:prstGeom prst="rect">
            <a:avLst/>
          </a:prstGeom>
          <a:noFill/>
        </p:spPr>
        <p:txBody>
          <a:bodyPr wrap="square" rtlCol="0">
            <a:spAutoFit/>
          </a:bodyPr>
          <a:lstStyle/>
          <a:p>
            <a:r>
              <a:rPr lang="en-IN" dirty="0"/>
              <a:t>Q0 X</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E81E020-32EB-8EAF-EF42-977561B5D97E}"/>
                  </a:ext>
                </a:extLst>
              </p:cNvPr>
              <p:cNvSpPr txBox="1"/>
              <p:nvPr/>
            </p:nvSpPr>
            <p:spPr>
              <a:xfrm>
                <a:off x="8941045" y="6119111"/>
                <a:ext cx="8488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0= </m:t>
                      </m:r>
                      <m:r>
                        <a:rPr lang="en-IN" b="0" i="1" smtClean="0">
                          <a:latin typeface="Cambria Math" panose="02040503050406030204" pitchFamily="18" charset="0"/>
                        </a:rPr>
                        <m:t>𝑋</m:t>
                      </m:r>
                    </m:oMath>
                  </m:oMathPara>
                </a14:m>
                <a:endParaRPr lang="en-IN" b="0" dirty="0"/>
              </a:p>
            </p:txBody>
          </p:sp>
        </mc:Choice>
        <mc:Fallback xmlns="">
          <p:sp>
            <p:nvSpPr>
              <p:cNvPr id="28" name="TextBox 27">
                <a:extLst>
                  <a:ext uri="{FF2B5EF4-FFF2-40B4-BE49-F238E27FC236}">
                    <a16:creationId xmlns:a16="http://schemas.microsoft.com/office/drawing/2014/main" id="{4E81E020-32EB-8EAF-EF42-977561B5D97E}"/>
                  </a:ext>
                </a:extLst>
              </p:cNvPr>
              <p:cNvSpPr txBox="1">
                <a:spLocks noRot="1" noChangeAspect="1" noMove="1" noResize="1" noEditPoints="1" noAdjustHandles="1" noChangeArrowheads="1" noChangeShapeType="1" noTextEdit="1"/>
              </p:cNvSpPr>
              <p:nvPr/>
            </p:nvSpPr>
            <p:spPr>
              <a:xfrm>
                <a:off x="8941045" y="6119111"/>
                <a:ext cx="848822" cy="276999"/>
              </a:xfrm>
              <a:prstGeom prst="rect">
                <a:avLst/>
              </a:prstGeom>
              <a:blipFill>
                <a:blip r:embed="rId3"/>
                <a:stretch>
                  <a:fillRect l="-6475" r="-5755" b="-6667"/>
                </a:stretch>
              </a:blipFill>
            </p:spPr>
            <p:txBody>
              <a:bodyPr/>
              <a:lstStyle/>
              <a:p>
                <a:r>
                  <a:rPr lang="en-IN">
                    <a:noFill/>
                  </a:rPr>
                  <a:t> </a:t>
                </a:r>
              </a:p>
            </p:txBody>
          </p:sp>
        </mc:Fallback>
      </mc:AlternateContent>
      <p:sp>
        <p:nvSpPr>
          <p:cNvPr id="29" name="Rectangle 28">
            <a:extLst>
              <a:ext uri="{FF2B5EF4-FFF2-40B4-BE49-F238E27FC236}">
                <a16:creationId xmlns:a16="http://schemas.microsoft.com/office/drawing/2014/main" id="{819ED3EC-7DB9-76C0-0C8E-3BB15EEEB05A}"/>
              </a:ext>
            </a:extLst>
          </p:cNvPr>
          <p:cNvSpPr/>
          <p:nvPr/>
        </p:nvSpPr>
        <p:spPr>
          <a:xfrm>
            <a:off x="8741569" y="5197101"/>
            <a:ext cx="1247775" cy="60947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0C550817-1A3A-6437-8119-87D17783DD03}"/>
              </a:ext>
            </a:extLst>
          </p:cNvPr>
          <p:cNvSpPr/>
          <p:nvPr/>
        </p:nvSpPr>
        <p:spPr>
          <a:xfrm>
            <a:off x="4202905" y="5171221"/>
            <a:ext cx="352425" cy="27860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CBC5D99D-869F-3063-E6FE-8474EF344758}"/>
              </a:ext>
            </a:extLst>
          </p:cNvPr>
          <p:cNvSpPr/>
          <p:nvPr/>
        </p:nvSpPr>
        <p:spPr>
          <a:xfrm>
            <a:off x="2652790" y="5527968"/>
            <a:ext cx="352425" cy="27860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tx2">
                  <a:lumMod val="20000"/>
                  <a:lumOff val="80000"/>
                </a:schemeClr>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BA1FACE-6E8A-9FF9-404A-DF79FA718862}"/>
                  </a:ext>
                </a:extLst>
              </p:cNvPr>
              <p:cNvSpPr txBox="1"/>
              <p:nvPr/>
            </p:nvSpPr>
            <p:spPr>
              <a:xfrm>
                <a:off x="1665019" y="6086473"/>
                <a:ext cx="2326663"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b="0" i="1" smtClean="0">
                          <a:latin typeface="Cambria Math" panose="02040503050406030204" pitchFamily="18" charset="0"/>
                        </a:rPr>
                        <m:t>D</m:t>
                      </m:r>
                      <m:r>
                        <a:rPr lang="en-IN" b="0" i="1" smtClean="0">
                          <a:latin typeface="Cambria Math" panose="02040503050406030204" pitchFamily="18" charset="0"/>
                        </a:rPr>
                        <m:t>1=</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1" smtClean="0">
                          <a:latin typeface="Cambria Math" panose="02040503050406030204" pitchFamily="18" charset="0"/>
                        </a:rPr>
                        <m:t> </m:t>
                      </m:r>
                      <m:r>
                        <m:rPr>
                          <m:sty m:val="p"/>
                        </m:rPr>
                        <a:rPr lang="en-IN" b="0" i="1" smtClean="0">
                          <a:latin typeface="Cambria Math" panose="02040503050406030204" pitchFamily="18" charset="0"/>
                        </a:rPr>
                        <m:t>X</m:t>
                      </m:r>
                      <m:r>
                        <a:rPr lang="en-IN" b="0" i="1" smtClean="0">
                          <a:latin typeface="Cambria Math" panose="02040503050406030204" pitchFamily="18" charset="0"/>
                        </a:rPr>
                        <m:t> +</m:t>
                      </m:r>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e>
                      </m:ba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bar>
                        <m:barPr>
                          <m:pos m:val="top"/>
                          <m:ctrlPr>
                            <a:rPr lang="en-IN" b="0" i="1" smtClean="0">
                              <a:latin typeface="Cambria Math" panose="02040503050406030204" pitchFamily="18" charset="0"/>
                            </a:rPr>
                          </m:ctrlPr>
                        </m:barPr>
                        <m:e>
                          <m:r>
                            <m:rPr>
                              <m:sty m:val="p"/>
                            </m:rPr>
                            <a:rPr lang="en-IN" b="0" i="1" smtClean="0">
                              <a:latin typeface="Cambria Math" panose="02040503050406030204" pitchFamily="18" charset="0"/>
                            </a:rPr>
                            <m:t>X</m:t>
                          </m:r>
                        </m:e>
                      </m:bar>
                    </m:oMath>
                  </m:oMathPara>
                </a14:m>
                <a:endParaRPr lang="en-IN" dirty="0"/>
              </a:p>
            </p:txBody>
          </p:sp>
        </mc:Choice>
        <mc:Fallback xmlns="">
          <p:sp>
            <p:nvSpPr>
              <p:cNvPr id="33" name="TextBox 32">
                <a:extLst>
                  <a:ext uri="{FF2B5EF4-FFF2-40B4-BE49-F238E27FC236}">
                    <a16:creationId xmlns:a16="http://schemas.microsoft.com/office/drawing/2014/main" id="{4BA1FACE-6E8A-9FF9-404A-DF79FA718862}"/>
                  </a:ext>
                </a:extLst>
              </p:cNvPr>
              <p:cNvSpPr txBox="1">
                <a:spLocks noRot="1" noChangeAspect="1" noMove="1" noResize="1" noEditPoints="1" noAdjustHandles="1" noChangeArrowheads="1" noChangeShapeType="1" noTextEdit="1"/>
              </p:cNvSpPr>
              <p:nvPr/>
            </p:nvSpPr>
            <p:spPr>
              <a:xfrm>
                <a:off x="1665019" y="6086473"/>
                <a:ext cx="2326663" cy="309637"/>
              </a:xfrm>
              <a:prstGeom prst="rect">
                <a:avLst/>
              </a:prstGeom>
              <a:blipFill>
                <a:blip r:embed="rId4"/>
                <a:stretch>
                  <a:fillRect l="-1832" r="-2094" b="-274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BE6BE2B-743E-5C1D-8C63-5979378B6FB3}"/>
                  </a:ext>
                </a:extLst>
              </p:cNvPr>
              <p:cNvSpPr txBox="1"/>
              <p:nvPr/>
            </p:nvSpPr>
            <p:spPr>
              <a:xfrm>
                <a:off x="5459418" y="5629084"/>
                <a:ext cx="1350113" cy="3440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𝐙</m:t>
                      </m:r>
                      <m:r>
                        <a:rPr lang="en-IN" sz="2000" b="1" i="0"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𝟏</m:t>
                          </m:r>
                        </m:sub>
                      </m:sSub>
                      <m:bar>
                        <m:barPr>
                          <m:pos m:val="top"/>
                          <m:ctrlPr>
                            <a:rPr lang="en-IN" sz="2000" b="1" i="1" smtClean="0">
                              <a:latin typeface="Cambria Math" panose="02040503050406030204" pitchFamily="18" charset="0"/>
                            </a:rPr>
                          </m:ctrlPr>
                        </m:barPr>
                        <m:e>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𝟎</m:t>
                              </m:r>
                            </m:sub>
                          </m:sSub>
                        </m:e>
                      </m:bar>
                      <m:r>
                        <a:rPr lang="en-IN" sz="2000" b="1" i="1" smtClean="0">
                          <a:latin typeface="Cambria Math" panose="02040503050406030204" pitchFamily="18" charset="0"/>
                        </a:rPr>
                        <m:t> </m:t>
                      </m:r>
                      <m:r>
                        <a:rPr lang="en-IN" sz="2000" b="1" i="1" smtClean="0">
                          <a:latin typeface="Cambria Math" panose="02040503050406030204" pitchFamily="18" charset="0"/>
                        </a:rPr>
                        <m:t>𝑿</m:t>
                      </m:r>
                    </m:oMath>
                  </m:oMathPara>
                </a14:m>
                <a:endParaRPr lang="en-IN" sz="2000" b="1" dirty="0"/>
              </a:p>
            </p:txBody>
          </p:sp>
        </mc:Choice>
        <mc:Fallback xmlns="">
          <p:sp>
            <p:nvSpPr>
              <p:cNvPr id="61" name="TextBox 60">
                <a:extLst>
                  <a:ext uri="{FF2B5EF4-FFF2-40B4-BE49-F238E27FC236}">
                    <a16:creationId xmlns:a16="http://schemas.microsoft.com/office/drawing/2014/main" id="{8BE6BE2B-743E-5C1D-8C63-5979378B6FB3}"/>
                  </a:ext>
                </a:extLst>
              </p:cNvPr>
              <p:cNvSpPr txBox="1">
                <a:spLocks noRot="1" noChangeAspect="1" noMove="1" noResize="1" noEditPoints="1" noAdjustHandles="1" noChangeArrowheads="1" noChangeShapeType="1" noTextEdit="1"/>
              </p:cNvSpPr>
              <p:nvPr/>
            </p:nvSpPr>
            <p:spPr>
              <a:xfrm>
                <a:off x="5459418" y="5629084"/>
                <a:ext cx="1350113" cy="344069"/>
              </a:xfrm>
              <a:prstGeom prst="rect">
                <a:avLst/>
              </a:prstGeom>
              <a:blipFill>
                <a:blip r:embed="rId5"/>
                <a:stretch>
                  <a:fillRect l="-5882" r="-5882" b="-26316"/>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D700B7E5-7A15-580E-C920-71801477AB76}"/>
              </a:ext>
            </a:extLst>
          </p:cNvPr>
          <p:cNvSpPr txBox="1"/>
          <p:nvPr/>
        </p:nvSpPr>
        <p:spPr>
          <a:xfrm>
            <a:off x="656350" y="168604"/>
            <a:ext cx="5886269" cy="461665"/>
          </a:xfrm>
          <a:prstGeom prst="rect">
            <a:avLst/>
          </a:prstGeom>
          <a:noFill/>
        </p:spPr>
        <p:txBody>
          <a:bodyPr wrap="square" rtlCol="0">
            <a:spAutoFit/>
          </a:bodyPr>
          <a:lstStyle/>
          <a:p>
            <a:r>
              <a:rPr lang="en-IN" sz="2400" b="1" dirty="0"/>
              <a:t>State Transition Table:</a:t>
            </a:r>
          </a:p>
        </p:txBody>
      </p:sp>
    </p:spTree>
    <p:extLst>
      <p:ext uri="{BB962C8B-B14F-4D97-AF65-F5344CB8AC3E}">
        <p14:creationId xmlns:p14="http://schemas.microsoft.com/office/powerpoint/2010/main" val="129941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8519A4-3C90-2F56-1623-EF3D8E5C29A0}"/>
              </a:ext>
            </a:extLst>
          </p:cNvPr>
          <p:cNvSpPr txBox="1"/>
          <p:nvPr/>
        </p:nvSpPr>
        <p:spPr>
          <a:xfrm>
            <a:off x="1081313" y="461183"/>
            <a:ext cx="10218057" cy="461665"/>
          </a:xfrm>
          <a:prstGeom prst="rect">
            <a:avLst/>
          </a:prstGeom>
          <a:noFill/>
        </p:spPr>
        <p:txBody>
          <a:bodyPr wrap="square" rtlCol="0">
            <a:spAutoFit/>
          </a:bodyPr>
          <a:lstStyle/>
          <a:p>
            <a:r>
              <a:rPr lang="en-IN" sz="2400" dirty="0"/>
              <a:t>Circuit Implementation of Non Overlapping Sequence Detector:</a:t>
            </a:r>
          </a:p>
        </p:txBody>
      </p:sp>
      <p:sp>
        <p:nvSpPr>
          <p:cNvPr id="5" name="Rectangle 4">
            <a:extLst>
              <a:ext uri="{FF2B5EF4-FFF2-40B4-BE49-F238E27FC236}">
                <a16:creationId xmlns:a16="http://schemas.microsoft.com/office/drawing/2014/main" id="{A77D2F20-7E6D-302F-B20C-7CA76E2C6FCE}"/>
              </a:ext>
            </a:extLst>
          </p:cNvPr>
          <p:cNvSpPr/>
          <p:nvPr/>
        </p:nvSpPr>
        <p:spPr>
          <a:xfrm>
            <a:off x="5769432" y="1219209"/>
            <a:ext cx="1560286" cy="210308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1C864AE7-30D6-404C-7366-3498593815C7}"/>
              </a:ext>
            </a:extLst>
          </p:cNvPr>
          <p:cNvSpPr txBox="1"/>
          <p:nvPr/>
        </p:nvSpPr>
        <p:spPr>
          <a:xfrm>
            <a:off x="5766305" y="1217427"/>
            <a:ext cx="529234" cy="461665"/>
          </a:xfrm>
          <a:prstGeom prst="rect">
            <a:avLst/>
          </a:prstGeom>
          <a:noFill/>
        </p:spPr>
        <p:txBody>
          <a:bodyPr wrap="square" rtlCol="0">
            <a:spAutoFit/>
          </a:bodyPr>
          <a:lstStyle/>
          <a:p>
            <a:r>
              <a:rPr lang="en-IN" sz="2400" dirty="0"/>
              <a:t>D0</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7A18FC-276B-543F-60D6-F6493A465D31}"/>
                  </a:ext>
                </a:extLst>
              </p:cNvPr>
              <p:cNvSpPr txBox="1"/>
              <p:nvPr/>
            </p:nvSpPr>
            <p:spPr>
              <a:xfrm>
                <a:off x="6850747" y="1393381"/>
                <a:ext cx="29028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0</m:t>
                          </m:r>
                        </m:sub>
                      </m:sSub>
                    </m:oMath>
                  </m:oMathPara>
                </a14:m>
                <a:endParaRPr lang="en-IN" sz="2400" dirty="0"/>
              </a:p>
            </p:txBody>
          </p:sp>
        </mc:Choice>
        <mc:Fallback xmlns="">
          <p:sp>
            <p:nvSpPr>
              <p:cNvPr id="8" name="TextBox 7">
                <a:extLst>
                  <a:ext uri="{FF2B5EF4-FFF2-40B4-BE49-F238E27FC236}">
                    <a16:creationId xmlns:a16="http://schemas.microsoft.com/office/drawing/2014/main" id="{337A18FC-276B-543F-60D6-F6493A465D31}"/>
                  </a:ext>
                </a:extLst>
              </p:cNvPr>
              <p:cNvSpPr txBox="1">
                <a:spLocks noRot="1" noChangeAspect="1" noMove="1" noResize="1" noEditPoints="1" noAdjustHandles="1" noChangeArrowheads="1" noChangeShapeType="1" noTextEdit="1"/>
              </p:cNvSpPr>
              <p:nvPr/>
            </p:nvSpPr>
            <p:spPr>
              <a:xfrm>
                <a:off x="6850747" y="1393381"/>
                <a:ext cx="290286" cy="461665"/>
              </a:xfrm>
              <a:prstGeom prst="rect">
                <a:avLst/>
              </a:prstGeom>
              <a:blipFill>
                <a:blip r:embed="rId2"/>
                <a:stretch>
                  <a:fillRect l="-14894" r="-76596"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C91271E-990B-015B-A356-93A3FFDD1E6A}"/>
                  </a:ext>
                </a:extLst>
              </p:cNvPr>
              <p:cNvSpPr txBox="1"/>
              <p:nvPr/>
            </p:nvSpPr>
            <p:spPr>
              <a:xfrm>
                <a:off x="6799947" y="2699666"/>
                <a:ext cx="290286"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0</m:t>
                              </m:r>
                            </m:sub>
                          </m:sSub>
                        </m:e>
                      </m:bar>
                    </m:oMath>
                  </m:oMathPara>
                </a14:m>
                <a:endParaRPr lang="en-IN" sz="2400" dirty="0"/>
              </a:p>
            </p:txBody>
          </p:sp>
        </mc:Choice>
        <mc:Fallback xmlns="">
          <p:sp>
            <p:nvSpPr>
              <p:cNvPr id="9" name="TextBox 8">
                <a:extLst>
                  <a:ext uri="{FF2B5EF4-FFF2-40B4-BE49-F238E27FC236}">
                    <a16:creationId xmlns:a16="http://schemas.microsoft.com/office/drawing/2014/main" id="{3C91271E-990B-015B-A356-93A3FFDD1E6A}"/>
                  </a:ext>
                </a:extLst>
              </p:cNvPr>
              <p:cNvSpPr txBox="1">
                <a:spLocks noRot="1" noChangeAspect="1" noMove="1" noResize="1" noEditPoints="1" noAdjustHandles="1" noChangeArrowheads="1" noChangeShapeType="1" noTextEdit="1"/>
              </p:cNvSpPr>
              <p:nvPr/>
            </p:nvSpPr>
            <p:spPr>
              <a:xfrm>
                <a:off x="6799947" y="2699666"/>
                <a:ext cx="290286" cy="505203"/>
              </a:xfrm>
              <a:prstGeom prst="rect">
                <a:avLst/>
              </a:prstGeom>
              <a:blipFill>
                <a:blip r:embed="rId3"/>
                <a:stretch>
                  <a:fillRect r="-54167"/>
                </a:stretch>
              </a:blipFill>
            </p:spPr>
            <p:txBody>
              <a:bodyPr/>
              <a:lstStyle/>
              <a:p>
                <a:r>
                  <a:rPr lang="en-IN">
                    <a:noFill/>
                  </a:rPr>
                  <a:t> </a:t>
                </a:r>
              </a:p>
            </p:txBody>
          </p:sp>
        </mc:Fallback>
      </mc:AlternateContent>
      <p:cxnSp>
        <p:nvCxnSpPr>
          <p:cNvPr id="10" name="Straight Connector 9">
            <a:extLst>
              <a:ext uri="{FF2B5EF4-FFF2-40B4-BE49-F238E27FC236}">
                <a16:creationId xmlns:a16="http://schemas.microsoft.com/office/drawing/2014/main" id="{38890FF7-B632-D374-66C7-F06AE91B115C}"/>
              </a:ext>
            </a:extLst>
          </p:cNvPr>
          <p:cNvCxnSpPr>
            <a:cxnSpLocks/>
          </p:cNvCxnSpPr>
          <p:nvPr/>
        </p:nvCxnSpPr>
        <p:spPr>
          <a:xfrm>
            <a:off x="7329718" y="2989463"/>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ABCF04-FBBE-1922-41EB-C6A24AA1E242}"/>
              </a:ext>
            </a:extLst>
          </p:cNvPr>
          <p:cNvCxnSpPr>
            <a:cxnSpLocks/>
          </p:cNvCxnSpPr>
          <p:nvPr/>
        </p:nvCxnSpPr>
        <p:spPr>
          <a:xfrm>
            <a:off x="7660117" y="2989463"/>
            <a:ext cx="8409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090266-8CAE-D91D-4613-BB476127DDEA}"/>
              </a:ext>
            </a:extLst>
          </p:cNvPr>
          <p:cNvSpPr/>
          <p:nvPr/>
        </p:nvSpPr>
        <p:spPr>
          <a:xfrm>
            <a:off x="5769429" y="4083281"/>
            <a:ext cx="1560286" cy="210308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4297EDDC-FC91-9D8E-9E23-9FC4F29C387F}"/>
              </a:ext>
            </a:extLst>
          </p:cNvPr>
          <p:cNvSpPr txBox="1"/>
          <p:nvPr/>
        </p:nvSpPr>
        <p:spPr>
          <a:xfrm>
            <a:off x="5759490" y="4098833"/>
            <a:ext cx="529234" cy="461665"/>
          </a:xfrm>
          <a:prstGeom prst="rect">
            <a:avLst/>
          </a:prstGeom>
          <a:noFill/>
        </p:spPr>
        <p:txBody>
          <a:bodyPr wrap="square" rtlCol="0">
            <a:spAutoFit/>
          </a:bodyPr>
          <a:lstStyle/>
          <a:p>
            <a:r>
              <a:rPr lang="en-IN" sz="2400" dirty="0"/>
              <a:t>D1</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068AA9-D7A6-4FD1-148C-00A6A26ADC4F}"/>
                  </a:ext>
                </a:extLst>
              </p:cNvPr>
              <p:cNvSpPr txBox="1"/>
              <p:nvPr/>
            </p:nvSpPr>
            <p:spPr>
              <a:xfrm>
                <a:off x="6850744" y="4257453"/>
                <a:ext cx="29028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1</m:t>
                          </m:r>
                        </m:sub>
                      </m:sSub>
                    </m:oMath>
                  </m:oMathPara>
                </a14:m>
                <a:endParaRPr lang="en-IN" sz="2400" dirty="0"/>
              </a:p>
            </p:txBody>
          </p:sp>
        </mc:Choice>
        <mc:Fallback xmlns="">
          <p:sp>
            <p:nvSpPr>
              <p:cNvPr id="20" name="TextBox 19">
                <a:extLst>
                  <a:ext uri="{FF2B5EF4-FFF2-40B4-BE49-F238E27FC236}">
                    <a16:creationId xmlns:a16="http://schemas.microsoft.com/office/drawing/2014/main" id="{FE068AA9-D7A6-4FD1-148C-00A6A26ADC4F}"/>
                  </a:ext>
                </a:extLst>
              </p:cNvPr>
              <p:cNvSpPr txBox="1">
                <a:spLocks noRot="1" noChangeAspect="1" noMove="1" noResize="1" noEditPoints="1" noAdjustHandles="1" noChangeArrowheads="1" noChangeShapeType="1" noTextEdit="1"/>
              </p:cNvSpPr>
              <p:nvPr/>
            </p:nvSpPr>
            <p:spPr>
              <a:xfrm>
                <a:off x="6850744" y="4257453"/>
                <a:ext cx="290286" cy="461665"/>
              </a:xfrm>
              <a:prstGeom prst="rect">
                <a:avLst/>
              </a:prstGeom>
              <a:blipFill>
                <a:blip r:embed="rId4"/>
                <a:stretch>
                  <a:fillRect l="-14894" r="-74468" b="-131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FFDC03D-1B2F-101F-9A96-A6D3ED39BC56}"/>
                  </a:ext>
                </a:extLst>
              </p:cNvPr>
              <p:cNvSpPr txBox="1"/>
              <p:nvPr/>
            </p:nvSpPr>
            <p:spPr>
              <a:xfrm>
                <a:off x="6799944" y="5563738"/>
                <a:ext cx="290286"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1</m:t>
                              </m:r>
                            </m:sub>
                          </m:sSub>
                        </m:e>
                      </m:bar>
                    </m:oMath>
                  </m:oMathPara>
                </a14:m>
                <a:endParaRPr lang="en-IN" sz="2400" dirty="0"/>
              </a:p>
            </p:txBody>
          </p:sp>
        </mc:Choice>
        <mc:Fallback xmlns="">
          <p:sp>
            <p:nvSpPr>
              <p:cNvPr id="21" name="TextBox 20">
                <a:extLst>
                  <a:ext uri="{FF2B5EF4-FFF2-40B4-BE49-F238E27FC236}">
                    <a16:creationId xmlns:a16="http://schemas.microsoft.com/office/drawing/2014/main" id="{EFFDC03D-1B2F-101F-9A96-A6D3ED39BC56}"/>
                  </a:ext>
                </a:extLst>
              </p:cNvPr>
              <p:cNvSpPr txBox="1">
                <a:spLocks noRot="1" noChangeAspect="1" noMove="1" noResize="1" noEditPoints="1" noAdjustHandles="1" noChangeArrowheads="1" noChangeShapeType="1" noTextEdit="1"/>
              </p:cNvSpPr>
              <p:nvPr/>
            </p:nvSpPr>
            <p:spPr>
              <a:xfrm>
                <a:off x="6799944" y="5563738"/>
                <a:ext cx="290286" cy="505203"/>
              </a:xfrm>
              <a:prstGeom prst="rect">
                <a:avLst/>
              </a:prstGeom>
              <a:blipFill>
                <a:blip r:embed="rId5"/>
                <a:stretch>
                  <a:fillRect r="-52083"/>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C3FD04F3-308C-DF77-C341-AAAFE3C0F346}"/>
              </a:ext>
            </a:extLst>
          </p:cNvPr>
          <p:cNvCxnSpPr>
            <a:cxnSpLocks/>
          </p:cNvCxnSpPr>
          <p:nvPr/>
        </p:nvCxnSpPr>
        <p:spPr>
          <a:xfrm>
            <a:off x="7329715" y="4488285"/>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113F30E-91DF-E315-85D3-68F0C837B20D}"/>
              </a:ext>
            </a:extLst>
          </p:cNvPr>
          <p:cNvCxnSpPr>
            <a:cxnSpLocks/>
          </p:cNvCxnSpPr>
          <p:nvPr/>
        </p:nvCxnSpPr>
        <p:spPr>
          <a:xfrm>
            <a:off x="7688686" y="4488285"/>
            <a:ext cx="8238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1975FBD-8E02-A53F-6454-20C0CBDD056B}"/>
              </a:ext>
            </a:extLst>
          </p:cNvPr>
          <p:cNvCxnSpPr>
            <a:cxnSpLocks/>
            <a:stCxn id="47" idx="1"/>
          </p:cNvCxnSpPr>
          <p:nvPr/>
        </p:nvCxnSpPr>
        <p:spPr>
          <a:xfrm>
            <a:off x="4481338" y="4329944"/>
            <a:ext cx="1293251" cy="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Flowchart: Delay 25">
            <a:extLst>
              <a:ext uri="{FF2B5EF4-FFF2-40B4-BE49-F238E27FC236}">
                <a16:creationId xmlns:a16="http://schemas.microsoft.com/office/drawing/2014/main" id="{A7E79FF6-14AC-03AF-01A3-72B4ACC4D6EF}"/>
              </a:ext>
            </a:extLst>
          </p:cNvPr>
          <p:cNvSpPr/>
          <p:nvPr/>
        </p:nvSpPr>
        <p:spPr>
          <a:xfrm>
            <a:off x="8860964" y="3352226"/>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16454DF9-55F2-8338-AE9F-2E0FA7FA5922}"/>
              </a:ext>
            </a:extLst>
          </p:cNvPr>
          <p:cNvCxnSpPr>
            <a:cxnSpLocks/>
          </p:cNvCxnSpPr>
          <p:nvPr/>
        </p:nvCxnSpPr>
        <p:spPr>
          <a:xfrm>
            <a:off x="8493503" y="3749869"/>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F93026A-67AB-DFA5-F44C-07DCFC7CBCF1}"/>
              </a:ext>
            </a:extLst>
          </p:cNvPr>
          <p:cNvCxnSpPr>
            <a:cxnSpLocks/>
          </p:cNvCxnSpPr>
          <p:nvPr/>
        </p:nvCxnSpPr>
        <p:spPr>
          <a:xfrm>
            <a:off x="8500647" y="3473168"/>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Delay 28">
            <a:extLst>
              <a:ext uri="{FF2B5EF4-FFF2-40B4-BE49-F238E27FC236}">
                <a16:creationId xmlns:a16="http://schemas.microsoft.com/office/drawing/2014/main" id="{F5F441EC-006C-747B-6133-1138156389E4}"/>
              </a:ext>
            </a:extLst>
          </p:cNvPr>
          <p:cNvSpPr/>
          <p:nvPr/>
        </p:nvSpPr>
        <p:spPr>
          <a:xfrm>
            <a:off x="2271486" y="4916128"/>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2" name="Flowchart: Delay 31">
            <a:extLst>
              <a:ext uri="{FF2B5EF4-FFF2-40B4-BE49-F238E27FC236}">
                <a16:creationId xmlns:a16="http://schemas.microsoft.com/office/drawing/2014/main" id="{5DD5AEF3-60EC-5774-0A7A-F643CAD3470B}"/>
              </a:ext>
            </a:extLst>
          </p:cNvPr>
          <p:cNvSpPr/>
          <p:nvPr/>
        </p:nvSpPr>
        <p:spPr>
          <a:xfrm>
            <a:off x="2271486" y="3218051"/>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3513EC8-1596-4BF6-3EEA-B9DD15514568}"/>
                  </a:ext>
                </a:extLst>
              </p:cNvPr>
              <p:cNvSpPr txBox="1"/>
              <p:nvPr/>
            </p:nvSpPr>
            <p:spPr>
              <a:xfrm>
                <a:off x="8724210" y="1750620"/>
                <a:ext cx="7742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0</m:t>
                      </m:r>
                      <m:r>
                        <a:rPr lang="en-IN" b="0" i="0" smtClean="0">
                          <a:latin typeface="Cambria Math" panose="02040503050406030204" pitchFamily="18" charset="0"/>
                        </a:rPr>
                        <m:t>=</m:t>
                      </m:r>
                      <m:r>
                        <m:rPr>
                          <m:sty m:val="p"/>
                        </m:rPr>
                        <a:rPr lang="en-IN" b="0" i="1" smtClean="0">
                          <a:latin typeface="Cambria Math" panose="02040503050406030204" pitchFamily="18" charset="0"/>
                        </a:rPr>
                        <m:t>X</m:t>
                      </m:r>
                    </m:oMath>
                  </m:oMathPara>
                </a14:m>
                <a:endParaRPr lang="en-IN" dirty="0"/>
              </a:p>
            </p:txBody>
          </p:sp>
        </mc:Choice>
        <mc:Fallback xmlns="">
          <p:sp>
            <p:nvSpPr>
              <p:cNvPr id="36" name="TextBox 35">
                <a:extLst>
                  <a:ext uri="{FF2B5EF4-FFF2-40B4-BE49-F238E27FC236}">
                    <a16:creationId xmlns:a16="http://schemas.microsoft.com/office/drawing/2014/main" id="{23513EC8-1596-4BF6-3EEA-B9DD15514568}"/>
                  </a:ext>
                </a:extLst>
              </p:cNvPr>
              <p:cNvSpPr txBox="1">
                <a:spLocks noRot="1" noChangeAspect="1" noMove="1" noResize="1" noEditPoints="1" noAdjustHandles="1" noChangeArrowheads="1" noChangeShapeType="1" noTextEdit="1"/>
              </p:cNvSpPr>
              <p:nvPr/>
            </p:nvSpPr>
            <p:spPr>
              <a:xfrm>
                <a:off x="8724210" y="1750620"/>
                <a:ext cx="774250" cy="276999"/>
              </a:xfrm>
              <a:prstGeom prst="rect">
                <a:avLst/>
              </a:prstGeom>
              <a:blipFill>
                <a:blip r:embed="rId6"/>
                <a:stretch>
                  <a:fillRect l="-6299" r="-7874" b="-6522"/>
                </a:stretch>
              </a:blipFill>
            </p:spPr>
            <p:txBody>
              <a:bodyPr/>
              <a:lstStyle/>
              <a:p>
                <a:r>
                  <a:rPr lang="en-IN">
                    <a:noFill/>
                  </a:rPr>
                  <a:t> </a:t>
                </a:r>
              </a:p>
            </p:txBody>
          </p:sp>
        </mc:Fallback>
      </mc:AlternateContent>
      <p:cxnSp>
        <p:nvCxnSpPr>
          <p:cNvPr id="44" name="Straight Connector 43">
            <a:extLst>
              <a:ext uri="{FF2B5EF4-FFF2-40B4-BE49-F238E27FC236}">
                <a16:creationId xmlns:a16="http://schemas.microsoft.com/office/drawing/2014/main" id="{2AAE1E84-834A-93AB-4C89-63121187D8D3}"/>
              </a:ext>
            </a:extLst>
          </p:cNvPr>
          <p:cNvCxnSpPr>
            <a:cxnSpLocks/>
          </p:cNvCxnSpPr>
          <p:nvPr/>
        </p:nvCxnSpPr>
        <p:spPr>
          <a:xfrm>
            <a:off x="9361707" y="3608497"/>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lowchart: Stored Data 46">
            <a:extLst>
              <a:ext uri="{FF2B5EF4-FFF2-40B4-BE49-F238E27FC236}">
                <a16:creationId xmlns:a16="http://schemas.microsoft.com/office/drawing/2014/main" id="{104DD04F-8047-0732-34AD-3768D924855D}"/>
              </a:ext>
            </a:extLst>
          </p:cNvPr>
          <p:cNvSpPr/>
          <p:nvPr/>
        </p:nvSpPr>
        <p:spPr>
          <a:xfrm rot="10800000">
            <a:off x="3748087" y="4045873"/>
            <a:ext cx="733251" cy="568143"/>
          </a:xfrm>
          <a:prstGeom prst="flowChartOnlineStorag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51" name="Straight Connector 50">
            <a:extLst>
              <a:ext uri="{FF2B5EF4-FFF2-40B4-BE49-F238E27FC236}">
                <a16:creationId xmlns:a16="http://schemas.microsoft.com/office/drawing/2014/main" id="{DACAF3EF-F681-912C-546A-DA2C39370B7E}"/>
              </a:ext>
            </a:extLst>
          </p:cNvPr>
          <p:cNvCxnSpPr>
            <a:cxnSpLocks/>
          </p:cNvCxnSpPr>
          <p:nvPr/>
        </p:nvCxnSpPr>
        <p:spPr>
          <a:xfrm>
            <a:off x="4483435" y="1442698"/>
            <a:ext cx="1293251" cy="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4ECE1E1-22A1-884C-27B4-28A7F18717D1}"/>
              </a:ext>
            </a:extLst>
          </p:cNvPr>
          <p:cNvCxnSpPr>
            <a:cxnSpLocks/>
          </p:cNvCxnSpPr>
          <p:nvPr/>
        </p:nvCxnSpPr>
        <p:spPr>
          <a:xfrm>
            <a:off x="2772229" y="3487505"/>
            <a:ext cx="7123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93EC4A4-BFA4-B33A-9CAF-37B33E3C4E16}"/>
              </a:ext>
            </a:extLst>
          </p:cNvPr>
          <p:cNvCxnSpPr>
            <a:cxnSpLocks/>
          </p:cNvCxnSpPr>
          <p:nvPr/>
        </p:nvCxnSpPr>
        <p:spPr>
          <a:xfrm>
            <a:off x="8498398" y="2982319"/>
            <a:ext cx="0" cy="4987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96D5F3B-23FB-84DB-5282-51CC247CC1DB}"/>
              </a:ext>
            </a:extLst>
          </p:cNvPr>
          <p:cNvCxnSpPr>
            <a:cxnSpLocks/>
          </p:cNvCxnSpPr>
          <p:nvPr/>
        </p:nvCxnSpPr>
        <p:spPr>
          <a:xfrm>
            <a:off x="8496017" y="3752250"/>
            <a:ext cx="6596" cy="7407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6901413-04E7-F448-A8F0-E6D303BE56EC}"/>
              </a:ext>
            </a:extLst>
          </p:cNvPr>
          <p:cNvCxnSpPr>
            <a:cxnSpLocks/>
          </p:cNvCxnSpPr>
          <p:nvPr/>
        </p:nvCxnSpPr>
        <p:spPr>
          <a:xfrm>
            <a:off x="3484608" y="417793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6842B1A-2887-7A70-9AAE-3670FD192BAC}"/>
              </a:ext>
            </a:extLst>
          </p:cNvPr>
          <p:cNvCxnSpPr>
            <a:cxnSpLocks/>
          </p:cNvCxnSpPr>
          <p:nvPr/>
        </p:nvCxnSpPr>
        <p:spPr>
          <a:xfrm>
            <a:off x="3484608" y="448181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44E69B5-E45B-92EF-F8F9-C18A3D9FC3EC}"/>
              </a:ext>
            </a:extLst>
          </p:cNvPr>
          <p:cNvCxnSpPr>
            <a:cxnSpLocks/>
          </p:cNvCxnSpPr>
          <p:nvPr/>
        </p:nvCxnSpPr>
        <p:spPr>
          <a:xfrm>
            <a:off x="2772229" y="5187787"/>
            <a:ext cx="7123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87B6A20-E73C-55D4-F39F-7516AC610920}"/>
              </a:ext>
            </a:extLst>
          </p:cNvPr>
          <p:cNvCxnSpPr>
            <a:cxnSpLocks/>
          </p:cNvCxnSpPr>
          <p:nvPr/>
        </p:nvCxnSpPr>
        <p:spPr>
          <a:xfrm>
            <a:off x="3478258" y="3483932"/>
            <a:ext cx="6350" cy="701106"/>
          </a:xfrm>
          <a:prstGeom prst="line">
            <a:avLst/>
          </a:prstGeom>
        </p:spPr>
        <p:style>
          <a:lnRef idx="3">
            <a:schemeClr val="dk1"/>
          </a:lnRef>
          <a:fillRef idx="0">
            <a:schemeClr val="dk1"/>
          </a:fillRef>
          <a:effectRef idx="2">
            <a:schemeClr val="dk1"/>
          </a:effectRef>
          <a:fontRef idx="minor">
            <a:schemeClr val="tx1"/>
          </a:fontRef>
        </p:style>
      </p:cxnSp>
      <p:cxnSp>
        <p:nvCxnSpPr>
          <p:cNvPr id="80" name="Straight Connector 79">
            <a:extLst>
              <a:ext uri="{FF2B5EF4-FFF2-40B4-BE49-F238E27FC236}">
                <a16:creationId xmlns:a16="http://schemas.microsoft.com/office/drawing/2014/main" id="{84297C2A-B04F-330A-E4D7-42F617A6665D}"/>
              </a:ext>
            </a:extLst>
          </p:cNvPr>
          <p:cNvCxnSpPr>
            <a:cxnSpLocks/>
          </p:cNvCxnSpPr>
          <p:nvPr/>
        </p:nvCxnSpPr>
        <p:spPr>
          <a:xfrm>
            <a:off x="3478258" y="4473173"/>
            <a:ext cx="0" cy="722951"/>
          </a:xfrm>
          <a:prstGeom prst="line">
            <a:avLst/>
          </a:prstGeom>
        </p:spPr>
        <p:style>
          <a:lnRef idx="3">
            <a:schemeClr val="dk1"/>
          </a:lnRef>
          <a:fillRef idx="0">
            <a:schemeClr val="dk1"/>
          </a:fillRef>
          <a:effectRef idx="2">
            <a:schemeClr val="dk1"/>
          </a:effectRef>
          <a:fontRef idx="minor">
            <a:schemeClr val="tx1"/>
          </a:fontRef>
        </p:style>
      </p:cxnSp>
      <p:cxnSp>
        <p:nvCxnSpPr>
          <p:cNvPr id="107" name="Straight Connector 106">
            <a:extLst>
              <a:ext uri="{FF2B5EF4-FFF2-40B4-BE49-F238E27FC236}">
                <a16:creationId xmlns:a16="http://schemas.microsoft.com/office/drawing/2014/main" id="{733E7C1A-A694-A058-564F-8282CD3790E1}"/>
              </a:ext>
            </a:extLst>
          </p:cNvPr>
          <p:cNvCxnSpPr>
            <a:cxnSpLocks/>
          </p:cNvCxnSpPr>
          <p:nvPr/>
        </p:nvCxnSpPr>
        <p:spPr>
          <a:xfrm>
            <a:off x="1520821" y="3472937"/>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49777F40-62B4-31EC-4176-C88993D3F066}"/>
              </a:ext>
            </a:extLst>
          </p:cNvPr>
          <p:cNvCxnSpPr>
            <a:cxnSpLocks/>
          </p:cNvCxnSpPr>
          <p:nvPr/>
        </p:nvCxnSpPr>
        <p:spPr>
          <a:xfrm>
            <a:off x="1520821" y="3268424"/>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878683B-00AC-E9B3-C658-E335B21A6498}"/>
              </a:ext>
            </a:extLst>
          </p:cNvPr>
          <p:cNvCxnSpPr>
            <a:cxnSpLocks/>
          </p:cNvCxnSpPr>
          <p:nvPr/>
        </p:nvCxnSpPr>
        <p:spPr>
          <a:xfrm>
            <a:off x="1520825" y="5325760"/>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CF7B52C-3812-A94F-34B0-F185A811E819}"/>
              </a:ext>
            </a:extLst>
          </p:cNvPr>
          <p:cNvCxnSpPr>
            <a:cxnSpLocks/>
          </p:cNvCxnSpPr>
          <p:nvPr/>
        </p:nvCxnSpPr>
        <p:spPr>
          <a:xfrm>
            <a:off x="1520823" y="5135252"/>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347A1DED-572D-70C3-F53B-04CB6B46BB44}"/>
                  </a:ext>
                </a:extLst>
              </p:cNvPr>
              <p:cNvSpPr txBox="1"/>
              <p:nvPr/>
            </p:nvSpPr>
            <p:spPr>
              <a:xfrm>
                <a:off x="1198716" y="4578333"/>
                <a:ext cx="420510" cy="502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r>
                            <m:rPr>
                              <m:sty m:val="p"/>
                            </m:rPr>
                            <a:rPr lang="en-IN" sz="2400" b="0" i="1" smtClean="0">
                              <a:latin typeface="Cambria Math" panose="02040503050406030204" pitchFamily="18" charset="0"/>
                            </a:rPr>
                            <m:t>X</m:t>
                          </m:r>
                        </m:e>
                      </m:bar>
                    </m:oMath>
                  </m:oMathPara>
                </a14:m>
                <a:endParaRPr lang="en-IN" sz="2400" dirty="0"/>
              </a:p>
            </p:txBody>
          </p:sp>
        </mc:Choice>
        <mc:Fallback xmlns="">
          <p:sp>
            <p:nvSpPr>
              <p:cNvPr id="114" name="TextBox 113">
                <a:extLst>
                  <a:ext uri="{FF2B5EF4-FFF2-40B4-BE49-F238E27FC236}">
                    <a16:creationId xmlns:a16="http://schemas.microsoft.com/office/drawing/2014/main" id="{347A1DED-572D-70C3-F53B-04CB6B46BB44}"/>
                  </a:ext>
                </a:extLst>
              </p:cNvPr>
              <p:cNvSpPr txBox="1">
                <a:spLocks noRot="1" noChangeAspect="1" noMove="1" noResize="1" noEditPoints="1" noAdjustHandles="1" noChangeArrowheads="1" noChangeShapeType="1" noTextEdit="1"/>
              </p:cNvSpPr>
              <p:nvPr/>
            </p:nvSpPr>
            <p:spPr>
              <a:xfrm>
                <a:off x="1198716" y="4578333"/>
                <a:ext cx="420510" cy="50276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97326EA5-60EE-F080-68AE-C90EACFC2314}"/>
                  </a:ext>
                </a:extLst>
              </p:cNvPr>
              <p:cNvSpPr txBox="1"/>
              <p:nvPr/>
            </p:nvSpPr>
            <p:spPr>
              <a:xfrm>
                <a:off x="1081313" y="5352010"/>
                <a:ext cx="389008"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r>
                            <m:rPr>
                              <m:sty m:val="p"/>
                            </m:rPr>
                            <a:rPr lang="en-IN" sz="2400" b="0" i="1" smtClean="0">
                              <a:latin typeface="Cambria Math" panose="02040503050406030204" pitchFamily="18" charset="0"/>
                            </a:rPr>
                            <m:t>Q</m:t>
                          </m:r>
                          <m:r>
                            <a:rPr lang="en-IN" sz="2400" b="0" i="1" smtClean="0">
                              <a:latin typeface="Cambria Math" panose="02040503050406030204" pitchFamily="18" charset="0"/>
                            </a:rPr>
                            <m:t>1</m:t>
                          </m:r>
                        </m:e>
                      </m:bar>
                    </m:oMath>
                  </m:oMathPara>
                </a14:m>
                <a:endParaRPr lang="en-IN" sz="2400" dirty="0"/>
              </a:p>
            </p:txBody>
          </p:sp>
        </mc:Choice>
        <mc:Fallback xmlns="">
          <p:sp>
            <p:nvSpPr>
              <p:cNvPr id="119" name="TextBox 118">
                <a:extLst>
                  <a:ext uri="{FF2B5EF4-FFF2-40B4-BE49-F238E27FC236}">
                    <a16:creationId xmlns:a16="http://schemas.microsoft.com/office/drawing/2014/main" id="{97326EA5-60EE-F080-68AE-C90EACFC2314}"/>
                  </a:ext>
                </a:extLst>
              </p:cNvPr>
              <p:cNvSpPr txBox="1">
                <a:spLocks noRot="1" noChangeAspect="1" noMove="1" noResize="1" noEditPoints="1" noAdjustHandles="1" noChangeArrowheads="1" noChangeShapeType="1" noTextEdit="1"/>
              </p:cNvSpPr>
              <p:nvPr/>
            </p:nvSpPr>
            <p:spPr>
              <a:xfrm>
                <a:off x="1081313" y="5352010"/>
                <a:ext cx="389008" cy="505203"/>
              </a:xfrm>
              <a:prstGeom prst="rect">
                <a:avLst/>
              </a:prstGeom>
              <a:blipFill>
                <a:blip r:embed="rId8"/>
                <a:stretch>
                  <a:fillRect r="-203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C2E88796-5A8A-0826-75CE-D188179C772F}"/>
                  </a:ext>
                </a:extLst>
              </p:cNvPr>
              <p:cNvSpPr txBox="1"/>
              <p:nvPr/>
            </p:nvSpPr>
            <p:spPr>
              <a:xfrm>
                <a:off x="988729" y="3218051"/>
                <a:ext cx="3890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400" b="0" i="1" smtClean="0">
                          <a:latin typeface="Cambria Math" panose="02040503050406030204" pitchFamily="18" charset="0"/>
                        </a:rPr>
                        <m:t>Q</m:t>
                      </m:r>
                      <m:r>
                        <a:rPr lang="en-IN" sz="2400" b="0" i="1" smtClean="0">
                          <a:latin typeface="Cambria Math" panose="02040503050406030204" pitchFamily="18" charset="0"/>
                        </a:rPr>
                        <m:t>1</m:t>
                      </m:r>
                    </m:oMath>
                  </m:oMathPara>
                </a14:m>
                <a:endParaRPr lang="en-IN" sz="2400" dirty="0"/>
              </a:p>
            </p:txBody>
          </p:sp>
        </mc:Choice>
        <mc:Fallback xmlns="">
          <p:sp>
            <p:nvSpPr>
              <p:cNvPr id="120" name="TextBox 119">
                <a:extLst>
                  <a:ext uri="{FF2B5EF4-FFF2-40B4-BE49-F238E27FC236}">
                    <a16:creationId xmlns:a16="http://schemas.microsoft.com/office/drawing/2014/main" id="{C2E88796-5A8A-0826-75CE-D188179C772F}"/>
                  </a:ext>
                </a:extLst>
              </p:cNvPr>
              <p:cNvSpPr txBox="1">
                <a:spLocks noRot="1" noChangeAspect="1" noMove="1" noResize="1" noEditPoints="1" noAdjustHandles="1" noChangeArrowheads="1" noChangeShapeType="1" noTextEdit="1"/>
              </p:cNvSpPr>
              <p:nvPr/>
            </p:nvSpPr>
            <p:spPr>
              <a:xfrm>
                <a:off x="988729" y="3218051"/>
                <a:ext cx="389008" cy="461665"/>
              </a:xfrm>
              <a:prstGeom prst="rect">
                <a:avLst/>
              </a:prstGeom>
              <a:blipFill>
                <a:blip r:embed="rId9"/>
                <a:stretch>
                  <a:fillRect l="-10938" r="-53125" b="-118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613493CF-CB3D-4700-571A-F143E9C67C99}"/>
                  </a:ext>
                </a:extLst>
              </p:cNvPr>
              <p:cNvSpPr txBox="1"/>
              <p:nvPr/>
            </p:nvSpPr>
            <p:spPr>
              <a:xfrm>
                <a:off x="1102806" y="2796474"/>
                <a:ext cx="389008"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r>
                            <m:rPr>
                              <m:sty m:val="p"/>
                            </m:rPr>
                            <a:rPr lang="en-IN" sz="2400" b="0" i="1" smtClean="0">
                              <a:latin typeface="Cambria Math" panose="02040503050406030204" pitchFamily="18" charset="0"/>
                            </a:rPr>
                            <m:t>Q</m:t>
                          </m:r>
                          <m:r>
                            <a:rPr lang="en-IN" sz="2400" b="0" i="1" smtClean="0">
                              <a:latin typeface="Cambria Math" panose="02040503050406030204" pitchFamily="18" charset="0"/>
                            </a:rPr>
                            <m:t>0</m:t>
                          </m:r>
                        </m:e>
                      </m:bar>
                    </m:oMath>
                  </m:oMathPara>
                </a14:m>
                <a:endParaRPr lang="en-IN" sz="2400" dirty="0"/>
              </a:p>
            </p:txBody>
          </p:sp>
        </mc:Choice>
        <mc:Fallback xmlns="">
          <p:sp>
            <p:nvSpPr>
              <p:cNvPr id="122" name="TextBox 121">
                <a:extLst>
                  <a:ext uri="{FF2B5EF4-FFF2-40B4-BE49-F238E27FC236}">
                    <a16:creationId xmlns:a16="http://schemas.microsoft.com/office/drawing/2014/main" id="{613493CF-CB3D-4700-571A-F143E9C67C99}"/>
                  </a:ext>
                </a:extLst>
              </p:cNvPr>
              <p:cNvSpPr txBox="1">
                <a:spLocks noRot="1" noChangeAspect="1" noMove="1" noResize="1" noEditPoints="1" noAdjustHandles="1" noChangeArrowheads="1" noChangeShapeType="1" noTextEdit="1"/>
              </p:cNvSpPr>
              <p:nvPr/>
            </p:nvSpPr>
            <p:spPr>
              <a:xfrm>
                <a:off x="1102806" y="2796474"/>
                <a:ext cx="389008" cy="505203"/>
              </a:xfrm>
              <a:prstGeom prst="rect">
                <a:avLst/>
              </a:prstGeom>
              <a:blipFill>
                <a:blip r:embed="rId10"/>
                <a:stretch>
                  <a:fillRect r="-1875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737A6A2C-45CF-97E6-E0D9-93A9CC869EBB}"/>
                  </a:ext>
                </a:extLst>
              </p:cNvPr>
              <p:cNvSpPr txBox="1"/>
              <p:nvPr/>
            </p:nvSpPr>
            <p:spPr>
              <a:xfrm>
                <a:off x="756485" y="4916128"/>
                <a:ext cx="3890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400" b="0" i="1" smtClean="0">
                          <a:latin typeface="Cambria Math" panose="02040503050406030204" pitchFamily="18" charset="0"/>
                        </a:rPr>
                        <m:t>Q</m:t>
                      </m:r>
                      <m:r>
                        <a:rPr lang="en-IN" sz="2400" b="0" i="1" smtClean="0">
                          <a:latin typeface="Cambria Math" panose="02040503050406030204" pitchFamily="18" charset="0"/>
                        </a:rPr>
                        <m:t>0</m:t>
                      </m:r>
                    </m:oMath>
                  </m:oMathPara>
                </a14:m>
                <a:endParaRPr lang="en-IN" sz="2400" dirty="0"/>
              </a:p>
            </p:txBody>
          </p:sp>
        </mc:Choice>
        <mc:Fallback xmlns="">
          <p:sp>
            <p:nvSpPr>
              <p:cNvPr id="123" name="TextBox 122">
                <a:extLst>
                  <a:ext uri="{FF2B5EF4-FFF2-40B4-BE49-F238E27FC236}">
                    <a16:creationId xmlns:a16="http://schemas.microsoft.com/office/drawing/2014/main" id="{737A6A2C-45CF-97E6-E0D9-93A9CC869EBB}"/>
                  </a:ext>
                </a:extLst>
              </p:cNvPr>
              <p:cNvSpPr txBox="1">
                <a:spLocks noRot="1" noChangeAspect="1" noMove="1" noResize="1" noEditPoints="1" noAdjustHandles="1" noChangeArrowheads="1" noChangeShapeType="1" noTextEdit="1"/>
              </p:cNvSpPr>
              <p:nvPr/>
            </p:nvSpPr>
            <p:spPr>
              <a:xfrm>
                <a:off x="756485" y="4916128"/>
                <a:ext cx="389008" cy="461665"/>
              </a:xfrm>
              <a:prstGeom prst="rect">
                <a:avLst/>
              </a:prstGeom>
              <a:blipFill>
                <a:blip r:embed="rId11"/>
                <a:stretch>
                  <a:fillRect l="-10938" r="-53125" b="-131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79392C-92C0-0A69-2D2B-4A706046FA67}"/>
                  </a:ext>
                </a:extLst>
              </p:cNvPr>
              <p:cNvSpPr txBox="1"/>
              <p:nvPr/>
            </p:nvSpPr>
            <p:spPr>
              <a:xfrm>
                <a:off x="10017142" y="3376337"/>
                <a:ext cx="1350113" cy="3440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𝐙</m:t>
                      </m:r>
                      <m:r>
                        <a:rPr lang="en-IN" sz="2000" b="1" i="0"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𝟏</m:t>
                          </m:r>
                        </m:sub>
                      </m:sSub>
                      <m:bar>
                        <m:barPr>
                          <m:pos m:val="top"/>
                          <m:ctrlPr>
                            <a:rPr lang="en-IN" sz="2000" b="1" i="1" smtClean="0">
                              <a:latin typeface="Cambria Math" panose="02040503050406030204" pitchFamily="18" charset="0"/>
                            </a:rPr>
                          </m:ctrlPr>
                        </m:barPr>
                        <m:e>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𝟎</m:t>
                              </m:r>
                            </m:sub>
                          </m:sSub>
                        </m:e>
                      </m:bar>
                      <m:r>
                        <a:rPr lang="en-IN" sz="2000" b="1" i="1" smtClean="0">
                          <a:latin typeface="Cambria Math" panose="02040503050406030204" pitchFamily="18" charset="0"/>
                        </a:rPr>
                        <m:t> </m:t>
                      </m:r>
                      <m:r>
                        <a:rPr lang="en-IN" sz="2000" b="1" i="1" smtClean="0">
                          <a:latin typeface="Cambria Math" panose="02040503050406030204" pitchFamily="18" charset="0"/>
                        </a:rPr>
                        <m:t>𝑿</m:t>
                      </m:r>
                    </m:oMath>
                  </m:oMathPara>
                </a14:m>
                <a:endParaRPr lang="en-IN" sz="2000" b="1" dirty="0"/>
              </a:p>
            </p:txBody>
          </p:sp>
        </mc:Choice>
        <mc:Fallback xmlns="">
          <p:sp>
            <p:nvSpPr>
              <p:cNvPr id="2" name="TextBox 1">
                <a:extLst>
                  <a:ext uri="{FF2B5EF4-FFF2-40B4-BE49-F238E27FC236}">
                    <a16:creationId xmlns:a16="http://schemas.microsoft.com/office/drawing/2014/main" id="{BE79392C-92C0-0A69-2D2B-4A706046FA67}"/>
                  </a:ext>
                </a:extLst>
              </p:cNvPr>
              <p:cNvSpPr txBox="1">
                <a:spLocks noRot="1" noChangeAspect="1" noMove="1" noResize="1" noEditPoints="1" noAdjustHandles="1" noChangeArrowheads="1" noChangeShapeType="1" noTextEdit="1"/>
              </p:cNvSpPr>
              <p:nvPr/>
            </p:nvSpPr>
            <p:spPr>
              <a:xfrm>
                <a:off x="10017142" y="3376337"/>
                <a:ext cx="1350113" cy="344069"/>
              </a:xfrm>
              <a:prstGeom prst="rect">
                <a:avLst/>
              </a:prstGeom>
              <a:blipFill>
                <a:blip r:embed="rId12"/>
                <a:stretch>
                  <a:fillRect l="-5405" r="-5856" b="-26786"/>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45C54116-5186-8548-3EDA-59694B25B9E2}"/>
              </a:ext>
            </a:extLst>
          </p:cNvPr>
          <p:cNvCxnSpPr>
            <a:cxnSpLocks/>
          </p:cNvCxnSpPr>
          <p:nvPr/>
        </p:nvCxnSpPr>
        <p:spPr>
          <a:xfrm>
            <a:off x="8131071" y="3634927"/>
            <a:ext cx="7298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1BC90F0-BC16-B844-383C-7F2062F08C06}"/>
              </a:ext>
            </a:extLst>
          </p:cNvPr>
          <p:cNvSpPr txBox="1"/>
          <p:nvPr/>
        </p:nvSpPr>
        <p:spPr>
          <a:xfrm>
            <a:off x="7785019" y="3425389"/>
            <a:ext cx="420510" cy="461665"/>
          </a:xfrm>
          <a:prstGeom prst="rect">
            <a:avLst/>
          </a:prstGeom>
          <a:noFill/>
        </p:spPr>
        <p:txBody>
          <a:bodyPr wrap="square" rtlCol="0">
            <a:spAutoFit/>
          </a:bodyPr>
          <a:lstStyle/>
          <a:p>
            <a:r>
              <a:rPr lang="en-IN" sz="2400" dirty="0"/>
              <a:t>X</a:t>
            </a:r>
          </a:p>
        </p:txBody>
      </p:sp>
      <p:sp>
        <p:nvSpPr>
          <p:cNvPr id="15" name="TextBox 14">
            <a:extLst>
              <a:ext uri="{FF2B5EF4-FFF2-40B4-BE49-F238E27FC236}">
                <a16:creationId xmlns:a16="http://schemas.microsoft.com/office/drawing/2014/main" id="{B2F2685C-947A-6913-CBBF-F11742EFAC21}"/>
              </a:ext>
            </a:extLst>
          </p:cNvPr>
          <p:cNvSpPr txBox="1"/>
          <p:nvPr/>
        </p:nvSpPr>
        <p:spPr>
          <a:xfrm>
            <a:off x="4124133" y="1206350"/>
            <a:ext cx="420510" cy="461665"/>
          </a:xfrm>
          <a:prstGeom prst="rect">
            <a:avLst/>
          </a:prstGeom>
          <a:noFill/>
        </p:spPr>
        <p:txBody>
          <a:bodyPr wrap="square" rtlCol="0">
            <a:spAutoFit/>
          </a:bodyPr>
          <a:lstStyle/>
          <a:p>
            <a:r>
              <a:rPr lang="en-IN" sz="2400" dirty="0"/>
              <a:t>X</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5BD1F1B-619F-446E-A16A-8AF96FE6531D}"/>
                  </a:ext>
                </a:extLst>
              </p:cNvPr>
              <p:cNvSpPr txBox="1"/>
              <p:nvPr/>
            </p:nvSpPr>
            <p:spPr>
              <a:xfrm>
                <a:off x="8673661" y="1323212"/>
                <a:ext cx="2326663"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b="0" i="1" smtClean="0">
                          <a:latin typeface="Cambria Math" panose="02040503050406030204" pitchFamily="18" charset="0"/>
                        </a:rPr>
                        <m:t>D</m:t>
                      </m:r>
                      <m:r>
                        <a:rPr lang="en-IN" b="0" i="1" smtClean="0">
                          <a:latin typeface="Cambria Math" panose="02040503050406030204" pitchFamily="18" charset="0"/>
                        </a:rPr>
                        <m:t>1=</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1" smtClean="0">
                          <a:latin typeface="Cambria Math" panose="02040503050406030204" pitchFamily="18" charset="0"/>
                        </a:rPr>
                        <m:t> </m:t>
                      </m:r>
                      <m:r>
                        <m:rPr>
                          <m:sty m:val="p"/>
                        </m:rPr>
                        <a:rPr lang="en-IN" b="0" i="1" smtClean="0">
                          <a:latin typeface="Cambria Math" panose="02040503050406030204" pitchFamily="18" charset="0"/>
                        </a:rPr>
                        <m:t>X</m:t>
                      </m:r>
                      <m:r>
                        <a:rPr lang="en-IN" b="0" i="1" smtClean="0">
                          <a:latin typeface="Cambria Math" panose="02040503050406030204" pitchFamily="18" charset="0"/>
                        </a:rPr>
                        <m:t> +</m:t>
                      </m:r>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e>
                      </m:ba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bar>
                        <m:barPr>
                          <m:pos m:val="top"/>
                          <m:ctrlPr>
                            <a:rPr lang="en-IN" b="0" i="1" smtClean="0">
                              <a:latin typeface="Cambria Math" panose="02040503050406030204" pitchFamily="18" charset="0"/>
                            </a:rPr>
                          </m:ctrlPr>
                        </m:barPr>
                        <m:e>
                          <m:r>
                            <m:rPr>
                              <m:sty m:val="p"/>
                            </m:rPr>
                            <a:rPr lang="en-IN" b="0" i="1" smtClean="0">
                              <a:latin typeface="Cambria Math" panose="02040503050406030204" pitchFamily="18" charset="0"/>
                            </a:rPr>
                            <m:t>X</m:t>
                          </m:r>
                        </m:e>
                      </m:bar>
                    </m:oMath>
                  </m:oMathPara>
                </a14:m>
                <a:endParaRPr lang="en-IN" dirty="0"/>
              </a:p>
            </p:txBody>
          </p:sp>
        </mc:Choice>
        <mc:Fallback xmlns="">
          <p:sp>
            <p:nvSpPr>
              <p:cNvPr id="16" name="TextBox 15">
                <a:extLst>
                  <a:ext uri="{FF2B5EF4-FFF2-40B4-BE49-F238E27FC236}">
                    <a16:creationId xmlns:a16="http://schemas.microsoft.com/office/drawing/2014/main" id="{D5BD1F1B-619F-446E-A16A-8AF96FE6531D}"/>
                  </a:ext>
                </a:extLst>
              </p:cNvPr>
              <p:cNvSpPr txBox="1">
                <a:spLocks noRot="1" noChangeAspect="1" noMove="1" noResize="1" noEditPoints="1" noAdjustHandles="1" noChangeArrowheads="1" noChangeShapeType="1" noTextEdit="1"/>
              </p:cNvSpPr>
              <p:nvPr/>
            </p:nvSpPr>
            <p:spPr>
              <a:xfrm>
                <a:off x="8673661" y="1323212"/>
                <a:ext cx="2326663" cy="309637"/>
              </a:xfrm>
              <a:prstGeom prst="rect">
                <a:avLst/>
              </a:prstGeom>
              <a:blipFill>
                <a:blip r:embed="rId13"/>
                <a:stretch>
                  <a:fillRect l="-2094" r="-1832" b="-27451"/>
                </a:stretch>
              </a:blipFill>
            </p:spPr>
            <p:txBody>
              <a:bodyPr/>
              <a:lstStyle/>
              <a:p>
                <a:r>
                  <a:rPr lang="en-IN">
                    <a:noFill/>
                  </a:rPr>
                  <a:t> </a:t>
                </a:r>
              </a:p>
            </p:txBody>
          </p:sp>
        </mc:Fallback>
      </mc:AlternateContent>
      <p:cxnSp>
        <p:nvCxnSpPr>
          <p:cNvPr id="24" name="Straight Connector 23">
            <a:extLst>
              <a:ext uri="{FF2B5EF4-FFF2-40B4-BE49-F238E27FC236}">
                <a16:creationId xmlns:a16="http://schemas.microsoft.com/office/drawing/2014/main" id="{A38D0BDF-F7A7-64BF-2C09-2C25728EFA95}"/>
              </a:ext>
            </a:extLst>
          </p:cNvPr>
          <p:cNvCxnSpPr>
            <a:cxnSpLocks/>
          </p:cNvCxnSpPr>
          <p:nvPr/>
        </p:nvCxnSpPr>
        <p:spPr>
          <a:xfrm>
            <a:off x="1520823" y="4955864"/>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4EC5DC9-8B87-DD78-DAFE-02BD24DC3D18}"/>
              </a:ext>
            </a:extLst>
          </p:cNvPr>
          <p:cNvCxnSpPr>
            <a:cxnSpLocks/>
          </p:cNvCxnSpPr>
          <p:nvPr/>
        </p:nvCxnSpPr>
        <p:spPr>
          <a:xfrm>
            <a:off x="1520822" y="3663271"/>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4D6D573-3078-F937-A0EF-5CD4D9B4A388}"/>
              </a:ext>
            </a:extLst>
          </p:cNvPr>
          <p:cNvSpPr txBox="1"/>
          <p:nvPr/>
        </p:nvSpPr>
        <p:spPr>
          <a:xfrm>
            <a:off x="1129285" y="3539916"/>
            <a:ext cx="420510" cy="461665"/>
          </a:xfrm>
          <a:prstGeom prst="rect">
            <a:avLst/>
          </a:prstGeom>
          <a:noFill/>
        </p:spPr>
        <p:txBody>
          <a:bodyPr wrap="square" rtlCol="0">
            <a:spAutoFit/>
          </a:bodyPr>
          <a:lstStyle/>
          <a:p>
            <a:r>
              <a:rPr lang="en-IN" sz="2400" dirty="0"/>
              <a:t>X</a:t>
            </a:r>
          </a:p>
        </p:txBody>
      </p:sp>
      <p:sp>
        <p:nvSpPr>
          <p:cNvPr id="45" name="Isosceles Triangle 44">
            <a:extLst>
              <a:ext uri="{FF2B5EF4-FFF2-40B4-BE49-F238E27FC236}">
                <a16:creationId xmlns:a16="http://schemas.microsoft.com/office/drawing/2014/main" id="{7B9D17A4-89AC-955D-87E7-2808B1295159}"/>
              </a:ext>
            </a:extLst>
          </p:cNvPr>
          <p:cNvSpPr/>
          <p:nvPr/>
        </p:nvSpPr>
        <p:spPr>
          <a:xfrm rot="5400000">
            <a:off x="5676239" y="2601559"/>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46" name="Straight Connector 45">
            <a:extLst>
              <a:ext uri="{FF2B5EF4-FFF2-40B4-BE49-F238E27FC236}">
                <a16:creationId xmlns:a16="http://schemas.microsoft.com/office/drawing/2014/main" id="{3D90A1E8-02C6-9F85-EEE4-2C4F2A9B33DD}"/>
              </a:ext>
            </a:extLst>
          </p:cNvPr>
          <p:cNvCxnSpPr>
            <a:cxnSpLocks/>
          </p:cNvCxnSpPr>
          <p:nvPr/>
        </p:nvCxnSpPr>
        <p:spPr>
          <a:xfrm>
            <a:off x="5243903" y="2694764"/>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Isosceles Triangle 47">
            <a:extLst>
              <a:ext uri="{FF2B5EF4-FFF2-40B4-BE49-F238E27FC236}">
                <a16:creationId xmlns:a16="http://schemas.microsoft.com/office/drawing/2014/main" id="{9BD41A6B-5076-FD62-B058-4A51FF4E0402}"/>
              </a:ext>
            </a:extLst>
          </p:cNvPr>
          <p:cNvSpPr/>
          <p:nvPr/>
        </p:nvSpPr>
        <p:spPr>
          <a:xfrm rot="5400000">
            <a:off x="5672531" y="5559674"/>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49" name="Straight Connector 48">
            <a:extLst>
              <a:ext uri="{FF2B5EF4-FFF2-40B4-BE49-F238E27FC236}">
                <a16:creationId xmlns:a16="http://schemas.microsoft.com/office/drawing/2014/main" id="{6871A0D8-EC37-5355-FA76-36496BC6BB01}"/>
              </a:ext>
            </a:extLst>
          </p:cNvPr>
          <p:cNvCxnSpPr>
            <a:cxnSpLocks/>
          </p:cNvCxnSpPr>
          <p:nvPr/>
        </p:nvCxnSpPr>
        <p:spPr>
          <a:xfrm>
            <a:off x="5240195" y="5652879"/>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A04A89B-87D0-BE9B-C739-B291680B3FFF}"/>
              </a:ext>
            </a:extLst>
          </p:cNvPr>
          <p:cNvCxnSpPr>
            <a:cxnSpLocks/>
          </p:cNvCxnSpPr>
          <p:nvPr/>
        </p:nvCxnSpPr>
        <p:spPr>
          <a:xfrm>
            <a:off x="5251416" y="2687817"/>
            <a:ext cx="0" cy="3287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AC35883-D93A-0821-6A5F-12B6E63E4075}"/>
              </a:ext>
            </a:extLst>
          </p:cNvPr>
          <p:cNvSpPr txBox="1"/>
          <p:nvPr/>
        </p:nvSpPr>
        <p:spPr>
          <a:xfrm>
            <a:off x="4942733" y="5946858"/>
            <a:ext cx="567690" cy="461665"/>
          </a:xfrm>
          <a:prstGeom prst="rect">
            <a:avLst/>
          </a:prstGeom>
          <a:noFill/>
        </p:spPr>
        <p:txBody>
          <a:bodyPr wrap="square" rtlCol="0">
            <a:spAutoFit/>
          </a:bodyPr>
          <a:lstStyle/>
          <a:p>
            <a:r>
              <a:rPr lang="en-IN" sz="2400" dirty="0" err="1"/>
              <a:t>clk</a:t>
            </a:r>
            <a:endParaRPr lang="en-IN" sz="2400" dirty="0"/>
          </a:p>
        </p:txBody>
      </p:sp>
    </p:spTree>
    <p:extLst>
      <p:ext uri="{BB962C8B-B14F-4D97-AF65-F5344CB8AC3E}">
        <p14:creationId xmlns:p14="http://schemas.microsoft.com/office/powerpoint/2010/main" val="3141719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617" y="572206"/>
            <a:ext cx="11129357" cy="2031325"/>
          </a:xfrm>
          <a:prstGeom prst="rect">
            <a:avLst/>
          </a:prstGeom>
        </p:spPr>
        <p:txBody>
          <a:bodyPr wrap="square">
            <a:spAutoFit/>
          </a:bodyPr>
          <a:lstStyle/>
          <a:p>
            <a:r>
              <a:rPr lang="en-US" b="1" dirty="0"/>
              <a:t>Step 10: Intuition and Teaching Notes</a:t>
            </a:r>
          </a:p>
          <a:p>
            <a:pPr>
              <a:buFont typeface="Arial" panose="020B0604020202020204" pitchFamily="34" charset="0"/>
              <a:buChar char="•"/>
            </a:pPr>
            <a:r>
              <a:rPr lang="en-US" dirty="0"/>
              <a:t>Think of the sequence detector as a </a:t>
            </a:r>
            <a:r>
              <a:rPr lang="en-US" b="1" dirty="0"/>
              <a:t>“pattern lock”</a:t>
            </a:r>
            <a:r>
              <a:rPr lang="en-US" dirty="0"/>
              <a:t>. Each state means “how much of the password you’ve entered correctly so far.”</a:t>
            </a:r>
          </a:p>
          <a:p>
            <a:pPr>
              <a:buFont typeface="Arial" panose="020B0604020202020204" pitchFamily="34" charset="0"/>
              <a:buChar char="•"/>
            </a:pPr>
            <a:r>
              <a:rPr lang="en-US" dirty="0"/>
              <a:t>Mealy is like a </a:t>
            </a:r>
            <a:r>
              <a:rPr lang="en-US" b="1" dirty="0"/>
              <a:t>security system that checks the last key immediately</a:t>
            </a:r>
            <a:r>
              <a:rPr lang="en-US" dirty="0"/>
              <a:t> (faster response).</a:t>
            </a:r>
          </a:p>
          <a:p>
            <a:pPr>
              <a:buFont typeface="Arial" panose="020B0604020202020204" pitchFamily="34" charset="0"/>
              <a:buChar char="•"/>
            </a:pPr>
            <a:r>
              <a:rPr lang="en-US" dirty="0"/>
              <a:t>Moore is like a </a:t>
            </a:r>
            <a:r>
              <a:rPr lang="en-US" b="1" dirty="0"/>
              <a:t>system that only checks after confirming the whole password entry</a:t>
            </a:r>
            <a:r>
              <a:rPr lang="en-US" dirty="0"/>
              <a:t> (slower, but simpler to reason about).</a:t>
            </a:r>
          </a:p>
          <a:p>
            <a:pPr>
              <a:buFont typeface="Arial" panose="020B0604020202020204" pitchFamily="34" charset="0"/>
              <a:buChar char="•"/>
            </a:pPr>
            <a:r>
              <a:rPr lang="en-US" dirty="0"/>
              <a:t>“No overlapping” is like a </a:t>
            </a:r>
            <a:r>
              <a:rPr lang="en-US" b="1" dirty="0"/>
              <a:t>lock that resets completely once you’ve entered the code</a:t>
            </a:r>
            <a:r>
              <a:rPr lang="en-US" dirty="0"/>
              <a:t>, so you cannot reuse digits.</a:t>
            </a:r>
          </a:p>
        </p:txBody>
      </p:sp>
    </p:spTree>
    <p:extLst>
      <p:ext uri="{BB962C8B-B14F-4D97-AF65-F5344CB8AC3E}">
        <p14:creationId xmlns:p14="http://schemas.microsoft.com/office/powerpoint/2010/main" val="1360747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B180B-5EA0-485A-CE8B-2B5F0F7A95DF}"/>
              </a:ext>
            </a:extLst>
          </p:cNvPr>
          <p:cNvSpPr txBox="1"/>
          <p:nvPr/>
        </p:nvSpPr>
        <p:spPr>
          <a:xfrm>
            <a:off x="1472527" y="1800413"/>
            <a:ext cx="9246945" cy="3257174"/>
          </a:xfrm>
          <a:prstGeom prst="rect">
            <a:avLst/>
          </a:prstGeom>
          <a:noFill/>
        </p:spPr>
        <p:txBody>
          <a:bodyPr wrap="square" rtlCol="0">
            <a:spAutoFit/>
          </a:bodyPr>
          <a:lstStyle/>
          <a:p>
            <a:pPr algn="ctr">
              <a:lnSpc>
                <a:spcPct val="150000"/>
              </a:lnSpc>
            </a:pPr>
            <a:r>
              <a:rPr lang="en-IN" sz="2800" dirty="0">
                <a:solidFill>
                  <a:schemeClr val="accent1">
                    <a:lumMod val="75000"/>
                  </a:schemeClr>
                </a:solidFill>
              </a:rPr>
              <a:t>Ques: Design a 3-bit sequence detector using D Flip-Flop to detect a sequence ‘101’ where overlapping is allowed. Show the State Diagram for Mealy and Moore Machine based implementation. Design the Moore Machine based implementation.</a:t>
            </a:r>
          </a:p>
        </p:txBody>
      </p:sp>
    </p:spTree>
    <p:extLst>
      <p:ext uri="{BB962C8B-B14F-4D97-AF65-F5344CB8AC3E}">
        <p14:creationId xmlns:p14="http://schemas.microsoft.com/office/powerpoint/2010/main" val="3015702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32317" y="170995"/>
            <a:ext cx="1165254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Problem — detect sequence 101 (overlap allowed)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Output 1 whenever the last three bits seen are 101. Because </a:t>
            </a: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overlap is allowed</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the final bit of a detected 101 can be the beginning of the next detection.</a:t>
            </a:r>
            <a:b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Example: input 10101 → detections at the 3rd and 5th bits (two outputs 1) because the trailing 1 of the first match can start the next match.</a:t>
            </a:r>
          </a:p>
        </p:txBody>
      </p:sp>
      <p:sp>
        <p:nvSpPr>
          <p:cNvPr id="3" name="Rectangle 2"/>
          <p:cNvSpPr>
            <a:spLocks noChangeArrowheads="1"/>
          </p:cNvSpPr>
          <p:nvPr/>
        </p:nvSpPr>
        <p:spPr bwMode="auto">
          <a:xfrm>
            <a:off x="228600" y="1054130"/>
            <a:ext cx="1147656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Intuition &amp; state definitions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Think of the detector as a “memory of how much of the pattern you have matched so far”: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nothing matched (start).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S1</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last seen bit is 1 (we have matched prefix 1).</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S2</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last two bits are 10 (we have matched prefix 10).</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whole sequence 101 matched (for Moore machine this is the state with output = 1).</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Because overlap is allowed,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after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seeing 101 the machine should move to the state that reflects the suffix of the matched sequence that can serve as a prefix for a new match. For 101, the suffix 1 is a valid prefix, so after S3 the next state depends on the next input but should allow continuation (e.g., on next input 1 we go to S1, on 0 to S2).</a:t>
            </a:r>
          </a:p>
        </p:txBody>
      </p:sp>
      <p:sp>
        <p:nvSpPr>
          <p:cNvPr id="4" name="Rectangle 3"/>
          <p:cNvSpPr>
            <a:spLocks noChangeArrowheads="1"/>
          </p:cNvSpPr>
          <p:nvPr/>
        </p:nvSpPr>
        <p:spPr bwMode="auto">
          <a:xfrm>
            <a:off x="226131" y="3464574"/>
            <a:ext cx="502567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 State transition rules (word description)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From each state, on input x:</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S0</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(no match yet)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x=0 → stay S0</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x=1 → go S1</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S1</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(we have a 1)</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x=0 → go S2 (we have 10)</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x=1 → stay S1 (still just a trailing 1)</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S2</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(we have 10)</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x=0 → go S0 (sequence 100 is not prefix of 101)</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x=1 → go S3 (we just saw 101)</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S3</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(we are in the matched state) — </a:t>
            </a: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Moore</a:t>
            </a: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output = 1 in this state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x=0 → go S2 (because the last two bits become 10)</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x=1 → go S1 (because the last bit is 1)</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181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59267" y="-18484"/>
            <a:ext cx="1224835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State diagrams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(You can draw these easily from the text above; here’s how to label transitions.)</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Mealy machine (brief)</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Outputs on transitions. The output 1 occurs on the transition that consumes the 1 that completes 101. (I’ll focus on Moore implementation below, as you requested.)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Moore machine (outputs on states)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Four states S0, S1, S2, S3.</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S3 is the only state with output 1.</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Transitions are exactly as described in section (2)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190423428"/>
              </p:ext>
            </p:extLst>
          </p:nvPr>
        </p:nvGraphicFramePr>
        <p:xfrm>
          <a:off x="389467" y="3330734"/>
          <a:ext cx="10515600" cy="2103120"/>
        </p:xfrm>
        <a:graphic>
          <a:graphicData uri="http://schemas.openxmlformats.org/drawingml/2006/table">
            <a:tbl>
              <a:tblPr/>
              <a:tblGrid>
                <a:gridCol w="2103120">
                  <a:extLst>
                    <a:ext uri="{9D8B030D-6E8A-4147-A177-3AD203B41FA5}">
                      <a16:colId xmlns:a16="http://schemas.microsoft.com/office/drawing/2014/main" val="277572102"/>
                    </a:ext>
                  </a:extLst>
                </a:gridCol>
                <a:gridCol w="2103120">
                  <a:extLst>
                    <a:ext uri="{9D8B030D-6E8A-4147-A177-3AD203B41FA5}">
                      <a16:colId xmlns:a16="http://schemas.microsoft.com/office/drawing/2014/main" val="851625060"/>
                    </a:ext>
                  </a:extLst>
                </a:gridCol>
                <a:gridCol w="2103120">
                  <a:extLst>
                    <a:ext uri="{9D8B030D-6E8A-4147-A177-3AD203B41FA5}">
                      <a16:colId xmlns:a16="http://schemas.microsoft.com/office/drawing/2014/main" val="2438872822"/>
                    </a:ext>
                  </a:extLst>
                </a:gridCol>
                <a:gridCol w="2103120">
                  <a:extLst>
                    <a:ext uri="{9D8B030D-6E8A-4147-A177-3AD203B41FA5}">
                      <a16:colId xmlns:a16="http://schemas.microsoft.com/office/drawing/2014/main" val="3057700784"/>
                    </a:ext>
                  </a:extLst>
                </a:gridCol>
                <a:gridCol w="2103120">
                  <a:extLst>
                    <a:ext uri="{9D8B030D-6E8A-4147-A177-3AD203B41FA5}">
                      <a16:colId xmlns:a16="http://schemas.microsoft.com/office/drawing/2014/main" val="3546219566"/>
                    </a:ext>
                  </a:extLst>
                </a:gridCol>
              </a:tblGrid>
              <a:tr h="0">
                <a:tc>
                  <a:txBody>
                    <a:bodyPr/>
                    <a:lstStyle/>
                    <a:p>
                      <a:r>
                        <a:rPr lang="en-US"/>
                        <a:t>Present State</a:t>
                      </a:r>
                    </a:p>
                  </a:txBody>
                  <a:tcPr anchor="ctr">
                    <a:lnL>
                      <a:noFill/>
                    </a:lnL>
                    <a:lnR>
                      <a:noFill/>
                    </a:lnR>
                    <a:lnT>
                      <a:noFill/>
                    </a:lnT>
                    <a:lnB>
                      <a:noFill/>
                    </a:lnB>
                  </a:tcPr>
                </a:tc>
                <a:tc>
                  <a:txBody>
                    <a:bodyPr/>
                    <a:lstStyle/>
                    <a:p>
                      <a:r>
                        <a:rPr lang="en-US" dirty="0"/>
                        <a:t>(Q1 Q0)</a:t>
                      </a:r>
                    </a:p>
                  </a:txBody>
                  <a:tcPr anchor="ctr">
                    <a:lnL>
                      <a:noFill/>
                    </a:lnL>
                    <a:lnR>
                      <a:noFill/>
                    </a:lnR>
                    <a:lnT>
                      <a:noFill/>
                    </a:lnT>
                    <a:lnB>
                      <a:noFill/>
                    </a:lnB>
                  </a:tcPr>
                </a:tc>
                <a:tc>
                  <a:txBody>
                    <a:bodyPr/>
                    <a:lstStyle/>
                    <a:p>
                      <a:r>
                        <a:rPr lang="en-US"/>
                        <a:t>Output Z</a:t>
                      </a:r>
                    </a:p>
                  </a:txBody>
                  <a:tcPr anchor="ctr">
                    <a:lnL>
                      <a:noFill/>
                    </a:lnL>
                    <a:lnR>
                      <a:noFill/>
                    </a:lnR>
                    <a:lnT>
                      <a:noFill/>
                    </a:lnT>
                    <a:lnB>
                      <a:noFill/>
                    </a:lnB>
                  </a:tcPr>
                </a:tc>
                <a:tc>
                  <a:txBody>
                    <a:bodyPr/>
                    <a:lstStyle/>
                    <a:p>
                      <a:r>
                        <a:rPr lang="en-US"/>
                        <a:t>x=0 → Next State (Q1' Q0')</a:t>
                      </a:r>
                    </a:p>
                  </a:txBody>
                  <a:tcPr anchor="ctr">
                    <a:lnL>
                      <a:noFill/>
                    </a:lnL>
                    <a:lnR>
                      <a:noFill/>
                    </a:lnR>
                    <a:lnT>
                      <a:noFill/>
                    </a:lnT>
                    <a:lnB>
                      <a:noFill/>
                    </a:lnB>
                  </a:tcPr>
                </a:tc>
                <a:tc>
                  <a:txBody>
                    <a:bodyPr/>
                    <a:lstStyle/>
                    <a:p>
                      <a:r>
                        <a:rPr lang="en-US"/>
                        <a:t>x=1 → Next State (Q1' Q0')</a:t>
                      </a:r>
                    </a:p>
                  </a:txBody>
                  <a:tcPr anchor="ctr">
                    <a:lnL>
                      <a:noFill/>
                    </a:lnL>
                    <a:lnR>
                      <a:noFill/>
                    </a:lnR>
                    <a:lnT>
                      <a:noFill/>
                    </a:lnT>
                    <a:lnB>
                      <a:noFill/>
                    </a:lnB>
                  </a:tcPr>
                </a:tc>
                <a:extLst>
                  <a:ext uri="{0D108BD9-81ED-4DB2-BD59-A6C34878D82A}">
                    <a16:rowId xmlns:a16="http://schemas.microsoft.com/office/drawing/2014/main" val="3507960330"/>
                  </a:ext>
                </a:extLst>
              </a:tr>
              <a:tr h="0">
                <a:tc>
                  <a:txBody>
                    <a:bodyPr/>
                    <a:lstStyle/>
                    <a:p>
                      <a:r>
                        <a:rPr lang="en-US"/>
                        <a:t>S0</a:t>
                      </a:r>
                    </a:p>
                  </a:txBody>
                  <a:tcPr anchor="ctr">
                    <a:lnL>
                      <a:noFill/>
                    </a:lnL>
                    <a:lnR>
                      <a:noFill/>
                    </a:lnR>
                    <a:lnT>
                      <a:noFill/>
                    </a:lnT>
                    <a:lnB>
                      <a:noFill/>
                    </a:lnB>
                  </a:tcPr>
                </a:tc>
                <a:tc>
                  <a:txBody>
                    <a:bodyPr/>
                    <a:lstStyle/>
                    <a:p>
                      <a:r>
                        <a:rPr lang="en-US"/>
                        <a:t>00</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S0 → 00</a:t>
                      </a:r>
                    </a:p>
                  </a:txBody>
                  <a:tcPr anchor="ctr">
                    <a:lnL>
                      <a:noFill/>
                    </a:lnL>
                    <a:lnR>
                      <a:noFill/>
                    </a:lnR>
                    <a:lnT>
                      <a:noFill/>
                    </a:lnT>
                    <a:lnB>
                      <a:noFill/>
                    </a:lnB>
                  </a:tcPr>
                </a:tc>
                <a:tc>
                  <a:txBody>
                    <a:bodyPr/>
                    <a:lstStyle/>
                    <a:p>
                      <a:r>
                        <a:rPr lang="en-US"/>
                        <a:t>S1 → 01</a:t>
                      </a:r>
                    </a:p>
                  </a:txBody>
                  <a:tcPr anchor="ctr">
                    <a:lnL>
                      <a:noFill/>
                    </a:lnL>
                    <a:lnR>
                      <a:noFill/>
                    </a:lnR>
                    <a:lnT>
                      <a:noFill/>
                    </a:lnT>
                    <a:lnB>
                      <a:noFill/>
                    </a:lnB>
                  </a:tcPr>
                </a:tc>
                <a:extLst>
                  <a:ext uri="{0D108BD9-81ED-4DB2-BD59-A6C34878D82A}">
                    <a16:rowId xmlns:a16="http://schemas.microsoft.com/office/drawing/2014/main" val="4006547504"/>
                  </a:ext>
                </a:extLst>
              </a:tr>
              <a:tr h="0">
                <a:tc>
                  <a:txBody>
                    <a:bodyPr/>
                    <a:lstStyle/>
                    <a:p>
                      <a:r>
                        <a:rPr lang="en-US"/>
                        <a:t>S1</a:t>
                      </a:r>
                    </a:p>
                  </a:txBody>
                  <a:tcPr anchor="ctr">
                    <a:lnL>
                      <a:noFill/>
                    </a:lnL>
                    <a:lnR>
                      <a:noFill/>
                    </a:lnR>
                    <a:lnT>
                      <a:noFill/>
                    </a:lnT>
                    <a:lnB>
                      <a:noFill/>
                    </a:lnB>
                  </a:tcPr>
                </a:tc>
                <a:tc>
                  <a:txBody>
                    <a:bodyPr/>
                    <a:lstStyle/>
                    <a:p>
                      <a:r>
                        <a:rPr lang="en-US"/>
                        <a:t>01</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S2 → 10</a:t>
                      </a:r>
                    </a:p>
                  </a:txBody>
                  <a:tcPr anchor="ctr">
                    <a:lnL>
                      <a:noFill/>
                    </a:lnL>
                    <a:lnR>
                      <a:noFill/>
                    </a:lnR>
                    <a:lnT>
                      <a:noFill/>
                    </a:lnT>
                    <a:lnB>
                      <a:noFill/>
                    </a:lnB>
                  </a:tcPr>
                </a:tc>
                <a:tc>
                  <a:txBody>
                    <a:bodyPr/>
                    <a:lstStyle/>
                    <a:p>
                      <a:r>
                        <a:rPr lang="en-US"/>
                        <a:t>S1 → 01</a:t>
                      </a:r>
                    </a:p>
                  </a:txBody>
                  <a:tcPr anchor="ctr">
                    <a:lnL>
                      <a:noFill/>
                    </a:lnL>
                    <a:lnR>
                      <a:noFill/>
                    </a:lnR>
                    <a:lnT>
                      <a:noFill/>
                    </a:lnT>
                    <a:lnB>
                      <a:noFill/>
                    </a:lnB>
                  </a:tcPr>
                </a:tc>
                <a:extLst>
                  <a:ext uri="{0D108BD9-81ED-4DB2-BD59-A6C34878D82A}">
                    <a16:rowId xmlns:a16="http://schemas.microsoft.com/office/drawing/2014/main" val="1137527822"/>
                  </a:ext>
                </a:extLst>
              </a:tr>
              <a:tr h="0">
                <a:tc>
                  <a:txBody>
                    <a:bodyPr/>
                    <a:lstStyle/>
                    <a:p>
                      <a:r>
                        <a:rPr lang="en-US"/>
                        <a:t>S2</a:t>
                      </a:r>
                    </a:p>
                  </a:txBody>
                  <a:tcPr anchor="ctr">
                    <a:lnL>
                      <a:noFill/>
                    </a:lnL>
                    <a:lnR>
                      <a:noFill/>
                    </a:lnR>
                    <a:lnT>
                      <a:noFill/>
                    </a:lnT>
                    <a:lnB>
                      <a:noFill/>
                    </a:lnB>
                  </a:tcPr>
                </a:tc>
                <a:tc>
                  <a:txBody>
                    <a:bodyPr/>
                    <a:lstStyle/>
                    <a:p>
                      <a:r>
                        <a:rPr lang="en-US"/>
                        <a:t>10</a:t>
                      </a:r>
                    </a:p>
                  </a:txBody>
                  <a:tcPr anchor="ctr">
                    <a:lnL>
                      <a:noFill/>
                    </a:lnL>
                    <a:lnR>
                      <a:noFill/>
                    </a:lnR>
                    <a:lnT>
                      <a:noFill/>
                    </a:lnT>
                    <a:lnB>
                      <a:noFill/>
                    </a:lnB>
                  </a:tcPr>
                </a:tc>
                <a:tc>
                  <a:txBody>
                    <a:bodyPr/>
                    <a:lstStyle/>
                    <a:p>
                      <a:r>
                        <a:rPr lang="en-US" dirty="0"/>
                        <a:t>0</a:t>
                      </a:r>
                    </a:p>
                  </a:txBody>
                  <a:tcPr anchor="ctr">
                    <a:lnL>
                      <a:noFill/>
                    </a:lnL>
                    <a:lnR>
                      <a:noFill/>
                    </a:lnR>
                    <a:lnT>
                      <a:noFill/>
                    </a:lnT>
                    <a:lnB>
                      <a:noFill/>
                    </a:lnB>
                  </a:tcPr>
                </a:tc>
                <a:tc>
                  <a:txBody>
                    <a:bodyPr/>
                    <a:lstStyle/>
                    <a:p>
                      <a:r>
                        <a:rPr lang="en-US"/>
                        <a:t>S0 → 00</a:t>
                      </a:r>
                    </a:p>
                  </a:txBody>
                  <a:tcPr anchor="ctr">
                    <a:lnL>
                      <a:noFill/>
                    </a:lnL>
                    <a:lnR>
                      <a:noFill/>
                    </a:lnR>
                    <a:lnT>
                      <a:noFill/>
                    </a:lnT>
                    <a:lnB>
                      <a:noFill/>
                    </a:lnB>
                  </a:tcPr>
                </a:tc>
                <a:tc>
                  <a:txBody>
                    <a:bodyPr/>
                    <a:lstStyle/>
                    <a:p>
                      <a:r>
                        <a:rPr lang="en-US"/>
                        <a:t>S3 → 11</a:t>
                      </a:r>
                    </a:p>
                  </a:txBody>
                  <a:tcPr anchor="ctr">
                    <a:lnL>
                      <a:noFill/>
                    </a:lnL>
                    <a:lnR>
                      <a:noFill/>
                    </a:lnR>
                    <a:lnT>
                      <a:noFill/>
                    </a:lnT>
                    <a:lnB>
                      <a:noFill/>
                    </a:lnB>
                  </a:tcPr>
                </a:tc>
                <a:extLst>
                  <a:ext uri="{0D108BD9-81ED-4DB2-BD59-A6C34878D82A}">
                    <a16:rowId xmlns:a16="http://schemas.microsoft.com/office/drawing/2014/main" val="3156918135"/>
                  </a:ext>
                </a:extLst>
              </a:tr>
              <a:tr h="0">
                <a:tc>
                  <a:txBody>
                    <a:bodyPr/>
                    <a:lstStyle/>
                    <a:p>
                      <a:r>
                        <a:rPr lang="en-US"/>
                        <a:t>S3</a:t>
                      </a:r>
                    </a:p>
                  </a:txBody>
                  <a:tcPr anchor="ctr">
                    <a:lnL>
                      <a:noFill/>
                    </a:lnL>
                    <a:lnR>
                      <a:noFill/>
                    </a:lnR>
                    <a:lnT>
                      <a:noFill/>
                    </a:lnT>
                    <a:lnB>
                      <a:noFill/>
                    </a:lnB>
                  </a:tcPr>
                </a:tc>
                <a:tc>
                  <a:txBody>
                    <a:bodyPr/>
                    <a:lstStyle/>
                    <a:p>
                      <a:r>
                        <a:rPr lang="en-US"/>
                        <a:t>11</a:t>
                      </a:r>
                    </a:p>
                  </a:txBody>
                  <a:tcPr anchor="ctr">
                    <a:lnL>
                      <a:noFill/>
                    </a:lnL>
                    <a:lnR>
                      <a:noFill/>
                    </a:lnR>
                    <a:lnT>
                      <a:noFill/>
                    </a:lnT>
                    <a:lnB>
                      <a:noFill/>
                    </a:lnB>
                  </a:tcPr>
                </a:tc>
                <a:tc>
                  <a:txBody>
                    <a:bodyPr/>
                    <a:lstStyle/>
                    <a:p>
                      <a:r>
                        <a:rPr lang="en-US"/>
                        <a:t>1</a:t>
                      </a:r>
                    </a:p>
                  </a:txBody>
                  <a:tcPr anchor="ctr">
                    <a:lnL>
                      <a:noFill/>
                    </a:lnL>
                    <a:lnR>
                      <a:noFill/>
                    </a:lnR>
                    <a:lnT>
                      <a:noFill/>
                    </a:lnT>
                    <a:lnB>
                      <a:noFill/>
                    </a:lnB>
                  </a:tcPr>
                </a:tc>
                <a:tc>
                  <a:txBody>
                    <a:bodyPr/>
                    <a:lstStyle/>
                    <a:p>
                      <a:r>
                        <a:rPr lang="en-US"/>
                        <a:t>S2 → 10</a:t>
                      </a:r>
                    </a:p>
                  </a:txBody>
                  <a:tcPr anchor="ctr">
                    <a:lnL>
                      <a:noFill/>
                    </a:lnL>
                    <a:lnR>
                      <a:noFill/>
                    </a:lnR>
                    <a:lnT>
                      <a:noFill/>
                    </a:lnT>
                    <a:lnB>
                      <a:noFill/>
                    </a:lnB>
                  </a:tcPr>
                </a:tc>
                <a:tc>
                  <a:txBody>
                    <a:bodyPr/>
                    <a:lstStyle/>
                    <a:p>
                      <a:r>
                        <a:rPr lang="en-US" dirty="0"/>
                        <a:t>S1 → 01</a:t>
                      </a:r>
                    </a:p>
                  </a:txBody>
                  <a:tcPr anchor="ctr">
                    <a:lnL>
                      <a:noFill/>
                    </a:lnL>
                    <a:lnR>
                      <a:noFill/>
                    </a:lnR>
                    <a:lnT>
                      <a:noFill/>
                    </a:lnT>
                    <a:lnB>
                      <a:noFill/>
                    </a:lnB>
                  </a:tcPr>
                </a:tc>
                <a:extLst>
                  <a:ext uri="{0D108BD9-81ED-4DB2-BD59-A6C34878D82A}">
                    <a16:rowId xmlns:a16="http://schemas.microsoft.com/office/drawing/2014/main" val="3305036754"/>
                  </a:ext>
                </a:extLst>
              </a:tr>
            </a:tbl>
          </a:graphicData>
        </a:graphic>
      </p:graphicFrame>
      <p:sp>
        <p:nvSpPr>
          <p:cNvPr id="4" name="Rectangle 2"/>
          <p:cNvSpPr>
            <a:spLocks noChangeArrowheads="1"/>
          </p:cNvSpPr>
          <p:nvPr/>
        </p:nvSpPr>
        <p:spPr bwMode="auto">
          <a:xfrm>
            <a:off x="220134" y="2228876"/>
            <a:ext cx="589937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 Moore state table (present state → next state &amp;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x as the serial input. Output Z depends only on the present state for Moore.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(We assigned binary encodings: S0 = 00, S1 = 01, S2 = 10, S3 = 11.)</a:t>
            </a:r>
          </a:p>
        </p:txBody>
      </p:sp>
    </p:spTree>
    <p:extLst>
      <p:ext uri="{BB962C8B-B14F-4D97-AF65-F5344CB8AC3E}">
        <p14:creationId xmlns:p14="http://schemas.microsoft.com/office/powerpoint/2010/main" val="233589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9212-8E17-EAB1-F820-C14E0312B225}"/>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69B47CB-96EE-4DB8-8381-20851BD77270}"/>
              </a:ext>
            </a:extLst>
          </p:cNvPr>
          <p:cNvSpPr/>
          <p:nvPr/>
        </p:nvSpPr>
        <p:spPr>
          <a:xfrm>
            <a:off x="2103302" y="131065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 name="Oval 2">
            <a:extLst>
              <a:ext uri="{FF2B5EF4-FFF2-40B4-BE49-F238E27FC236}">
                <a16:creationId xmlns:a16="http://schemas.microsoft.com/office/drawing/2014/main" id="{981FC678-B053-3AAE-32E5-93061F4530DC}"/>
              </a:ext>
            </a:extLst>
          </p:cNvPr>
          <p:cNvSpPr/>
          <p:nvPr/>
        </p:nvSpPr>
        <p:spPr>
          <a:xfrm>
            <a:off x="2103301" y="277357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 name="Oval 3">
            <a:extLst>
              <a:ext uri="{FF2B5EF4-FFF2-40B4-BE49-F238E27FC236}">
                <a16:creationId xmlns:a16="http://schemas.microsoft.com/office/drawing/2014/main" id="{5BFE7BDF-470B-07AE-4484-8A754D3A6AA8}"/>
              </a:ext>
            </a:extLst>
          </p:cNvPr>
          <p:cNvSpPr/>
          <p:nvPr/>
        </p:nvSpPr>
        <p:spPr>
          <a:xfrm>
            <a:off x="2103300" y="4260967"/>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CE7FAAEC-F9F7-38D4-9DB0-A5FA9CF1DEC2}"/>
              </a:ext>
            </a:extLst>
          </p:cNvPr>
          <p:cNvSpPr txBox="1"/>
          <p:nvPr/>
        </p:nvSpPr>
        <p:spPr>
          <a:xfrm>
            <a:off x="2351579" y="1570772"/>
            <a:ext cx="490506" cy="461665"/>
          </a:xfrm>
          <a:prstGeom prst="rect">
            <a:avLst/>
          </a:prstGeom>
          <a:noFill/>
        </p:spPr>
        <p:txBody>
          <a:bodyPr wrap="square" rtlCol="0">
            <a:spAutoFit/>
          </a:bodyPr>
          <a:lstStyle/>
          <a:p>
            <a:r>
              <a:rPr lang="en-IN" sz="2400" dirty="0"/>
              <a:t>S0</a:t>
            </a:r>
          </a:p>
        </p:txBody>
      </p:sp>
      <p:sp>
        <p:nvSpPr>
          <p:cNvPr id="7" name="TextBox 6">
            <a:extLst>
              <a:ext uri="{FF2B5EF4-FFF2-40B4-BE49-F238E27FC236}">
                <a16:creationId xmlns:a16="http://schemas.microsoft.com/office/drawing/2014/main" id="{E7740D43-C2BA-C7D8-CA2A-C4BC6E175422}"/>
              </a:ext>
            </a:extLst>
          </p:cNvPr>
          <p:cNvSpPr txBox="1"/>
          <p:nvPr/>
        </p:nvSpPr>
        <p:spPr>
          <a:xfrm>
            <a:off x="2351579" y="3009877"/>
            <a:ext cx="490506" cy="461665"/>
          </a:xfrm>
          <a:prstGeom prst="rect">
            <a:avLst/>
          </a:prstGeom>
          <a:noFill/>
        </p:spPr>
        <p:txBody>
          <a:bodyPr wrap="square" rtlCol="0">
            <a:spAutoFit/>
          </a:bodyPr>
          <a:lstStyle/>
          <a:p>
            <a:r>
              <a:rPr lang="en-IN" sz="2400" dirty="0"/>
              <a:t>S1</a:t>
            </a:r>
          </a:p>
        </p:txBody>
      </p:sp>
      <p:sp>
        <p:nvSpPr>
          <p:cNvPr id="8" name="TextBox 7">
            <a:extLst>
              <a:ext uri="{FF2B5EF4-FFF2-40B4-BE49-F238E27FC236}">
                <a16:creationId xmlns:a16="http://schemas.microsoft.com/office/drawing/2014/main" id="{08872843-F70E-07DF-C661-EB63B2557A09}"/>
              </a:ext>
            </a:extLst>
          </p:cNvPr>
          <p:cNvSpPr txBox="1"/>
          <p:nvPr/>
        </p:nvSpPr>
        <p:spPr>
          <a:xfrm>
            <a:off x="2351579" y="4547841"/>
            <a:ext cx="490506" cy="461665"/>
          </a:xfrm>
          <a:prstGeom prst="rect">
            <a:avLst/>
          </a:prstGeom>
          <a:noFill/>
        </p:spPr>
        <p:txBody>
          <a:bodyPr wrap="square" rtlCol="0">
            <a:spAutoFit/>
          </a:bodyPr>
          <a:lstStyle/>
          <a:p>
            <a:r>
              <a:rPr lang="en-IN" sz="2400" dirty="0"/>
              <a:t>S2</a:t>
            </a:r>
          </a:p>
        </p:txBody>
      </p:sp>
      <p:cxnSp>
        <p:nvCxnSpPr>
          <p:cNvPr id="11" name="Straight Arrow Connector 10">
            <a:extLst>
              <a:ext uri="{FF2B5EF4-FFF2-40B4-BE49-F238E27FC236}">
                <a16:creationId xmlns:a16="http://schemas.microsoft.com/office/drawing/2014/main" id="{6227DECB-D41D-0FD4-D6D1-3BDC3B5B9142}"/>
              </a:ext>
            </a:extLst>
          </p:cNvPr>
          <p:cNvCxnSpPr>
            <a:cxnSpLocks/>
            <a:endCxn id="3" idx="0"/>
          </p:cNvCxnSpPr>
          <p:nvPr/>
        </p:nvCxnSpPr>
        <p:spPr>
          <a:xfrm>
            <a:off x="2596830" y="2258126"/>
            <a:ext cx="5" cy="515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A1D3539E-82BF-EA5F-43CB-B1A9A2E20DB6}"/>
              </a:ext>
            </a:extLst>
          </p:cNvPr>
          <p:cNvCxnSpPr>
            <a:cxnSpLocks/>
            <a:endCxn id="4" idx="0"/>
          </p:cNvCxnSpPr>
          <p:nvPr/>
        </p:nvCxnSpPr>
        <p:spPr>
          <a:xfrm>
            <a:off x="2596830" y="3742939"/>
            <a:ext cx="4" cy="5180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Arc 14">
            <a:extLst>
              <a:ext uri="{FF2B5EF4-FFF2-40B4-BE49-F238E27FC236}">
                <a16:creationId xmlns:a16="http://schemas.microsoft.com/office/drawing/2014/main" id="{A2F9FCF8-F5DC-5E99-6439-7A56103A7D6F}"/>
              </a:ext>
            </a:extLst>
          </p:cNvPr>
          <p:cNvSpPr/>
          <p:nvPr/>
        </p:nvSpPr>
        <p:spPr>
          <a:xfrm rot="14916952">
            <a:off x="3030000" y="2726956"/>
            <a:ext cx="267943" cy="978566"/>
          </a:xfrm>
          <a:prstGeom prst="arc">
            <a:avLst>
              <a:gd name="adj1" fmla="val 2739880"/>
              <a:gd name="adj2" fmla="val 1377828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355008CA-A812-E66D-0853-B2BD99D96E62}"/>
              </a:ext>
            </a:extLst>
          </p:cNvPr>
          <p:cNvCxnSpPr>
            <a:cxnSpLocks/>
            <a:endCxn id="2" idx="2"/>
          </p:cNvCxnSpPr>
          <p:nvPr/>
        </p:nvCxnSpPr>
        <p:spPr>
          <a:xfrm flipV="1">
            <a:off x="2036087" y="1792080"/>
            <a:ext cx="67215" cy="308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Arc 23">
            <a:extLst>
              <a:ext uri="{FF2B5EF4-FFF2-40B4-BE49-F238E27FC236}">
                <a16:creationId xmlns:a16="http://schemas.microsoft.com/office/drawing/2014/main" id="{A322A37D-DB8D-8516-7EF3-B4E93B6320F6}"/>
              </a:ext>
            </a:extLst>
          </p:cNvPr>
          <p:cNvSpPr/>
          <p:nvPr/>
        </p:nvSpPr>
        <p:spPr>
          <a:xfrm>
            <a:off x="2057983" y="1792076"/>
            <a:ext cx="2207946" cy="3036540"/>
          </a:xfrm>
          <a:prstGeom prst="arc">
            <a:avLst>
              <a:gd name="adj1" fmla="val 16200000"/>
              <a:gd name="adj2" fmla="val 5597586"/>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2A1BBEF0-9569-9B44-385A-C542A309117A}"/>
              </a:ext>
            </a:extLst>
          </p:cNvPr>
          <p:cNvCxnSpPr>
            <a:cxnSpLocks/>
            <a:endCxn id="2" idx="6"/>
          </p:cNvCxnSpPr>
          <p:nvPr/>
        </p:nvCxnSpPr>
        <p:spPr>
          <a:xfrm flipH="1">
            <a:off x="3090369" y="1792078"/>
            <a:ext cx="82201"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C2213A75-7A37-0FAC-15B9-77954FBD2E8C}"/>
              </a:ext>
            </a:extLst>
          </p:cNvPr>
          <p:cNvSpPr txBox="1"/>
          <p:nvPr/>
        </p:nvSpPr>
        <p:spPr>
          <a:xfrm>
            <a:off x="736831" y="1258083"/>
            <a:ext cx="659044" cy="461665"/>
          </a:xfrm>
          <a:prstGeom prst="rect">
            <a:avLst/>
          </a:prstGeom>
          <a:noFill/>
        </p:spPr>
        <p:txBody>
          <a:bodyPr wrap="square" rtlCol="0">
            <a:spAutoFit/>
          </a:bodyPr>
          <a:lstStyle/>
          <a:p>
            <a:r>
              <a:rPr lang="en-IN" sz="2400" dirty="0"/>
              <a:t>0/0</a:t>
            </a:r>
          </a:p>
        </p:txBody>
      </p:sp>
      <p:sp>
        <p:nvSpPr>
          <p:cNvPr id="41" name="TextBox 40">
            <a:extLst>
              <a:ext uri="{FF2B5EF4-FFF2-40B4-BE49-F238E27FC236}">
                <a16:creationId xmlns:a16="http://schemas.microsoft.com/office/drawing/2014/main" id="{ACD567EE-B321-1200-4730-8D24C310EBB5}"/>
              </a:ext>
            </a:extLst>
          </p:cNvPr>
          <p:cNvSpPr txBox="1"/>
          <p:nvPr/>
        </p:nvSpPr>
        <p:spPr>
          <a:xfrm>
            <a:off x="2608792" y="3731811"/>
            <a:ext cx="696332" cy="461665"/>
          </a:xfrm>
          <a:prstGeom prst="rect">
            <a:avLst/>
          </a:prstGeom>
          <a:noFill/>
        </p:spPr>
        <p:txBody>
          <a:bodyPr wrap="square" rtlCol="0">
            <a:spAutoFit/>
          </a:bodyPr>
          <a:lstStyle/>
          <a:p>
            <a:r>
              <a:rPr lang="en-IN" sz="2400" dirty="0"/>
              <a:t>0/0</a:t>
            </a:r>
          </a:p>
        </p:txBody>
      </p:sp>
      <p:sp>
        <p:nvSpPr>
          <p:cNvPr id="43" name="TextBox 42">
            <a:extLst>
              <a:ext uri="{FF2B5EF4-FFF2-40B4-BE49-F238E27FC236}">
                <a16:creationId xmlns:a16="http://schemas.microsoft.com/office/drawing/2014/main" id="{BBAFB223-B234-B6C2-4D50-AF46D91F54CC}"/>
              </a:ext>
            </a:extLst>
          </p:cNvPr>
          <p:cNvSpPr txBox="1"/>
          <p:nvPr/>
        </p:nvSpPr>
        <p:spPr>
          <a:xfrm>
            <a:off x="2569730" y="2264643"/>
            <a:ext cx="696332" cy="461665"/>
          </a:xfrm>
          <a:prstGeom prst="rect">
            <a:avLst/>
          </a:prstGeom>
          <a:noFill/>
        </p:spPr>
        <p:txBody>
          <a:bodyPr wrap="square" rtlCol="0">
            <a:spAutoFit/>
          </a:bodyPr>
          <a:lstStyle/>
          <a:p>
            <a:r>
              <a:rPr lang="en-IN" sz="2400" dirty="0"/>
              <a:t>1/0</a:t>
            </a:r>
          </a:p>
        </p:txBody>
      </p:sp>
      <p:sp>
        <p:nvSpPr>
          <p:cNvPr id="44" name="TextBox 43">
            <a:extLst>
              <a:ext uri="{FF2B5EF4-FFF2-40B4-BE49-F238E27FC236}">
                <a16:creationId xmlns:a16="http://schemas.microsoft.com/office/drawing/2014/main" id="{1602E574-350A-45F0-BDBE-EF01A0351D76}"/>
              </a:ext>
            </a:extLst>
          </p:cNvPr>
          <p:cNvSpPr txBox="1"/>
          <p:nvPr/>
        </p:nvSpPr>
        <p:spPr>
          <a:xfrm>
            <a:off x="4065355" y="2311912"/>
            <a:ext cx="659044" cy="461665"/>
          </a:xfrm>
          <a:prstGeom prst="rect">
            <a:avLst/>
          </a:prstGeom>
          <a:noFill/>
        </p:spPr>
        <p:txBody>
          <a:bodyPr wrap="square" rtlCol="0">
            <a:spAutoFit/>
          </a:bodyPr>
          <a:lstStyle/>
          <a:p>
            <a:r>
              <a:rPr lang="en-IN" sz="2400" dirty="0"/>
              <a:t>0/0</a:t>
            </a:r>
          </a:p>
        </p:txBody>
      </p:sp>
      <p:sp>
        <p:nvSpPr>
          <p:cNvPr id="50" name="TextBox 49">
            <a:extLst>
              <a:ext uri="{FF2B5EF4-FFF2-40B4-BE49-F238E27FC236}">
                <a16:creationId xmlns:a16="http://schemas.microsoft.com/office/drawing/2014/main" id="{033D5111-82D7-81C7-52EE-D89283DAAFAD}"/>
              </a:ext>
            </a:extLst>
          </p:cNvPr>
          <p:cNvSpPr txBox="1"/>
          <p:nvPr/>
        </p:nvSpPr>
        <p:spPr>
          <a:xfrm>
            <a:off x="4272937" y="208941"/>
            <a:ext cx="3646125" cy="461665"/>
          </a:xfrm>
          <a:prstGeom prst="rect">
            <a:avLst/>
          </a:prstGeom>
          <a:noFill/>
        </p:spPr>
        <p:txBody>
          <a:bodyPr wrap="square" rtlCol="0">
            <a:spAutoFit/>
          </a:bodyPr>
          <a:lstStyle/>
          <a:p>
            <a:r>
              <a:rPr lang="en-IN" sz="2400" b="1" dirty="0"/>
              <a:t>State Transition Diagram</a:t>
            </a:r>
          </a:p>
        </p:txBody>
      </p:sp>
      <p:sp>
        <p:nvSpPr>
          <p:cNvPr id="10" name="Arc 9">
            <a:extLst>
              <a:ext uri="{FF2B5EF4-FFF2-40B4-BE49-F238E27FC236}">
                <a16:creationId xmlns:a16="http://schemas.microsoft.com/office/drawing/2014/main" id="{7376BE26-A1C2-2FA3-1C39-86E0E42DF7C5}"/>
              </a:ext>
            </a:extLst>
          </p:cNvPr>
          <p:cNvSpPr/>
          <p:nvPr/>
        </p:nvSpPr>
        <p:spPr>
          <a:xfrm rot="7224164">
            <a:off x="1482602" y="999633"/>
            <a:ext cx="530382" cy="978566"/>
          </a:xfrm>
          <a:prstGeom prst="arc">
            <a:avLst>
              <a:gd name="adj1" fmla="val 17190316"/>
              <a:gd name="adj2" fmla="val 1479445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5CA0917B-A771-E871-FD49-E4F71F250B0C}"/>
              </a:ext>
            </a:extLst>
          </p:cNvPr>
          <p:cNvCxnSpPr>
            <a:cxnSpLocks/>
            <a:stCxn id="15" idx="0"/>
          </p:cNvCxnSpPr>
          <p:nvPr/>
        </p:nvCxnSpPr>
        <p:spPr>
          <a:xfrm flipH="1">
            <a:off x="3064331" y="3047978"/>
            <a:ext cx="175545" cy="549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0F8AC505-592A-6FAF-C705-45E4B1A12DC5}"/>
              </a:ext>
            </a:extLst>
          </p:cNvPr>
          <p:cNvSpPr txBox="1"/>
          <p:nvPr/>
        </p:nvSpPr>
        <p:spPr>
          <a:xfrm>
            <a:off x="3320254" y="3119888"/>
            <a:ext cx="696332" cy="461665"/>
          </a:xfrm>
          <a:prstGeom prst="rect">
            <a:avLst/>
          </a:prstGeom>
          <a:noFill/>
        </p:spPr>
        <p:txBody>
          <a:bodyPr wrap="square" rtlCol="0">
            <a:spAutoFit/>
          </a:bodyPr>
          <a:lstStyle/>
          <a:p>
            <a:r>
              <a:rPr lang="en-IN" sz="2400" dirty="0"/>
              <a:t>1/0</a:t>
            </a:r>
          </a:p>
        </p:txBody>
      </p:sp>
      <p:sp>
        <p:nvSpPr>
          <p:cNvPr id="39" name="Oval 38">
            <a:extLst>
              <a:ext uri="{FF2B5EF4-FFF2-40B4-BE49-F238E27FC236}">
                <a16:creationId xmlns:a16="http://schemas.microsoft.com/office/drawing/2014/main" id="{BDD6A014-CE17-4674-00A9-AD837D50366E}"/>
              </a:ext>
            </a:extLst>
          </p:cNvPr>
          <p:cNvSpPr/>
          <p:nvPr/>
        </p:nvSpPr>
        <p:spPr>
          <a:xfrm>
            <a:off x="9299296" y="58040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7" name="Oval 46">
            <a:extLst>
              <a:ext uri="{FF2B5EF4-FFF2-40B4-BE49-F238E27FC236}">
                <a16:creationId xmlns:a16="http://schemas.microsoft.com/office/drawing/2014/main" id="{62CE5E3C-8EC3-1AA8-DA93-99DA8282ECE2}"/>
              </a:ext>
            </a:extLst>
          </p:cNvPr>
          <p:cNvSpPr/>
          <p:nvPr/>
        </p:nvSpPr>
        <p:spPr>
          <a:xfrm>
            <a:off x="9299295" y="204332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8" name="Oval 47">
            <a:extLst>
              <a:ext uri="{FF2B5EF4-FFF2-40B4-BE49-F238E27FC236}">
                <a16:creationId xmlns:a16="http://schemas.microsoft.com/office/drawing/2014/main" id="{D36CB089-1682-D796-E503-5CC3EDB51119}"/>
              </a:ext>
            </a:extLst>
          </p:cNvPr>
          <p:cNvSpPr/>
          <p:nvPr/>
        </p:nvSpPr>
        <p:spPr>
          <a:xfrm>
            <a:off x="9299294" y="3530715"/>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52" name="Oval 51">
            <a:extLst>
              <a:ext uri="{FF2B5EF4-FFF2-40B4-BE49-F238E27FC236}">
                <a16:creationId xmlns:a16="http://schemas.microsoft.com/office/drawing/2014/main" id="{251A1255-B99C-DCF8-5785-97CCF86A1C65}"/>
              </a:ext>
            </a:extLst>
          </p:cNvPr>
          <p:cNvSpPr/>
          <p:nvPr/>
        </p:nvSpPr>
        <p:spPr>
          <a:xfrm>
            <a:off x="9299293" y="4946004"/>
            <a:ext cx="987067" cy="962845"/>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2774740-3984-DF34-D35B-E15D55D43A0A}"/>
                  </a:ext>
                </a:extLst>
              </p:cNvPr>
              <p:cNvSpPr txBox="1"/>
              <p:nvPr/>
            </p:nvSpPr>
            <p:spPr>
              <a:xfrm>
                <a:off x="9551296" y="681506"/>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0</m:t>
                          </m:r>
                        </m:num>
                        <m:den>
                          <m:r>
                            <a:rPr lang="en-IN" sz="2400" b="0" i="1" smtClean="0">
                              <a:latin typeface="Cambria Math" panose="02040503050406030204" pitchFamily="18" charset="0"/>
                            </a:rPr>
                            <m:t>0</m:t>
                          </m:r>
                        </m:den>
                      </m:f>
                    </m:oMath>
                  </m:oMathPara>
                </a14:m>
                <a:endParaRPr lang="en-IN" sz="2400" dirty="0"/>
              </a:p>
            </p:txBody>
          </p:sp>
        </mc:Choice>
        <mc:Fallback xmlns="">
          <p:sp>
            <p:nvSpPr>
              <p:cNvPr id="54" name="TextBox 53">
                <a:extLst>
                  <a:ext uri="{FF2B5EF4-FFF2-40B4-BE49-F238E27FC236}">
                    <a16:creationId xmlns:a16="http://schemas.microsoft.com/office/drawing/2014/main" id="{E2774740-3984-DF34-D35B-E15D55D43A0A}"/>
                  </a:ext>
                </a:extLst>
              </p:cNvPr>
              <p:cNvSpPr txBox="1">
                <a:spLocks noRot="1" noChangeAspect="1" noMove="1" noResize="1" noEditPoints="1" noAdjustHandles="1" noChangeArrowheads="1" noChangeShapeType="1" noTextEdit="1"/>
              </p:cNvSpPr>
              <p:nvPr/>
            </p:nvSpPr>
            <p:spPr>
              <a:xfrm>
                <a:off x="9551296" y="681506"/>
                <a:ext cx="490506" cy="783804"/>
              </a:xfrm>
              <a:prstGeom prst="rect">
                <a:avLst/>
              </a:prstGeom>
              <a:blipFill>
                <a:blip r:embed="rId2"/>
                <a:stretch>
                  <a:fillRect/>
                </a:stretch>
              </a:blipFill>
            </p:spPr>
            <p:txBody>
              <a:bodyPr/>
              <a:lstStyle/>
              <a:p>
                <a:r>
                  <a:rPr lang="en-IN">
                    <a:noFill/>
                  </a:rPr>
                  <a:t> </a:t>
                </a:r>
              </a:p>
            </p:txBody>
          </p:sp>
        </mc:Fallback>
      </mc:AlternateContent>
      <p:cxnSp>
        <p:nvCxnSpPr>
          <p:cNvPr id="58" name="Straight Arrow Connector 57">
            <a:extLst>
              <a:ext uri="{FF2B5EF4-FFF2-40B4-BE49-F238E27FC236}">
                <a16:creationId xmlns:a16="http://schemas.microsoft.com/office/drawing/2014/main" id="{98513D2A-4569-BED3-1C1E-2A2CA245E1BA}"/>
              </a:ext>
            </a:extLst>
          </p:cNvPr>
          <p:cNvCxnSpPr>
            <a:cxnSpLocks/>
            <a:endCxn id="47" idx="0"/>
          </p:cNvCxnSpPr>
          <p:nvPr/>
        </p:nvCxnSpPr>
        <p:spPr>
          <a:xfrm>
            <a:off x="9792824" y="1527874"/>
            <a:ext cx="5" cy="515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9" name="Straight Arrow Connector 58">
            <a:extLst>
              <a:ext uri="{FF2B5EF4-FFF2-40B4-BE49-F238E27FC236}">
                <a16:creationId xmlns:a16="http://schemas.microsoft.com/office/drawing/2014/main" id="{970DD2EF-5E21-D02E-21A7-6EFEF653AD62}"/>
              </a:ext>
            </a:extLst>
          </p:cNvPr>
          <p:cNvCxnSpPr>
            <a:cxnSpLocks/>
            <a:endCxn id="48" idx="0"/>
          </p:cNvCxnSpPr>
          <p:nvPr/>
        </p:nvCxnSpPr>
        <p:spPr>
          <a:xfrm>
            <a:off x="9792824" y="3012687"/>
            <a:ext cx="4" cy="51802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8D53E2EC-F89C-B19F-34E0-6DFDC9B1E2D2}"/>
              </a:ext>
            </a:extLst>
          </p:cNvPr>
          <p:cNvCxnSpPr>
            <a:cxnSpLocks/>
          </p:cNvCxnSpPr>
          <p:nvPr/>
        </p:nvCxnSpPr>
        <p:spPr>
          <a:xfrm>
            <a:off x="9792824" y="4485632"/>
            <a:ext cx="1" cy="4603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a:extLst>
              <a:ext uri="{FF2B5EF4-FFF2-40B4-BE49-F238E27FC236}">
                <a16:creationId xmlns:a16="http://schemas.microsoft.com/office/drawing/2014/main" id="{FFAC38F7-B146-8494-8675-5FE28178B09E}"/>
              </a:ext>
            </a:extLst>
          </p:cNvPr>
          <p:cNvSpPr txBox="1"/>
          <p:nvPr/>
        </p:nvSpPr>
        <p:spPr>
          <a:xfrm>
            <a:off x="9804786" y="3001559"/>
            <a:ext cx="696332" cy="461665"/>
          </a:xfrm>
          <a:prstGeom prst="rect">
            <a:avLst/>
          </a:prstGeom>
          <a:noFill/>
        </p:spPr>
        <p:txBody>
          <a:bodyPr wrap="square" rtlCol="0">
            <a:spAutoFit/>
          </a:bodyPr>
          <a:lstStyle/>
          <a:p>
            <a:r>
              <a:rPr lang="en-IN" sz="2400" dirty="0"/>
              <a:t>0</a:t>
            </a:r>
          </a:p>
        </p:txBody>
      </p:sp>
      <p:sp>
        <p:nvSpPr>
          <p:cNvPr id="67" name="TextBox 66">
            <a:extLst>
              <a:ext uri="{FF2B5EF4-FFF2-40B4-BE49-F238E27FC236}">
                <a16:creationId xmlns:a16="http://schemas.microsoft.com/office/drawing/2014/main" id="{1ADB5CB0-95FE-DB6F-B911-454A56A92ECD}"/>
              </a:ext>
            </a:extLst>
          </p:cNvPr>
          <p:cNvSpPr txBox="1"/>
          <p:nvPr/>
        </p:nvSpPr>
        <p:spPr>
          <a:xfrm>
            <a:off x="9804786" y="4419164"/>
            <a:ext cx="303619" cy="461665"/>
          </a:xfrm>
          <a:prstGeom prst="rect">
            <a:avLst/>
          </a:prstGeom>
          <a:noFill/>
        </p:spPr>
        <p:txBody>
          <a:bodyPr wrap="square" rtlCol="0">
            <a:spAutoFit/>
          </a:bodyPr>
          <a:lstStyle/>
          <a:p>
            <a:r>
              <a:rPr lang="en-IN" sz="2400" dirty="0"/>
              <a:t>1</a:t>
            </a:r>
          </a:p>
        </p:txBody>
      </p:sp>
      <p:sp>
        <p:nvSpPr>
          <p:cNvPr id="68" name="TextBox 67">
            <a:extLst>
              <a:ext uri="{FF2B5EF4-FFF2-40B4-BE49-F238E27FC236}">
                <a16:creationId xmlns:a16="http://schemas.microsoft.com/office/drawing/2014/main" id="{9A750BE3-5D45-5EE0-C6F3-7424A7942DC6}"/>
              </a:ext>
            </a:extLst>
          </p:cNvPr>
          <p:cNvSpPr txBox="1"/>
          <p:nvPr/>
        </p:nvSpPr>
        <p:spPr>
          <a:xfrm>
            <a:off x="9765724" y="1534391"/>
            <a:ext cx="696332" cy="461665"/>
          </a:xfrm>
          <a:prstGeom prst="rect">
            <a:avLst/>
          </a:prstGeom>
          <a:noFill/>
        </p:spPr>
        <p:txBody>
          <a:bodyPr wrap="square" rtlCol="0">
            <a:spAutoFit/>
          </a:bodyPr>
          <a:lstStyle/>
          <a:p>
            <a:r>
              <a:rPr lang="en-IN" sz="2400" dirty="0"/>
              <a:t>1</a:t>
            </a:r>
          </a:p>
        </p:txBody>
      </p:sp>
      <p:cxnSp>
        <p:nvCxnSpPr>
          <p:cNvPr id="71" name="Straight Arrow Connector 70">
            <a:extLst>
              <a:ext uri="{FF2B5EF4-FFF2-40B4-BE49-F238E27FC236}">
                <a16:creationId xmlns:a16="http://schemas.microsoft.com/office/drawing/2014/main" id="{5A610F67-8705-8CD1-0F31-17F98B635244}"/>
              </a:ext>
            </a:extLst>
          </p:cNvPr>
          <p:cNvCxnSpPr>
            <a:cxnSpLocks/>
          </p:cNvCxnSpPr>
          <p:nvPr/>
        </p:nvCxnSpPr>
        <p:spPr>
          <a:xfrm flipV="1">
            <a:off x="9194856" y="1129011"/>
            <a:ext cx="67215" cy="3086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3" name="TextBox 72">
            <a:extLst>
              <a:ext uri="{FF2B5EF4-FFF2-40B4-BE49-F238E27FC236}">
                <a16:creationId xmlns:a16="http://schemas.microsoft.com/office/drawing/2014/main" id="{06D1A49C-CC56-2D60-79EC-D339FF9071D7}"/>
              </a:ext>
            </a:extLst>
          </p:cNvPr>
          <p:cNvSpPr txBox="1"/>
          <p:nvPr/>
        </p:nvSpPr>
        <p:spPr>
          <a:xfrm>
            <a:off x="8181404" y="595014"/>
            <a:ext cx="373239" cy="461665"/>
          </a:xfrm>
          <a:prstGeom prst="rect">
            <a:avLst/>
          </a:prstGeom>
          <a:noFill/>
        </p:spPr>
        <p:txBody>
          <a:bodyPr wrap="square" rtlCol="0">
            <a:spAutoFit/>
          </a:bodyPr>
          <a:lstStyle/>
          <a:p>
            <a:r>
              <a:rPr lang="en-IN" sz="2400" dirty="0"/>
              <a:t>0</a:t>
            </a:r>
          </a:p>
        </p:txBody>
      </p:sp>
      <p:sp>
        <p:nvSpPr>
          <p:cNvPr id="74" name="Arc 73">
            <a:extLst>
              <a:ext uri="{FF2B5EF4-FFF2-40B4-BE49-F238E27FC236}">
                <a16:creationId xmlns:a16="http://schemas.microsoft.com/office/drawing/2014/main" id="{5F880DB1-EF9F-51ED-B4F8-6F3D360B5E76}"/>
              </a:ext>
            </a:extLst>
          </p:cNvPr>
          <p:cNvSpPr/>
          <p:nvPr/>
        </p:nvSpPr>
        <p:spPr>
          <a:xfrm rot="7224164">
            <a:off x="8673121" y="330214"/>
            <a:ext cx="530382" cy="978566"/>
          </a:xfrm>
          <a:prstGeom prst="arc">
            <a:avLst>
              <a:gd name="adj1" fmla="val 17190316"/>
              <a:gd name="adj2" fmla="val 1479445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
        <p:nvSpPr>
          <p:cNvPr id="85" name="Arc 84">
            <a:extLst>
              <a:ext uri="{FF2B5EF4-FFF2-40B4-BE49-F238E27FC236}">
                <a16:creationId xmlns:a16="http://schemas.microsoft.com/office/drawing/2014/main" id="{D36AAABF-21A9-1BB1-2D11-B31187B6FAD5}"/>
              </a:ext>
            </a:extLst>
          </p:cNvPr>
          <p:cNvSpPr/>
          <p:nvPr/>
        </p:nvSpPr>
        <p:spPr>
          <a:xfrm rot="14916952">
            <a:off x="10258862" y="1923602"/>
            <a:ext cx="267943" cy="978566"/>
          </a:xfrm>
          <a:prstGeom prst="arc">
            <a:avLst>
              <a:gd name="adj1" fmla="val 2739880"/>
              <a:gd name="adj2" fmla="val 1377828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86" name="Straight Arrow Connector 85">
            <a:extLst>
              <a:ext uri="{FF2B5EF4-FFF2-40B4-BE49-F238E27FC236}">
                <a16:creationId xmlns:a16="http://schemas.microsoft.com/office/drawing/2014/main" id="{0AB232ED-AA35-826F-038C-C516869DEABA}"/>
              </a:ext>
            </a:extLst>
          </p:cNvPr>
          <p:cNvCxnSpPr>
            <a:cxnSpLocks/>
            <a:stCxn id="85" idx="0"/>
          </p:cNvCxnSpPr>
          <p:nvPr/>
        </p:nvCxnSpPr>
        <p:spPr>
          <a:xfrm flipH="1">
            <a:off x="10253793" y="2244624"/>
            <a:ext cx="214945" cy="7310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8" name="TextBox 87">
            <a:extLst>
              <a:ext uri="{FF2B5EF4-FFF2-40B4-BE49-F238E27FC236}">
                <a16:creationId xmlns:a16="http://schemas.microsoft.com/office/drawing/2014/main" id="{CB6E2FD4-A873-023F-19CD-B2C9F542D6CD}"/>
              </a:ext>
            </a:extLst>
          </p:cNvPr>
          <p:cNvSpPr txBox="1"/>
          <p:nvPr/>
        </p:nvSpPr>
        <p:spPr>
          <a:xfrm>
            <a:off x="10843599" y="1999133"/>
            <a:ext cx="467737" cy="461665"/>
          </a:xfrm>
          <a:prstGeom prst="rect">
            <a:avLst/>
          </a:prstGeom>
          <a:noFill/>
        </p:spPr>
        <p:txBody>
          <a:bodyPr wrap="square" rtlCol="0">
            <a:spAutoFit/>
          </a:bodyPr>
          <a:lstStyle/>
          <a:p>
            <a:r>
              <a:rPr lang="en-IN" sz="2400" dirty="0"/>
              <a:t>1</a:t>
            </a:r>
          </a:p>
        </p:txBody>
      </p:sp>
      <p:sp>
        <p:nvSpPr>
          <p:cNvPr id="89" name="Arc 88">
            <a:extLst>
              <a:ext uri="{FF2B5EF4-FFF2-40B4-BE49-F238E27FC236}">
                <a16:creationId xmlns:a16="http://schemas.microsoft.com/office/drawing/2014/main" id="{CA94D51E-EAD4-64FF-9EF9-F534F14968BD}"/>
              </a:ext>
            </a:extLst>
          </p:cNvPr>
          <p:cNvSpPr/>
          <p:nvPr/>
        </p:nvSpPr>
        <p:spPr>
          <a:xfrm>
            <a:off x="9194856" y="2770172"/>
            <a:ext cx="2219666" cy="2675907"/>
          </a:xfrm>
          <a:prstGeom prst="arc">
            <a:avLst>
              <a:gd name="adj1" fmla="val 16232683"/>
              <a:gd name="adj2" fmla="val 5461367"/>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90" name="Straight Arrow Connector 89">
            <a:extLst>
              <a:ext uri="{FF2B5EF4-FFF2-40B4-BE49-F238E27FC236}">
                <a16:creationId xmlns:a16="http://schemas.microsoft.com/office/drawing/2014/main" id="{22905065-EC34-B5AA-C6D5-1CA12643BC2A}"/>
              </a:ext>
            </a:extLst>
          </p:cNvPr>
          <p:cNvCxnSpPr>
            <a:cxnSpLocks/>
            <a:stCxn id="89" idx="0"/>
          </p:cNvCxnSpPr>
          <p:nvPr/>
        </p:nvCxnSpPr>
        <p:spPr>
          <a:xfrm flipH="1">
            <a:off x="10211458" y="2770260"/>
            <a:ext cx="105951" cy="55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6" name="TextBox 95">
            <a:extLst>
              <a:ext uri="{FF2B5EF4-FFF2-40B4-BE49-F238E27FC236}">
                <a16:creationId xmlns:a16="http://schemas.microsoft.com/office/drawing/2014/main" id="{F77F713F-390F-697E-1E0E-15ECE41AB6A7}"/>
              </a:ext>
            </a:extLst>
          </p:cNvPr>
          <p:cNvSpPr txBox="1"/>
          <p:nvPr/>
        </p:nvSpPr>
        <p:spPr>
          <a:xfrm>
            <a:off x="11364602" y="3636701"/>
            <a:ext cx="303619" cy="461665"/>
          </a:xfrm>
          <a:prstGeom prst="rect">
            <a:avLst/>
          </a:prstGeom>
          <a:noFill/>
        </p:spPr>
        <p:txBody>
          <a:bodyPr wrap="square" rtlCol="0">
            <a:spAutoFit/>
          </a:bodyPr>
          <a:lstStyle/>
          <a:p>
            <a:r>
              <a:rPr lang="en-IN" sz="2400" dirty="0"/>
              <a:t>1</a:t>
            </a:r>
          </a:p>
        </p:txBody>
      </p:sp>
      <p:sp>
        <p:nvSpPr>
          <p:cNvPr id="97" name="Arc 96">
            <a:extLst>
              <a:ext uri="{FF2B5EF4-FFF2-40B4-BE49-F238E27FC236}">
                <a16:creationId xmlns:a16="http://schemas.microsoft.com/office/drawing/2014/main" id="{6EAB8110-E911-5E2E-F9F9-E2FF3DEF48F1}"/>
              </a:ext>
            </a:extLst>
          </p:cNvPr>
          <p:cNvSpPr/>
          <p:nvPr/>
        </p:nvSpPr>
        <p:spPr>
          <a:xfrm>
            <a:off x="8590162" y="1381816"/>
            <a:ext cx="1544304" cy="2647937"/>
          </a:xfrm>
          <a:prstGeom prst="arc">
            <a:avLst>
              <a:gd name="adj1" fmla="val 5543834"/>
              <a:gd name="adj2" fmla="val 1577989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99" name="Straight Arrow Connector 98">
            <a:extLst>
              <a:ext uri="{FF2B5EF4-FFF2-40B4-BE49-F238E27FC236}">
                <a16:creationId xmlns:a16="http://schemas.microsoft.com/office/drawing/2014/main" id="{875EF49C-407F-CA4E-C925-FA20C6AA97C3}"/>
              </a:ext>
            </a:extLst>
          </p:cNvPr>
          <p:cNvCxnSpPr>
            <a:cxnSpLocks/>
            <a:stCxn id="97" idx="2"/>
          </p:cNvCxnSpPr>
          <p:nvPr/>
        </p:nvCxnSpPr>
        <p:spPr>
          <a:xfrm flipV="1">
            <a:off x="9203200" y="1333082"/>
            <a:ext cx="196199" cy="77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1" name="TextBox 100">
            <a:extLst>
              <a:ext uri="{FF2B5EF4-FFF2-40B4-BE49-F238E27FC236}">
                <a16:creationId xmlns:a16="http://schemas.microsoft.com/office/drawing/2014/main" id="{24537A72-D36B-0E5D-7947-38B7FFD23ED8}"/>
              </a:ext>
            </a:extLst>
          </p:cNvPr>
          <p:cNvSpPr txBox="1"/>
          <p:nvPr/>
        </p:nvSpPr>
        <p:spPr>
          <a:xfrm>
            <a:off x="8590162" y="2539894"/>
            <a:ext cx="367167" cy="461665"/>
          </a:xfrm>
          <a:prstGeom prst="rect">
            <a:avLst/>
          </a:prstGeom>
          <a:noFill/>
        </p:spPr>
        <p:txBody>
          <a:bodyPr wrap="square" rtlCol="0">
            <a:spAutoFit/>
          </a:bodyPr>
          <a:lstStyle/>
          <a:p>
            <a:r>
              <a:rPr lang="en-IN" sz="2400" dirty="0"/>
              <a:t>0</a:t>
            </a:r>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072F017-78CA-5624-8873-FC6B2582C52B}"/>
                  </a:ext>
                </a:extLst>
              </p:cNvPr>
              <p:cNvSpPr txBox="1"/>
              <p:nvPr/>
            </p:nvSpPr>
            <p:spPr>
              <a:xfrm>
                <a:off x="9538039" y="2095995"/>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1</m:t>
                          </m:r>
                        </m:num>
                        <m:den>
                          <m:r>
                            <a:rPr lang="en-IN" sz="2400" b="0" i="1" smtClean="0">
                              <a:latin typeface="Cambria Math" panose="02040503050406030204" pitchFamily="18" charset="0"/>
                            </a:rPr>
                            <m:t>0</m:t>
                          </m:r>
                        </m:den>
                      </m:f>
                    </m:oMath>
                  </m:oMathPara>
                </a14:m>
                <a:endParaRPr lang="en-IN" sz="2400" dirty="0"/>
              </a:p>
            </p:txBody>
          </p:sp>
        </mc:Choice>
        <mc:Fallback xmlns="">
          <p:sp>
            <p:nvSpPr>
              <p:cNvPr id="103" name="TextBox 102">
                <a:extLst>
                  <a:ext uri="{FF2B5EF4-FFF2-40B4-BE49-F238E27FC236}">
                    <a16:creationId xmlns:a16="http://schemas.microsoft.com/office/drawing/2014/main" id="{C072F017-78CA-5624-8873-FC6B2582C52B}"/>
                  </a:ext>
                </a:extLst>
              </p:cNvPr>
              <p:cNvSpPr txBox="1">
                <a:spLocks noRot="1" noChangeAspect="1" noMove="1" noResize="1" noEditPoints="1" noAdjustHandles="1" noChangeArrowheads="1" noChangeShapeType="1" noTextEdit="1"/>
              </p:cNvSpPr>
              <p:nvPr/>
            </p:nvSpPr>
            <p:spPr>
              <a:xfrm>
                <a:off x="9538039" y="2095995"/>
                <a:ext cx="490506" cy="78380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42FFF0B-DE06-DF44-8C24-A6156EFA25C9}"/>
                  </a:ext>
                </a:extLst>
              </p:cNvPr>
              <p:cNvSpPr txBox="1"/>
              <p:nvPr/>
            </p:nvSpPr>
            <p:spPr>
              <a:xfrm>
                <a:off x="9528144" y="3640342"/>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2</m:t>
                          </m:r>
                        </m:num>
                        <m:den>
                          <m:r>
                            <a:rPr lang="en-IN" sz="2400" b="0" i="1" smtClean="0">
                              <a:latin typeface="Cambria Math" panose="02040503050406030204" pitchFamily="18" charset="0"/>
                            </a:rPr>
                            <m:t>0</m:t>
                          </m:r>
                        </m:den>
                      </m:f>
                    </m:oMath>
                  </m:oMathPara>
                </a14:m>
                <a:endParaRPr lang="en-IN" sz="2400" dirty="0"/>
              </a:p>
            </p:txBody>
          </p:sp>
        </mc:Choice>
        <mc:Fallback xmlns="">
          <p:sp>
            <p:nvSpPr>
              <p:cNvPr id="104" name="TextBox 103">
                <a:extLst>
                  <a:ext uri="{FF2B5EF4-FFF2-40B4-BE49-F238E27FC236}">
                    <a16:creationId xmlns:a16="http://schemas.microsoft.com/office/drawing/2014/main" id="{F42FFF0B-DE06-DF44-8C24-A6156EFA25C9}"/>
                  </a:ext>
                </a:extLst>
              </p:cNvPr>
              <p:cNvSpPr txBox="1">
                <a:spLocks noRot="1" noChangeAspect="1" noMove="1" noResize="1" noEditPoints="1" noAdjustHandles="1" noChangeArrowheads="1" noChangeShapeType="1" noTextEdit="1"/>
              </p:cNvSpPr>
              <p:nvPr/>
            </p:nvSpPr>
            <p:spPr>
              <a:xfrm>
                <a:off x="9528144" y="3640342"/>
                <a:ext cx="490506" cy="78380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EE0433B9-C26A-277F-11AF-04369CCCE201}"/>
                  </a:ext>
                </a:extLst>
              </p:cNvPr>
              <p:cNvSpPr txBox="1"/>
              <p:nvPr/>
            </p:nvSpPr>
            <p:spPr>
              <a:xfrm>
                <a:off x="9525173" y="5021219"/>
                <a:ext cx="490506"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r>
                            <m:rPr>
                              <m:sty m:val="p"/>
                            </m:rPr>
                            <a:rPr lang="en-IN" sz="2400" b="0" i="1" smtClean="0">
                              <a:latin typeface="Cambria Math" panose="02040503050406030204" pitchFamily="18" charset="0"/>
                            </a:rPr>
                            <m:t>S</m:t>
                          </m:r>
                          <m:r>
                            <a:rPr lang="en-IN" sz="2400" b="0" i="1" smtClean="0">
                              <a:latin typeface="Cambria Math" panose="02040503050406030204" pitchFamily="18" charset="0"/>
                            </a:rPr>
                            <m:t>3</m:t>
                          </m:r>
                        </m:num>
                        <m:den>
                          <m:r>
                            <a:rPr lang="en-IN" sz="2400" b="0" i="1" smtClean="0">
                              <a:latin typeface="Cambria Math" panose="02040503050406030204" pitchFamily="18" charset="0"/>
                            </a:rPr>
                            <m:t>1</m:t>
                          </m:r>
                        </m:den>
                      </m:f>
                    </m:oMath>
                  </m:oMathPara>
                </a14:m>
                <a:endParaRPr lang="en-IN" sz="2400" dirty="0"/>
              </a:p>
            </p:txBody>
          </p:sp>
        </mc:Choice>
        <mc:Fallback xmlns="">
          <p:sp>
            <p:nvSpPr>
              <p:cNvPr id="105" name="TextBox 104">
                <a:extLst>
                  <a:ext uri="{FF2B5EF4-FFF2-40B4-BE49-F238E27FC236}">
                    <a16:creationId xmlns:a16="http://schemas.microsoft.com/office/drawing/2014/main" id="{EE0433B9-C26A-277F-11AF-04369CCCE201}"/>
                  </a:ext>
                </a:extLst>
              </p:cNvPr>
              <p:cNvSpPr txBox="1">
                <a:spLocks noRot="1" noChangeAspect="1" noMove="1" noResize="1" noEditPoints="1" noAdjustHandles="1" noChangeArrowheads="1" noChangeShapeType="1" noTextEdit="1"/>
              </p:cNvSpPr>
              <p:nvPr/>
            </p:nvSpPr>
            <p:spPr>
              <a:xfrm>
                <a:off x="9525173" y="5021219"/>
                <a:ext cx="490506" cy="783804"/>
              </a:xfrm>
              <a:prstGeom prst="rect">
                <a:avLst/>
              </a:prstGeom>
              <a:blipFill>
                <a:blip r:embed="rId5"/>
                <a:stretch>
                  <a:fillRect/>
                </a:stretch>
              </a:blipFill>
            </p:spPr>
            <p:txBody>
              <a:bodyPr/>
              <a:lstStyle/>
              <a:p>
                <a:r>
                  <a:rPr lang="en-IN">
                    <a:noFill/>
                  </a:rPr>
                  <a:t> </a:t>
                </a:r>
              </a:p>
            </p:txBody>
          </p:sp>
        </mc:Fallback>
      </mc:AlternateContent>
      <p:sp>
        <p:nvSpPr>
          <p:cNvPr id="111" name="TextBox 110">
            <a:extLst>
              <a:ext uri="{FF2B5EF4-FFF2-40B4-BE49-F238E27FC236}">
                <a16:creationId xmlns:a16="http://schemas.microsoft.com/office/drawing/2014/main" id="{AC1F39F4-EE55-7DF8-D115-AB0BFAB6C485}"/>
              </a:ext>
            </a:extLst>
          </p:cNvPr>
          <p:cNvSpPr txBox="1"/>
          <p:nvPr/>
        </p:nvSpPr>
        <p:spPr>
          <a:xfrm>
            <a:off x="346535" y="6149439"/>
            <a:ext cx="4927600" cy="369332"/>
          </a:xfrm>
          <a:prstGeom prst="rect">
            <a:avLst/>
          </a:prstGeom>
          <a:noFill/>
        </p:spPr>
        <p:txBody>
          <a:bodyPr wrap="square" rtlCol="0">
            <a:spAutoFit/>
          </a:bodyPr>
          <a:lstStyle/>
          <a:p>
            <a:r>
              <a:rPr lang="en-IN" dirty="0"/>
              <a:t>Mealy Machine based implemented State diagram</a:t>
            </a:r>
          </a:p>
        </p:txBody>
      </p:sp>
      <p:sp>
        <p:nvSpPr>
          <p:cNvPr id="112" name="TextBox 111">
            <a:extLst>
              <a:ext uri="{FF2B5EF4-FFF2-40B4-BE49-F238E27FC236}">
                <a16:creationId xmlns:a16="http://schemas.microsoft.com/office/drawing/2014/main" id="{E812403D-9D35-A659-917C-E106624F185F}"/>
              </a:ext>
            </a:extLst>
          </p:cNvPr>
          <p:cNvSpPr txBox="1"/>
          <p:nvPr/>
        </p:nvSpPr>
        <p:spPr>
          <a:xfrm>
            <a:off x="6764663" y="6149439"/>
            <a:ext cx="4927600" cy="369332"/>
          </a:xfrm>
          <a:prstGeom prst="rect">
            <a:avLst/>
          </a:prstGeom>
          <a:noFill/>
        </p:spPr>
        <p:txBody>
          <a:bodyPr wrap="square" rtlCol="0">
            <a:spAutoFit/>
          </a:bodyPr>
          <a:lstStyle/>
          <a:p>
            <a:r>
              <a:rPr lang="en-IN" dirty="0"/>
              <a:t>Moore Machine based implemented State diagram</a:t>
            </a:r>
          </a:p>
        </p:txBody>
      </p:sp>
      <p:sp>
        <p:nvSpPr>
          <p:cNvPr id="20" name="Arc 19">
            <a:extLst>
              <a:ext uri="{FF2B5EF4-FFF2-40B4-BE49-F238E27FC236}">
                <a16:creationId xmlns:a16="http://schemas.microsoft.com/office/drawing/2014/main" id="{74AB80EC-0F41-82D6-A0D0-2540C8590286}"/>
              </a:ext>
            </a:extLst>
          </p:cNvPr>
          <p:cNvSpPr/>
          <p:nvPr/>
        </p:nvSpPr>
        <p:spPr>
          <a:xfrm>
            <a:off x="8543333" y="4253428"/>
            <a:ext cx="1699671" cy="1345817"/>
          </a:xfrm>
          <a:prstGeom prst="arc">
            <a:avLst>
              <a:gd name="adj1" fmla="val 5722501"/>
              <a:gd name="adj2" fmla="val 14877567"/>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4BFECEE6-142A-9487-D222-70422D845E07}"/>
              </a:ext>
            </a:extLst>
          </p:cNvPr>
          <p:cNvCxnSpPr>
            <a:cxnSpLocks/>
          </p:cNvCxnSpPr>
          <p:nvPr/>
        </p:nvCxnSpPr>
        <p:spPr>
          <a:xfrm flipV="1">
            <a:off x="9152942" y="4237749"/>
            <a:ext cx="217271" cy="464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0129E21C-32BC-F2DD-A01F-5DB14E4BF495}"/>
              </a:ext>
            </a:extLst>
          </p:cNvPr>
          <p:cNvSpPr txBox="1"/>
          <p:nvPr/>
        </p:nvSpPr>
        <p:spPr>
          <a:xfrm>
            <a:off x="8590161" y="4734930"/>
            <a:ext cx="367167" cy="461665"/>
          </a:xfrm>
          <a:prstGeom prst="rect">
            <a:avLst/>
          </a:prstGeom>
          <a:noFill/>
        </p:spPr>
        <p:txBody>
          <a:bodyPr wrap="square" rtlCol="0">
            <a:spAutoFit/>
          </a:bodyPr>
          <a:lstStyle/>
          <a:p>
            <a:r>
              <a:rPr lang="en-IN" sz="2400" dirty="0"/>
              <a:t>0</a:t>
            </a:r>
          </a:p>
        </p:txBody>
      </p:sp>
      <p:sp>
        <p:nvSpPr>
          <p:cNvPr id="29" name="Arc 28">
            <a:extLst>
              <a:ext uri="{FF2B5EF4-FFF2-40B4-BE49-F238E27FC236}">
                <a16:creationId xmlns:a16="http://schemas.microsoft.com/office/drawing/2014/main" id="{DC43BE70-E0D9-3FB1-7776-761371D1DD32}"/>
              </a:ext>
            </a:extLst>
          </p:cNvPr>
          <p:cNvSpPr/>
          <p:nvPr/>
        </p:nvSpPr>
        <p:spPr>
          <a:xfrm>
            <a:off x="1325758" y="3519390"/>
            <a:ext cx="1699671" cy="1342939"/>
          </a:xfrm>
          <a:prstGeom prst="arc">
            <a:avLst>
              <a:gd name="adj1" fmla="val 5722501"/>
              <a:gd name="adj2" fmla="val 1498987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30" name="Straight Arrow Connector 29">
            <a:extLst>
              <a:ext uri="{FF2B5EF4-FFF2-40B4-BE49-F238E27FC236}">
                <a16:creationId xmlns:a16="http://schemas.microsoft.com/office/drawing/2014/main" id="{D166BB7B-A5AB-C49A-AE38-FFF8F36115FC}"/>
              </a:ext>
            </a:extLst>
          </p:cNvPr>
          <p:cNvCxnSpPr>
            <a:cxnSpLocks/>
            <a:stCxn id="29" idx="2"/>
          </p:cNvCxnSpPr>
          <p:nvPr/>
        </p:nvCxnSpPr>
        <p:spPr>
          <a:xfrm flipV="1">
            <a:off x="1938729" y="3493294"/>
            <a:ext cx="215177" cy="5270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5" name="TextBox 54">
            <a:extLst>
              <a:ext uri="{FF2B5EF4-FFF2-40B4-BE49-F238E27FC236}">
                <a16:creationId xmlns:a16="http://schemas.microsoft.com/office/drawing/2014/main" id="{8271FFF4-A0FB-8588-3C1C-41491E38363A}"/>
              </a:ext>
            </a:extLst>
          </p:cNvPr>
          <p:cNvSpPr txBox="1"/>
          <p:nvPr/>
        </p:nvSpPr>
        <p:spPr>
          <a:xfrm>
            <a:off x="728980" y="4053352"/>
            <a:ext cx="696332" cy="461665"/>
          </a:xfrm>
          <a:prstGeom prst="rect">
            <a:avLst/>
          </a:prstGeom>
          <a:noFill/>
        </p:spPr>
        <p:txBody>
          <a:bodyPr wrap="square" rtlCol="0">
            <a:spAutoFit/>
          </a:bodyPr>
          <a:lstStyle/>
          <a:p>
            <a:r>
              <a:rPr lang="en-IN" sz="2400" dirty="0"/>
              <a:t>1/1</a:t>
            </a:r>
          </a:p>
        </p:txBody>
      </p:sp>
    </p:spTree>
    <p:extLst>
      <p:ext uri="{BB962C8B-B14F-4D97-AF65-F5344CB8AC3E}">
        <p14:creationId xmlns:p14="http://schemas.microsoft.com/office/powerpoint/2010/main" val="3854091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22061-937B-F707-1D1B-68102B91F872}"/>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28B83CF2-9D2C-DB02-25C6-24AFBED960F6}"/>
              </a:ext>
            </a:extLst>
          </p:cNvPr>
          <p:cNvSpPr txBox="1"/>
          <p:nvPr/>
        </p:nvSpPr>
        <p:spPr>
          <a:xfrm>
            <a:off x="2884004" y="612844"/>
            <a:ext cx="6423992" cy="5632311"/>
          </a:xfrm>
          <a:prstGeom prst="rect">
            <a:avLst/>
          </a:prstGeom>
          <a:noFill/>
        </p:spPr>
        <p:txBody>
          <a:bodyPr wrap="square" rtlCol="0">
            <a:spAutoFit/>
          </a:bodyPr>
          <a:lstStyle/>
          <a:p>
            <a:pPr algn="ctr"/>
            <a:r>
              <a:rPr lang="en-IN" sz="2000" dirty="0"/>
              <a:t>In the above diagram,</a:t>
            </a:r>
          </a:p>
          <a:p>
            <a:pPr algn="ctr"/>
            <a:r>
              <a:rPr lang="en-IN" sz="2000" dirty="0"/>
              <a:t>S0: represents an initial state where none of the bits of interest have arrived</a:t>
            </a:r>
          </a:p>
          <a:p>
            <a:pPr algn="ctr"/>
            <a:r>
              <a:rPr lang="en-IN" sz="2000" dirty="0"/>
              <a:t>S1: when ‘1’ has arrived</a:t>
            </a:r>
          </a:p>
          <a:p>
            <a:pPr algn="ctr"/>
            <a:r>
              <a:rPr lang="en-IN" sz="2000" dirty="0"/>
              <a:t>S2: when ‘10’ has arrived</a:t>
            </a:r>
          </a:p>
          <a:p>
            <a:pPr algn="ctr"/>
            <a:r>
              <a:rPr lang="en-IN" sz="2000" dirty="0"/>
              <a:t>S3: when ‘101’ has arrived</a:t>
            </a:r>
          </a:p>
          <a:p>
            <a:pPr algn="ctr"/>
            <a:endParaRPr lang="en-IN" sz="2000" dirty="0"/>
          </a:p>
          <a:p>
            <a:pPr algn="ctr"/>
            <a:r>
              <a:rPr lang="en-IN" sz="2000" dirty="0"/>
              <a:t>Note that Moore Machine has more states than Mealy Machine. But the advantage with Moore Machine is it gives output as ‘1’ only when ‘101’ have arrived and clock pulse is arrived.</a:t>
            </a:r>
          </a:p>
          <a:p>
            <a:pPr algn="ctr"/>
            <a:r>
              <a:rPr lang="en-IN" sz="2000" dirty="0"/>
              <a:t>However, in Mealy Machine output becomes ‘1’ as soon as input becomes ‘1’ while the circuit is in S2 state even before clock pulse arrived.</a:t>
            </a:r>
          </a:p>
          <a:p>
            <a:pPr algn="ctr"/>
            <a:endParaRPr lang="en-IN" sz="2000" dirty="0"/>
          </a:p>
          <a:p>
            <a:pPr algn="ctr"/>
            <a:r>
              <a:rPr lang="en-IN" sz="2000" dirty="0"/>
              <a:t>So for 4 states, 2 flip flops are required. Call their output as Q1, Q0.</a:t>
            </a:r>
          </a:p>
          <a:p>
            <a:pPr algn="ctr"/>
            <a:endParaRPr lang="en-IN" sz="2000" dirty="0"/>
          </a:p>
        </p:txBody>
      </p:sp>
    </p:spTree>
    <p:extLst>
      <p:ext uri="{BB962C8B-B14F-4D97-AF65-F5344CB8AC3E}">
        <p14:creationId xmlns:p14="http://schemas.microsoft.com/office/powerpoint/2010/main" val="2417272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37F4-296B-C80A-B76C-3E2FCA6C62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1872AD0-CFE1-2807-A564-88D0306C5226}"/>
                  </a:ext>
                </a:extLst>
              </p:cNvPr>
              <p:cNvGraphicFramePr>
                <a:graphicFrameLocks noGrp="1"/>
              </p:cNvGraphicFramePr>
              <p:nvPr>
                <p:extLst>
                  <p:ext uri="{D42A27DB-BD31-4B8C-83A1-F6EECF244321}">
                    <p14:modId xmlns:p14="http://schemas.microsoft.com/office/powerpoint/2010/main" val="3667067129"/>
                  </p:ext>
                </p:extLst>
              </p:nvPr>
            </p:nvGraphicFramePr>
            <p:xfrm>
              <a:off x="686813" y="982102"/>
              <a:ext cx="10818376" cy="3688080"/>
            </p:xfrm>
            <a:graphic>
              <a:graphicData uri="http://schemas.openxmlformats.org/drawingml/2006/table">
                <a:tbl>
                  <a:tblPr firstRow="1" bandRow="1">
                    <a:tableStyleId>{5940675A-B579-460E-94D1-54222C63F5DA}</a:tableStyleId>
                  </a:tblPr>
                  <a:tblGrid>
                    <a:gridCol w="1352297">
                      <a:extLst>
                        <a:ext uri="{9D8B030D-6E8A-4147-A177-3AD203B41FA5}">
                          <a16:colId xmlns:a16="http://schemas.microsoft.com/office/drawing/2014/main" val="3437135134"/>
                        </a:ext>
                      </a:extLst>
                    </a:gridCol>
                    <a:gridCol w="1352297">
                      <a:extLst>
                        <a:ext uri="{9D8B030D-6E8A-4147-A177-3AD203B41FA5}">
                          <a16:colId xmlns:a16="http://schemas.microsoft.com/office/drawing/2014/main" val="2933985549"/>
                        </a:ext>
                      </a:extLst>
                    </a:gridCol>
                    <a:gridCol w="1352297">
                      <a:extLst>
                        <a:ext uri="{9D8B030D-6E8A-4147-A177-3AD203B41FA5}">
                          <a16:colId xmlns:a16="http://schemas.microsoft.com/office/drawing/2014/main" val="1762740387"/>
                        </a:ext>
                      </a:extLst>
                    </a:gridCol>
                    <a:gridCol w="1352297">
                      <a:extLst>
                        <a:ext uri="{9D8B030D-6E8A-4147-A177-3AD203B41FA5}">
                          <a16:colId xmlns:a16="http://schemas.microsoft.com/office/drawing/2014/main" val="2234014298"/>
                        </a:ext>
                      </a:extLst>
                    </a:gridCol>
                    <a:gridCol w="1352297">
                      <a:extLst>
                        <a:ext uri="{9D8B030D-6E8A-4147-A177-3AD203B41FA5}">
                          <a16:colId xmlns:a16="http://schemas.microsoft.com/office/drawing/2014/main" val="3859240692"/>
                        </a:ext>
                      </a:extLst>
                    </a:gridCol>
                    <a:gridCol w="1352297">
                      <a:extLst>
                        <a:ext uri="{9D8B030D-6E8A-4147-A177-3AD203B41FA5}">
                          <a16:colId xmlns:a16="http://schemas.microsoft.com/office/drawing/2014/main" val="2397332516"/>
                        </a:ext>
                      </a:extLst>
                    </a:gridCol>
                    <a:gridCol w="1352297">
                      <a:extLst>
                        <a:ext uri="{9D8B030D-6E8A-4147-A177-3AD203B41FA5}">
                          <a16:colId xmlns:a16="http://schemas.microsoft.com/office/drawing/2014/main" val="674611442"/>
                        </a:ext>
                      </a:extLst>
                    </a:gridCol>
                    <a:gridCol w="1352297">
                      <a:extLst>
                        <a:ext uri="{9D8B030D-6E8A-4147-A177-3AD203B41FA5}">
                          <a16:colId xmlns:a16="http://schemas.microsoft.com/office/drawing/2014/main" val="17687657"/>
                        </a:ext>
                      </a:extLst>
                    </a:gridCol>
                  </a:tblGrid>
                  <a:tr h="304299">
                    <a:tc gridSpan="2">
                      <a:txBody>
                        <a:bodyPr/>
                        <a:lstStyle/>
                        <a:p>
                          <a:pPr algn="ctr"/>
                          <a:r>
                            <a:rPr lang="en-IN" dirty="0"/>
                            <a:t>Present State</a:t>
                          </a:r>
                        </a:p>
                      </a:txBody>
                      <a:tcPr marL="121706" marR="121706"/>
                    </a:tc>
                    <a:tc hMerge="1">
                      <a:txBody>
                        <a:bodyPr/>
                        <a:lstStyle/>
                        <a:p>
                          <a:endParaRPr lang="en-IN" dirty="0"/>
                        </a:p>
                      </a:txBody>
                      <a:tcPr marL="121706" marR="121706"/>
                    </a:tc>
                    <a:tc>
                      <a:txBody>
                        <a:bodyPr/>
                        <a:lstStyle/>
                        <a:p>
                          <a:pPr algn="ctr"/>
                          <a:r>
                            <a:rPr lang="en-IN" dirty="0"/>
                            <a:t>Input</a:t>
                          </a:r>
                        </a:p>
                      </a:txBody>
                      <a:tcPr marL="121706" marR="121706"/>
                    </a:tc>
                    <a:tc gridSpan="2">
                      <a:txBody>
                        <a:bodyPr/>
                        <a:lstStyle/>
                        <a:p>
                          <a:pPr algn="ctr"/>
                          <a:r>
                            <a:rPr lang="en-IN" dirty="0"/>
                            <a:t>Next State</a:t>
                          </a:r>
                        </a:p>
                      </a:txBody>
                      <a:tcPr marL="121706" marR="121706"/>
                    </a:tc>
                    <a:tc hMerge="1">
                      <a:txBody>
                        <a:bodyPr/>
                        <a:lstStyle/>
                        <a:p>
                          <a:endParaRPr lang="en-IN" dirty="0"/>
                        </a:p>
                      </a:txBody>
                      <a:tcPr marL="121706" marR="121706"/>
                    </a:tc>
                    <a:tc>
                      <a:txBody>
                        <a:bodyPr/>
                        <a:lstStyle/>
                        <a:p>
                          <a:pPr algn="ctr"/>
                          <a:r>
                            <a:rPr lang="en-IN" dirty="0"/>
                            <a:t>Output</a:t>
                          </a:r>
                        </a:p>
                      </a:txBody>
                      <a:tcPr marL="121706" marR="121706"/>
                    </a:tc>
                    <a:tc gridSpan="2">
                      <a:txBody>
                        <a:bodyPr/>
                        <a:lstStyle/>
                        <a:p>
                          <a:pPr algn="ctr"/>
                          <a:r>
                            <a:rPr lang="en-IN" dirty="0"/>
                            <a:t>Flip-Flop Inputs</a:t>
                          </a:r>
                        </a:p>
                      </a:txBody>
                      <a:tcPr marL="121706" marR="121706"/>
                    </a:tc>
                    <a:tc hMerge="1">
                      <a:txBody>
                        <a:bodyPr/>
                        <a:lstStyle/>
                        <a:p>
                          <a:pPr algn="ctr"/>
                          <a:endParaRPr lang="en-IN" dirty="0"/>
                        </a:p>
                      </a:txBody>
                      <a:tcPr marL="121706" marR="121706"/>
                    </a:tc>
                    <a:extLst>
                      <a:ext uri="{0D108BD9-81ED-4DB2-BD59-A6C34878D82A}">
                        <a16:rowId xmlns:a16="http://schemas.microsoft.com/office/drawing/2014/main" val="2878732794"/>
                      </a:ext>
                    </a:extLst>
                  </a:tr>
                  <a:tr h="329657">
                    <a:tc>
                      <a:txBody>
                        <a:bodyPr/>
                        <a:lstStyle/>
                        <a:p>
                          <a:pPr algn="ctr"/>
                          <a:r>
                            <a:rPr lang="en-IN" b="1" dirty="0"/>
                            <a:t>Q1</a:t>
                          </a:r>
                        </a:p>
                      </a:txBody>
                      <a:tcPr marL="121706" marR="121706"/>
                    </a:tc>
                    <a:tc>
                      <a:txBody>
                        <a:bodyPr/>
                        <a:lstStyle/>
                        <a:p>
                          <a:pPr algn="ctr"/>
                          <a:r>
                            <a:rPr lang="en-IN" b="1" dirty="0"/>
                            <a:t>Q0</a:t>
                          </a:r>
                        </a:p>
                      </a:txBody>
                      <a:tcPr marL="121706" marR="121706"/>
                    </a:tc>
                    <a:tc>
                      <a:txBody>
                        <a:bodyPr/>
                        <a:lstStyle/>
                        <a:p>
                          <a:pPr algn="ctr"/>
                          <a:r>
                            <a:rPr lang="en-IN" b="1" dirty="0"/>
                            <a:t>X</a:t>
                          </a:r>
                        </a:p>
                      </a:txBody>
                      <a:tcPr marL="121706" marR="121706"/>
                    </a:tc>
                    <a:tc>
                      <a:txBody>
                        <a:bodyPr/>
                        <a:lstStyle/>
                        <a:p>
                          <a:pPr algn="ctr"/>
                          <a14:m>
                            <m:oMathPara xmlns:m="http://schemas.openxmlformats.org/officeDocument/2006/math">
                              <m:oMathParaPr>
                                <m:jc m:val="centerGroup"/>
                              </m:oMathParaPr>
                              <m:oMath xmlns:m="http://schemas.openxmlformats.org/officeDocument/2006/math">
                                <m:sSup>
                                  <m:sSupPr>
                                    <m:ctrlPr>
                                      <a:rPr lang="en-IN" sz="1800" b="1" i="1" smtClean="0">
                                        <a:latin typeface="Cambria Math" panose="02040503050406030204" pitchFamily="18" charset="0"/>
                                      </a:rPr>
                                    </m:ctrlPr>
                                  </m:sSupPr>
                                  <m:e>
                                    <m:r>
                                      <a:rPr lang="en-IN" sz="1800" b="1" i="1" smtClean="0">
                                        <a:latin typeface="Cambria Math" panose="02040503050406030204" pitchFamily="18" charset="0"/>
                                      </a:rPr>
                                      <m:t>𝑸</m:t>
                                    </m:r>
                                    <m:r>
                                      <a:rPr lang="en-IN" sz="1800" b="1" i="1" smtClean="0">
                                        <a:latin typeface="Cambria Math" panose="02040503050406030204" pitchFamily="18" charset="0"/>
                                      </a:rPr>
                                      <m:t>𝟏</m:t>
                                    </m:r>
                                  </m:e>
                                  <m:sup>
                                    <m:r>
                                      <a:rPr lang="en-IN" sz="1800" b="1" i="1" smtClean="0">
                                        <a:latin typeface="Cambria Math" panose="02040503050406030204" pitchFamily="18" charset="0"/>
                                      </a:rPr>
                                      <m:t>+</m:t>
                                    </m:r>
                                  </m:sup>
                                </m:sSup>
                              </m:oMath>
                            </m:oMathPara>
                          </a14:m>
                          <a:endParaRPr lang="en-IN" b="1" dirty="0"/>
                        </a:p>
                      </a:txBody>
                      <a:tcPr marL="121706" marR="121706"/>
                    </a:tc>
                    <a:tc>
                      <a:txBody>
                        <a:bodyPr/>
                        <a:lstStyle/>
                        <a:p>
                          <a:pPr algn="ctr"/>
                          <a14:m>
                            <m:oMathPara xmlns:m="http://schemas.openxmlformats.org/officeDocument/2006/math">
                              <m:oMathParaPr>
                                <m:jc m:val="centerGroup"/>
                              </m:oMathParaPr>
                              <m:oMath xmlns:m="http://schemas.openxmlformats.org/officeDocument/2006/math">
                                <m:sSup>
                                  <m:sSupPr>
                                    <m:ctrlPr>
                                      <a:rPr lang="en-IN" sz="2000" b="1" i="1" smtClean="0">
                                        <a:latin typeface="Cambria Math" panose="02040503050406030204" pitchFamily="18" charset="0"/>
                                      </a:rPr>
                                    </m:ctrlPr>
                                  </m:sSupPr>
                                  <m:e>
                                    <m:r>
                                      <a:rPr lang="en-IN" sz="2000" b="1" i="1" smtClean="0">
                                        <a:latin typeface="Cambria Math" panose="02040503050406030204" pitchFamily="18" charset="0"/>
                                      </a:rPr>
                                      <m:t>𝑸</m:t>
                                    </m:r>
                                    <m:r>
                                      <a:rPr lang="en-IN" sz="2000" b="1" i="1" smtClean="0">
                                        <a:latin typeface="Cambria Math" panose="02040503050406030204" pitchFamily="18" charset="0"/>
                                      </a:rPr>
                                      <m:t>𝟎</m:t>
                                    </m:r>
                                  </m:e>
                                  <m:sup>
                                    <m:r>
                                      <a:rPr lang="en-IN" sz="2000" b="1" i="1" smtClean="0">
                                        <a:latin typeface="Cambria Math" panose="02040503050406030204" pitchFamily="18" charset="0"/>
                                      </a:rPr>
                                      <m:t>+</m:t>
                                    </m:r>
                                  </m:sup>
                                </m:sSup>
                              </m:oMath>
                            </m:oMathPara>
                          </a14:m>
                          <a:endParaRPr lang="en-IN" sz="2000" b="1" dirty="0"/>
                        </a:p>
                      </a:txBody>
                      <a:tcPr marL="121706" marR="121706"/>
                    </a:tc>
                    <a:tc>
                      <a:txBody>
                        <a:bodyPr/>
                        <a:lstStyle/>
                        <a:p>
                          <a:pPr algn="ctr"/>
                          <a:r>
                            <a:rPr lang="en-IN" b="1" dirty="0"/>
                            <a:t>Z</a:t>
                          </a:r>
                        </a:p>
                      </a:txBody>
                      <a:tcPr marL="121706" marR="121706"/>
                    </a:tc>
                    <a:tc>
                      <a:txBody>
                        <a:bodyPr/>
                        <a:lstStyle/>
                        <a:p>
                          <a:pPr algn="ctr"/>
                          <a:r>
                            <a:rPr lang="en-IN" b="1" dirty="0"/>
                            <a:t>D1</a:t>
                          </a:r>
                        </a:p>
                      </a:txBody>
                      <a:tcPr marL="121706" marR="121706"/>
                    </a:tc>
                    <a:tc>
                      <a:txBody>
                        <a:bodyPr/>
                        <a:lstStyle/>
                        <a:p>
                          <a:pPr algn="ctr"/>
                          <a:r>
                            <a:rPr lang="en-IN" b="1" dirty="0"/>
                            <a:t>D0</a:t>
                          </a:r>
                        </a:p>
                      </a:txBody>
                      <a:tcPr marL="121706" marR="121706"/>
                    </a:tc>
                    <a:extLst>
                      <a:ext uri="{0D108BD9-81ED-4DB2-BD59-A6C34878D82A}">
                        <a16:rowId xmlns:a16="http://schemas.microsoft.com/office/drawing/2014/main" val="3367109654"/>
                      </a:ext>
                    </a:extLst>
                  </a:tr>
                  <a:tr h="304299">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783127527"/>
                      </a:ext>
                    </a:extLst>
                  </a:tr>
                  <a:tr h="304299">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361314861"/>
                      </a:ext>
                    </a:extLst>
                  </a:tr>
                  <a:tr h="304299">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2728514999"/>
                      </a:ext>
                    </a:extLst>
                  </a:tr>
                  <a:tr h="304299">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004251963"/>
                      </a:ext>
                    </a:extLst>
                  </a:tr>
                  <a:tr h="304299">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3965152139"/>
                      </a:ext>
                    </a:extLst>
                  </a:tr>
                  <a:tr h="304299">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003450018"/>
                      </a:ext>
                    </a:extLst>
                  </a:tr>
                  <a:tr h="304299">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1260673516"/>
                      </a:ext>
                    </a:extLst>
                  </a:tr>
                  <a:tr h="304299">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595015600"/>
                      </a:ext>
                    </a:extLst>
                  </a:tr>
                </a:tbl>
              </a:graphicData>
            </a:graphic>
          </p:graphicFrame>
        </mc:Choice>
        <mc:Fallback xmlns="">
          <p:graphicFrame>
            <p:nvGraphicFramePr>
              <p:cNvPr id="3" name="Table 2">
                <a:extLst>
                  <a:ext uri="{FF2B5EF4-FFF2-40B4-BE49-F238E27FC236}">
                    <a16:creationId xmlns:a16="http://schemas.microsoft.com/office/drawing/2014/main" id="{E1872AD0-CFE1-2807-A564-88D0306C5226}"/>
                  </a:ext>
                </a:extLst>
              </p:cNvPr>
              <p:cNvGraphicFramePr>
                <a:graphicFrameLocks noGrp="1"/>
              </p:cNvGraphicFramePr>
              <p:nvPr>
                <p:extLst>
                  <p:ext uri="{D42A27DB-BD31-4B8C-83A1-F6EECF244321}">
                    <p14:modId xmlns:p14="http://schemas.microsoft.com/office/powerpoint/2010/main" val="3667067129"/>
                  </p:ext>
                </p:extLst>
              </p:nvPr>
            </p:nvGraphicFramePr>
            <p:xfrm>
              <a:off x="686813" y="982102"/>
              <a:ext cx="10818376" cy="3688080"/>
            </p:xfrm>
            <a:graphic>
              <a:graphicData uri="http://schemas.openxmlformats.org/drawingml/2006/table">
                <a:tbl>
                  <a:tblPr firstRow="1" bandRow="1">
                    <a:tableStyleId>{5940675A-B579-460E-94D1-54222C63F5DA}</a:tableStyleId>
                  </a:tblPr>
                  <a:tblGrid>
                    <a:gridCol w="1352297">
                      <a:extLst>
                        <a:ext uri="{9D8B030D-6E8A-4147-A177-3AD203B41FA5}">
                          <a16:colId xmlns:a16="http://schemas.microsoft.com/office/drawing/2014/main" val="3437135134"/>
                        </a:ext>
                      </a:extLst>
                    </a:gridCol>
                    <a:gridCol w="1352297">
                      <a:extLst>
                        <a:ext uri="{9D8B030D-6E8A-4147-A177-3AD203B41FA5}">
                          <a16:colId xmlns:a16="http://schemas.microsoft.com/office/drawing/2014/main" val="2933985549"/>
                        </a:ext>
                      </a:extLst>
                    </a:gridCol>
                    <a:gridCol w="1352297">
                      <a:extLst>
                        <a:ext uri="{9D8B030D-6E8A-4147-A177-3AD203B41FA5}">
                          <a16:colId xmlns:a16="http://schemas.microsoft.com/office/drawing/2014/main" val="1762740387"/>
                        </a:ext>
                      </a:extLst>
                    </a:gridCol>
                    <a:gridCol w="1352297">
                      <a:extLst>
                        <a:ext uri="{9D8B030D-6E8A-4147-A177-3AD203B41FA5}">
                          <a16:colId xmlns:a16="http://schemas.microsoft.com/office/drawing/2014/main" val="2234014298"/>
                        </a:ext>
                      </a:extLst>
                    </a:gridCol>
                    <a:gridCol w="1352297">
                      <a:extLst>
                        <a:ext uri="{9D8B030D-6E8A-4147-A177-3AD203B41FA5}">
                          <a16:colId xmlns:a16="http://schemas.microsoft.com/office/drawing/2014/main" val="3859240692"/>
                        </a:ext>
                      </a:extLst>
                    </a:gridCol>
                    <a:gridCol w="1352297">
                      <a:extLst>
                        <a:ext uri="{9D8B030D-6E8A-4147-A177-3AD203B41FA5}">
                          <a16:colId xmlns:a16="http://schemas.microsoft.com/office/drawing/2014/main" val="2397332516"/>
                        </a:ext>
                      </a:extLst>
                    </a:gridCol>
                    <a:gridCol w="1352297">
                      <a:extLst>
                        <a:ext uri="{9D8B030D-6E8A-4147-A177-3AD203B41FA5}">
                          <a16:colId xmlns:a16="http://schemas.microsoft.com/office/drawing/2014/main" val="674611442"/>
                        </a:ext>
                      </a:extLst>
                    </a:gridCol>
                    <a:gridCol w="1352297">
                      <a:extLst>
                        <a:ext uri="{9D8B030D-6E8A-4147-A177-3AD203B41FA5}">
                          <a16:colId xmlns:a16="http://schemas.microsoft.com/office/drawing/2014/main" val="17687657"/>
                        </a:ext>
                      </a:extLst>
                    </a:gridCol>
                  </a:tblGrid>
                  <a:tr h="365760">
                    <a:tc gridSpan="2">
                      <a:txBody>
                        <a:bodyPr/>
                        <a:lstStyle/>
                        <a:p>
                          <a:pPr algn="ctr"/>
                          <a:r>
                            <a:rPr lang="en-IN" dirty="0"/>
                            <a:t>Present State</a:t>
                          </a:r>
                        </a:p>
                      </a:txBody>
                      <a:tcPr marL="121706" marR="121706"/>
                    </a:tc>
                    <a:tc hMerge="1">
                      <a:txBody>
                        <a:bodyPr/>
                        <a:lstStyle/>
                        <a:p>
                          <a:endParaRPr lang="en-IN" dirty="0"/>
                        </a:p>
                      </a:txBody>
                      <a:tcPr marL="121706" marR="121706"/>
                    </a:tc>
                    <a:tc>
                      <a:txBody>
                        <a:bodyPr/>
                        <a:lstStyle/>
                        <a:p>
                          <a:pPr algn="ctr"/>
                          <a:r>
                            <a:rPr lang="en-IN" dirty="0"/>
                            <a:t>Input</a:t>
                          </a:r>
                        </a:p>
                      </a:txBody>
                      <a:tcPr marL="121706" marR="121706"/>
                    </a:tc>
                    <a:tc gridSpan="2">
                      <a:txBody>
                        <a:bodyPr/>
                        <a:lstStyle/>
                        <a:p>
                          <a:pPr algn="ctr"/>
                          <a:r>
                            <a:rPr lang="en-IN" dirty="0"/>
                            <a:t>Next State</a:t>
                          </a:r>
                        </a:p>
                      </a:txBody>
                      <a:tcPr marL="121706" marR="121706"/>
                    </a:tc>
                    <a:tc hMerge="1">
                      <a:txBody>
                        <a:bodyPr/>
                        <a:lstStyle/>
                        <a:p>
                          <a:endParaRPr lang="en-IN" dirty="0"/>
                        </a:p>
                      </a:txBody>
                      <a:tcPr marL="121706" marR="121706"/>
                    </a:tc>
                    <a:tc>
                      <a:txBody>
                        <a:bodyPr/>
                        <a:lstStyle/>
                        <a:p>
                          <a:pPr algn="ctr"/>
                          <a:r>
                            <a:rPr lang="en-IN" dirty="0"/>
                            <a:t>Output</a:t>
                          </a:r>
                        </a:p>
                      </a:txBody>
                      <a:tcPr marL="121706" marR="121706"/>
                    </a:tc>
                    <a:tc gridSpan="2">
                      <a:txBody>
                        <a:bodyPr/>
                        <a:lstStyle/>
                        <a:p>
                          <a:pPr algn="ctr"/>
                          <a:r>
                            <a:rPr lang="en-IN" dirty="0"/>
                            <a:t>Flip-Flop Inputs</a:t>
                          </a:r>
                        </a:p>
                      </a:txBody>
                      <a:tcPr marL="121706" marR="121706"/>
                    </a:tc>
                    <a:tc hMerge="1">
                      <a:txBody>
                        <a:bodyPr/>
                        <a:lstStyle/>
                        <a:p>
                          <a:pPr algn="ctr"/>
                          <a:endParaRPr lang="en-IN" dirty="0"/>
                        </a:p>
                      </a:txBody>
                      <a:tcPr marL="121706" marR="121706"/>
                    </a:tc>
                    <a:extLst>
                      <a:ext uri="{0D108BD9-81ED-4DB2-BD59-A6C34878D82A}">
                        <a16:rowId xmlns:a16="http://schemas.microsoft.com/office/drawing/2014/main" val="2878732794"/>
                      </a:ext>
                    </a:extLst>
                  </a:tr>
                  <a:tr h="396240">
                    <a:tc>
                      <a:txBody>
                        <a:bodyPr/>
                        <a:lstStyle/>
                        <a:p>
                          <a:pPr algn="ctr"/>
                          <a:r>
                            <a:rPr lang="en-IN" b="1" dirty="0"/>
                            <a:t>Q1</a:t>
                          </a:r>
                        </a:p>
                      </a:txBody>
                      <a:tcPr marL="121706" marR="121706"/>
                    </a:tc>
                    <a:tc>
                      <a:txBody>
                        <a:bodyPr/>
                        <a:lstStyle/>
                        <a:p>
                          <a:pPr algn="ctr"/>
                          <a:r>
                            <a:rPr lang="en-IN" b="1" dirty="0"/>
                            <a:t>Q0</a:t>
                          </a:r>
                        </a:p>
                      </a:txBody>
                      <a:tcPr marL="121706" marR="121706"/>
                    </a:tc>
                    <a:tc>
                      <a:txBody>
                        <a:bodyPr/>
                        <a:lstStyle/>
                        <a:p>
                          <a:pPr algn="ctr"/>
                          <a:r>
                            <a:rPr lang="en-IN" b="1" dirty="0"/>
                            <a:t>X</a:t>
                          </a:r>
                        </a:p>
                      </a:txBody>
                      <a:tcPr marL="121706" marR="121706"/>
                    </a:tc>
                    <a:tc>
                      <a:txBody>
                        <a:bodyPr/>
                        <a:lstStyle/>
                        <a:p>
                          <a:endParaRPr lang="en-US"/>
                        </a:p>
                      </a:txBody>
                      <a:tcPr marL="121706" marR="121706">
                        <a:blipFill>
                          <a:blip r:embed="rId2"/>
                          <a:stretch>
                            <a:fillRect l="-300450" t="-100000" r="-400901" b="-763077"/>
                          </a:stretch>
                        </a:blipFill>
                      </a:tcPr>
                    </a:tc>
                    <a:tc>
                      <a:txBody>
                        <a:bodyPr/>
                        <a:lstStyle/>
                        <a:p>
                          <a:endParaRPr lang="en-US"/>
                        </a:p>
                      </a:txBody>
                      <a:tcPr marL="121706" marR="121706">
                        <a:blipFill>
                          <a:blip r:embed="rId2"/>
                          <a:stretch>
                            <a:fillRect l="-400450" t="-100000" r="-300901" b="-763077"/>
                          </a:stretch>
                        </a:blipFill>
                      </a:tcPr>
                    </a:tc>
                    <a:tc>
                      <a:txBody>
                        <a:bodyPr/>
                        <a:lstStyle/>
                        <a:p>
                          <a:pPr algn="ctr"/>
                          <a:r>
                            <a:rPr lang="en-IN" b="1" dirty="0"/>
                            <a:t>Z</a:t>
                          </a:r>
                        </a:p>
                      </a:txBody>
                      <a:tcPr marL="121706" marR="121706"/>
                    </a:tc>
                    <a:tc>
                      <a:txBody>
                        <a:bodyPr/>
                        <a:lstStyle/>
                        <a:p>
                          <a:pPr algn="ctr"/>
                          <a:r>
                            <a:rPr lang="en-IN" b="1" dirty="0"/>
                            <a:t>D1</a:t>
                          </a:r>
                        </a:p>
                      </a:txBody>
                      <a:tcPr marL="121706" marR="121706"/>
                    </a:tc>
                    <a:tc>
                      <a:txBody>
                        <a:bodyPr/>
                        <a:lstStyle/>
                        <a:p>
                          <a:pPr algn="ctr"/>
                          <a:r>
                            <a:rPr lang="en-IN" b="1" dirty="0"/>
                            <a:t>D0</a:t>
                          </a:r>
                        </a:p>
                      </a:txBody>
                      <a:tcPr marL="121706" marR="121706"/>
                    </a:tc>
                    <a:extLst>
                      <a:ext uri="{0D108BD9-81ED-4DB2-BD59-A6C34878D82A}">
                        <a16:rowId xmlns:a16="http://schemas.microsoft.com/office/drawing/2014/main" val="3367109654"/>
                      </a:ext>
                    </a:extLst>
                  </a:tr>
                  <a:tr h="36576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783127527"/>
                      </a:ext>
                    </a:extLst>
                  </a:tr>
                  <a:tr h="365760">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361314861"/>
                      </a:ext>
                    </a:extLst>
                  </a:tr>
                  <a:tr h="36576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2728514999"/>
                      </a:ext>
                    </a:extLst>
                  </a:tr>
                  <a:tr h="365760">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1004251963"/>
                      </a:ext>
                    </a:extLst>
                  </a:tr>
                  <a:tr h="36576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3965152139"/>
                      </a:ext>
                    </a:extLst>
                  </a:tr>
                  <a:tr h="365760">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003450018"/>
                      </a:ext>
                    </a:extLst>
                  </a:tr>
                  <a:tr h="36576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extLst>
                      <a:ext uri="{0D108BD9-81ED-4DB2-BD59-A6C34878D82A}">
                        <a16:rowId xmlns:a16="http://schemas.microsoft.com/office/drawing/2014/main" val="1260673516"/>
                      </a:ext>
                    </a:extLst>
                  </a:tr>
                  <a:tr h="365760">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tc>
                      <a:txBody>
                        <a:bodyPr/>
                        <a:lstStyle/>
                        <a:p>
                          <a:pPr algn="ctr"/>
                          <a:r>
                            <a:rPr lang="en-IN" dirty="0"/>
                            <a:t>1</a:t>
                          </a:r>
                        </a:p>
                      </a:txBody>
                      <a:tcPr marL="121706" marR="121706"/>
                    </a:tc>
                    <a:tc>
                      <a:txBody>
                        <a:bodyPr/>
                        <a:lstStyle/>
                        <a:p>
                          <a:pPr algn="ctr"/>
                          <a:r>
                            <a:rPr lang="en-IN" dirty="0"/>
                            <a:t>0</a:t>
                          </a:r>
                        </a:p>
                      </a:txBody>
                      <a:tcPr marL="121706" marR="121706"/>
                    </a:tc>
                    <a:tc>
                      <a:txBody>
                        <a:bodyPr/>
                        <a:lstStyle/>
                        <a:p>
                          <a:pPr algn="ctr"/>
                          <a:r>
                            <a:rPr lang="en-IN" dirty="0"/>
                            <a:t>1</a:t>
                          </a:r>
                        </a:p>
                      </a:txBody>
                      <a:tcPr marL="121706" marR="121706"/>
                    </a:tc>
                    <a:extLst>
                      <a:ext uri="{0D108BD9-81ED-4DB2-BD59-A6C34878D82A}">
                        <a16:rowId xmlns:a16="http://schemas.microsoft.com/office/drawing/2014/main" val="2595015600"/>
                      </a:ext>
                    </a:extLst>
                  </a:tr>
                </a:tbl>
              </a:graphicData>
            </a:graphic>
          </p:graphicFrame>
        </mc:Fallback>
      </mc:AlternateContent>
      <p:graphicFrame>
        <p:nvGraphicFramePr>
          <p:cNvPr id="4" name="Table 3">
            <a:extLst>
              <a:ext uri="{FF2B5EF4-FFF2-40B4-BE49-F238E27FC236}">
                <a16:creationId xmlns:a16="http://schemas.microsoft.com/office/drawing/2014/main" id="{9F9CCC5C-F245-EFB7-9CD3-34854723D5DF}"/>
              </a:ext>
            </a:extLst>
          </p:cNvPr>
          <p:cNvGraphicFramePr>
            <a:graphicFrameLocks noGrp="1"/>
          </p:cNvGraphicFramePr>
          <p:nvPr>
            <p:extLst>
              <p:ext uri="{D42A27DB-BD31-4B8C-83A1-F6EECF244321}">
                <p14:modId xmlns:p14="http://schemas.microsoft.com/office/powerpoint/2010/main" val="2761330874"/>
              </p:ext>
            </p:extLst>
          </p:nvPr>
        </p:nvGraphicFramePr>
        <p:xfrm>
          <a:off x="1665608" y="5489405"/>
          <a:ext cx="3086696" cy="741680"/>
        </p:xfrm>
        <a:graphic>
          <a:graphicData uri="http://schemas.openxmlformats.org/drawingml/2006/table">
            <a:tbl>
              <a:tblPr firstRow="1" bandRow="1">
                <a:tableStyleId>{5940675A-B579-460E-94D1-54222C63F5DA}</a:tableStyleId>
              </a:tblPr>
              <a:tblGrid>
                <a:gridCol w="771674">
                  <a:extLst>
                    <a:ext uri="{9D8B030D-6E8A-4147-A177-3AD203B41FA5}">
                      <a16:colId xmlns:a16="http://schemas.microsoft.com/office/drawing/2014/main" val="2883689593"/>
                    </a:ext>
                  </a:extLst>
                </a:gridCol>
                <a:gridCol w="771674">
                  <a:extLst>
                    <a:ext uri="{9D8B030D-6E8A-4147-A177-3AD203B41FA5}">
                      <a16:colId xmlns:a16="http://schemas.microsoft.com/office/drawing/2014/main" val="2298902156"/>
                    </a:ext>
                  </a:extLst>
                </a:gridCol>
                <a:gridCol w="771674">
                  <a:extLst>
                    <a:ext uri="{9D8B030D-6E8A-4147-A177-3AD203B41FA5}">
                      <a16:colId xmlns:a16="http://schemas.microsoft.com/office/drawing/2014/main" val="2269983470"/>
                    </a:ext>
                  </a:extLst>
                </a:gridCol>
                <a:gridCol w="771674">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884910185"/>
                  </a:ext>
                </a:extLst>
              </a:tr>
            </a:tbl>
          </a:graphicData>
        </a:graphic>
      </p:graphicFrame>
      <p:graphicFrame>
        <p:nvGraphicFramePr>
          <p:cNvPr id="5" name="Table 4">
            <a:extLst>
              <a:ext uri="{FF2B5EF4-FFF2-40B4-BE49-F238E27FC236}">
                <a16:creationId xmlns:a16="http://schemas.microsoft.com/office/drawing/2014/main" id="{349F8CA1-B786-9374-67FF-D2C18E90BDC6}"/>
              </a:ext>
            </a:extLst>
          </p:cNvPr>
          <p:cNvGraphicFramePr>
            <a:graphicFrameLocks noGrp="1"/>
          </p:cNvGraphicFramePr>
          <p:nvPr>
            <p:extLst>
              <p:ext uri="{D42A27DB-BD31-4B8C-83A1-F6EECF244321}">
                <p14:modId xmlns:p14="http://schemas.microsoft.com/office/powerpoint/2010/main" val="3108062986"/>
              </p:ext>
            </p:extLst>
          </p:nvPr>
        </p:nvGraphicFramePr>
        <p:xfrm>
          <a:off x="7846932" y="5417830"/>
          <a:ext cx="3086696" cy="741680"/>
        </p:xfrm>
        <a:graphic>
          <a:graphicData uri="http://schemas.openxmlformats.org/drawingml/2006/table">
            <a:tbl>
              <a:tblPr firstRow="1" bandRow="1">
                <a:tableStyleId>{5940675A-B579-460E-94D1-54222C63F5DA}</a:tableStyleId>
              </a:tblPr>
              <a:tblGrid>
                <a:gridCol w="771674">
                  <a:extLst>
                    <a:ext uri="{9D8B030D-6E8A-4147-A177-3AD203B41FA5}">
                      <a16:colId xmlns:a16="http://schemas.microsoft.com/office/drawing/2014/main" val="2883689593"/>
                    </a:ext>
                  </a:extLst>
                </a:gridCol>
                <a:gridCol w="771674">
                  <a:extLst>
                    <a:ext uri="{9D8B030D-6E8A-4147-A177-3AD203B41FA5}">
                      <a16:colId xmlns:a16="http://schemas.microsoft.com/office/drawing/2014/main" val="2298902156"/>
                    </a:ext>
                  </a:extLst>
                </a:gridCol>
                <a:gridCol w="771674">
                  <a:extLst>
                    <a:ext uri="{9D8B030D-6E8A-4147-A177-3AD203B41FA5}">
                      <a16:colId xmlns:a16="http://schemas.microsoft.com/office/drawing/2014/main" val="2269983470"/>
                    </a:ext>
                  </a:extLst>
                </a:gridCol>
                <a:gridCol w="771674">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884910185"/>
                  </a:ext>
                </a:extLst>
              </a:tr>
            </a:tbl>
          </a:graphicData>
        </a:graphic>
      </p:graphicFrame>
      <p:sp>
        <p:nvSpPr>
          <p:cNvPr id="6" name="TextBox 5">
            <a:extLst>
              <a:ext uri="{FF2B5EF4-FFF2-40B4-BE49-F238E27FC236}">
                <a16:creationId xmlns:a16="http://schemas.microsoft.com/office/drawing/2014/main" id="{E8E3FFF7-2C2D-26B2-695F-5D7158E0F648}"/>
              </a:ext>
            </a:extLst>
          </p:cNvPr>
          <p:cNvSpPr txBox="1"/>
          <p:nvPr/>
        </p:nvSpPr>
        <p:spPr>
          <a:xfrm>
            <a:off x="7822107" y="5062646"/>
            <a:ext cx="3086696" cy="369332"/>
          </a:xfrm>
          <a:prstGeom prst="rect">
            <a:avLst/>
          </a:prstGeom>
          <a:noFill/>
        </p:spPr>
        <p:txBody>
          <a:bodyPr wrap="square" rtlCol="0">
            <a:spAutoFit/>
          </a:bodyPr>
          <a:lstStyle/>
          <a:p>
            <a:r>
              <a:rPr lang="en-IN" dirty="0"/>
              <a:t>    00          01          11          10</a:t>
            </a:r>
          </a:p>
        </p:txBody>
      </p:sp>
      <p:sp>
        <p:nvSpPr>
          <p:cNvPr id="8" name="TextBox 7">
            <a:extLst>
              <a:ext uri="{FF2B5EF4-FFF2-40B4-BE49-F238E27FC236}">
                <a16:creationId xmlns:a16="http://schemas.microsoft.com/office/drawing/2014/main" id="{873D6D5E-5968-6915-3BB0-CB5190D4C76A}"/>
              </a:ext>
            </a:extLst>
          </p:cNvPr>
          <p:cNvSpPr txBox="1"/>
          <p:nvPr/>
        </p:nvSpPr>
        <p:spPr>
          <a:xfrm>
            <a:off x="7528197" y="5390872"/>
            <a:ext cx="352736"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9" name="TextBox 8">
            <a:extLst>
              <a:ext uri="{FF2B5EF4-FFF2-40B4-BE49-F238E27FC236}">
                <a16:creationId xmlns:a16="http://schemas.microsoft.com/office/drawing/2014/main" id="{A1D685F6-DD76-79AF-6D20-15035CB030DA}"/>
              </a:ext>
            </a:extLst>
          </p:cNvPr>
          <p:cNvSpPr txBox="1"/>
          <p:nvPr/>
        </p:nvSpPr>
        <p:spPr>
          <a:xfrm>
            <a:off x="1369878" y="5451119"/>
            <a:ext cx="374021"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10" name="TextBox 9">
            <a:extLst>
              <a:ext uri="{FF2B5EF4-FFF2-40B4-BE49-F238E27FC236}">
                <a16:creationId xmlns:a16="http://schemas.microsoft.com/office/drawing/2014/main" id="{19DF6DF0-17AF-1A4F-AA8A-E43F53F46BBC}"/>
              </a:ext>
            </a:extLst>
          </p:cNvPr>
          <p:cNvSpPr txBox="1"/>
          <p:nvPr/>
        </p:nvSpPr>
        <p:spPr>
          <a:xfrm>
            <a:off x="1682810" y="5120073"/>
            <a:ext cx="3086696" cy="369332"/>
          </a:xfrm>
          <a:prstGeom prst="rect">
            <a:avLst/>
          </a:prstGeom>
          <a:noFill/>
        </p:spPr>
        <p:txBody>
          <a:bodyPr wrap="square" rtlCol="0">
            <a:spAutoFit/>
          </a:bodyPr>
          <a:lstStyle/>
          <a:p>
            <a:r>
              <a:rPr lang="en-IN" dirty="0"/>
              <a:t>    00          01          11          10</a:t>
            </a:r>
          </a:p>
        </p:txBody>
      </p:sp>
      <p:sp>
        <p:nvSpPr>
          <p:cNvPr id="11" name="TextBox 10">
            <a:extLst>
              <a:ext uri="{FF2B5EF4-FFF2-40B4-BE49-F238E27FC236}">
                <a16:creationId xmlns:a16="http://schemas.microsoft.com/office/drawing/2014/main" id="{F6FACA7A-5569-7421-16A9-ED8767229D86}"/>
              </a:ext>
            </a:extLst>
          </p:cNvPr>
          <p:cNvSpPr txBox="1"/>
          <p:nvPr/>
        </p:nvSpPr>
        <p:spPr>
          <a:xfrm>
            <a:off x="6717500" y="4859743"/>
            <a:ext cx="444321" cy="369332"/>
          </a:xfrm>
          <a:prstGeom prst="rect">
            <a:avLst/>
          </a:prstGeom>
          <a:noFill/>
        </p:spPr>
        <p:txBody>
          <a:bodyPr wrap="square" rtlCol="0">
            <a:spAutoFit/>
          </a:bodyPr>
          <a:lstStyle/>
          <a:p>
            <a:r>
              <a:rPr lang="en-IN" dirty="0"/>
              <a:t>D0</a:t>
            </a:r>
          </a:p>
        </p:txBody>
      </p:sp>
      <p:sp>
        <p:nvSpPr>
          <p:cNvPr id="12" name="TextBox 11">
            <a:extLst>
              <a:ext uri="{FF2B5EF4-FFF2-40B4-BE49-F238E27FC236}">
                <a16:creationId xmlns:a16="http://schemas.microsoft.com/office/drawing/2014/main" id="{F92737E2-C038-4EE5-7A9E-E51F39F1B98A}"/>
              </a:ext>
            </a:extLst>
          </p:cNvPr>
          <p:cNvSpPr txBox="1"/>
          <p:nvPr/>
        </p:nvSpPr>
        <p:spPr>
          <a:xfrm>
            <a:off x="653563" y="4859495"/>
            <a:ext cx="444321" cy="369332"/>
          </a:xfrm>
          <a:prstGeom prst="rect">
            <a:avLst/>
          </a:prstGeom>
          <a:noFill/>
        </p:spPr>
        <p:txBody>
          <a:bodyPr wrap="square" rtlCol="0">
            <a:spAutoFit/>
          </a:bodyPr>
          <a:lstStyle/>
          <a:p>
            <a:r>
              <a:rPr lang="en-IN" dirty="0"/>
              <a:t>D1</a:t>
            </a:r>
          </a:p>
        </p:txBody>
      </p:sp>
      <p:cxnSp>
        <p:nvCxnSpPr>
          <p:cNvPr id="15" name="Straight Connector 14">
            <a:extLst>
              <a:ext uri="{FF2B5EF4-FFF2-40B4-BE49-F238E27FC236}">
                <a16:creationId xmlns:a16="http://schemas.microsoft.com/office/drawing/2014/main" id="{95005E6C-8BC0-A9AA-0D7D-7BEC556829C3}"/>
              </a:ext>
            </a:extLst>
          </p:cNvPr>
          <p:cNvCxnSpPr>
            <a:cxnSpLocks/>
          </p:cNvCxnSpPr>
          <p:nvPr/>
        </p:nvCxnSpPr>
        <p:spPr>
          <a:xfrm flipH="1" flipV="1">
            <a:off x="7161821" y="5027334"/>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41807DE0-12A5-C283-ACCB-255EACE4FF71}"/>
              </a:ext>
            </a:extLst>
          </p:cNvPr>
          <p:cNvSpPr txBox="1"/>
          <p:nvPr/>
        </p:nvSpPr>
        <p:spPr>
          <a:xfrm>
            <a:off x="7121499" y="5190790"/>
            <a:ext cx="518379" cy="369332"/>
          </a:xfrm>
          <a:prstGeom prst="rect">
            <a:avLst/>
          </a:prstGeom>
          <a:noFill/>
        </p:spPr>
        <p:txBody>
          <a:bodyPr wrap="square" rtlCol="0">
            <a:spAutoFit/>
          </a:bodyPr>
          <a:lstStyle/>
          <a:p>
            <a:r>
              <a:rPr lang="en-IN" dirty="0"/>
              <a:t>Q1</a:t>
            </a:r>
          </a:p>
        </p:txBody>
      </p:sp>
      <p:sp>
        <p:nvSpPr>
          <p:cNvPr id="20" name="TextBox 19">
            <a:extLst>
              <a:ext uri="{FF2B5EF4-FFF2-40B4-BE49-F238E27FC236}">
                <a16:creationId xmlns:a16="http://schemas.microsoft.com/office/drawing/2014/main" id="{F04EDA67-7A0C-05AD-AAE1-7F9A1F4FFA47}"/>
              </a:ext>
            </a:extLst>
          </p:cNvPr>
          <p:cNvSpPr txBox="1"/>
          <p:nvPr/>
        </p:nvSpPr>
        <p:spPr>
          <a:xfrm>
            <a:off x="851499" y="5233164"/>
            <a:ext cx="518379" cy="369332"/>
          </a:xfrm>
          <a:prstGeom prst="rect">
            <a:avLst/>
          </a:prstGeom>
          <a:noFill/>
        </p:spPr>
        <p:txBody>
          <a:bodyPr wrap="square" rtlCol="0">
            <a:spAutoFit/>
          </a:bodyPr>
          <a:lstStyle/>
          <a:p>
            <a:r>
              <a:rPr lang="en-IN" dirty="0"/>
              <a:t>Q1</a:t>
            </a:r>
          </a:p>
        </p:txBody>
      </p:sp>
      <p:cxnSp>
        <p:nvCxnSpPr>
          <p:cNvPr id="25" name="Straight Connector 24">
            <a:extLst>
              <a:ext uri="{FF2B5EF4-FFF2-40B4-BE49-F238E27FC236}">
                <a16:creationId xmlns:a16="http://schemas.microsoft.com/office/drawing/2014/main" id="{6739A45D-2B4D-2196-206A-3B4A536428A8}"/>
              </a:ext>
            </a:extLst>
          </p:cNvPr>
          <p:cNvCxnSpPr>
            <a:cxnSpLocks/>
          </p:cNvCxnSpPr>
          <p:nvPr/>
        </p:nvCxnSpPr>
        <p:spPr>
          <a:xfrm flipH="1" flipV="1">
            <a:off x="999367" y="5093803"/>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C56766A3-2D9B-3994-B705-03A6C43C8E02}"/>
              </a:ext>
            </a:extLst>
          </p:cNvPr>
          <p:cNvSpPr txBox="1"/>
          <p:nvPr/>
        </p:nvSpPr>
        <p:spPr>
          <a:xfrm>
            <a:off x="7269912" y="4833474"/>
            <a:ext cx="651078" cy="369332"/>
          </a:xfrm>
          <a:prstGeom prst="rect">
            <a:avLst/>
          </a:prstGeom>
          <a:noFill/>
        </p:spPr>
        <p:txBody>
          <a:bodyPr wrap="square" rtlCol="0">
            <a:spAutoFit/>
          </a:bodyPr>
          <a:lstStyle/>
          <a:p>
            <a:r>
              <a:rPr lang="en-IN" dirty="0"/>
              <a:t>Q0 X</a:t>
            </a:r>
          </a:p>
        </p:txBody>
      </p:sp>
      <p:sp>
        <p:nvSpPr>
          <p:cNvPr id="27" name="TextBox 26">
            <a:extLst>
              <a:ext uri="{FF2B5EF4-FFF2-40B4-BE49-F238E27FC236}">
                <a16:creationId xmlns:a16="http://schemas.microsoft.com/office/drawing/2014/main" id="{177A0F8F-00AB-0B8D-417C-96637A9C7339}"/>
              </a:ext>
            </a:extLst>
          </p:cNvPr>
          <p:cNvSpPr txBox="1"/>
          <p:nvPr/>
        </p:nvSpPr>
        <p:spPr>
          <a:xfrm>
            <a:off x="1079778" y="4877980"/>
            <a:ext cx="651078" cy="369332"/>
          </a:xfrm>
          <a:prstGeom prst="rect">
            <a:avLst/>
          </a:prstGeom>
          <a:noFill/>
        </p:spPr>
        <p:txBody>
          <a:bodyPr wrap="square" rtlCol="0">
            <a:spAutoFit/>
          </a:bodyPr>
          <a:lstStyle/>
          <a:p>
            <a:r>
              <a:rPr lang="en-IN" dirty="0"/>
              <a:t>Q0 X</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95DAE79-45C1-3B27-3803-0D49A6F04F64}"/>
                  </a:ext>
                </a:extLst>
              </p:cNvPr>
              <p:cNvSpPr txBox="1"/>
              <p:nvPr/>
            </p:nvSpPr>
            <p:spPr>
              <a:xfrm>
                <a:off x="8877069" y="6222429"/>
                <a:ext cx="6760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m:t>
                      </m:r>
                      <m:r>
                        <a:rPr lang="en-IN" b="0" i="1" smtClean="0">
                          <a:latin typeface="Cambria Math" panose="02040503050406030204" pitchFamily="18" charset="0"/>
                        </a:rPr>
                        <m:t>𝑋</m:t>
                      </m:r>
                    </m:oMath>
                  </m:oMathPara>
                </a14:m>
                <a:endParaRPr lang="en-IN" b="0" dirty="0"/>
              </a:p>
            </p:txBody>
          </p:sp>
        </mc:Choice>
        <mc:Fallback xmlns="">
          <p:sp>
            <p:nvSpPr>
              <p:cNvPr id="28" name="TextBox 27">
                <a:extLst>
                  <a:ext uri="{FF2B5EF4-FFF2-40B4-BE49-F238E27FC236}">
                    <a16:creationId xmlns:a16="http://schemas.microsoft.com/office/drawing/2014/main" id="{195DAE79-45C1-3B27-3803-0D49A6F04F64}"/>
                  </a:ext>
                </a:extLst>
              </p:cNvPr>
              <p:cNvSpPr txBox="1">
                <a:spLocks noRot="1" noChangeAspect="1" noMove="1" noResize="1" noEditPoints="1" noAdjustHandles="1" noChangeArrowheads="1" noChangeShapeType="1" noTextEdit="1"/>
              </p:cNvSpPr>
              <p:nvPr/>
            </p:nvSpPr>
            <p:spPr>
              <a:xfrm>
                <a:off x="8877069" y="6222429"/>
                <a:ext cx="676019" cy="276999"/>
              </a:xfrm>
              <a:prstGeom prst="rect">
                <a:avLst/>
              </a:prstGeom>
              <a:blipFill>
                <a:blip r:embed="rId3"/>
                <a:stretch>
                  <a:fillRect l="-7207" r="-8108" b="-6667"/>
                </a:stretch>
              </a:blipFill>
            </p:spPr>
            <p:txBody>
              <a:bodyPr/>
              <a:lstStyle/>
              <a:p>
                <a:r>
                  <a:rPr lang="en-IN">
                    <a:noFill/>
                  </a:rPr>
                  <a:t> </a:t>
                </a:r>
              </a:p>
            </p:txBody>
          </p:sp>
        </mc:Fallback>
      </mc:AlternateContent>
      <p:sp>
        <p:nvSpPr>
          <p:cNvPr id="29" name="Rectangle 28">
            <a:extLst>
              <a:ext uri="{FF2B5EF4-FFF2-40B4-BE49-F238E27FC236}">
                <a16:creationId xmlns:a16="http://schemas.microsoft.com/office/drawing/2014/main" id="{766EA95B-00FA-6DDE-95AF-918F8D03F4D6}"/>
              </a:ext>
            </a:extLst>
          </p:cNvPr>
          <p:cNvSpPr/>
          <p:nvPr/>
        </p:nvSpPr>
        <p:spPr>
          <a:xfrm>
            <a:off x="8741567" y="5489405"/>
            <a:ext cx="1247775" cy="63659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ED0F216B-9622-C0C1-138E-A908BA5E41D0}"/>
              </a:ext>
            </a:extLst>
          </p:cNvPr>
          <p:cNvSpPr/>
          <p:nvPr/>
        </p:nvSpPr>
        <p:spPr>
          <a:xfrm>
            <a:off x="4202905" y="5546663"/>
            <a:ext cx="352425" cy="636133"/>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6E0B7C1-11FD-0FD8-A58E-14F3B5477C28}"/>
                  </a:ext>
                </a:extLst>
              </p:cNvPr>
              <p:cNvSpPr txBox="1"/>
              <p:nvPr/>
            </p:nvSpPr>
            <p:spPr>
              <a:xfrm>
                <a:off x="2149980" y="6307942"/>
                <a:ext cx="2117952"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b="0" i="1" smtClean="0">
                          <a:latin typeface="Cambria Math" panose="02040503050406030204" pitchFamily="18" charset="0"/>
                        </a:rPr>
                        <m:t>D</m:t>
                      </m:r>
                      <m:r>
                        <a:rPr lang="en-IN" b="0" i="1" smtClean="0">
                          <a:latin typeface="Cambria Math" panose="02040503050406030204" pitchFamily="18" charset="0"/>
                        </a:rPr>
                        <m:t>1=</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1" smtClean="0">
                          <a:latin typeface="Cambria Math" panose="02040503050406030204" pitchFamily="18" charset="0"/>
                        </a:rPr>
                        <m:t> </m:t>
                      </m:r>
                      <m:r>
                        <m:rPr>
                          <m:sty m:val="p"/>
                        </m:rPr>
                        <a:rPr lang="en-IN" b="0" i="1" smtClean="0">
                          <a:latin typeface="Cambria Math" panose="02040503050406030204" pitchFamily="18" charset="0"/>
                        </a:rPr>
                        <m:t>X</m:t>
                      </m:r>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bar>
                        <m:barPr>
                          <m:pos m:val="top"/>
                          <m:ctrlPr>
                            <a:rPr lang="en-IN" i="1">
                              <a:latin typeface="Cambria Math" panose="02040503050406030204" pitchFamily="18" charset="0"/>
                            </a:rPr>
                          </m:ctrlPr>
                        </m:barPr>
                        <m:e>
                          <m:r>
                            <m:rPr>
                              <m:sty m:val="p"/>
                            </m:rPr>
                            <a:rPr lang="en-IN" b="1" i="1">
                              <a:latin typeface="Cambria Math" panose="02040503050406030204" pitchFamily="18" charset="0"/>
                            </a:rPr>
                            <m:t>X</m:t>
                          </m:r>
                        </m:e>
                      </m:bar>
                    </m:oMath>
                  </m:oMathPara>
                </a14:m>
                <a:endParaRPr lang="en-IN" dirty="0"/>
              </a:p>
            </p:txBody>
          </p:sp>
        </mc:Choice>
        <mc:Fallback xmlns="">
          <p:sp>
            <p:nvSpPr>
              <p:cNvPr id="33" name="TextBox 32">
                <a:extLst>
                  <a:ext uri="{FF2B5EF4-FFF2-40B4-BE49-F238E27FC236}">
                    <a16:creationId xmlns:a16="http://schemas.microsoft.com/office/drawing/2014/main" id="{F6E0B7C1-11FD-0FD8-A58E-14F3B5477C28}"/>
                  </a:ext>
                </a:extLst>
              </p:cNvPr>
              <p:cNvSpPr txBox="1">
                <a:spLocks noRot="1" noChangeAspect="1" noMove="1" noResize="1" noEditPoints="1" noAdjustHandles="1" noChangeArrowheads="1" noChangeShapeType="1" noTextEdit="1"/>
              </p:cNvSpPr>
              <p:nvPr/>
            </p:nvSpPr>
            <p:spPr>
              <a:xfrm>
                <a:off x="2149980" y="6307942"/>
                <a:ext cx="2117952" cy="309637"/>
              </a:xfrm>
              <a:prstGeom prst="rect">
                <a:avLst/>
              </a:prstGeom>
              <a:blipFill>
                <a:blip r:embed="rId4"/>
                <a:stretch>
                  <a:fillRect l="-2305" r="-2305" b="-274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175DE78A-BD41-B823-A181-5B2D1AE58CD8}"/>
                  </a:ext>
                </a:extLst>
              </p:cNvPr>
              <p:cNvSpPr txBox="1"/>
              <p:nvPr/>
            </p:nvSpPr>
            <p:spPr>
              <a:xfrm>
                <a:off x="5313522" y="6082474"/>
                <a:ext cx="121853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𝐙</m:t>
                      </m:r>
                      <m:r>
                        <a:rPr lang="en-IN" sz="2000" b="1" i="0"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𝟏</m:t>
                          </m:r>
                        </m:sub>
                      </m:sSub>
                      <m:r>
                        <a:rPr lang="en-IN" sz="2000" b="1" i="1" smtClean="0">
                          <a:latin typeface="Cambria Math" panose="02040503050406030204" pitchFamily="18" charset="0"/>
                        </a:rPr>
                        <m:t> </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𝟎</m:t>
                          </m:r>
                        </m:sub>
                      </m:sSub>
                    </m:oMath>
                  </m:oMathPara>
                </a14:m>
                <a:endParaRPr lang="en-IN" sz="2000" b="1" dirty="0"/>
              </a:p>
            </p:txBody>
          </p:sp>
        </mc:Choice>
        <mc:Fallback xmlns="">
          <p:sp>
            <p:nvSpPr>
              <p:cNvPr id="61" name="TextBox 60">
                <a:extLst>
                  <a:ext uri="{FF2B5EF4-FFF2-40B4-BE49-F238E27FC236}">
                    <a16:creationId xmlns:a16="http://schemas.microsoft.com/office/drawing/2014/main" id="{175DE78A-BD41-B823-A181-5B2D1AE58CD8}"/>
                  </a:ext>
                </a:extLst>
              </p:cNvPr>
              <p:cNvSpPr txBox="1">
                <a:spLocks noRot="1" noChangeAspect="1" noMove="1" noResize="1" noEditPoints="1" noAdjustHandles="1" noChangeArrowheads="1" noChangeShapeType="1" noTextEdit="1"/>
              </p:cNvSpPr>
              <p:nvPr/>
            </p:nvSpPr>
            <p:spPr>
              <a:xfrm>
                <a:off x="5313522" y="6082474"/>
                <a:ext cx="1218539" cy="307777"/>
              </a:xfrm>
              <a:prstGeom prst="rect">
                <a:avLst/>
              </a:prstGeom>
              <a:blipFill>
                <a:blip r:embed="rId5"/>
                <a:stretch>
                  <a:fillRect l="-4500" r="-1500" b="-30000"/>
                </a:stretch>
              </a:blipFill>
            </p:spPr>
            <p:txBody>
              <a:bodyPr/>
              <a:lstStyle/>
              <a:p>
                <a:r>
                  <a:rPr lang="en-IN">
                    <a:noFill/>
                  </a:rPr>
                  <a:t> </a:t>
                </a:r>
              </a:p>
            </p:txBody>
          </p:sp>
        </mc:Fallback>
      </mc:AlternateContent>
      <p:sp>
        <p:nvSpPr>
          <p:cNvPr id="47" name="TextBox 46">
            <a:extLst>
              <a:ext uri="{FF2B5EF4-FFF2-40B4-BE49-F238E27FC236}">
                <a16:creationId xmlns:a16="http://schemas.microsoft.com/office/drawing/2014/main" id="{856FF3EB-D0FF-77D5-F1BD-1A001C1ED281}"/>
              </a:ext>
            </a:extLst>
          </p:cNvPr>
          <p:cNvSpPr txBox="1"/>
          <p:nvPr/>
        </p:nvSpPr>
        <p:spPr>
          <a:xfrm>
            <a:off x="686813" y="412525"/>
            <a:ext cx="5886269" cy="461665"/>
          </a:xfrm>
          <a:prstGeom prst="rect">
            <a:avLst/>
          </a:prstGeom>
          <a:noFill/>
        </p:spPr>
        <p:txBody>
          <a:bodyPr wrap="square" rtlCol="0">
            <a:spAutoFit/>
          </a:bodyPr>
          <a:lstStyle/>
          <a:p>
            <a:r>
              <a:rPr lang="en-IN" sz="2400" b="1" dirty="0"/>
              <a:t>State Transition Table:</a:t>
            </a:r>
          </a:p>
        </p:txBody>
      </p:sp>
      <p:sp>
        <p:nvSpPr>
          <p:cNvPr id="2" name="Rectangle 1">
            <a:extLst>
              <a:ext uri="{FF2B5EF4-FFF2-40B4-BE49-F238E27FC236}">
                <a16:creationId xmlns:a16="http://schemas.microsoft.com/office/drawing/2014/main" id="{D9116436-4DBF-0BF8-E8EB-F701C0BFDC50}"/>
              </a:ext>
            </a:extLst>
          </p:cNvPr>
          <p:cNvSpPr/>
          <p:nvPr/>
        </p:nvSpPr>
        <p:spPr>
          <a:xfrm>
            <a:off x="2699040" y="5875899"/>
            <a:ext cx="257175" cy="306898"/>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56013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57989-B83B-0767-7DFE-BE0239851D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0B6774D-1534-CA55-0A25-BB0AEDA25979}"/>
              </a:ext>
            </a:extLst>
          </p:cNvPr>
          <p:cNvSpPr txBox="1"/>
          <p:nvPr/>
        </p:nvSpPr>
        <p:spPr>
          <a:xfrm>
            <a:off x="1081313" y="461183"/>
            <a:ext cx="10218057" cy="461665"/>
          </a:xfrm>
          <a:prstGeom prst="rect">
            <a:avLst/>
          </a:prstGeom>
          <a:noFill/>
        </p:spPr>
        <p:txBody>
          <a:bodyPr wrap="square" rtlCol="0">
            <a:spAutoFit/>
          </a:bodyPr>
          <a:lstStyle/>
          <a:p>
            <a:r>
              <a:rPr lang="en-IN" sz="2400" dirty="0"/>
              <a:t>Circuit Implementation of Overlapping Sequence Detector:</a:t>
            </a:r>
          </a:p>
        </p:txBody>
      </p:sp>
      <p:sp>
        <p:nvSpPr>
          <p:cNvPr id="5" name="Rectangle 4">
            <a:extLst>
              <a:ext uri="{FF2B5EF4-FFF2-40B4-BE49-F238E27FC236}">
                <a16:creationId xmlns:a16="http://schemas.microsoft.com/office/drawing/2014/main" id="{2EF99175-7AB7-223A-471F-C22B1B8D12BA}"/>
              </a:ext>
            </a:extLst>
          </p:cNvPr>
          <p:cNvSpPr/>
          <p:nvPr/>
        </p:nvSpPr>
        <p:spPr>
          <a:xfrm>
            <a:off x="5769432" y="1219209"/>
            <a:ext cx="1560286" cy="210308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5C4E7782-BD20-0C1B-D777-6742C6AD2336}"/>
              </a:ext>
            </a:extLst>
          </p:cNvPr>
          <p:cNvSpPr txBox="1"/>
          <p:nvPr/>
        </p:nvSpPr>
        <p:spPr>
          <a:xfrm>
            <a:off x="5769429" y="1206919"/>
            <a:ext cx="529234" cy="461665"/>
          </a:xfrm>
          <a:prstGeom prst="rect">
            <a:avLst/>
          </a:prstGeom>
          <a:noFill/>
        </p:spPr>
        <p:txBody>
          <a:bodyPr wrap="square" rtlCol="0">
            <a:spAutoFit/>
          </a:bodyPr>
          <a:lstStyle/>
          <a:p>
            <a:r>
              <a:rPr lang="en-IN" sz="2400" dirty="0"/>
              <a:t>D0</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9A55D2-95F2-30FF-52F6-55BDB2651CA5}"/>
                  </a:ext>
                </a:extLst>
              </p:cNvPr>
              <p:cNvSpPr txBox="1"/>
              <p:nvPr/>
            </p:nvSpPr>
            <p:spPr>
              <a:xfrm>
                <a:off x="6850747" y="1393381"/>
                <a:ext cx="29028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0</m:t>
                          </m:r>
                        </m:sub>
                      </m:sSub>
                    </m:oMath>
                  </m:oMathPara>
                </a14:m>
                <a:endParaRPr lang="en-IN" sz="2400" dirty="0"/>
              </a:p>
            </p:txBody>
          </p:sp>
        </mc:Choice>
        <mc:Fallback xmlns="">
          <p:sp>
            <p:nvSpPr>
              <p:cNvPr id="8" name="TextBox 7">
                <a:extLst>
                  <a:ext uri="{FF2B5EF4-FFF2-40B4-BE49-F238E27FC236}">
                    <a16:creationId xmlns:a16="http://schemas.microsoft.com/office/drawing/2014/main" id="{337A18FC-276B-543F-60D6-F6493A465D31}"/>
                  </a:ext>
                </a:extLst>
              </p:cNvPr>
              <p:cNvSpPr txBox="1">
                <a:spLocks noRot="1" noChangeAspect="1" noMove="1" noResize="1" noEditPoints="1" noAdjustHandles="1" noChangeArrowheads="1" noChangeShapeType="1" noTextEdit="1"/>
              </p:cNvSpPr>
              <p:nvPr/>
            </p:nvSpPr>
            <p:spPr>
              <a:xfrm>
                <a:off x="6850747" y="1393381"/>
                <a:ext cx="290286" cy="461665"/>
              </a:xfrm>
              <a:prstGeom prst="rect">
                <a:avLst/>
              </a:prstGeom>
              <a:blipFill>
                <a:blip r:embed="rId2"/>
                <a:stretch>
                  <a:fillRect l="-14894" r="-76596"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99BC049-5F0D-34C3-8915-94394BC8C3B8}"/>
                  </a:ext>
                </a:extLst>
              </p:cNvPr>
              <p:cNvSpPr txBox="1"/>
              <p:nvPr/>
            </p:nvSpPr>
            <p:spPr>
              <a:xfrm>
                <a:off x="6799947" y="2699666"/>
                <a:ext cx="290286"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0</m:t>
                              </m:r>
                            </m:sub>
                          </m:sSub>
                        </m:e>
                      </m:bar>
                    </m:oMath>
                  </m:oMathPara>
                </a14:m>
                <a:endParaRPr lang="en-IN" sz="2400" dirty="0"/>
              </a:p>
            </p:txBody>
          </p:sp>
        </mc:Choice>
        <mc:Fallback xmlns="">
          <p:sp>
            <p:nvSpPr>
              <p:cNvPr id="9" name="TextBox 8">
                <a:extLst>
                  <a:ext uri="{FF2B5EF4-FFF2-40B4-BE49-F238E27FC236}">
                    <a16:creationId xmlns:a16="http://schemas.microsoft.com/office/drawing/2014/main" id="{3C91271E-990B-015B-A356-93A3FFDD1E6A}"/>
                  </a:ext>
                </a:extLst>
              </p:cNvPr>
              <p:cNvSpPr txBox="1">
                <a:spLocks noRot="1" noChangeAspect="1" noMove="1" noResize="1" noEditPoints="1" noAdjustHandles="1" noChangeArrowheads="1" noChangeShapeType="1" noTextEdit="1"/>
              </p:cNvSpPr>
              <p:nvPr/>
            </p:nvSpPr>
            <p:spPr>
              <a:xfrm>
                <a:off x="6799947" y="2699666"/>
                <a:ext cx="290286" cy="505203"/>
              </a:xfrm>
              <a:prstGeom prst="rect">
                <a:avLst/>
              </a:prstGeom>
              <a:blipFill>
                <a:blip r:embed="rId3"/>
                <a:stretch>
                  <a:fillRect r="-54167"/>
                </a:stretch>
              </a:blipFill>
            </p:spPr>
            <p:txBody>
              <a:bodyPr/>
              <a:lstStyle/>
              <a:p>
                <a:r>
                  <a:rPr lang="en-IN">
                    <a:noFill/>
                  </a:rPr>
                  <a:t> </a:t>
                </a:r>
              </a:p>
            </p:txBody>
          </p:sp>
        </mc:Fallback>
      </mc:AlternateContent>
      <p:sp>
        <p:nvSpPr>
          <p:cNvPr id="18" name="Rectangle 17">
            <a:extLst>
              <a:ext uri="{FF2B5EF4-FFF2-40B4-BE49-F238E27FC236}">
                <a16:creationId xmlns:a16="http://schemas.microsoft.com/office/drawing/2014/main" id="{4E13570C-F71F-B969-939C-62330955F495}"/>
              </a:ext>
            </a:extLst>
          </p:cNvPr>
          <p:cNvSpPr/>
          <p:nvPr/>
        </p:nvSpPr>
        <p:spPr>
          <a:xfrm>
            <a:off x="5769429" y="4083281"/>
            <a:ext cx="1560286" cy="210308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45178046-05D9-FBF3-AE3B-70BC35AA2C46}"/>
              </a:ext>
            </a:extLst>
          </p:cNvPr>
          <p:cNvSpPr txBox="1"/>
          <p:nvPr/>
        </p:nvSpPr>
        <p:spPr>
          <a:xfrm>
            <a:off x="5780853" y="4134945"/>
            <a:ext cx="529234" cy="461665"/>
          </a:xfrm>
          <a:prstGeom prst="rect">
            <a:avLst/>
          </a:prstGeom>
          <a:noFill/>
        </p:spPr>
        <p:txBody>
          <a:bodyPr wrap="square" rtlCol="0">
            <a:spAutoFit/>
          </a:bodyPr>
          <a:lstStyle/>
          <a:p>
            <a:r>
              <a:rPr lang="en-IN" sz="2400" dirty="0"/>
              <a:t>D1</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AC6EA16-28D6-C6BC-D9B2-979D0BBA4403}"/>
                  </a:ext>
                </a:extLst>
              </p:cNvPr>
              <p:cNvSpPr txBox="1"/>
              <p:nvPr/>
            </p:nvSpPr>
            <p:spPr>
              <a:xfrm>
                <a:off x="6850744" y="4257453"/>
                <a:ext cx="29028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1</m:t>
                          </m:r>
                        </m:sub>
                      </m:sSub>
                    </m:oMath>
                  </m:oMathPara>
                </a14:m>
                <a:endParaRPr lang="en-IN" sz="2400" dirty="0"/>
              </a:p>
            </p:txBody>
          </p:sp>
        </mc:Choice>
        <mc:Fallback xmlns="">
          <p:sp>
            <p:nvSpPr>
              <p:cNvPr id="20" name="TextBox 19">
                <a:extLst>
                  <a:ext uri="{FF2B5EF4-FFF2-40B4-BE49-F238E27FC236}">
                    <a16:creationId xmlns:a16="http://schemas.microsoft.com/office/drawing/2014/main" id="{FE068AA9-D7A6-4FD1-148C-00A6A26ADC4F}"/>
                  </a:ext>
                </a:extLst>
              </p:cNvPr>
              <p:cNvSpPr txBox="1">
                <a:spLocks noRot="1" noChangeAspect="1" noMove="1" noResize="1" noEditPoints="1" noAdjustHandles="1" noChangeArrowheads="1" noChangeShapeType="1" noTextEdit="1"/>
              </p:cNvSpPr>
              <p:nvPr/>
            </p:nvSpPr>
            <p:spPr>
              <a:xfrm>
                <a:off x="6850744" y="4257453"/>
                <a:ext cx="290286" cy="461665"/>
              </a:xfrm>
              <a:prstGeom prst="rect">
                <a:avLst/>
              </a:prstGeom>
              <a:blipFill>
                <a:blip r:embed="rId4"/>
                <a:stretch>
                  <a:fillRect l="-14894" r="-74468" b="-131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20962CA-59E7-A7FE-A5ED-7A69CC5675B5}"/>
                  </a:ext>
                </a:extLst>
              </p:cNvPr>
              <p:cNvSpPr txBox="1"/>
              <p:nvPr/>
            </p:nvSpPr>
            <p:spPr>
              <a:xfrm>
                <a:off x="6799944" y="5563738"/>
                <a:ext cx="290286"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sSub>
                            <m:sSubPr>
                              <m:ctrlPr>
                                <a:rPr lang="en-IN" sz="2400" i="1" smtClean="0">
                                  <a:latin typeface="Cambria Math" panose="02040503050406030204" pitchFamily="18" charset="0"/>
                                </a:rPr>
                              </m:ctrlPr>
                            </m:sSubPr>
                            <m:e>
                              <m:r>
                                <m:rPr>
                                  <m:sty m:val="p"/>
                                </m:rPr>
                                <a:rPr lang="en-IN" sz="2400" b="0" i="1" smtClean="0">
                                  <a:latin typeface="Cambria Math" panose="02040503050406030204" pitchFamily="18" charset="0"/>
                                </a:rPr>
                                <m:t>Q</m:t>
                              </m:r>
                            </m:e>
                            <m:sub>
                              <m:r>
                                <a:rPr lang="en-IN" sz="2400" b="0" i="1" smtClean="0">
                                  <a:latin typeface="Cambria Math" panose="02040503050406030204" pitchFamily="18" charset="0"/>
                                </a:rPr>
                                <m:t>1</m:t>
                              </m:r>
                            </m:sub>
                          </m:sSub>
                        </m:e>
                      </m:bar>
                    </m:oMath>
                  </m:oMathPara>
                </a14:m>
                <a:endParaRPr lang="en-IN" sz="2400" dirty="0"/>
              </a:p>
            </p:txBody>
          </p:sp>
        </mc:Choice>
        <mc:Fallback xmlns="">
          <p:sp>
            <p:nvSpPr>
              <p:cNvPr id="21" name="TextBox 20">
                <a:extLst>
                  <a:ext uri="{FF2B5EF4-FFF2-40B4-BE49-F238E27FC236}">
                    <a16:creationId xmlns:a16="http://schemas.microsoft.com/office/drawing/2014/main" id="{EFFDC03D-1B2F-101F-9A96-A6D3ED39BC56}"/>
                  </a:ext>
                </a:extLst>
              </p:cNvPr>
              <p:cNvSpPr txBox="1">
                <a:spLocks noRot="1" noChangeAspect="1" noMove="1" noResize="1" noEditPoints="1" noAdjustHandles="1" noChangeArrowheads="1" noChangeShapeType="1" noTextEdit="1"/>
              </p:cNvSpPr>
              <p:nvPr/>
            </p:nvSpPr>
            <p:spPr>
              <a:xfrm>
                <a:off x="6799944" y="5563738"/>
                <a:ext cx="290286" cy="505203"/>
              </a:xfrm>
              <a:prstGeom prst="rect">
                <a:avLst/>
              </a:prstGeom>
              <a:blipFill>
                <a:blip r:embed="rId5"/>
                <a:stretch>
                  <a:fillRect r="-52083"/>
                </a:stretch>
              </a:blipFill>
            </p:spPr>
            <p:txBody>
              <a:bodyPr/>
              <a:lstStyle/>
              <a:p>
                <a:r>
                  <a:rPr lang="en-IN">
                    <a:noFill/>
                  </a:rPr>
                  <a:t> </a:t>
                </a:r>
              </a:p>
            </p:txBody>
          </p:sp>
        </mc:Fallback>
      </mc:AlternateContent>
      <p:cxnSp>
        <p:nvCxnSpPr>
          <p:cNvPr id="22" name="Straight Connector 21">
            <a:extLst>
              <a:ext uri="{FF2B5EF4-FFF2-40B4-BE49-F238E27FC236}">
                <a16:creationId xmlns:a16="http://schemas.microsoft.com/office/drawing/2014/main" id="{1F81936D-1F3B-30A8-F241-C0B5857695BE}"/>
              </a:ext>
            </a:extLst>
          </p:cNvPr>
          <p:cNvCxnSpPr>
            <a:cxnSpLocks/>
          </p:cNvCxnSpPr>
          <p:nvPr/>
        </p:nvCxnSpPr>
        <p:spPr>
          <a:xfrm>
            <a:off x="7329715" y="4488285"/>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9F436AB-27AA-236E-939D-807EB65391C7}"/>
              </a:ext>
            </a:extLst>
          </p:cNvPr>
          <p:cNvCxnSpPr>
            <a:cxnSpLocks/>
          </p:cNvCxnSpPr>
          <p:nvPr/>
        </p:nvCxnSpPr>
        <p:spPr>
          <a:xfrm>
            <a:off x="7688686" y="4488285"/>
            <a:ext cx="8238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Flowchart: Delay 25">
            <a:extLst>
              <a:ext uri="{FF2B5EF4-FFF2-40B4-BE49-F238E27FC236}">
                <a16:creationId xmlns:a16="http://schemas.microsoft.com/office/drawing/2014/main" id="{9F8FA5A7-2F38-46D3-B15F-CAAD11244280}"/>
              </a:ext>
            </a:extLst>
          </p:cNvPr>
          <p:cNvSpPr/>
          <p:nvPr/>
        </p:nvSpPr>
        <p:spPr>
          <a:xfrm>
            <a:off x="8860964" y="2901376"/>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29712F39-4156-60C0-E02C-E2F0ECFABD5B}"/>
              </a:ext>
            </a:extLst>
          </p:cNvPr>
          <p:cNvCxnSpPr>
            <a:cxnSpLocks/>
          </p:cNvCxnSpPr>
          <p:nvPr/>
        </p:nvCxnSpPr>
        <p:spPr>
          <a:xfrm>
            <a:off x="8500647" y="3296638"/>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1769FB6-591F-17CB-5BC6-3D854594F086}"/>
              </a:ext>
            </a:extLst>
          </p:cNvPr>
          <p:cNvCxnSpPr>
            <a:cxnSpLocks/>
          </p:cNvCxnSpPr>
          <p:nvPr/>
        </p:nvCxnSpPr>
        <p:spPr>
          <a:xfrm>
            <a:off x="7329715" y="1730157"/>
            <a:ext cx="11594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4C491A5-A984-6E3B-D363-1AF9F19AF171}"/>
                  </a:ext>
                </a:extLst>
              </p:cNvPr>
              <p:cNvSpPr txBox="1"/>
              <p:nvPr/>
            </p:nvSpPr>
            <p:spPr>
              <a:xfrm>
                <a:off x="9176161" y="1109822"/>
                <a:ext cx="2326663"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b="0" i="1" smtClean="0">
                          <a:latin typeface="Cambria Math" panose="02040503050406030204" pitchFamily="18" charset="0"/>
                        </a:rPr>
                        <m:t>D</m:t>
                      </m:r>
                      <m:r>
                        <a:rPr lang="en-IN" b="0" i="1" smtClean="0">
                          <a:latin typeface="Cambria Math" panose="02040503050406030204" pitchFamily="18" charset="0"/>
                        </a:rPr>
                        <m:t>1=</m:t>
                      </m: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1" smtClean="0">
                          <a:latin typeface="Cambria Math" panose="02040503050406030204" pitchFamily="18" charset="0"/>
                        </a:rPr>
                        <m:t> </m:t>
                      </m:r>
                      <m:r>
                        <m:rPr>
                          <m:sty m:val="p"/>
                        </m:rPr>
                        <a:rPr lang="en-IN" b="0" i="1" smtClean="0">
                          <a:latin typeface="Cambria Math" panose="02040503050406030204" pitchFamily="18" charset="0"/>
                        </a:rPr>
                        <m:t>X</m:t>
                      </m:r>
                      <m:r>
                        <a:rPr lang="en-IN" b="0" i="1" smtClean="0">
                          <a:latin typeface="Cambria Math" panose="02040503050406030204" pitchFamily="18" charset="0"/>
                        </a:rPr>
                        <m:t> +</m:t>
                      </m:r>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e>
                      </m:bar>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r>
                        <m:rPr>
                          <m:sty m:val="p"/>
                        </m:rPr>
                        <a:rPr lang="en-IN" b="0" i="1" smtClean="0">
                          <a:latin typeface="Cambria Math" panose="02040503050406030204" pitchFamily="18" charset="0"/>
                        </a:rPr>
                        <m:t>X</m:t>
                      </m:r>
                    </m:oMath>
                  </m:oMathPara>
                </a14:m>
                <a:endParaRPr lang="en-IN" dirty="0"/>
              </a:p>
            </p:txBody>
          </p:sp>
        </mc:Choice>
        <mc:Fallback xmlns="">
          <p:sp>
            <p:nvSpPr>
              <p:cNvPr id="35" name="TextBox 34">
                <a:extLst>
                  <a:ext uri="{FF2B5EF4-FFF2-40B4-BE49-F238E27FC236}">
                    <a16:creationId xmlns:a16="http://schemas.microsoft.com/office/drawing/2014/main" id="{3FADC1C3-1E75-0E51-38F9-EA1B3BE3B90E}"/>
                  </a:ext>
                </a:extLst>
              </p:cNvPr>
              <p:cNvSpPr txBox="1">
                <a:spLocks noRot="1" noChangeAspect="1" noMove="1" noResize="1" noEditPoints="1" noAdjustHandles="1" noChangeArrowheads="1" noChangeShapeType="1" noTextEdit="1"/>
              </p:cNvSpPr>
              <p:nvPr/>
            </p:nvSpPr>
            <p:spPr>
              <a:xfrm>
                <a:off x="9176161" y="1109822"/>
                <a:ext cx="2326663" cy="309637"/>
              </a:xfrm>
              <a:prstGeom prst="rect">
                <a:avLst/>
              </a:prstGeom>
              <a:blipFill>
                <a:blip r:embed="rId6"/>
                <a:stretch>
                  <a:fillRect l="-1832" r="-2094" b="-274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FBC71E4-9C1B-73BC-DA17-6228F4A1AF8E}"/>
                  </a:ext>
                </a:extLst>
              </p:cNvPr>
              <p:cNvSpPr txBox="1"/>
              <p:nvPr/>
            </p:nvSpPr>
            <p:spPr>
              <a:xfrm>
                <a:off x="9176161" y="1730157"/>
                <a:ext cx="8255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0</m:t>
                      </m:r>
                      <m:r>
                        <a:rPr lang="en-IN" b="0" i="0" smtClean="0">
                          <a:latin typeface="Cambria Math" panose="02040503050406030204" pitchFamily="18" charset="0"/>
                        </a:rPr>
                        <m:t>=</m:t>
                      </m:r>
                      <m:r>
                        <a:rPr lang="en-IN" b="0" i="1" smtClean="0">
                          <a:latin typeface="Cambria Math" panose="02040503050406030204" pitchFamily="18" charset="0"/>
                        </a:rPr>
                        <m:t> </m:t>
                      </m:r>
                      <m:r>
                        <m:rPr>
                          <m:sty m:val="p"/>
                        </m:rPr>
                        <a:rPr lang="en-IN" b="0" i="1" smtClean="0">
                          <a:latin typeface="Cambria Math" panose="02040503050406030204" pitchFamily="18" charset="0"/>
                        </a:rPr>
                        <m:t>X</m:t>
                      </m:r>
                    </m:oMath>
                  </m:oMathPara>
                </a14:m>
                <a:endParaRPr lang="en-IN" dirty="0"/>
              </a:p>
            </p:txBody>
          </p:sp>
        </mc:Choice>
        <mc:Fallback xmlns="">
          <p:sp>
            <p:nvSpPr>
              <p:cNvPr id="36" name="TextBox 35">
                <a:extLst>
                  <a:ext uri="{FF2B5EF4-FFF2-40B4-BE49-F238E27FC236}">
                    <a16:creationId xmlns:a16="http://schemas.microsoft.com/office/drawing/2014/main" id="{5FBC71E4-9C1B-73BC-DA17-6228F4A1AF8E}"/>
                  </a:ext>
                </a:extLst>
              </p:cNvPr>
              <p:cNvSpPr txBox="1">
                <a:spLocks noRot="1" noChangeAspect="1" noMove="1" noResize="1" noEditPoints="1" noAdjustHandles="1" noChangeArrowheads="1" noChangeShapeType="1" noTextEdit="1"/>
              </p:cNvSpPr>
              <p:nvPr/>
            </p:nvSpPr>
            <p:spPr>
              <a:xfrm>
                <a:off x="9176161" y="1730157"/>
                <a:ext cx="825546" cy="276999"/>
              </a:xfrm>
              <a:prstGeom prst="rect">
                <a:avLst/>
              </a:prstGeom>
              <a:blipFill>
                <a:blip r:embed="rId7"/>
                <a:stretch>
                  <a:fillRect l="-5882" r="-6618" b="-6667"/>
                </a:stretch>
              </a:blipFill>
            </p:spPr>
            <p:txBody>
              <a:bodyPr/>
              <a:lstStyle/>
              <a:p>
                <a:r>
                  <a:rPr lang="en-IN">
                    <a:noFill/>
                  </a:rPr>
                  <a:t> </a:t>
                </a:r>
              </a:p>
            </p:txBody>
          </p:sp>
        </mc:Fallback>
      </mc:AlternateContent>
      <p:sp>
        <p:nvSpPr>
          <p:cNvPr id="37" name="Flowchart: Delay 36">
            <a:extLst>
              <a:ext uri="{FF2B5EF4-FFF2-40B4-BE49-F238E27FC236}">
                <a16:creationId xmlns:a16="http://schemas.microsoft.com/office/drawing/2014/main" id="{B74F800A-E947-E60E-5F58-7B696C53DFFA}"/>
              </a:ext>
            </a:extLst>
          </p:cNvPr>
          <p:cNvSpPr/>
          <p:nvPr/>
        </p:nvSpPr>
        <p:spPr>
          <a:xfrm>
            <a:off x="2271486" y="5048637"/>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38" name="Straight Connector 37">
            <a:extLst>
              <a:ext uri="{FF2B5EF4-FFF2-40B4-BE49-F238E27FC236}">
                <a16:creationId xmlns:a16="http://schemas.microsoft.com/office/drawing/2014/main" id="{15963437-A8B3-AAF3-A3C7-9C7A8C4E1FAF}"/>
              </a:ext>
            </a:extLst>
          </p:cNvPr>
          <p:cNvCxnSpPr>
            <a:cxnSpLocks/>
          </p:cNvCxnSpPr>
          <p:nvPr/>
        </p:nvCxnSpPr>
        <p:spPr>
          <a:xfrm>
            <a:off x="1562100" y="5443899"/>
            <a:ext cx="709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Flowchart: Delay 39">
            <a:extLst>
              <a:ext uri="{FF2B5EF4-FFF2-40B4-BE49-F238E27FC236}">
                <a16:creationId xmlns:a16="http://schemas.microsoft.com/office/drawing/2014/main" id="{4BB3420D-2CD5-AC55-FC56-A070D712F985}"/>
              </a:ext>
            </a:extLst>
          </p:cNvPr>
          <p:cNvSpPr/>
          <p:nvPr/>
        </p:nvSpPr>
        <p:spPr>
          <a:xfrm>
            <a:off x="2271486" y="3350560"/>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42" name="Straight Connector 41">
            <a:extLst>
              <a:ext uri="{FF2B5EF4-FFF2-40B4-BE49-F238E27FC236}">
                <a16:creationId xmlns:a16="http://schemas.microsoft.com/office/drawing/2014/main" id="{7ADB673E-2F43-4183-D2C8-659DC3052F10}"/>
              </a:ext>
            </a:extLst>
          </p:cNvPr>
          <p:cNvCxnSpPr>
            <a:cxnSpLocks/>
          </p:cNvCxnSpPr>
          <p:nvPr/>
        </p:nvCxnSpPr>
        <p:spPr>
          <a:xfrm>
            <a:off x="1520825" y="3425782"/>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6CF7E7D-F2E3-52E2-C7D1-8DF00F629CDD}"/>
              </a:ext>
            </a:extLst>
          </p:cNvPr>
          <p:cNvCxnSpPr>
            <a:cxnSpLocks/>
            <a:stCxn id="52" idx="1"/>
          </p:cNvCxnSpPr>
          <p:nvPr/>
        </p:nvCxnSpPr>
        <p:spPr>
          <a:xfrm>
            <a:off x="4483435" y="4324017"/>
            <a:ext cx="1293251" cy="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Flowchart: Stored Data 51">
            <a:extLst>
              <a:ext uri="{FF2B5EF4-FFF2-40B4-BE49-F238E27FC236}">
                <a16:creationId xmlns:a16="http://schemas.microsoft.com/office/drawing/2014/main" id="{7B0EA482-282D-0B41-661B-6892C2CD8672}"/>
              </a:ext>
            </a:extLst>
          </p:cNvPr>
          <p:cNvSpPr/>
          <p:nvPr/>
        </p:nvSpPr>
        <p:spPr>
          <a:xfrm rot="10800000">
            <a:off x="3750184" y="4039946"/>
            <a:ext cx="733251" cy="568143"/>
          </a:xfrm>
          <a:prstGeom prst="flowChartOnlineStorag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61" name="Straight Connector 60">
            <a:extLst>
              <a:ext uri="{FF2B5EF4-FFF2-40B4-BE49-F238E27FC236}">
                <a16:creationId xmlns:a16="http://schemas.microsoft.com/office/drawing/2014/main" id="{F8BE0073-2DE1-504C-0FCB-7B2C0AE2B1C5}"/>
              </a:ext>
            </a:extLst>
          </p:cNvPr>
          <p:cNvCxnSpPr>
            <a:cxnSpLocks/>
          </p:cNvCxnSpPr>
          <p:nvPr/>
        </p:nvCxnSpPr>
        <p:spPr>
          <a:xfrm>
            <a:off x="8502613" y="3285668"/>
            <a:ext cx="0" cy="12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52B7142-0ED0-AAD9-0FBD-39A8946BBFD9}"/>
              </a:ext>
            </a:extLst>
          </p:cNvPr>
          <p:cNvCxnSpPr>
            <a:cxnSpLocks/>
          </p:cNvCxnSpPr>
          <p:nvPr/>
        </p:nvCxnSpPr>
        <p:spPr>
          <a:xfrm>
            <a:off x="3478258" y="4140001"/>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43329F6-9201-1CB3-C72C-9329940BD8CE}"/>
              </a:ext>
            </a:extLst>
          </p:cNvPr>
          <p:cNvCxnSpPr>
            <a:cxnSpLocks/>
          </p:cNvCxnSpPr>
          <p:nvPr/>
        </p:nvCxnSpPr>
        <p:spPr>
          <a:xfrm>
            <a:off x="3484608" y="447480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E187128-217B-172A-5A97-E20C638741D8}"/>
              </a:ext>
            </a:extLst>
          </p:cNvPr>
          <p:cNvCxnSpPr>
            <a:cxnSpLocks/>
          </p:cNvCxnSpPr>
          <p:nvPr/>
        </p:nvCxnSpPr>
        <p:spPr>
          <a:xfrm>
            <a:off x="3489416" y="4466465"/>
            <a:ext cx="4818" cy="835092"/>
          </a:xfrm>
          <a:prstGeom prst="line">
            <a:avLst/>
          </a:prstGeom>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9D823A3A-6F01-0EAE-8CA7-B0EA79924040}"/>
              </a:ext>
            </a:extLst>
          </p:cNvPr>
          <p:cNvCxnSpPr>
            <a:cxnSpLocks/>
          </p:cNvCxnSpPr>
          <p:nvPr/>
        </p:nvCxnSpPr>
        <p:spPr>
          <a:xfrm>
            <a:off x="2771038" y="5306321"/>
            <a:ext cx="7329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3BAE07F-00C1-7390-6115-833EA6653F8E}"/>
              </a:ext>
            </a:extLst>
          </p:cNvPr>
          <p:cNvCxnSpPr>
            <a:cxnSpLocks/>
          </p:cNvCxnSpPr>
          <p:nvPr/>
        </p:nvCxnSpPr>
        <p:spPr>
          <a:xfrm>
            <a:off x="2761932" y="3596520"/>
            <a:ext cx="7298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4D91E3E-807F-9F99-F9E3-31F7B356F4DF}"/>
              </a:ext>
            </a:extLst>
          </p:cNvPr>
          <p:cNvCxnSpPr>
            <a:cxnSpLocks/>
          </p:cNvCxnSpPr>
          <p:nvPr/>
        </p:nvCxnSpPr>
        <p:spPr>
          <a:xfrm>
            <a:off x="3482624" y="3597711"/>
            <a:ext cx="0" cy="548299"/>
          </a:xfrm>
          <a:prstGeom prst="line">
            <a:avLst/>
          </a:prstGeom>
        </p:spPr>
        <p:style>
          <a:lnRef idx="3">
            <a:schemeClr val="dk1"/>
          </a:lnRef>
          <a:fillRef idx="0">
            <a:schemeClr val="dk1"/>
          </a:fillRef>
          <a:effectRef idx="2">
            <a:schemeClr val="dk1"/>
          </a:effectRef>
          <a:fontRef idx="minor">
            <a:schemeClr val="tx1"/>
          </a:fontRef>
        </p:style>
      </p:cxnSp>
      <p:sp>
        <p:nvSpPr>
          <p:cNvPr id="115" name="TextBox 114">
            <a:extLst>
              <a:ext uri="{FF2B5EF4-FFF2-40B4-BE49-F238E27FC236}">
                <a16:creationId xmlns:a16="http://schemas.microsoft.com/office/drawing/2014/main" id="{5F056220-4C91-28C1-8424-31E4DB152816}"/>
              </a:ext>
            </a:extLst>
          </p:cNvPr>
          <p:cNvSpPr txBox="1"/>
          <p:nvPr/>
        </p:nvSpPr>
        <p:spPr>
          <a:xfrm>
            <a:off x="1217742" y="3684345"/>
            <a:ext cx="420510" cy="461665"/>
          </a:xfrm>
          <a:prstGeom prst="rect">
            <a:avLst/>
          </a:prstGeom>
          <a:noFill/>
        </p:spPr>
        <p:txBody>
          <a:bodyPr wrap="square" rtlCol="0">
            <a:spAutoFit/>
          </a:bodyPr>
          <a:lstStyle/>
          <a:p>
            <a:r>
              <a:rPr lang="en-IN" sz="2400" dirty="0"/>
              <a:t>X</a:t>
            </a:r>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D579FFAA-D12C-6A91-99CF-0A6DAB68B3E4}"/>
                  </a:ext>
                </a:extLst>
              </p:cNvPr>
              <p:cNvSpPr txBox="1"/>
              <p:nvPr/>
            </p:nvSpPr>
            <p:spPr>
              <a:xfrm>
                <a:off x="1131817" y="5276693"/>
                <a:ext cx="389008" cy="502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r>
                            <m:rPr>
                              <m:sty m:val="p"/>
                            </m:rPr>
                            <a:rPr lang="en-IN" sz="2400" b="0" i="1" smtClean="0">
                              <a:latin typeface="Cambria Math" panose="02040503050406030204" pitchFamily="18" charset="0"/>
                            </a:rPr>
                            <m:t>X</m:t>
                          </m:r>
                        </m:e>
                      </m:bar>
                    </m:oMath>
                  </m:oMathPara>
                </a14:m>
                <a:endParaRPr lang="en-IN" sz="2400" dirty="0"/>
              </a:p>
            </p:txBody>
          </p:sp>
        </mc:Choice>
        <mc:Fallback xmlns="">
          <p:sp>
            <p:nvSpPr>
              <p:cNvPr id="117" name="TextBox 116">
                <a:extLst>
                  <a:ext uri="{FF2B5EF4-FFF2-40B4-BE49-F238E27FC236}">
                    <a16:creationId xmlns:a16="http://schemas.microsoft.com/office/drawing/2014/main" id="{D579FFAA-D12C-6A91-99CF-0A6DAB68B3E4}"/>
                  </a:ext>
                </a:extLst>
              </p:cNvPr>
              <p:cNvSpPr txBox="1">
                <a:spLocks noRot="1" noChangeAspect="1" noMove="1" noResize="1" noEditPoints="1" noAdjustHandles="1" noChangeArrowheads="1" noChangeShapeType="1" noTextEdit="1"/>
              </p:cNvSpPr>
              <p:nvPr/>
            </p:nvSpPr>
            <p:spPr>
              <a:xfrm>
                <a:off x="1131817" y="5276693"/>
                <a:ext cx="389008" cy="50276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BC9C1CA2-7921-84FC-387E-963F83D86D51}"/>
                  </a:ext>
                </a:extLst>
              </p:cNvPr>
              <p:cNvSpPr txBox="1"/>
              <p:nvPr/>
            </p:nvSpPr>
            <p:spPr>
              <a:xfrm>
                <a:off x="1105835" y="2918999"/>
                <a:ext cx="592159" cy="505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IN" sz="2400" i="1" smtClean="0">
                              <a:latin typeface="Cambria Math" panose="02040503050406030204" pitchFamily="18" charset="0"/>
                            </a:rPr>
                          </m:ctrlPr>
                        </m:barPr>
                        <m:e>
                          <m:r>
                            <m:rPr>
                              <m:sty m:val="p"/>
                            </m:rPr>
                            <a:rPr lang="en-IN" sz="2400" b="0" i="1" smtClean="0">
                              <a:latin typeface="Cambria Math" panose="02040503050406030204" pitchFamily="18" charset="0"/>
                            </a:rPr>
                            <m:t>Q</m:t>
                          </m:r>
                          <m:r>
                            <a:rPr lang="en-IN" sz="2400" b="0" i="1" smtClean="0">
                              <a:latin typeface="Cambria Math" panose="02040503050406030204" pitchFamily="18" charset="0"/>
                            </a:rPr>
                            <m:t>0</m:t>
                          </m:r>
                        </m:e>
                      </m:bar>
                    </m:oMath>
                  </m:oMathPara>
                </a14:m>
                <a:endParaRPr lang="en-IN" sz="2400" dirty="0"/>
              </a:p>
            </p:txBody>
          </p:sp>
        </mc:Choice>
        <mc:Fallback xmlns="">
          <p:sp>
            <p:nvSpPr>
              <p:cNvPr id="118" name="TextBox 117">
                <a:extLst>
                  <a:ext uri="{FF2B5EF4-FFF2-40B4-BE49-F238E27FC236}">
                    <a16:creationId xmlns:a16="http://schemas.microsoft.com/office/drawing/2014/main" id="{BC9C1CA2-7921-84FC-387E-963F83D86D51}"/>
                  </a:ext>
                </a:extLst>
              </p:cNvPr>
              <p:cNvSpPr txBox="1">
                <a:spLocks noRot="1" noChangeAspect="1" noMove="1" noResize="1" noEditPoints="1" noAdjustHandles="1" noChangeArrowheads="1" noChangeShapeType="1" noTextEdit="1"/>
              </p:cNvSpPr>
              <p:nvPr/>
            </p:nvSpPr>
            <p:spPr>
              <a:xfrm>
                <a:off x="1105835" y="2918999"/>
                <a:ext cx="592159" cy="505203"/>
              </a:xfrm>
              <a:prstGeom prst="rect">
                <a:avLst/>
              </a:prstGeom>
              <a:blipFill>
                <a:blip r:embed="rId9"/>
                <a:stretch>
                  <a:fillRect/>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66C60D44-218C-ED63-393F-0E65E2986917}"/>
              </a:ext>
            </a:extLst>
          </p:cNvPr>
          <p:cNvCxnSpPr>
            <a:cxnSpLocks/>
          </p:cNvCxnSpPr>
          <p:nvPr/>
        </p:nvCxnSpPr>
        <p:spPr>
          <a:xfrm>
            <a:off x="9361707" y="3146732"/>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D7C01EF-5219-D593-3E2A-1748E5DA4639}"/>
              </a:ext>
            </a:extLst>
          </p:cNvPr>
          <p:cNvCxnSpPr>
            <a:cxnSpLocks/>
          </p:cNvCxnSpPr>
          <p:nvPr/>
        </p:nvCxnSpPr>
        <p:spPr>
          <a:xfrm>
            <a:off x="8479402" y="1730157"/>
            <a:ext cx="0" cy="12559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D7F939-ACEC-4743-B359-85EED132D2BD}"/>
              </a:ext>
            </a:extLst>
          </p:cNvPr>
          <p:cNvCxnSpPr>
            <a:cxnSpLocks/>
          </p:cNvCxnSpPr>
          <p:nvPr/>
        </p:nvCxnSpPr>
        <p:spPr>
          <a:xfrm>
            <a:off x="8489156" y="2977551"/>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B420BDE-45BC-5AFB-8CF7-265669E2D045}"/>
                  </a:ext>
                </a:extLst>
              </p:cNvPr>
              <p:cNvSpPr txBox="1"/>
              <p:nvPr/>
            </p:nvSpPr>
            <p:spPr>
              <a:xfrm>
                <a:off x="9969355" y="2977551"/>
                <a:ext cx="121853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𝐙</m:t>
                      </m:r>
                      <m:r>
                        <a:rPr lang="en-IN" sz="2000" b="1" i="0"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𝟏</m:t>
                          </m:r>
                        </m:sub>
                      </m:sSub>
                      <m:r>
                        <a:rPr lang="en-IN" sz="2000" b="1" i="1" smtClean="0">
                          <a:latin typeface="Cambria Math" panose="02040503050406030204" pitchFamily="18" charset="0"/>
                        </a:rPr>
                        <m:t> </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𝑸</m:t>
                          </m:r>
                        </m:e>
                        <m:sub>
                          <m:r>
                            <a:rPr lang="en-IN" sz="2000" b="1" i="1" smtClean="0">
                              <a:latin typeface="Cambria Math" panose="02040503050406030204" pitchFamily="18" charset="0"/>
                            </a:rPr>
                            <m:t>𝟎</m:t>
                          </m:r>
                        </m:sub>
                      </m:sSub>
                    </m:oMath>
                  </m:oMathPara>
                </a14:m>
                <a:endParaRPr lang="en-IN" sz="2000" b="1" dirty="0"/>
              </a:p>
            </p:txBody>
          </p:sp>
        </mc:Choice>
        <mc:Fallback xmlns="">
          <p:sp>
            <p:nvSpPr>
              <p:cNvPr id="31" name="TextBox 30">
                <a:extLst>
                  <a:ext uri="{FF2B5EF4-FFF2-40B4-BE49-F238E27FC236}">
                    <a16:creationId xmlns:a16="http://schemas.microsoft.com/office/drawing/2014/main" id="{CB420BDE-45BC-5AFB-8CF7-265669E2D045}"/>
                  </a:ext>
                </a:extLst>
              </p:cNvPr>
              <p:cNvSpPr txBox="1">
                <a:spLocks noRot="1" noChangeAspect="1" noMove="1" noResize="1" noEditPoints="1" noAdjustHandles="1" noChangeArrowheads="1" noChangeShapeType="1" noTextEdit="1"/>
              </p:cNvSpPr>
              <p:nvPr/>
            </p:nvSpPr>
            <p:spPr>
              <a:xfrm>
                <a:off x="9969355" y="2977551"/>
                <a:ext cx="1218539" cy="307777"/>
              </a:xfrm>
              <a:prstGeom prst="rect">
                <a:avLst/>
              </a:prstGeom>
              <a:blipFill>
                <a:blip r:embed="rId10"/>
                <a:stretch>
                  <a:fillRect l="-4000" r="-2000" b="-29412"/>
                </a:stretch>
              </a:blipFill>
            </p:spPr>
            <p:txBody>
              <a:bodyPr/>
              <a:lstStyle/>
              <a:p>
                <a:r>
                  <a:rPr lang="en-IN">
                    <a:noFill/>
                  </a:rPr>
                  <a:t> </a:t>
                </a:r>
              </a:p>
            </p:txBody>
          </p:sp>
        </mc:Fallback>
      </mc:AlternateContent>
      <p:cxnSp>
        <p:nvCxnSpPr>
          <p:cNvPr id="32" name="Straight Connector 31">
            <a:extLst>
              <a:ext uri="{FF2B5EF4-FFF2-40B4-BE49-F238E27FC236}">
                <a16:creationId xmlns:a16="http://schemas.microsoft.com/office/drawing/2014/main" id="{29B65536-AF73-7828-7DA5-B74520A2CCC4}"/>
              </a:ext>
            </a:extLst>
          </p:cNvPr>
          <p:cNvCxnSpPr>
            <a:cxnSpLocks/>
          </p:cNvCxnSpPr>
          <p:nvPr/>
        </p:nvCxnSpPr>
        <p:spPr>
          <a:xfrm>
            <a:off x="4617245" y="1419459"/>
            <a:ext cx="11594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1052C73-1E0A-170E-743F-E71786E15EA0}"/>
              </a:ext>
            </a:extLst>
          </p:cNvPr>
          <p:cNvSpPr txBox="1"/>
          <p:nvPr/>
        </p:nvSpPr>
        <p:spPr>
          <a:xfrm>
            <a:off x="4218305" y="1188626"/>
            <a:ext cx="420510" cy="461665"/>
          </a:xfrm>
          <a:prstGeom prst="rect">
            <a:avLst/>
          </a:prstGeom>
          <a:noFill/>
        </p:spPr>
        <p:txBody>
          <a:bodyPr wrap="square" rtlCol="0">
            <a:spAutoFit/>
          </a:bodyPr>
          <a:lstStyle/>
          <a:p>
            <a:r>
              <a:rPr lang="en-IN" sz="2400" dirty="0"/>
              <a:t>X</a:t>
            </a:r>
          </a:p>
        </p:txBody>
      </p:sp>
      <p:cxnSp>
        <p:nvCxnSpPr>
          <p:cNvPr id="34" name="Straight Connector 33">
            <a:extLst>
              <a:ext uri="{FF2B5EF4-FFF2-40B4-BE49-F238E27FC236}">
                <a16:creationId xmlns:a16="http://schemas.microsoft.com/office/drawing/2014/main" id="{74DCE19A-188C-1702-97F9-9B19F0F26BE1}"/>
              </a:ext>
            </a:extLst>
          </p:cNvPr>
          <p:cNvCxnSpPr>
            <a:cxnSpLocks/>
          </p:cNvCxnSpPr>
          <p:nvPr/>
        </p:nvCxnSpPr>
        <p:spPr>
          <a:xfrm>
            <a:off x="1520825" y="3810592"/>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BD73A33-9DFC-1BDB-603B-7F5EAF5F2828}"/>
              </a:ext>
            </a:extLst>
          </p:cNvPr>
          <p:cNvCxnSpPr>
            <a:cxnSpLocks/>
          </p:cNvCxnSpPr>
          <p:nvPr/>
        </p:nvCxnSpPr>
        <p:spPr>
          <a:xfrm>
            <a:off x="1551890" y="3607359"/>
            <a:ext cx="709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BCD28BA-FE75-77A3-B0BC-7C951EB50B85}"/>
              </a:ext>
            </a:extLst>
          </p:cNvPr>
          <p:cNvSpPr txBox="1"/>
          <p:nvPr/>
        </p:nvSpPr>
        <p:spPr>
          <a:xfrm>
            <a:off x="875965" y="3376526"/>
            <a:ext cx="579631" cy="461665"/>
          </a:xfrm>
          <a:prstGeom prst="rect">
            <a:avLst/>
          </a:prstGeom>
          <a:noFill/>
        </p:spPr>
        <p:txBody>
          <a:bodyPr wrap="square" rtlCol="0">
            <a:spAutoFit/>
          </a:bodyPr>
          <a:lstStyle/>
          <a:p>
            <a:r>
              <a:rPr lang="en-IN" sz="2400" dirty="0"/>
              <a:t>Q1</a:t>
            </a:r>
          </a:p>
        </p:txBody>
      </p:sp>
      <p:sp>
        <p:nvSpPr>
          <p:cNvPr id="46" name="TextBox 45">
            <a:extLst>
              <a:ext uri="{FF2B5EF4-FFF2-40B4-BE49-F238E27FC236}">
                <a16:creationId xmlns:a16="http://schemas.microsoft.com/office/drawing/2014/main" id="{E31DD06C-B7DE-F13D-4063-A2B0F5635315}"/>
              </a:ext>
            </a:extLst>
          </p:cNvPr>
          <p:cNvSpPr txBox="1"/>
          <p:nvPr/>
        </p:nvSpPr>
        <p:spPr>
          <a:xfrm>
            <a:off x="1058621" y="4815028"/>
            <a:ext cx="579631" cy="461665"/>
          </a:xfrm>
          <a:prstGeom prst="rect">
            <a:avLst/>
          </a:prstGeom>
          <a:noFill/>
        </p:spPr>
        <p:txBody>
          <a:bodyPr wrap="square" rtlCol="0">
            <a:spAutoFit/>
          </a:bodyPr>
          <a:lstStyle/>
          <a:p>
            <a:r>
              <a:rPr lang="en-IN" sz="2400" dirty="0"/>
              <a:t>Q0</a:t>
            </a:r>
          </a:p>
        </p:txBody>
      </p:sp>
      <p:cxnSp>
        <p:nvCxnSpPr>
          <p:cNvPr id="48" name="Straight Connector 47">
            <a:extLst>
              <a:ext uri="{FF2B5EF4-FFF2-40B4-BE49-F238E27FC236}">
                <a16:creationId xmlns:a16="http://schemas.microsoft.com/office/drawing/2014/main" id="{F637A49F-1458-BB37-A150-82B7CE3845EE}"/>
              </a:ext>
            </a:extLst>
          </p:cNvPr>
          <p:cNvCxnSpPr>
            <a:cxnSpLocks/>
          </p:cNvCxnSpPr>
          <p:nvPr/>
        </p:nvCxnSpPr>
        <p:spPr>
          <a:xfrm>
            <a:off x="1551890" y="5171500"/>
            <a:ext cx="709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Isosceles Triangle 48">
            <a:extLst>
              <a:ext uri="{FF2B5EF4-FFF2-40B4-BE49-F238E27FC236}">
                <a16:creationId xmlns:a16="http://schemas.microsoft.com/office/drawing/2014/main" id="{2C8ADC42-FC2D-EFAF-858F-E818D951AC70}"/>
              </a:ext>
            </a:extLst>
          </p:cNvPr>
          <p:cNvSpPr/>
          <p:nvPr/>
        </p:nvSpPr>
        <p:spPr>
          <a:xfrm rot="5400000">
            <a:off x="5676239" y="2601559"/>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50" name="Straight Connector 49">
            <a:extLst>
              <a:ext uri="{FF2B5EF4-FFF2-40B4-BE49-F238E27FC236}">
                <a16:creationId xmlns:a16="http://schemas.microsoft.com/office/drawing/2014/main" id="{12CB56A9-F47F-999E-CDEC-2BFF31FE2533}"/>
              </a:ext>
            </a:extLst>
          </p:cNvPr>
          <p:cNvCxnSpPr>
            <a:cxnSpLocks/>
          </p:cNvCxnSpPr>
          <p:nvPr/>
        </p:nvCxnSpPr>
        <p:spPr>
          <a:xfrm>
            <a:off x="5243903" y="2694764"/>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Isosceles Triangle 52">
            <a:extLst>
              <a:ext uri="{FF2B5EF4-FFF2-40B4-BE49-F238E27FC236}">
                <a16:creationId xmlns:a16="http://schemas.microsoft.com/office/drawing/2014/main" id="{409BC6BC-7547-4AFD-7D5B-8C334E4645D3}"/>
              </a:ext>
            </a:extLst>
          </p:cNvPr>
          <p:cNvSpPr/>
          <p:nvPr/>
        </p:nvSpPr>
        <p:spPr>
          <a:xfrm rot="5400000">
            <a:off x="5672531" y="5559674"/>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54" name="Straight Connector 53">
            <a:extLst>
              <a:ext uri="{FF2B5EF4-FFF2-40B4-BE49-F238E27FC236}">
                <a16:creationId xmlns:a16="http://schemas.microsoft.com/office/drawing/2014/main" id="{C95A8A3D-30B1-7593-09D9-1FAFD8371CC7}"/>
              </a:ext>
            </a:extLst>
          </p:cNvPr>
          <p:cNvCxnSpPr>
            <a:cxnSpLocks/>
          </p:cNvCxnSpPr>
          <p:nvPr/>
        </p:nvCxnSpPr>
        <p:spPr>
          <a:xfrm>
            <a:off x="5240195" y="5652879"/>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C4ACF85-73B6-BF43-A71D-E86DB5F7B268}"/>
              </a:ext>
            </a:extLst>
          </p:cNvPr>
          <p:cNvCxnSpPr>
            <a:cxnSpLocks/>
          </p:cNvCxnSpPr>
          <p:nvPr/>
        </p:nvCxnSpPr>
        <p:spPr>
          <a:xfrm>
            <a:off x="5251416" y="2687817"/>
            <a:ext cx="0" cy="32873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B381DF2-2339-0E83-997C-E2B6FF2B7D08}"/>
              </a:ext>
            </a:extLst>
          </p:cNvPr>
          <p:cNvSpPr txBox="1"/>
          <p:nvPr/>
        </p:nvSpPr>
        <p:spPr>
          <a:xfrm>
            <a:off x="4942733" y="5946858"/>
            <a:ext cx="567690" cy="461665"/>
          </a:xfrm>
          <a:prstGeom prst="rect">
            <a:avLst/>
          </a:prstGeom>
          <a:noFill/>
        </p:spPr>
        <p:txBody>
          <a:bodyPr wrap="square" rtlCol="0">
            <a:spAutoFit/>
          </a:bodyPr>
          <a:lstStyle/>
          <a:p>
            <a:r>
              <a:rPr lang="en-IN" sz="2400" dirty="0" err="1"/>
              <a:t>clk</a:t>
            </a:r>
            <a:endParaRPr lang="en-IN" sz="2400" dirty="0"/>
          </a:p>
        </p:txBody>
      </p:sp>
    </p:spTree>
    <p:extLst>
      <p:ext uri="{BB962C8B-B14F-4D97-AF65-F5344CB8AC3E}">
        <p14:creationId xmlns:p14="http://schemas.microsoft.com/office/powerpoint/2010/main" val="2981000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4F3CA-68C9-7512-6B46-9917479562D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FF3BA3-7F15-3874-7B8E-26281D00D36C}"/>
              </a:ext>
            </a:extLst>
          </p:cNvPr>
          <p:cNvSpPr txBox="1"/>
          <p:nvPr/>
        </p:nvSpPr>
        <p:spPr>
          <a:xfrm>
            <a:off x="1526018" y="2769909"/>
            <a:ext cx="9246945" cy="1964512"/>
          </a:xfrm>
          <a:prstGeom prst="rect">
            <a:avLst/>
          </a:prstGeom>
          <a:noFill/>
        </p:spPr>
        <p:txBody>
          <a:bodyPr wrap="square" rtlCol="0">
            <a:spAutoFit/>
          </a:bodyPr>
          <a:lstStyle/>
          <a:p>
            <a:pPr algn="ctr">
              <a:lnSpc>
                <a:spcPct val="150000"/>
              </a:lnSpc>
            </a:pPr>
            <a:r>
              <a:rPr lang="en-IN" sz="2800" dirty="0">
                <a:solidFill>
                  <a:schemeClr val="accent1">
                    <a:lumMod val="75000"/>
                  </a:schemeClr>
                </a:solidFill>
              </a:rPr>
              <a:t>Ques: Design a 3-bit Gray Code Counter.</a:t>
            </a:r>
          </a:p>
          <a:p>
            <a:pPr algn="ctr">
              <a:lnSpc>
                <a:spcPct val="150000"/>
              </a:lnSpc>
            </a:pPr>
            <a:r>
              <a:rPr lang="en-IN" sz="2800" dirty="0">
                <a:solidFill>
                  <a:schemeClr val="accent1">
                    <a:lumMod val="75000"/>
                  </a:schemeClr>
                </a:solidFill>
              </a:rPr>
              <a:t>Sequence:</a:t>
            </a:r>
          </a:p>
          <a:p>
            <a:pPr algn="ctr">
              <a:lnSpc>
                <a:spcPct val="150000"/>
              </a:lnSpc>
            </a:pPr>
            <a:r>
              <a:rPr lang="en-IN" sz="2800" dirty="0">
                <a:solidFill>
                  <a:schemeClr val="accent1">
                    <a:lumMod val="75000"/>
                  </a:schemeClr>
                </a:solidFill>
              </a:rPr>
              <a:t>000</a:t>
            </a:r>
            <a:r>
              <a:rPr lang="en-IN" sz="2800" dirty="0">
                <a:solidFill>
                  <a:schemeClr val="accent1">
                    <a:lumMod val="75000"/>
                  </a:schemeClr>
                </a:solidFill>
                <a:sym typeface="Wingdings" panose="05000000000000000000" pitchFamily="2" charset="2"/>
              </a:rPr>
              <a:t> 001011 010  110 111101 100 000</a:t>
            </a:r>
            <a:endParaRPr lang="en-IN" sz="2800" dirty="0">
              <a:solidFill>
                <a:schemeClr val="accent1">
                  <a:lumMod val="75000"/>
                </a:schemeClr>
              </a:solidFill>
            </a:endParaRPr>
          </a:p>
        </p:txBody>
      </p:sp>
    </p:spTree>
    <p:extLst>
      <p:ext uri="{BB962C8B-B14F-4D97-AF65-F5344CB8AC3E}">
        <p14:creationId xmlns:p14="http://schemas.microsoft.com/office/powerpoint/2010/main" val="1345453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6266" y="101874"/>
            <a:ext cx="11298767" cy="3139321"/>
          </a:xfrm>
          <a:prstGeom prst="rect">
            <a:avLst/>
          </a:prstGeom>
        </p:spPr>
        <p:txBody>
          <a:bodyPr wrap="square">
            <a:spAutoFit/>
          </a:bodyPr>
          <a:lstStyle/>
          <a:p>
            <a:r>
              <a:rPr lang="en-US" b="1" dirty="0"/>
              <a:t>1 — Understand the target sequence (intuition)</a:t>
            </a:r>
          </a:p>
          <a:p>
            <a:r>
              <a:rPr lang="en-US" dirty="0"/>
              <a:t>This counter cycles through the 8 three-bit Gray code values in the order you listed. </a:t>
            </a:r>
            <a:endParaRPr lang="en-US" dirty="0" smtClean="0"/>
          </a:p>
          <a:p>
            <a:endParaRPr lang="en-US" dirty="0"/>
          </a:p>
          <a:p>
            <a:pPr algn="just"/>
            <a:r>
              <a:rPr lang="en-US" dirty="0" smtClean="0"/>
              <a:t>Key </a:t>
            </a:r>
            <a:r>
              <a:rPr lang="en-US" dirty="0"/>
              <a:t>property of Gray code: </a:t>
            </a:r>
            <a:r>
              <a:rPr lang="en-US" b="1" dirty="0"/>
              <a:t>only one bit changes on each step</a:t>
            </a:r>
            <a:r>
              <a:rPr lang="en-US" dirty="0"/>
              <a:t>. That makes it good where </a:t>
            </a:r>
            <a:r>
              <a:rPr lang="en-US" dirty="0" err="1"/>
              <a:t>glitching</a:t>
            </a:r>
            <a:r>
              <a:rPr lang="en-US" dirty="0"/>
              <a:t> due to multiple simultaneous bit changes should be avoided (e.g., analog mux addresses, rotary encoders). Here we design a </a:t>
            </a:r>
            <a:r>
              <a:rPr lang="en-US" i="1" dirty="0"/>
              <a:t>synchronous</a:t>
            </a:r>
            <a:r>
              <a:rPr lang="en-US" dirty="0"/>
              <a:t> 3-bit counter using </a:t>
            </a:r>
            <a:r>
              <a:rPr lang="en-US" b="1" dirty="0"/>
              <a:t>three D flip-flops</a:t>
            </a:r>
            <a:r>
              <a:rPr lang="en-US" dirty="0"/>
              <a:t> (Q2 Q1 Q0) which advances on each clock to the next Gray code in the sequence</a:t>
            </a:r>
            <a:r>
              <a:rPr lang="en-US" dirty="0" smtClean="0"/>
              <a:t>.</a:t>
            </a:r>
          </a:p>
          <a:p>
            <a:pPr algn="just"/>
            <a:endParaRPr lang="en-US" dirty="0"/>
          </a:p>
          <a:p>
            <a:pPr algn="just"/>
            <a:r>
              <a:rPr lang="en-US" dirty="0"/>
              <a:t>We will implement the counter as a synchronous finite state machine: present state = current 3-bit output, next state = next code in sequence. For Moore/Mealy distinction there’s no extra output besides the state; we implement the next-state logic directly into D inputs of the D-FFs.</a:t>
            </a:r>
          </a:p>
        </p:txBody>
      </p:sp>
    </p:spTree>
    <p:extLst>
      <p:ext uri="{BB962C8B-B14F-4D97-AF65-F5344CB8AC3E}">
        <p14:creationId xmlns:p14="http://schemas.microsoft.com/office/powerpoint/2010/main" val="2540691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66484431"/>
              </p:ext>
            </p:extLst>
          </p:nvPr>
        </p:nvGraphicFramePr>
        <p:xfrm>
          <a:off x="0" y="2321507"/>
          <a:ext cx="10515600" cy="3291840"/>
        </p:xfrm>
        <a:graphic>
          <a:graphicData uri="http://schemas.openxmlformats.org/drawingml/2006/table">
            <a:tbl>
              <a:tblPr/>
              <a:tblGrid>
                <a:gridCol w="5257800">
                  <a:extLst>
                    <a:ext uri="{9D8B030D-6E8A-4147-A177-3AD203B41FA5}">
                      <a16:colId xmlns:a16="http://schemas.microsoft.com/office/drawing/2014/main" val="2236292565"/>
                    </a:ext>
                  </a:extLst>
                </a:gridCol>
                <a:gridCol w="5257800">
                  <a:extLst>
                    <a:ext uri="{9D8B030D-6E8A-4147-A177-3AD203B41FA5}">
                      <a16:colId xmlns:a16="http://schemas.microsoft.com/office/drawing/2014/main" val="1235836586"/>
                    </a:ext>
                  </a:extLst>
                </a:gridCol>
              </a:tblGrid>
              <a:tr h="0">
                <a:tc>
                  <a:txBody>
                    <a:bodyPr/>
                    <a:lstStyle/>
                    <a:p>
                      <a:pPr algn="ctr"/>
                      <a:r>
                        <a:rPr lang="en-US" dirty="0"/>
                        <a:t>Present (Q2 Q1 Q0)</a:t>
                      </a:r>
                    </a:p>
                  </a:txBody>
                  <a:tcPr anchor="ctr">
                    <a:lnL>
                      <a:noFill/>
                    </a:lnL>
                    <a:lnR>
                      <a:noFill/>
                    </a:lnR>
                    <a:lnT>
                      <a:noFill/>
                    </a:lnT>
                    <a:lnB>
                      <a:noFill/>
                    </a:lnB>
                  </a:tcPr>
                </a:tc>
                <a:tc>
                  <a:txBody>
                    <a:bodyPr/>
                    <a:lstStyle/>
                    <a:p>
                      <a:pPr algn="ctr"/>
                      <a:r>
                        <a:rPr lang="en-US"/>
                        <a:t>Next (Q2⁺ Q1⁺ Q0⁺)</a:t>
                      </a:r>
                    </a:p>
                  </a:txBody>
                  <a:tcPr anchor="ctr">
                    <a:lnL>
                      <a:noFill/>
                    </a:lnL>
                    <a:lnR>
                      <a:noFill/>
                    </a:lnR>
                    <a:lnT>
                      <a:noFill/>
                    </a:lnT>
                    <a:lnB>
                      <a:noFill/>
                    </a:lnB>
                  </a:tcPr>
                </a:tc>
                <a:extLst>
                  <a:ext uri="{0D108BD9-81ED-4DB2-BD59-A6C34878D82A}">
                    <a16:rowId xmlns:a16="http://schemas.microsoft.com/office/drawing/2014/main" val="530800335"/>
                  </a:ext>
                </a:extLst>
              </a:tr>
              <a:tr h="0">
                <a:tc>
                  <a:txBody>
                    <a:bodyPr/>
                    <a:lstStyle/>
                    <a:p>
                      <a:pPr algn="ctr"/>
                      <a:r>
                        <a:rPr lang="en-US" dirty="0"/>
                        <a:t>000</a:t>
                      </a:r>
                    </a:p>
                  </a:txBody>
                  <a:tcPr anchor="ctr">
                    <a:lnL>
                      <a:noFill/>
                    </a:lnL>
                    <a:lnR>
                      <a:noFill/>
                    </a:lnR>
                    <a:lnT>
                      <a:noFill/>
                    </a:lnT>
                    <a:lnB>
                      <a:noFill/>
                    </a:lnB>
                  </a:tcPr>
                </a:tc>
                <a:tc>
                  <a:txBody>
                    <a:bodyPr/>
                    <a:lstStyle/>
                    <a:p>
                      <a:pPr algn="ctr"/>
                      <a:r>
                        <a:rPr lang="en-US"/>
                        <a:t>001</a:t>
                      </a:r>
                    </a:p>
                  </a:txBody>
                  <a:tcPr anchor="ctr">
                    <a:lnL>
                      <a:noFill/>
                    </a:lnL>
                    <a:lnR>
                      <a:noFill/>
                    </a:lnR>
                    <a:lnT>
                      <a:noFill/>
                    </a:lnT>
                    <a:lnB>
                      <a:noFill/>
                    </a:lnB>
                  </a:tcPr>
                </a:tc>
                <a:extLst>
                  <a:ext uri="{0D108BD9-81ED-4DB2-BD59-A6C34878D82A}">
                    <a16:rowId xmlns:a16="http://schemas.microsoft.com/office/drawing/2014/main" val="4188945818"/>
                  </a:ext>
                </a:extLst>
              </a:tr>
              <a:tr h="0">
                <a:tc>
                  <a:txBody>
                    <a:bodyPr/>
                    <a:lstStyle/>
                    <a:p>
                      <a:pPr algn="ctr"/>
                      <a:r>
                        <a:rPr lang="en-US"/>
                        <a:t>001</a:t>
                      </a:r>
                    </a:p>
                  </a:txBody>
                  <a:tcPr anchor="ctr">
                    <a:lnL>
                      <a:noFill/>
                    </a:lnL>
                    <a:lnR>
                      <a:noFill/>
                    </a:lnR>
                    <a:lnT>
                      <a:noFill/>
                    </a:lnT>
                    <a:lnB>
                      <a:noFill/>
                    </a:lnB>
                  </a:tcPr>
                </a:tc>
                <a:tc>
                  <a:txBody>
                    <a:bodyPr/>
                    <a:lstStyle/>
                    <a:p>
                      <a:pPr algn="ctr"/>
                      <a:r>
                        <a:rPr lang="en-US"/>
                        <a:t>011</a:t>
                      </a:r>
                    </a:p>
                  </a:txBody>
                  <a:tcPr anchor="ctr">
                    <a:lnL>
                      <a:noFill/>
                    </a:lnL>
                    <a:lnR>
                      <a:noFill/>
                    </a:lnR>
                    <a:lnT>
                      <a:noFill/>
                    </a:lnT>
                    <a:lnB>
                      <a:noFill/>
                    </a:lnB>
                  </a:tcPr>
                </a:tc>
                <a:extLst>
                  <a:ext uri="{0D108BD9-81ED-4DB2-BD59-A6C34878D82A}">
                    <a16:rowId xmlns:a16="http://schemas.microsoft.com/office/drawing/2014/main" val="1959283328"/>
                  </a:ext>
                </a:extLst>
              </a:tr>
              <a:tr h="0">
                <a:tc>
                  <a:txBody>
                    <a:bodyPr/>
                    <a:lstStyle/>
                    <a:p>
                      <a:pPr algn="ctr"/>
                      <a:r>
                        <a:rPr lang="en-US"/>
                        <a:t>011</a:t>
                      </a:r>
                    </a:p>
                  </a:txBody>
                  <a:tcPr anchor="ctr">
                    <a:lnL>
                      <a:noFill/>
                    </a:lnL>
                    <a:lnR>
                      <a:noFill/>
                    </a:lnR>
                    <a:lnT>
                      <a:noFill/>
                    </a:lnT>
                    <a:lnB>
                      <a:noFill/>
                    </a:lnB>
                  </a:tcPr>
                </a:tc>
                <a:tc>
                  <a:txBody>
                    <a:bodyPr/>
                    <a:lstStyle/>
                    <a:p>
                      <a:pPr algn="ctr"/>
                      <a:r>
                        <a:rPr lang="en-US"/>
                        <a:t>010</a:t>
                      </a:r>
                    </a:p>
                  </a:txBody>
                  <a:tcPr anchor="ctr">
                    <a:lnL>
                      <a:noFill/>
                    </a:lnL>
                    <a:lnR>
                      <a:noFill/>
                    </a:lnR>
                    <a:lnT>
                      <a:noFill/>
                    </a:lnT>
                    <a:lnB>
                      <a:noFill/>
                    </a:lnB>
                  </a:tcPr>
                </a:tc>
                <a:extLst>
                  <a:ext uri="{0D108BD9-81ED-4DB2-BD59-A6C34878D82A}">
                    <a16:rowId xmlns:a16="http://schemas.microsoft.com/office/drawing/2014/main" val="1673247351"/>
                  </a:ext>
                </a:extLst>
              </a:tr>
              <a:tr h="0">
                <a:tc>
                  <a:txBody>
                    <a:bodyPr/>
                    <a:lstStyle/>
                    <a:p>
                      <a:pPr algn="ctr"/>
                      <a:r>
                        <a:rPr lang="en-US"/>
                        <a:t>010</a:t>
                      </a:r>
                    </a:p>
                  </a:txBody>
                  <a:tcPr anchor="ctr">
                    <a:lnL>
                      <a:noFill/>
                    </a:lnL>
                    <a:lnR>
                      <a:noFill/>
                    </a:lnR>
                    <a:lnT>
                      <a:noFill/>
                    </a:lnT>
                    <a:lnB>
                      <a:noFill/>
                    </a:lnB>
                  </a:tcPr>
                </a:tc>
                <a:tc>
                  <a:txBody>
                    <a:bodyPr/>
                    <a:lstStyle/>
                    <a:p>
                      <a:pPr algn="ctr"/>
                      <a:r>
                        <a:rPr lang="en-US"/>
                        <a:t>110</a:t>
                      </a:r>
                    </a:p>
                  </a:txBody>
                  <a:tcPr anchor="ctr">
                    <a:lnL>
                      <a:noFill/>
                    </a:lnL>
                    <a:lnR>
                      <a:noFill/>
                    </a:lnR>
                    <a:lnT>
                      <a:noFill/>
                    </a:lnT>
                    <a:lnB>
                      <a:noFill/>
                    </a:lnB>
                  </a:tcPr>
                </a:tc>
                <a:extLst>
                  <a:ext uri="{0D108BD9-81ED-4DB2-BD59-A6C34878D82A}">
                    <a16:rowId xmlns:a16="http://schemas.microsoft.com/office/drawing/2014/main" val="2399942319"/>
                  </a:ext>
                </a:extLst>
              </a:tr>
              <a:tr h="0">
                <a:tc>
                  <a:txBody>
                    <a:bodyPr/>
                    <a:lstStyle/>
                    <a:p>
                      <a:pPr algn="ctr"/>
                      <a:r>
                        <a:rPr lang="en-US"/>
                        <a:t>110</a:t>
                      </a:r>
                    </a:p>
                  </a:txBody>
                  <a:tcPr anchor="ctr">
                    <a:lnL>
                      <a:noFill/>
                    </a:lnL>
                    <a:lnR>
                      <a:noFill/>
                    </a:lnR>
                    <a:lnT>
                      <a:noFill/>
                    </a:lnT>
                    <a:lnB>
                      <a:noFill/>
                    </a:lnB>
                  </a:tcPr>
                </a:tc>
                <a:tc>
                  <a:txBody>
                    <a:bodyPr/>
                    <a:lstStyle/>
                    <a:p>
                      <a:pPr algn="ctr"/>
                      <a:r>
                        <a:rPr lang="en-US"/>
                        <a:t>111</a:t>
                      </a:r>
                    </a:p>
                  </a:txBody>
                  <a:tcPr anchor="ctr">
                    <a:lnL>
                      <a:noFill/>
                    </a:lnL>
                    <a:lnR>
                      <a:noFill/>
                    </a:lnR>
                    <a:lnT>
                      <a:noFill/>
                    </a:lnT>
                    <a:lnB>
                      <a:noFill/>
                    </a:lnB>
                  </a:tcPr>
                </a:tc>
                <a:extLst>
                  <a:ext uri="{0D108BD9-81ED-4DB2-BD59-A6C34878D82A}">
                    <a16:rowId xmlns:a16="http://schemas.microsoft.com/office/drawing/2014/main" val="873563487"/>
                  </a:ext>
                </a:extLst>
              </a:tr>
              <a:tr h="0">
                <a:tc>
                  <a:txBody>
                    <a:bodyPr/>
                    <a:lstStyle/>
                    <a:p>
                      <a:pPr algn="ctr"/>
                      <a:r>
                        <a:rPr lang="en-US"/>
                        <a:t>111</a:t>
                      </a:r>
                    </a:p>
                  </a:txBody>
                  <a:tcPr anchor="ctr">
                    <a:lnL>
                      <a:noFill/>
                    </a:lnL>
                    <a:lnR>
                      <a:noFill/>
                    </a:lnR>
                    <a:lnT>
                      <a:noFill/>
                    </a:lnT>
                    <a:lnB>
                      <a:noFill/>
                    </a:lnB>
                  </a:tcPr>
                </a:tc>
                <a:tc>
                  <a:txBody>
                    <a:bodyPr/>
                    <a:lstStyle/>
                    <a:p>
                      <a:pPr algn="ctr"/>
                      <a:r>
                        <a:rPr lang="en-US"/>
                        <a:t>101</a:t>
                      </a:r>
                    </a:p>
                  </a:txBody>
                  <a:tcPr anchor="ctr">
                    <a:lnL>
                      <a:noFill/>
                    </a:lnL>
                    <a:lnR>
                      <a:noFill/>
                    </a:lnR>
                    <a:lnT>
                      <a:noFill/>
                    </a:lnT>
                    <a:lnB>
                      <a:noFill/>
                    </a:lnB>
                  </a:tcPr>
                </a:tc>
                <a:extLst>
                  <a:ext uri="{0D108BD9-81ED-4DB2-BD59-A6C34878D82A}">
                    <a16:rowId xmlns:a16="http://schemas.microsoft.com/office/drawing/2014/main" val="2453845778"/>
                  </a:ext>
                </a:extLst>
              </a:tr>
              <a:tr h="0">
                <a:tc>
                  <a:txBody>
                    <a:bodyPr/>
                    <a:lstStyle/>
                    <a:p>
                      <a:pPr algn="ctr"/>
                      <a:r>
                        <a:rPr lang="en-US"/>
                        <a:t>101</a:t>
                      </a:r>
                    </a:p>
                  </a:txBody>
                  <a:tcPr anchor="ctr">
                    <a:lnL>
                      <a:noFill/>
                    </a:lnL>
                    <a:lnR>
                      <a:noFill/>
                    </a:lnR>
                    <a:lnT>
                      <a:noFill/>
                    </a:lnT>
                    <a:lnB>
                      <a:noFill/>
                    </a:lnB>
                  </a:tcPr>
                </a:tc>
                <a:tc>
                  <a:txBody>
                    <a:bodyPr/>
                    <a:lstStyle/>
                    <a:p>
                      <a:pPr algn="ctr"/>
                      <a:r>
                        <a:rPr lang="en-US"/>
                        <a:t>100</a:t>
                      </a:r>
                    </a:p>
                  </a:txBody>
                  <a:tcPr anchor="ctr">
                    <a:lnL>
                      <a:noFill/>
                    </a:lnL>
                    <a:lnR>
                      <a:noFill/>
                    </a:lnR>
                    <a:lnT>
                      <a:noFill/>
                    </a:lnT>
                    <a:lnB>
                      <a:noFill/>
                    </a:lnB>
                  </a:tcPr>
                </a:tc>
                <a:extLst>
                  <a:ext uri="{0D108BD9-81ED-4DB2-BD59-A6C34878D82A}">
                    <a16:rowId xmlns:a16="http://schemas.microsoft.com/office/drawing/2014/main" val="1206118789"/>
                  </a:ext>
                </a:extLst>
              </a:tr>
              <a:tr h="0">
                <a:tc>
                  <a:txBody>
                    <a:bodyPr/>
                    <a:lstStyle/>
                    <a:p>
                      <a:pPr algn="ctr"/>
                      <a:r>
                        <a:rPr lang="en-US"/>
                        <a:t>100</a:t>
                      </a:r>
                    </a:p>
                  </a:txBody>
                  <a:tcPr anchor="ctr">
                    <a:lnL>
                      <a:noFill/>
                    </a:lnL>
                    <a:lnR>
                      <a:noFill/>
                    </a:lnR>
                    <a:lnT>
                      <a:noFill/>
                    </a:lnT>
                    <a:lnB>
                      <a:noFill/>
                    </a:lnB>
                  </a:tcPr>
                </a:tc>
                <a:tc>
                  <a:txBody>
                    <a:bodyPr/>
                    <a:lstStyle/>
                    <a:p>
                      <a:pPr algn="ctr"/>
                      <a:r>
                        <a:rPr lang="en-US" dirty="0"/>
                        <a:t>000</a:t>
                      </a:r>
                    </a:p>
                  </a:txBody>
                  <a:tcPr anchor="ctr">
                    <a:lnL>
                      <a:noFill/>
                    </a:lnL>
                    <a:lnR>
                      <a:noFill/>
                    </a:lnR>
                    <a:lnT>
                      <a:noFill/>
                    </a:lnT>
                    <a:lnB>
                      <a:noFill/>
                    </a:lnB>
                  </a:tcPr>
                </a:tc>
                <a:extLst>
                  <a:ext uri="{0D108BD9-81ED-4DB2-BD59-A6C34878D82A}">
                    <a16:rowId xmlns:a16="http://schemas.microsoft.com/office/drawing/2014/main" val="1894599753"/>
                  </a:ext>
                </a:extLst>
              </a:tr>
            </a:tbl>
          </a:graphicData>
        </a:graphic>
      </p:graphicFrame>
      <p:sp>
        <p:nvSpPr>
          <p:cNvPr id="5" name="Rectangle 1"/>
          <p:cNvSpPr>
            <a:spLocks noChangeArrowheads="1"/>
          </p:cNvSpPr>
          <p:nvPr/>
        </p:nvSpPr>
        <p:spPr bwMode="auto">
          <a:xfrm>
            <a:off x="2302934" y="1338817"/>
            <a:ext cx="51731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 Assign present → next mapping (state table)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List every present code and the next code (from your sequence):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9358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BC27-BD0E-CE6F-D250-01BD9389CB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DC72132-358A-B3FB-F27E-572E73DF72A2}"/>
                  </a:ext>
                </a:extLst>
              </p:cNvPr>
              <p:cNvGraphicFramePr>
                <a:graphicFrameLocks noGrp="1"/>
              </p:cNvGraphicFramePr>
              <p:nvPr>
                <p:extLst>
                  <p:ext uri="{D42A27DB-BD31-4B8C-83A1-F6EECF244321}">
                    <p14:modId xmlns:p14="http://schemas.microsoft.com/office/powerpoint/2010/main" val="3735478006"/>
                  </p:ext>
                </p:extLst>
              </p:nvPr>
            </p:nvGraphicFramePr>
            <p:xfrm>
              <a:off x="686813" y="449210"/>
              <a:ext cx="10818378" cy="3688080"/>
            </p:xfrm>
            <a:graphic>
              <a:graphicData uri="http://schemas.openxmlformats.org/drawingml/2006/table">
                <a:tbl>
                  <a:tblPr firstRow="1" bandRow="1">
                    <a:tableStyleId>{5940675A-B579-460E-94D1-54222C63F5DA}</a:tableStyleId>
                  </a:tblPr>
                  <a:tblGrid>
                    <a:gridCol w="1202042">
                      <a:extLst>
                        <a:ext uri="{9D8B030D-6E8A-4147-A177-3AD203B41FA5}">
                          <a16:colId xmlns:a16="http://schemas.microsoft.com/office/drawing/2014/main" val="3437135134"/>
                        </a:ext>
                      </a:extLst>
                    </a:gridCol>
                    <a:gridCol w="1202042">
                      <a:extLst>
                        <a:ext uri="{9D8B030D-6E8A-4147-A177-3AD203B41FA5}">
                          <a16:colId xmlns:a16="http://schemas.microsoft.com/office/drawing/2014/main" val="2933985549"/>
                        </a:ext>
                      </a:extLst>
                    </a:gridCol>
                    <a:gridCol w="1202042">
                      <a:extLst>
                        <a:ext uri="{9D8B030D-6E8A-4147-A177-3AD203B41FA5}">
                          <a16:colId xmlns:a16="http://schemas.microsoft.com/office/drawing/2014/main" val="1574647453"/>
                        </a:ext>
                      </a:extLst>
                    </a:gridCol>
                    <a:gridCol w="1202042">
                      <a:extLst>
                        <a:ext uri="{9D8B030D-6E8A-4147-A177-3AD203B41FA5}">
                          <a16:colId xmlns:a16="http://schemas.microsoft.com/office/drawing/2014/main" val="1762740387"/>
                        </a:ext>
                      </a:extLst>
                    </a:gridCol>
                    <a:gridCol w="1202042">
                      <a:extLst>
                        <a:ext uri="{9D8B030D-6E8A-4147-A177-3AD203B41FA5}">
                          <a16:colId xmlns:a16="http://schemas.microsoft.com/office/drawing/2014/main" val="2234014298"/>
                        </a:ext>
                      </a:extLst>
                    </a:gridCol>
                    <a:gridCol w="1202042">
                      <a:extLst>
                        <a:ext uri="{9D8B030D-6E8A-4147-A177-3AD203B41FA5}">
                          <a16:colId xmlns:a16="http://schemas.microsoft.com/office/drawing/2014/main" val="3859240692"/>
                        </a:ext>
                      </a:extLst>
                    </a:gridCol>
                    <a:gridCol w="1202042">
                      <a:extLst>
                        <a:ext uri="{9D8B030D-6E8A-4147-A177-3AD203B41FA5}">
                          <a16:colId xmlns:a16="http://schemas.microsoft.com/office/drawing/2014/main" val="2397332516"/>
                        </a:ext>
                      </a:extLst>
                    </a:gridCol>
                    <a:gridCol w="1202042">
                      <a:extLst>
                        <a:ext uri="{9D8B030D-6E8A-4147-A177-3AD203B41FA5}">
                          <a16:colId xmlns:a16="http://schemas.microsoft.com/office/drawing/2014/main" val="674611442"/>
                        </a:ext>
                      </a:extLst>
                    </a:gridCol>
                    <a:gridCol w="1202042">
                      <a:extLst>
                        <a:ext uri="{9D8B030D-6E8A-4147-A177-3AD203B41FA5}">
                          <a16:colId xmlns:a16="http://schemas.microsoft.com/office/drawing/2014/main" val="17687657"/>
                        </a:ext>
                      </a:extLst>
                    </a:gridCol>
                  </a:tblGrid>
                  <a:tr h="304299">
                    <a:tc gridSpan="3">
                      <a:txBody>
                        <a:bodyPr/>
                        <a:lstStyle/>
                        <a:p>
                          <a:pPr algn="ctr"/>
                          <a:r>
                            <a:rPr lang="en-IN" dirty="0"/>
                            <a:t>Present State</a:t>
                          </a:r>
                        </a:p>
                      </a:txBody>
                      <a:tcPr marL="121706" marR="121706" anchor="ctr"/>
                    </a:tc>
                    <a:tc hMerge="1">
                      <a:txBody>
                        <a:bodyPr/>
                        <a:lstStyle/>
                        <a:p>
                          <a:endParaRPr lang="en-IN" dirty="0"/>
                        </a:p>
                      </a:txBody>
                      <a:tcPr marL="121706" marR="121706"/>
                    </a:tc>
                    <a:tc hMerge="1">
                      <a:txBody>
                        <a:bodyPr/>
                        <a:lstStyle/>
                        <a:p>
                          <a:pPr algn="ctr"/>
                          <a:endParaRPr lang="en-IN" dirty="0"/>
                        </a:p>
                      </a:txBody>
                      <a:tcPr marL="121706" marR="121706"/>
                    </a:tc>
                    <a:tc gridSpan="3">
                      <a:txBody>
                        <a:bodyPr/>
                        <a:lstStyle/>
                        <a:p>
                          <a:pPr algn="ctr"/>
                          <a:r>
                            <a:rPr lang="en-IN" dirty="0"/>
                            <a:t>Next State</a:t>
                          </a:r>
                        </a:p>
                      </a:txBody>
                      <a:tcPr marL="121706" marR="121706" anchor="ctr"/>
                    </a:tc>
                    <a:tc hMerge="1">
                      <a:txBody>
                        <a:bodyPr/>
                        <a:lstStyle/>
                        <a:p>
                          <a:endParaRPr dirty="0"/>
                        </a:p>
                      </a:txBody>
                      <a:tcPr marL="121706" marR="121706"/>
                    </a:tc>
                    <a:tc hMerge="1">
                      <a:txBody>
                        <a:bodyPr/>
                        <a:lstStyle/>
                        <a:p>
                          <a:endParaRPr lang="en-IN" dirty="0"/>
                        </a:p>
                      </a:txBody>
                      <a:tcPr marL="121706" marR="121706"/>
                    </a:tc>
                    <a:tc gridSpan="3">
                      <a:txBody>
                        <a:bodyPr/>
                        <a:lstStyle/>
                        <a:p>
                          <a:pPr algn="ctr"/>
                          <a:r>
                            <a:rPr lang="en-IN" dirty="0"/>
                            <a:t>Flip flop Input</a:t>
                          </a:r>
                        </a:p>
                      </a:txBody>
                      <a:tcPr marL="121706" marR="121706" anchor="ctr"/>
                    </a:tc>
                    <a:tc hMerge="1">
                      <a:txBody>
                        <a:bodyPr/>
                        <a:lstStyle/>
                        <a:p>
                          <a:endParaRPr lang="en-IN" dirty="0"/>
                        </a:p>
                      </a:txBody>
                      <a:tcPr marL="121706" marR="121706"/>
                    </a:tc>
                    <a:tc hMerge="1">
                      <a:txBody>
                        <a:bodyPr/>
                        <a:lstStyle/>
                        <a:p>
                          <a:endParaRPr dirty="0"/>
                        </a:p>
                      </a:txBody>
                      <a:tcPr marL="121706" marR="121706"/>
                    </a:tc>
                    <a:extLst>
                      <a:ext uri="{0D108BD9-81ED-4DB2-BD59-A6C34878D82A}">
                        <a16:rowId xmlns:a16="http://schemas.microsoft.com/office/drawing/2014/main" val="2878732794"/>
                      </a:ext>
                    </a:extLst>
                  </a:tr>
                  <a:tr h="329657">
                    <a:tc>
                      <a:txBody>
                        <a:bodyPr/>
                        <a:lstStyle/>
                        <a:p>
                          <a:pPr algn="ctr"/>
                          <a:r>
                            <a:rPr lang="en-IN" b="1" dirty="0"/>
                            <a:t>Q2</a:t>
                          </a:r>
                        </a:p>
                      </a:txBody>
                      <a:tcPr marL="121706" marR="121706" anchor="ctr"/>
                    </a:tc>
                    <a:tc>
                      <a:txBody>
                        <a:bodyPr/>
                        <a:lstStyle/>
                        <a:p>
                          <a:pPr algn="ctr"/>
                          <a:r>
                            <a:rPr lang="en-IN" b="1" dirty="0"/>
                            <a:t>Q1</a:t>
                          </a:r>
                        </a:p>
                      </a:txBody>
                      <a:tcPr marL="121706" marR="121706" anchor="ctr"/>
                    </a:tc>
                    <a:tc>
                      <a:txBody>
                        <a:bodyPr/>
                        <a:lstStyle/>
                        <a:p>
                          <a:pPr algn="ctr"/>
                          <a:r>
                            <a:rPr lang="en-IN" b="1" dirty="0"/>
                            <a:t>Q0</a:t>
                          </a:r>
                        </a:p>
                      </a:txBody>
                      <a:tcPr marL="121706" marR="121706" anchor="ctr"/>
                    </a:tc>
                    <a:tc>
                      <a:txBody>
                        <a:bodyPr/>
                        <a:lstStyle/>
                        <a:p>
                          <a:pPr algn="ctr"/>
                          <a14:m>
                            <m:oMathPara xmlns:m="http://schemas.openxmlformats.org/officeDocument/2006/math">
                              <m:oMathParaPr>
                                <m:jc m:val="centerGroup"/>
                              </m:oMathParaPr>
                              <m:oMath xmlns:m="http://schemas.openxmlformats.org/officeDocument/2006/math">
                                <m:sSup>
                                  <m:sSupPr>
                                    <m:ctrlPr>
                                      <a:rPr lang="en-IN" sz="1800" b="1" i="1" smtClean="0">
                                        <a:latin typeface="Cambria Math" panose="02040503050406030204" pitchFamily="18" charset="0"/>
                                      </a:rPr>
                                    </m:ctrlPr>
                                  </m:sSupPr>
                                  <m:e>
                                    <m:r>
                                      <a:rPr lang="en-IN" sz="1800" b="1" i="1" smtClean="0">
                                        <a:latin typeface="Cambria Math" panose="02040503050406030204" pitchFamily="18" charset="0"/>
                                      </a:rPr>
                                      <m:t>𝑸</m:t>
                                    </m:r>
                                    <m:r>
                                      <a:rPr lang="en-IN" sz="1800" b="1" i="1" smtClean="0">
                                        <a:latin typeface="Cambria Math" panose="02040503050406030204" pitchFamily="18" charset="0"/>
                                      </a:rPr>
                                      <m:t>𝟐</m:t>
                                    </m:r>
                                  </m:e>
                                  <m:sup>
                                    <m:r>
                                      <a:rPr lang="en-IN" sz="1800" b="1" i="1" smtClean="0">
                                        <a:latin typeface="Cambria Math" panose="02040503050406030204" pitchFamily="18" charset="0"/>
                                      </a:rPr>
                                      <m:t>+</m:t>
                                    </m:r>
                                  </m:sup>
                                </m:sSup>
                              </m:oMath>
                            </m:oMathPara>
                          </a14:m>
                          <a:endParaRPr lang="en-IN" b="1" dirty="0"/>
                        </a:p>
                      </a:txBody>
                      <a:tcPr marL="121706" marR="121706" anchor="ctr"/>
                    </a:tc>
                    <a:tc>
                      <a:txBody>
                        <a:bodyPr/>
                        <a:lstStyle/>
                        <a:p>
                          <a:pPr algn="ctr"/>
                          <a14:m>
                            <m:oMathPara xmlns:m="http://schemas.openxmlformats.org/officeDocument/2006/math">
                              <m:oMathParaPr>
                                <m:jc m:val="centerGroup"/>
                              </m:oMathParaPr>
                              <m:oMath xmlns:m="http://schemas.openxmlformats.org/officeDocument/2006/math">
                                <m:sSup>
                                  <m:sSupPr>
                                    <m:ctrlPr>
                                      <a:rPr lang="en-IN" sz="1800" b="1" i="1" smtClean="0">
                                        <a:latin typeface="Cambria Math" panose="02040503050406030204" pitchFamily="18" charset="0"/>
                                      </a:rPr>
                                    </m:ctrlPr>
                                  </m:sSupPr>
                                  <m:e>
                                    <m:r>
                                      <a:rPr lang="en-IN" sz="1800" b="1" i="1" smtClean="0">
                                        <a:latin typeface="Cambria Math" panose="02040503050406030204" pitchFamily="18" charset="0"/>
                                      </a:rPr>
                                      <m:t>𝑸</m:t>
                                    </m:r>
                                    <m:r>
                                      <a:rPr lang="en-IN" sz="1800" b="1" i="1" smtClean="0">
                                        <a:latin typeface="Cambria Math" panose="02040503050406030204" pitchFamily="18" charset="0"/>
                                      </a:rPr>
                                      <m:t>𝟏</m:t>
                                    </m:r>
                                  </m:e>
                                  <m:sup>
                                    <m:r>
                                      <a:rPr lang="en-IN" sz="1800" b="1" i="1" smtClean="0">
                                        <a:latin typeface="Cambria Math" panose="02040503050406030204" pitchFamily="18" charset="0"/>
                                      </a:rPr>
                                      <m:t>+</m:t>
                                    </m:r>
                                  </m:sup>
                                </m:sSup>
                              </m:oMath>
                            </m:oMathPara>
                          </a14:m>
                          <a:endParaRPr lang="en-IN" b="1" dirty="0"/>
                        </a:p>
                      </a:txBody>
                      <a:tcPr marL="121706" marR="121706" anchor="ctr"/>
                    </a:tc>
                    <a:tc>
                      <a:txBody>
                        <a:bodyPr/>
                        <a:lstStyle/>
                        <a:p>
                          <a:pPr algn="ctr"/>
                          <a14:m>
                            <m:oMathPara xmlns:m="http://schemas.openxmlformats.org/officeDocument/2006/math">
                              <m:oMathParaPr>
                                <m:jc m:val="centerGroup"/>
                              </m:oMathParaPr>
                              <m:oMath xmlns:m="http://schemas.openxmlformats.org/officeDocument/2006/math">
                                <m:sSup>
                                  <m:sSupPr>
                                    <m:ctrlPr>
                                      <a:rPr lang="en-IN" sz="2000" b="1" i="1" smtClean="0">
                                        <a:latin typeface="Cambria Math" panose="02040503050406030204" pitchFamily="18" charset="0"/>
                                      </a:rPr>
                                    </m:ctrlPr>
                                  </m:sSupPr>
                                  <m:e>
                                    <m:r>
                                      <a:rPr lang="en-IN" sz="2000" b="1" i="1" smtClean="0">
                                        <a:latin typeface="Cambria Math" panose="02040503050406030204" pitchFamily="18" charset="0"/>
                                      </a:rPr>
                                      <m:t>𝑸</m:t>
                                    </m:r>
                                    <m:r>
                                      <a:rPr lang="en-IN" sz="2000" b="1" i="1" smtClean="0">
                                        <a:latin typeface="Cambria Math" panose="02040503050406030204" pitchFamily="18" charset="0"/>
                                      </a:rPr>
                                      <m:t>𝟎</m:t>
                                    </m:r>
                                  </m:e>
                                  <m:sup>
                                    <m:r>
                                      <a:rPr lang="en-IN" sz="2000" b="1" i="1" smtClean="0">
                                        <a:latin typeface="Cambria Math" panose="02040503050406030204" pitchFamily="18" charset="0"/>
                                      </a:rPr>
                                      <m:t>+</m:t>
                                    </m:r>
                                  </m:sup>
                                </m:sSup>
                              </m:oMath>
                            </m:oMathPara>
                          </a14:m>
                          <a:endParaRPr lang="en-IN" sz="2000" b="1" dirty="0"/>
                        </a:p>
                      </a:txBody>
                      <a:tcPr marL="121706" marR="121706" anchor="ctr"/>
                    </a:tc>
                    <a:tc>
                      <a:txBody>
                        <a:bodyPr/>
                        <a:lstStyle/>
                        <a:p>
                          <a:pPr algn="ctr"/>
                          <a:r>
                            <a:rPr lang="en-IN" b="1" dirty="0"/>
                            <a:t>D2</a:t>
                          </a:r>
                        </a:p>
                      </a:txBody>
                      <a:tcPr marL="121706" marR="121706" anchor="ctr"/>
                    </a:tc>
                    <a:tc>
                      <a:txBody>
                        <a:bodyPr/>
                        <a:lstStyle/>
                        <a:p>
                          <a:pPr algn="ctr"/>
                          <a:r>
                            <a:rPr lang="en-IN" b="1" dirty="0"/>
                            <a:t>D1</a:t>
                          </a:r>
                        </a:p>
                      </a:txBody>
                      <a:tcPr marL="121706" marR="121706" anchor="ctr"/>
                    </a:tc>
                    <a:tc>
                      <a:txBody>
                        <a:bodyPr/>
                        <a:lstStyle/>
                        <a:p>
                          <a:pPr algn="ctr"/>
                          <a:r>
                            <a:rPr lang="en-IN" b="1" dirty="0"/>
                            <a:t>D0</a:t>
                          </a:r>
                        </a:p>
                      </a:txBody>
                      <a:tcPr marL="121706" marR="121706" anchor="ctr"/>
                    </a:tc>
                    <a:extLst>
                      <a:ext uri="{0D108BD9-81ED-4DB2-BD59-A6C34878D82A}">
                        <a16:rowId xmlns:a16="http://schemas.microsoft.com/office/drawing/2014/main" val="3367109654"/>
                      </a:ext>
                    </a:extLst>
                  </a:tr>
                  <a:tr h="304299">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783127527"/>
                      </a:ext>
                    </a:extLst>
                  </a:tr>
                  <a:tr h="304299">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1361314861"/>
                      </a:ext>
                    </a:extLst>
                  </a:tr>
                  <a:tr h="304299">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2728514999"/>
                      </a:ext>
                    </a:extLst>
                  </a:tr>
                  <a:tr h="304299">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1004251963"/>
                      </a:ext>
                    </a:extLst>
                  </a:tr>
                  <a:tr h="304299">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3965152139"/>
                      </a:ext>
                    </a:extLst>
                  </a:tr>
                  <a:tr h="304299">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2003450018"/>
                      </a:ext>
                    </a:extLst>
                  </a:tr>
                  <a:tr h="304299">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306134035"/>
                      </a:ext>
                    </a:extLst>
                  </a:tr>
                  <a:tr h="304299">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4055878394"/>
                      </a:ext>
                    </a:extLst>
                  </a:tr>
                </a:tbl>
              </a:graphicData>
            </a:graphic>
          </p:graphicFrame>
        </mc:Choice>
        <mc:Fallback xmlns="">
          <p:graphicFrame>
            <p:nvGraphicFramePr>
              <p:cNvPr id="3" name="Table 2">
                <a:extLst>
                  <a:ext uri="{FF2B5EF4-FFF2-40B4-BE49-F238E27FC236}">
                    <a16:creationId xmlns:a16="http://schemas.microsoft.com/office/drawing/2014/main" id="{3DC72132-358A-B3FB-F27E-572E73DF72A2}"/>
                  </a:ext>
                </a:extLst>
              </p:cNvPr>
              <p:cNvGraphicFramePr>
                <a:graphicFrameLocks noGrp="1"/>
              </p:cNvGraphicFramePr>
              <p:nvPr>
                <p:extLst>
                  <p:ext uri="{D42A27DB-BD31-4B8C-83A1-F6EECF244321}">
                    <p14:modId xmlns:p14="http://schemas.microsoft.com/office/powerpoint/2010/main" val="3735478006"/>
                  </p:ext>
                </p:extLst>
              </p:nvPr>
            </p:nvGraphicFramePr>
            <p:xfrm>
              <a:off x="686813" y="449210"/>
              <a:ext cx="10818378" cy="3688080"/>
            </p:xfrm>
            <a:graphic>
              <a:graphicData uri="http://schemas.openxmlformats.org/drawingml/2006/table">
                <a:tbl>
                  <a:tblPr firstRow="1" bandRow="1">
                    <a:tableStyleId>{5940675A-B579-460E-94D1-54222C63F5DA}</a:tableStyleId>
                  </a:tblPr>
                  <a:tblGrid>
                    <a:gridCol w="1202042">
                      <a:extLst>
                        <a:ext uri="{9D8B030D-6E8A-4147-A177-3AD203B41FA5}">
                          <a16:colId xmlns:a16="http://schemas.microsoft.com/office/drawing/2014/main" val="3437135134"/>
                        </a:ext>
                      </a:extLst>
                    </a:gridCol>
                    <a:gridCol w="1202042">
                      <a:extLst>
                        <a:ext uri="{9D8B030D-6E8A-4147-A177-3AD203B41FA5}">
                          <a16:colId xmlns:a16="http://schemas.microsoft.com/office/drawing/2014/main" val="2933985549"/>
                        </a:ext>
                      </a:extLst>
                    </a:gridCol>
                    <a:gridCol w="1202042">
                      <a:extLst>
                        <a:ext uri="{9D8B030D-6E8A-4147-A177-3AD203B41FA5}">
                          <a16:colId xmlns:a16="http://schemas.microsoft.com/office/drawing/2014/main" val="1574647453"/>
                        </a:ext>
                      </a:extLst>
                    </a:gridCol>
                    <a:gridCol w="1202042">
                      <a:extLst>
                        <a:ext uri="{9D8B030D-6E8A-4147-A177-3AD203B41FA5}">
                          <a16:colId xmlns:a16="http://schemas.microsoft.com/office/drawing/2014/main" val="1762740387"/>
                        </a:ext>
                      </a:extLst>
                    </a:gridCol>
                    <a:gridCol w="1202042">
                      <a:extLst>
                        <a:ext uri="{9D8B030D-6E8A-4147-A177-3AD203B41FA5}">
                          <a16:colId xmlns:a16="http://schemas.microsoft.com/office/drawing/2014/main" val="2234014298"/>
                        </a:ext>
                      </a:extLst>
                    </a:gridCol>
                    <a:gridCol w="1202042">
                      <a:extLst>
                        <a:ext uri="{9D8B030D-6E8A-4147-A177-3AD203B41FA5}">
                          <a16:colId xmlns:a16="http://schemas.microsoft.com/office/drawing/2014/main" val="3859240692"/>
                        </a:ext>
                      </a:extLst>
                    </a:gridCol>
                    <a:gridCol w="1202042">
                      <a:extLst>
                        <a:ext uri="{9D8B030D-6E8A-4147-A177-3AD203B41FA5}">
                          <a16:colId xmlns:a16="http://schemas.microsoft.com/office/drawing/2014/main" val="2397332516"/>
                        </a:ext>
                      </a:extLst>
                    </a:gridCol>
                    <a:gridCol w="1202042">
                      <a:extLst>
                        <a:ext uri="{9D8B030D-6E8A-4147-A177-3AD203B41FA5}">
                          <a16:colId xmlns:a16="http://schemas.microsoft.com/office/drawing/2014/main" val="674611442"/>
                        </a:ext>
                      </a:extLst>
                    </a:gridCol>
                    <a:gridCol w="1202042">
                      <a:extLst>
                        <a:ext uri="{9D8B030D-6E8A-4147-A177-3AD203B41FA5}">
                          <a16:colId xmlns:a16="http://schemas.microsoft.com/office/drawing/2014/main" val="17687657"/>
                        </a:ext>
                      </a:extLst>
                    </a:gridCol>
                  </a:tblGrid>
                  <a:tr h="365760">
                    <a:tc gridSpan="3">
                      <a:txBody>
                        <a:bodyPr/>
                        <a:lstStyle/>
                        <a:p>
                          <a:pPr algn="ctr"/>
                          <a:r>
                            <a:rPr lang="en-IN" dirty="0"/>
                            <a:t>Present State</a:t>
                          </a:r>
                        </a:p>
                      </a:txBody>
                      <a:tcPr marL="121706" marR="121706" anchor="ctr"/>
                    </a:tc>
                    <a:tc hMerge="1">
                      <a:txBody>
                        <a:bodyPr/>
                        <a:lstStyle/>
                        <a:p>
                          <a:endParaRPr lang="en-IN" dirty="0"/>
                        </a:p>
                      </a:txBody>
                      <a:tcPr marL="121706" marR="121706"/>
                    </a:tc>
                    <a:tc hMerge="1">
                      <a:txBody>
                        <a:bodyPr/>
                        <a:lstStyle/>
                        <a:p>
                          <a:pPr algn="ctr"/>
                          <a:endParaRPr lang="en-IN" dirty="0"/>
                        </a:p>
                      </a:txBody>
                      <a:tcPr marL="121706" marR="121706"/>
                    </a:tc>
                    <a:tc gridSpan="3">
                      <a:txBody>
                        <a:bodyPr/>
                        <a:lstStyle/>
                        <a:p>
                          <a:pPr algn="ctr"/>
                          <a:r>
                            <a:rPr lang="en-IN" dirty="0"/>
                            <a:t>Next State</a:t>
                          </a:r>
                        </a:p>
                      </a:txBody>
                      <a:tcPr marL="121706" marR="121706" anchor="ctr"/>
                    </a:tc>
                    <a:tc hMerge="1">
                      <a:txBody>
                        <a:bodyPr/>
                        <a:lstStyle/>
                        <a:p>
                          <a:endParaRPr dirty="0"/>
                        </a:p>
                      </a:txBody>
                      <a:tcPr marL="121706" marR="121706"/>
                    </a:tc>
                    <a:tc hMerge="1">
                      <a:txBody>
                        <a:bodyPr/>
                        <a:lstStyle/>
                        <a:p>
                          <a:endParaRPr lang="en-IN" dirty="0"/>
                        </a:p>
                      </a:txBody>
                      <a:tcPr marL="121706" marR="121706"/>
                    </a:tc>
                    <a:tc gridSpan="3">
                      <a:txBody>
                        <a:bodyPr/>
                        <a:lstStyle/>
                        <a:p>
                          <a:pPr algn="ctr"/>
                          <a:r>
                            <a:rPr lang="en-IN" dirty="0"/>
                            <a:t>Flip flop Input</a:t>
                          </a:r>
                        </a:p>
                      </a:txBody>
                      <a:tcPr marL="121706" marR="121706" anchor="ctr"/>
                    </a:tc>
                    <a:tc hMerge="1">
                      <a:txBody>
                        <a:bodyPr/>
                        <a:lstStyle/>
                        <a:p>
                          <a:endParaRPr lang="en-IN" dirty="0"/>
                        </a:p>
                      </a:txBody>
                      <a:tcPr marL="121706" marR="121706"/>
                    </a:tc>
                    <a:tc hMerge="1">
                      <a:txBody>
                        <a:bodyPr/>
                        <a:lstStyle/>
                        <a:p>
                          <a:endParaRPr dirty="0"/>
                        </a:p>
                      </a:txBody>
                      <a:tcPr marL="121706" marR="121706"/>
                    </a:tc>
                    <a:extLst>
                      <a:ext uri="{0D108BD9-81ED-4DB2-BD59-A6C34878D82A}">
                        <a16:rowId xmlns:a16="http://schemas.microsoft.com/office/drawing/2014/main" val="2878732794"/>
                      </a:ext>
                    </a:extLst>
                  </a:tr>
                  <a:tr h="396240">
                    <a:tc>
                      <a:txBody>
                        <a:bodyPr/>
                        <a:lstStyle/>
                        <a:p>
                          <a:pPr algn="ctr"/>
                          <a:r>
                            <a:rPr lang="en-IN" b="1" dirty="0"/>
                            <a:t>Q2</a:t>
                          </a:r>
                        </a:p>
                      </a:txBody>
                      <a:tcPr marL="121706" marR="121706" anchor="ctr"/>
                    </a:tc>
                    <a:tc>
                      <a:txBody>
                        <a:bodyPr/>
                        <a:lstStyle/>
                        <a:p>
                          <a:pPr algn="ctr"/>
                          <a:r>
                            <a:rPr lang="en-IN" b="1" dirty="0"/>
                            <a:t>Q1</a:t>
                          </a:r>
                        </a:p>
                      </a:txBody>
                      <a:tcPr marL="121706" marR="121706" anchor="ctr"/>
                    </a:tc>
                    <a:tc>
                      <a:txBody>
                        <a:bodyPr/>
                        <a:lstStyle/>
                        <a:p>
                          <a:pPr algn="ctr"/>
                          <a:r>
                            <a:rPr lang="en-IN" b="1" dirty="0"/>
                            <a:t>Q0</a:t>
                          </a:r>
                        </a:p>
                      </a:txBody>
                      <a:tcPr marL="121706" marR="121706" anchor="ctr"/>
                    </a:tc>
                    <a:tc>
                      <a:txBody>
                        <a:bodyPr/>
                        <a:lstStyle/>
                        <a:p>
                          <a:endParaRPr lang="en-US"/>
                        </a:p>
                      </a:txBody>
                      <a:tcPr marL="121706" marR="121706" anchor="ctr">
                        <a:blipFill>
                          <a:blip r:embed="rId2"/>
                          <a:stretch>
                            <a:fillRect l="-301015" t="-100000" r="-502030" b="-764615"/>
                          </a:stretch>
                        </a:blipFill>
                      </a:tcPr>
                    </a:tc>
                    <a:tc>
                      <a:txBody>
                        <a:bodyPr/>
                        <a:lstStyle/>
                        <a:p>
                          <a:endParaRPr lang="en-US"/>
                        </a:p>
                      </a:txBody>
                      <a:tcPr marL="121706" marR="121706" anchor="ctr">
                        <a:blipFill>
                          <a:blip r:embed="rId2"/>
                          <a:stretch>
                            <a:fillRect l="-398990" t="-100000" r="-399495" b="-764615"/>
                          </a:stretch>
                        </a:blipFill>
                      </a:tcPr>
                    </a:tc>
                    <a:tc>
                      <a:txBody>
                        <a:bodyPr/>
                        <a:lstStyle/>
                        <a:p>
                          <a:endParaRPr lang="en-US"/>
                        </a:p>
                      </a:txBody>
                      <a:tcPr marL="121706" marR="121706" anchor="ctr">
                        <a:blipFill>
                          <a:blip r:embed="rId2"/>
                          <a:stretch>
                            <a:fillRect l="-501523" t="-100000" r="-301523" b="-764615"/>
                          </a:stretch>
                        </a:blipFill>
                      </a:tcPr>
                    </a:tc>
                    <a:tc>
                      <a:txBody>
                        <a:bodyPr/>
                        <a:lstStyle/>
                        <a:p>
                          <a:pPr algn="ctr"/>
                          <a:r>
                            <a:rPr lang="en-IN" b="1" dirty="0"/>
                            <a:t>D2</a:t>
                          </a:r>
                        </a:p>
                      </a:txBody>
                      <a:tcPr marL="121706" marR="121706" anchor="ctr"/>
                    </a:tc>
                    <a:tc>
                      <a:txBody>
                        <a:bodyPr/>
                        <a:lstStyle/>
                        <a:p>
                          <a:pPr algn="ctr"/>
                          <a:r>
                            <a:rPr lang="en-IN" b="1" dirty="0"/>
                            <a:t>D1</a:t>
                          </a:r>
                        </a:p>
                      </a:txBody>
                      <a:tcPr marL="121706" marR="121706" anchor="ctr"/>
                    </a:tc>
                    <a:tc>
                      <a:txBody>
                        <a:bodyPr/>
                        <a:lstStyle/>
                        <a:p>
                          <a:pPr algn="ctr"/>
                          <a:r>
                            <a:rPr lang="en-IN" b="1" dirty="0"/>
                            <a:t>D0</a:t>
                          </a:r>
                        </a:p>
                      </a:txBody>
                      <a:tcPr marL="121706" marR="121706" anchor="ctr"/>
                    </a:tc>
                    <a:extLst>
                      <a:ext uri="{0D108BD9-81ED-4DB2-BD59-A6C34878D82A}">
                        <a16:rowId xmlns:a16="http://schemas.microsoft.com/office/drawing/2014/main" val="3367109654"/>
                      </a:ext>
                    </a:extLst>
                  </a:tr>
                  <a:tr h="365760">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783127527"/>
                      </a:ext>
                    </a:extLst>
                  </a:tr>
                  <a:tr h="365760">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1361314861"/>
                      </a:ext>
                    </a:extLst>
                  </a:tr>
                  <a:tr h="365760">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2728514999"/>
                      </a:ext>
                    </a:extLst>
                  </a:tr>
                  <a:tr h="365760">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1004251963"/>
                      </a:ext>
                    </a:extLst>
                  </a:tr>
                  <a:tr h="365760">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3965152139"/>
                      </a:ext>
                    </a:extLst>
                  </a:tr>
                  <a:tr h="365760">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0</a:t>
                          </a:r>
                        </a:p>
                      </a:txBody>
                      <a:tcPr marL="121706" marR="121706" anchor="ctr"/>
                    </a:tc>
                    <a:extLst>
                      <a:ext uri="{0D108BD9-81ED-4DB2-BD59-A6C34878D82A}">
                        <a16:rowId xmlns:a16="http://schemas.microsoft.com/office/drawing/2014/main" val="2003450018"/>
                      </a:ext>
                    </a:extLst>
                  </a:tr>
                  <a:tr h="365760">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306134035"/>
                      </a:ext>
                    </a:extLst>
                  </a:tr>
                  <a:tr h="365760">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tc>
                      <a:txBody>
                        <a:bodyPr/>
                        <a:lstStyle/>
                        <a:p>
                          <a:pPr algn="ctr"/>
                          <a:r>
                            <a:rPr lang="en-IN" dirty="0"/>
                            <a:t>1</a:t>
                          </a:r>
                        </a:p>
                      </a:txBody>
                      <a:tcPr marL="121706" marR="121706" anchor="ctr"/>
                    </a:tc>
                    <a:tc>
                      <a:txBody>
                        <a:bodyPr/>
                        <a:lstStyle/>
                        <a:p>
                          <a:pPr algn="ctr"/>
                          <a:r>
                            <a:rPr lang="en-IN" dirty="0"/>
                            <a:t>0</a:t>
                          </a:r>
                        </a:p>
                      </a:txBody>
                      <a:tcPr marL="121706" marR="121706" anchor="ctr"/>
                    </a:tc>
                    <a:tc>
                      <a:txBody>
                        <a:bodyPr/>
                        <a:lstStyle/>
                        <a:p>
                          <a:pPr algn="ctr"/>
                          <a:r>
                            <a:rPr lang="en-IN" dirty="0"/>
                            <a:t>1</a:t>
                          </a:r>
                        </a:p>
                      </a:txBody>
                      <a:tcPr marL="121706" marR="121706" anchor="ctr"/>
                    </a:tc>
                    <a:extLst>
                      <a:ext uri="{0D108BD9-81ED-4DB2-BD59-A6C34878D82A}">
                        <a16:rowId xmlns:a16="http://schemas.microsoft.com/office/drawing/2014/main" val="4055878394"/>
                      </a:ext>
                    </a:extLst>
                  </a:tr>
                </a:tbl>
              </a:graphicData>
            </a:graphic>
          </p:graphicFrame>
        </mc:Fallback>
      </mc:AlternateContent>
      <p:graphicFrame>
        <p:nvGraphicFramePr>
          <p:cNvPr id="4" name="Table 3">
            <a:extLst>
              <a:ext uri="{FF2B5EF4-FFF2-40B4-BE49-F238E27FC236}">
                <a16:creationId xmlns:a16="http://schemas.microsoft.com/office/drawing/2014/main" id="{D45AB8D3-B595-9BEA-BBBC-24D94959CA02}"/>
              </a:ext>
            </a:extLst>
          </p:cNvPr>
          <p:cNvGraphicFramePr>
            <a:graphicFrameLocks noGrp="1"/>
          </p:cNvGraphicFramePr>
          <p:nvPr>
            <p:extLst>
              <p:ext uri="{D42A27DB-BD31-4B8C-83A1-F6EECF244321}">
                <p14:modId xmlns:p14="http://schemas.microsoft.com/office/powerpoint/2010/main" val="1022361909"/>
              </p:ext>
            </p:extLst>
          </p:nvPr>
        </p:nvGraphicFramePr>
        <p:xfrm>
          <a:off x="1362821" y="5017060"/>
          <a:ext cx="2385612" cy="741680"/>
        </p:xfrm>
        <a:graphic>
          <a:graphicData uri="http://schemas.openxmlformats.org/drawingml/2006/table">
            <a:tbl>
              <a:tblPr firstRow="1" bandRow="1">
                <a:tableStyleId>{5940675A-B579-460E-94D1-54222C63F5DA}</a:tableStyleId>
              </a:tblPr>
              <a:tblGrid>
                <a:gridCol w="600851">
                  <a:extLst>
                    <a:ext uri="{9D8B030D-6E8A-4147-A177-3AD203B41FA5}">
                      <a16:colId xmlns:a16="http://schemas.microsoft.com/office/drawing/2014/main" val="2883689593"/>
                    </a:ext>
                  </a:extLst>
                </a:gridCol>
                <a:gridCol w="600851">
                  <a:extLst>
                    <a:ext uri="{9D8B030D-6E8A-4147-A177-3AD203B41FA5}">
                      <a16:colId xmlns:a16="http://schemas.microsoft.com/office/drawing/2014/main" val="2298902156"/>
                    </a:ext>
                  </a:extLst>
                </a:gridCol>
                <a:gridCol w="600851">
                  <a:extLst>
                    <a:ext uri="{9D8B030D-6E8A-4147-A177-3AD203B41FA5}">
                      <a16:colId xmlns:a16="http://schemas.microsoft.com/office/drawing/2014/main" val="2269983470"/>
                    </a:ext>
                  </a:extLst>
                </a:gridCol>
                <a:gridCol w="583059">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884910185"/>
                  </a:ext>
                </a:extLst>
              </a:tr>
            </a:tbl>
          </a:graphicData>
        </a:graphic>
      </p:graphicFrame>
      <p:sp>
        <p:nvSpPr>
          <p:cNvPr id="9" name="TextBox 8">
            <a:extLst>
              <a:ext uri="{FF2B5EF4-FFF2-40B4-BE49-F238E27FC236}">
                <a16:creationId xmlns:a16="http://schemas.microsoft.com/office/drawing/2014/main" id="{02EA7D9B-766C-E45D-7DA2-D2173818E5C5}"/>
              </a:ext>
            </a:extLst>
          </p:cNvPr>
          <p:cNvSpPr txBox="1"/>
          <p:nvPr/>
        </p:nvSpPr>
        <p:spPr>
          <a:xfrm>
            <a:off x="1067090" y="4978774"/>
            <a:ext cx="374021"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10" name="TextBox 9">
            <a:extLst>
              <a:ext uri="{FF2B5EF4-FFF2-40B4-BE49-F238E27FC236}">
                <a16:creationId xmlns:a16="http://schemas.microsoft.com/office/drawing/2014/main" id="{74435A21-4EF5-38C7-B217-AC5CDC50ECFA}"/>
              </a:ext>
            </a:extLst>
          </p:cNvPr>
          <p:cNvSpPr txBox="1"/>
          <p:nvPr/>
        </p:nvSpPr>
        <p:spPr>
          <a:xfrm>
            <a:off x="1380022" y="4647728"/>
            <a:ext cx="2368411" cy="369332"/>
          </a:xfrm>
          <a:prstGeom prst="rect">
            <a:avLst/>
          </a:prstGeom>
          <a:noFill/>
        </p:spPr>
        <p:txBody>
          <a:bodyPr wrap="square" rtlCol="0">
            <a:spAutoFit/>
          </a:bodyPr>
          <a:lstStyle/>
          <a:p>
            <a:r>
              <a:rPr lang="en-IN" dirty="0"/>
              <a:t>  00      01       11       10</a:t>
            </a:r>
          </a:p>
        </p:txBody>
      </p:sp>
      <p:sp>
        <p:nvSpPr>
          <p:cNvPr id="12" name="TextBox 11">
            <a:extLst>
              <a:ext uri="{FF2B5EF4-FFF2-40B4-BE49-F238E27FC236}">
                <a16:creationId xmlns:a16="http://schemas.microsoft.com/office/drawing/2014/main" id="{46767152-33CE-307F-6200-1B6326515C21}"/>
              </a:ext>
            </a:extLst>
          </p:cNvPr>
          <p:cNvSpPr txBox="1"/>
          <p:nvPr/>
        </p:nvSpPr>
        <p:spPr>
          <a:xfrm>
            <a:off x="326551" y="4387148"/>
            <a:ext cx="444321" cy="369332"/>
          </a:xfrm>
          <a:prstGeom prst="rect">
            <a:avLst/>
          </a:prstGeom>
          <a:noFill/>
        </p:spPr>
        <p:txBody>
          <a:bodyPr wrap="square" rtlCol="0">
            <a:spAutoFit/>
          </a:bodyPr>
          <a:lstStyle/>
          <a:p>
            <a:r>
              <a:rPr lang="en-IN" dirty="0"/>
              <a:t>D2</a:t>
            </a:r>
          </a:p>
        </p:txBody>
      </p:sp>
      <p:sp>
        <p:nvSpPr>
          <p:cNvPr id="20" name="TextBox 19">
            <a:extLst>
              <a:ext uri="{FF2B5EF4-FFF2-40B4-BE49-F238E27FC236}">
                <a16:creationId xmlns:a16="http://schemas.microsoft.com/office/drawing/2014/main" id="{167D2A73-5973-7A2F-B0A0-7C6412B55D01}"/>
              </a:ext>
            </a:extLst>
          </p:cNvPr>
          <p:cNvSpPr txBox="1"/>
          <p:nvPr/>
        </p:nvSpPr>
        <p:spPr>
          <a:xfrm>
            <a:off x="548711" y="4760819"/>
            <a:ext cx="518379" cy="369332"/>
          </a:xfrm>
          <a:prstGeom prst="rect">
            <a:avLst/>
          </a:prstGeom>
          <a:noFill/>
        </p:spPr>
        <p:txBody>
          <a:bodyPr wrap="square" rtlCol="0">
            <a:spAutoFit/>
          </a:bodyPr>
          <a:lstStyle/>
          <a:p>
            <a:r>
              <a:rPr lang="en-IN" dirty="0"/>
              <a:t>Q2</a:t>
            </a:r>
          </a:p>
        </p:txBody>
      </p:sp>
      <p:cxnSp>
        <p:nvCxnSpPr>
          <p:cNvPr id="25" name="Straight Connector 24">
            <a:extLst>
              <a:ext uri="{FF2B5EF4-FFF2-40B4-BE49-F238E27FC236}">
                <a16:creationId xmlns:a16="http://schemas.microsoft.com/office/drawing/2014/main" id="{BB7E30F1-E21C-B0A1-5BDA-9ECB74AA0A9D}"/>
              </a:ext>
            </a:extLst>
          </p:cNvPr>
          <p:cNvCxnSpPr>
            <a:cxnSpLocks/>
          </p:cNvCxnSpPr>
          <p:nvPr/>
        </p:nvCxnSpPr>
        <p:spPr>
          <a:xfrm flipH="1" flipV="1">
            <a:off x="696579" y="4621458"/>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34E8D504-DCF0-04E1-246A-2B625A5E718E}"/>
              </a:ext>
            </a:extLst>
          </p:cNvPr>
          <p:cNvSpPr txBox="1"/>
          <p:nvPr/>
        </p:nvSpPr>
        <p:spPr>
          <a:xfrm>
            <a:off x="752766" y="4405633"/>
            <a:ext cx="782848" cy="369332"/>
          </a:xfrm>
          <a:prstGeom prst="rect">
            <a:avLst/>
          </a:prstGeom>
          <a:noFill/>
        </p:spPr>
        <p:txBody>
          <a:bodyPr wrap="square" rtlCol="0">
            <a:spAutoFit/>
          </a:bodyPr>
          <a:lstStyle/>
          <a:p>
            <a:r>
              <a:rPr lang="en-IN" dirty="0"/>
              <a:t>Q1 Q0</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B496445-F1F1-C81E-518A-CE74D828CBC2}"/>
                  </a:ext>
                </a:extLst>
              </p:cNvPr>
              <p:cNvSpPr txBox="1"/>
              <p:nvPr/>
            </p:nvSpPr>
            <p:spPr>
              <a:xfrm>
                <a:off x="8662116" y="5978810"/>
                <a:ext cx="2134815" cy="3096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0= </m:t>
                      </m:r>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2</m:t>
                              </m:r>
                            </m:sub>
                          </m:sSub>
                        </m:e>
                      </m:bar>
                      <m:r>
                        <a:rPr lang="en-IN" b="0" i="1" smtClean="0">
                          <a:latin typeface="Cambria Math" panose="02040503050406030204" pitchFamily="18" charset="0"/>
                        </a:rPr>
                        <m:t> </m:t>
                      </m:r>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1</m:t>
                              </m:r>
                            </m:sub>
                          </m:sSub>
                        </m:e>
                      </m:bar>
                      <m:r>
                        <a:rPr lang="en-IN" b="0" i="1" smtClean="0">
                          <a:latin typeface="Cambria Math" panose="02040503050406030204" pitchFamily="18" charset="0"/>
                        </a:rPr>
                        <m:t>+</m:t>
                      </m:r>
                      <m:sSub>
                        <m:sSubPr>
                          <m:ctrlPr>
                            <a:rPr lang="en-IN" i="1" smtClean="0">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2</m:t>
                          </m:r>
                        </m:sub>
                      </m:sSub>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1</m:t>
                          </m:r>
                        </m:sub>
                      </m:sSub>
                    </m:oMath>
                  </m:oMathPara>
                </a14:m>
                <a:endParaRPr lang="en-IN" b="0" dirty="0"/>
              </a:p>
            </p:txBody>
          </p:sp>
        </mc:Choice>
        <mc:Fallback xmlns="">
          <p:sp>
            <p:nvSpPr>
              <p:cNvPr id="28" name="TextBox 27">
                <a:extLst>
                  <a:ext uri="{FF2B5EF4-FFF2-40B4-BE49-F238E27FC236}">
                    <a16:creationId xmlns:a16="http://schemas.microsoft.com/office/drawing/2014/main" id="{CB496445-F1F1-C81E-518A-CE74D828CBC2}"/>
                  </a:ext>
                </a:extLst>
              </p:cNvPr>
              <p:cNvSpPr txBox="1">
                <a:spLocks noRot="1" noChangeAspect="1" noMove="1" noResize="1" noEditPoints="1" noAdjustHandles="1" noChangeArrowheads="1" noChangeShapeType="1" noTextEdit="1"/>
              </p:cNvSpPr>
              <p:nvPr/>
            </p:nvSpPr>
            <p:spPr>
              <a:xfrm>
                <a:off x="8662116" y="5978810"/>
                <a:ext cx="2134815" cy="309637"/>
              </a:xfrm>
              <a:prstGeom prst="rect">
                <a:avLst/>
              </a:prstGeom>
              <a:blipFill>
                <a:blip r:embed="rId3"/>
                <a:stretch>
                  <a:fillRect l="-857" b="-274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AC7E853-FC67-24DB-EBDE-144F3FB22244}"/>
                  </a:ext>
                </a:extLst>
              </p:cNvPr>
              <p:cNvSpPr txBox="1"/>
              <p:nvPr/>
            </p:nvSpPr>
            <p:spPr>
              <a:xfrm>
                <a:off x="4618988" y="5973253"/>
                <a:ext cx="1966499"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b="0" i="1" smtClean="0">
                          <a:latin typeface="Cambria Math" panose="02040503050406030204" pitchFamily="18" charset="0"/>
                        </a:rPr>
                        <m:t>D</m:t>
                      </m:r>
                      <m:r>
                        <a:rPr lang="en-IN" b="0" i="1" smtClean="0">
                          <a:latin typeface="Cambria Math" panose="02040503050406030204" pitchFamily="18" charset="0"/>
                        </a:rPr>
                        <m:t>1=</m:t>
                      </m:r>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i="1">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0" smtClean="0">
                          <a:latin typeface="Cambria Math" panose="02040503050406030204" pitchFamily="18" charset="0"/>
                        </a:rPr>
                        <m:t>+</m:t>
                      </m:r>
                      <m:bar>
                        <m:barPr>
                          <m:pos m:val="top"/>
                          <m:ctrlPr>
                            <a:rPr lang="en-IN" i="1">
                              <a:latin typeface="Cambria Math" panose="02040503050406030204" pitchFamily="18" charset="0"/>
                            </a:rPr>
                          </m:ctrlPr>
                        </m:barPr>
                        <m:e>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2</m:t>
                              </m:r>
                            </m:sub>
                          </m:sSub>
                        </m:e>
                      </m:bar>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i="1">
                              <a:latin typeface="Cambria Math" panose="02040503050406030204" pitchFamily="18" charset="0"/>
                            </a:rPr>
                            <m:t>0</m:t>
                          </m:r>
                        </m:sub>
                      </m:sSub>
                    </m:oMath>
                  </m:oMathPara>
                </a14:m>
                <a:endParaRPr lang="en-IN" dirty="0"/>
              </a:p>
            </p:txBody>
          </p:sp>
        </mc:Choice>
        <mc:Fallback xmlns="">
          <p:sp>
            <p:nvSpPr>
              <p:cNvPr id="33" name="TextBox 32">
                <a:extLst>
                  <a:ext uri="{FF2B5EF4-FFF2-40B4-BE49-F238E27FC236}">
                    <a16:creationId xmlns:a16="http://schemas.microsoft.com/office/drawing/2014/main" id="{0AC7E853-FC67-24DB-EBDE-144F3FB22244}"/>
                  </a:ext>
                </a:extLst>
              </p:cNvPr>
              <p:cNvSpPr txBox="1">
                <a:spLocks noRot="1" noChangeAspect="1" noMove="1" noResize="1" noEditPoints="1" noAdjustHandles="1" noChangeArrowheads="1" noChangeShapeType="1" noTextEdit="1"/>
              </p:cNvSpPr>
              <p:nvPr/>
            </p:nvSpPr>
            <p:spPr>
              <a:xfrm>
                <a:off x="4618988" y="5973253"/>
                <a:ext cx="1966499" cy="309637"/>
              </a:xfrm>
              <a:prstGeom prst="rect">
                <a:avLst/>
              </a:prstGeom>
              <a:blipFill>
                <a:blip r:embed="rId4"/>
                <a:stretch>
                  <a:fillRect l="-2484" r="-932" b="-27451"/>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11F31952-6202-B50E-74BB-4B1412E1DBF9}"/>
              </a:ext>
            </a:extLst>
          </p:cNvPr>
          <p:cNvGraphicFramePr>
            <a:graphicFrameLocks noGrp="1"/>
          </p:cNvGraphicFramePr>
          <p:nvPr>
            <p:extLst>
              <p:ext uri="{D42A27DB-BD31-4B8C-83A1-F6EECF244321}">
                <p14:modId xmlns:p14="http://schemas.microsoft.com/office/powerpoint/2010/main" val="1169865691"/>
              </p:ext>
            </p:extLst>
          </p:nvPr>
        </p:nvGraphicFramePr>
        <p:xfrm>
          <a:off x="4801904" y="5017060"/>
          <a:ext cx="2385612" cy="741680"/>
        </p:xfrm>
        <a:graphic>
          <a:graphicData uri="http://schemas.openxmlformats.org/drawingml/2006/table">
            <a:tbl>
              <a:tblPr firstRow="1" bandRow="1">
                <a:tableStyleId>{5940675A-B579-460E-94D1-54222C63F5DA}</a:tableStyleId>
              </a:tblPr>
              <a:tblGrid>
                <a:gridCol w="600851">
                  <a:extLst>
                    <a:ext uri="{9D8B030D-6E8A-4147-A177-3AD203B41FA5}">
                      <a16:colId xmlns:a16="http://schemas.microsoft.com/office/drawing/2014/main" val="2883689593"/>
                    </a:ext>
                  </a:extLst>
                </a:gridCol>
                <a:gridCol w="600851">
                  <a:extLst>
                    <a:ext uri="{9D8B030D-6E8A-4147-A177-3AD203B41FA5}">
                      <a16:colId xmlns:a16="http://schemas.microsoft.com/office/drawing/2014/main" val="2298902156"/>
                    </a:ext>
                  </a:extLst>
                </a:gridCol>
                <a:gridCol w="600851">
                  <a:extLst>
                    <a:ext uri="{9D8B030D-6E8A-4147-A177-3AD203B41FA5}">
                      <a16:colId xmlns:a16="http://schemas.microsoft.com/office/drawing/2014/main" val="2269983470"/>
                    </a:ext>
                  </a:extLst>
                </a:gridCol>
                <a:gridCol w="583059">
                  <a:extLst>
                    <a:ext uri="{9D8B030D-6E8A-4147-A177-3AD203B41FA5}">
                      <a16:colId xmlns:a16="http://schemas.microsoft.com/office/drawing/2014/main" val="501393656"/>
                    </a:ext>
                  </a:extLst>
                </a:gridCol>
              </a:tblGrid>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884910185"/>
                  </a:ext>
                </a:extLst>
              </a:tr>
            </a:tbl>
          </a:graphicData>
        </a:graphic>
      </p:graphicFrame>
      <p:sp>
        <p:nvSpPr>
          <p:cNvPr id="7" name="TextBox 6">
            <a:extLst>
              <a:ext uri="{FF2B5EF4-FFF2-40B4-BE49-F238E27FC236}">
                <a16:creationId xmlns:a16="http://schemas.microsoft.com/office/drawing/2014/main" id="{9177081A-98E4-3625-DDB3-F0F8860A1CE5}"/>
              </a:ext>
            </a:extLst>
          </p:cNvPr>
          <p:cNvSpPr txBox="1"/>
          <p:nvPr/>
        </p:nvSpPr>
        <p:spPr>
          <a:xfrm>
            <a:off x="4506173" y="4978774"/>
            <a:ext cx="374021"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13" name="TextBox 12">
            <a:extLst>
              <a:ext uri="{FF2B5EF4-FFF2-40B4-BE49-F238E27FC236}">
                <a16:creationId xmlns:a16="http://schemas.microsoft.com/office/drawing/2014/main" id="{3D42BEA8-FC4A-C487-F3A6-3C6327D7C328}"/>
              </a:ext>
            </a:extLst>
          </p:cNvPr>
          <p:cNvSpPr txBox="1"/>
          <p:nvPr/>
        </p:nvSpPr>
        <p:spPr>
          <a:xfrm>
            <a:off x="4819105" y="4647728"/>
            <a:ext cx="2368411" cy="369332"/>
          </a:xfrm>
          <a:prstGeom prst="rect">
            <a:avLst/>
          </a:prstGeom>
          <a:noFill/>
        </p:spPr>
        <p:txBody>
          <a:bodyPr wrap="square" rtlCol="0">
            <a:spAutoFit/>
          </a:bodyPr>
          <a:lstStyle/>
          <a:p>
            <a:r>
              <a:rPr lang="en-IN" dirty="0"/>
              <a:t>  00      01       11       10</a:t>
            </a:r>
          </a:p>
        </p:txBody>
      </p:sp>
      <p:sp>
        <p:nvSpPr>
          <p:cNvPr id="14" name="TextBox 13">
            <a:extLst>
              <a:ext uri="{FF2B5EF4-FFF2-40B4-BE49-F238E27FC236}">
                <a16:creationId xmlns:a16="http://schemas.microsoft.com/office/drawing/2014/main" id="{F801CF92-FDCE-2A73-8139-6B122398792F}"/>
              </a:ext>
            </a:extLst>
          </p:cNvPr>
          <p:cNvSpPr txBox="1"/>
          <p:nvPr/>
        </p:nvSpPr>
        <p:spPr>
          <a:xfrm>
            <a:off x="3765634" y="4387148"/>
            <a:ext cx="444321" cy="369332"/>
          </a:xfrm>
          <a:prstGeom prst="rect">
            <a:avLst/>
          </a:prstGeom>
          <a:noFill/>
        </p:spPr>
        <p:txBody>
          <a:bodyPr wrap="square" rtlCol="0">
            <a:spAutoFit/>
          </a:bodyPr>
          <a:lstStyle/>
          <a:p>
            <a:r>
              <a:rPr lang="en-IN" dirty="0"/>
              <a:t>D1</a:t>
            </a:r>
          </a:p>
        </p:txBody>
      </p:sp>
      <p:sp>
        <p:nvSpPr>
          <p:cNvPr id="16" name="TextBox 15">
            <a:extLst>
              <a:ext uri="{FF2B5EF4-FFF2-40B4-BE49-F238E27FC236}">
                <a16:creationId xmlns:a16="http://schemas.microsoft.com/office/drawing/2014/main" id="{2EE55752-A373-EA69-3729-CF534A337455}"/>
              </a:ext>
            </a:extLst>
          </p:cNvPr>
          <p:cNvSpPr txBox="1"/>
          <p:nvPr/>
        </p:nvSpPr>
        <p:spPr>
          <a:xfrm>
            <a:off x="3987794" y="4760819"/>
            <a:ext cx="518379" cy="369332"/>
          </a:xfrm>
          <a:prstGeom prst="rect">
            <a:avLst/>
          </a:prstGeom>
          <a:noFill/>
        </p:spPr>
        <p:txBody>
          <a:bodyPr wrap="square" rtlCol="0">
            <a:spAutoFit/>
          </a:bodyPr>
          <a:lstStyle/>
          <a:p>
            <a:r>
              <a:rPr lang="en-IN" dirty="0"/>
              <a:t>Q2</a:t>
            </a:r>
          </a:p>
        </p:txBody>
      </p:sp>
      <p:cxnSp>
        <p:nvCxnSpPr>
          <p:cNvPr id="17" name="Straight Connector 16">
            <a:extLst>
              <a:ext uri="{FF2B5EF4-FFF2-40B4-BE49-F238E27FC236}">
                <a16:creationId xmlns:a16="http://schemas.microsoft.com/office/drawing/2014/main" id="{F7C1F60B-EE20-2965-640B-ED771D4FBA85}"/>
              </a:ext>
            </a:extLst>
          </p:cNvPr>
          <p:cNvCxnSpPr>
            <a:cxnSpLocks/>
          </p:cNvCxnSpPr>
          <p:nvPr/>
        </p:nvCxnSpPr>
        <p:spPr>
          <a:xfrm flipH="1" flipV="1">
            <a:off x="4135662" y="4621458"/>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67FE4F7A-2C7D-B325-7ACD-B1B130239C54}"/>
              </a:ext>
            </a:extLst>
          </p:cNvPr>
          <p:cNvSpPr txBox="1"/>
          <p:nvPr/>
        </p:nvSpPr>
        <p:spPr>
          <a:xfrm>
            <a:off x="4191849" y="4405633"/>
            <a:ext cx="782848" cy="369332"/>
          </a:xfrm>
          <a:prstGeom prst="rect">
            <a:avLst/>
          </a:prstGeom>
          <a:noFill/>
        </p:spPr>
        <p:txBody>
          <a:bodyPr wrap="square" rtlCol="0">
            <a:spAutoFit/>
          </a:bodyPr>
          <a:lstStyle/>
          <a:p>
            <a:r>
              <a:rPr lang="en-IN" dirty="0"/>
              <a:t>Q1 Q0</a:t>
            </a:r>
          </a:p>
        </p:txBody>
      </p:sp>
      <p:graphicFrame>
        <p:nvGraphicFramePr>
          <p:cNvPr id="22" name="Table 21">
            <a:extLst>
              <a:ext uri="{FF2B5EF4-FFF2-40B4-BE49-F238E27FC236}">
                <a16:creationId xmlns:a16="http://schemas.microsoft.com/office/drawing/2014/main" id="{96C6D897-5421-11AF-68EC-54010A9D4BEE}"/>
              </a:ext>
            </a:extLst>
          </p:cNvPr>
          <p:cNvGraphicFramePr>
            <a:graphicFrameLocks noGrp="1"/>
          </p:cNvGraphicFramePr>
          <p:nvPr>
            <p:extLst>
              <p:ext uri="{D42A27DB-BD31-4B8C-83A1-F6EECF244321}">
                <p14:modId xmlns:p14="http://schemas.microsoft.com/office/powerpoint/2010/main" val="288169500"/>
              </p:ext>
            </p:extLst>
          </p:nvPr>
        </p:nvGraphicFramePr>
        <p:xfrm>
          <a:off x="8536718" y="5036487"/>
          <a:ext cx="2385612" cy="741680"/>
        </p:xfrm>
        <a:graphic>
          <a:graphicData uri="http://schemas.openxmlformats.org/drawingml/2006/table">
            <a:tbl>
              <a:tblPr firstRow="1" bandRow="1">
                <a:tableStyleId>{5940675A-B579-460E-94D1-54222C63F5DA}</a:tableStyleId>
              </a:tblPr>
              <a:tblGrid>
                <a:gridCol w="600851">
                  <a:extLst>
                    <a:ext uri="{9D8B030D-6E8A-4147-A177-3AD203B41FA5}">
                      <a16:colId xmlns:a16="http://schemas.microsoft.com/office/drawing/2014/main" val="2883689593"/>
                    </a:ext>
                  </a:extLst>
                </a:gridCol>
                <a:gridCol w="600851">
                  <a:extLst>
                    <a:ext uri="{9D8B030D-6E8A-4147-A177-3AD203B41FA5}">
                      <a16:colId xmlns:a16="http://schemas.microsoft.com/office/drawing/2014/main" val="2298902156"/>
                    </a:ext>
                  </a:extLst>
                </a:gridCol>
                <a:gridCol w="600851">
                  <a:extLst>
                    <a:ext uri="{9D8B030D-6E8A-4147-A177-3AD203B41FA5}">
                      <a16:colId xmlns:a16="http://schemas.microsoft.com/office/drawing/2014/main" val="2269983470"/>
                    </a:ext>
                  </a:extLst>
                </a:gridCol>
                <a:gridCol w="583059">
                  <a:extLst>
                    <a:ext uri="{9D8B030D-6E8A-4147-A177-3AD203B41FA5}">
                      <a16:colId xmlns:a16="http://schemas.microsoft.com/office/drawing/2014/main" val="501393656"/>
                    </a:ext>
                  </a:extLst>
                </a:gridCol>
              </a:tblGrid>
              <a:tr h="370840">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401009175"/>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884910185"/>
                  </a:ext>
                </a:extLst>
              </a:tr>
            </a:tbl>
          </a:graphicData>
        </a:graphic>
      </p:graphicFrame>
      <p:sp>
        <p:nvSpPr>
          <p:cNvPr id="23" name="TextBox 22">
            <a:extLst>
              <a:ext uri="{FF2B5EF4-FFF2-40B4-BE49-F238E27FC236}">
                <a16:creationId xmlns:a16="http://schemas.microsoft.com/office/drawing/2014/main" id="{39BB4C45-6E89-46FE-2B45-6DAC9CB5C6CB}"/>
              </a:ext>
            </a:extLst>
          </p:cNvPr>
          <p:cNvSpPr txBox="1"/>
          <p:nvPr/>
        </p:nvSpPr>
        <p:spPr>
          <a:xfrm>
            <a:off x="8240987" y="4998201"/>
            <a:ext cx="374021" cy="830997"/>
          </a:xfrm>
          <a:prstGeom prst="rect">
            <a:avLst/>
          </a:prstGeom>
          <a:noFill/>
        </p:spPr>
        <p:txBody>
          <a:bodyPr wrap="square" rtlCol="0">
            <a:spAutoFit/>
          </a:bodyPr>
          <a:lstStyle/>
          <a:p>
            <a:r>
              <a:rPr lang="en-IN" dirty="0"/>
              <a:t>0</a:t>
            </a:r>
          </a:p>
          <a:p>
            <a:endParaRPr lang="en-IN" sz="1200" dirty="0"/>
          </a:p>
          <a:p>
            <a:r>
              <a:rPr lang="en-IN" dirty="0"/>
              <a:t>1</a:t>
            </a:r>
          </a:p>
        </p:txBody>
      </p:sp>
      <p:sp>
        <p:nvSpPr>
          <p:cNvPr id="24" name="TextBox 23">
            <a:extLst>
              <a:ext uri="{FF2B5EF4-FFF2-40B4-BE49-F238E27FC236}">
                <a16:creationId xmlns:a16="http://schemas.microsoft.com/office/drawing/2014/main" id="{F9EA626C-1209-800E-C0B7-B3E066D58275}"/>
              </a:ext>
            </a:extLst>
          </p:cNvPr>
          <p:cNvSpPr txBox="1"/>
          <p:nvPr/>
        </p:nvSpPr>
        <p:spPr>
          <a:xfrm>
            <a:off x="8553919" y="4667155"/>
            <a:ext cx="2368411" cy="369332"/>
          </a:xfrm>
          <a:prstGeom prst="rect">
            <a:avLst/>
          </a:prstGeom>
          <a:noFill/>
        </p:spPr>
        <p:txBody>
          <a:bodyPr wrap="square" rtlCol="0">
            <a:spAutoFit/>
          </a:bodyPr>
          <a:lstStyle/>
          <a:p>
            <a:r>
              <a:rPr lang="en-IN" dirty="0"/>
              <a:t>  00      01       11       10</a:t>
            </a:r>
          </a:p>
        </p:txBody>
      </p:sp>
      <p:sp>
        <p:nvSpPr>
          <p:cNvPr id="32" name="TextBox 31">
            <a:extLst>
              <a:ext uri="{FF2B5EF4-FFF2-40B4-BE49-F238E27FC236}">
                <a16:creationId xmlns:a16="http://schemas.microsoft.com/office/drawing/2014/main" id="{B5337AFD-C2BE-3FF1-014D-E69EDF1DDC23}"/>
              </a:ext>
            </a:extLst>
          </p:cNvPr>
          <p:cNvSpPr txBox="1"/>
          <p:nvPr/>
        </p:nvSpPr>
        <p:spPr>
          <a:xfrm>
            <a:off x="7500448" y="4406575"/>
            <a:ext cx="444321" cy="369332"/>
          </a:xfrm>
          <a:prstGeom prst="rect">
            <a:avLst/>
          </a:prstGeom>
          <a:noFill/>
        </p:spPr>
        <p:txBody>
          <a:bodyPr wrap="square" rtlCol="0">
            <a:spAutoFit/>
          </a:bodyPr>
          <a:lstStyle/>
          <a:p>
            <a:r>
              <a:rPr lang="en-IN" dirty="0"/>
              <a:t>D0</a:t>
            </a:r>
          </a:p>
        </p:txBody>
      </p:sp>
      <p:sp>
        <p:nvSpPr>
          <p:cNvPr id="34" name="TextBox 33">
            <a:extLst>
              <a:ext uri="{FF2B5EF4-FFF2-40B4-BE49-F238E27FC236}">
                <a16:creationId xmlns:a16="http://schemas.microsoft.com/office/drawing/2014/main" id="{42F5BBA3-4898-9186-2823-B5D6F86C6426}"/>
              </a:ext>
            </a:extLst>
          </p:cNvPr>
          <p:cNvSpPr txBox="1"/>
          <p:nvPr/>
        </p:nvSpPr>
        <p:spPr>
          <a:xfrm>
            <a:off x="7728664" y="4780246"/>
            <a:ext cx="518379" cy="369332"/>
          </a:xfrm>
          <a:prstGeom prst="rect">
            <a:avLst/>
          </a:prstGeom>
          <a:noFill/>
        </p:spPr>
        <p:txBody>
          <a:bodyPr wrap="square" rtlCol="0">
            <a:spAutoFit/>
          </a:bodyPr>
          <a:lstStyle/>
          <a:p>
            <a:r>
              <a:rPr lang="en-IN" dirty="0"/>
              <a:t>Q2</a:t>
            </a:r>
          </a:p>
        </p:txBody>
      </p:sp>
      <p:cxnSp>
        <p:nvCxnSpPr>
          <p:cNvPr id="35" name="Straight Connector 34">
            <a:extLst>
              <a:ext uri="{FF2B5EF4-FFF2-40B4-BE49-F238E27FC236}">
                <a16:creationId xmlns:a16="http://schemas.microsoft.com/office/drawing/2014/main" id="{7E1C40EA-299E-9516-3BF2-F88E1FB66C54}"/>
              </a:ext>
            </a:extLst>
          </p:cNvPr>
          <p:cNvCxnSpPr>
            <a:cxnSpLocks/>
          </p:cNvCxnSpPr>
          <p:nvPr/>
        </p:nvCxnSpPr>
        <p:spPr>
          <a:xfrm flipH="1" flipV="1">
            <a:off x="7870476" y="4640885"/>
            <a:ext cx="691167" cy="403483"/>
          </a:xfrm>
          <a:prstGeom prst="line">
            <a:avLst/>
          </a:prstGeom>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FB053E5D-07B4-75C8-3B4B-ED5EB835D279}"/>
              </a:ext>
            </a:extLst>
          </p:cNvPr>
          <p:cNvSpPr txBox="1"/>
          <p:nvPr/>
        </p:nvSpPr>
        <p:spPr>
          <a:xfrm>
            <a:off x="7926663" y="4425060"/>
            <a:ext cx="861528" cy="369332"/>
          </a:xfrm>
          <a:prstGeom prst="rect">
            <a:avLst/>
          </a:prstGeom>
          <a:noFill/>
        </p:spPr>
        <p:txBody>
          <a:bodyPr wrap="square" rtlCol="0">
            <a:spAutoFit/>
          </a:bodyPr>
          <a:lstStyle/>
          <a:p>
            <a:r>
              <a:rPr lang="en-IN" dirty="0"/>
              <a:t>Q1 Q0</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BA2D256-36D6-B3AE-19E4-986124D997E6}"/>
                  </a:ext>
                </a:extLst>
              </p:cNvPr>
              <p:cNvSpPr txBox="1"/>
              <p:nvPr/>
            </p:nvSpPr>
            <p:spPr>
              <a:xfrm>
                <a:off x="1488219" y="5973252"/>
                <a:ext cx="2031132"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m:t>
                      </m:r>
                      <m:r>
                        <a:rPr lang="en-IN" b="0" i="1" smtClean="0">
                          <a:latin typeface="Cambria Math" panose="02040503050406030204" pitchFamily="18" charset="0"/>
                        </a:rPr>
                        <m:t>2=</m:t>
                      </m:r>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1</m:t>
                          </m:r>
                        </m:sub>
                      </m:sSub>
                      <m:bar>
                        <m:barPr>
                          <m:pos m:val="top"/>
                          <m:ctrlPr>
                            <a:rPr lang="en-IN" b="0" i="1" smtClean="0">
                              <a:latin typeface="Cambria Math" panose="02040503050406030204" pitchFamily="18" charset="0"/>
                            </a:rPr>
                          </m:ctrlPr>
                        </m:barPr>
                        <m:e>
                          <m:sSub>
                            <m:sSubPr>
                              <m:ctrlPr>
                                <a:rPr lang="en-IN" b="0" i="1" smtClean="0">
                                  <a:latin typeface="Cambria Math" panose="02040503050406030204" pitchFamily="18" charset="0"/>
                                </a:rPr>
                              </m:ctrlPr>
                            </m:sSubPr>
                            <m:e>
                              <m:r>
                                <m:rPr>
                                  <m:sty m:val="p"/>
                                </m:rPr>
                                <a:rPr lang="en-IN" b="0" i="1" smtClean="0">
                                  <a:latin typeface="Cambria Math" panose="02040503050406030204" pitchFamily="18" charset="0"/>
                                </a:rPr>
                                <m:t>Q</m:t>
                              </m:r>
                            </m:e>
                            <m:sub>
                              <m:r>
                                <a:rPr lang="en-IN" b="0" i="1" smtClean="0">
                                  <a:latin typeface="Cambria Math" panose="02040503050406030204" pitchFamily="18" charset="0"/>
                                </a:rPr>
                                <m:t>0</m:t>
                              </m:r>
                            </m:sub>
                          </m:sSub>
                        </m:e>
                      </m:bar>
                      <m:r>
                        <a:rPr lang="en-IN" b="0" i="1" smtClean="0">
                          <a:latin typeface="Cambria Math" panose="02040503050406030204" pitchFamily="18" charset="0"/>
                        </a:rPr>
                        <m:t>+</m:t>
                      </m:r>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2</m:t>
                          </m:r>
                        </m:sub>
                      </m:sSub>
                      <m:sSub>
                        <m:sSubPr>
                          <m:ctrlPr>
                            <a:rPr lang="en-IN" i="1">
                              <a:latin typeface="Cambria Math" panose="02040503050406030204" pitchFamily="18" charset="0"/>
                            </a:rPr>
                          </m:ctrlPr>
                        </m:sSubPr>
                        <m:e>
                          <m:r>
                            <m:rPr>
                              <m:sty m:val="p"/>
                            </m:rPr>
                            <a:rPr lang="en-IN" i="1">
                              <a:latin typeface="Cambria Math" panose="02040503050406030204" pitchFamily="18" charset="0"/>
                            </a:rPr>
                            <m:t>Q</m:t>
                          </m:r>
                        </m:e>
                        <m:sub>
                          <m:r>
                            <a:rPr lang="en-IN" b="0" i="1" smtClean="0">
                              <a:latin typeface="Cambria Math" panose="02040503050406030204" pitchFamily="18" charset="0"/>
                            </a:rPr>
                            <m:t>0</m:t>
                          </m:r>
                        </m:sub>
                      </m:sSub>
                    </m:oMath>
                  </m:oMathPara>
                </a14:m>
                <a:endParaRPr lang="en-IN" b="0" dirty="0"/>
              </a:p>
            </p:txBody>
          </p:sp>
        </mc:Choice>
        <mc:Fallback xmlns="">
          <p:sp>
            <p:nvSpPr>
              <p:cNvPr id="37" name="TextBox 36">
                <a:extLst>
                  <a:ext uri="{FF2B5EF4-FFF2-40B4-BE49-F238E27FC236}">
                    <a16:creationId xmlns:a16="http://schemas.microsoft.com/office/drawing/2014/main" id="{7BA2D256-36D6-B3AE-19E4-986124D997E6}"/>
                  </a:ext>
                </a:extLst>
              </p:cNvPr>
              <p:cNvSpPr txBox="1">
                <a:spLocks noRot="1" noChangeAspect="1" noMove="1" noResize="1" noEditPoints="1" noAdjustHandles="1" noChangeArrowheads="1" noChangeShapeType="1" noTextEdit="1"/>
              </p:cNvSpPr>
              <p:nvPr/>
            </p:nvSpPr>
            <p:spPr>
              <a:xfrm>
                <a:off x="1488219" y="5973252"/>
                <a:ext cx="2031132" cy="309637"/>
              </a:xfrm>
              <a:prstGeom prst="rect">
                <a:avLst/>
              </a:prstGeom>
              <a:blipFill>
                <a:blip r:embed="rId5"/>
                <a:stretch>
                  <a:fillRect l="-901" b="-27451"/>
                </a:stretch>
              </a:blipFill>
            </p:spPr>
            <p:txBody>
              <a:bodyPr/>
              <a:lstStyle/>
              <a:p>
                <a:r>
                  <a:rPr lang="en-IN">
                    <a:noFill/>
                  </a:rPr>
                  <a:t> </a:t>
                </a:r>
              </a:p>
            </p:txBody>
          </p:sp>
        </mc:Fallback>
      </mc:AlternateContent>
    </p:spTree>
    <p:extLst>
      <p:ext uri="{BB962C8B-B14F-4D97-AF65-F5344CB8AC3E}">
        <p14:creationId xmlns:p14="http://schemas.microsoft.com/office/powerpoint/2010/main" val="398177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36CE1E-4A63-C37D-3D6B-2FAF065FF483}"/>
              </a:ext>
            </a:extLst>
          </p:cNvPr>
          <p:cNvSpPr/>
          <p:nvPr/>
        </p:nvSpPr>
        <p:spPr>
          <a:xfrm>
            <a:off x="3314724" y="302058"/>
            <a:ext cx="1560286" cy="176795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9E77215-D345-9B62-C91E-079CB72A3825}"/>
              </a:ext>
            </a:extLst>
          </p:cNvPr>
          <p:cNvSpPr txBox="1"/>
          <p:nvPr/>
        </p:nvSpPr>
        <p:spPr>
          <a:xfrm>
            <a:off x="3308668" y="302059"/>
            <a:ext cx="526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prstClr val="black"/>
                </a:solidFill>
                <a:latin typeface="Calibri" panose="020F0502020204030204"/>
              </a:rPr>
              <a:t>D2</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9C5CE8-850E-6357-1ED0-4B6C3A83AE63}"/>
                  </a:ext>
                </a:extLst>
              </p:cNvPr>
              <p:cNvSpPr txBox="1"/>
              <p:nvPr/>
            </p:nvSpPr>
            <p:spPr>
              <a:xfrm>
                <a:off x="4396039" y="302059"/>
                <a:ext cx="29028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2C9C5CE8-850E-6357-1ED0-4B6C3A83AE63}"/>
                  </a:ext>
                </a:extLst>
              </p:cNvPr>
              <p:cNvSpPr txBox="1">
                <a:spLocks noRot="1" noChangeAspect="1" noMove="1" noResize="1" noEditPoints="1" noAdjustHandles="1" noChangeArrowheads="1" noChangeShapeType="1" noTextEdit="1"/>
              </p:cNvSpPr>
              <p:nvPr/>
            </p:nvSpPr>
            <p:spPr>
              <a:xfrm>
                <a:off x="4396039" y="302059"/>
                <a:ext cx="290286" cy="461665"/>
              </a:xfrm>
              <a:prstGeom prst="rect">
                <a:avLst/>
              </a:prstGeom>
              <a:blipFill>
                <a:blip r:embed="rId2"/>
                <a:stretch>
                  <a:fillRect l="-14583" r="-72917"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94D880-DBF9-5FC1-BFE3-8D8905C66037}"/>
                  </a:ext>
                </a:extLst>
              </p:cNvPr>
              <p:cNvSpPr txBox="1"/>
              <p:nvPr/>
            </p:nvSpPr>
            <p:spPr>
              <a:xfrm>
                <a:off x="4345239" y="1608344"/>
                <a:ext cx="290286" cy="5052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bar>
                        <m:barPr>
                          <m:pos m:val="top"/>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e>
                      </m:bar>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8094D880-DBF9-5FC1-BFE3-8D8905C66037}"/>
                  </a:ext>
                </a:extLst>
              </p:cNvPr>
              <p:cNvSpPr txBox="1">
                <a:spLocks noRot="1" noChangeAspect="1" noMove="1" noResize="1" noEditPoints="1" noAdjustHandles="1" noChangeArrowheads="1" noChangeShapeType="1" noTextEdit="1"/>
              </p:cNvSpPr>
              <p:nvPr/>
            </p:nvSpPr>
            <p:spPr>
              <a:xfrm>
                <a:off x="4345239" y="1608344"/>
                <a:ext cx="290286" cy="505203"/>
              </a:xfrm>
              <a:prstGeom prst="rect">
                <a:avLst/>
              </a:prstGeom>
              <a:blipFill>
                <a:blip r:embed="rId3"/>
                <a:stretch>
                  <a:fillRect r="-55319"/>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97903968-7137-098C-A144-D77BBD5E01D5}"/>
              </a:ext>
            </a:extLst>
          </p:cNvPr>
          <p:cNvCxnSpPr>
            <a:cxnSpLocks/>
            <a:endCxn id="3" idx="1"/>
          </p:cNvCxnSpPr>
          <p:nvPr/>
        </p:nvCxnSpPr>
        <p:spPr>
          <a:xfrm>
            <a:off x="1832372" y="532891"/>
            <a:ext cx="1476296"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D1F3A6-2623-53BA-7893-2402EEA18C25}"/>
              </a:ext>
            </a:extLst>
          </p:cNvPr>
          <p:cNvCxnSpPr>
            <a:cxnSpLocks/>
          </p:cNvCxnSpPr>
          <p:nvPr/>
        </p:nvCxnSpPr>
        <p:spPr>
          <a:xfrm>
            <a:off x="4875010" y="532891"/>
            <a:ext cx="1512544"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8A597C8-36AF-02C7-2814-03DFB2190431}"/>
              </a:ext>
            </a:extLst>
          </p:cNvPr>
          <p:cNvCxnSpPr>
            <a:cxnSpLocks/>
          </p:cNvCxnSpPr>
          <p:nvPr/>
        </p:nvCxnSpPr>
        <p:spPr>
          <a:xfrm>
            <a:off x="4875009" y="1809897"/>
            <a:ext cx="6092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0D8DC22-8A28-7D28-F161-F22FD6932053}"/>
              </a:ext>
            </a:extLst>
          </p:cNvPr>
          <p:cNvCxnSpPr>
            <a:cxnSpLocks/>
          </p:cNvCxnSpPr>
          <p:nvPr/>
        </p:nvCxnSpPr>
        <p:spPr>
          <a:xfrm>
            <a:off x="5235327" y="1809897"/>
            <a:ext cx="15655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872321FF-AC32-4D15-02EF-88DDDF815C08}"/>
              </a:ext>
            </a:extLst>
          </p:cNvPr>
          <p:cNvSpPr/>
          <p:nvPr/>
        </p:nvSpPr>
        <p:spPr>
          <a:xfrm rot="5400000">
            <a:off x="3226989" y="1034415"/>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5569419F-35AB-7D12-DB5F-06B39FFCE2E3}"/>
              </a:ext>
            </a:extLst>
          </p:cNvPr>
          <p:cNvCxnSpPr>
            <a:cxnSpLocks/>
          </p:cNvCxnSpPr>
          <p:nvPr/>
        </p:nvCxnSpPr>
        <p:spPr>
          <a:xfrm>
            <a:off x="2794653" y="1127620"/>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957EEAC-B95D-F01B-EFCB-E36996E35F81}"/>
              </a:ext>
            </a:extLst>
          </p:cNvPr>
          <p:cNvSpPr/>
          <p:nvPr/>
        </p:nvSpPr>
        <p:spPr>
          <a:xfrm>
            <a:off x="3324909" y="2666358"/>
            <a:ext cx="1560286" cy="176795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AFD7BA74-8E6D-F926-11BD-C0B016881203}"/>
              </a:ext>
            </a:extLst>
          </p:cNvPr>
          <p:cNvSpPr txBox="1"/>
          <p:nvPr/>
        </p:nvSpPr>
        <p:spPr>
          <a:xfrm>
            <a:off x="3318853" y="2666359"/>
            <a:ext cx="526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prstClr val="black"/>
                </a:solidFill>
                <a:latin typeface="Calibri" panose="020F0502020204030204"/>
              </a:rPr>
              <a:t>D1</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62D5414-E71B-0F87-039A-48AE64DA4EFF}"/>
                  </a:ext>
                </a:extLst>
              </p:cNvPr>
              <p:cNvSpPr txBox="1"/>
              <p:nvPr/>
            </p:nvSpPr>
            <p:spPr>
              <a:xfrm>
                <a:off x="4406224" y="2666359"/>
                <a:ext cx="29028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8" name="TextBox 27">
                <a:extLst>
                  <a:ext uri="{FF2B5EF4-FFF2-40B4-BE49-F238E27FC236}">
                    <a16:creationId xmlns:a16="http://schemas.microsoft.com/office/drawing/2014/main" id="{B62D5414-E71B-0F87-039A-48AE64DA4EFF}"/>
                  </a:ext>
                </a:extLst>
              </p:cNvPr>
              <p:cNvSpPr txBox="1">
                <a:spLocks noRot="1" noChangeAspect="1" noMove="1" noResize="1" noEditPoints="1" noAdjustHandles="1" noChangeArrowheads="1" noChangeShapeType="1" noTextEdit="1"/>
              </p:cNvSpPr>
              <p:nvPr/>
            </p:nvSpPr>
            <p:spPr>
              <a:xfrm>
                <a:off x="4406224" y="2666359"/>
                <a:ext cx="290286" cy="461665"/>
              </a:xfrm>
              <a:prstGeom prst="rect">
                <a:avLst/>
              </a:prstGeom>
              <a:blipFill>
                <a:blip r:embed="rId4"/>
                <a:stretch>
                  <a:fillRect l="-14894" r="-74468" b="-131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8D4BA6C-5409-C102-6CD0-306C956225A1}"/>
                  </a:ext>
                </a:extLst>
              </p:cNvPr>
              <p:cNvSpPr txBox="1"/>
              <p:nvPr/>
            </p:nvSpPr>
            <p:spPr>
              <a:xfrm>
                <a:off x="4355424" y="3972644"/>
                <a:ext cx="290286" cy="5052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bar>
                        <m:barPr>
                          <m:pos m:val="top"/>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e>
                      </m:bar>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9" name="TextBox 28">
                <a:extLst>
                  <a:ext uri="{FF2B5EF4-FFF2-40B4-BE49-F238E27FC236}">
                    <a16:creationId xmlns:a16="http://schemas.microsoft.com/office/drawing/2014/main" id="{D8D4BA6C-5409-C102-6CD0-306C956225A1}"/>
                  </a:ext>
                </a:extLst>
              </p:cNvPr>
              <p:cNvSpPr txBox="1">
                <a:spLocks noRot="1" noChangeAspect="1" noMove="1" noResize="1" noEditPoints="1" noAdjustHandles="1" noChangeArrowheads="1" noChangeShapeType="1" noTextEdit="1"/>
              </p:cNvSpPr>
              <p:nvPr/>
            </p:nvSpPr>
            <p:spPr>
              <a:xfrm>
                <a:off x="4355424" y="3972644"/>
                <a:ext cx="290286" cy="505203"/>
              </a:xfrm>
              <a:prstGeom prst="rect">
                <a:avLst/>
              </a:prstGeom>
              <a:blipFill>
                <a:blip r:embed="rId5"/>
                <a:stretch>
                  <a:fillRect r="-52083"/>
                </a:stretch>
              </a:blipFill>
            </p:spPr>
            <p:txBody>
              <a:bodyPr/>
              <a:lstStyle/>
              <a:p>
                <a:r>
                  <a:rPr lang="en-IN">
                    <a:noFill/>
                  </a:rPr>
                  <a:t> </a:t>
                </a:r>
              </a:p>
            </p:txBody>
          </p:sp>
        </mc:Fallback>
      </mc:AlternateContent>
      <p:cxnSp>
        <p:nvCxnSpPr>
          <p:cNvPr id="30" name="Straight Connector 29">
            <a:extLst>
              <a:ext uri="{FF2B5EF4-FFF2-40B4-BE49-F238E27FC236}">
                <a16:creationId xmlns:a16="http://schemas.microsoft.com/office/drawing/2014/main" id="{1A062CC3-D879-EF20-1E3E-B3DCB571D8B9}"/>
              </a:ext>
            </a:extLst>
          </p:cNvPr>
          <p:cNvCxnSpPr>
            <a:cxnSpLocks/>
            <a:endCxn id="27" idx="1"/>
          </p:cNvCxnSpPr>
          <p:nvPr/>
        </p:nvCxnSpPr>
        <p:spPr>
          <a:xfrm>
            <a:off x="2288337" y="2897192"/>
            <a:ext cx="10305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0570695-8334-7FA8-F4B5-E21BC8A97F28}"/>
              </a:ext>
            </a:extLst>
          </p:cNvPr>
          <p:cNvCxnSpPr>
            <a:cxnSpLocks/>
          </p:cNvCxnSpPr>
          <p:nvPr/>
        </p:nvCxnSpPr>
        <p:spPr>
          <a:xfrm>
            <a:off x="4885195" y="2897191"/>
            <a:ext cx="15103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C3604F7-9E24-31A5-2827-1856DAB85C57}"/>
              </a:ext>
            </a:extLst>
          </p:cNvPr>
          <p:cNvCxnSpPr>
            <a:cxnSpLocks/>
          </p:cNvCxnSpPr>
          <p:nvPr/>
        </p:nvCxnSpPr>
        <p:spPr>
          <a:xfrm>
            <a:off x="4885194" y="4174197"/>
            <a:ext cx="6092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B62F3B6-8F92-E378-79FB-A55C1BDF1A4C}"/>
              </a:ext>
            </a:extLst>
          </p:cNvPr>
          <p:cNvCxnSpPr>
            <a:cxnSpLocks/>
          </p:cNvCxnSpPr>
          <p:nvPr/>
        </p:nvCxnSpPr>
        <p:spPr>
          <a:xfrm>
            <a:off x="5251467" y="4174197"/>
            <a:ext cx="15550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Isosceles Triangle 34">
            <a:extLst>
              <a:ext uri="{FF2B5EF4-FFF2-40B4-BE49-F238E27FC236}">
                <a16:creationId xmlns:a16="http://schemas.microsoft.com/office/drawing/2014/main" id="{75A069BF-F0B0-BDA9-FBB5-8048F4DB896D}"/>
              </a:ext>
            </a:extLst>
          </p:cNvPr>
          <p:cNvSpPr/>
          <p:nvPr/>
        </p:nvSpPr>
        <p:spPr>
          <a:xfrm rot="5400000">
            <a:off x="3237174" y="3398715"/>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E4C2A01F-B23D-AE59-C065-FD6C212E3787}"/>
              </a:ext>
            </a:extLst>
          </p:cNvPr>
          <p:cNvCxnSpPr>
            <a:cxnSpLocks/>
          </p:cNvCxnSpPr>
          <p:nvPr/>
        </p:nvCxnSpPr>
        <p:spPr>
          <a:xfrm>
            <a:off x="2781978" y="3491920"/>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A15DB966-81B1-0032-1B53-B82E15448102}"/>
              </a:ext>
            </a:extLst>
          </p:cNvPr>
          <p:cNvSpPr/>
          <p:nvPr/>
        </p:nvSpPr>
        <p:spPr>
          <a:xfrm>
            <a:off x="3308668" y="4943543"/>
            <a:ext cx="1560286" cy="176795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216EEC6A-8706-4CD8-E276-B4465DC1B545}"/>
              </a:ext>
            </a:extLst>
          </p:cNvPr>
          <p:cNvSpPr txBox="1"/>
          <p:nvPr/>
        </p:nvSpPr>
        <p:spPr>
          <a:xfrm>
            <a:off x="3302612" y="4943544"/>
            <a:ext cx="526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prstClr val="black"/>
                </a:solidFill>
                <a:latin typeface="Calibri" panose="020F0502020204030204"/>
              </a:rPr>
              <a:t>D0</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58EA18C-583C-54F6-CE96-1A906DBBA1FF}"/>
                  </a:ext>
                </a:extLst>
              </p:cNvPr>
              <p:cNvSpPr txBox="1"/>
              <p:nvPr/>
            </p:nvSpPr>
            <p:spPr>
              <a:xfrm>
                <a:off x="4389983" y="4943544"/>
                <a:ext cx="29028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0" name="TextBox 39">
                <a:extLst>
                  <a:ext uri="{FF2B5EF4-FFF2-40B4-BE49-F238E27FC236}">
                    <a16:creationId xmlns:a16="http://schemas.microsoft.com/office/drawing/2014/main" id="{858EA18C-583C-54F6-CE96-1A906DBBA1FF}"/>
                  </a:ext>
                </a:extLst>
              </p:cNvPr>
              <p:cNvSpPr txBox="1">
                <a:spLocks noRot="1" noChangeAspect="1" noMove="1" noResize="1" noEditPoints="1" noAdjustHandles="1" noChangeArrowheads="1" noChangeShapeType="1" noTextEdit="1"/>
              </p:cNvSpPr>
              <p:nvPr/>
            </p:nvSpPr>
            <p:spPr>
              <a:xfrm>
                <a:off x="4389983" y="4943544"/>
                <a:ext cx="290286" cy="461665"/>
              </a:xfrm>
              <a:prstGeom prst="rect">
                <a:avLst/>
              </a:prstGeom>
              <a:blipFill>
                <a:blip r:embed="rId6"/>
                <a:stretch>
                  <a:fillRect l="-14583" r="-72917" b="-118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946F635-05D3-3D24-5365-C36CCE4A6962}"/>
                  </a:ext>
                </a:extLst>
              </p:cNvPr>
              <p:cNvSpPr txBox="1"/>
              <p:nvPr/>
            </p:nvSpPr>
            <p:spPr>
              <a:xfrm>
                <a:off x="4339183" y="6249829"/>
                <a:ext cx="290286" cy="5052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bar>
                        <m:barPr>
                          <m:pos m:val="top"/>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sSub>
                            <m:sSubPr>
                              <m:ctrl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Q</m:t>
                              </m:r>
                            </m:e>
                            <m:sub>
                              <m:r>
                                <a:rPr kumimoji="0" lang="en-IN"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e>
                      </m:bar>
                    </m:oMath>
                  </m:oMathPara>
                </a14:m>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1" name="TextBox 40">
                <a:extLst>
                  <a:ext uri="{FF2B5EF4-FFF2-40B4-BE49-F238E27FC236}">
                    <a16:creationId xmlns:a16="http://schemas.microsoft.com/office/drawing/2014/main" id="{7946F635-05D3-3D24-5365-C36CCE4A6962}"/>
                  </a:ext>
                </a:extLst>
              </p:cNvPr>
              <p:cNvSpPr txBox="1">
                <a:spLocks noRot="1" noChangeAspect="1" noMove="1" noResize="1" noEditPoints="1" noAdjustHandles="1" noChangeArrowheads="1" noChangeShapeType="1" noTextEdit="1"/>
              </p:cNvSpPr>
              <p:nvPr/>
            </p:nvSpPr>
            <p:spPr>
              <a:xfrm>
                <a:off x="4339183" y="6249829"/>
                <a:ext cx="290286" cy="505203"/>
              </a:xfrm>
              <a:prstGeom prst="rect">
                <a:avLst/>
              </a:prstGeom>
              <a:blipFill>
                <a:blip r:embed="rId7"/>
                <a:stretch>
                  <a:fillRect r="-55319"/>
                </a:stretch>
              </a:blipFill>
            </p:spPr>
            <p:txBody>
              <a:bodyPr/>
              <a:lstStyle/>
              <a:p>
                <a:r>
                  <a:rPr lang="en-IN">
                    <a:noFill/>
                  </a:rPr>
                  <a:t> </a:t>
                </a:r>
              </a:p>
            </p:txBody>
          </p:sp>
        </mc:Fallback>
      </mc:AlternateContent>
      <p:cxnSp>
        <p:nvCxnSpPr>
          <p:cNvPr id="42" name="Straight Connector 41">
            <a:extLst>
              <a:ext uri="{FF2B5EF4-FFF2-40B4-BE49-F238E27FC236}">
                <a16:creationId xmlns:a16="http://schemas.microsoft.com/office/drawing/2014/main" id="{A0A84DA8-7F12-EC10-1BC4-ED624D74B75D}"/>
              </a:ext>
            </a:extLst>
          </p:cNvPr>
          <p:cNvCxnSpPr>
            <a:cxnSpLocks/>
          </p:cNvCxnSpPr>
          <p:nvPr/>
        </p:nvCxnSpPr>
        <p:spPr>
          <a:xfrm>
            <a:off x="1123950" y="5295489"/>
            <a:ext cx="2178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C7B021E-224E-E923-D8E5-2069BE4A9B8A}"/>
              </a:ext>
            </a:extLst>
          </p:cNvPr>
          <p:cNvCxnSpPr>
            <a:cxnSpLocks/>
          </p:cNvCxnSpPr>
          <p:nvPr/>
        </p:nvCxnSpPr>
        <p:spPr>
          <a:xfrm>
            <a:off x="4868954" y="5174376"/>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8D64A4-E462-1008-27F1-72BD5EE64235}"/>
              </a:ext>
            </a:extLst>
          </p:cNvPr>
          <p:cNvCxnSpPr>
            <a:cxnSpLocks/>
          </p:cNvCxnSpPr>
          <p:nvPr/>
        </p:nvCxnSpPr>
        <p:spPr>
          <a:xfrm>
            <a:off x="4868953" y="6600607"/>
            <a:ext cx="6092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084A661-667F-25B1-FF3F-602762A5884C}"/>
              </a:ext>
            </a:extLst>
          </p:cNvPr>
          <p:cNvCxnSpPr>
            <a:cxnSpLocks/>
          </p:cNvCxnSpPr>
          <p:nvPr/>
        </p:nvCxnSpPr>
        <p:spPr>
          <a:xfrm>
            <a:off x="5206496" y="5174376"/>
            <a:ext cx="20491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BE3CFBC-063F-AE4A-6197-DB81FEEC4FB5}"/>
              </a:ext>
            </a:extLst>
          </p:cNvPr>
          <p:cNvCxnSpPr>
            <a:cxnSpLocks/>
          </p:cNvCxnSpPr>
          <p:nvPr/>
        </p:nvCxnSpPr>
        <p:spPr>
          <a:xfrm>
            <a:off x="5238795" y="6600607"/>
            <a:ext cx="12310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Isosceles Triangle 46">
            <a:extLst>
              <a:ext uri="{FF2B5EF4-FFF2-40B4-BE49-F238E27FC236}">
                <a16:creationId xmlns:a16="http://schemas.microsoft.com/office/drawing/2014/main" id="{52482BB6-7F59-38E0-EEF9-87DDBC708CD7}"/>
              </a:ext>
            </a:extLst>
          </p:cNvPr>
          <p:cNvSpPr/>
          <p:nvPr/>
        </p:nvSpPr>
        <p:spPr>
          <a:xfrm rot="5400000">
            <a:off x="3220933" y="5675900"/>
            <a:ext cx="362336" cy="176547"/>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48" name="Straight Connector 47">
            <a:extLst>
              <a:ext uri="{FF2B5EF4-FFF2-40B4-BE49-F238E27FC236}">
                <a16:creationId xmlns:a16="http://schemas.microsoft.com/office/drawing/2014/main" id="{A7B37EFE-71C9-CE12-2BDF-E23440228E28}"/>
              </a:ext>
            </a:extLst>
          </p:cNvPr>
          <p:cNvCxnSpPr>
            <a:cxnSpLocks/>
          </p:cNvCxnSpPr>
          <p:nvPr/>
        </p:nvCxnSpPr>
        <p:spPr>
          <a:xfrm>
            <a:off x="2788597" y="5769105"/>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EE86D93-4591-7569-573E-6E46975EB0EE}"/>
                  </a:ext>
                </a:extLst>
              </p:cNvPr>
              <p:cNvSpPr txBox="1"/>
              <p:nvPr/>
            </p:nvSpPr>
            <p:spPr>
              <a:xfrm>
                <a:off x="2491391" y="6315352"/>
                <a:ext cx="542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𝐶𝐿𝐾</m:t>
                      </m:r>
                    </m:oMath>
                  </m:oMathPara>
                </a14:m>
                <a:endParaRPr lang="en-IN" b="0" dirty="0"/>
              </a:p>
            </p:txBody>
          </p:sp>
        </mc:Choice>
        <mc:Fallback xmlns="">
          <p:sp>
            <p:nvSpPr>
              <p:cNvPr id="49" name="TextBox 48">
                <a:extLst>
                  <a:ext uri="{FF2B5EF4-FFF2-40B4-BE49-F238E27FC236}">
                    <a16:creationId xmlns:a16="http://schemas.microsoft.com/office/drawing/2014/main" id="{9EE86D93-4591-7569-573E-6E46975EB0EE}"/>
                  </a:ext>
                </a:extLst>
              </p:cNvPr>
              <p:cNvSpPr txBox="1">
                <a:spLocks noRot="1" noChangeAspect="1" noMove="1" noResize="1" noEditPoints="1" noAdjustHandles="1" noChangeArrowheads="1" noChangeShapeType="1" noTextEdit="1"/>
              </p:cNvSpPr>
              <p:nvPr/>
            </p:nvSpPr>
            <p:spPr>
              <a:xfrm>
                <a:off x="2491391" y="6315352"/>
                <a:ext cx="542833" cy="276999"/>
              </a:xfrm>
              <a:prstGeom prst="rect">
                <a:avLst/>
              </a:prstGeom>
              <a:blipFill>
                <a:blip r:embed="rId8"/>
                <a:stretch>
                  <a:fillRect l="-5618" r="-3371" b="-6667"/>
                </a:stretch>
              </a:blipFill>
            </p:spPr>
            <p:txBody>
              <a:bodyPr/>
              <a:lstStyle/>
              <a:p>
                <a:r>
                  <a:rPr lang="en-IN">
                    <a:noFill/>
                  </a:rPr>
                  <a:t> </a:t>
                </a:r>
              </a:p>
            </p:txBody>
          </p:sp>
        </mc:Fallback>
      </mc:AlternateContent>
      <p:sp>
        <p:nvSpPr>
          <p:cNvPr id="50" name="Flowchart: Delay 49">
            <a:extLst>
              <a:ext uri="{FF2B5EF4-FFF2-40B4-BE49-F238E27FC236}">
                <a16:creationId xmlns:a16="http://schemas.microsoft.com/office/drawing/2014/main" id="{5262657F-DFF5-9F10-5D45-8F1AE27F53D0}"/>
              </a:ext>
            </a:extLst>
          </p:cNvPr>
          <p:cNvSpPr/>
          <p:nvPr/>
        </p:nvSpPr>
        <p:spPr>
          <a:xfrm>
            <a:off x="7096940" y="1689200"/>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2C0AA175-86F0-E96A-85D3-43C7A8F51EC5}"/>
              </a:ext>
            </a:extLst>
          </p:cNvPr>
          <p:cNvCxnSpPr>
            <a:cxnSpLocks/>
          </p:cNvCxnSpPr>
          <p:nvPr/>
        </p:nvCxnSpPr>
        <p:spPr>
          <a:xfrm>
            <a:off x="6784080" y="1810142"/>
            <a:ext cx="30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Flowchart: Delay 52">
            <a:extLst>
              <a:ext uri="{FF2B5EF4-FFF2-40B4-BE49-F238E27FC236}">
                <a16:creationId xmlns:a16="http://schemas.microsoft.com/office/drawing/2014/main" id="{1E133B5B-BB3A-CF75-5381-2423EFC495AC}"/>
              </a:ext>
            </a:extLst>
          </p:cNvPr>
          <p:cNvSpPr/>
          <p:nvPr/>
        </p:nvSpPr>
        <p:spPr>
          <a:xfrm>
            <a:off x="7096940" y="417370"/>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54" name="Straight Connector 53">
            <a:extLst>
              <a:ext uri="{FF2B5EF4-FFF2-40B4-BE49-F238E27FC236}">
                <a16:creationId xmlns:a16="http://schemas.microsoft.com/office/drawing/2014/main" id="{914873E0-52C6-5C0D-1090-988B876F392E}"/>
              </a:ext>
            </a:extLst>
          </p:cNvPr>
          <p:cNvCxnSpPr>
            <a:cxnSpLocks/>
          </p:cNvCxnSpPr>
          <p:nvPr/>
        </p:nvCxnSpPr>
        <p:spPr>
          <a:xfrm>
            <a:off x="6390820" y="812632"/>
            <a:ext cx="7013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368ECC3-6D3F-F7A2-9D42-0A75CD6EB0BE}"/>
              </a:ext>
            </a:extLst>
          </p:cNvPr>
          <p:cNvCxnSpPr>
            <a:cxnSpLocks/>
          </p:cNvCxnSpPr>
          <p:nvPr/>
        </p:nvCxnSpPr>
        <p:spPr>
          <a:xfrm>
            <a:off x="6346279" y="533550"/>
            <a:ext cx="7506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Flowchart: Stored Data 55">
            <a:extLst>
              <a:ext uri="{FF2B5EF4-FFF2-40B4-BE49-F238E27FC236}">
                <a16:creationId xmlns:a16="http://schemas.microsoft.com/office/drawing/2014/main" id="{EFA212B7-83E4-A97C-A629-4460D211D811}"/>
              </a:ext>
            </a:extLst>
          </p:cNvPr>
          <p:cNvSpPr/>
          <p:nvPr/>
        </p:nvSpPr>
        <p:spPr>
          <a:xfrm rot="10800000">
            <a:off x="8575638" y="1106756"/>
            <a:ext cx="733251" cy="568143"/>
          </a:xfrm>
          <a:prstGeom prst="flowChartOnlineStorag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57" name="Straight Connector 56">
            <a:extLst>
              <a:ext uri="{FF2B5EF4-FFF2-40B4-BE49-F238E27FC236}">
                <a16:creationId xmlns:a16="http://schemas.microsoft.com/office/drawing/2014/main" id="{F70F79E9-B955-0519-4846-9787B51D1559}"/>
              </a:ext>
            </a:extLst>
          </p:cNvPr>
          <p:cNvCxnSpPr>
            <a:cxnSpLocks/>
          </p:cNvCxnSpPr>
          <p:nvPr/>
        </p:nvCxnSpPr>
        <p:spPr>
          <a:xfrm>
            <a:off x="8303712" y="1206811"/>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9297FB-8DE9-1208-847E-805857EF14E1}"/>
              </a:ext>
            </a:extLst>
          </p:cNvPr>
          <p:cNvCxnSpPr>
            <a:cxnSpLocks/>
          </p:cNvCxnSpPr>
          <p:nvPr/>
        </p:nvCxnSpPr>
        <p:spPr>
          <a:xfrm>
            <a:off x="8310062" y="154161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FCF6E5-726F-BF97-5505-A87D49089665}"/>
              </a:ext>
            </a:extLst>
          </p:cNvPr>
          <p:cNvCxnSpPr>
            <a:cxnSpLocks/>
          </p:cNvCxnSpPr>
          <p:nvPr/>
        </p:nvCxnSpPr>
        <p:spPr>
          <a:xfrm>
            <a:off x="8314870" y="1533275"/>
            <a:ext cx="0" cy="415990"/>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a16="http://schemas.microsoft.com/office/drawing/2014/main" id="{8F854BBF-59F3-2659-F3D8-AC07333BD8BC}"/>
              </a:ext>
            </a:extLst>
          </p:cNvPr>
          <p:cNvCxnSpPr>
            <a:cxnSpLocks/>
          </p:cNvCxnSpPr>
          <p:nvPr/>
        </p:nvCxnSpPr>
        <p:spPr>
          <a:xfrm>
            <a:off x="7596492" y="1949265"/>
            <a:ext cx="7329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0EFD910-7A94-5070-ADF7-30F1C8465B5F}"/>
              </a:ext>
            </a:extLst>
          </p:cNvPr>
          <p:cNvCxnSpPr>
            <a:cxnSpLocks/>
          </p:cNvCxnSpPr>
          <p:nvPr/>
        </p:nvCxnSpPr>
        <p:spPr>
          <a:xfrm>
            <a:off x="7587386" y="663330"/>
            <a:ext cx="7298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6A753C-8AF8-0542-7418-2962E93AC595}"/>
              </a:ext>
            </a:extLst>
          </p:cNvPr>
          <p:cNvCxnSpPr>
            <a:cxnSpLocks/>
          </p:cNvCxnSpPr>
          <p:nvPr/>
        </p:nvCxnSpPr>
        <p:spPr>
          <a:xfrm>
            <a:off x="8308078" y="664521"/>
            <a:ext cx="0" cy="548299"/>
          </a:xfrm>
          <a:prstGeom prst="line">
            <a:avLst/>
          </a:prstGeom>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7BA798C9-F4BB-B825-FCC8-59AA1BCB51F5}"/>
              </a:ext>
            </a:extLst>
          </p:cNvPr>
          <p:cNvCxnSpPr>
            <a:cxnSpLocks/>
          </p:cNvCxnSpPr>
          <p:nvPr/>
        </p:nvCxnSpPr>
        <p:spPr>
          <a:xfrm>
            <a:off x="6395584" y="812632"/>
            <a:ext cx="3631" cy="2372290"/>
          </a:xfrm>
          <a:prstGeom prst="line">
            <a:avLst/>
          </a:prstGeom>
        </p:spPr>
        <p:style>
          <a:lnRef idx="3">
            <a:schemeClr val="dk1"/>
          </a:lnRef>
          <a:fillRef idx="0">
            <a:schemeClr val="dk1"/>
          </a:fillRef>
          <a:effectRef idx="2">
            <a:schemeClr val="dk1"/>
          </a:effectRef>
          <a:fontRef idx="minor">
            <a:schemeClr val="tx1"/>
          </a:fontRef>
        </p:style>
      </p:cxnSp>
      <p:cxnSp>
        <p:nvCxnSpPr>
          <p:cNvPr id="97" name="Straight Connector 96">
            <a:extLst>
              <a:ext uri="{FF2B5EF4-FFF2-40B4-BE49-F238E27FC236}">
                <a16:creationId xmlns:a16="http://schemas.microsoft.com/office/drawing/2014/main" id="{577735DF-20BE-6A03-D5ED-D153838FC304}"/>
              </a:ext>
            </a:extLst>
          </p:cNvPr>
          <p:cNvCxnSpPr>
            <a:cxnSpLocks/>
          </p:cNvCxnSpPr>
          <p:nvPr/>
        </p:nvCxnSpPr>
        <p:spPr>
          <a:xfrm>
            <a:off x="6793607" y="2092525"/>
            <a:ext cx="7243" cy="2087627"/>
          </a:xfrm>
          <a:prstGeom prst="line">
            <a:avLst/>
          </a:prstGeom>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F12DF378-0168-4418-2264-F27321806A44}"/>
              </a:ext>
            </a:extLst>
          </p:cNvPr>
          <p:cNvCxnSpPr>
            <a:cxnSpLocks/>
          </p:cNvCxnSpPr>
          <p:nvPr/>
        </p:nvCxnSpPr>
        <p:spPr>
          <a:xfrm>
            <a:off x="6793607" y="2092525"/>
            <a:ext cx="30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Flowchart: Delay 100">
            <a:extLst>
              <a:ext uri="{FF2B5EF4-FFF2-40B4-BE49-F238E27FC236}">
                <a16:creationId xmlns:a16="http://schemas.microsoft.com/office/drawing/2014/main" id="{38B6D80A-24EB-5BEC-32D2-A0EA3C6B47D0}"/>
              </a:ext>
            </a:extLst>
          </p:cNvPr>
          <p:cNvSpPr/>
          <p:nvPr/>
        </p:nvSpPr>
        <p:spPr>
          <a:xfrm>
            <a:off x="7546292" y="3846679"/>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02" name="Straight Connector 101">
            <a:extLst>
              <a:ext uri="{FF2B5EF4-FFF2-40B4-BE49-F238E27FC236}">
                <a16:creationId xmlns:a16="http://schemas.microsoft.com/office/drawing/2014/main" id="{46596DDF-D317-5E90-3E36-262354EFD6F6}"/>
              </a:ext>
            </a:extLst>
          </p:cNvPr>
          <p:cNvCxnSpPr>
            <a:cxnSpLocks/>
          </p:cNvCxnSpPr>
          <p:nvPr/>
        </p:nvCxnSpPr>
        <p:spPr>
          <a:xfrm>
            <a:off x="5842664" y="3967621"/>
            <a:ext cx="17028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F8F14C3-CF01-A928-074F-848AB4A91CEF}"/>
              </a:ext>
            </a:extLst>
          </p:cNvPr>
          <p:cNvCxnSpPr>
            <a:cxnSpLocks/>
          </p:cNvCxnSpPr>
          <p:nvPr/>
        </p:nvCxnSpPr>
        <p:spPr>
          <a:xfrm>
            <a:off x="7242959" y="4250004"/>
            <a:ext cx="30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503D55A-2B39-5BD9-01CD-A70E07E1C832}"/>
              </a:ext>
            </a:extLst>
          </p:cNvPr>
          <p:cNvCxnSpPr>
            <a:cxnSpLocks/>
          </p:cNvCxnSpPr>
          <p:nvPr/>
        </p:nvCxnSpPr>
        <p:spPr>
          <a:xfrm>
            <a:off x="9308889" y="1397682"/>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Flowchart: Delay 105">
            <a:extLst>
              <a:ext uri="{FF2B5EF4-FFF2-40B4-BE49-F238E27FC236}">
                <a16:creationId xmlns:a16="http://schemas.microsoft.com/office/drawing/2014/main" id="{E4FE274C-D521-13FE-D069-57CADE464A89}"/>
              </a:ext>
            </a:extLst>
          </p:cNvPr>
          <p:cNvSpPr/>
          <p:nvPr/>
        </p:nvSpPr>
        <p:spPr>
          <a:xfrm>
            <a:off x="7538352" y="3059336"/>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07" name="Straight Connector 106">
            <a:extLst>
              <a:ext uri="{FF2B5EF4-FFF2-40B4-BE49-F238E27FC236}">
                <a16:creationId xmlns:a16="http://schemas.microsoft.com/office/drawing/2014/main" id="{348683BE-8C9A-B5F2-1775-82BBA6DC52F7}"/>
              </a:ext>
            </a:extLst>
          </p:cNvPr>
          <p:cNvCxnSpPr>
            <a:cxnSpLocks/>
          </p:cNvCxnSpPr>
          <p:nvPr/>
        </p:nvCxnSpPr>
        <p:spPr>
          <a:xfrm>
            <a:off x="6395584" y="3177896"/>
            <a:ext cx="11348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6B2E19A-219A-030F-1140-3A73BA91AC08}"/>
              </a:ext>
            </a:extLst>
          </p:cNvPr>
          <p:cNvCxnSpPr>
            <a:cxnSpLocks/>
          </p:cNvCxnSpPr>
          <p:nvPr/>
        </p:nvCxnSpPr>
        <p:spPr>
          <a:xfrm flipH="1">
            <a:off x="5850812" y="1802211"/>
            <a:ext cx="8465" cy="2165410"/>
          </a:xfrm>
          <a:prstGeom prst="line">
            <a:avLst/>
          </a:prstGeom>
        </p:spPr>
        <p:style>
          <a:lnRef idx="3">
            <a:schemeClr val="dk1"/>
          </a:lnRef>
          <a:fillRef idx="0">
            <a:schemeClr val="dk1"/>
          </a:fillRef>
          <a:effectRef idx="2">
            <a:schemeClr val="dk1"/>
          </a:effectRef>
          <a:fontRef idx="minor">
            <a:schemeClr val="tx1"/>
          </a:fontRef>
        </p:style>
      </p:cxnSp>
      <p:sp>
        <p:nvSpPr>
          <p:cNvPr id="114" name="Oval 113">
            <a:extLst>
              <a:ext uri="{FF2B5EF4-FFF2-40B4-BE49-F238E27FC236}">
                <a16:creationId xmlns:a16="http://schemas.microsoft.com/office/drawing/2014/main" id="{82DF2F71-0ECD-1C03-FE2B-EB2E42B487C4}"/>
              </a:ext>
            </a:extLst>
          </p:cNvPr>
          <p:cNvSpPr/>
          <p:nvPr/>
        </p:nvSpPr>
        <p:spPr>
          <a:xfrm>
            <a:off x="6375411" y="286744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15" name="Oval 114">
            <a:extLst>
              <a:ext uri="{FF2B5EF4-FFF2-40B4-BE49-F238E27FC236}">
                <a16:creationId xmlns:a16="http://schemas.microsoft.com/office/drawing/2014/main" id="{C205D482-261E-6BF1-64CE-A24F7250218C}"/>
              </a:ext>
            </a:extLst>
          </p:cNvPr>
          <p:cNvSpPr/>
          <p:nvPr/>
        </p:nvSpPr>
        <p:spPr>
          <a:xfrm>
            <a:off x="5835519" y="178873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19" name="Oval 118">
            <a:extLst>
              <a:ext uri="{FF2B5EF4-FFF2-40B4-BE49-F238E27FC236}">
                <a16:creationId xmlns:a16="http://schemas.microsoft.com/office/drawing/2014/main" id="{C90F7317-5730-AD2B-9732-E02CCC4BE39A}"/>
              </a:ext>
            </a:extLst>
          </p:cNvPr>
          <p:cNvSpPr/>
          <p:nvPr/>
        </p:nvSpPr>
        <p:spPr>
          <a:xfrm>
            <a:off x="5827952" y="336382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20" name="Straight Connector 119">
            <a:extLst>
              <a:ext uri="{FF2B5EF4-FFF2-40B4-BE49-F238E27FC236}">
                <a16:creationId xmlns:a16="http://schemas.microsoft.com/office/drawing/2014/main" id="{B1529886-EF7C-A263-2173-96A1EEF6D2D1}"/>
              </a:ext>
            </a:extLst>
          </p:cNvPr>
          <p:cNvCxnSpPr>
            <a:cxnSpLocks/>
          </p:cNvCxnSpPr>
          <p:nvPr/>
        </p:nvCxnSpPr>
        <p:spPr>
          <a:xfrm>
            <a:off x="7248856" y="4243652"/>
            <a:ext cx="0" cy="930724"/>
          </a:xfrm>
          <a:prstGeom prst="line">
            <a:avLst/>
          </a:prstGeom>
        </p:spPr>
        <p:style>
          <a:lnRef idx="3">
            <a:schemeClr val="dk1"/>
          </a:lnRef>
          <a:fillRef idx="0">
            <a:schemeClr val="dk1"/>
          </a:fillRef>
          <a:effectRef idx="2">
            <a:schemeClr val="dk1"/>
          </a:effectRef>
          <a:fontRef idx="minor">
            <a:schemeClr val="tx1"/>
          </a:fontRef>
        </p:style>
      </p:cxnSp>
      <p:sp>
        <p:nvSpPr>
          <p:cNvPr id="126" name="Flowchart: Delay 125">
            <a:extLst>
              <a:ext uri="{FF2B5EF4-FFF2-40B4-BE49-F238E27FC236}">
                <a16:creationId xmlns:a16="http://schemas.microsoft.com/office/drawing/2014/main" id="{2C2DB4D8-162C-FCF1-8253-2016A9CADD70}"/>
              </a:ext>
            </a:extLst>
          </p:cNvPr>
          <p:cNvSpPr/>
          <p:nvPr/>
        </p:nvSpPr>
        <p:spPr>
          <a:xfrm>
            <a:off x="7564545" y="5342745"/>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27" name="Straight Connector 126">
            <a:extLst>
              <a:ext uri="{FF2B5EF4-FFF2-40B4-BE49-F238E27FC236}">
                <a16:creationId xmlns:a16="http://schemas.microsoft.com/office/drawing/2014/main" id="{672251C9-D49B-8F49-02DE-7F056267D476}"/>
              </a:ext>
            </a:extLst>
          </p:cNvPr>
          <p:cNvCxnSpPr>
            <a:cxnSpLocks/>
          </p:cNvCxnSpPr>
          <p:nvPr/>
        </p:nvCxnSpPr>
        <p:spPr>
          <a:xfrm>
            <a:off x="6402406" y="5463687"/>
            <a:ext cx="115419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32D11AE-442A-8696-0347-79EEE79583C7}"/>
              </a:ext>
            </a:extLst>
          </p:cNvPr>
          <p:cNvCxnSpPr>
            <a:cxnSpLocks/>
          </p:cNvCxnSpPr>
          <p:nvPr/>
        </p:nvCxnSpPr>
        <p:spPr>
          <a:xfrm>
            <a:off x="6467808" y="5731784"/>
            <a:ext cx="109832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57176015-5D52-DD7B-ED43-AC345EC9FC51}"/>
              </a:ext>
            </a:extLst>
          </p:cNvPr>
          <p:cNvCxnSpPr>
            <a:cxnSpLocks/>
          </p:cNvCxnSpPr>
          <p:nvPr/>
        </p:nvCxnSpPr>
        <p:spPr>
          <a:xfrm>
            <a:off x="6400591" y="3173134"/>
            <a:ext cx="13146" cy="2290553"/>
          </a:xfrm>
          <a:prstGeom prst="line">
            <a:avLst/>
          </a:prstGeom>
        </p:spPr>
        <p:style>
          <a:lnRef idx="3">
            <a:schemeClr val="dk1"/>
          </a:lnRef>
          <a:fillRef idx="0">
            <a:schemeClr val="dk1"/>
          </a:fillRef>
          <a:effectRef idx="2">
            <a:schemeClr val="dk1"/>
          </a:effectRef>
          <a:fontRef idx="minor">
            <a:schemeClr val="tx1"/>
          </a:fontRef>
        </p:style>
      </p:cxnSp>
      <p:cxnSp>
        <p:nvCxnSpPr>
          <p:cNvPr id="133" name="Straight Connector 132">
            <a:extLst>
              <a:ext uri="{FF2B5EF4-FFF2-40B4-BE49-F238E27FC236}">
                <a16:creationId xmlns:a16="http://schemas.microsoft.com/office/drawing/2014/main" id="{C7FBFEB2-8BAC-2EAE-773E-BA8E219EC5A2}"/>
              </a:ext>
            </a:extLst>
          </p:cNvPr>
          <p:cNvCxnSpPr>
            <a:cxnSpLocks/>
          </p:cNvCxnSpPr>
          <p:nvPr/>
        </p:nvCxnSpPr>
        <p:spPr>
          <a:xfrm>
            <a:off x="6467808" y="5731784"/>
            <a:ext cx="0" cy="868823"/>
          </a:xfrm>
          <a:prstGeom prst="line">
            <a:avLst/>
          </a:prstGeom>
        </p:spPr>
        <p:style>
          <a:lnRef idx="3">
            <a:schemeClr val="dk1"/>
          </a:lnRef>
          <a:fillRef idx="0">
            <a:schemeClr val="dk1"/>
          </a:fillRef>
          <a:effectRef idx="2">
            <a:schemeClr val="dk1"/>
          </a:effectRef>
          <a:fontRef idx="minor">
            <a:schemeClr val="tx1"/>
          </a:fontRef>
        </p:style>
      </p:cxnSp>
      <p:sp>
        <p:nvSpPr>
          <p:cNvPr id="137" name="Flowchart: Stored Data 136">
            <a:extLst>
              <a:ext uri="{FF2B5EF4-FFF2-40B4-BE49-F238E27FC236}">
                <a16:creationId xmlns:a16="http://schemas.microsoft.com/office/drawing/2014/main" id="{5FCE2F00-B33F-34EA-4ADA-BC14F8B6C340}"/>
              </a:ext>
            </a:extLst>
          </p:cNvPr>
          <p:cNvSpPr/>
          <p:nvPr/>
        </p:nvSpPr>
        <p:spPr>
          <a:xfrm rot="10800000">
            <a:off x="9043028" y="3257892"/>
            <a:ext cx="733251" cy="568143"/>
          </a:xfrm>
          <a:prstGeom prst="flowChartOnlineStorag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38" name="Straight Connector 137">
            <a:extLst>
              <a:ext uri="{FF2B5EF4-FFF2-40B4-BE49-F238E27FC236}">
                <a16:creationId xmlns:a16="http://schemas.microsoft.com/office/drawing/2014/main" id="{8F61C467-E6CF-9114-80FA-8FBEBB41A0BA}"/>
              </a:ext>
            </a:extLst>
          </p:cNvPr>
          <p:cNvCxnSpPr>
            <a:cxnSpLocks/>
            <a:stCxn id="106" idx="3"/>
          </p:cNvCxnSpPr>
          <p:nvPr/>
        </p:nvCxnSpPr>
        <p:spPr>
          <a:xfrm>
            <a:off x="8039095" y="3320593"/>
            <a:ext cx="1077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A49EECCF-AD6F-78EF-78B3-EF641B1224DB}"/>
              </a:ext>
            </a:extLst>
          </p:cNvPr>
          <p:cNvCxnSpPr>
            <a:cxnSpLocks/>
          </p:cNvCxnSpPr>
          <p:nvPr/>
        </p:nvCxnSpPr>
        <p:spPr>
          <a:xfrm>
            <a:off x="8783804" y="371339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30B87B-C566-6149-B0C9-4F7F5A65B7F3}"/>
              </a:ext>
            </a:extLst>
          </p:cNvPr>
          <p:cNvCxnSpPr>
            <a:cxnSpLocks/>
          </p:cNvCxnSpPr>
          <p:nvPr/>
        </p:nvCxnSpPr>
        <p:spPr>
          <a:xfrm>
            <a:off x="8788612" y="3705055"/>
            <a:ext cx="23445" cy="1898947"/>
          </a:xfrm>
          <a:prstGeom prst="line">
            <a:avLst/>
          </a:prstGeom>
        </p:spPr>
        <p:style>
          <a:lnRef idx="3">
            <a:schemeClr val="dk1"/>
          </a:lnRef>
          <a:fillRef idx="0">
            <a:schemeClr val="dk1"/>
          </a:fillRef>
          <a:effectRef idx="2">
            <a:schemeClr val="dk1"/>
          </a:effectRef>
          <a:fontRef idx="minor">
            <a:schemeClr val="tx1"/>
          </a:fontRef>
        </p:style>
      </p:cxnSp>
      <p:cxnSp>
        <p:nvCxnSpPr>
          <p:cNvPr id="142" name="Straight Connector 141">
            <a:extLst>
              <a:ext uri="{FF2B5EF4-FFF2-40B4-BE49-F238E27FC236}">
                <a16:creationId xmlns:a16="http://schemas.microsoft.com/office/drawing/2014/main" id="{E355F570-6530-C434-E898-8FB24D332386}"/>
              </a:ext>
            </a:extLst>
          </p:cNvPr>
          <p:cNvCxnSpPr>
            <a:cxnSpLocks/>
          </p:cNvCxnSpPr>
          <p:nvPr/>
        </p:nvCxnSpPr>
        <p:spPr>
          <a:xfrm>
            <a:off x="9782631" y="3537707"/>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B998DAA-1F55-B77C-79A9-53EC8672E1E7}"/>
              </a:ext>
            </a:extLst>
          </p:cNvPr>
          <p:cNvCxnSpPr>
            <a:cxnSpLocks/>
            <a:stCxn id="126" idx="3"/>
          </p:cNvCxnSpPr>
          <p:nvPr/>
        </p:nvCxnSpPr>
        <p:spPr>
          <a:xfrm>
            <a:off x="8065288" y="5604002"/>
            <a:ext cx="7572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3E4A7F6-DBA2-B029-27F2-5050B4887AD7}"/>
              </a:ext>
            </a:extLst>
          </p:cNvPr>
          <p:cNvCxnSpPr>
            <a:cxnSpLocks/>
          </p:cNvCxnSpPr>
          <p:nvPr/>
        </p:nvCxnSpPr>
        <p:spPr>
          <a:xfrm>
            <a:off x="8413123" y="3547157"/>
            <a:ext cx="0" cy="559935"/>
          </a:xfrm>
          <a:prstGeom prst="line">
            <a:avLst/>
          </a:prstGeom>
        </p:spPr>
        <p:style>
          <a:lnRef idx="3">
            <a:schemeClr val="dk1"/>
          </a:lnRef>
          <a:fillRef idx="0">
            <a:schemeClr val="dk1"/>
          </a:fillRef>
          <a:effectRef idx="2">
            <a:schemeClr val="dk1"/>
          </a:effectRef>
          <a:fontRef idx="minor">
            <a:schemeClr val="tx1"/>
          </a:fontRef>
        </p:style>
      </p:cxnSp>
      <p:cxnSp>
        <p:nvCxnSpPr>
          <p:cNvPr id="152" name="Straight Connector 151">
            <a:extLst>
              <a:ext uri="{FF2B5EF4-FFF2-40B4-BE49-F238E27FC236}">
                <a16:creationId xmlns:a16="http://schemas.microsoft.com/office/drawing/2014/main" id="{0A56DCA5-C41A-DF2A-554A-DB530B4D03DB}"/>
              </a:ext>
            </a:extLst>
          </p:cNvPr>
          <p:cNvCxnSpPr>
            <a:cxnSpLocks/>
          </p:cNvCxnSpPr>
          <p:nvPr/>
        </p:nvCxnSpPr>
        <p:spPr>
          <a:xfrm>
            <a:off x="8404225" y="3550333"/>
            <a:ext cx="7632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662398C-F671-256E-0150-AA56E55FFDD5}"/>
              </a:ext>
            </a:extLst>
          </p:cNvPr>
          <p:cNvCxnSpPr>
            <a:cxnSpLocks/>
          </p:cNvCxnSpPr>
          <p:nvPr/>
        </p:nvCxnSpPr>
        <p:spPr>
          <a:xfrm>
            <a:off x="8054975" y="4099152"/>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7437595-2478-D46C-DCB7-7FDB7549C47F}"/>
              </a:ext>
            </a:extLst>
          </p:cNvPr>
          <p:cNvCxnSpPr>
            <a:cxnSpLocks/>
          </p:cNvCxnSpPr>
          <p:nvPr/>
        </p:nvCxnSpPr>
        <p:spPr>
          <a:xfrm flipV="1">
            <a:off x="1079902" y="176282"/>
            <a:ext cx="8739255" cy="11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4F0D9116-5815-6E55-D5FA-38C04F591F9B}"/>
              </a:ext>
            </a:extLst>
          </p:cNvPr>
          <p:cNvCxnSpPr>
            <a:cxnSpLocks/>
          </p:cNvCxnSpPr>
          <p:nvPr/>
        </p:nvCxnSpPr>
        <p:spPr>
          <a:xfrm>
            <a:off x="9819613" y="167549"/>
            <a:ext cx="16701" cy="1230133"/>
          </a:xfrm>
          <a:prstGeom prst="line">
            <a:avLst/>
          </a:prstGeom>
        </p:spPr>
        <p:style>
          <a:lnRef idx="3">
            <a:schemeClr val="dk1"/>
          </a:lnRef>
          <a:fillRef idx="0">
            <a:schemeClr val="dk1"/>
          </a:fillRef>
          <a:effectRef idx="2">
            <a:schemeClr val="dk1"/>
          </a:effectRef>
          <a:fontRef idx="minor">
            <a:schemeClr val="tx1"/>
          </a:fontRef>
        </p:style>
      </p:cxnSp>
      <p:cxnSp>
        <p:nvCxnSpPr>
          <p:cNvPr id="165" name="Straight Connector 164">
            <a:extLst>
              <a:ext uri="{FF2B5EF4-FFF2-40B4-BE49-F238E27FC236}">
                <a16:creationId xmlns:a16="http://schemas.microsoft.com/office/drawing/2014/main" id="{E9B4A276-AFDE-C220-15FF-89D2FE88334D}"/>
              </a:ext>
            </a:extLst>
          </p:cNvPr>
          <p:cNvCxnSpPr>
            <a:cxnSpLocks/>
          </p:cNvCxnSpPr>
          <p:nvPr/>
        </p:nvCxnSpPr>
        <p:spPr>
          <a:xfrm>
            <a:off x="1084664" y="181044"/>
            <a:ext cx="35655" cy="5121588"/>
          </a:xfrm>
          <a:prstGeom prst="line">
            <a:avLst/>
          </a:prstGeom>
        </p:spPr>
        <p:style>
          <a:lnRef idx="3">
            <a:schemeClr val="dk1"/>
          </a:lnRef>
          <a:fillRef idx="0">
            <a:schemeClr val="dk1"/>
          </a:fillRef>
          <a:effectRef idx="2">
            <a:schemeClr val="dk1"/>
          </a:effectRef>
          <a:fontRef idx="minor">
            <a:schemeClr val="tx1"/>
          </a:fontRef>
        </p:style>
      </p:cxnSp>
      <p:sp>
        <p:nvSpPr>
          <p:cNvPr id="169" name="Oval 168">
            <a:extLst>
              <a:ext uri="{FF2B5EF4-FFF2-40B4-BE49-F238E27FC236}">
                <a16:creationId xmlns:a16="http://schemas.microsoft.com/office/drawing/2014/main" id="{D9DA298C-B27C-361F-A888-6698AA4D2445}"/>
              </a:ext>
            </a:extLst>
          </p:cNvPr>
          <p:cNvSpPr/>
          <p:nvPr/>
        </p:nvSpPr>
        <p:spPr>
          <a:xfrm>
            <a:off x="6379546" y="314637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73" name="Straight Connector 172">
            <a:extLst>
              <a:ext uri="{FF2B5EF4-FFF2-40B4-BE49-F238E27FC236}">
                <a16:creationId xmlns:a16="http://schemas.microsoft.com/office/drawing/2014/main" id="{FEEE6E83-7288-EB1C-0AD2-36C6BDB960A0}"/>
              </a:ext>
            </a:extLst>
          </p:cNvPr>
          <p:cNvCxnSpPr>
            <a:cxnSpLocks/>
          </p:cNvCxnSpPr>
          <p:nvPr/>
        </p:nvCxnSpPr>
        <p:spPr>
          <a:xfrm>
            <a:off x="2288337" y="2497107"/>
            <a:ext cx="8028678" cy="11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F1C63939-68BF-BC50-5608-328CB9C32C28}"/>
              </a:ext>
            </a:extLst>
          </p:cNvPr>
          <p:cNvCxnSpPr>
            <a:cxnSpLocks/>
          </p:cNvCxnSpPr>
          <p:nvPr/>
        </p:nvCxnSpPr>
        <p:spPr>
          <a:xfrm>
            <a:off x="2296277" y="2494637"/>
            <a:ext cx="0" cy="402554"/>
          </a:xfrm>
          <a:prstGeom prst="line">
            <a:avLst/>
          </a:prstGeom>
        </p:spPr>
        <p:style>
          <a:lnRef idx="3">
            <a:schemeClr val="dk1"/>
          </a:lnRef>
          <a:fillRef idx="0">
            <a:schemeClr val="dk1"/>
          </a:fillRef>
          <a:effectRef idx="2">
            <a:schemeClr val="dk1"/>
          </a:effectRef>
          <a:fontRef idx="minor">
            <a:schemeClr val="tx1"/>
          </a:fontRef>
        </p:style>
      </p:cxnSp>
      <p:cxnSp>
        <p:nvCxnSpPr>
          <p:cNvPr id="178" name="Straight Connector 177">
            <a:extLst>
              <a:ext uri="{FF2B5EF4-FFF2-40B4-BE49-F238E27FC236}">
                <a16:creationId xmlns:a16="http://schemas.microsoft.com/office/drawing/2014/main" id="{EB2F1EFF-FEAA-8154-271E-0AEDEE636DAD}"/>
              </a:ext>
            </a:extLst>
          </p:cNvPr>
          <p:cNvCxnSpPr>
            <a:cxnSpLocks/>
          </p:cNvCxnSpPr>
          <p:nvPr/>
        </p:nvCxnSpPr>
        <p:spPr>
          <a:xfrm>
            <a:off x="10308381" y="2500762"/>
            <a:ext cx="0" cy="1046395"/>
          </a:xfrm>
          <a:prstGeom prst="line">
            <a:avLst/>
          </a:prstGeom>
        </p:spPr>
        <p:style>
          <a:lnRef idx="3">
            <a:schemeClr val="dk1"/>
          </a:lnRef>
          <a:fillRef idx="0">
            <a:schemeClr val="dk1"/>
          </a:fillRef>
          <a:effectRef idx="2">
            <a:schemeClr val="dk1"/>
          </a:effectRef>
          <a:fontRef idx="minor">
            <a:schemeClr val="tx1"/>
          </a:fontRef>
        </p:style>
      </p:cxnSp>
      <p:sp>
        <p:nvSpPr>
          <p:cNvPr id="180" name="Flowchart: Stored Data 179">
            <a:extLst>
              <a:ext uri="{FF2B5EF4-FFF2-40B4-BE49-F238E27FC236}">
                <a16:creationId xmlns:a16="http://schemas.microsoft.com/office/drawing/2014/main" id="{51430046-1476-376A-E462-C3B867F2B689}"/>
              </a:ext>
            </a:extLst>
          </p:cNvPr>
          <p:cNvSpPr/>
          <p:nvPr/>
        </p:nvSpPr>
        <p:spPr>
          <a:xfrm rot="10800000">
            <a:off x="9066047" y="5504081"/>
            <a:ext cx="733251" cy="568143"/>
          </a:xfrm>
          <a:prstGeom prst="flowChartOnlineStorag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181" name="Straight Connector 180">
            <a:extLst>
              <a:ext uri="{FF2B5EF4-FFF2-40B4-BE49-F238E27FC236}">
                <a16:creationId xmlns:a16="http://schemas.microsoft.com/office/drawing/2014/main" id="{744DDDBF-A6CA-3E65-49B4-E4F25248B8F7}"/>
              </a:ext>
            </a:extLst>
          </p:cNvPr>
          <p:cNvCxnSpPr>
            <a:cxnSpLocks/>
          </p:cNvCxnSpPr>
          <p:nvPr/>
        </p:nvCxnSpPr>
        <p:spPr>
          <a:xfrm>
            <a:off x="8794121" y="5604136"/>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9C2B0B6C-06E6-F519-2440-9AFD60E6E1F2}"/>
              </a:ext>
            </a:extLst>
          </p:cNvPr>
          <p:cNvCxnSpPr>
            <a:cxnSpLocks/>
          </p:cNvCxnSpPr>
          <p:nvPr/>
        </p:nvCxnSpPr>
        <p:spPr>
          <a:xfrm>
            <a:off x="8800471" y="5938937"/>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0DA2FC5-AA20-3629-43A8-11925A9CBB62}"/>
              </a:ext>
            </a:extLst>
          </p:cNvPr>
          <p:cNvCxnSpPr>
            <a:cxnSpLocks/>
          </p:cNvCxnSpPr>
          <p:nvPr/>
        </p:nvCxnSpPr>
        <p:spPr>
          <a:xfrm>
            <a:off x="9799298" y="5795007"/>
            <a:ext cx="5364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4" name="Flowchart: Delay 183">
            <a:extLst>
              <a:ext uri="{FF2B5EF4-FFF2-40B4-BE49-F238E27FC236}">
                <a16:creationId xmlns:a16="http://schemas.microsoft.com/office/drawing/2014/main" id="{7F5E1764-6503-7702-8C70-70AF7F0F0C43}"/>
              </a:ext>
            </a:extLst>
          </p:cNvPr>
          <p:cNvSpPr/>
          <p:nvPr/>
        </p:nvSpPr>
        <p:spPr>
          <a:xfrm>
            <a:off x="7587386" y="6035458"/>
            <a:ext cx="500743" cy="522514"/>
          </a:xfrm>
          <a:prstGeom prst="flowChartDelay">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85" name="Straight Connector 184">
            <a:extLst>
              <a:ext uri="{FF2B5EF4-FFF2-40B4-BE49-F238E27FC236}">
                <a16:creationId xmlns:a16="http://schemas.microsoft.com/office/drawing/2014/main" id="{8C1761F8-5EA7-7611-D38E-0807DDAF663C}"/>
              </a:ext>
            </a:extLst>
          </p:cNvPr>
          <p:cNvCxnSpPr>
            <a:cxnSpLocks/>
          </p:cNvCxnSpPr>
          <p:nvPr/>
        </p:nvCxnSpPr>
        <p:spPr>
          <a:xfrm>
            <a:off x="6835775" y="6156400"/>
            <a:ext cx="7436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5BDC3C8-D0FC-8CCB-A501-6C7E63648987}"/>
              </a:ext>
            </a:extLst>
          </p:cNvPr>
          <p:cNvCxnSpPr>
            <a:cxnSpLocks/>
          </p:cNvCxnSpPr>
          <p:nvPr/>
        </p:nvCxnSpPr>
        <p:spPr>
          <a:xfrm>
            <a:off x="5432425" y="6424834"/>
            <a:ext cx="2164067" cy="15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B697DC65-CED3-B8BC-3BBA-1935E6EAF1F4}"/>
              </a:ext>
            </a:extLst>
          </p:cNvPr>
          <p:cNvCxnSpPr>
            <a:cxnSpLocks/>
          </p:cNvCxnSpPr>
          <p:nvPr/>
        </p:nvCxnSpPr>
        <p:spPr>
          <a:xfrm>
            <a:off x="5400551" y="538346"/>
            <a:ext cx="36435" cy="5884679"/>
          </a:xfrm>
          <a:prstGeom prst="line">
            <a:avLst/>
          </a:prstGeom>
        </p:spPr>
        <p:style>
          <a:lnRef idx="3">
            <a:schemeClr val="dk1"/>
          </a:lnRef>
          <a:fillRef idx="0">
            <a:schemeClr val="dk1"/>
          </a:fillRef>
          <a:effectRef idx="2">
            <a:schemeClr val="dk1"/>
          </a:effectRef>
          <a:fontRef idx="minor">
            <a:schemeClr val="tx1"/>
          </a:fontRef>
        </p:style>
      </p:cxnSp>
      <p:sp>
        <p:nvSpPr>
          <p:cNvPr id="198" name="Oval 197">
            <a:extLst>
              <a:ext uri="{FF2B5EF4-FFF2-40B4-BE49-F238E27FC236}">
                <a16:creationId xmlns:a16="http://schemas.microsoft.com/office/drawing/2014/main" id="{04C8C87F-DA33-1DB2-F243-184DDA3089FB}"/>
              </a:ext>
            </a:extLst>
          </p:cNvPr>
          <p:cNvSpPr/>
          <p:nvPr/>
        </p:nvSpPr>
        <p:spPr>
          <a:xfrm>
            <a:off x="5376661" y="51837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9" name="Oval 198">
            <a:extLst>
              <a:ext uri="{FF2B5EF4-FFF2-40B4-BE49-F238E27FC236}">
                <a16:creationId xmlns:a16="http://schemas.microsoft.com/office/drawing/2014/main" id="{DC94F39B-88DA-F0E6-143B-95BA49EF49C6}"/>
              </a:ext>
            </a:extLst>
          </p:cNvPr>
          <p:cNvSpPr/>
          <p:nvPr/>
        </p:nvSpPr>
        <p:spPr>
          <a:xfrm>
            <a:off x="8789197" y="558086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200" name="Straight Connector 199">
            <a:extLst>
              <a:ext uri="{FF2B5EF4-FFF2-40B4-BE49-F238E27FC236}">
                <a16:creationId xmlns:a16="http://schemas.microsoft.com/office/drawing/2014/main" id="{8D293C67-C4F4-0E07-8932-A401BFE6B6ED}"/>
              </a:ext>
            </a:extLst>
          </p:cNvPr>
          <p:cNvCxnSpPr>
            <a:cxnSpLocks/>
          </p:cNvCxnSpPr>
          <p:nvPr/>
        </p:nvCxnSpPr>
        <p:spPr>
          <a:xfrm>
            <a:off x="8535063" y="5939428"/>
            <a:ext cx="3603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822A3EF1-D1E4-9F1C-5EED-D7CD3DA9CB56}"/>
              </a:ext>
            </a:extLst>
          </p:cNvPr>
          <p:cNvCxnSpPr>
            <a:cxnSpLocks/>
          </p:cNvCxnSpPr>
          <p:nvPr/>
        </p:nvCxnSpPr>
        <p:spPr>
          <a:xfrm>
            <a:off x="8539871" y="5931091"/>
            <a:ext cx="0" cy="361759"/>
          </a:xfrm>
          <a:prstGeom prst="line">
            <a:avLst/>
          </a:prstGeom>
        </p:spPr>
        <p:style>
          <a:lnRef idx="3">
            <a:schemeClr val="dk1"/>
          </a:lnRef>
          <a:fillRef idx="0">
            <a:schemeClr val="dk1"/>
          </a:fillRef>
          <a:effectRef idx="2">
            <a:schemeClr val="dk1"/>
          </a:effectRef>
          <a:fontRef idx="minor">
            <a:schemeClr val="tx1"/>
          </a:fontRef>
        </p:style>
      </p:cxnSp>
      <p:cxnSp>
        <p:nvCxnSpPr>
          <p:cNvPr id="202" name="Straight Connector 201">
            <a:extLst>
              <a:ext uri="{FF2B5EF4-FFF2-40B4-BE49-F238E27FC236}">
                <a16:creationId xmlns:a16="http://schemas.microsoft.com/office/drawing/2014/main" id="{5ADA7089-7257-85C6-047D-19A45D51725F}"/>
              </a:ext>
            </a:extLst>
          </p:cNvPr>
          <p:cNvCxnSpPr>
            <a:cxnSpLocks/>
          </p:cNvCxnSpPr>
          <p:nvPr/>
        </p:nvCxnSpPr>
        <p:spPr>
          <a:xfrm>
            <a:off x="8085297" y="6284756"/>
            <a:ext cx="4602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35C0C1E-81C9-95EF-0697-093089E2D93A}"/>
              </a:ext>
            </a:extLst>
          </p:cNvPr>
          <p:cNvCxnSpPr>
            <a:cxnSpLocks/>
          </p:cNvCxnSpPr>
          <p:nvPr/>
        </p:nvCxnSpPr>
        <p:spPr>
          <a:xfrm>
            <a:off x="6839281" y="5161220"/>
            <a:ext cx="0" cy="1004975"/>
          </a:xfrm>
          <a:prstGeom prst="line">
            <a:avLst/>
          </a:prstGeom>
        </p:spPr>
        <p:style>
          <a:lnRef idx="3">
            <a:schemeClr val="dk1"/>
          </a:lnRef>
          <a:fillRef idx="0">
            <a:schemeClr val="dk1"/>
          </a:fillRef>
          <a:effectRef idx="2">
            <a:schemeClr val="dk1"/>
          </a:effectRef>
          <a:fontRef idx="minor">
            <a:schemeClr val="tx1"/>
          </a:fontRef>
        </p:style>
      </p:cxnSp>
      <p:cxnSp>
        <p:nvCxnSpPr>
          <p:cNvPr id="208" name="Straight Connector 207">
            <a:extLst>
              <a:ext uri="{FF2B5EF4-FFF2-40B4-BE49-F238E27FC236}">
                <a16:creationId xmlns:a16="http://schemas.microsoft.com/office/drawing/2014/main" id="{E39484EB-B930-006B-6C3C-8E2D3F6CFE83}"/>
              </a:ext>
            </a:extLst>
          </p:cNvPr>
          <p:cNvCxnSpPr>
            <a:cxnSpLocks/>
          </p:cNvCxnSpPr>
          <p:nvPr/>
        </p:nvCxnSpPr>
        <p:spPr>
          <a:xfrm>
            <a:off x="1842448" y="532891"/>
            <a:ext cx="30430" cy="4185159"/>
          </a:xfrm>
          <a:prstGeom prst="line">
            <a:avLst/>
          </a:prstGeom>
        </p:spPr>
        <p:style>
          <a:lnRef idx="3">
            <a:schemeClr val="dk1"/>
          </a:lnRef>
          <a:fillRef idx="0">
            <a:schemeClr val="dk1"/>
          </a:fillRef>
          <a:effectRef idx="2">
            <a:schemeClr val="dk1"/>
          </a:effectRef>
          <a:fontRef idx="minor">
            <a:schemeClr val="tx1"/>
          </a:fontRef>
        </p:style>
      </p:cxnSp>
      <p:cxnSp>
        <p:nvCxnSpPr>
          <p:cNvPr id="211" name="Straight Connector 210">
            <a:extLst>
              <a:ext uri="{FF2B5EF4-FFF2-40B4-BE49-F238E27FC236}">
                <a16:creationId xmlns:a16="http://schemas.microsoft.com/office/drawing/2014/main" id="{18C71E4E-7D88-BB5F-FF40-E62B98582EA3}"/>
              </a:ext>
            </a:extLst>
          </p:cNvPr>
          <p:cNvCxnSpPr>
            <a:cxnSpLocks/>
          </p:cNvCxnSpPr>
          <p:nvPr/>
        </p:nvCxnSpPr>
        <p:spPr>
          <a:xfrm>
            <a:off x="1864122" y="4711289"/>
            <a:ext cx="8455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29DE591-CB79-7A7C-AD8B-D2D690E75D83}"/>
              </a:ext>
            </a:extLst>
          </p:cNvPr>
          <p:cNvCxnSpPr>
            <a:cxnSpLocks/>
          </p:cNvCxnSpPr>
          <p:nvPr/>
        </p:nvCxnSpPr>
        <p:spPr>
          <a:xfrm flipH="1">
            <a:off x="10316413" y="4709014"/>
            <a:ext cx="2709" cy="1084365"/>
          </a:xfrm>
          <a:prstGeom prst="line">
            <a:avLst/>
          </a:prstGeom>
        </p:spPr>
        <p:style>
          <a:lnRef idx="3">
            <a:schemeClr val="dk1"/>
          </a:lnRef>
          <a:fillRef idx="0">
            <a:schemeClr val="dk1"/>
          </a:fillRef>
          <a:effectRef idx="2">
            <a:schemeClr val="dk1"/>
          </a:effectRef>
          <a:fontRef idx="minor">
            <a:schemeClr val="tx1"/>
          </a:fontRef>
        </p:style>
      </p:cxnSp>
      <p:cxnSp>
        <p:nvCxnSpPr>
          <p:cNvPr id="215" name="Straight Connector 214">
            <a:extLst>
              <a:ext uri="{FF2B5EF4-FFF2-40B4-BE49-F238E27FC236}">
                <a16:creationId xmlns:a16="http://schemas.microsoft.com/office/drawing/2014/main" id="{3FED28AD-E89C-B381-8AFD-9322109BD743}"/>
              </a:ext>
            </a:extLst>
          </p:cNvPr>
          <p:cNvCxnSpPr>
            <a:cxnSpLocks/>
          </p:cNvCxnSpPr>
          <p:nvPr/>
        </p:nvCxnSpPr>
        <p:spPr>
          <a:xfrm>
            <a:off x="2795982" y="1125211"/>
            <a:ext cx="21110" cy="5180848"/>
          </a:xfrm>
          <a:prstGeom prst="line">
            <a:avLst/>
          </a:prstGeom>
        </p:spPr>
        <p:style>
          <a:lnRef idx="3">
            <a:schemeClr val="dk1"/>
          </a:lnRef>
          <a:fillRef idx="0">
            <a:schemeClr val="dk1"/>
          </a:fillRef>
          <a:effectRef idx="2">
            <a:schemeClr val="dk1"/>
          </a:effectRef>
          <a:fontRef idx="minor">
            <a:schemeClr val="tx1"/>
          </a:fontRef>
        </p:style>
      </p:cxnSp>
      <p:sp>
        <p:nvSpPr>
          <p:cNvPr id="217" name="Oval 216">
            <a:extLst>
              <a:ext uri="{FF2B5EF4-FFF2-40B4-BE49-F238E27FC236}">
                <a16:creationId xmlns:a16="http://schemas.microsoft.com/office/drawing/2014/main" id="{CDD6993A-7E78-1563-74C0-595051D4FAF3}"/>
              </a:ext>
            </a:extLst>
          </p:cNvPr>
          <p:cNvSpPr/>
          <p:nvPr/>
        </p:nvSpPr>
        <p:spPr>
          <a:xfrm>
            <a:off x="2799931" y="574131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8" name="Oval 217">
            <a:extLst>
              <a:ext uri="{FF2B5EF4-FFF2-40B4-BE49-F238E27FC236}">
                <a16:creationId xmlns:a16="http://schemas.microsoft.com/office/drawing/2014/main" id="{53B6F391-7428-87F6-B782-A19D74EC7CE9}"/>
              </a:ext>
            </a:extLst>
          </p:cNvPr>
          <p:cNvSpPr/>
          <p:nvPr/>
        </p:nvSpPr>
        <p:spPr>
          <a:xfrm>
            <a:off x="2785915" y="3469060"/>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2" name="Connector: Elbow 11">
            <a:extLst>
              <a:ext uri="{FF2B5EF4-FFF2-40B4-BE49-F238E27FC236}">
                <a16:creationId xmlns:a16="http://schemas.microsoft.com/office/drawing/2014/main" id="{356778F2-A1F3-4243-6553-309E70264934}"/>
              </a:ext>
            </a:extLst>
          </p:cNvPr>
          <p:cNvCxnSpPr>
            <a:cxnSpLocks/>
          </p:cNvCxnSpPr>
          <p:nvPr/>
        </p:nvCxnSpPr>
        <p:spPr>
          <a:xfrm rot="5400000">
            <a:off x="5031926" y="4093862"/>
            <a:ext cx="3105363" cy="1891614"/>
          </a:xfrm>
          <a:prstGeom prst="bentConnector3">
            <a:avLst>
              <a:gd name="adj1" fmla="val -3283"/>
            </a:avLst>
          </a:prstGeom>
          <a:ln w="19050"/>
        </p:spPr>
        <p:style>
          <a:lnRef idx="1">
            <a:schemeClr val="dk1"/>
          </a:lnRef>
          <a:fillRef idx="0">
            <a:schemeClr val="dk1"/>
          </a:fillRef>
          <a:effectRef idx="0">
            <a:schemeClr val="dk1"/>
          </a:effectRef>
          <a:fontRef idx="minor">
            <a:schemeClr val="tx1"/>
          </a:fontRef>
        </p:style>
      </p:cxnSp>
      <p:sp>
        <p:nvSpPr>
          <p:cNvPr id="4" name="Oval 3">
            <a:extLst>
              <a:ext uri="{FF2B5EF4-FFF2-40B4-BE49-F238E27FC236}">
                <a16:creationId xmlns:a16="http://schemas.microsoft.com/office/drawing/2014/main" id="{DD6229FB-9309-EB84-6014-86B2E1FFCA13}"/>
              </a:ext>
            </a:extLst>
          </p:cNvPr>
          <p:cNvSpPr/>
          <p:nvPr/>
        </p:nvSpPr>
        <p:spPr>
          <a:xfrm>
            <a:off x="6816468" y="514930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1E660B1-6DA9-3A62-1FB8-8363BB356586}"/>
              </a:ext>
            </a:extLst>
          </p:cNvPr>
          <p:cNvSpPr/>
          <p:nvPr/>
        </p:nvSpPr>
        <p:spPr>
          <a:xfrm>
            <a:off x="5615000" y="6565419"/>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92367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1445</TotalTime>
  <Words>2123</Words>
  <Application>Microsoft Office PowerPoint</Application>
  <PresentationFormat>Widescreen</PresentationFormat>
  <Paragraphs>649</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 Math</vt:lpstr>
      <vt:lpstr>Times New Roman</vt:lpstr>
      <vt:lpstr>Wingdings</vt:lpstr>
      <vt:lpstr>Office Theme</vt:lpstr>
      <vt:lpstr>PowerPoint Presentation</vt:lpstr>
      <vt:lpstr>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Abhijat Tiwari</dc:creator>
  <cp:lastModifiedBy>Neeraj Mishra</cp:lastModifiedBy>
  <cp:revision>32</cp:revision>
  <dcterms:created xsi:type="dcterms:W3CDTF">2025-09-19T13:28:04Z</dcterms:created>
  <dcterms:modified xsi:type="dcterms:W3CDTF">2025-09-23T02:36:40Z</dcterms:modified>
</cp:coreProperties>
</file>