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62" r:id="rId5"/>
    <p:sldId id="258" r:id="rId6"/>
    <p:sldId id="263" r:id="rId7"/>
    <p:sldId id="259" r:id="rId8"/>
    <p:sldId id="264" r:id="rId9"/>
    <p:sldId id="275" r:id="rId10"/>
    <p:sldId id="260" r:id="rId11"/>
    <p:sldId id="265" r:id="rId12"/>
    <p:sldId id="276" r:id="rId13"/>
    <p:sldId id="261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6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335" autoAdjust="0"/>
    <p:restoredTop sz="94660"/>
  </p:normalViewPr>
  <p:slideViewPr>
    <p:cSldViewPr snapToGrid="0">
      <p:cViewPr>
        <p:scale>
          <a:sx n="100" d="100"/>
          <a:sy n="100" d="100"/>
        </p:scale>
        <p:origin x="2140" y="1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77BB-09A6-41A0-9AA5-3E3DC6CAB5AA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5B73E-2C4C-434A-AF1A-9B8F89B1E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68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77BB-09A6-41A0-9AA5-3E3DC6CAB5AA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5B73E-2C4C-434A-AF1A-9B8F89B1E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887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77BB-09A6-41A0-9AA5-3E3DC6CAB5AA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5B73E-2C4C-434A-AF1A-9B8F89B1E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95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77BB-09A6-41A0-9AA5-3E3DC6CAB5AA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5B73E-2C4C-434A-AF1A-9B8F89B1E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67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77BB-09A6-41A0-9AA5-3E3DC6CAB5AA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5B73E-2C4C-434A-AF1A-9B8F89B1E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1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77BB-09A6-41A0-9AA5-3E3DC6CAB5AA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5B73E-2C4C-434A-AF1A-9B8F89B1E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467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77BB-09A6-41A0-9AA5-3E3DC6CAB5AA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5B73E-2C4C-434A-AF1A-9B8F89B1E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3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77BB-09A6-41A0-9AA5-3E3DC6CAB5AA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5B73E-2C4C-434A-AF1A-9B8F89B1E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149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77BB-09A6-41A0-9AA5-3E3DC6CAB5AA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5B73E-2C4C-434A-AF1A-9B8F89B1E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26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77BB-09A6-41A0-9AA5-3E3DC6CAB5AA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5B73E-2C4C-434A-AF1A-9B8F89B1E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8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77BB-09A6-41A0-9AA5-3E3DC6CAB5AA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5B73E-2C4C-434A-AF1A-9B8F89B1E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07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C77BB-09A6-41A0-9AA5-3E3DC6CAB5AA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5B73E-2C4C-434A-AF1A-9B8F89B1E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45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51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165" t="7315" r="2464" b="15422"/>
          <a:stretch/>
        </p:blipFill>
        <p:spPr>
          <a:xfrm>
            <a:off x="1930400" y="463549"/>
            <a:ext cx="7480300" cy="163830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2418" r="4612" b="-1"/>
          <a:stretch/>
        </p:blipFill>
        <p:spPr>
          <a:xfrm>
            <a:off x="3720761" y="2292350"/>
            <a:ext cx="3759539" cy="233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9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6803" y="88037"/>
            <a:ext cx="6336094" cy="1754326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You Don’t “Reduce” Twin-T Networks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Twin-T circuits are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reducible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series/parallel tricks.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They are meant to be solved using: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KVL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KCL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Known voltages/currents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2214861"/>
            <a:ext cx="8174033" cy="92333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Given One Voltage → Everything Falls Into Place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moment you know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internal voltage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circuit becomes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Analog intuition =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propagate known quantities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34941" y="3484086"/>
            <a:ext cx="5711820" cy="147732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Symmetry Is a Hidden Shortcut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left and right branches are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structurally identical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guarantees: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 voltage drops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Predictable current splits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63719" y="5372010"/>
            <a:ext cx="4025461" cy="1200329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Think in Nodes, Not Resistors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 of staring at resistors, ask: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“What is the voltage at this node?”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“Where can current go from here?”</a:t>
            </a:r>
          </a:p>
        </p:txBody>
      </p:sp>
    </p:spTree>
    <p:extLst>
      <p:ext uri="{BB962C8B-B14F-4D97-AF65-F5344CB8AC3E}">
        <p14:creationId xmlns:p14="http://schemas.microsoft.com/office/powerpoint/2010/main" val="3092096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529" y="717221"/>
            <a:ext cx="4064209" cy="518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43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818" y="381457"/>
            <a:ext cx="5510838" cy="344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1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273" y="92851"/>
            <a:ext cx="5855001" cy="68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32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487" y="392642"/>
            <a:ext cx="6434282" cy="19557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001" y="2685442"/>
            <a:ext cx="4825073" cy="221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21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88" y="408567"/>
            <a:ext cx="5136224" cy="459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29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9240" y="100113"/>
            <a:ext cx="7559810" cy="1477328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Intuition (This Is the Real Learning)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Equivalent Resistance ≠ “Whole Circuit”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resistance only depends on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the source sees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a dependent source is not directly loading the input node, it may not affect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en-US" altLang="en-US" b="0" i="0" u="none" strike="noStrike" cap="none" normalizeH="0" baseline="-25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​.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21549" y="1729513"/>
            <a:ext cx="5352151" cy="1754326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Voltage-Controlled Sources Amplify Nodes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Here: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simple resistor divider sets vg​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dependent source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magnifies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node voltage by 9×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how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created without op-amps.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4689" y="3630137"/>
            <a:ext cx="5151923" cy="1477328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3. Think in Nodes, Not Branches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 of chasing currents everywhere: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controlling voltages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Express everything in terms of them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That’s how analog designers simplify complexity.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44450" y="5317172"/>
            <a:ext cx="6429965" cy="1477328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This Is a Hidden Amplifier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 without an op-amp symbol: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</a:t>
            </a:r>
            <a:r>
              <a:rPr kumimoji="0" lang="en-US" altLang="en-US" b="0" i="0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​=4.5v</a:t>
            </a:r>
            <a:r>
              <a:rPr kumimoji="0" lang="en-US" altLang="en-US" b="0" i="0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comes from the dependent source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the foundation of active circuits, filters, and oscillators.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5873672" y="2018438"/>
            <a:ext cx="6211957" cy="1754326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🔑 Key Takeaways (Exam + Industry)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Dependent sources must stay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finding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en-US" altLang="en-US" b="0" i="0" u="none" strike="noStrike" cap="none" normalizeH="0" baseline="-2500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eq</a:t>
            </a:r>
            <a:r>
              <a:rPr kumimoji="0" lang="en-US" altLang="en-US" b="0" i="0" u="none" strike="noStrike" cap="none" normalizeH="0" baseline="-2500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Input resistance is a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property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Voltage-controlled sources create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Many “mysterious” networks are just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implicit amplifiers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511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10" y="265731"/>
            <a:ext cx="5311275" cy="329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243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537" y="300327"/>
            <a:ext cx="5874052" cy="642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84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791523" y="43934"/>
            <a:ext cx="4608954" cy="369332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Intuition (This Is the Key Learning)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656363"/>
            <a:ext cx="7725192" cy="1754326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Dependent Sources Control the Circuit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dependent voltage source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locks the right node voltage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then: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Forces current through 2Ω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Fixes the middle node voltage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Controls all branch currents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👉 One voltage controls the entire network.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21830" y="2683986"/>
            <a:ext cx="7109639" cy="1477328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Current Sources Define Voltages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A current source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doesn’t ask for permission.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says: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“I will push 3 A, and whatever voltage is needed will appear.”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 voltage becomes the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 signal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 dependent source.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29433" y="4461213"/>
            <a:ext cx="6030067" cy="2031325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This Is a Hidden Feedback System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Notice: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Current → Voltage (6Ω)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Voltage → Dependent Source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Dependent Source → Node voltages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Node voltages → Currents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That’s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feedback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without op-amps.</a:t>
            </a:r>
          </a:p>
        </p:txBody>
      </p:sp>
    </p:spTree>
    <p:extLst>
      <p:ext uri="{BB962C8B-B14F-4D97-AF65-F5344CB8AC3E}">
        <p14:creationId xmlns:p14="http://schemas.microsoft.com/office/powerpoint/2010/main" val="2887206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1848" t="10132" r="4029" b="4729"/>
          <a:stretch/>
        </p:blipFill>
        <p:spPr>
          <a:xfrm>
            <a:off x="366565" y="173212"/>
            <a:ext cx="4809664" cy="649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92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100" y="0"/>
            <a:ext cx="10515600" cy="1325563"/>
          </a:xfrm>
        </p:spPr>
        <p:txBody>
          <a:bodyPr>
            <a:normAutofit/>
          </a:bodyPr>
          <a:lstStyle/>
          <a:p>
            <a:pPr lvl="0"/>
            <a:r>
              <a:rPr lang="en-US" altLang="en-US" b="1" dirty="0">
                <a:latin typeface="Arial" panose="020B0604020202020204" pitchFamily="34" charset="0"/>
              </a:rPr>
              <a:t>M</a:t>
            </a:r>
            <a:r>
              <a:rPr lang="en-US" altLang="en-US" b="1" dirty="0" smtClean="0">
                <a:latin typeface="Arial" panose="020B0604020202020204" pitchFamily="34" charset="0"/>
              </a:rPr>
              <a:t>ost </a:t>
            </a:r>
            <a:r>
              <a:rPr lang="en-US" altLang="en-US" b="1" dirty="0">
                <a:latin typeface="Arial" panose="020B0604020202020204" pitchFamily="34" charset="0"/>
              </a:rPr>
              <a:t>important </a:t>
            </a:r>
            <a:r>
              <a:rPr lang="en-US" altLang="en-US" b="1" dirty="0" smtClean="0">
                <a:latin typeface="Arial" panose="020B0604020202020204" pitchFamily="34" charset="0"/>
              </a:rPr>
              <a:t>habit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42950" y="951739"/>
            <a:ext cx="107569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 touching equations, ask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 questions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kind of elements do I see?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Resistor + Inductor → energy storage + dissipation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Series or parallel?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Parallel → same voltage, current splits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input?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Current source → KCL is your friend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“Your job is not to calculate.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job is to choose the </a:t>
            </a: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 variable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Here, the right variable is the 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inductor current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2531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Problem 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 smtClean="0"/>
              <a:t>Identify the </a:t>
            </a:r>
            <a:r>
              <a:rPr lang="en-US" b="1" dirty="0" smtClean="0"/>
              <a:t>state variable</a:t>
            </a:r>
            <a:endParaRPr lang="en-US" dirty="0" smtClean="0"/>
          </a:p>
          <a:p>
            <a:pPr>
              <a:buFont typeface="+mj-lt"/>
              <a:buAutoNum type="arabicPeriod"/>
            </a:pPr>
            <a:r>
              <a:rPr lang="en-US" dirty="0" smtClean="0"/>
              <a:t>Write </a:t>
            </a:r>
            <a:r>
              <a:rPr lang="en-US" b="1" dirty="0" smtClean="0"/>
              <a:t>one governing equation</a:t>
            </a:r>
            <a:endParaRPr lang="en-US" dirty="0" smtClean="0"/>
          </a:p>
          <a:p>
            <a:pPr>
              <a:buFont typeface="+mj-lt"/>
              <a:buAutoNum type="arabicPeriod"/>
            </a:pPr>
            <a:r>
              <a:rPr lang="en-US" dirty="0" smtClean="0"/>
              <a:t>Solve </a:t>
            </a:r>
            <a:r>
              <a:rPr lang="en-US" b="1" dirty="0" smtClean="0"/>
              <a:t>piecewise</a:t>
            </a:r>
            <a:endParaRPr lang="en-US" dirty="0" smtClean="0"/>
          </a:p>
          <a:p>
            <a:pPr>
              <a:buFont typeface="+mj-lt"/>
              <a:buAutoNum type="arabicPeriod"/>
            </a:pPr>
            <a:r>
              <a:rPr lang="en-US" dirty="0" smtClean="0"/>
              <a:t>Derive all other quantities by physics, not math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Sketch waveforms using rules, not formulas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319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28" y="1139740"/>
            <a:ext cx="4750044" cy="32958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903" y="333238"/>
            <a:ext cx="4730993" cy="53152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24877" y="5733534"/>
            <a:ext cx="43716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“Every RL circuit hides this equation. Find it.”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57200" y="1543050"/>
            <a:ext cx="1155700" cy="412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93700" y="3244850"/>
            <a:ext cx="2870200" cy="412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404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6517"/>
            <a:ext cx="5912154" cy="41975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735" y="1127074"/>
            <a:ext cx="4483330" cy="198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22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2132" y="272534"/>
            <a:ext cx="54640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How to Sketch Each Quantity (THIS is gold)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" y="996859"/>
            <a:ext cx="4343623" cy="35434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063" y="742895"/>
            <a:ext cx="4349974" cy="212100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45882" y="3193534"/>
            <a:ext cx="40157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“Energy ignores sign. Only size matters.”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855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11" y="336498"/>
            <a:ext cx="4426177" cy="200670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4184" y="2571234"/>
            <a:ext cx="3686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“Power is where energy disappears.”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990" y="466666"/>
            <a:ext cx="4254719" cy="2305168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817895" y="3472418"/>
            <a:ext cx="383791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Laplace domain (how to teach it intuitively)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 with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Laplace exists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“Laplace turns memory into algebra.”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828" y="2920940"/>
            <a:ext cx="4724643" cy="231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367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08050" y="723037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smtClean="0"/>
              <a:t>What examiners actually want</a:t>
            </a:r>
          </a:p>
          <a:p>
            <a:endParaRPr lang="en-US" sz="2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Correct </a:t>
            </a:r>
            <a:r>
              <a:rPr lang="en-US" sz="2400" b="1" dirty="0" smtClean="0"/>
              <a:t>choice of state variable</a:t>
            </a: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Correct </a:t>
            </a:r>
            <a:r>
              <a:rPr lang="en-US" sz="2400" b="1" dirty="0" smtClean="0"/>
              <a:t>continuity conditions</a:t>
            </a: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Correct </a:t>
            </a:r>
            <a:r>
              <a:rPr lang="en-US" sz="2400" b="1" dirty="0" smtClean="0"/>
              <a:t>qualitative waveforms</a:t>
            </a:r>
            <a:endParaRPr lang="en-US" sz="2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Not algebra gymnastics</a:t>
            </a:r>
            <a:endParaRPr lang="en-US" sz="2400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26498" y="3608339"/>
            <a:ext cx="695065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Summary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RL circuits are not math problems.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are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energy flow problems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Resistors forget.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Inductors remember.</a:t>
            </a:r>
            <a:b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Sources command.</a:t>
            </a:r>
          </a:p>
        </p:txBody>
      </p:sp>
    </p:spTree>
    <p:extLst>
      <p:ext uri="{BB962C8B-B14F-4D97-AF65-F5344CB8AC3E}">
        <p14:creationId xmlns:p14="http://schemas.microsoft.com/office/powerpoint/2010/main" val="621686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68" y="387350"/>
            <a:ext cx="4656231" cy="63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79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1168</TotalTime>
  <Words>547</Words>
  <Application>Microsoft Office PowerPoint</Application>
  <PresentationFormat>Widescreen</PresentationFormat>
  <Paragraphs>91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Most important habit</vt:lpstr>
      <vt:lpstr>Problem Roadmap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12</cp:revision>
  <dcterms:created xsi:type="dcterms:W3CDTF">2026-01-15T12:56:07Z</dcterms:created>
  <dcterms:modified xsi:type="dcterms:W3CDTF">2026-01-16T08:24:56Z</dcterms:modified>
</cp:coreProperties>
</file>