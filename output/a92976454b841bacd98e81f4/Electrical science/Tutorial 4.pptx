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8" r:id="rId5"/>
    <p:sldId id="258" r:id="rId6"/>
    <p:sldId id="272" r:id="rId7"/>
    <p:sldId id="269" r:id="rId8"/>
    <p:sldId id="259" r:id="rId9"/>
    <p:sldId id="270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5" autoAdjust="0"/>
    <p:restoredTop sz="94660"/>
  </p:normalViewPr>
  <p:slideViewPr>
    <p:cSldViewPr snapToGrid="0">
      <p:cViewPr>
        <p:scale>
          <a:sx n="100" d="100"/>
          <a:sy n="100" d="100"/>
        </p:scale>
        <p:origin x="2140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4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2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0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4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1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0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4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2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DBDF-A1F1-4519-8863-8DEE66B60BC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93F67-3365-4B1D-B967-84F66563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0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2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42" y="162735"/>
            <a:ext cx="6045511" cy="16383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8" y="1833807"/>
            <a:ext cx="6212951" cy="22555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52640" y="2586335"/>
            <a:ext cx="4937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independent current source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dependent current source</a:t>
            </a:r>
            <a:endParaRPr lang="en-US" dirty="0"/>
          </a:p>
          <a:p>
            <a:r>
              <a:rPr lang="en-US" dirty="0"/>
              <a:t>and then </a:t>
            </a:r>
            <a:r>
              <a:rPr lang="en-US" b="1" dirty="0"/>
              <a:t>determine the node voltage </a:t>
            </a:r>
            <a:r>
              <a:rPr lang="en-US" b="1" dirty="0" smtClean="0"/>
              <a:t>v</a:t>
            </a:r>
            <a:r>
              <a:rPr lang="en-US" b="1" baseline="-25000" dirty="0" smtClean="0"/>
              <a:t>2</a:t>
            </a:r>
            <a:r>
              <a:rPr lang="en-US" b="1" dirty="0"/>
              <a:t>​</a:t>
            </a:r>
            <a:r>
              <a:rPr lang="en-US" dirty="0"/>
              <a:t>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55880" y="4219288"/>
            <a:ext cx="728472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Big-Picture Strategy (Very Important)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touching equations, ask: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this problem really testing?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problem is testing: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Whether you understand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source transformation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Whether you know that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dependent sources must NEVER be turned off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Whether you can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reduce a circuit gradually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instead of writing nodal equations immediately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👉 The goal is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not brute-force nodal analysis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👉 The goal is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circuit reduction with insight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335519" y="4181029"/>
            <a:ext cx="491440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⚠ Critical Insight Before Proceeding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You are allowed to transform dependent sources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❌ But you are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NOT allowed to suppress them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That means: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You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convert dependent voltage ↔ current sources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You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replace them with open/short circuits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97320" y="503535"/>
            <a:ext cx="5100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This one </a:t>
            </a:r>
            <a:r>
              <a:rPr lang="en-US" dirty="0"/>
              <a:t>is </a:t>
            </a:r>
            <a:r>
              <a:rPr lang="en-US" b="1" dirty="0"/>
              <a:t>conceptually very rich</a:t>
            </a:r>
            <a:r>
              <a:rPr lang="en-US" dirty="0"/>
              <a:t>. It is not about heavy </a:t>
            </a:r>
            <a:r>
              <a:rPr lang="en-US" dirty="0" smtClean="0"/>
              <a:t>math; </a:t>
            </a:r>
            <a:r>
              <a:rPr lang="en-US" dirty="0"/>
              <a:t>it is about </a:t>
            </a:r>
            <a:r>
              <a:rPr lang="en-US" b="1" dirty="0"/>
              <a:t>thinking correctly with source transformations, especially with dependent 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7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7600" y="549255"/>
            <a:ext cx="10068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 Why </a:t>
            </a:r>
            <a:r>
              <a:rPr lang="en-US" b="1" dirty="0">
                <a:solidFill>
                  <a:srgbClr val="C00000"/>
                </a:solidFill>
              </a:rPr>
              <a:t>source transformation works for dependent sources</a:t>
            </a:r>
          </a:p>
          <a:p>
            <a:r>
              <a:rPr lang="en-US" dirty="0"/>
              <a:t>Because it is based on </a:t>
            </a:r>
            <a:r>
              <a:rPr lang="en-US" b="1" dirty="0"/>
              <a:t>terminal behavior</a:t>
            </a:r>
            <a:r>
              <a:rPr lang="en-US" dirty="0"/>
              <a:t>, not internal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3640" y="15970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2 Why </a:t>
            </a:r>
            <a:r>
              <a:rPr lang="en-US" b="1" dirty="0">
                <a:solidFill>
                  <a:srgbClr val="C00000"/>
                </a:solidFill>
              </a:rPr>
              <a:t>dependent sources are never turned off</a:t>
            </a:r>
          </a:p>
          <a:p>
            <a:r>
              <a:rPr lang="en-US" dirty="0"/>
              <a:t>They represent </a:t>
            </a:r>
            <a:r>
              <a:rPr lang="en-US" b="1" dirty="0"/>
              <a:t>controlled behavior</a:t>
            </a:r>
            <a:r>
              <a:rPr lang="en-US" dirty="0"/>
              <a:t>, not energy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0320" y="256975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3 Why </a:t>
            </a:r>
            <a:r>
              <a:rPr lang="en-US" b="1" dirty="0">
                <a:solidFill>
                  <a:srgbClr val="C00000"/>
                </a:solidFill>
              </a:rPr>
              <a:t>nodal analysis becomes easier after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Voltage sources disappear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Currents add algebraically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variables stay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0480" y="438571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4 How </a:t>
            </a:r>
            <a:r>
              <a:rPr lang="en-US" b="1" dirty="0">
                <a:solidFill>
                  <a:srgbClr val="C00000"/>
                </a:solidFill>
              </a:rPr>
              <a:t>should approach such problems in exams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Transform </a:t>
            </a:r>
            <a:r>
              <a:rPr lang="en-US" b="1" dirty="0"/>
              <a:t>independent sources first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Transform </a:t>
            </a:r>
            <a:r>
              <a:rPr lang="en-US" b="1" dirty="0"/>
              <a:t>dependent sources carefully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Reduce to </a:t>
            </a:r>
            <a:r>
              <a:rPr lang="en-US" b="1" dirty="0"/>
              <a:t>current-source form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KCL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Solve </a:t>
            </a:r>
            <a:r>
              <a:rPr lang="en-US" b="1" dirty="0"/>
              <a:t>slowly and cleanly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6784" y="44880"/>
            <a:ext cx="4559916" cy="66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5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28"/>
            <a:ext cx="5739130" cy="3937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1" y="171449"/>
            <a:ext cx="6216650" cy="35414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44450" y="4425087"/>
            <a:ext cx="32829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 1: Remove the Load </a:t>
            </a:r>
            <a:r>
              <a:rPr lang="en-US" b="1" dirty="0" smtClean="0"/>
              <a:t>RL</a:t>
            </a:r>
            <a:r>
              <a:rPr lang="en-US" b="1" dirty="0"/>
              <a:t>​</a:t>
            </a:r>
          </a:p>
          <a:p>
            <a:r>
              <a:rPr lang="en-US" dirty="0"/>
              <a:t>To find the </a:t>
            </a:r>
            <a:r>
              <a:rPr lang="en-US" dirty="0" err="1"/>
              <a:t>Thevenin</a:t>
            </a:r>
            <a:r>
              <a:rPr lang="en-US" dirty="0"/>
              <a:t> equivalent: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Remove RLR_LRL​</a:t>
            </a:r>
            <a:r>
              <a:rPr lang="en-US" dirty="0"/>
              <a:t> (open circuit)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 into the network from terminals </a:t>
            </a:r>
            <a:r>
              <a:rPr lang="en-US" b="1" dirty="0" smtClean="0"/>
              <a:t>a–b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94100" y="4172288"/>
            <a:ext cx="392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🔌 Step 2: Find </a:t>
            </a:r>
            <a:r>
              <a:rPr lang="en-US" b="1" dirty="0" err="1"/>
              <a:t>Thevenin</a:t>
            </a:r>
            <a:r>
              <a:rPr lang="en-US" b="1" dirty="0"/>
              <a:t> Resistance </a:t>
            </a:r>
            <a:r>
              <a:rPr lang="en-US" b="1" dirty="0" err="1" smtClean="0"/>
              <a:t>R</a:t>
            </a:r>
            <a:r>
              <a:rPr lang="en-US" b="1" baseline="-25000" dirty="0" err="1" smtClean="0"/>
              <a:t>Th</a:t>
            </a:r>
            <a:r>
              <a:rPr lang="en-US" b="1" dirty="0"/>
              <a:t>​</a:t>
            </a:r>
          </a:p>
          <a:p>
            <a:r>
              <a:rPr lang="en-US" b="1" dirty="0"/>
              <a:t>Rule reminder (very important for students):</a:t>
            </a:r>
          </a:p>
          <a:p>
            <a:r>
              <a:rPr lang="en-US" dirty="0"/>
              <a:t>To find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Th</a:t>
            </a:r>
            <a:r>
              <a:rPr lang="en-US" dirty="0"/>
              <a:t>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Turn </a:t>
            </a:r>
            <a:r>
              <a:rPr lang="en-US" b="1" dirty="0"/>
              <a:t>off independent sources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Voltage source → </a:t>
            </a:r>
            <a:r>
              <a:rPr lang="en-US" b="1" dirty="0"/>
              <a:t>short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source → </a:t>
            </a:r>
            <a:r>
              <a:rPr lang="en-US" b="1" dirty="0"/>
              <a:t>open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 all resistors intact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6850" y="4098836"/>
            <a:ext cx="41846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this to the circuit: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 mA current source</a:t>
            </a:r>
            <a:r>
              <a:rPr lang="en-US" dirty="0"/>
              <a:t> → open circuit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 V voltage source</a:t>
            </a:r>
            <a:r>
              <a:rPr lang="en-US" dirty="0"/>
              <a:t> → short circuit</a:t>
            </a:r>
          </a:p>
          <a:p>
            <a:r>
              <a:rPr lang="en-US" dirty="0"/>
              <a:t>Now look into terminals </a:t>
            </a:r>
            <a:r>
              <a:rPr lang="en-US" b="1" dirty="0"/>
              <a:t>a–b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013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22" y="1025401"/>
            <a:ext cx="5962956" cy="48071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73550" y="4718050"/>
            <a:ext cx="558800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6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640" y="62992"/>
            <a:ext cx="4902200" cy="670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6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61"/>
            <a:ext cx="5751549" cy="48191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24550" y="753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After this example, </a:t>
            </a:r>
            <a:r>
              <a:rPr lang="en-US" dirty="0" smtClean="0"/>
              <a:t>we should </a:t>
            </a:r>
            <a:r>
              <a:rPr lang="en-US" dirty="0"/>
              <a:t>be able to: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Systematically find </a:t>
            </a:r>
            <a:r>
              <a:rPr lang="en-US" b="1" dirty="0" err="1"/>
              <a:t>Thevenin</a:t>
            </a:r>
            <a:r>
              <a:rPr lang="en-US" b="1" dirty="0"/>
              <a:t> voltage</a:t>
            </a:r>
            <a:r>
              <a:rPr lang="en-US" dirty="0"/>
              <a:t> using nodal analysis</a:t>
            </a:r>
          </a:p>
          <a:p>
            <a:pPr>
              <a:buFont typeface="+mj-lt"/>
              <a:buAutoNum type="arabicPeriod"/>
            </a:pPr>
            <a:r>
              <a:rPr lang="en-US" dirty="0"/>
              <a:t>Correctly deactivate </a:t>
            </a:r>
            <a:r>
              <a:rPr lang="en-US" b="1" dirty="0"/>
              <a:t>independent sources</a:t>
            </a:r>
            <a:r>
              <a:rPr lang="en-US" dirty="0"/>
              <a:t> to find </a:t>
            </a:r>
            <a:r>
              <a:rPr lang="en-US" dirty="0" err="1"/>
              <a:t>Thevenin</a:t>
            </a:r>
            <a:r>
              <a:rPr lang="en-US" dirty="0"/>
              <a:t> resistance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dirty="0" err="1"/>
              <a:t>Thevenin</a:t>
            </a:r>
            <a:r>
              <a:rPr lang="en-US" dirty="0"/>
              <a:t> model to compute </a:t>
            </a:r>
            <a:r>
              <a:rPr lang="en-US" b="1" dirty="0"/>
              <a:t>load voltage and power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Apply the </a:t>
            </a:r>
            <a:r>
              <a:rPr lang="en-US" b="1" dirty="0"/>
              <a:t>maximum power transfer theorem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936099" y="2077989"/>
            <a:ext cx="61606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Remove the Load (Open Circuit)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find the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Thevenin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equivalent: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 RL​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makes the voltage at terminals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a–b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open-circuit voltage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anose="020B0604020202020204" pitchFamily="34" charset="0"/>
              </a:rPr>
              <a:t>Important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point: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Thevenin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voltage is always the voltage seen at the output when nothing is connected.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35612" y="4553288"/>
            <a:ext cx="63818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Choose a Reference Node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terminal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v1​ → node between the current source, 2 Ω, and 4 Ω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→ voltage at terminal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anose="020B0604020202020204" pitchFamily="34" charset="0"/>
              </a:rPr>
              <a:t>Please Note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node labeling avoids sign mistakes later.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81398" y="5077649"/>
            <a:ext cx="362555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Deactivate Independent Sources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find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Rth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 source →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circuit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source →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circuit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to memorize: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 → short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→ open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0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5" y="272888"/>
            <a:ext cx="5035809" cy="63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3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134"/>
            <a:ext cx="6286500" cy="43209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864" y="466662"/>
            <a:ext cx="3340272" cy="24448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252" y="3222599"/>
            <a:ext cx="3810196" cy="9970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272" y="4813267"/>
            <a:ext cx="3010055" cy="128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150" y="168080"/>
            <a:ext cx="3389601" cy="656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432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9</cp:revision>
  <dcterms:created xsi:type="dcterms:W3CDTF">2026-02-05T06:42:23Z</dcterms:created>
  <dcterms:modified xsi:type="dcterms:W3CDTF">2026-02-06T08:16:45Z</dcterms:modified>
</cp:coreProperties>
</file>