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76"/>
  </p:notesMasterIdLst>
  <p:sldIdLst>
    <p:sldId id="257" r:id="rId3"/>
    <p:sldId id="259" r:id="rId4"/>
    <p:sldId id="260" r:id="rId5"/>
    <p:sldId id="261" r:id="rId6"/>
    <p:sldId id="262" r:id="rId7"/>
    <p:sldId id="263" r:id="rId8"/>
    <p:sldId id="264" r:id="rId9"/>
    <p:sldId id="265" r:id="rId10"/>
    <p:sldId id="266" r:id="rId11"/>
    <p:sldId id="267" r:id="rId12"/>
    <p:sldId id="268" r:id="rId13"/>
    <p:sldId id="385" r:id="rId14"/>
    <p:sldId id="386" r:id="rId15"/>
    <p:sldId id="387" r:id="rId16"/>
    <p:sldId id="388" r:id="rId17"/>
    <p:sldId id="389" r:id="rId18"/>
    <p:sldId id="390" r:id="rId19"/>
    <p:sldId id="391" r:id="rId20"/>
    <p:sldId id="392" r:id="rId21"/>
    <p:sldId id="338" r:id="rId22"/>
    <p:sldId id="339" r:id="rId23"/>
    <p:sldId id="340" r:id="rId24"/>
    <p:sldId id="341" r:id="rId25"/>
    <p:sldId id="342" r:id="rId26"/>
    <p:sldId id="343"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360" r:id="rId44"/>
    <p:sldId id="361" r:id="rId45"/>
    <p:sldId id="362" r:id="rId46"/>
    <p:sldId id="363" r:id="rId47"/>
    <p:sldId id="364" r:id="rId48"/>
    <p:sldId id="365" r:id="rId49"/>
    <p:sldId id="366" r:id="rId50"/>
    <p:sldId id="367" r:id="rId51"/>
    <p:sldId id="368" r:id="rId52"/>
    <p:sldId id="381" r:id="rId53"/>
    <p:sldId id="369" r:id="rId54"/>
    <p:sldId id="370" r:id="rId55"/>
    <p:sldId id="382" r:id="rId56"/>
    <p:sldId id="383" r:id="rId57"/>
    <p:sldId id="371" r:id="rId58"/>
    <p:sldId id="384" r:id="rId59"/>
    <p:sldId id="372" r:id="rId60"/>
    <p:sldId id="373" r:id="rId61"/>
    <p:sldId id="374" r:id="rId62"/>
    <p:sldId id="375" r:id="rId63"/>
    <p:sldId id="376" r:id="rId64"/>
    <p:sldId id="377" r:id="rId65"/>
    <p:sldId id="378" r:id="rId66"/>
    <p:sldId id="269" r:id="rId67"/>
    <p:sldId id="270" r:id="rId68"/>
    <p:sldId id="393" r:id="rId69"/>
    <p:sldId id="394" r:id="rId70"/>
    <p:sldId id="395" r:id="rId71"/>
    <p:sldId id="396" r:id="rId72"/>
    <p:sldId id="397" r:id="rId73"/>
    <p:sldId id="398" r:id="rId74"/>
    <p:sldId id="399" r:id="rId75"/>
    <p:sldId id="400" r:id="rId76"/>
    <p:sldId id="401" r:id="rId77"/>
    <p:sldId id="402" r:id="rId78"/>
    <p:sldId id="403" r:id="rId79"/>
    <p:sldId id="404" r:id="rId80"/>
    <p:sldId id="405" r:id="rId81"/>
    <p:sldId id="406" r:id="rId82"/>
    <p:sldId id="407" r:id="rId83"/>
    <p:sldId id="408" r:id="rId84"/>
    <p:sldId id="409" r:id="rId85"/>
    <p:sldId id="410" r:id="rId86"/>
    <p:sldId id="411" r:id="rId87"/>
    <p:sldId id="412" r:id="rId88"/>
    <p:sldId id="413" r:id="rId89"/>
    <p:sldId id="414" r:id="rId90"/>
    <p:sldId id="415" r:id="rId91"/>
    <p:sldId id="416" r:id="rId92"/>
    <p:sldId id="417" r:id="rId93"/>
    <p:sldId id="418" r:id="rId94"/>
    <p:sldId id="419" r:id="rId95"/>
    <p:sldId id="420" r:id="rId96"/>
    <p:sldId id="421" r:id="rId97"/>
    <p:sldId id="422" r:id="rId98"/>
    <p:sldId id="423" r:id="rId99"/>
    <p:sldId id="424" r:id="rId100"/>
    <p:sldId id="425" r:id="rId101"/>
    <p:sldId id="426" r:id="rId102"/>
    <p:sldId id="427" r:id="rId103"/>
    <p:sldId id="428" r:id="rId104"/>
    <p:sldId id="429" r:id="rId105"/>
    <p:sldId id="430" r:id="rId106"/>
    <p:sldId id="431" r:id="rId107"/>
    <p:sldId id="432" r:id="rId108"/>
    <p:sldId id="271" r:id="rId109"/>
    <p:sldId id="272" r:id="rId110"/>
    <p:sldId id="273" r:id="rId111"/>
    <p:sldId id="274" r:id="rId112"/>
    <p:sldId id="275" r:id="rId113"/>
    <p:sldId id="276" r:id="rId114"/>
    <p:sldId id="277" r:id="rId115"/>
    <p:sldId id="278" r:id="rId116"/>
    <p:sldId id="279" r:id="rId117"/>
    <p:sldId id="280" r:id="rId118"/>
    <p:sldId id="281" r:id="rId119"/>
    <p:sldId id="282" r:id="rId120"/>
    <p:sldId id="283" r:id="rId121"/>
    <p:sldId id="284" r:id="rId122"/>
    <p:sldId id="285" r:id="rId123"/>
    <p:sldId id="286" r:id="rId124"/>
    <p:sldId id="287" r:id="rId125"/>
    <p:sldId id="288" r:id="rId126"/>
    <p:sldId id="289" r:id="rId127"/>
    <p:sldId id="293" r:id="rId128"/>
    <p:sldId id="290" r:id="rId129"/>
    <p:sldId id="291" r:id="rId130"/>
    <p:sldId id="292" r:id="rId131"/>
    <p:sldId id="294" r:id="rId132"/>
    <p:sldId id="295" r:id="rId133"/>
    <p:sldId id="296" r:id="rId134"/>
    <p:sldId id="297" r:id="rId135"/>
    <p:sldId id="298" r:id="rId136"/>
    <p:sldId id="299" r:id="rId137"/>
    <p:sldId id="300" r:id="rId138"/>
    <p:sldId id="301" r:id="rId139"/>
    <p:sldId id="302" r:id="rId140"/>
    <p:sldId id="303" r:id="rId141"/>
    <p:sldId id="304" r:id="rId142"/>
    <p:sldId id="305" r:id="rId143"/>
    <p:sldId id="306" r:id="rId144"/>
    <p:sldId id="307" r:id="rId145"/>
    <p:sldId id="308" r:id="rId146"/>
    <p:sldId id="309" r:id="rId147"/>
    <p:sldId id="310" r:id="rId148"/>
    <p:sldId id="311" r:id="rId149"/>
    <p:sldId id="312" r:id="rId150"/>
    <p:sldId id="313" r:id="rId151"/>
    <p:sldId id="314" r:id="rId152"/>
    <p:sldId id="315" r:id="rId153"/>
    <p:sldId id="316" r:id="rId154"/>
    <p:sldId id="317" r:id="rId155"/>
    <p:sldId id="318" r:id="rId156"/>
    <p:sldId id="319" r:id="rId157"/>
    <p:sldId id="320" r:id="rId158"/>
    <p:sldId id="321" r:id="rId159"/>
    <p:sldId id="322" r:id="rId160"/>
    <p:sldId id="323" r:id="rId161"/>
    <p:sldId id="327" r:id="rId162"/>
    <p:sldId id="324" r:id="rId163"/>
    <p:sldId id="328" r:id="rId164"/>
    <p:sldId id="329" r:id="rId165"/>
    <p:sldId id="325" r:id="rId166"/>
    <p:sldId id="326" r:id="rId167"/>
    <p:sldId id="330" r:id="rId168"/>
    <p:sldId id="331" r:id="rId169"/>
    <p:sldId id="332" r:id="rId170"/>
    <p:sldId id="333" r:id="rId171"/>
    <p:sldId id="334" r:id="rId172"/>
    <p:sldId id="335" r:id="rId173"/>
    <p:sldId id="336" r:id="rId174"/>
    <p:sldId id="337" r:id="rId1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9A6B985-151C-4F35-AB2F-127E2F6F7203}">
          <p14:sldIdLst>
            <p14:sldId id="257"/>
            <p14:sldId id="259"/>
            <p14:sldId id="260"/>
            <p14:sldId id="261"/>
            <p14:sldId id="262"/>
            <p14:sldId id="263"/>
            <p14:sldId id="264"/>
            <p14:sldId id="265"/>
            <p14:sldId id="266"/>
            <p14:sldId id="267"/>
            <p14:sldId id="268"/>
            <p14:sldId id="385"/>
            <p14:sldId id="386"/>
            <p14:sldId id="387"/>
            <p14:sldId id="388"/>
            <p14:sldId id="389"/>
            <p14:sldId id="390"/>
            <p14:sldId id="391"/>
            <p14:sldId id="392"/>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81"/>
            <p14:sldId id="369"/>
            <p14:sldId id="370"/>
            <p14:sldId id="382"/>
            <p14:sldId id="383"/>
            <p14:sldId id="371"/>
            <p14:sldId id="384"/>
            <p14:sldId id="372"/>
            <p14:sldId id="373"/>
            <p14:sldId id="374"/>
            <p14:sldId id="375"/>
            <p14:sldId id="376"/>
            <p14:sldId id="377"/>
            <p14:sldId id="378"/>
            <p14:sldId id="269"/>
            <p14:sldId id="270"/>
          </p14:sldIdLst>
        </p14:section>
        <p14:section name="gm/ID-Based Device Sizing Using Reference Plots and Cross-Multiplication" id="{6C25A80F-DAB7-4C95-8781-CCE3F9F21C5A}">
          <p14:sldIdLst>
            <p14:sldId id="393"/>
            <p14:sldId id="394"/>
            <p14:sldId id="395"/>
            <p14:sldId id="396"/>
            <p14:sldId id="397"/>
            <p14:sldId id="398"/>
            <p14:sldId id="399"/>
            <p14:sldId id="400"/>
            <p14:sldId id="401"/>
            <p14:sldId id="402"/>
            <p14:sldId id="403"/>
            <p14:sldId id="404"/>
            <p14:sldId id="405"/>
            <p14:sldId id="406"/>
            <p14:sldId id="407"/>
            <p14:sldId id="408"/>
            <p14:sldId id="409"/>
            <p14:sldId id="410"/>
            <p14:sldId id="411"/>
            <p14:sldId id="412"/>
            <p14:sldId id="413"/>
            <p14:sldId id="414"/>
            <p14:sldId id="415"/>
          </p14:sldIdLst>
        </p14:section>
        <p14:section name="Degrees of Freedom, LUT Generation, and Design Methodology" id="{68C414C1-5458-4B9E-AC0C-5BBE91D03193}">
          <p14:sldIdLst>
            <p14:sldId id="416"/>
            <p14:sldId id="417"/>
            <p14:sldId id="418"/>
            <p14:sldId id="419"/>
            <p14:sldId id="420"/>
            <p14:sldId id="421"/>
            <p14:sldId id="422"/>
            <p14:sldId id="423"/>
            <p14:sldId id="424"/>
            <p14:sldId id="425"/>
            <p14:sldId id="426"/>
            <p14:sldId id="427"/>
            <p14:sldId id="428"/>
            <p14:sldId id="429"/>
            <p14:sldId id="430"/>
            <p14:sldId id="431"/>
            <p14:sldId id="432"/>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3"/>
            <p14:sldId id="290"/>
            <p14:sldId id="291"/>
            <p14:sldId id="292"/>
            <p14:sldId id="294"/>
            <p14:sldId id="295"/>
            <p14:sldId id="296"/>
            <p14:sldId id="297"/>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7"/>
            <p14:sldId id="324"/>
            <p14:sldId id="328"/>
            <p14:sldId id="329"/>
            <p14:sldId id="325"/>
            <p14:sldId id="326"/>
            <p14:sldId id="330"/>
            <p14:sldId id="331"/>
            <p14:sldId id="332"/>
            <p14:sldId id="333"/>
            <p14:sldId id="334"/>
            <p14:sldId id="335"/>
            <p14:sldId id="336"/>
            <p14:sldId id="3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08" autoAdjust="0"/>
    <p:restoredTop sz="94660"/>
  </p:normalViewPr>
  <p:slideViewPr>
    <p:cSldViewPr snapToGrid="0">
      <p:cViewPr varScale="1">
        <p:scale>
          <a:sx n="143" d="100"/>
          <a:sy n="143" d="100"/>
        </p:scale>
        <p:origin x="100" y="5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presProps" Target="presProps.xml"/><Relationship Id="rId172" Type="http://schemas.openxmlformats.org/officeDocument/2006/relationships/slide" Target="slides/slide170.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tableStyles" Target="tableStyles.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notesMaster" Target="notesMasters/notesMaster1.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8E5585-CF23-43A6-9A5B-C461B15C4945}"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B8250-8179-4E6A-B28C-C4016ADE6AE7}" type="slidenum">
              <a:rPr lang="en-US" smtClean="0"/>
              <a:t>‹#›</a:t>
            </a:fld>
            <a:endParaRPr lang="en-US"/>
          </a:p>
        </p:txBody>
      </p:sp>
    </p:spTree>
    <p:extLst>
      <p:ext uri="{BB962C8B-B14F-4D97-AF65-F5344CB8AC3E}">
        <p14:creationId xmlns:p14="http://schemas.microsoft.com/office/powerpoint/2010/main" val="13827254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09473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18391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2530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03960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9547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10606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5669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13179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7"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7828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615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6734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63692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40133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7" name="Holder 7"/>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816581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40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20457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3" name="Holder 3"/>
          <p:cNvSpPr>
            <a:spLocks noGrp="1"/>
          </p:cNvSpPr>
          <p:nvPr>
            <p:ph type="dt" sz="half" idx="6"/>
          </p:nvPr>
        </p:nvSpPr>
        <p:spPr/>
        <p:txBody>
          <a:bodyPr lIns="0" tIns="0" rIns="0" bIns="0"/>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4" name="Holder 4"/>
          <p:cNvSpPr>
            <a:spLocks noGrp="1"/>
          </p:cNvSpPr>
          <p:nvPr>
            <p:ph type="sldNum" sz="quarter" idx="7"/>
          </p:nvPr>
        </p:nvSpPr>
        <p:spPr/>
        <p:txBody>
          <a:bodyPr lIns="0" tIns="0" rIns="0" bIns="0"/>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673610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AAMD BITs Pilani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388511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813054" y="984503"/>
            <a:ext cx="10609580" cy="114300"/>
          </a:xfrm>
          <a:custGeom>
            <a:avLst/>
            <a:gdLst/>
            <a:ahLst/>
            <a:cxnLst/>
            <a:rect l="l" t="t" r="r" b="b"/>
            <a:pathLst>
              <a:path w="10609580" h="114300">
                <a:moveTo>
                  <a:pt x="10609326" y="0"/>
                </a:moveTo>
                <a:lnTo>
                  <a:pt x="0" y="0"/>
                </a:lnTo>
                <a:lnTo>
                  <a:pt x="0" y="4572"/>
                </a:lnTo>
                <a:lnTo>
                  <a:pt x="0" y="9144"/>
                </a:lnTo>
                <a:lnTo>
                  <a:pt x="0" y="114300"/>
                </a:lnTo>
                <a:lnTo>
                  <a:pt x="6206490" y="114300"/>
                </a:lnTo>
                <a:lnTo>
                  <a:pt x="6206490" y="9144"/>
                </a:lnTo>
                <a:lnTo>
                  <a:pt x="10609326" y="9144"/>
                </a:lnTo>
                <a:lnTo>
                  <a:pt x="10609326" y="0"/>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17" name="bg object 17"/>
          <p:cNvSpPr/>
          <p:nvPr/>
        </p:nvSpPr>
        <p:spPr>
          <a:xfrm>
            <a:off x="813053" y="6169914"/>
            <a:ext cx="10565130" cy="3175"/>
          </a:xfrm>
          <a:custGeom>
            <a:avLst/>
            <a:gdLst/>
            <a:ahLst/>
            <a:cxnLst/>
            <a:rect l="l" t="t" r="r" b="b"/>
            <a:pathLst>
              <a:path w="10565130" h="3175">
                <a:moveTo>
                  <a:pt x="10565130" y="3048"/>
                </a:moveTo>
                <a:lnTo>
                  <a:pt x="10565130" y="0"/>
                </a:lnTo>
                <a:lnTo>
                  <a:pt x="0" y="0"/>
                </a:lnTo>
                <a:lnTo>
                  <a:pt x="0" y="3048"/>
                </a:lnTo>
                <a:lnTo>
                  <a:pt x="10565130" y="3048"/>
                </a:lnTo>
                <a:close/>
              </a:path>
            </a:pathLst>
          </a:custGeom>
          <a:solidFill>
            <a:srgbClr val="CB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latin typeface="Calibri"/>
              <a:ea typeface="+mn-ea"/>
              <a:cs typeface="+mn-cs"/>
            </a:endParaRPr>
          </a:p>
        </p:txBody>
      </p:sp>
      <p:sp>
        <p:nvSpPr>
          <p:cNvPr id="2" name="Holder 2"/>
          <p:cNvSpPr>
            <a:spLocks noGrp="1"/>
          </p:cNvSpPr>
          <p:nvPr>
            <p:ph type="title"/>
          </p:nvPr>
        </p:nvSpPr>
        <p:spPr>
          <a:xfrm>
            <a:off x="819150" y="347725"/>
            <a:ext cx="10593196" cy="572389"/>
          </a:xfrm>
          <a:prstGeom prst="rect">
            <a:avLst/>
          </a:prstGeom>
        </p:spPr>
        <p:txBody>
          <a:bodyPr wrap="square" lIns="0" tIns="0" rIns="0" bIns="0">
            <a:spAutoFit/>
          </a:bodyPr>
          <a:lstStyle>
            <a:lvl1pPr>
              <a:defRPr sz="3400" b="0" i="0">
                <a:solidFill>
                  <a:schemeClr val="tx1"/>
                </a:solidFill>
                <a:latin typeface="Verdana"/>
                <a:cs typeface="Verdana"/>
              </a:defRPr>
            </a:lvl1pPr>
          </a:lstStyle>
          <a:p>
            <a:endParaRPr/>
          </a:p>
        </p:txBody>
      </p:sp>
      <p:sp>
        <p:nvSpPr>
          <p:cNvPr id="3" name="Holder 3"/>
          <p:cNvSpPr>
            <a:spLocks noGrp="1"/>
          </p:cNvSpPr>
          <p:nvPr>
            <p:ph type="body" idx="1"/>
          </p:nvPr>
        </p:nvSpPr>
        <p:spPr>
          <a:xfrm>
            <a:off x="844550" y="1327353"/>
            <a:ext cx="5730875" cy="1549400"/>
          </a:xfrm>
          <a:prstGeom prst="rect">
            <a:avLst/>
          </a:prstGeom>
        </p:spPr>
        <p:txBody>
          <a:bodyPr wrap="square" lIns="0" tIns="0" rIns="0" bIns="0">
            <a:spAutoFit/>
          </a:bodyPr>
          <a:lstStyle>
            <a:lvl1pPr>
              <a:defRPr sz="2000" b="0" i="0">
                <a:solidFill>
                  <a:schemeClr val="tx1"/>
                </a:solidFill>
                <a:latin typeface="Verdana"/>
                <a:cs typeface="Verdana"/>
              </a:defRPr>
            </a:lvl1pPr>
          </a:lstStyle>
          <a:p>
            <a:endParaRPr/>
          </a:p>
        </p:txBody>
      </p:sp>
      <p:sp>
        <p:nvSpPr>
          <p:cNvPr id="4" name="Holder 4"/>
          <p:cNvSpPr>
            <a:spLocks noGrp="1"/>
          </p:cNvSpPr>
          <p:nvPr>
            <p:ph type="ftr" sz="quarter" idx="5"/>
          </p:nvPr>
        </p:nvSpPr>
        <p:spPr>
          <a:xfrm>
            <a:off x="5531611" y="6276791"/>
            <a:ext cx="1130300" cy="210820"/>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5" name="Holder 5"/>
          <p:cNvSpPr>
            <a:spLocks noGrp="1"/>
          </p:cNvSpPr>
          <p:nvPr>
            <p:ph type="dt" sz="half" idx="6"/>
          </p:nvPr>
        </p:nvSpPr>
        <p:spPr>
          <a:xfrm>
            <a:off x="891794" y="6276028"/>
            <a:ext cx="1085214" cy="211583"/>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sz="1200" b="0" i="0" u="none" strike="noStrike" kern="0" cap="none" spc="-10" normalizeH="0" baseline="0" noProof="0" dirty="0">
              <a:ln>
                <a:noFill/>
              </a:ln>
              <a:solidFill>
                <a:prstClr val="black"/>
              </a:solidFill>
              <a:effectLst/>
              <a:uLnTx/>
              <a:uFillTx/>
              <a:latin typeface="Verdana"/>
              <a:ea typeface="+mn-ea"/>
            </a:endParaRPr>
          </a:p>
        </p:txBody>
      </p:sp>
      <p:sp>
        <p:nvSpPr>
          <p:cNvPr id="6" name="Holder 6"/>
          <p:cNvSpPr>
            <a:spLocks noGrp="1"/>
          </p:cNvSpPr>
          <p:nvPr>
            <p:ph type="sldNum" sz="quarter" idx="7"/>
          </p:nvPr>
        </p:nvSpPr>
        <p:spPr>
          <a:xfrm>
            <a:off x="10952988" y="6276028"/>
            <a:ext cx="384399" cy="214631"/>
          </a:xfrm>
          <a:prstGeom prst="rect">
            <a:avLst/>
          </a:prstGeom>
        </p:spPr>
        <p:txBody>
          <a:bodyPr wrap="square" lIns="0" tIns="0" rIns="0" bIns="0">
            <a:spAutoFit/>
          </a:bodyPr>
          <a:lstStyle>
            <a:lvl1pPr>
              <a:defRPr sz="1200" b="0" i="0">
                <a:solidFill>
                  <a:schemeClr val="tx1"/>
                </a:solidFill>
                <a:latin typeface="Verdana"/>
                <a:cs typeface="Verdana"/>
              </a:defRPr>
            </a:lvl1p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sz="1200" b="0" i="0" u="none" strike="noStrike" kern="0" cap="none" spc="-50" normalizeH="0" baseline="0" noProof="0" dirty="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a:t>
            </a:fld>
            <a:endParaRPr kumimoji="0"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2422915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1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3.xml"/><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hyperlink" Target="https://user-images.githubusercontent.com/95447782/169862807-c7a3cd2f-28c3-4d06-b89f-075cccb704c5.png" TargetMode="External"/><Relationship Id="rId1" Type="http://schemas.openxmlformats.org/officeDocument/2006/relationships/slideLayout" Target="../slideLayouts/slideLayout13.xm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58.png"/><Relationship Id="rId2" Type="http://schemas.openxmlformats.org/officeDocument/2006/relationships/image" Target="../media/image61.png"/><Relationship Id="rId1" Type="http://schemas.openxmlformats.org/officeDocument/2006/relationships/slideLayout" Target="../slideLayouts/slideLayout1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3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3.xml"/><Relationship Id="rId5" Type="http://schemas.openxmlformats.org/officeDocument/2006/relationships/image" Target="../media/image69.pn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0.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5.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760.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3.xml"/><Relationship Id="rId5" Type="http://schemas.openxmlformats.org/officeDocument/2006/relationships/image" Target="../media/image79.png"/><Relationship Id="rId4" Type="http://schemas.openxmlformats.org/officeDocument/2006/relationships/image" Target="../media/image80.png"/></Relationships>
</file>

<file path=ppt/slides/_rels/slide4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3.xml"/><Relationship Id="rId6" Type="http://schemas.openxmlformats.org/officeDocument/2006/relationships/image" Target="../media/image94.png"/><Relationship Id="rId4" Type="http://schemas.openxmlformats.org/officeDocument/2006/relationships/image" Target="../media/image87.png"/></Relationships>
</file>

<file path=ppt/slides/_rels/slide4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5" Type="http://schemas.openxmlformats.org/officeDocument/2006/relationships/image" Target="../media/image100.png"/><Relationship Id="rId4" Type="http://schemas.openxmlformats.org/officeDocument/2006/relationships/image" Target="../media/image99.png"/></Relationships>
</file>

<file path=ppt/slides/_rels/slide5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13.xml"/><Relationship Id="rId4" Type="http://schemas.openxmlformats.org/officeDocument/2006/relationships/image" Target="../media/image155.png"/></Relationships>
</file>

<file path=ppt/slides/_rels/slide139.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13.xml"/></Relationships>
</file>

<file path=ppt/slides/_rels/slide151.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13.xml"/></Relationships>
</file>

<file path=ppt/slides/_rels/slide152.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13.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5.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13.xml"/></Relationships>
</file>

<file path=ppt/slides/_rels/slide156.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1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9.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1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4.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slideLayout" Target="../slideLayouts/slideLayout13.xml"/><Relationship Id="rId4" Type="http://schemas.openxmlformats.org/officeDocument/2006/relationships/image" Target="../media/image17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72.png"/><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image" Target="../media/image174.png"/><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image" Target="../media/image176.png"/><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3" Type="http://schemas.openxmlformats.org/officeDocument/2006/relationships/image" Target="../media/image179.png"/><Relationship Id="rId2" Type="http://schemas.openxmlformats.org/officeDocument/2006/relationships/image" Target="../media/image178.png"/><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1" y="1030287"/>
            <a:ext cx="6443133" cy="5790663"/>
          </a:xfrm>
          <a:prstGeom prst="rect">
            <a:avLst/>
          </a:prstGeom>
        </p:spPr>
      </p:pic>
      <p:sp>
        <p:nvSpPr>
          <p:cNvPr id="4" name="object 2"/>
          <p:cNvSpPr txBox="1"/>
          <p:nvPr/>
        </p:nvSpPr>
        <p:spPr>
          <a:xfrm>
            <a:off x="2169075" y="953173"/>
            <a:ext cx="8444910" cy="5793894"/>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r>
              <a:rPr kumimoji="0" lang="en-US" sz="3600" b="0" i="0" u="none" strike="noStrike" kern="1200" cap="none" spc="0" normalizeH="0" baseline="0" noProof="0" dirty="0" smtClean="0">
                <a:ln>
                  <a:noFill/>
                </a:ln>
                <a:solidFill>
                  <a:srgbClr val="EEB500"/>
                </a:solidFill>
                <a:effectLst/>
                <a:uLnTx/>
                <a:uFillTx/>
                <a:latin typeface="Calibri" panose="020F0502020204030204"/>
                <a:ea typeface="+mn-ea"/>
                <a:cs typeface="+mn-cs"/>
              </a:rPr>
              <a:t>Advance Analog and Mixed Signal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rgbClr val="000000"/>
                </a:solidFill>
                <a:effectLst/>
                <a:uLnTx/>
                <a:uFillTx/>
                <a:latin typeface="Calibri" panose="020F0502020204030204"/>
                <a:ea typeface="+mn-ea"/>
                <a:cs typeface="+mn-cs"/>
              </a:rPr>
              <a:t> </a:t>
            </a:r>
            <a:endParaRPr kumimoji="0" sz="3600" b="0" i="0" u="none" strike="noStrike" kern="0" cap="none" spc="0" normalizeH="0" baseline="0" noProof="0" dirty="0" smtClean="0">
              <a:ln>
                <a:noFill/>
              </a:ln>
              <a:solidFill>
                <a:sysClr val="windowText" lastClr="000000"/>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Lecture</a:t>
            </a:r>
            <a:r>
              <a:rPr kumimoji="0" sz="3600" b="1" i="0" u="none" strike="noStrike" kern="0" cap="none" spc="-165" normalizeH="0" baseline="0" noProof="0" dirty="0" smtClean="0">
                <a:ln>
                  <a:noFill/>
                </a:ln>
                <a:solidFill>
                  <a:srgbClr val="8AA7DA"/>
                </a:solidFill>
                <a:effectLst/>
                <a:uLnTx/>
                <a:uFillTx/>
                <a:latin typeface="Calibri Light"/>
                <a:ea typeface="+mn-ea"/>
                <a:cs typeface="Calibri Light"/>
              </a:rPr>
              <a:t> </a:t>
            </a:r>
            <a:r>
              <a:rPr kumimoji="0" sz="3600" b="1" i="0" u="none" strike="noStrike" kern="0" cap="none" spc="-25" normalizeH="0" baseline="0" noProof="0" dirty="0" smtClean="0">
                <a:ln>
                  <a:noFill/>
                </a:ln>
                <a:solidFill>
                  <a:srgbClr val="8AA7DA"/>
                </a:solidFill>
                <a:effectLst/>
                <a:uLnTx/>
                <a:uFillTx/>
                <a:latin typeface="Calibri Light"/>
                <a:ea typeface="+mn-ea"/>
                <a:cs typeface="Calibri Light"/>
              </a:rPr>
              <a:t> </a:t>
            </a:r>
            <a:r>
              <a:rPr lang="en-US" sz="3600" b="1" kern="0" spc="-25" dirty="0" smtClean="0">
                <a:solidFill>
                  <a:srgbClr val="8AA7DA"/>
                </a:solidFill>
                <a:latin typeface="Calibri Light"/>
                <a:cs typeface="Calibri Light"/>
              </a:rPr>
              <a:t>30-32</a:t>
            </a:r>
            <a:endParaRPr kumimoji="0" lang="en-US" sz="3600" b="1" i="0" u="none" strike="noStrike" kern="0" cap="none" spc="-25" normalizeH="0" baseline="0" noProof="0" dirty="0" smtClean="0">
              <a:ln>
                <a:noFill/>
              </a:ln>
              <a:solidFill>
                <a:srgbClr val="8AA7DA"/>
              </a:solidFill>
              <a:effectLst/>
              <a:uLnTx/>
              <a:uFillTx/>
              <a:latin typeface="Calibri Light"/>
              <a:ea typeface="+mn-ea"/>
              <a:cs typeface="Calibri Light"/>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rPr>
              <a:t>The</a:t>
            </a:r>
            <a:r>
              <a:rPr kumimoji="0" lang="en-US" sz="3600" b="0" i="0" u="none" strike="noStrike" kern="1200" cap="none" spc="-10" normalizeH="0" noProof="0" dirty="0" smtClean="0">
                <a:ln>
                  <a:noFill/>
                </a:ln>
                <a:solidFill>
                  <a:srgbClr val="FFC000">
                    <a:lumMod val="50000"/>
                  </a:srgbClr>
                </a:solidFill>
                <a:effectLst/>
                <a:uLnTx/>
                <a:uFillTx/>
                <a:latin typeface="Calibri" panose="020F0502020204030204"/>
                <a:ea typeface="+mn-ea"/>
                <a:cs typeface="+mn-cs"/>
              </a:rPr>
              <a:t> g</a:t>
            </a:r>
            <a:r>
              <a:rPr kumimoji="0" lang="en-US" sz="3600" b="0" i="0" u="none" strike="noStrike" kern="1200" cap="none" spc="-10" normalizeH="0" baseline="-25000" noProof="0" dirty="0" smtClean="0">
                <a:ln>
                  <a:noFill/>
                </a:ln>
                <a:solidFill>
                  <a:srgbClr val="FFC000">
                    <a:lumMod val="50000"/>
                  </a:srgbClr>
                </a:solidFill>
                <a:effectLst/>
                <a:uLnTx/>
                <a:uFillTx/>
                <a:latin typeface="Calibri" panose="020F0502020204030204"/>
                <a:ea typeface="+mn-ea"/>
                <a:cs typeface="+mn-cs"/>
              </a:rPr>
              <a:t>m</a:t>
            </a:r>
            <a:r>
              <a:rPr kumimoji="0" lang="en-US" sz="3600" b="0" i="0" u="none" strike="noStrike" kern="1200" cap="none" spc="-10" normalizeH="0" noProof="0" dirty="0" smtClean="0">
                <a:ln>
                  <a:noFill/>
                </a:ln>
                <a:solidFill>
                  <a:srgbClr val="FFC000">
                    <a:lumMod val="50000"/>
                  </a:srgbClr>
                </a:solidFill>
                <a:effectLst/>
                <a:uLnTx/>
                <a:uFillTx/>
                <a:latin typeface="Calibri" panose="020F0502020204030204"/>
                <a:ea typeface="+mn-ea"/>
                <a:cs typeface="+mn-cs"/>
              </a:rPr>
              <a:t>/I</a:t>
            </a:r>
            <a:r>
              <a:rPr kumimoji="0" lang="en-US" sz="3600" b="0" i="0" u="none" strike="noStrike" kern="1200" cap="none" spc="-10" normalizeH="0" baseline="-25000" noProof="0" dirty="0" smtClean="0">
                <a:ln>
                  <a:noFill/>
                </a:ln>
                <a:solidFill>
                  <a:srgbClr val="FFC000">
                    <a:lumMod val="50000"/>
                  </a:srgbClr>
                </a:solidFill>
                <a:effectLst/>
                <a:uLnTx/>
                <a:uFillTx/>
                <a:latin typeface="Calibri" panose="020F0502020204030204"/>
                <a:ea typeface="+mn-ea"/>
                <a:cs typeface="+mn-cs"/>
              </a:rPr>
              <a:t>D</a:t>
            </a:r>
            <a:r>
              <a:rPr kumimoji="0" lang="en-US" sz="3600" b="0" i="0" u="none" strike="noStrike" kern="1200" cap="none" spc="-10" normalizeH="0" noProof="0" dirty="0" smtClean="0">
                <a:ln>
                  <a:noFill/>
                </a:ln>
                <a:solidFill>
                  <a:srgbClr val="FFC000">
                    <a:lumMod val="50000"/>
                  </a:srgbClr>
                </a:solidFill>
                <a:effectLst/>
                <a:uLnTx/>
                <a:uFillTx/>
                <a:latin typeface="Calibri" panose="020F0502020204030204"/>
                <a:ea typeface="+mn-ea"/>
                <a:cs typeface="+mn-cs"/>
              </a:rPr>
              <a:t> the real sailor of analog design.</a:t>
            </a:r>
            <a:endParaRPr kumimoji="0" lang="en-US" sz="3600" b="0" i="0" u="none" strike="noStrike" kern="1200" cap="none" spc="-10" normalizeH="0" baseline="0" noProof="0" dirty="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endParaRPr kumimoji="0" lang="en-US" sz="3600" b="0" i="0" u="none" strike="noStrike" kern="1200" cap="none" spc="-10" normalizeH="0" baseline="0" noProof="0" dirty="0" smtClean="0">
              <a:ln>
                <a:noFill/>
              </a:ln>
              <a:solidFill>
                <a:srgbClr val="FFC000">
                  <a:lumMod val="50000"/>
                </a:srgbClr>
              </a:solidFill>
              <a:effectLst/>
              <a:uLnTx/>
              <a:uFillTx/>
              <a:latin typeface="Calibri" panose="020F0502020204030204"/>
              <a:ea typeface="+mn-ea"/>
              <a:cs typeface="+mn-cs"/>
            </a:endParaRPr>
          </a:p>
          <a:p>
            <a:pPr marL="1928495" marR="1921510" lvl="0" indent="-1270" algn="ctr" defTabSz="914400" rtl="0" eaLnBrk="1" fontAlgn="auto" latinLnBrk="0" hangingPunct="1">
              <a:lnSpc>
                <a:spcPts val="3890"/>
              </a:lnSpc>
              <a:spcBef>
                <a:spcPts val="5"/>
              </a:spcBef>
              <a:spcAft>
                <a:spcPts val="0"/>
              </a:spcAft>
              <a:buClrTx/>
              <a:buSzTx/>
              <a:buFontTx/>
              <a:buNone/>
              <a:tabLst/>
              <a:defRPr/>
            </a:pPr>
            <a:r>
              <a:rPr kumimoji="0" lang="en-US" sz="2800" b="0" i="1" u="none" strike="noStrike" kern="0" cap="none" spc="0" normalizeH="0" baseline="0" noProof="0" dirty="0" smtClean="0">
                <a:ln>
                  <a:noFill/>
                </a:ln>
                <a:solidFill>
                  <a:prstClr val="black"/>
                </a:solidFill>
                <a:effectLst/>
                <a:uLnTx/>
                <a:uFillTx/>
                <a:latin typeface="Arial"/>
                <a:ea typeface="+mn-ea"/>
                <a:cs typeface="Arial"/>
              </a:rPr>
              <a:t> </a:t>
            </a:r>
            <a:r>
              <a:rPr kumimoji="0" sz="3200" b="1" i="0" u="none" strike="noStrike" kern="0" cap="none" spc="0" normalizeH="0" baseline="0" noProof="0" dirty="0" smtClean="0">
                <a:ln>
                  <a:noFill/>
                </a:ln>
                <a:solidFill>
                  <a:srgbClr val="00B050"/>
                </a:solidFill>
                <a:effectLst/>
                <a:uLnTx/>
                <a:uFillTx/>
                <a:latin typeface="Calibri Light"/>
                <a:ea typeface="+mn-ea"/>
                <a:cs typeface="Calibri Light"/>
              </a:rPr>
              <a:t>Dr.</a:t>
            </a:r>
            <a:r>
              <a:rPr kumimoji="0" sz="3200" b="1" i="0" u="none" strike="noStrike" kern="0" cap="none" spc="-75" normalizeH="0" baseline="0" noProof="0" dirty="0" smtClean="0">
                <a:ln>
                  <a:noFill/>
                </a:ln>
                <a:solidFill>
                  <a:srgbClr val="00B050"/>
                </a:solidFill>
                <a:effectLst/>
                <a:uLnTx/>
                <a:uFillTx/>
                <a:latin typeface="Calibri Light"/>
                <a:ea typeface="+mn-ea"/>
                <a:cs typeface="Calibri Light"/>
              </a:rPr>
              <a:t> </a:t>
            </a:r>
            <a:r>
              <a:rPr kumimoji="0" lang="en-US" sz="3200" b="1" i="0" u="none" strike="noStrike" kern="0" cap="none" spc="-30" normalizeH="0" baseline="0" noProof="0" dirty="0" smtClean="0">
                <a:ln>
                  <a:noFill/>
                </a:ln>
                <a:solidFill>
                  <a:srgbClr val="00B050"/>
                </a:solidFill>
                <a:effectLst/>
                <a:uLnTx/>
                <a:uFillTx/>
                <a:latin typeface="Calibri Light"/>
                <a:ea typeface="+mn-ea"/>
                <a:cs typeface="Calibri Light"/>
              </a:rPr>
              <a:t>Neeraj Mishra</a:t>
            </a:r>
            <a:endParaRPr kumimoji="0" sz="3200" b="1" i="0" u="none" strike="noStrike" kern="0" cap="none" spc="0" normalizeH="0" baseline="0" noProof="0" dirty="0" smtClean="0">
              <a:ln>
                <a:noFill/>
              </a:ln>
              <a:solidFill>
                <a:srgbClr val="00B05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1135"/>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High Performance Electronics Lab</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Electrical &amp; </a:t>
            </a:r>
            <a:r>
              <a:rPr kumimoji="0" sz="2400" b="0" i="0" u="none" strike="noStrike" kern="0" cap="none" spc="0" normalizeH="0" baseline="0" noProof="0" dirty="0" smtClean="0">
                <a:ln>
                  <a:noFill/>
                </a:ln>
                <a:solidFill>
                  <a:srgbClr val="FF0000"/>
                </a:solidFill>
                <a:effectLst/>
                <a:uLnTx/>
                <a:uFillTx/>
                <a:latin typeface="Calibri Light"/>
                <a:ea typeface="+mn-ea"/>
                <a:cs typeface="Calibri Light"/>
              </a:rPr>
              <a:t>Electronic</a:t>
            </a:r>
            <a:r>
              <a:rPr kumimoji="0" lang="en-US" sz="2400" b="0" i="0" u="none" strike="noStrike" kern="0" cap="none" spc="0" normalizeH="0" baseline="0" noProof="0" dirty="0" smtClean="0">
                <a:ln>
                  <a:noFill/>
                </a:ln>
                <a:solidFill>
                  <a:srgbClr val="FF0000"/>
                </a:solidFill>
                <a:effectLst/>
                <a:uLnTx/>
                <a:uFillTx/>
                <a:latin typeface="Calibri Light"/>
                <a:ea typeface="+mn-ea"/>
                <a:cs typeface="Calibri Light"/>
              </a:rPr>
              <a:t>s</a:t>
            </a:r>
            <a:r>
              <a:rPr kumimoji="0" sz="2400" b="0" i="0" u="none" strike="noStrike" kern="0" cap="none" spc="-40" normalizeH="0" baseline="0" noProof="0" dirty="0" smtClean="0">
                <a:ln>
                  <a:noFill/>
                </a:ln>
                <a:solidFill>
                  <a:srgbClr val="FF0000"/>
                </a:solidFill>
                <a:effectLst/>
                <a:uLnTx/>
                <a:uFillTx/>
                <a:latin typeface="Calibri Light"/>
                <a:ea typeface="+mn-ea"/>
                <a:cs typeface="Calibri Light"/>
              </a:rPr>
              <a:t> </a:t>
            </a:r>
            <a:r>
              <a:rPr kumimoji="0" sz="2400" b="0" i="0" u="none" strike="noStrike" kern="0" cap="none" spc="0" normalizeH="0" baseline="0" noProof="0" dirty="0">
                <a:ln>
                  <a:noFill/>
                </a:ln>
                <a:solidFill>
                  <a:srgbClr val="FF0000"/>
                </a:solidFill>
                <a:effectLst/>
                <a:uLnTx/>
                <a:uFillTx/>
                <a:latin typeface="Calibri Light"/>
                <a:ea typeface="+mn-ea"/>
                <a:cs typeface="Calibri Light"/>
              </a:rPr>
              <a:t>Eng.</a:t>
            </a:r>
            <a:r>
              <a:rPr kumimoji="0" sz="2400" b="0" i="0" u="none" strike="noStrike" kern="0" cap="none" spc="-55" normalizeH="0" baseline="0" noProof="0" dirty="0">
                <a:ln>
                  <a:noFill/>
                </a:ln>
                <a:solidFill>
                  <a:srgbClr val="FF0000"/>
                </a:solidFill>
                <a:effectLst/>
                <a:uLnTx/>
                <a:uFillTx/>
                <a:latin typeface="Calibri Light"/>
                <a:ea typeface="+mn-ea"/>
                <a:cs typeface="Calibri Light"/>
              </a:rPr>
              <a:t> </a:t>
            </a:r>
            <a:r>
              <a:rPr kumimoji="0" sz="2400" b="0" i="0" u="none" strike="noStrike" kern="0" cap="none" spc="-10" normalizeH="0" baseline="0" noProof="0" dirty="0">
                <a:ln>
                  <a:noFill/>
                </a:ln>
                <a:solidFill>
                  <a:srgbClr val="FF0000"/>
                </a:solidFill>
                <a:effectLst/>
                <a:uLnTx/>
                <a:uFillTx/>
                <a:latin typeface="Calibri Light"/>
                <a:ea typeface="+mn-ea"/>
                <a:cs typeface="Calibri Light"/>
              </a:rPr>
              <a:t>Dept.</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a:p>
            <a:pPr marL="1697355" marR="169418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Birla Institute of Technology &amp; Science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a:t>
            </a:r>
            <a:r>
              <a:rPr kumimoji="0" lang="en-US" sz="2400" b="0" i="0" u="none" strike="noStrike" kern="0" cap="none" spc="-10" normalizeH="0" baseline="0" noProof="0" dirty="0" err="1" smtClean="0">
                <a:ln>
                  <a:noFill/>
                </a:ln>
                <a:solidFill>
                  <a:srgbClr val="FF0000"/>
                </a:solidFill>
                <a:effectLst/>
                <a:uLnTx/>
                <a:uFillTx/>
                <a:latin typeface="Calibri Light"/>
                <a:ea typeface="+mn-ea"/>
                <a:cs typeface="Calibri Light"/>
              </a:rPr>
              <a:t>Pilani</a:t>
            </a:r>
            <a:r>
              <a:rPr kumimoji="0" lang="en-US" sz="2400" b="0" i="0" u="none" strike="noStrike" kern="0" cap="none" spc="-10" normalizeH="0" baseline="0" noProof="0" dirty="0" smtClean="0">
                <a:ln>
                  <a:noFill/>
                </a:ln>
                <a:solidFill>
                  <a:srgbClr val="FF0000"/>
                </a:solidFill>
                <a:effectLst/>
                <a:uLnTx/>
                <a:uFillTx/>
                <a:latin typeface="Calibri Light"/>
                <a:ea typeface="+mn-ea"/>
                <a:cs typeface="Calibri Light"/>
              </a:rPr>
              <a:t> Campus</a:t>
            </a:r>
            <a:endParaRPr kumimoji="0" sz="2400" b="0" i="0" u="none" strike="noStrike" kern="0" cap="none" spc="0" normalizeH="0" baseline="0" noProof="0" dirty="0">
              <a:ln>
                <a:noFill/>
              </a:ln>
              <a:solidFill>
                <a:srgbClr val="FF0000"/>
              </a:solidFill>
              <a:effectLst/>
              <a:uLnTx/>
              <a:uFillTx/>
              <a:latin typeface="Calibri Light"/>
              <a:ea typeface="+mn-ea"/>
              <a:cs typeface="Calibri Light"/>
            </a:endParaRPr>
          </a:p>
        </p:txBody>
      </p:sp>
      <p:sp>
        <p:nvSpPr>
          <p:cNvPr id="5" name="object 3"/>
          <p:cNvSpPr/>
          <p:nvPr/>
        </p:nvSpPr>
        <p:spPr>
          <a:xfrm>
            <a:off x="10667" y="995172"/>
            <a:ext cx="12171045" cy="91440"/>
          </a:xfrm>
          <a:custGeom>
            <a:avLst/>
            <a:gdLst/>
            <a:ahLst/>
            <a:cxnLst/>
            <a:rect l="l" t="t" r="r" b="b"/>
            <a:pathLst>
              <a:path w="12171045" h="91440">
                <a:moveTo>
                  <a:pt x="12170664" y="0"/>
                </a:moveTo>
                <a:lnTo>
                  <a:pt x="0" y="0"/>
                </a:lnTo>
                <a:lnTo>
                  <a:pt x="0" y="91439"/>
                </a:lnTo>
                <a:lnTo>
                  <a:pt x="12170664" y="91439"/>
                </a:lnTo>
                <a:lnTo>
                  <a:pt x="12170664" y="0"/>
                </a:lnTo>
                <a:close/>
              </a:path>
            </a:pathLst>
          </a:custGeom>
          <a:solidFill>
            <a:srgbClr val="EEB5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6" name="object 4"/>
          <p:cNvSpPr/>
          <p:nvPr/>
        </p:nvSpPr>
        <p:spPr>
          <a:xfrm>
            <a:off x="10667" y="223570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91BCE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sp>
        <p:nvSpPr>
          <p:cNvPr id="7" name="object 5"/>
          <p:cNvSpPr/>
          <p:nvPr/>
        </p:nvSpPr>
        <p:spPr>
          <a:xfrm>
            <a:off x="20955" y="4283977"/>
            <a:ext cx="12171045" cy="91440"/>
          </a:xfrm>
          <a:custGeom>
            <a:avLst/>
            <a:gdLst/>
            <a:ahLst/>
            <a:cxnLst/>
            <a:rect l="l" t="t" r="r" b="b"/>
            <a:pathLst>
              <a:path w="12171045" h="91439">
                <a:moveTo>
                  <a:pt x="12170664" y="0"/>
                </a:moveTo>
                <a:lnTo>
                  <a:pt x="0" y="0"/>
                </a:lnTo>
                <a:lnTo>
                  <a:pt x="0" y="91439"/>
                </a:lnTo>
                <a:lnTo>
                  <a:pt x="12170664" y="91439"/>
                </a:lnTo>
                <a:lnTo>
                  <a:pt x="12170664" y="0"/>
                </a:lnTo>
                <a:close/>
              </a:path>
            </a:pathLst>
          </a:custGeom>
          <a:solidFill>
            <a:srgbClr val="FF00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smtClean="0">
              <a:ln>
                <a:noFill/>
              </a:ln>
              <a:solidFill>
                <a:sysClr val="windowText" lastClr="000000"/>
              </a:solidFill>
              <a:effectLst/>
              <a:uLnTx/>
              <a:uFillTx/>
              <a:latin typeface="Calibri" panose="020F0502020204030204"/>
              <a:ea typeface="+mn-ea"/>
              <a:cs typeface="+mn-cs"/>
            </a:endParaRPr>
          </a:p>
        </p:txBody>
      </p:sp>
      <p:pic>
        <p:nvPicPr>
          <p:cNvPr id="10" name="Picture 9"/>
          <p:cNvPicPr>
            <a:picLocks noChangeAspect="1"/>
          </p:cNvPicPr>
          <p:nvPr/>
        </p:nvPicPr>
        <p:blipFill>
          <a:blip r:embed="rId3"/>
          <a:stretch>
            <a:fillRect/>
          </a:stretch>
        </p:blipFill>
        <p:spPr>
          <a:xfrm>
            <a:off x="97196" y="87966"/>
            <a:ext cx="3093560" cy="802320"/>
          </a:xfrm>
          <a:prstGeom prst="rect">
            <a:avLst/>
          </a:prstGeom>
        </p:spPr>
      </p:pic>
      <p:pic>
        <p:nvPicPr>
          <p:cNvPr id="11" name="Picture 10"/>
          <p:cNvPicPr>
            <a:picLocks noChangeAspect="1"/>
          </p:cNvPicPr>
          <p:nvPr/>
        </p:nvPicPr>
        <p:blipFill>
          <a:blip r:embed="rId4"/>
          <a:stretch>
            <a:fillRect/>
          </a:stretch>
        </p:blipFill>
        <p:spPr>
          <a:xfrm>
            <a:off x="9078410" y="5828120"/>
            <a:ext cx="3113590" cy="1029880"/>
          </a:xfrm>
          <a:prstGeom prst="rect">
            <a:avLst/>
          </a:prstGeom>
        </p:spPr>
      </p:pic>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t>Neeraj Mishra</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F532FA8-38D0-4AE4-A108-A80A660220FB}"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endParaRPr>
          </a:p>
        </p:txBody>
      </p:sp>
      <p:pic>
        <p:nvPicPr>
          <p:cNvPr id="12" name="Picture 11"/>
          <p:cNvPicPr>
            <a:picLocks noChangeAspect="1"/>
          </p:cNvPicPr>
          <p:nvPr/>
        </p:nvPicPr>
        <p:blipFill>
          <a:blip r:embed="rId5">
            <a:grayscl/>
            <a:extLst>
              <a:ext uri="{BEBA8EAE-BF5A-486C-A8C5-ECC9F3942E4B}">
                <a14:imgProps xmlns:a14="http://schemas.microsoft.com/office/drawing/2010/main">
                  <a14:imgLayer r:embed="rId6">
                    <a14:imgEffect>
                      <a14:colorTemperature colorTemp="7200"/>
                    </a14:imgEffect>
                    <a14:imgEffect>
                      <a14:brightnessContrast bright="40000" contrast="40000"/>
                    </a14:imgEffect>
                  </a14:imgLayer>
                </a14:imgProps>
              </a:ext>
            </a:extLst>
          </a:blip>
          <a:stretch>
            <a:fillRect/>
          </a:stretch>
        </p:blipFill>
        <p:spPr>
          <a:xfrm>
            <a:off x="9982200" y="0"/>
            <a:ext cx="2209800" cy="1657350"/>
          </a:xfrm>
          <a:prstGeom prst="rect">
            <a:avLst/>
          </a:prstGeom>
        </p:spPr>
      </p:pic>
      <p:sp>
        <p:nvSpPr>
          <p:cNvPr id="8"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prstClr val="black">
                    <a:tint val="75000"/>
                  </a:prstClr>
                </a:solidFill>
                <a:effectLst/>
                <a:uLnTx/>
                <a:uFillTx/>
                <a:latin typeface="Calibri" panose="020F0502020204030204"/>
                <a:ea typeface="+mn-ea"/>
                <a:cs typeface="+mn-cs"/>
              </a:rPr>
              <a:t>AAMD BITs </a:t>
            </a:r>
            <a:r>
              <a:rPr kumimoji="0" lang="en-US" sz="1200" b="0" i="0" u="none" strike="noStrike" kern="1200" cap="none" spc="0" normalizeH="0" baseline="0" noProof="0" dirty="0" err="1" smtClean="0">
                <a:ln>
                  <a:noFill/>
                </a:ln>
                <a:solidFill>
                  <a:prstClr val="black">
                    <a:tint val="75000"/>
                  </a:prstClr>
                </a:solidFill>
                <a:effectLst/>
                <a:uLnTx/>
                <a:uFillTx/>
                <a:latin typeface="Calibri" panose="020F0502020204030204"/>
                <a:ea typeface="+mn-ea"/>
                <a:cs typeface="+mn-cs"/>
              </a:rPr>
              <a:t>Pilani</a:t>
            </a:r>
            <a:r>
              <a:rPr kumimoji="0" lang="en-US" sz="1200" b="0" i="0" u="none" strike="noStrike" kern="1200" cap="none" spc="0" normalizeH="0" baseline="0" noProof="0" dirty="0" smtClean="0">
                <a:ln>
                  <a:noFill/>
                </a:ln>
                <a:solidFill>
                  <a:prstClr val="black">
                    <a:tint val="75000"/>
                  </a:prstClr>
                </a:solidFill>
                <a:effectLst/>
                <a:uLnTx/>
                <a:uFillTx/>
                <a:latin typeface="Calibri" panose="020F0502020204030204"/>
                <a:ea typeface="+mn-ea"/>
                <a:cs typeface="+mn-cs"/>
              </a:rPr>
              <a:t> </a:t>
            </a:r>
          </a:p>
        </p:txBody>
      </p:sp>
    </p:spTree>
    <p:extLst>
      <p:ext uri="{BB962C8B-B14F-4D97-AF65-F5344CB8AC3E}">
        <p14:creationId xmlns:p14="http://schemas.microsoft.com/office/powerpoint/2010/main" val="569701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19150" y="174158"/>
                <a:ext cx="10593196" cy="762196"/>
              </a:xfrm>
            </p:spPr>
            <p:txBody>
              <a:bodyPr/>
              <a:lstStyle/>
              <a:p>
                <a:r>
                  <a:rPr lang="en-US" dirty="0"/>
                  <a:t>Core Idea of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t> </a:t>
                </a:r>
                <a:r>
                  <a:rPr lang="en-US" dirty="0" smtClean="0"/>
                  <a:t>Methodology</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19150" y="174158"/>
                <a:ext cx="10593196" cy="762196"/>
              </a:xfrm>
              <a:blipFill>
                <a:blip r:embed="rId2"/>
                <a:stretch>
                  <a:fillRect l="-2474" t="-11200" b="-88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27871" cy="2666627"/>
              </a:xfrm>
            </p:spPr>
            <p:txBody>
              <a:bodyPr/>
              <a:lstStyle/>
              <a:p>
                <a:pPr marL="342900" indent="-342900" algn="just">
                  <a:spcBef>
                    <a:spcPts val="600"/>
                  </a:spcBef>
                  <a:spcAft>
                    <a:spcPts val="600"/>
                  </a:spcAft>
                  <a:buFont typeface="Wingdings" panose="05000000000000000000" pitchFamily="2" charset="2"/>
                  <a:buChar char="q"/>
                </a:pPr>
                <a:r>
                  <a:rPr lang="en-US" dirty="0">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methodology gives circuit designers a </a:t>
                </a:r>
                <a:r>
                  <a:rPr lang="en-US" i="1" dirty="0">
                    <a:solidFill>
                      <a:srgbClr val="0070C0"/>
                    </a:solidFill>
                    <a:latin typeface="fkGroteskNeue"/>
                  </a:rPr>
                  <a:t>practical way </a:t>
                </a:r>
                <a:r>
                  <a:rPr lang="en-US" dirty="0">
                    <a:latin typeface="fkGroteskNeue"/>
                  </a:rPr>
                  <a:t>to relate the physical properties of MOS transistors (like bias point and operating region) directly to how their small-signal behavior influences circuit performance.</a:t>
                </a:r>
              </a:p>
              <a:p>
                <a:pPr marL="342900" indent="-342900" algn="just">
                  <a:spcBef>
                    <a:spcPts val="600"/>
                  </a:spcBef>
                  <a:spcAft>
                    <a:spcPts val="600"/>
                  </a:spcAft>
                  <a:buFont typeface="Wingdings" panose="05000000000000000000" pitchFamily="2" charset="2"/>
                  <a:buChar char="q"/>
                </a:pPr>
                <a:r>
                  <a:rPr lang="en-US" dirty="0">
                    <a:latin typeface="fkGroteskNeue"/>
                  </a:rPr>
                  <a:t>Instead of relying on complex equations or heavy simulation,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acts as a design variable that summarizes the essence of a MOS transistor’s bias and its small-signal response. This lets designers start with intuition and connect it to concrete numbers</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27871" cy="2666627"/>
              </a:xfrm>
              <a:blipFill>
                <a:blip r:embed="rId3"/>
                <a:stretch>
                  <a:fillRect l="-1377" t="-1602" r="-1434"/>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6779093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Levels of Abstraction in Analog </a:t>
            </a:r>
            <a:r>
              <a:rPr lang="en-US" dirty="0" smtClean="0">
                <a:latin typeface="fkGrotesk"/>
              </a:rPr>
              <a:t>Design</a:t>
            </a:r>
            <a:endParaRPr lang="en-US" dirty="0"/>
          </a:p>
        </p:txBody>
      </p:sp>
      <p:sp>
        <p:nvSpPr>
          <p:cNvPr id="3" name="Text Placeholder 2"/>
          <p:cNvSpPr>
            <a:spLocks noGrp="1"/>
          </p:cNvSpPr>
          <p:nvPr>
            <p:ph type="body" idx="1"/>
          </p:nvPr>
        </p:nvSpPr>
        <p:spPr>
          <a:xfrm>
            <a:off x="222381" y="1041232"/>
            <a:ext cx="8430552" cy="3816429"/>
          </a:xfrm>
        </p:spPr>
        <p:txBody>
          <a:bodyPr/>
          <a:lstStyle/>
          <a:p>
            <a:pPr marL="342900" indent="-342900" algn="just">
              <a:spcBef>
                <a:spcPts val="600"/>
              </a:spcBef>
              <a:spcAft>
                <a:spcPts val="600"/>
              </a:spcAft>
              <a:buFont typeface="Wingdings" panose="05000000000000000000" pitchFamily="2" charset="2"/>
              <a:buChar char="q"/>
            </a:pPr>
            <a:r>
              <a:rPr lang="en-US" b="1" dirty="0" smtClean="0">
                <a:solidFill>
                  <a:srgbClr val="C00000"/>
                </a:solidFill>
                <a:latin typeface="fkGroteskNeue"/>
              </a:rPr>
              <a:t>There are three </a:t>
            </a:r>
            <a:r>
              <a:rPr lang="en-US" b="1" dirty="0">
                <a:solidFill>
                  <a:srgbClr val="C00000"/>
                </a:solidFill>
                <a:latin typeface="fkGroteskNeue"/>
              </a:rPr>
              <a:t>levels of abstraction involved in analog design:</a:t>
            </a:r>
          </a:p>
          <a:p>
            <a:pPr marL="742950" lvl="1" indent="-285750" algn="just">
              <a:spcBef>
                <a:spcPts val="600"/>
              </a:spcBef>
              <a:spcAft>
                <a:spcPts val="600"/>
              </a:spcAft>
              <a:buFont typeface="Wingdings" panose="05000000000000000000" pitchFamily="2" charset="2"/>
              <a:buChar char="q"/>
            </a:pPr>
            <a:r>
              <a:rPr lang="en-US" b="1" dirty="0">
                <a:solidFill>
                  <a:srgbClr val="C00000"/>
                </a:solidFill>
                <a:latin typeface="fkGroteskNeue"/>
              </a:rPr>
              <a:t>Subsystem Level (Top):</a:t>
            </a:r>
            <a:r>
              <a:rPr lang="en-US" dirty="0">
                <a:latin typeface="fkGroteskNeue"/>
              </a:rPr>
              <a:t> Highly abstract; designers work with blocks like ADCs or </a:t>
            </a:r>
            <a:r>
              <a:rPr lang="en-US" dirty="0" err="1">
                <a:latin typeface="fkGroteskNeue"/>
              </a:rPr>
              <a:t>opamps</a:t>
            </a:r>
            <a:r>
              <a:rPr lang="en-US" dirty="0">
                <a:latin typeface="fkGroteskNeue"/>
              </a:rPr>
              <a:t>. The internal workings are less important, as long as the block behavior matches an ideal model. This supports system-level design and simulation.</a:t>
            </a:r>
          </a:p>
          <a:p>
            <a:pPr marL="742950" lvl="1" indent="-285750" algn="just">
              <a:spcBef>
                <a:spcPts val="600"/>
              </a:spcBef>
              <a:spcAft>
                <a:spcPts val="600"/>
              </a:spcAft>
              <a:buFont typeface="Wingdings" panose="05000000000000000000" pitchFamily="2" charset="2"/>
              <a:buChar char="q"/>
            </a:pPr>
            <a:r>
              <a:rPr lang="en-US" b="1" dirty="0">
                <a:solidFill>
                  <a:srgbClr val="C00000"/>
                </a:solidFill>
                <a:latin typeface="fkGroteskNeue"/>
              </a:rPr>
              <a:t>Circuit Level (Middle):</a:t>
            </a:r>
            <a:r>
              <a:rPr lang="en-US" dirty="0">
                <a:latin typeface="fkGroteskNeue"/>
              </a:rPr>
              <a:t> Intermediate abstraction; designers think in terms of how blocks are built from basic circuits such as amplifiers, current mirrors, etc. Here, a designer applies circuit theory and simplified models.</a:t>
            </a:r>
          </a:p>
          <a:p>
            <a:pPr marL="742950" lvl="1" indent="-285750" algn="just">
              <a:spcBef>
                <a:spcPts val="600"/>
              </a:spcBef>
              <a:spcAft>
                <a:spcPts val="600"/>
              </a:spcAft>
              <a:buFont typeface="Wingdings" panose="05000000000000000000" pitchFamily="2" charset="2"/>
              <a:buChar char="q"/>
            </a:pPr>
            <a:r>
              <a:rPr lang="en-US" b="1" dirty="0">
                <a:solidFill>
                  <a:srgbClr val="C00000"/>
                </a:solidFill>
                <a:latin typeface="fkGroteskNeue"/>
              </a:rPr>
              <a:t>Transistor Level (Bottom):</a:t>
            </a:r>
            <a:r>
              <a:rPr lang="en-US" dirty="0">
                <a:latin typeface="fkGroteskNeue"/>
              </a:rPr>
              <a:t> Lowest abstraction; designers directly manipulate transistor sizes (W/L), choose bias points, and model effects like channel length modulation. Technology details heavily influence performance and modeling</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a:xfrm>
            <a:off x="5569317" y="6649150"/>
            <a:ext cx="1434797" cy="20885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07332" y="6577686"/>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677845" y="1157523"/>
            <a:ext cx="3245017" cy="2959252"/>
          </a:xfrm>
          <a:prstGeom prst="rect">
            <a:avLst/>
          </a:prstGeom>
        </p:spPr>
      </p:pic>
      <p:sp>
        <p:nvSpPr>
          <p:cNvPr id="8" name="Rectangle 7"/>
          <p:cNvSpPr/>
          <p:nvPr/>
        </p:nvSpPr>
        <p:spPr>
          <a:xfrm>
            <a:off x="8817809" y="4046732"/>
            <a:ext cx="3126658" cy="492443"/>
          </a:xfrm>
          <a:prstGeom prst="rect">
            <a:avLst/>
          </a:prstGeom>
        </p:spPr>
        <p:txBody>
          <a:bodyPr wrap="square">
            <a:spAutoFit/>
          </a:bodyPr>
          <a:lstStyle/>
          <a:p>
            <a:pPr algn="just"/>
            <a:r>
              <a:rPr lang="en-US" sz="1300" b="0" i="0" u="none" strike="noStrike" baseline="0" dirty="0" smtClean="0">
                <a:latin typeface="CMR10"/>
              </a:rPr>
              <a:t>Low-level circuit implementation is often</a:t>
            </a:r>
          </a:p>
          <a:p>
            <a:pPr algn="just"/>
            <a:r>
              <a:rPr lang="en-US" sz="1300" b="0" i="0" u="none" strike="noStrike" baseline="0" dirty="0" smtClean="0">
                <a:latin typeface="CMR10"/>
              </a:rPr>
              <a:t>more difficult</a:t>
            </a:r>
            <a:r>
              <a:rPr lang="en-US" sz="1300" b="0" i="0" u="none" strike="noStrike" dirty="0" smtClean="0">
                <a:latin typeface="CMR10"/>
              </a:rPr>
              <a:t> than higher level design</a:t>
            </a:r>
            <a:endParaRPr lang="en-US" sz="1300" dirty="0"/>
          </a:p>
        </p:txBody>
      </p:sp>
      <p:sp>
        <p:nvSpPr>
          <p:cNvPr id="9" name="Rectangle 8"/>
          <p:cNvSpPr/>
          <p:nvPr/>
        </p:nvSpPr>
        <p:spPr>
          <a:xfrm>
            <a:off x="8788924" y="4596465"/>
            <a:ext cx="3403076" cy="523220"/>
          </a:xfrm>
          <a:prstGeom prst="rect">
            <a:avLst/>
          </a:prstGeom>
        </p:spPr>
        <p:txBody>
          <a:bodyPr wrap="square">
            <a:spAutoFit/>
          </a:bodyPr>
          <a:lstStyle/>
          <a:p>
            <a:r>
              <a:rPr lang="en-US" sz="1400" b="1" i="0" dirty="0" smtClean="0">
                <a:solidFill>
                  <a:srgbClr val="00B050"/>
                </a:solidFill>
                <a:effectLst/>
                <a:latin typeface="fkGroteskNeue"/>
              </a:rPr>
              <a:t>Start at the system level, work down and realize complexity increases.</a:t>
            </a:r>
            <a:endParaRPr lang="en-US" sz="1400" b="1" i="0" dirty="0">
              <a:solidFill>
                <a:srgbClr val="00B050"/>
              </a:solidFill>
              <a:effectLst/>
              <a:latin typeface="fkGroteskNeue"/>
            </a:endParaRPr>
          </a:p>
        </p:txBody>
      </p:sp>
      <p:sp>
        <p:nvSpPr>
          <p:cNvPr id="10" name="Rectangle 9"/>
          <p:cNvSpPr/>
          <p:nvPr/>
        </p:nvSpPr>
        <p:spPr>
          <a:xfrm>
            <a:off x="9688180" y="1378292"/>
            <a:ext cx="1556710" cy="6869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638593" y="1490548"/>
            <a:ext cx="8090581" cy="110991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688923" y="2324658"/>
            <a:ext cx="1556710" cy="68691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9694127" y="3266564"/>
            <a:ext cx="1528460" cy="66758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17033" y="2717924"/>
            <a:ext cx="8094299" cy="921834"/>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22238" y="3713355"/>
            <a:ext cx="8098016" cy="1161957"/>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28972" y="5211625"/>
            <a:ext cx="11876792" cy="1015663"/>
          </a:xfrm>
          <a:prstGeom prst="rect">
            <a:avLst/>
          </a:prstGeom>
        </p:spPr>
        <p:txBody>
          <a:bodyPr wrap="square">
            <a:spAutoFit/>
          </a:bodyPr>
          <a:lstStyle/>
          <a:p>
            <a:pPr marL="342900" lvl="0" indent="-342900" algn="just">
              <a:spcBef>
                <a:spcPts val="600"/>
              </a:spcBef>
              <a:spcAft>
                <a:spcPts val="600"/>
              </a:spcAft>
              <a:buFont typeface="Wingdings" panose="05000000000000000000" pitchFamily="2" charset="2"/>
              <a:buChar char="q"/>
            </a:pPr>
            <a:r>
              <a:rPr lang="en-US" sz="2000" kern="0" dirty="0">
                <a:solidFill>
                  <a:prstClr val="black"/>
                </a:solidFill>
                <a:latin typeface="fkGroteskNeue"/>
              </a:rPr>
              <a:t>The vertical arrows in the figure highlight that moving upward, things become more abstract and well understood; moving downward, circuit behavior becomes more concrete but less intuitive—unless you have strong technological and modeling insight.</a:t>
            </a:r>
          </a:p>
        </p:txBody>
      </p:sp>
    </p:spTree>
    <p:extLst>
      <p:ext uri="{BB962C8B-B14F-4D97-AF65-F5344CB8AC3E}">
        <p14:creationId xmlns:p14="http://schemas.microsoft.com/office/powerpoint/2010/main" val="4918760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53017" y="203792"/>
                <a:ext cx="10593196" cy="762196"/>
              </a:xfrm>
            </p:spPr>
            <p:txBody>
              <a:bodyPr/>
              <a:lstStyle/>
              <a:p>
                <a:r>
                  <a:rPr lang="en-US" dirty="0">
                    <a:latin typeface="fkGrotesk"/>
                  </a:rPr>
                  <a:t>Why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Matters at the Transistor </a:t>
                </a:r>
                <a:r>
                  <a:rPr lang="en-US" dirty="0" smtClean="0">
                    <a:latin typeface="fkGrotesk"/>
                  </a:rPr>
                  <a:t>Level</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53017" y="203792"/>
                <a:ext cx="10593196" cy="762196"/>
              </a:xfrm>
              <a:blipFill>
                <a:blip r:embed="rId2"/>
                <a:stretch>
                  <a:fillRect l="-2474" t="-9600"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0031" cy="2525948"/>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At </a:t>
                </a:r>
                <a:r>
                  <a:rPr lang="en-US" dirty="0">
                    <a:latin typeface="fkGroteskNeue"/>
                  </a:rPr>
                  <a:t>the lowest level, blindly choosing device sizes or bias points without an underlying methodology leads to confusion and unpredictable results, especially with scaling technologies.</a:t>
                </a:r>
              </a:p>
              <a:p>
                <a:pPr marL="342900" indent="-342900" algn="just">
                  <a:spcBef>
                    <a:spcPts val="600"/>
                  </a:spcBef>
                  <a:spcAft>
                    <a:spcPts val="600"/>
                  </a:spcAft>
                  <a:buFont typeface="Wingdings" panose="05000000000000000000" pitchFamily="2" charset="2"/>
                  <a:buChar char="q"/>
                </a:pPr>
                <a:r>
                  <a:rPr lang="en-US" b="1" dirty="0">
                    <a:solidFill>
                      <a:srgbClr val="00B050"/>
                    </a:solidFill>
                    <a:latin typeface="fkGroteskNeue"/>
                  </a:rPr>
                  <a:t>The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b="1" dirty="0">
                    <a:solidFill>
                      <a:srgbClr val="00B050"/>
                    </a:solidFill>
                    <a:latin typeface="fkGroteskNeue"/>
                  </a:rPr>
                  <a:t> approach gives clarity</a:t>
                </a:r>
                <a:r>
                  <a:rPr lang="en-US" dirty="0">
                    <a:latin typeface="fkGroteskNeue"/>
                  </a:rPr>
                  <a:t>: it lets designers select bias points that naturally map to effective small-signal models. This bridges the “well understood” intuition of higher-level abstraction with physical, technology-conscious choices at the transistor level</a:t>
                </a:r>
              </a:p>
              <a:p>
                <a:pPr marL="342900" indent="-342900">
                  <a:buFont typeface="Arial" panose="020B0604020202020204" pitchFamily="34" charset="0"/>
                  <a:buChar char="•"/>
                </a:pPr>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0031" cy="2525948"/>
              </a:xfrm>
              <a:blipFill>
                <a:blip r:embed="rId3"/>
                <a:stretch>
                  <a:fillRect l="-1379" t="-2899" r="-143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21777" y="6674997"/>
            <a:ext cx="1419795" cy="1830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4207"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381336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Intuitive Takeaway for a Lecture</a:t>
            </a:r>
            <a:br>
              <a:rPr lang="en-US" dirty="0">
                <a:latin typeface="fkGrotesk"/>
              </a:rPr>
            </a:b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740992" cy="3436069"/>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Analog </a:t>
                </a:r>
                <a:r>
                  <a:rPr lang="en-US" dirty="0">
                    <a:latin typeface="fkGroteskNeue"/>
                  </a:rPr>
                  <a:t>design excels at higher abstraction because system-level and circuit-level models are conceptually simple. But transistor-level design can get messy due to many physical variables and complex dependencies.</a:t>
                </a:r>
              </a:p>
              <a:p>
                <a:pPr marL="342900" indent="-342900" algn="just">
                  <a:spcBef>
                    <a:spcPts val="600"/>
                  </a:spcBef>
                  <a:spcAft>
                    <a:spcPts val="600"/>
                  </a:spcAft>
                  <a:buFont typeface="Wingdings" panose="05000000000000000000" pitchFamily="2" charset="2"/>
                  <a:buChar char="q"/>
                </a:pPr>
                <a:r>
                  <a:rPr lang="en-US" dirty="0">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design variable is the “Rosetta Stone”—it translates the language of physical transistor choices into the familiar terms of small-signal analysis, making design quick, conceptually clear, and adaptable to new technologies.</a:t>
                </a:r>
              </a:p>
              <a:p>
                <a:pPr marL="342900" indent="-342900" algn="just">
                  <a:spcBef>
                    <a:spcPts val="600"/>
                  </a:spcBef>
                  <a:spcAft>
                    <a:spcPts val="600"/>
                  </a:spcAft>
                  <a:buFont typeface="Wingdings" panose="05000000000000000000" pitchFamily="2" charset="2"/>
                  <a:buChar char="q"/>
                </a:pPr>
                <a:r>
                  <a:rPr lang="en-US" dirty="0">
                    <a:latin typeface="fkGroteskNeue"/>
                  </a:rPr>
                  <a:t>Teaching students or engineers to use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empowers them to make bias point decisions that are not just educated guesses, but rooted in both technology and circuit theory</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740992" cy="3436069"/>
              </a:xfrm>
              <a:blipFill>
                <a:blip r:embed="rId2"/>
                <a:stretch>
                  <a:fillRect l="-1362" t="-2131" r="-1419"/>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505144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MOS Transistor—From Physical to Small-Signal </a:t>
            </a:r>
            <a:r>
              <a:rPr lang="en-US" dirty="0" smtClean="0">
                <a:latin typeface="fkGrotesk"/>
              </a:rPr>
              <a:t>Model</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228839" y="3414431"/>
                <a:ext cx="11277361" cy="1449884"/>
              </a:xfrm>
            </p:spPr>
            <p:txBody>
              <a:bodyPr/>
              <a:lstStyle/>
              <a:p>
                <a:pPr marL="342900" indent="-342900" algn="just">
                  <a:spcBef>
                    <a:spcPts val="600"/>
                  </a:spcBef>
                  <a:spcAft>
                    <a:spcPts val="600"/>
                  </a:spcAft>
                  <a:buFont typeface="Wingdings" panose="05000000000000000000" pitchFamily="2" charset="2"/>
                  <a:buChar char="q"/>
                </a:pPr>
                <a:r>
                  <a:rPr lang="en-US" b="1" dirty="0" smtClean="0">
                    <a:solidFill>
                      <a:srgbClr val="00B050"/>
                    </a:solidFill>
                    <a:latin typeface="fkGroteskNeue"/>
                  </a:rPr>
                  <a:t>Intuitive meaning: </a:t>
                </a:r>
                <a:r>
                  <a:rPr lang="en-US" dirty="0" smtClean="0">
                    <a:latin typeface="fkGroteskNeue"/>
                  </a:rPr>
                  <a:t>The </a:t>
                </a:r>
                <a:r>
                  <a:rPr lang="en-US" dirty="0">
                    <a:latin typeface="fkGroteskNeue"/>
                  </a:rPr>
                  <a:t>real world is complicated, but using small-signal models, engineers can simplify MOSFET behavior for linear analysis.</a:t>
                </a:r>
              </a:p>
              <a:p>
                <a:pPr marL="742950" lvl="1" indent="-285750" algn="just">
                  <a:spcBef>
                    <a:spcPts val="600"/>
                  </a:spcBef>
                  <a:spcAft>
                    <a:spcPts val="600"/>
                  </a:spcAft>
                  <a:buFont typeface="Wingdings" panose="05000000000000000000" pitchFamily="2" charset="2"/>
                  <a:buChar char="q"/>
                </a:pPr>
                <a:r>
                  <a:rPr lang="en-US" b="1" dirty="0">
                    <a:solidFill>
                      <a:srgbClr val="00B050"/>
                    </a:solidFill>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b="1" dirty="0">
                    <a:solidFill>
                      <a:srgbClr val="00B050"/>
                    </a:solidFill>
                    <a:latin typeface="fkGroteskNeue"/>
                  </a:rPr>
                  <a:t> methodology is this “translator,” giving a way to map operating point decisions into predictable small-signal models</a:t>
                </a:r>
                <a:r>
                  <a:rPr lang="en-US" b="1" dirty="0" smtClean="0">
                    <a:solidFill>
                      <a:srgbClr val="00B050"/>
                    </a:solidFill>
                    <a:latin typeface="fkGroteskNeue"/>
                  </a:rPr>
                  <a:t>.</a:t>
                </a:r>
                <a:endParaRPr lang="en-US" b="1" dirty="0">
                  <a:solidFill>
                    <a:srgbClr val="00B050"/>
                  </a:solidFill>
                  <a:latin typeface="fkGroteskNeue"/>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228839" y="3414431"/>
                <a:ext cx="11277361" cy="1449884"/>
              </a:xfrm>
              <a:blipFill>
                <a:blip r:embed="rId2"/>
                <a:stretch>
                  <a:fillRect l="-1297" t="-5042" r="-1351" b="-9244"/>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616452" y="6493607"/>
            <a:ext cx="1368810" cy="36439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9421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3"/>
          <a:stretch>
            <a:fillRect/>
          </a:stretch>
        </p:blipFill>
        <p:spPr>
          <a:xfrm>
            <a:off x="3389793" y="1263923"/>
            <a:ext cx="4990014" cy="1733277"/>
          </a:xfrm>
          <a:prstGeom prst="rect">
            <a:avLst/>
          </a:prstGeom>
        </p:spPr>
      </p:pic>
      <p:sp>
        <p:nvSpPr>
          <p:cNvPr id="9" name="Rectangle 8"/>
          <p:cNvSpPr/>
          <p:nvPr/>
        </p:nvSpPr>
        <p:spPr>
          <a:xfrm>
            <a:off x="4863677" y="1152282"/>
            <a:ext cx="3110147" cy="307777"/>
          </a:xfrm>
          <a:prstGeom prst="rect">
            <a:avLst/>
          </a:prstGeom>
        </p:spPr>
        <p:txBody>
          <a:bodyPr wrap="none">
            <a:spAutoFit/>
          </a:bodyPr>
          <a:lstStyle/>
          <a:p>
            <a:r>
              <a:rPr lang="en-US" sz="1400" b="0" i="0" dirty="0" smtClean="0">
                <a:effectLst/>
                <a:latin typeface="fkGroteskNeue"/>
              </a:rPr>
              <a:t>Use small-signal models as a bridge</a:t>
            </a:r>
            <a:endParaRPr lang="en-US" sz="1400" dirty="0"/>
          </a:p>
        </p:txBody>
      </p:sp>
      <mc:AlternateContent xmlns:mc="http://schemas.openxmlformats.org/markup-compatibility/2006" xmlns:a14="http://schemas.microsoft.com/office/drawing/2010/main">
        <mc:Choice Requires="a14">
          <p:sp>
            <p:nvSpPr>
              <p:cNvPr id="10" name="Rectangle 9"/>
              <p:cNvSpPr/>
              <p:nvPr/>
            </p:nvSpPr>
            <p:spPr>
              <a:xfrm>
                <a:off x="0" y="5031882"/>
                <a:ext cx="11514666" cy="1111330"/>
              </a:xfrm>
              <a:prstGeom prst="rect">
                <a:avLst/>
              </a:prstGeom>
            </p:spPr>
            <p:txBody>
              <a:bodyPr wrap="square">
                <a:spAutoFit/>
              </a:bodyPr>
              <a:lstStyle/>
              <a:p>
                <a:pPr marL="342900" lvl="0" indent="-342900" algn="just">
                  <a:spcBef>
                    <a:spcPts val="600"/>
                  </a:spcBef>
                  <a:spcAft>
                    <a:spcPts val="600"/>
                  </a:spcAft>
                  <a:buFont typeface="Wingdings" panose="05000000000000000000" pitchFamily="2" charset="2"/>
                  <a:buChar char="q"/>
                </a:pPr>
                <a:r>
                  <a:rPr lang="en-US" sz="2000" kern="0" dirty="0" smtClean="0">
                    <a:solidFill>
                      <a:prstClr val="black"/>
                    </a:solidFill>
                    <a:latin typeface="fkGroteskNeue"/>
                  </a:rPr>
                  <a:t>The </a:t>
                </a:r>
                <a:r>
                  <a:rPr lang="en-US" sz="2000" kern="0" dirty="0">
                    <a:solidFill>
                      <a:prstClr val="black"/>
                    </a:solidFill>
                    <a:latin typeface="fkGroteskNeue"/>
                  </a:rPr>
                  <a:t>small-signal models are the entry-point for applying system theory to transistor circuits.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sz="2000" kern="0" dirty="0">
                    <a:solidFill>
                      <a:prstClr val="black"/>
                    </a:solidFill>
                    <a:latin typeface="fkGroteskNeue"/>
                  </a:rPr>
                  <a:t> directly links how a transistor is biased to how it will behave </a:t>
                </a:r>
                <a:r>
                  <a:rPr lang="en-US" sz="2000" kern="0" dirty="0" smtClean="0">
                    <a:solidFill>
                      <a:prstClr val="black"/>
                    </a:solidFill>
                    <a:latin typeface="fkGroteskNeue"/>
                  </a:rPr>
                  <a:t>in small-signal </a:t>
                </a:r>
                <a:r>
                  <a:rPr lang="en-US" sz="2000" kern="0" dirty="0">
                    <a:solidFill>
                      <a:prstClr val="black"/>
                    </a:solidFill>
                    <a:latin typeface="fkGroteskNeue"/>
                  </a:rPr>
                  <a:t>analysis, allowing predictability and design control.</a:t>
                </a:r>
              </a:p>
            </p:txBody>
          </p:sp>
        </mc:Choice>
        <mc:Fallback xmlns="">
          <p:sp>
            <p:nvSpPr>
              <p:cNvPr id="10" name="Rectangle 9"/>
              <p:cNvSpPr>
                <a:spLocks noRot="1" noChangeAspect="1" noMove="1" noResize="1" noEditPoints="1" noAdjustHandles="1" noChangeArrowheads="1" noChangeShapeType="1" noTextEdit="1"/>
              </p:cNvSpPr>
              <p:nvPr/>
            </p:nvSpPr>
            <p:spPr>
              <a:xfrm>
                <a:off x="0" y="5031882"/>
                <a:ext cx="11514666" cy="1111330"/>
              </a:xfrm>
              <a:prstGeom prst="rect">
                <a:avLst/>
              </a:prstGeom>
              <a:blipFill>
                <a:blip r:embed="rId4"/>
                <a:stretch>
                  <a:fillRect l="-476" t="-2186" r="-529" b="-8743"/>
                </a:stretch>
              </a:blipFill>
            </p:spPr>
            <p:txBody>
              <a:bodyPr/>
              <a:lstStyle/>
              <a:p>
                <a:r>
                  <a:rPr lang="en-US">
                    <a:noFill/>
                  </a:rPr>
                  <a:t> </a:t>
                </a:r>
              </a:p>
            </p:txBody>
          </p:sp>
        </mc:Fallback>
      </mc:AlternateContent>
      <p:sp>
        <p:nvSpPr>
          <p:cNvPr id="11" name="Rectangle 10"/>
          <p:cNvSpPr/>
          <p:nvPr/>
        </p:nvSpPr>
        <p:spPr>
          <a:xfrm>
            <a:off x="-59349" y="1834918"/>
            <a:ext cx="3234268" cy="830997"/>
          </a:xfrm>
          <a:prstGeom prst="rect">
            <a:avLst/>
          </a:prstGeom>
        </p:spPr>
        <p:txBody>
          <a:bodyPr wrap="square">
            <a:spAutoFit/>
          </a:bodyPr>
          <a:lstStyle/>
          <a:p>
            <a:pPr algn="ctr"/>
            <a:r>
              <a:rPr lang="en-US" sz="1600" kern="0" dirty="0" smtClean="0">
                <a:solidFill>
                  <a:prstClr val="black"/>
                </a:solidFill>
                <a:latin typeface="fkGroteskNeue"/>
              </a:rPr>
              <a:t>Physical </a:t>
            </a:r>
            <a:r>
              <a:rPr lang="en-US" sz="1600" kern="0" dirty="0">
                <a:solidFill>
                  <a:prstClr val="black"/>
                </a:solidFill>
                <a:latin typeface="fkGroteskNeue"/>
              </a:rPr>
              <a:t>MOSFET with terminals; the middle is its small-signal model (with </a:t>
            </a:r>
            <a:r>
              <a:rPr lang="en-US" sz="1600" i="1" kern="0" dirty="0">
                <a:solidFill>
                  <a:prstClr val="black"/>
                </a:solidFill>
                <a:latin typeface="KaTeX_Math"/>
              </a:rPr>
              <a:t>gm</a:t>
            </a:r>
            <a:r>
              <a:rPr lang="en-US" sz="1600" kern="0" dirty="0">
                <a:solidFill>
                  <a:prstClr val="black"/>
                </a:solidFill>
                <a:latin typeface="fkGroteskNeue"/>
              </a:rPr>
              <a:t>, </a:t>
            </a:r>
            <a:r>
              <a:rPr lang="en-US" sz="1600" i="1" kern="0" dirty="0">
                <a:solidFill>
                  <a:prstClr val="black"/>
                </a:solidFill>
                <a:latin typeface="KaTeX_Math"/>
              </a:rPr>
              <a:t>rout</a:t>
            </a:r>
            <a:r>
              <a:rPr lang="en-US" sz="1600" kern="0" dirty="0">
                <a:solidFill>
                  <a:prstClr val="black"/>
                </a:solidFill>
                <a:latin typeface="fkGroteskNeue"/>
              </a:rPr>
              <a:t>, etc.)</a:t>
            </a:r>
            <a:endParaRPr lang="en-US" sz="1400" dirty="0"/>
          </a:p>
        </p:txBody>
      </p:sp>
      <p:sp>
        <p:nvSpPr>
          <p:cNvPr id="12" name="Rectangle 11"/>
          <p:cNvSpPr/>
          <p:nvPr/>
        </p:nvSpPr>
        <p:spPr>
          <a:xfrm>
            <a:off x="8514080" y="1810210"/>
            <a:ext cx="3677920" cy="830997"/>
          </a:xfrm>
          <a:prstGeom prst="rect">
            <a:avLst/>
          </a:prstGeom>
        </p:spPr>
        <p:txBody>
          <a:bodyPr wrap="square">
            <a:spAutoFit/>
          </a:bodyPr>
          <a:lstStyle/>
          <a:p>
            <a:pPr algn="just"/>
            <a:r>
              <a:rPr lang="en-US" sz="1600" dirty="0">
                <a:latin typeface="fkGroteskNeue"/>
              </a:rPr>
              <a:t>T</a:t>
            </a:r>
            <a:r>
              <a:rPr lang="en-US" sz="1600" dirty="0" smtClean="0">
                <a:latin typeface="fkGroteskNeue"/>
              </a:rPr>
              <a:t>he </a:t>
            </a:r>
            <a:r>
              <a:rPr lang="en-US" sz="1600" dirty="0">
                <a:latin typeface="fkGroteskNeue"/>
              </a:rPr>
              <a:t>mathematical process or physical insight needed to transition from a real device to its circuit-friendly model.</a:t>
            </a:r>
            <a:endParaRPr lang="en-US" sz="1600" dirty="0"/>
          </a:p>
        </p:txBody>
      </p:sp>
      <p:sp>
        <p:nvSpPr>
          <p:cNvPr id="13" name="Rectangle 12"/>
          <p:cNvSpPr/>
          <p:nvPr/>
        </p:nvSpPr>
        <p:spPr>
          <a:xfrm>
            <a:off x="3425654" y="1396133"/>
            <a:ext cx="1748511" cy="166822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1846725"/>
            <a:ext cx="3099296" cy="82519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896657" y="1526231"/>
            <a:ext cx="1462297" cy="140431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568597" y="1824775"/>
            <a:ext cx="3623403" cy="82519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flipV="1">
            <a:off x="3103563" y="1403351"/>
            <a:ext cx="319087" cy="446087"/>
          </a:xfrm>
          <a:prstGeom prst="line">
            <a:avLst/>
          </a:prstGeom>
          <a:ln w="28575" cap="rnd">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3097213" y="2671763"/>
            <a:ext cx="331787" cy="395287"/>
          </a:xfrm>
          <a:prstGeom prst="line">
            <a:avLst/>
          </a:prstGeom>
          <a:ln w="28575" cap="rnd">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8356918" y="1528129"/>
            <a:ext cx="218757" cy="303846"/>
          </a:xfrm>
          <a:prstGeom prst="line">
            <a:avLst/>
          </a:prstGeom>
          <a:ln w="28575" cap="rnd">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8356918" y="2667000"/>
            <a:ext cx="209232" cy="258129"/>
          </a:xfrm>
          <a:prstGeom prst="line">
            <a:avLst/>
          </a:prstGeom>
          <a:ln w="28575" cap="rnd">
            <a:solidFill>
              <a:srgbClr val="C00000"/>
            </a:solidFill>
          </a:ln>
        </p:spPr>
        <p:style>
          <a:lnRef idx="1">
            <a:schemeClr val="accent1"/>
          </a:lnRef>
          <a:fillRef idx="0">
            <a:schemeClr val="accent1"/>
          </a:fillRef>
          <a:effectRef idx="0">
            <a:schemeClr val="accent1"/>
          </a:effectRef>
          <a:fontRef idx="minor">
            <a:schemeClr val="tx1"/>
          </a:fontRef>
        </p:style>
      </p:cxnSp>
      <p:sp>
        <p:nvSpPr>
          <p:cNvPr id="29" name="Oval 28"/>
          <p:cNvSpPr/>
          <p:nvPr/>
        </p:nvSpPr>
        <p:spPr>
          <a:xfrm>
            <a:off x="5514974" y="1676400"/>
            <a:ext cx="1082675" cy="119697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535531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61484" y="152992"/>
                <a:ext cx="10593196" cy="762196"/>
              </a:xfrm>
            </p:spPr>
            <p:txBody>
              <a:bodyPr/>
              <a:lstStyle/>
              <a:p>
                <a:r>
                  <a:rPr lang="en-US" dirty="0">
                    <a:latin typeface="fkGrotesk"/>
                  </a:rPr>
                  <a:t>Where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Fits in the Abstraction </a:t>
                </a:r>
                <a:r>
                  <a:rPr lang="en-US" dirty="0" smtClean="0">
                    <a:latin typeface="fkGrotesk"/>
                  </a:rPr>
                  <a:t>Hierarchy</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61484" y="152992"/>
                <a:ext cx="10593196" cy="762196"/>
              </a:xfrm>
              <a:blipFill>
                <a:blip r:embed="rId2"/>
                <a:stretch>
                  <a:fillRect l="-2474" t="-10400"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667536" y="5381753"/>
                <a:ext cx="11219664" cy="756233"/>
              </a:xfrm>
            </p:spPr>
            <p:txBody>
              <a:bodyPr/>
              <a:lstStyle/>
              <a:p>
                <a:pPr marL="342900" indent="-342900" algn="l">
                  <a:buFont typeface="Arial" panose="020B0604020202020204" pitchFamily="34" charset="0"/>
                  <a:buChar char="•"/>
                </a:pPr>
                <a:r>
                  <a:rPr lang="en-US" dirty="0" smtClean="0">
                    <a:latin typeface="fkGroteskNeue"/>
                  </a:rPr>
                  <a:t>Motivation: </a:t>
                </a:r>
                <a:r>
                  <a:rPr lang="en-US" i="1" dirty="0" smtClean="0">
                    <a:solidFill>
                      <a:srgbClr val="002060"/>
                    </a:solidFill>
                    <a:latin typeface="fkGroteskNeue"/>
                  </a:rPr>
                  <a:t>The </a:t>
                </a:r>
                <a14:m>
                  <m:oMath xmlns:m="http://schemas.openxmlformats.org/officeDocument/2006/math">
                    <m:f>
                      <m:fPr>
                        <m:ctrlPr>
                          <a:rPr lang="en-US" i="1" smtClean="0">
                            <a:solidFill>
                              <a:srgbClr val="002060"/>
                            </a:solidFill>
                            <a:latin typeface="Cambria Math" panose="02040503050406030204" pitchFamily="18" charset="0"/>
                          </a:rPr>
                        </m:ctrlPr>
                      </m:fPr>
                      <m:num>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𝑔</m:t>
                            </m:r>
                          </m:e>
                          <m:sub>
                            <m:r>
                              <a:rPr lang="en-US" i="1">
                                <a:solidFill>
                                  <a:srgbClr val="002060"/>
                                </a:solidFill>
                                <a:latin typeface="Cambria Math" panose="02040503050406030204" pitchFamily="18" charset="0"/>
                              </a:rPr>
                              <m:t>𝑚</m:t>
                            </m:r>
                          </m:sub>
                        </m:sSub>
                      </m:num>
                      <m:den>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𝐼</m:t>
                            </m:r>
                          </m:e>
                          <m:sub>
                            <m:r>
                              <a:rPr lang="en-US" i="1">
                                <a:solidFill>
                                  <a:srgbClr val="002060"/>
                                </a:solidFill>
                                <a:latin typeface="Cambria Math" panose="02040503050406030204" pitchFamily="18" charset="0"/>
                              </a:rPr>
                              <m:t>𝐷</m:t>
                            </m:r>
                          </m:sub>
                        </m:sSub>
                      </m:den>
                    </m:f>
                  </m:oMath>
                </a14:m>
                <a:r>
                  <a:rPr lang="en-US" i="1" dirty="0">
                    <a:solidFill>
                      <a:srgbClr val="002060"/>
                    </a:solidFill>
                    <a:latin typeface="fkGroteskNeue"/>
                  </a:rPr>
                  <a:t> bridges the gap between technology-centric choices and the designer’s need for abstraction and </a:t>
                </a:r>
                <a:r>
                  <a:rPr lang="en-US" i="1" dirty="0" smtClean="0">
                    <a:solidFill>
                      <a:srgbClr val="002060"/>
                    </a:solidFill>
                    <a:latin typeface="fkGroteskNeue"/>
                  </a:rPr>
                  <a:t>intuition</a:t>
                </a:r>
                <a:endParaRPr lang="en-US" i="1" dirty="0">
                  <a:solidFill>
                    <a:srgbClr val="002060"/>
                  </a:solidFill>
                  <a:latin typeface="fkGroteskNeue"/>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667536" y="5381753"/>
                <a:ext cx="11219664" cy="756233"/>
              </a:xfrm>
              <a:blipFill>
                <a:blip r:embed="rId3"/>
                <a:stretch>
                  <a:fillRect l="-1304" t="-5645" r="-1087" b="-19355"/>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78744" y="6635009"/>
            <a:ext cx="1661041" cy="58121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50771" y="6492844"/>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770829" y="4869210"/>
            <a:ext cx="4172931" cy="523220"/>
          </a:xfrm>
          <a:prstGeom prst="rect">
            <a:avLst/>
          </a:prstGeom>
        </p:spPr>
        <p:txBody>
          <a:bodyPr wrap="square">
            <a:spAutoFit/>
          </a:bodyPr>
          <a:lstStyle/>
          <a:p>
            <a:pPr algn="ctr"/>
            <a:r>
              <a:rPr lang="en-US" sz="1400" b="0" i="0" u="none" strike="noStrike" baseline="0" dirty="0" smtClean="0">
                <a:latin typeface="CMR10"/>
              </a:rPr>
              <a:t>Small signal models allow us to use transistors</a:t>
            </a:r>
            <a:r>
              <a:rPr lang="en-US" sz="1400" b="0" i="0" u="none" strike="noStrike" dirty="0" smtClean="0">
                <a:latin typeface="CMR10"/>
              </a:rPr>
              <a:t> </a:t>
            </a:r>
            <a:r>
              <a:rPr lang="en-US" sz="1400" b="0" i="0" u="none" strike="noStrike" baseline="0" dirty="0" smtClean="0">
                <a:latin typeface="CMR10"/>
              </a:rPr>
              <a:t>in a Signals-and-Systems context.</a:t>
            </a:r>
            <a:endParaRPr lang="en-US" sz="3200" dirty="0"/>
          </a:p>
        </p:txBody>
      </p:sp>
      <p:pic>
        <p:nvPicPr>
          <p:cNvPr id="8" name="Picture 7"/>
          <p:cNvPicPr>
            <a:picLocks noChangeAspect="1"/>
          </p:cNvPicPr>
          <p:nvPr/>
        </p:nvPicPr>
        <p:blipFill>
          <a:blip r:embed="rId4"/>
          <a:stretch>
            <a:fillRect/>
          </a:stretch>
        </p:blipFill>
        <p:spPr>
          <a:xfrm>
            <a:off x="8125079" y="1248901"/>
            <a:ext cx="3586327" cy="3628685"/>
          </a:xfrm>
          <a:prstGeom prst="rect">
            <a:avLst/>
          </a:prstGeom>
        </p:spPr>
      </p:pic>
      <mc:AlternateContent xmlns:mc="http://schemas.openxmlformats.org/markup-compatibility/2006" xmlns:a14="http://schemas.microsoft.com/office/drawing/2010/main">
        <mc:Choice Requires="a14">
          <p:sp>
            <p:nvSpPr>
              <p:cNvPr id="9" name="Rectangle 8"/>
              <p:cNvSpPr/>
              <p:nvPr/>
            </p:nvSpPr>
            <p:spPr>
              <a:xfrm>
                <a:off x="6781590" y="1059672"/>
                <a:ext cx="5195333" cy="495777"/>
              </a:xfrm>
              <a:prstGeom prst="rect">
                <a:avLst/>
              </a:prstGeom>
            </p:spPr>
            <p:txBody>
              <a:bodyPr wrap="none">
                <a:spAutoFit/>
              </a:bodyPr>
              <a:lstStyle/>
              <a:p>
                <a:r>
                  <a:rPr lang="en-US" b="1" i="0" dirty="0" smtClean="0">
                    <a:solidFill>
                      <a:srgbClr val="00B050"/>
                    </a:solidFill>
                    <a:effectLst/>
                    <a:latin typeface="fkGroteskNeue"/>
                  </a:rPr>
                  <a:t>Identify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b="1" i="0" dirty="0" smtClean="0">
                    <a:solidFill>
                      <a:srgbClr val="00B050"/>
                    </a:solidFill>
                    <a:effectLst/>
                    <a:latin typeface="fkGroteskNeue"/>
                  </a:rPr>
                  <a:t> as the tool that enables this bridge</a:t>
                </a:r>
                <a:endParaRPr lang="en-US" b="1" dirty="0">
                  <a:solidFill>
                    <a:srgbClr val="00B050"/>
                  </a:solidFill>
                </a:endParaRPr>
              </a:p>
            </p:txBody>
          </p:sp>
        </mc:Choice>
        <mc:Fallback xmlns="">
          <p:sp>
            <p:nvSpPr>
              <p:cNvPr id="9" name="Rectangle 8"/>
              <p:cNvSpPr>
                <a:spLocks noRot="1" noChangeAspect="1" noMove="1" noResize="1" noEditPoints="1" noAdjustHandles="1" noChangeArrowheads="1" noChangeShapeType="1" noTextEdit="1"/>
              </p:cNvSpPr>
              <p:nvPr/>
            </p:nvSpPr>
            <p:spPr>
              <a:xfrm>
                <a:off x="6781590" y="1059672"/>
                <a:ext cx="5195333" cy="495777"/>
              </a:xfrm>
              <a:prstGeom prst="rect">
                <a:avLst/>
              </a:prstGeom>
              <a:blipFill>
                <a:blip r:embed="rId5"/>
                <a:stretch>
                  <a:fillRect l="-938" t="-1235" r="-1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99534" y="1548082"/>
                <a:ext cx="7594600" cy="1111330"/>
              </a:xfrm>
              <a:prstGeom prst="rect">
                <a:avLst/>
              </a:prstGeom>
            </p:spPr>
            <p:txBody>
              <a:bodyPr wrap="square">
                <a:spAutoFit/>
              </a:bodyPr>
              <a:lstStyle/>
              <a:p>
                <a:pPr marL="342900" lvl="0" indent="-342900" algn="just">
                  <a:buFont typeface="Wingdings" panose="05000000000000000000" pitchFamily="2" charset="2"/>
                  <a:buChar char="q"/>
                </a:pPr>
                <a:r>
                  <a:rPr lang="en-US" sz="2000" kern="0" dirty="0" smtClean="0">
                    <a:solidFill>
                      <a:prstClr val="black"/>
                    </a:solidFill>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sz="2000" kern="0" dirty="0" smtClean="0">
                    <a:solidFill>
                      <a:prstClr val="black"/>
                    </a:solidFill>
                    <a:latin typeface="fkGroteskNeue"/>
                  </a:rPr>
                  <a:t> </a:t>
                </a:r>
                <a:r>
                  <a:rPr lang="en-US" sz="2000" kern="0" dirty="0">
                    <a:solidFill>
                      <a:prstClr val="black"/>
                    </a:solidFill>
                    <a:latin typeface="fkGroteskNeue"/>
                  </a:rPr>
                  <a:t>acts (around the transition from transistor level to circuit level), allowing straightforward movement between physical device details and circuit-level design.</a:t>
                </a:r>
              </a:p>
            </p:txBody>
          </p:sp>
        </mc:Choice>
        <mc:Fallback xmlns="">
          <p:sp>
            <p:nvSpPr>
              <p:cNvPr id="10" name="Rectangle 9"/>
              <p:cNvSpPr>
                <a:spLocks noRot="1" noChangeAspect="1" noMove="1" noResize="1" noEditPoints="1" noAdjustHandles="1" noChangeArrowheads="1" noChangeShapeType="1" noTextEdit="1"/>
              </p:cNvSpPr>
              <p:nvPr/>
            </p:nvSpPr>
            <p:spPr>
              <a:xfrm>
                <a:off x="499534" y="1548082"/>
                <a:ext cx="7594600" cy="1111330"/>
              </a:xfrm>
              <a:prstGeom prst="rect">
                <a:avLst/>
              </a:prstGeom>
              <a:blipFill>
                <a:blip r:embed="rId6"/>
                <a:stretch>
                  <a:fillRect l="-722" t="-2747" r="-803" b="-93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364065" y="2621115"/>
                <a:ext cx="7526867" cy="1911549"/>
              </a:xfrm>
              <a:prstGeom prst="rect">
                <a:avLst/>
              </a:prstGeom>
            </p:spPr>
            <p:txBody>
              <a:bodyPr wrap="square">
                <a:spAutoFit/>
              </a:bodyPr>
              <a:lstStyle/>
              <a:p>
                <a:pPr marL="342900" lvl="0" indent="-342900" algn="ctr">
                  <a:buFont typeface="Wingdings" panose="05000000000000000000" pitchFamily="2" charset="2"/>
                  <a:buChar char="q"/>
                </a:pPr>
                <a:r>
                  <a:rPr lang="en-US" sz="2000" b="1" kern="0" dirty="0">
                    <a:solidFill>
                      <a:srgbClr val="00B050"/>
                    </a:solidFill>
                    <a:latin typeface="fkGroteskNeue"/>
                  </a:rPr>
                  <a:t>Intuitive meaning:</a:t>
                </a:r>
              </a:p>
              <a:p>
                <a:pPr marL="742950" lvl="1" indent="-285750" algn="just">
                  <a:buFont typeface="Wingdings" panose="05000000000000000000" pitchFamily="2" charset="2"/>
                  <a:buChar char="q"/>
                </a:pP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kern="0" dirty="0">
                    <a:solidFill>
                      <a:sysClr val="windowText" lastClr="000000"/>
                    </a:solidFill>
                    <a:latin typeface="fkGroteskNeue"/>
                  </a:rPr>
                  <a:t> sits in the “translator” role—if you pick a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kern="0" dirty="0">
                    <a:solidFill>
                      <a:sysClr val="windowText" lastClr="000000"/>
                    </a:solidFill>
                    <a:latin typeface="fkGroteskNeue"/>
                  </a:rPr>
                  <a:t> value, you can reliably choose W/L, bias current, and predict your small-signal gain.</a:t>
                </a:r>
              </a:p>
              <a:p>
                <a:pPr marL="742950" lvl="1" indent="-285750" algn="just">
                  <a:buFont typeface="Wingdings" panose="05000000000000000000" pitchFamily="2" charset="2"/>
                  <a:buChar char="q"/>
                </a:pPr>
                <a:r>
                  <a:rPr lang="en-US" kern="0" dirty="0">
                    <a:solidFill>
                      <a:sysClr val="windowText" lastClr="000000"/>
                    </a:solidFill>
                    <a:latin typeface="fkGroteskNeue"/>
                  </a:rPr>
                  <a:t>It connects the “fuzzy” bottom level to the “well understood” upper levels.</a:t>
                </a:r>
              </a:p>
            </p:txBody>
          </p:sp>
        </mc:Choice>
        <mc:Fallback xmlns="">
          <p:sp>
            <p:nvSpPr>
              <p:cNvPr id="11" name="Rectangle 10"/>
              <p:cNvSpPr>
                <a:spLocks noRot="1" noChangeAspect="1" noMove="1" noResize="1" noEditPoints="1" noAdjustHandles="1" noChangeArrowheads="1" noChangeShapeType="1" noTextEdit="1"/>
              </p:cNvSpPr>
              <p:nvPr/>
            </p:nvSpPr>
            <p:spPr>
              <a:xfrm>
                <a:off x="364065" y="2621115"/>
                <a:ext cx="7526867" cy="1911549"/>
              </a:xfrm>
              <a:prstGeom prst="rect">
                <a:avLst/>
              </a:prstGeom>
              <a:blipFill>
                <a:blip r:embed="rId7"/>
                <a:stretch>
                  <a:fillRect t="-1592" r="-729" b="-4140"/>
                </a:stretch>
              </a:blipFill>
            </p:spPr>
            <p:txBody>
              <a:bodyPr/>
              <a:lstStyle/>
              <a:p>
                <a:r>
                  <a:rPr lang="en-US">
                    <a:noFill/>
                  </a:rPr>
                  <a:t> </a:t>
                </a:r>
              </a:p>
            </p:txBody>
          </p:sp>
        </mc:Fallback>
      </mc:AlternateContent>
      <p:sp>
        <p:nvSpPr>
          <p:cNvPr id="13" name="Rectangle 12"/>
          <p:cNvSpPr/>
          <p:nvPr/>
        </p:nvSpPr>
        <p:spPr>
          <a:xfrm>
            <a:off x="822960" y="2967774"/>
            <a:ext cx="7061200" cy="165502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5277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44550" y="152992"/>
                <a:ext cx="10593196" cy="762196"/>
              </a:xfrm>
            </p:spPr>
            <p:txBody>
              <a:bodyPr/>
              <a:lstStyle/>
              <a:p>
                <a:r>
                  <a:rPr lang="en-US" dirty="0">
                    <a:latin typeface="fkGrotesk"/>
                  </a:rPr>
                  <a:t>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vs </a:t>
                </a:r>
                <a:r>
                  <a:rPr lang="en-US" dirty="0" err="1">
                    <a:latin typeface="fkGrotesk"/>
                  </a:rPr>
                  <a:t>V</a:t>
                </a:r>
                <a:r>
                  <a:rPr lang="en-US" baseline="-25000" dirty="0" err="1">
                    <a:latin typeface="fkGrotesk"/>
                  </a:rPr>
                  <a:t>ov</a:t>
                </a:r>
                <a:r>
                  <a:rPr lang="en-US" dirty="0">
                    <a:latin typeface="fkGrotesk"/>
                  </a:rPr>
                  <a:t>-Based Design—Which is Better</a:t>
                </a:r>
                <a:r>
                  <a:rPr lang="en-US" dirty="0" smtClean="0">
                    <a:latin typeface="fkGrotesk"/>
                  </a:rPr>
                  <a:t>?</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44550" y="152992"/>
                <a:ext cx="10593196" cy="762196"/>
              </a:xfrm>
              <a:blipFill>
                <a:blip r:embed="rId2"/>
                <a:stretch>
                  <a:fillRect t="-10400"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66546" y="1292318"/>
                <a:ext cx="7950921" cy="2373214"/>
              </a:xfrm>
            </p:spPr>
            <p:txBody>
              <a:bodyPr/>
              <a:lstStyle/>
              <a:p>
                <a:pPr marL="342900" indent="-342900" algn="ctr">
                  <a:buFont typeface="Wingdings" panose="05000000000000000000" pitchFamily="2" charset="2"/>
                  <a:buChar char="q"/>
                </a:pPr>
                <a:r>
                  <a:rPr lang="en-US" b="1" dirty="0" smtClean="0">
                    <a:solidFill>
                      <a:srgbClr val="00B050"/>
                    </a:solidFill>
                    <a:latin typeface="fkGroteskNeue"/>
                  </a:rPr>
                  <a:t>Compares </a:t>
                </a:r>
                <a:r>
                  <a:rPr lang="en-US" b="1" dirty="0">
                    <a:solidFill>
                      <a:srgbClr val="00B050"/>
                    </a:solidFill>
                    <a:latin typeface="fkGroteskNeue"/>
                  </a:rPr>
                  <a:t>two design workflows:</a:t>
                </a:r>
              </a:p>
              <a:p>
                <a:pPr marL="742950" lvl="1" indent="-285750" algn="just">
                  <a:buFont typeface="Wingdings" panose="05000000000000000000" pitchFamily="2" charset="2"/>
                  <a:buChar char="q"/>
                </a:pPr>
                <a:r>
                  <a:rPr lang="en-US" b="1" dirty="0">
                    <a:solidFill>
                      <a:srgbClr val="C00000"/>
                    </a:solidFill>
                    <a:latin typeface="fkGroteskNeue"/>
                  </a:rPr>
                  <a:t>The traditional </a:t>
                </a:r>
                <a:r>
                  <a:rPr lang="en-US" b="1" i="1" dirty="0" err="1" smtClean="0">
                    <a:solidFill>
                      <a:srgbClr val="C00000"/>
                    </a:solidFill>
                    <a:latin typeface="KaTeX_Math"/>
                  </a:rPr>
                  <a:t>V</a:t>
                </a:r>
                <a:r>
                  <a:rPr lang="en-US" b="1" i="1" baseline="-25000" dirty="0" err="1" smtClean="0">
                    <a:solidFill>
                      <a:srgbClr val="C00000"/>
                    </a:solidFill>
                    <a:latin typeface="KaTeX_Math"/>
                  </a:rPr>
                  <a:t>ov</a:t>
                </a:r>
                <a:r>
                  <a:rPr lang="en-US" b="1" dirty="0" smtClean="0">
                    <a:solidFill>
                      <a:srgbClr val="C00000"/>
                    </a:solidFill>
                    <a:latin typeface="fkGroteskNeue"/>
                  </a:rPr>
                  <a:t>-based </a:t>
                </a:r>
                <a:r>
                  <a:rPr lang="en-US" b="1" dirty="0">
                    <a:solidFill>
                      <a:srgbClr val="C00000"/>
                    </a:solidFill>
                    <a:latin typeface="fkGroteskNeue"/>
                  </a:rPr>
                  <a:t>method: </a:t>
                </a:r>
                <a:r>
                  <a:rPr lang="en-US" dirty="0">
                    <a:latin typeface="fkGroteskNeue"/>
                  </a:rPr>
                  <a:t>uses long-channel models and limited technology data, but only yields order-of-magnitude accuracy due to oversimplification</a:t>
                </a:r>
                <a:r>
                  <a:rPr lang="en-US" dirty="0" smtClean="0">
                    <a:latin typeface="fkGroteskNeue"/>
                  </a:rPr>
                  <a:t>.</a:t>
                </a:r>
              </a:p>
              <a:p>
                <a:pPr marL="742950" lvl="1" indent="-285750" algn="just">
                  <a:buFont typeface="Wingdings" panose="05000000000000000000" pitchFamily="2" charset="2"/>
                  <a:buChar char="q"/>
                </a:pPr>
                <a:endParaRPr lang="en-US" dirty="0">
                  <a:latin typeface="fkGroteskNeue"/>
                </a:endParaRPr>
              </a:p>
              <a:p>
                <a:pPr marL="742950" lvl="1" indent="-285750" algn="just">
                  <a:buFont typeface="Wingdings" panose="05000000000000000000" pitchFamily="2" charset="2"/>
                  <a:buChar char="q"/>
                </a:pPr>
                <a:r>
                  <a:rPr lang="en-US" b="1" dirty="0">
                    <a:solidFill>
                      <a:srgbClr val="C00000"/>
                    </a:solidFill>
                    <a:latin typeface="fkGroteskNeue"/>
                  </a:rPr>
                  <a:t>The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b="1" dirty="0">
                    <a:solidFill>
                      <a:srgbClr val="C00000"/>
                    </a:solidFill>
                    <a:latin typeface="fkGroteskNeue"/>
                  </a:rPr>
                  <a:t>-based method: </a:t>
                </a:r>
                <a:r>
                  <a:rPr lang="en-US" dirty="0">
                    <a:latin typeface="fkGroteskNeue"/>
                  </a:rPr>
                  <a:t>leverages SPICE-generated charts or lookup tables. These capture real device behavior more accurately, yielding results within 10–20% of final requirements (with little tuning needed</a:t>
                </a:r>
                <a:r>
                  <a:rPr lang="en-US" dirty="0" smtClean="0">
                    <a:latin typeface="fkGroteskNeue"/>
                  </a:rPr>
                  <a:t>).</a:t>
                </a:r>
                <a:endParaRPr lang="en-US" dirty="0">
                  <a:latin typeface="fkGroteskNeue"/>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66546" y="1292318"/>
                <a:ext cx="7950921" cy="2373214"/>
              </a:xfrm>
              <a:blipFill>
                <a:blip r:embed="rId3"/>
                <a:stretch>
                  <a:fillRect t="-3085" r="-1764" b="-514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50464" y="6658577"/>
            <a:ext cx="1359383" cy="19942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1306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4"/>
          <a:stretch>
            <a:fillRect/>
          </a:stretch>
        </p:blipFill>
        <p:spPr>
          <a:xfrm>
            <a:off x="8655192" y="1075352"/>
            <a:ext cx="3372023" cy="2578233"/>
          </a:xfrm>
          <a:prstGeom prst="rect">
            <a:avLst/>
          </a:prstGeom>
        </p:spPr>
      </p:pic>
      <p:sp>
        <p:nvSpPr>
          <p:cNvPr id="8" name="Rectangle 7"/>
          <p:cNvSpPr/>
          <p:nvPr/>
        </p:nvSpPr>
        <p:spPr>
          <a:xfrm>
            <a:off x="8685230" y="3569008"/>
            <a:ext cx="3506770" cy="461665"/>
          </a:xfrm>
          <a:prstGeom prst="rect">
            <a:avLst/>
          </a:prstGeom>
        </p:spPr>
        <p:txBody>
          <a:bodyPr wrap="square">
            <a:spAutoFit/>
          </a:bodyPr>
          <a:lstStyle/>
          <a:p>
            <a:r>
              <a:rPr lang="en-US" sz="1200" b="1" i="0" u="none" strike="noStrike" baseline="0" dirty="0" smtClean="0">
                <a:solidFill>
                  <a:srgbClr val="00B050"/>
                </a:solidFill>
                <a:latin typeface="CMR10"/>
              </a:rPr>
              <a:t>High-level comparison of two popular design</a:t>
            </a:r>
            <a:r>
              <a:rPr lang="en-US" sz="1200" b="1" i="0" u="none" strike="noStrike" dirty="0" smtClean="0">
                <a:solidFill>
                  <a:srgbClr val="00B050"/>
                </a:solidFill>
                <a:latin typeface="CMR10"/>
              </a:rPr>
              <a:t> </a:t>
            </a:r>
            <a:r>
              <a:rPr lang="en-US" sz="1200" b="1" i="0" u="none" strike="noStrike" baseline="0" dirty="0" smtClean="0">
                <a:solidFill>
                  <a:srgbClr val="00B050"/>
                </a:solidFill>
                <a:latin typeface="CMR10"/>
              </a:rPr>
              <a:t>methodologies.</a:t>
            </a:r>
            <a:endParaRPr lang="en-US" sz="2800" b="1" dirty="0">
              <a:solidFill>
                <a:srgbClr val="00B050"/>
              </a:solidFill>
            </a:endParaRPr>
          </a:p>
        </p:txBody>
      </p:sp>
      <mc:AlternateContent xmlns:mc="http://schemas.openxmlformats.org/markup-compatibility/2006" xmlns:a14="http://schemas.microsoft.com/office/drawing/2010/main">
        <mc:Choice Requires="a14">
          <p:sp>
            <p:nvSpPr>
              <p:cNvPr id="9" name="Rectangle 8"/>
              <p:cNvSpPr/>
              <p:nvPr/>
            </p:nvSpPr>
            <p:spPr>
              <a:xfrm>
                <a:off x="567267" y="3801408"/>
                <a:ext cx="11319933" cy="2264338"/>
              </a:xfrm>
              <a:prstGeom prst="rect">
                <a:avLst/>
              </a:prstGeom>
            </p:spPr>
            <p:txBody>
              <a:bodyPr wrap="square">
                <a:spAutoFit/>
              </a:bodyPr>
              <a:lstStyle/>
              <a:p>
                <a:pPr marL="342900" lvl="0" indent="-342900">
                  <a:buFont typeface="Wingdings" panose="05000000000000000000" pitchFamily="2" charset="2"/>
                  <a:buChar char="q"/>
                </a:pPr>
                <a:r>
                  <a:rPr lang="en-US" sz="2000" b="1" kern="0" dirty="0">
                    <a:solidFill>
                      <a:srgbClr val="00B050"/>
                    </a:solidFill>
                    <a:latin typeface="fkGroteskNeue"/>
                  </a:rPr>
                  <a:t>Intuitive meaning:</a:t>
                </a:r>
              </a:p>
              <a:p>
                <a:pPr marL="742950" lvl="1" indent="-285750" algn="just">
                  <a:buFont typeface="Wingdings" panose="05000000000000000000" pitchFamily="2" charset="2"/>
                  <a:buChar char="q"/>
                </a:pPr>
                <a:r>
                  <a:rPr lang="en-US" b="1" kern="0" dirty="0">
                    <a:solidFill>
                      <a:srgbClr val="C00000"/>
                    </a:solidFill>
                    <a:latin typeface="fkGroteskNeue"/>
                  </a:rPr>
                  <a:t>The old method (using </a:t>
                </a:r>
                <a:r>
                  <a:rPr lang="en-US" b="1" i="1" kern="0" dirty="0" err="1">
                    <a:solidFill>
                      <a:srgbClr val="C00000"/>
                    </a:solidFill>
                    <a:latin typeface="KaTeX_Math"/>
                  </a:rPr>
                  <a:t>V</a:t>
                </a:r>
                <a:r>
                  <a:rPr lang="en-US" b="1" i="1" kern="0" baseline="-25000" dirty="0" err="1">
                    <a:solidFill>
                      <a:srgbClr val="C00000"/>
                    </a:solidFill>
                    <a:latin typeface="KaTeX_Math"/>
                  </a:rPr>
                  <a:t>ov</a:t>
                </a:r>
                <a:r>
                  <a:rPr lang="en-US" b="1" kern="0" dirty="0">
                    <a:solidFill>
                      <a:srgbClr val="C00000"/>
                    </a:solidFill>
                    <a:latin typeface="fkGroteskNeue"/>
                  </a:rPr>
                  <a:t>) is easier mathematically but ignores modern short-channel effects, so its results are less reliable.</a:t>
                </a:r>
              </a:p>
              <a:p>
                <a:pPr marL="742950" lvl="1" indent="-285750" algn="just">
                  <a:buFont typeface="Wingdings" panose="05000000000000000000" pitchFamily="2" charset="2"/>
                  <a:buChar char="q"/>
                </a:pPr>
                <a:r>
                  <a:rPr lang="en-US" b="1" kern="0" dirty="0">
                    <a:solidFill>
                      <a:srgbClr val="00B050"/>
                    </a:solidFill>
                    <a:latin typeface="fkGroteskNeue"/>
                  </a:rPr>
                  <a:t>gm/ID-based design, by relying on data-driven charts and SPICE, stays accurate even for advanced technologies—making it the more “future-proof” approach.</a:t>
                </a:r>
              </a:p>
              <a:p>
                <a:pPr marL="342900" lvl="0" indent="-342900" algn="just">
                  <a:buFont typeface="Wingdings" panose="05000000000000000000" pitchFamily="2" charset="2"/>
                  <a:buChar char="q"/>
                </a:pPr>
                <a:r>
                  <a:rPr lang="en-US" sz="2000" b="1" kern="0" dirty="0" smtClean="0">
                    <a:solidFill>
                      <a:srgbClr val="00B050"/>
                    </a:solidFill>
                    <a:latin typeface="fkGroteskNeue"/>
                  </a:rPr>
                  <a:t>Motivation: </a:t>
                </a:r>
                <a:r>
                  <a:rPr lang="en-US" sz="2000" kern="0" dirty="0" smtClean="0">
                    <a:solidFill>
                      <a:prstClr val="black"/>
                    </a:solidFill>
                    <a:latin typeface="fkGroteskNeue"/>
                  </a:rPr>
                  <a:t>We come to know </a:t>
                </a:r>
                <a:r>
                  <a:rPr lang="en-US" sz="2000" kern="0" dirty="0">
                    <a:solidFill>
                      <a:prstClr val="black"/>
                    </a:solidFill>
                    <a:latin typeface="fkGroteskNeue"/>
                  </a:rPr>
                  <a:t>that learning </a:t>
                </a:r>
                <a14:m>
                  <m:oMath xmlns:m="http://schemas.openxmlformats.org/officeDocument/2006/math">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𝑚</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𝐷</m:t>
                            </m:r>
                          </m:sub>
                        </m:sSub>
                      </m:den>
                    </m:f>
                  </m:oMath>
                </a14:m>
                <a:r>
                  <a:rPr lang="en-US" sz="2000" kern="0" dirty="0">
                    <a:solidFill>
                      <a:prstClr val="black"/>
                    </a:solidFill>
                    <a:latin typeface="fkGroteskNeue"/>
                  </a:rPr>
                  <a:t> is not just theoretically elegant, but also practically necessary for precision and efficiency in modern analog circuit design.</a:t>
                </a:r>
              </a:p>
            </p:txBody>
          </p:sp>
        </mc:Choice>
        <mc:Fallback xmlns="">
          <p:sp>
            <p:nvSpPr>
              <p:cNvPr id="9" name="Rectangle 8"/>
              <p:cNvSpPr>
                <a:spLocks noRot="1" noChangeAspect="1" noMove="1" noResize="1" noEditPoints="1" noAdjustHandles="1" noChangeArrowheads="1" noChangeShapeType="1" noTextEdit="1"/>
              </p:cNvSpPr>
              <p:nvPr/>
            </p:nvSpPr>
            <p:spPr>
              <a:xfrm>
                <a:off x="567267" y="3801408"/>
                <a:ext cx="11319933" cy="2264338"/>
              </a:xfrm>
              <a:prstGeom prst="rect">
                <a:avLst/>
              </a:prstGeom>
              <a:blipFill>
                <a:blip r:embed="rId5"/>
                <a:stretch>
                  <a:fillRect l="-485" t="-1348" r="-592" b="-4043"/>
                </a:stretch>
              </a:blipFill>
            </p:spPr>
            <p:txBody>
              <a:bodyPr/>
              <a:lstStyle/>
              <a:p>
                <a:r>
                  <a:rPr lang="en-US">
                    <a:noFill/>
                  </a:rPr>
                  <a:t> </a:t>
                </a:r>
              </a:p>
            </p:txBody>
          </p:sp>
        </mc:Fallback>
      </mc:AlternateContent>
      <p:sp>
        <p:nvSpPr>
          <p:cNvPr id="10" name="Rectangle 9"/>
          <p:cNvSpPr/>
          <p:nvPr/>
        </p:nvSpPr>
        <p:spPr>
          <a:xfrm>
            <a:off x="8734425" y="1596175"/>
            <a:ext cx="3241675" cy="92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97585" y="1611415"/>
            <a:ext cx="7562215" cy="9216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2505" y="2646680"/>
            <a:ext cx="7562215" cy="100901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13" name="Rectangle 12"/>
          <p:cNvSpPr/>
          <p:nvPr/>
        </p:nvSpPr>
        <p:spPr>
          <a:xfrm>
            <a:off x="8734425" y="2548674"/>
            <a:ext cx="3241675" cy="99462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85842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Stepwise Flow—From Hand Calculations to </a:t>
            </a:r>
            <a:r>
              <a:rPr lang="en-US" dirty="0" smtClean="0">
                <a:latin typeface="fkGrotesk"/>
              </a:rPr>
              <a:t>Simulation</a:t>
            </a:r>
            <a:endParaRPr lang="en-US" dirty="0"/>
          </a:p>
        </p:txBody>
      </p:sp>
      <p:sp>
        <p:nvSpPr>
          <p:cNvPr id="3" name="Text Placeholder 2"/>
          <p:cNvSpPr>
            <a:spLocks noGrp="1"/>
          </p:cNvSpPr>
          <p:nvPr>
            <p:ph type="body" idx="1"/>
          </p:nvPr>
        </p:nvSpPr>
        <p:spPr>
          <a:xfrm>
            <a:off x="844549" y="1327353"/>
            <a:ext cx="7520517" cy="3262432"/>
          </a:xfrm>
        </p:spPr>
        <p:txBody>
          <a:bodyPr/>
          <a:lstStyle/>
          <a:p>
            <a:pPr algn="just"/>
            <a:r>
              <a:rPr lang="en-US" sz="2400" b="1" dirty="0" smtClean="0">
                <a:solidFill>
                  <a:srgbClr val="C00000"/>
                </a:solidFill>
                <a:latin typeface="fkGrotesk"/>
              </a:rPr>
              <a:t>Hand </a:t>
            </a:r>
            <a:r>
              <a:rPr lang="en-US" sz="2400" b="1" dirty="0">
                <a:solidFill>
                  <a:srgbClr val="C00000"/>
                </a:solidFill>
                <a:latin typeface="fkGrotesk"/>
              </a:rPr>
              <a:t>Calculations to Simulation</a:t>
            </a:r>
            <a:r>
              <a:rPr lang="en-US" sz="2400" b="1" dirty="0" smtClean="0">
                <a:solidFill>
                  <a:srgbClr val="C00000"/>
                </a:solidFill>
                <a:latin typeface="fkGroteskNeue"/>
              </a:rPr>
              <a:t> two </a:t>
            </a:r>
            <a:r>
              <a:rPr lang="en-US" sz="2400" b="1" dirty="0">
                <a:solidFill>
                  <a:srgbClr val="C00000"/>
                </a:solidFill>
                <a:latin typeface="fkGroteskNeue"/>
              </a:rPr>
              <a:t>main phases</a:t>
            </a:r>
            <a:r>
              <a:rPr lang="en-US" sz="2400" b="1" dirty="0" smtClean="0">
                <a:solidFill>
                  <a:srgbClr val="C00000"/>
                </a:solidFill>
                <a:latin typeface="fkGroteskNeue"/>
              </a:rPr>
              <a:t>:</a:t>
            </a:r>
          </a:p>
          <a:p>
            <a:pPr algn="just"/>
            <a:endParaRPr lang="en-US" sz="2400" b="1" dirty="0">
              <a:solidFill>
                <a:srgbClr val="C00000"/>
              </a:solidFill>
              <a:latin typeface="fkGroteskNeue"/>
            </a:endParaRPr>
          </a:p>
          <a:p>
            <a:pPr marL="342900" indent="-342900" algn="just">
              <a:buFont typeface="Arial" panose="020B0604020202020204" pitchFamily="34" charset="0"/>
              <a:buChar char="•"/>
            </a:pPr>
            <a:r>
              <a:rPr lang="en-US" sz="2400" b="1" dirty="0">
                <a:solidFill>
                  <a:srgbClr val="002060"/>
                </a:solidFill>
                <a:latin typeface="fkGroteskNeue"/>
              </a:rPr>
              <a:t>The inner loop ("Hand Calculations") where most creative and effective optimization occurs</a:t>
            </a:r>
            <a:r>
              <a:rPr lang="en-US" sz="2400" b="1" dirty="0" smtClean="0">
                <a:solidFill>
                  <a:srgbClr val="002060"/>
                </a:solidFill>
                <a:latin typeface="fkGroteskNeue"/>
              </a:rPr>
              <a:t>.</a:t>
            </a:r>
          </a:p>
          <a:p>
            <a:pPr marL="342900" indent="-342900" algn="just">
              <a:buFont typeface="Arial" panose="020B0604020202020204" pitchFamily="34" charset="0"/>
              <a:buChar char="•"/>
            </a:pPr>
            <a:endParaRPr lang="en-US" sz="2400" b="1" dirty="0">
              <a:solidFill>
                <a:srgbClr val="002060"/>
              </a:solidFill>
              <a:latin typeface="fkGroteskNeue"/>
            </a:endParaRPr>
          </a:p>
          <a:p>
            <a:pPr marL="342900" indent="-342900" algn="just">
              <a:buFont typeface="Arial" panose="020B0604020202020204" pitchFamily="34" charset="0"/>
              <a:buChar char="•"/>
            </a:pPr>
            <a:r>
              <a:rPr lang="en-US" sz="2400" b="1" dirty="0">
                <a:solidFill>
                  <a:srgbClr val="002060"/>
                </a:solidFill>
                <a:latin typeface="fkGroteskNeue"/>
              </a:rPr>
              <a:t>The outer loop ("Simulation and Tweaking"), which is slow and less effective for broad exploration.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406658" y="1215876"/>
            <a:ext cx="3429176" cy="3219615"/>
          </a:xfrm>
          <a:prstGeom prst="rect">
            <a:avLst/>
          </a:prstGeom>
        </p:spPr>
      </p:pic>
      <p:sp>
        <p:nvSpPr>
          <p:cNvPr id="8" name="Rectangle 7"/>
          <p:cNvSpPr/>
          <p:nvPr/>
        </p:nvSpPr>
        <p:spPr>
          <a:xfrm>
            <a:off x="8590961" y="4537742"/>
            <a:ext cx="3409361" cy="646331"/>
          </a:xfrm>
          <a:prstGeom prst="rect">
            <a:avLst/>
          </a:prstGeom>
        </p:spPr>
        <p:txBody>
          <a:bodyPr wrap="square">
            <a:spAutoFit/>
          </a:bodyPr>
          <a:lstStyle/>
          <a:p>
            <a:pPr algn="just"/>
            <a:r>
              <a:rPr lang="en-US" sz="1200" b="0" i="0" u="none" strike="noStrike" baseline="0" dirty="0" smtClean="0">
                <a:solidFill>
                  <a:srgbClr val="00B050"/>
                </a:solidFill>
                <a:latin typeface="CMR10"/>
              </a:rPr>
              <a:t>We can do more effective optimization in</a:t>
            </a:r>
            <a:r>
              <a:rPr lang="en-US" sz="1200" b="0" i="0" u="none" strike="noStrike" dirty="0" smtClean="0">
                <a:solidFill>
                  <a:srgbClr val="00B050"/>
                </a:solidFill>
                <a:latin typeface="CMR10"/>
              </a:rPr>
              <a:t> </a:t>
            </a:r>
            <a:r>
              <a:rPr lang="en-US" sz="1200" b="0" i="0" u="none" strike="noStrike" baseline="0" dirty="0" smtClean="0">
                <a:solidFill>
                  <a:srgbClr val="00B050"/>
                </a:solidFill>
                <a:latin typeface="CMR10"/>
              </a:rPr>
              <a:t>the hand-calculations phase than in the simulations</a:t>
            </a:r>
            <a:r>
              <a:rPr lang="en-US" sz="1200" b="0" i="0" u="none" strike="noStrike" dirty="0" smtClean="0">
                <a:solidFill>
                  <a:srgbClr val="00B050"/>
                </a:solidFill>
                <a:latin typeface="CMR10"/>
              </a:rPr>
              <a:t> </a:t>
            </a:r>
            <a:r>
              <a:rPr lang="en-US" sz="1200" b="0" i="0" u="none" strike="noStrike" baseline="0" dirty="0" smtClean="0">
                <a:solidFill>
                  <a:srgbClr val="00B050"/>
                </a:solidFill>
                <a:latin typeface="CMR10"/>
              </a:rPr>
              <a:t>phase of the design process.</a:t>
            </a:r>
            <a:endParaRPr lang="en-US" sz="2800" dirty="0">
              <a:solidFill>
                <a:srgbClr val="00B050"/>
              </a:solidFill>
            </a:endParaRPr>
          </a:p>
        </p:txBody>
      </p:sp>
    </p:spTree>
    <p:extLst>
      <p:ext uri="{BB962C8B-B14F-4D97-AF65-F5344CB8AC3E}">
        <p14:creationId xmlns:p14="http://schemas.microsoft.com/office/powerpoint/2010/main" val="3096717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Inner Loop: Hand </a:t>
            </a:r>
            <a:r>
              <a:rPr lang="en-US" dirty="0" smtClean="0">
                <a:latin typeface="fkGrotesk"/>
              </a:rPr>
              <a:t>Calculations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292100" y="1136853"/>
                <a:ext cx="11544300" cy="4985980"/>
              </a:xfrm>
            </p:spPr>
            <p:txBody>
              <a:bodyPr/>
              <a:lstStyle/>
              <a:p>
                <a:pPr algn="ctr"/>
                <a:r>
                  <a:rPr lang="en-US" b="1" dirty="0" smtClean="0">
                    <a:solidFill>
                      <a:srgbClr val="C00000"/>
                    </a:solidFill>
                    <a:latin typeface="fkGroteskNeue"/>
                  </a:rPr>
                  <a:t>Why </a:t>
                </a:r>
                <a:r>
                  <a:rPr lang="en-US" b="1" dirty="0">
                    <a:solidFill>
                      <a:srgbClr val="C00000"/>
                    </a:solidFill>
                    <a:latin typeface="fkGroteskNeue"/>
                  </a:rPr>
                  <a:t>this phase is preferred:</a:t>
                </a:r>
              </a:p>
              <a:p>
                <a:pPr marL="800100" lvl="1" indent="-342900" algn="just">
                  <a:buFont typeface="Wingdings" panose="05000000000000000000" pitchFamily="2" charset="2"/>
                  <a:buChar char="q"/>
                </a:pPr>
                <a:r>
                  <a:rPr lang="en-US" dirty="0">
                    <a:latin typeface="fkGroteskNeue"/>
                  </a:rPr>
                  <a:t>Optimization is easy here—linear approximations and intuition work well.</a:t>
                </a:r>
              </a:p>
              <a:p>
                <a:pPr marL="800100" lvl="1" indent="-342900" algn="just">
                  <a:buFont typeface="Wingdings" panose="05000000000000000000" pitchFamily="2" charset="2"/>
                  <a:buChar char="q"/>
                </a:pPr>
                <a:r>
                  <a:rPr lang="en-US" dirty="0">
                    <a:latin typeface="fkGroteskNeue"/>
                  </a:rPr>
                  <a:t>Engineers can quickly adjust equations, try different topologies, or run calculations in Excel/</a:t>
                </a:r>
                <a:r>
                  <a:rPr lang="en-US" dirty="0" err="1">
                    <a:latin typeface="fkGroteskNeue"/>
                  </a:rPr>
                  <a:t>Matlab</a:t>
                </a:r>
                <a:r>
                  <a:rPr lang="en-US" dirty="0">
                    <a:latin typeface="fkGroteskNeue"/>
                  </a:rPr>
                  <a:t>.</a:t>
                </a:r>
              </a:p>
              <a:p>
                <a:pPr marL="800100" lvl="1" indent="-342900" algn="just">
                  <a:buFont typeface="Wingdings" panose="05000000000000000000" pitchFamily="2" charset="2"/>
                  <a:buChar char="q"/>
                </a:pPr>
                <a:r>
                  <a:rPr lang="en-US" dirty="0">
                    <a:latin typeface="fkGroteskNeue"/>
                  </a:rPr>
                  <a:t>More freedom to explore designs and configurations before committing to simulation.</a:t>
                </a:r>
              </a:p>
              <a:p>
                <a:pPr algn="ctr"/>
                <a:r>
                  <a:rPr lang="en-US" b="1" dirty="0">
                    <a:solidFill>
                      <a:srgbClr val="C00000"/>
                    </a:solidFill>
                    <a:latin typeface="fkGroteskNeue"/>
                  </a:rPr>
                  <a:t>Detailed steps:</a:t>
                </a:r>
              </a:p>
              <a:p>
                <a:pPr algn="ctr">
                  <a:buFont typeface="+mj-lt"/>
                  <a:buAutoNum type="arabicPeriod"/>
                </a:pPr>
                <a:r>
                  <a:rPr lang="en-US" b="1" dirty="0">
                    <a:solidFill>
                      <a:srgbClr val="00B050"/>
                    </a:solidFill>
                    <a:latin typeface="fkGroteskNeue"/>
                  </a:rPr>
                  <a:t>Choose/Create a Circuit Topology:</a:t>
                </a:r>
              </a:p>
              <a:p>
                <a:pPr marL="742950" lvl="1" indent="-285750" algn="just">
                  <a:buFont typeface="Wingdings" panose="05000000000000000000" pitchFamily="2" charset="2"/>
                  <a:buChar char="q"/>
                </a:pPr>
                <a:r>
                  <a:rPr lang="en-US" dirty="0">
                    <a:latin typeface="fkGroteskNeue"/>
                  </a:rPr>
                  <a:t>Decide which </a:t>
                </a:r>
                <a:r>
                  <a:rPr lang="en-US" dirty="0" err="1">
                    <a:latin typeface="fkGroteskNeue"/>
                  </a:rPr>
                  <a:t>OpAmp</a:t>
                </a:r>
                <a:r>
                  <a:rPr lang="en-US" dirty="0">
                    <a:latin typeface="fkGroteskNeue"/>
                  </a:rPr>
                  <a:t>, current mirror, or amplifier circuit architecture to explore.</a:t>
                </a:r>
              </a:p>
              <a:p>
                <a:pPr marL="742950" lvl="1" indent="-285750" algn="just">
                  <a:buFont typeface="Wingdings" panose="05000000000000000000" pitchFamily="2" charset="2"/>
                  <a:buChar char="q"/>
                </a:pPr>
                <a:r>
                  <a:rPr lang="en-US" dirty="0">
                    <a:latin typeface="fkGroteskNeue"/>
                  </a:rPr>
                  <a:t>Sketch block diagrams and rough netlists.</a:t>
                </a:r>
              </a:p>
              <a:p>
                <a:pPr algn="ctr">
                  <a:buFont typeface="+mj-lt"/>
                  <a:buAutoNum type="arabicPeriod"/>
                </a:pPr>
                <a:r>
                  <a:rPr lang="en-US" b="1" dirty="0">
                    <a:solidFill>
                      <a:srgbClr val="00B050"/>
                    </a:solidFill>
                    <a:latin typeface="fkGroteskNeue"/>
                  </a:rPr>
                  <a:t>Apply Linear Approximations/Small-Signal Models:</a:t>
                </a:r>
              </a:p>
              <a:p>
                <a:pPr marL="742950" lvl="1" indent="-285750" algn="just">
                  <a:buFont typeface="Wingdings" panose="05000000000000000000" pitchFamily="2" charset="2"/>
                  <a:buChar char="q"/>
                </a:pPr>
                <a:r>
                  <a:rPr lang="en-US" dirty="0">
                    <a:latin typeface="fkGroteskNeue"/>
                  </a:rPr>
                  <a:t>Use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charts or design equations to estimate transistor sizes, bias currents, and performance metrics.</a:t>
                </a:r>
              </a:p>
              <a:p>
                <a:pPr marL="742950" lvl="1" indent="-285750" algn="just">
                  <a:buFont typeface="Wingdings" panose="05000000000000000000" pitchFamily="2" charset="2"/>
                  <a:buChar char="q"/>
                </a:pPr>
                <a:r>
                  <a:rPr lang="en-US" dirty="0">
                    <a:latin typeface="fkGroteskNeue"/>
                  </a:rPr>
                  <a:t>Rapidly evaluate different sizing and bias scenarios.</a:t>
                </a:r>
              </a:p>
              <a:p>
                <a:pPr algn="ctr">
                  <a:buFont typeface="+mj-lt"/>
                  <a:buAutoNum type="arabicPeriod"/>
                </a:pPr>
                <a:r>
                  <a:rPr lang="en-US" b="1" dirty="0">
                    <a:solidFill>
                      <a:srgbClr val="00B050"/>
                    </a:solidFill>
                    <a:latin typeface="fkGroteskNeue"/>
                  </a:rPr>
                  <a:t>Optimize and Validate Analytically:</a:t>
                </a:r>
              </a:p>
              <a:p>
                <a:pPr marL="742950" lvl="1" indent="-285750" algn="just">
                  <a:buFont typeface="Wingdings" panose="05000000000000000000" pitchFamily="2" charset="2"/>
                  <a:buChar char="q"/>
                </a:pPr>
                <a:r>
                  <a:rPr lang="en-US" dirty="0">
                    <a:latin typeface="fkGroteskNeue"/>
                  </a:rPr>
                  <a:t>Confirm that specifications (gain, bandwidth, power, area, noise, etc.) are met via closed-form analysis.</a:t>
                </a:r>
              </a:p>
              <a:p>
                <a:pPr marL="742950" lvl="1" indent="-285750" algn="just">
                  <a:buFont typeface="Wingdings" panose="05000000000000000000" pitchFamily="2" charset="2"/>
                  <a:buChar char="q"/>
                </a:pPr>
                <a:r>
                  <a:rPr lang="en-US" dirty="0">
                    <a:latin typeface="fkGroteskNeue"/>
                  </a:rPr>
                  <a:t>Make iterative changes on paper or in spreadsheets.</a:t>
                </a:r>
              </a:p>
              <a:p>
                <a:pPr marL="342900" indent="-342900" algn="ctr">
                  <a:buFont typeface="Wingdings" panose="05000000000000000000" pitchFamily="2" charset="2"/>
                  <a:buChar char="q"/>
                </a:pPr>
                <a:r>
                  <a:rPr lang="en-US" b="1" dirty="0">
                    <a:solidFill>
                      <a:srgbClr val="00B050"/>
                    </a:solidFill>
                    <a:latin typeface="fkGroteskNeue"/>
                  </a:rPr>
                  <a:t>Translate to Implementation-ready Specifications:</a:t>
                </a:r>
              </a:p>
              <a:p>
                <a:pPr marL="742950" lvl="1" indent="-285750" algn="just">
                  <a:buFont typeface="Wingdings" panose="05000000000000000000" pitchFamily="2" charset="2"/>
                  <a:buChar char="q"/>
                </a:pPr>
                <a:r>
                  <a:rPr lang="en-US" dirty="0">
                    <a:latin typeface="fkGroteskNeue"/>
                  </a:rPr>
                  <a:t>Once a promising solution is identified, prepare a detailed netlist or schematic using chosen W/L, bias currents, etc</a:t>
                </a:r>
                <a:r>
                  <a:rPr lang="en-US" dirty="0" smtClean="0">
                    <a:latin typeface="fkGroteskNeue"/>
                  </a:rPr>
                  <a:t>.</a:t>
                </a:r>
                <a:endParaRPr lang="en-US" dirty="0">
                  <a:latin typeface="fkGroteskNeue"/>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292100" y="1136853"/>
                <a:ext cx="11544300" cy="4985980"/>
              </a:xfrm>
              <a:blipFill>
                <a:blip r:embed="rId2"/>
                <a:stretch>
                  <a:fillRect t="-1467" r="-1214" b="-2689"/>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489314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pPr algn="ctr"/>
            <a:r>
              <a:rPr lang="en-US" dirty="0">
                <a:latin typeface="fkGrotesk"/>
              </a:rPr>
              <a:t>Outer Loop: Simulation and </a:t>
            </a:r>
            <a:r>
              <a:rPr lang="en-US" dirty="0" smtClean="0">
                <a:latin typeface="fkGrotesk"/>
              </a:rPr>
              <a:t>Tuning</a:t>
            </a:r>
            <a:endParaRPr lang="en-US" dirty="0"/>
          </a:p>
        </p:txBody>
      </p:sp>
      <p:sp>
        <p:nvSpPr>
          <p:cNvPr id="3" name="Text Placeholder 2"/>
          <p:cNvSpPr>
            <a:spLocks noGrp="1"/>
          </p:cNvSpPr>
          <p:nvPr>
            <p:ph type="body" idx="1"/>
          </p:nvPr>
        </p:nvSpPr>
        <p:spPr>
          <a:xfrm>
            <a:off x="810684" y="1132619"/>
            <a:ext cx="11017250" cy="4924425"/>
          </a:xfrm>
        </p:spPr>
        <p:txBody>
          <a:bodyPr/>
          <a:lstStyle/>
          <a:p>
            <a:pPr algn="ctr"/>
            <a:r>
              <a:rPr lang="en-US" b="1" dirty="0" smtClean="0">
                <a:solidFill>
                  <a:srgbClr val="C00000"/>
                </a:solidFill>
                <a:latin typeface="fkGroteskNeue"/>
              </a:rPr>
              <a:t>Why </a:t>
            </a:r>
            <a:r>
              <a:rPr lang="en-US" b="1" dirty="0">
                <a:solidFill>
                  <a:srgbClr val="C00000"/>
                </a:solidFill>
                <a:latin typeface="fkGroteskNeue"/>
              </a:rPr>
              <a:t>this phase is challenging:</a:t>
            </a:r>
          </a:p>
          <a:p>
            <a:pPr marL="800100" lvl="1" indent="-342900" algn="l">
              <a:buFont typeface="Wingdings" panose="05000000000000000000" pitchFamily="2" charset="2"/>
              <a:buChar char="q"/>
            </a:pPr>
            <a:r>
              <a:rPr lang="en-US" dirty="0">
                <a:latin typeface="fkGroteskNeue"/>
              </a:rPr>
              <a:t>SPICE simulations are time-consuming and limited in scope.</a:t>
            </a:r>
          </a:p>
          <a:p>
            <a:pPr marL="800100" lvl="1" indent="-342900" algn="l">
              <a:buFont typeface="Wingdings" panose="05000000000000000000" pitchFamily="2" charset="2"/>
              <a:buChar char="q"/>
            </a:pPr>
            <a:r>
              <a:rPr lang="en-US" dirty="0">
                <a:latin typeface="fkGroteskNeue"/>
              </a:rPr>
              <a:t>Each run only allows minor parameter tweaks; cannot broadly explore topologies or sizing.</a:t>
            </a:r>
          </a:p>
          <a:p>
            <a:pPr marL="800100" lvl="1" indent="-342900" algn="l">
              <a:buFont typeface="Wingdings" panose="05000000000000000000" pitchFamily="2" charset="2"/>
              <a:buChar char="q"/>
            </a:pPr>
            <a:r>
              <a:rPr lang="en-US" dirty="0">
                <a:latin typeface="fkGroteskNeue"/>
              </a:rPr>
              <a:t>"Spice Monkeying"—blind, iterative tweaking—wastes time and erodes design intuition</a:t>
            </a:r>
            <a:r>
              <a:rPr lang="en-US" dirty="0" smtClean="0">
                <a:latin typeface="fkGroteskNeue"/>
              </a:rPr>
              <a:t>.</a:t>
            </a:r>
          </a:p>
          <a:p>
            <a:pPr marL="800100" lvl="1" indent="-342900" algn="l">
              <a:buFont typeface="Wingdings" panose="05000000000000000000" pitchFamily="2" charset="2"/>
              <a:buChar char="q"/>
            </a:pPr>
            <a:endParaRPr lang="en-US" dirty="0">
              <a:latin typeface="fkGroteskNeue"/>
            </a:endParaRPr>
          </a:p>
          <a:p>
            <a:pPr algn="ctr"/>
            <a:r>
              <a:rPr lang="en-US" b="1" dirty="0">
                <a:solidFill>
                  <a:srgbClr val="C00000"/>
                </a:solidFill>
                <a:latin typeface="fkGroteskNeue"/>
              </a:rPr>
              <a:t>Typical steps and their pitfalls:</a:t>
            </a:r>
          </a:p>
          <a:p>
            <a:pPr marL="914400" lvl="1" indent="-457200" algn="l">
              <a:buFont typeface="+mj-lt"/>
              <a:buAutoNum type="arabicPeriod"/>
            </a:pPr>
            <a:r>
              <a:rPr lang="en-US" dirty="0">
                <a:latin typeface="fkGroteskNeue"/>
              </a:rPr>
              <a:t>Guess initial W/L, R, C values.</a:t>
            </a:r>
          </a:p>
          <a:p>
            <a:pPr marL="914400" lvl="1" indent="-457200" algn="l">
              <a:buFont typeface="+mj-lt"/>
              <a:buAutoNum type="arabicPeriod"/>
            </a:pPr>
            <a:r>
              <a:rPr lang="en-US" dirty="0">
                <a:latin typeface="fkGroteskNeue"/>
              </a:rPr>
              <a:t>Simulate the design in SPICE.</a:t>
            </a:r>
          </a:p>
          <a:p>
            <a:pPr marL="914400" lvl="1" indent="-457200" algn="l">
              <a:buFont typeface="+mj-lt"/>
              <a:buAutoNum type="arabicPeriod"/>
            </a:pPr>
            <a:r>
              <a:rPr lang="en-US" dirty="0">
                <a:latin typeface="fkGroteskNeue"/>
              </a:rPr>
              <a:t>Check if all specs are met.</a:t>
            </a:r>
          </a:p>
          <a:p>
            <a:pPr marL="914400" lvl="1" indent="-457200" algn="l">
              <a:buFont typeface="+mj-lt"/>
              <a:buAutoNum type="arabicPeriod"/>
            </a:pPr>
            <a:r>
              <a:rPr lang="en-US" dirty="0">
                <a:latin typeface="fkGroteskNeue"/>
              </a:rPr>
              <a:t>If not, adjust W/L, R, C (repeat).</a:t>
            </a:r>
          </a:p>
          <a:p>
            <a:pPr marL="914400" lvl="1" indent="-457200" algn="l">
              <a:buFont typeface="+mj-lt"/>
              <a:buAutoNum type="arabicPeriod"/>
            </a:pPr>
            <a:r>
              <a:rPr lang="en-US" dirty="0">
                <a:latin typeface="fkGroteskNeue"/>
              </a:rPr>
              <a:t>Note: This loop tends to be slow, non-intuitive, and risk missing creative or optimal solutions</a:t>
            </a:r>
            <a:r>
              <a:rPr lang="en-US" dirty="0" smtClean="0">
                <a:latin typeface="fkGroteskNeue"/>
              </a:rPr>
              <a:t>.</a:t>
            </a:r>
          </a:p>
          <a:p>
            <a:pPr marL="914400" lvl="1" indent="-457200" algn="l">
              <a:buFont typeface="+mj-lt"/>
              <a:buAutoNum type="arabicPeriod"/>
            </a:pPr>
            <a:endParaRPr lang="en-US" dirty="0">
              <a:latin typeface="fkGroteskNeue"/>
            </a:endParaRPr>
          </a:p>
          <a:p>
            <a:pPr algn="ctr"/>
            <a:r>
              <a:rPr lang="en-US" b="1" dirty="0">
                <a:solidFill>
                  <a:srgbClr val="C00000"/>
                </a:solidFill>
                <a:latin typeface="fkGroteskNeue"/>
              </a:rPr>
              <a:t>Best practice:</a:t>
            </a:r>
            <a:r>
              <a:rPr lang="en-US" dirty="0">
                <a:latin typeface="fkGroteskNeue"/>
              </a:rPr>
              <a:t/>
            </a:r>
            <a:br>
              <a:rPr lang="en-US" dirty="0">
                <a:latin typeface="fkGroteskNeue"/>
              </a:rPr>
            </a:br>
            <a:r>
              <a:rPr lang="en-US" sz="1800" dirty="0">
                <a:latin typeface="fkGroteskNeue"/>
              </a:rPr>
              <a:t>Always push as many decisions and optimizations as possible into the hand calculations phase, where understanding, flexibility, and speed are maximized. Use simulation to verify and fine-tune, never as the sole method for decision-making.</a:t>
            </a:r>
          </a:p>
          <a:p>
            <a:endParaRPr lang="en-US" dirty="0"/>
          </a:p>
        </p:txBody>
      </p:sp>
      <p:sp>
        <p:nvSpPr>
          <p:cNvPr id="4" name="Footer Placeholder 3"/>
          <p:cNvSpPr>
            <a:spLocks noGrp="1"/>
          </p:cNvSpPr>
          <p:nvPr>
            <p:ph type="ftr" sz="quarter" idx="5"/>
          </p:nvPr>
        </p:nvSpPr>
        <p:spPr>
          <a:xfrm>
            <a:off x="5531610" y="6670491"/>
            <a:ext cx="1415289" cy="1875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72694"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3245830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MOSFET Biasing—Operating </a:t>
            </a:r>
            <a:r>
              <a:rPr lang="en-US" dirty="0" smtClean="0">
                <a:latin typeface="fkGrotesk"/>
              </a:rPr>
              <a:t>Regions</a:t>
            </a:r>
            <a:endParaRPr lang="en-US" dirty="0"/>
          </a:p>
        </p:txBody>
      </p:sp>
      <p:sp>
        <p:nvSpPr>
          <p:cNvPr id="3" name="Text Placeholder 2"/>
          <p:cNvSpPr>
            <a:spLocks noGrp="1"/>
          </p:cNvSpPr>
          <p:nvPr>
            <p:ph type="body" idx="1"/>
          </p:nvPr>
        </p:nvSpPr>
        <p:spPr>
          <a:xfrm>
            <a:off x="599017" y="1251153"/>
            <a:ext cx="7351183" cy="3447098"/>
          </a:xfrm>
        </p:spPr>
        <p:txBody>
          <a:bodyPr/>
          <a:lstStyle/>
          <a:p>
            <a:pPr algn="ctr"/>
            <a:r>
              <a:rPr lang="en-US" b="1" dirty="0" smtClean="0">
                <a:solidFill>
                  <a:srgbClr val="C00000"/>
                </a:solidFill>
                <a:latin typeface="fkGroteskNeue"/>
              </a:rPr>
              <a:t>What I</a:t>
            </a:r>
            <a:r>
              <a:rPr lang="en-US" b="1" baseline="-25000" dirty="0" smtClean="0">
                <a:solidFill>
                  <a:srgbClr val="C00000"/>
                </a:solidFill>
                <a:latin typeface="fkGroteskNeue"/>
              </a:rPr>
              <a:t>D</a:t>
            </a:r>
            <a:r>
              <a:rPr lang="en-US" b="1" dirty="0" smtClean="0">
                <a:solidFill>
                  <a:srgbClr val="C00000"/>
                </a:solidFill>
                <a:latin typeface="fkGroteskNeue"/>
              </a:rPr>
              <a:t> v/s V</a:t>
            </a:r>
            <a:r>
              <a:rPr lang="en-US" b="1" baseline="-25000" dirty="0" smtClean="0">
                <a:solidFill>
                  <a:srgbClr val="C00000"/>
                </a:solidFill>
                <a:latin typeface="fkGroteskNeue"/>
              </a:rPr>
              <a:t>DS</a:t>
            </a:r>
            <a:r>
              <a:rPr lang="en-US" b="1" dirty="0" smtClean="0">
                <a:solidFill>
                  <a:srgbClr val="C00000"/>
                </a:solidFill>
                <a:latin typeface="fkGroteskNeue"/>
              </a:rPr>
              <a:t> curve tell us? </a:t>
            </a:r>
          </a:p>
          <a:p>
            <a:pPr algn="ctr"/>
            <a:endParaRPr lang="en-US" b="1" dirty="0">
              <a:solidFill>
                <a:srgbClr val="C00000"/>
              </a:solidFill>
              <a:latin typeface="fkGroteskNeue"/>
            </a:endParaRPr>
          </a:p>
          <a:p>
            <a:pPr marL="342900" indent="-342900" algn="just">
              <a:spcBef>
                <a:spcPts val="600"/>
              </a:spcBef>
              <a:spcAft>
                <a:spcPts val="600"/>
              </a:spcAft>
              <a:buFont typeface="Wingdings" panose="05000000000000000000" pitchFamily="2" charset="2"/>
              <a:buChar char="q"/>
            </a:pPr>
            <a:r>
              <a:rPr lang="en-US" dirty="0">
                <a:latin typeface="fkGroteskNeue"/>
              </a:rPr>
              <a:t>Plots </a:t>
            </a:r>
            <a:r>
              <a:rPr lang="en-US" i="1" dirty="0" smtClean="0">
                <a:latin typeface="KaTeX_Math"/>
              </a:rPr>
              <a:t>I</a:t>
            </a:r>
            <a:r>
              <a:rPr lang="en-US" i="1" baseline="-25000" dirty="0" smtClean="0">
                <a:latin typeface="KaTeX_Math"/>
              </a:rPr>
              <a:t>D</a:t>
            </a:r>
            <a:r>
              <a:rPr lang="en-US" dirty="0">
                <a:latin typeface="fkGroteskNeue"/>
              </a:rPr>
              <a:t> (drain current) vs. </a:t>
            </a:r>
            <a:r>
              <a:rPr lang="en-US" i="1" dirty="0" smtClean="0">
                <a:latin typeface="KaTeX_Math"/>
              </a:rPr>
              <a:t>V</a:t>
            </a:r>
            <a:r>
              <a:rPr lang="en-US" i="1" baseline="-25000" dirty="0" smtClean="0">
                <a:latin typeface="KaTeX_Math"/>
              </a:rPr>
              <a:t>DS</a:t>
            </a:r>
            <a:r>
              <a:rPr lang="en-US" dirty="0">
                <a:latin typeface="fkGroteskNeue"/>
              </a:rPr>
              <a:t> (drain-source voltage) for various fixed values of </a:t>
            </a:r>
            <a:r>
              <a:rPr lang="en-US" i="1" dirty="0" err="1" smtClean="0">
                <a:latin typeface="KaTeX_Math"/>
              </a:rPr>
              <a:t>V</a:t>
            </a:r>
            <a:r>
              <a:rPr lang="en-US" i="1" baseline="-25000" dirty="0" err="1" smtClean="0">
                <a:latin typeface="KaTeX_Math"/>
              </a:rPr>
              <a:t>ov</a:t>
            </a:r>
            <a:r>
              <a:rPr lang="en-US" dirty="0">
                <a:latin typeface="fkGroteskNeue"/>
              </a:rPr>
              <a:t> (overdrive voltage).</a:t>
            </a:r>
          </a:p>
          <a:p>
            <a:pPr marL="342900" indent="-342900" algn="just">
              <a:spcBef>
                <a:spcPts val="600"/>
              </a:spcBef>
              <a:spcAft>
                <a:spcPts val="600"/>
              </a:spcAft>
              <a:buFont typeface="Wingdings" panose="05000000000000000000" pitchFamily="2" charset="2"/>
              <a:buChar char="q"/>
            </a:pPr>
            <a:r>
              <a:rPr lang="en-US" dirty="0">
                <a:latin typeface="fkGroteskNeue"/>
              </a:rPr>
              <a:t>The plot is divided into three classical regions:</a:t>
            </a:r>
          </a:p>
          <a:p>
            <a:pPr marL="742950" lvl="1" indent="-285750" algn="just">
              <a:spcBef>
                <a:spcPts val="600"/>
              </a:spcBef>
              <a:spcAft>
                <a:spcPts val="600"/>
              </a:spcAft>
              <a:buFont typeface="Wingdings" panose="05000000000000000000" pitchFamily="2" charset="2"/>
              <a:buChar char="q"/>
            </a:pPr>
            <a:r>
              <a:rPr lang="en-US" dirty="0">
                <a:latin typeface="fkGroteskNeue"/>
              </a:rPr>
              <a:t>Cutoff Region</a:t>
            </a:r>
          </a:p>
          <a:p>
            <a:pPr marL="742950" lvl="1" indent="-285750" algn="just">
              <a:spcBef>
                <a:spcPts val="600"/>
              </a:spcBef>
              <a:spcAft>
                <a:spcPts val="600"/>
              </a:spcAft>
              <a:buFont typeface="Wingdings" panose="05000000000000000000" pitchFamily="2" charset="2"/>
              <a:buChar char="q"/>
            </a:pPr>
            <a:r>
              <a:rPr lang="en-US" dirty="0">
                <a:latin typeface="fkGroteskNeue"/>
              </a:rPr>
              <a:t>Linear (Triode) Region</a:t>
            </a:r>
          </a:p>
          <a:p>
            <a:pPr marL="742950" lvl="1" indent="-285750" algn="just">
              <a:spcBef>
                <a:spcPts val="600"/>
              </a:spcBef>
              <a:spcAft>
                <a:spcPts val="600"/>
              </a:spcAft>
              <a:buFont typeface="Wingdings" panose="05000000000000000000" pitchFamily="2" charset="2"/>
              <a:buChar char="q"/>
            </a:pPr>
            <a:r>
              <a:rPr lang="en-US" dirty="0">
                <a:latin typeface="fkGroteskNeue"/>
              </a:rPr>
              <a:t>Saturation Region</a:t>
            </a:r>
          </a:p>
          <a:p>
            <a:endParaRPr lang="en-US" dirty="0"/>
          </a:p>
        </p:txBody>
      </p:sp>
      <p:sp>
        <p:nvSpPr>
          <p:cNvPr id="4" name="Footer Placeholder 3"/>
          <p:cNvSpPr>
            <a:spLocks noGrp="1"/>
          </p:cNvSpPr>
          <p:nvPr>
            <p:ph type="ftr" sz="quarter" idx="5"/>
          </p:nvPr>
        </p:nvSpPr>
        <p:spPr>
          <a:xfrm>
            <a:off x="5410960" y="6492690"/>
            <a:ext cx="1326389" cy="2573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15544" y="64347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2"/>
          <a:srcRect l="6897" t="3162" r="4830" b="2648"/>
          <a:stretch/>
        </p:blipFill>
        <p:spPr>
          <a:xfrm>
            <a:off x="8138159" y="1457960"/>
            <a:ext cx="3576321" cy="2971800"/>
          </a:xfrm>
          <a:prstGeom prst="rect">
            <a:avLst/>
          </a:prstGeom>
        </p:spPr>
      </p:pic>
      <p:sp>
        <p:nvSpPr>
          <p:cNvPr id="9" name="Rectangle 8"/>
          <p:cNvSpPr/>
          <p:nvPr/>
        </p:nvSpPr>
        <p:spPr>
          <a:xfrm>
            <a:off x="8746066" y="942945"/>
            <a:ext cx="2650067"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srgbClr val="00B050"/>
                </a:solidFill>
                <a:effectLst/>
                <a:uLnTx/>
                <a:uFillTx/>
                <a:latin typeface="CMR10"/>
                <a:ea typeface="+mn-ea"/>
                <a:cs typeface="+mn-cs"/>
              </a:rPr>
              <a:t>In the saturation region, </a:t>
            </a:r>
            <a:r>
              <a:rPr kumimoji="0" lang="en-US" sz="1400" b="1" i="0" u="none" strike="noStrike" kern="1200" cap="none" spc="0" normalizeH="0" baseline="0" noProof="0" dirty="0" smtClean="0">
                <a:ln>
                  <a:noFill/>
                </a:ln>
                <a:solidFill>
                  <a:srgbClr val="00B050"/>
                </a:solidFill>
                <a:effectLst/>
                <a:uLnTx/>
                <a:uFillTx/>
                <a:latin typeface="CMMI10"/>
                <a:ea typeface="+mn-ea"/>
                <a:cs typeface="+mn-cs"/>
              </a:rPr>
              <a:t>I</a:t>
            </a:r>
            <a:r>
              <a:rPr kumimoji="0" lang="en-US" sz="1050" b="1" i="0" u="none" strike="noStrike" kern="1200" cap="none" spc="0" normalizeH="0" baseline="0" noProof="0" dirty="0" smtClean="0">
                <a:ln>
                  <a:noFill/>
                </a:ln>
                <a:solidFill>
                  <a:srgbClr val="00B050"/>
                </a:solidFill>
                <a:effectLst/>
                <a:uLnTx/>
                <a:uFillTx/>
                <a:latin typeface="CMMI7"/>
                <a:ea typeface="+mn-ea"/>
                <a:cs typeface="+mn-cs"/>
              </a:rPr>
              <a:t>D </a:t>
            </a:r>
            <a:r>
              <a:rPr kumimoji="0" lang="en-US" sz="1400" b="1" i="0" u="none" strike="noStrike" kern="1200" cap="none" spc="0" normalizeH="0" baseline="0" noProof="0" dirty="0" smtClean="0">
                <a:ln>
                  <a:noFill/>
                </a:ln>
                <a:solidFill>
                  <a:srgbClr val="00B050"/>
                </a:solidFill>
                <a:effectLst/>
                <a:uLnTx/>
                <a:uFillTx/>
                <a:latin typeface="CMR10"/>
                <a:ea typeface="+mn-ea"/>
                <a:cs typeface="+mn-cs"/>
              </a:rPr>
              <a:t>is primarily a function of </a:t>
            </a:r>
            <a:r>
              <a:rPr kumimoji="0" lang="en-US" sz="1400" b="1" i="0" u="none" strike="noStrike" kern="1200" cap="none" spc="0" normalizeH="0" baseline="0" noProof="0" dirty="0" err="1" smtClean="0">
                <a:ln>
                  <a:noFill/>
                </a:ln>
                <a:solidFill>
                  <a:srgbClr val="00B050"/>
                </a:solidFill>
                <a:effectLst/>
                <a:uLnTx/>
                <a:uFillTx/>
                <a:latin typeface="CMMI10"/>
                <a:ea typeface="+mn-ea"/>
                <a:cs typeface="+mn-cs"/>
              </a:rPr>
              <a:t>V</a:t>
            </a:r>
            <a:r>
              <a:rPr kumimoji="0" lang="en-US" sz="1050" b="1" i="0" u="none" strike="noStrike" kern="1200" cap="none" spc="0" normalizeH="0" baseline="0" noProof="0" dirty="0" err="1" smtClean="0">
                <a:ln>
                  <a:noFill/>
                </a:ln>
                <a:solidFill>
                  <a:srgbClr val="00B050"/>
                </a:solidFill>
                <a:effectLst/>
                <a:uLnTx/>
                <a:uFillTx/>
                <a:latin typeface="CMMI7"/>
                <a:ea typeface="+mn-ea"/>
                <a:cs typeface="+mn-cs"/>
              </a:rPr>
              <a:t>gs</a:t>
            </a:r>
            <a:r>
              <a:rPr kumimoji="0" lang="en-US" sz="1400" b="1" i="0" u="none" strike="noStrike" kern="1200" cap="none" spc="0" normalizeH="0" baseline="0" noProof="0" dirty="0" smtClean="0">
                <a:ln>
                  <a:noFill/>
                </a:ln>
                <a:solidFill>
                  <a:srgbClr val="00B050"/>
                </a:solidFill>
                <a:effectLst/>
                <a:uLnTx/>
                <a:uFillTx/>
                <a:latin typeface="CMR10"/>
                <a:ea typeface="+mn-ea"/>
                <a:cs typeface="+mn-cs"/>
              </a:rPr>
              <a:t>.</a:t>
            </a:r>
            <a:endParaRPr kumimoji="0" lang="en-US" sz="3200" b="1" i="0" u="none" strike="noStrike" kern="1200" cap="none" spc="0" normalizeH="0" baseline="0" noProof="0" dirty="0">
              <a:ln>
                <a:noFill/>
              </a:ln>
              <a:solidFill>
                <a:srgbClr val="00B050"/>
              </a:solidFill>
              <a:effectLst/>
              <a:uLnTx/>
              <a:uFillTx/>
              <a:latin typeface="Calibri"/>
              <a:ea typeface="+mn-ea"/>
              <a:cs typeface="+mn-cs"/>
            </a:endParaRPr>
          </a:p>
        </p:txBody>
      </p:sp>
      <p:sp>
        <p:nvSpPr>
          <p:cNvPr id="10" name="Rectangle 9"/>
          <p:cNvSpPr/>
          <p:nvPr/>
        </p:nvSpPr>
        <p:spPr>
          <a:xfrm>
            <a:off x="279400" y="4270571"/>
            <a:ext cx="11599333" cy="186204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smtClean="0">
                <a:ln>
                  <a:noFill/>
                </a:ln>
                <a:solidFill>
                  <a:srgbClr val="C00000"/>
                </a:solidFill>
                <a:effectLst/>
                <a:uLnTx/>
                <a:uFillTx/>
                <a:latin typeface="fkGroteskNeue"/>
                <a:ea typeface="+mn-ea"/>
                <a:cs typeface="+mn-cs"/>
              </a:rPr>
              <a:t>Cutoff Region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smtClean="0">
              <a:ln>
                <a:noFill/>
              </a:ln>
              <a:solidFill>
                <a:srgbClr val="C00000"/>
              </a:solidFill>
              <a:effectLst/>
              <a:uLnTx/>
              <a:uFillTx/>
              <a:latin typeface="fkGroteskNeue"/>
              <a:ea typeface="+mn-ea"/>
              <a:cs typeface="+mn-cs"/>
            </a:endParaRP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Condition: </a:t>
            </a:r>
            <a:r>
              <a:rPr kumimoji="0" lang="en-US" sz="1800" b="0" i="1" u="none" strike="noStrike" kern="1200" cap="none" spc="0" normalizeH="0" baseline="0" noProof="0" dirty="0" err="1" smtClean="0">
                <a:ln>
                  <a:noFill/>
                </a:ln>
                <a:solidFill>
                  <a:prstClr val="black"/>
                </a:solidFill>
                <a:effectLst/>
                <a:uLnTx/>
                <a:uFillTx/>
                <a:latin typeface="KaTeX_Math"/>
                <a:ea typeface="+mn-ea"/>
                <a:cs typeface="+mn-cs"/>
              </a:rPr>
              <a:t>V</a:t>
            </a:r>
            <a:r>
              <a:rPr kumimoji="0" lang="en-US" sz="1800" b="0" i="1" u="none" strike="noStrike" kern="1200" cap="none" spc="0" normalizeH="0" baseline="-25000" noProof="0" dirty="0" err="1" smtClean="0">
                <a:ln>
                  <a:noFill/>
                </a:ln>
                <a:solidFill>
                  <a:prstClr val="black"/>
                </a:solidFill>
                <a:effectLst/>
                <a:uLnTx/>
                <a:uFillTx/>
                <a:latin typeface="KaTeX_Math"/>
                <a:ea typeface="+mn-ea"/>
                <a:cs typeface="+mn-cs"/>
              </a:rPr>
              <a:t>ov</a:t>
            </a:r>
            <a:r>
              <a:rPr kumimoji="0" lang="en-US" sz="1800" b="0" i="0" u="none" strike="noStrike" kern="1200" cap="none" spc="0" normalizeH="0" baseline="0" noProof="0" dirty="0" smtClean="0">
                <a:ln>
                  <a:noFill/>
                </a:ln>
                <a:solidFill>
                  <a:prstClr val="black"/>
                </a:solidFill>
                <a:effectLst/>
                <a:uLnTx/>
                <a:uFillTx/>
                <a:latin typeface="KaTeX_Main"/>
                <a:ea typeface="+mn-ea"/>
                <a:cs typeface="+mn-cs"/>
              </a:rPr>
              <a:t>&lt;0</a:t>
            </a: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 (i.e., </a:t>
            </a:r>
            <a:r>
              <a:rPr kumimoji="0" lang="en-US" sz="1800" b="0" i="1" u="none" strike="noStrike" kern="1200" cap="none" spc="0" normalizeH="0" baseline="0" noProof="0" dirty="0" err="1" smtClean="0">
                <a:ln>
                  <a:noFill/>
                </a:ln>
                <a:solidFill>
                  <a:prstClr val="black"/>
                </a:solidFill>
                <a:effectLst/>
                <a:uLnTx/>
                <a:uFillTx/>
                <a:latin typeface="KaTeX_Math"/>
                <a:ea typeface="+mn-ea"/>
                <a:cs typeface="+mn-cs"/>
              </a:rPr>
              <a:t>V</a:t>
            </a:r>
            <a:r>
              <a:rPr kumimoji="0" lang="en-US" sz="1800" b="0" i="1" u="none" strike="noStrike" kern="1200" cap="none" spc="0" normalizeH="0" baseline="-25000" noProof="0" dirty="0" err="1" smtClean="0">
                <a:ln>
                  <a:noFill/>
                </a:ln>
                <a:solidFill>
                  <a:prstClr val="black"/>
                </a:solidFill>
                <a:effectLst/>
                <a:uLnTx/>
                <a:uFillTx/>
                <a:latin typeface="KaTeX_Math"/>
                <a:ea typeface="+mn-ea"/>
                <a:cs typeface="+mn-cs"/>
              </a:rPr>
              <a:t>gs</a:t>
            </a:r>
            <a:r>
              <a:rPr kumimoji="0" lang="en-US" sz="1800" b="0" i="0" u="none" strike="noStrike" kern="1200" cap="none" spc="0" normalizeH="0" baseline="0" noProof="0" dirty="0" smtClean="0">
                <a:ln>
                  <a:noFill/>
                </a:ln>
                <a:solidFill>
                  <a:prstClr val="black"/>
                </a:solidFill>
                <a:effectLst/>
                <a:uLnTx/>
                <a:uFillTx/>
                <a:latin typeface="KaTeX_Main"/>
                <a:ea typeface="+mn-ea"/>
                <a:cs typeface="+mn-cs"/>
              </a:rPr>
              <a:t>&lt;</a:t>
            </a:r>
            <a:r>
              <a:rPr kumimoji="0" lang="en-US" sz="1800" b="0" i="1" u="none" strike="noStrike" kern="1200" cap="none" spc="0" normalizeH="0" baseline="0" noProof="0" dirty="0" smtClean="0">
                <a:ln>
                  <a:noFill/>
                </a:ln>
                <a:solidFill>
                  <a:prstClr val="black"/>
                </a:solidFill>
                <a:effectLst/>
                <a:uLnTx/>
                <a:uFillTx/>
                <a:latin typeface="KaTeX_Math"/>
                <a:ea typeface="+mn-ea"/>
                <a:cs typeface="+mn-cs"/>
              </a:rPr>
              <a:t>V</a:t>
            </a:r>
            <a:r>
              <a:rPr kumimoji="0" lang="en-US" sz="1800" b="0" i="1" u="none" strike="noStrike" kern="1200" cap="none" spc="0" normalizeH="0" baseline="-25000" noProof="0" dirty="0" smtClean="0">
                <a:ln>
                  <a:noFill/>
                </a:ln>
                <a:solidFill>
                  <a:prstClr val="black"/>
                </a:solidFill>
                <a:effectLst/>
                <a:uLnTx/>
                <a:uFillTx/>
                <a:latin typeface="KaTeX_Math"/>
                <a:ea typeface="+mn-ea"/>
                <a:cs typeface="+mn-cs"/>
              </a:rPr>
              <a:t>T</a:t>
            </a: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a:t>
            </a: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Behavior: Transistor is OFF, no inversion layer has formed, so </a:t>
            </a:r>
            <a:r>
              <a:rPr kumimoji="0" lang="en-US" sz="1800" b="0" i="1" u="none" strike="noStrike" kern="1200" cap="none" spc="0" normalizeH="0" baseline="0" noProof="0" dirty="0" smtClean="0">
                <a:ln>
                  <a:noFill/>
                </a:ln>
                <a:solidFill>
                  <a:prstClr val="black"/>
                </a:solidFill>
                <a:effectLst/>
                <a:uLnTx/>
                <a:uFillTx/>
                <a:latin typeface="KaTeX_Math"/>
                <a:ea typeface="+mn-ea"/>
                <a:cs typeface="+mn-cs"/>
              </a:rPr>
              <a:t>I</a:t>
            </a:r>
            <a:r>
              <a:rPr kumimoji="0" lang="en-US" sz="1800" b="0" i="1" u="none" strike="noStrike" kern="1200" cap="none" spc="0" normalizeH="0" baseline="-25000" noProof="0" dirty="0" smtClean="0">
                <a:ln>
                  <a:noFill/>
                </a:ln>
                <a:solidFill>
                  <a:prstClr val="black"/>
                </a:solidFill>
                <a:effectLst/>
                <a:uLnTx/>
                <a:uFillTx/>
                <a:latin typeface="KaTeX_Math"/>
                <a:ea typeface="+mn-ea"/>
                <a:cs typeface="+mn-cs"/>
              </a:rPr>
              <a:t>D</a:t>
            </a:r>
            <a:r>
              <a:rPr kumimoji="0" lang="en-US" sz="1800" b="0" i="0" u="none" strike="noStrike" kern="1200" cap="none" spc="0" normalizeH="0" baseline="0" noProof="0" dirty="0" smtClean="0">
                <a:ln>
                  <a:noFill/>
                </a:ln>
                <a:solidFill>
                  <a:prstClr val="black"/>
                </a:solidFill>
                <a:effectLst/>
                <a:uLnTx/>
                <a:uFillTx/>
                <a:latin typeface="KaTeX_Main"/>
                <a:ea typeface="+mn-ea"/>
                <a:cs typeface="+mn-cs"/>
              </a:rPr>
              <a:t>=0</a:t>
            </a: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a:t>
            </a:r>
          </a:p>
          <a:p>
            <a:pPr marL="285750" marR="0" lvl="0" indent="-285750" algn="l" defTabSz="914400" rtl="0" eaLnBrk="1" fontAlgn="auto" latinLnBrk="0" hangingPunct="1">
              <a:lnSpc>
                <a:spcPct val="100000"/>
              </a:lnSpc>
              <a:spcBef>
                <a:spcPts val="600"/>
              </a:spcBef>
              <a:spcAft>
                <a:spcPts val="600"/>
              </a:spcAft>
              <a:buClrTx/>
              <a:buSzTx/>
              <a:buFont typeface="Wingdings" panose="05000000000000000000" pitchFamily="2" charset="2"/>
              <a:buChar char="q"/>
              <a:tabLst/>
              <a:defRPr/>
            </a:pPr>
            <a:r>
              <a:rPr kumimoji="0" lang="en-US" sz="1800" b="0" i="0" u="none" strike="noStrike" kern="1200" cap="none" spc="0" normalizeH="0" baseline="0" noProof="0" dirty="0" smtClean="0">
                <a:ln>
                  <a:noFill/>
                </a:ln>
                <a:solidFill>
                  <a:prstClr val="black"/>
                </a:solidFill>
                <a:effectLst/>
                <a:uLnTx/>
                <a:uFillTx/>
                <a:latin typeface="fkGroteskNeue"/>
                <a:ea typeface="+mn-ea"/>
                <a:cs typeface="+mn-cs"/>
              </a:rPr>
              <a:t>Intuitive point: The gate voltage isn't high enough to turn the MOSFET on—no current flows</a:t>
            </a:r>
            <a:endParaRPr kumimoji="0" lang="en-US" sz="1800" b="0" i="0" u="none" strike="noStrike" kern="1200" cap="none" spc="0" normalizeH="0" baseline="0" noProof="0" dirty="0">
              <a:ln>
                <a:noFill/>
              </a:ln>
              <a:solidFill>
                <a:prstClr val="black"/>
              </a:solidFill>
              <a:effectLst/>
              <a:uLnTx/>
              <a:uFillTx/>
              <a:latin typeface="fkGroteskNeue"/>
              <a:ea typeface="+mn-ea"/>
              <a:cs typeface="+mn-cs"/>
            </a:endParaRPr>
          </a:p>
        </p:txBody>
      </p:sp>
    </p:spTree>
    <p:extLst>
      <p:ext uri="{BB962C8B-B14F-4D97-AF65-F5344CB8AC3E}">
        <p14:creationId xmlns:p14="http://schemas.microsoft.com/office/powerpoint/2010/main" val="24435018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592668" y="1327353"/>
            <a:ext cx="10803466" cy="4539704"/>
          </a:xfrm>
        </p:spPr>
        <p:txBody>
          <a:bodyPr/>
          <a:lstStyle/>
          <a:p>
            <a:pPr algn="ctr">
              <a:spcBef>
                <a:spcPts val="600"/>
              </a:spcBef>
              <a:spcAft>
                <a:spcPts val="600"/>
              </a:spcAft>
            </a:pPr>
            <a:r>
              <a:rPr lang="en-US" b="1" dirty="0">
                <a:solidFill>
                  <a:srgbClr val="C00000"/>
                </a:solidFill>
                <a:latin typeface="fkGroteskNeue"/>
              </a:rPr>
              <a:t>Linear (Triode) Region</a:t>
            </a:r>
          </a:p>
          <a:p>
            <a:pPr marL="342900" indent="-342900" algn="l">
              <a:spcBef>
                <a:spcPts val="600"/>
              </a:spcBef>
              <a:spcAft>
                <a:spcPts val="600"/>
              </a:spcAft>
              <a:buFont typeface="Wingdings" panose="05000000000000000000" pitchFamily="2" charset="2"/>
              <a:buChar char="q"/>
            </a:pPr>
            <a:r>
              <a:rPr lang="en-US" dirty="0">
                <a:latin typeface="fkGroteskNeue"/>
              </a:rPr>
              <a:t>Condition: </a:t>
            </a:r>
            <a:r>
              <a:rPr lang="en-US" i="1" dirty="0" err="1" smtClean="0">
                <a:latin typeface="KaTeX_Math"/>
              </a:rPr>
              <a:t>V</a:t>
            </a:r>
            <a:r>
              <a:rPr lang="en-US" i="1" baseline="-25000" dirty="0" err="1" smtClean="0">
                <a:latin typeface="KaTeX_Math"/>
              </a:rPr>
              <a:t>ov</a:t>
            </a:r>
            <a:r>
              <a:rPr lang="en-US" i="1" baseline="-25000" dirty="0" smtClean="0">
                <a:latin typeface="KaTeX_Math"/>
              </a:rPr>
              <a:t> </a:t>
            </a:r>
            <a:r>
              <a:rPr lang="en-US" dirty="0" smtClean="0">
                <a:latin typeface="KaTeX_Main"/>
              </a:rPr>
              <a:t>≥ 0</a:t>
            </a:r>
            <a:r>
              <a:rPr lang="en-US" dirty="0">
                <a:latin typeface="fkGroteskNeue"/>
              </a:rPr>
              <a:t> and </a:t>
            </a:r>
            <a:r>
              <a:rPr lang="en-US" i="1" dirty="0" err="1" smtClean="0">
                <a:latin typeface="KaTeX_Math"/>
              </a:rPr>
              <a:t>V</a:t>
            </a:r>
            <a:r>
              <a:rPr lang="en-US" i="1" baseline="-25000" dirty="0" err="1" smtClean="0">
                <a:latin typeface="KaTeX_Math"/>
              </a:rPr>
              <a:t>ds</a:t>
            </a:r>
            <a:r>
              <a:rPr lang="en-US" dirty="0" smtClean="0">
                <a:latin typeface="KaTeX_Main"/>
              </a:rPr>
              <a:t>&lt; </a:t>
            </a:r>
            <a:r>
              <a:rPr lang="en-US" i="1" dirty="0" err="1" smtClean="0">
                <a:latin typeface="KaTeX_Math"/>
              </a:rPr>
              <a:t>V</a:t>
            </a:r>
            <a:r>
              <a:rPr lang="en-US" i="1" baseline="-25000" dirty="0" err="1" smtClean="0">
                <a:latin typeface="KaTeX_Math"/>
              </a:rPr>
              <a:t>sat</a:t>
            </a:r>
            <a:r>
              <a:rPr lang="en-US" dirty="0">
                <a:latin typeface="fkGroteskNeue"/>
              </a:rPr>
              <a:t> (not fully pinched-off)</a:t>
            </a:r>
          </a:p>
          <a:p>
            <a:pPr marL="342900" indent="-342900" algn="l">
              <a:spcBef>
                <a:spcPts val="600"/>
              </a:spcBef>
              <a:spcAft>
                <a:spcPts val="600"/>
              </a:spcAft>
              <a:buFont typeface="Wingdings" panose="05000000000000000000" pitchFamily="2" charset="2"/>
              <a:buChar char="q"/>
            </a:pPr>
            <a:r>
              <a:rPr lang="en-US" dirty="0">
                <a:latin typeface="fkGroteskNeue"/>
              </a:rPr>
              <a:t>Behavior: </a:t>
            </a:r>
            <a:r>
              <a:rPr lang="en-US" dirty="0" smtClean="0">
                <a:latin typeface="fkGroteskNeue"/>
              </a:rPr>
              <a:t>The Transistor </a:t>
            </a:r>
            <a:r>
              <a:rPr lang="en-US" dirty="0">
                <a:latin typeface="fkGroteskNeue"/>
              </a:rPr>
              <a:t>acts as a voltage-controlled resistor. Current is determined </a:t>
            </a:r>
            <a:r>
              <a:rPr lang="en-US" dirty="0" smtClean="0">
                <a:latin typeface="fkGroteskNeue"/>
              </a:rPr>
              <a:t>by both</a:t>
            </a:r>
            <a:r>
              <a:rPr lang="en-US" dirty="0">
                <a:latin typeface="fkGroteskNeue"/>
              </a:rPr>
              <a:t> </a:t>
            </a:r>
            <a:r>
              <a:rPr lang="en-US" i="1" dirty="0" err="1" smtClean="0">
                <a:latin typeface="KaTeX_Math"/>
              </a:rPr>
              <a:t>V</a:t>
            </a:r>
            <a:r>
              <a:rPr lang="en-US" i="1" baseline="-25000" dirty="0" err="1" smtClean="0">
                <a:latin typeface="KaTeX_Math"/>
              </a:rPr>
              <a:t>ds</a:t>
            </a:r>
            <a:r>
              <a:rPr lang="en-US" dirty="0">
                <a:latin typeface="fkGroteskNeue"/>
              </a:rPr>
              <a:t> and </a:t>
            </a:r>
            <a:r>
              <a:rPr lang="en-US" i="1" dirty="0" err="1" smtClean="0">
                <a:latin typeface="KaTeX_Math"/>
              </a:rPr>
              <a:t>V</a:t>
            </a:r>
            <a:r>
              <a:rPr lang="en-US" i="1" baseline="-25000" dirty="0" err="1" smtClean="0">
                <a:latin typeface="KaTeX_Math"/>
              </a:rPr>
              <a:t>ov</a:t>
            </a:r>
            <a:r>
              <a:rPr lang="en-US" dirty="0" smtClean="0">
                <a:latin typeface="fkGroteskNeue"/>
              </a:rPr>
              <a:t>:</a:t>
            </a:r>
          </a:p>
          <a:p>
            <a:pPr marL="342900" indent="-342900" algn="l">
              <a:spcBef>
                <a:spcPts val="600"/>
              </a:spcBef>
              <a:spcAft>
                <a:spcPts val="600"/>
              </a:spcAft>
              <a:buFont typeface="Arial" panose="020B0604020202020204" pitchFamily="34" charset="0"/>
              <a:buChar char="•"/>
            </a:pPr>
            <a:endParaRPr lang="en-US" dirty="0">
              <a:latin typeface="fkGroteskNeue"/>
            </a:endParaRPr>
          </a:p>
          <a:p>
            <a:pPr lvl="1" algn="l">
              <a:spcBef>
                <a:spcPts val="600"/>
              </a:spcBef>
              <a:spcAft>
                <a:spcPts val="600"/>
              </a:spcAft>
            </a:pPr>
            <a:r>
              <a:rPr lang="en-US" sz="2000" dirty="0" smtClean="0">
                <a:latin typeface="fkGroteskNeue"/>
              </a:rPr>
              <a:t>Intuitive </a:t>
            </a:r>
            <a:r>
              <a:rPr lang="en-US" sz="2000" dirty="0">
                <a:latin typeface="fkGroteskNeue"/>
              </a:rPr>
              <a:t>point: MOSFET can pass current, but how much depends linearly on </a:t>
            </a:r>
            <a:r>
              <a:rPr lang="en-US" sz="2000" i="1" dirty="0" err="1" smtClean="0">
                <a:latin typeface="KaTeX_Math"/>
              </a:rPr>
              <a:t>V</a:t>
            </a:r>
            <a:r>
              <a:rPr lang="en-US" sz="2000" i="1" baseline="-25000" dirty="0" err="1" smtClean="0">
                <a:latin typeface="KaTeX_Math"/>
              </a:rPr>
              <a:t>ds</a:t>
            </a:r>
            <a:r>
              <a:rPr lang="en-US" sz="2000" dirty="0">
                <a:latin typeface="fkGroteskNeue"/>
              </a:rPr>
              <a:t> for small values (hence "linear region</a:t>
            </a:r>
            <a:r>
              <a:rPr lang="en-US" sz="2000" dirty="0" smtClean="0">
                <a:latin typeface="fkGroteskNeue"/>
              </a:rPr>
              <a:t>").</a:t>
            </a: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a:latin typeface="fkGroteskNeue"/>
              </a:rPr>
              <a:t>You can also define ON-resistance</a:t>
            </a:r>
            <a:r>
              <a:rPr lang="en-US" dirty="0" smtClean="0">
                <a:latin typeface="fkGroteskNeue"/>
              </a:rPr>
              <a:t>:</a:t>
            </a:r>
          </a:p>
          <a:p>
            <a:pPr algn="l">
              <a:spcBef>
                <a:spcPts val="600"/>
              </a:spcBef>
              <a:spcAft>
                <a:spcPts val="600"/>
              </a:spcAft>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Useful </a:t>
            </a:r>
            <a:r>
              <a:rPr lang="en-US" dirty="0">
                <a:latin typeface="fkGroteskNeue"/>
              </a:rPr>
              <a:t>for switches (digital logic, switched-cap circuits)</a:t>
            </a:r>
          </a:p>
          <a:p>
            <a:endParaRPr lang="en-US" dirty="0"/>
          </a:p>
        </p:txBody>
      </p:sp>
      <p:sp>
        <p:nvSpPr>
          <p:cNvPr id="4" name="Footer Placeholder 3"/>
          <p:cNvSpPr>
            <a:spLocks noGrp="1"/>
          </p:cNvSpPr>
          <p:nvPr>
            <p:ph type="ftr" sz="quarter" idx="5"/>
          </p:nvPr>
        </p:nvSpPr>
        <p:spPr>
          <a:xfrm>
            <a:off x="5468110" y="6499040"/>
            <a:ext cx="1358139" cy="2510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67944" y="64157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628958" y="2716727"/>
            <a:ext cx="2953550" cy="644540"/>
          </a:xfrm>
          <a:prstGeom prst="rect">
            <a:avLst/>
          </a:prstGeom>
        </p:spPr>
      </p:pic>
      <p:pic>
        <p:nvPicPr>
          <p:cNvPr id="8" name="Picture 7"/>
          <p:cNvPicPr>
            <a:picLocks noChangeAspect="1"/>
          </p:cNvPicPr>
          <p:nvPr/>
        </p:nvPicPr>
        <p:blipFill>
          <a:blip r:embed="rId3"/>
          <a:stretch>
            <a:fillRect/>
          </a:stretch>
        </p:blipFill>
        <p:spPr>
          <a:xfrm>
            <a:off x="5244013" y="4101029"/>
            <a:ext cx="1339065" cy="665706"/>
          </a:xfrm>
          <a:prstGeom prst="rect">
            <a:avLst/>
          </a:prstGeom>
        </p:spPr>
      </p:pic>
    </p:spTree>
    <p:extLst>
      <p:ext uri="{BB962C8B-B14F-4D97-AF65-F5344CB8AC3E}">
        <p14:creationId xmlns:p14="http://schemas.microsoft.com/office/powerpoint/2010/main" val="3683942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36083" y="1335821"/>
            <a:ext cx="10619317" cy="3354765"/>
          </a:xfrm>
        </p:spPr>
        <p:txBody>
          <a:bodyPr/>
          <a:lstStyle/>
          <a:p>
            <a:pPr algn="ctr"/>
            <a:r>
              <a:rPr lang="en-US" b="1" dirty="0">
                <a:solidFill>
                  <a:srgbClr val="C00000"/>
                </a:solidFill>
                <a:latin typeface="fkGroteskNeue"/>
              </a:rPr>
              <a:t>Saturation </a:t>
            </a:r>
            <a:r>
              <a:rPr lang="en-US" b="1" dirty="0" smtClean="0">
                <a:solidFill>
                  <a:srgbClr val="C00000"/>
                </a:solidFill>
                <a:latin typeface="fkGroteskNeue"/>
              </a:rPr>
              <a:t>Region</a:t>
            </a:r>
          </a:p>
          <a:p>
            <a:pPr algn="just"/>
            <a:endParaRPr lang="en-US" b="1" dirty="0">
              <a:solidFill>
                <a:srgbClr val="C00000"/>
              </a:solidFill>
              <a:latin typeface="fkGroteskNeue"/>
            </a:endParaRPr>
          </a:p>
          <a:p>
            <a:pPr marL="742950" lvl="1" indent="-285750" algn="just">
              <a:spcBef>
                <a:spcPts val="600"/>
              </a:spcBef>
              <a:spcAft>
                <a:spcPts val="600"/>
              </a:spcAft>
              <a:buFont typeface="Wingdings" panose="05000000000000000000" pitchFamily="2" charset="2"/>
              <a:buChar char="q"/>
            </a:pPr>
            <a:r>
              <a:rPr lang="en-US" dirty="0">
                <a:latin typeface="fkGroteskNeue"/>
              </a:rPr>
              <a:t>Condition: </a:t>
            </a:r>
            <a:r>
              <a:rPr lang="en-US" i="1" dirty="0" smtClean="0">
                <a:latin typeface="KaTeX_Math"/>
              </a:rPr>
              <a:t>V</a:t>
            </a:r>
            <a:r>
              <a:rPr lang="en-US" i="1" baseline="-25000" dirty="0" smtClean="0">
                <a:latin typeface="KaTeX_Math"/>
              </a:rPr>
              <a:t>ov</a:t>
            </a:r>
            <a:r>
              <a:rPr lang="en-US" dirty="0">
                <a:latin typeface="KaTeX_Main"/>
              </a:rPr>
              <a:t>≥0</a:t>
            </a:r>
            <a:r>
              <a:rPr lang="en-US" dirty="0">
                <a:latin typeface="fkGroteskNeue"/>
              </a:rPr>
              <a:t> and </a:t>
            </a:r>
            <a:r>
              <a:rPr lang="en-US" i="1" dirty="0" err="1" smtClean="0">
                <a:latin typeface="KaTeX_Math"/>
              </a:rPr>
              <a:t>V</a:t>
            </a:r>
            <a:r>
              <a:rPr lang="en-US" i="1" baseline="-25000" dirty="0" err="1" smtClean="0">
                <a:latin typeface="KaTeX_Math"/>
              </a:rPr>
              <a:t>ds</a:t>
            </a:r>
            <a:r>
              <a:rPr lang="en-US" dirty="0" err="1">
                <a:latin typeface="KaTeX_Main"/>
              </a:rPr>
              <a:t>≥</a:t>
            </a:r>
            <a:r>
              <a:rPr lang="en-US" i="1" dirty="0" err="1">
                <a:latin typeface="KaTeX_Math"/>
              </a:rPr>
              <a:t>V</a:t>
            </a:r>
            <a:r>
              <a:rPr lang="en-US" i="1" baseline="-25000" dirty="0" err="1">
                <a:latin typeface="KaTeX_Math"/>
              </a:rPr>
              <a:t>sat</a:t>
            </a:r>
            <a:endParaRPr lang="en-US" baseline="-25000" dirty="0">
              <a:latin typeface="fkGroteskNeue"/>
            </a:endParaRPr>
          </a:p>
          <a:p>
            <a:pPr marL="742950" lvl="1" indent="-285750" algn="just">
              <a:spcBef>
                <a:spcPts val="600"/>
              </a:spcBef>
              <a:spcAft>
                <a:spcPts val="600"/>
              </a:spcAft>
              <a:buFont typeface="Wingdings" panose="05000000000000000000" pitchFamily="2" charset="2"/>
              <a:buChar char="q"/>
            </a:pPr>
            <a:r>
              <a:rPr lang="en-US" dirty="0">
                <a:latin typeface="fkGroteskNeue"/>
              </a:rPr>
              <a:t>Behavior: Channel pinches off near drain, current depends only on gate voltage (not on </a:t>
            </a:r>
            <a:r>
              <a:rPr lang="en-US" i="1" dirty="0" err="1" smtClean="0">
                <a:latin typeface="KaTeX_Math"/>
              </a:rPr>
              <a:t>V</a:t>
            </a:r>
            <a:r>
              <a:rPr lang="en-US" i="1" baseline="-25000" dirty="0" err="1" smtClean="0">
                <a:latin typeface="KaTeX_Math"/>
              </a:rPr>
              <a:t>ds</a:t>
            </a:r>
            <a:r>
              <a:rPr lang="en-US" dirty="0" smtClean="0">
                <a:latin typeface="fkGroteskNeue"/>
              </a:rPr>
              <a:t>):</a:t>
            </a:r>
          </a:p>
          <a:p>
            <a:pPr marL="742950" lvl="1" indent="-285750" algn="just">
              <a:spcBef>
                <a:spcPts val="600"/>
              </a:spcBef>
              <a:spcAft>
                <a:spcPts val="600"/>
              </a:spcAft>
              <a:buFont typeface="Arial" panose="020B0604020202020204" pitchFamily="34" charset="0"/>
              <a:buChar char="•"/>
            </a:pPr>
            <a:endParaRPr lang="en-US" dirty="0" smtClean="0">
              <a:latin typeface="fkGroteskNeue"/>
            </a:endParaRPr>
          </a:p>
          <a:p>
            <a:pPr lvl="1" algn="just">
              <a:spcBef>
                <a:spcPts val="600"/>
              </a:spcBef>
              <a:spcAft>
                <a:spcPts val="600"/>
              </a:spcAft>
            </a:pPr>
            <a:endParaRPr lang="en-US" dirty="0">
              <a:latin typeface="fkGroteskNeue"/>
            </a:endParaRPr>
          </a:p>
          <a:p>
            <a:pPr marL="742950" lvl="1" indent="-285750" algn="just">
              <a:spcBef>
                <a:spcPts val="600"/>
              </a:spcBef>
              <a:spcAft>
                <a:spcPts val="600"/>
              </a:spcAft>
              <a:buFont typeface="Wingdings" panose="05000000000000000000" pitchFamily="2" charset="2"/>
              <a:buChar char="q"/>
            </a:pPr>
            <a:r>
              <a:rPr lang="en-US" dirty="0" smtClean="0">
                <a:latin typeface="fkGroteskNeue"/>
              </a:rPr>
              <a:t>Intuitive </a:t>
            </a:r>
            <a:r>
              <a:rPr lang="en-US" dirty="0">
                <a:latin typeface="fkGroteskNeue"/>
              </a:rPr>
              <a:t>point: Most analog building blocks (amplifiers, active loads) operate here for predictability—the gate voltage alone sets the current.</a:t>
            </a:r>
          </a:p>
          <a:p>
            <a:endParaRPr lang="en-US" dirty="0"/>
          </a:p>
        </p:txBody>
      </p:sp>
      <p:sp>
        <p:nvSpPr>
          <p:cNvPr id="4" name="Footer Placeholder 3"/>
          <p:cNvSpPr>
            <a:spLocks noGrp="1"/>
          </p:cNvSpPr>
          <p:nvPr>
            <p:ph type="ftr" sz="quarter" idx="5"/>
          </p:nvPr>
        </p:nvSpPr>
        <p:spPr>
          <a:xfrm>
            <a:off x="5449060" y="6467290"/>
            <a:ext cx="1377189" cy="2446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29844" y="64347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442839" y="2908283"/>
            <a:ext cx="1714588" cy="635033"/>
          </a:xfrm>
          <a:prstGeom prst="rect">
            <a:avLst/>
          </a:prstGeom>
        </p:spPr>
      </p:pic>
    </p:spTree>
    <p:extLst>
      <p:ext uri="{BB962C8B-B14F-4D97-AF65-F5344CB8AC3E}">
        <p14:creationId xmlns:p14="http://schemas.microsoft.com/office/powerpoint/2010/main" val="33312350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Saturation-centric Transistor </a:t>
            </a:r>
            <a:r>
              <a:rPr lang="en-US" dirty="0" smtClean="0">
                <a:latin typeface="fkGrotesk"/>
              </a:rPr>
              <a:t>Biasing</a:t>
            </a:r>
            <a:endParaRPr lang="en-US" dirty="0"/>
          </a:p>
        </p:txBody>
      </p:sp>
      <p:sp>
        <p:nvSpPr>
          <p:cNvPr id="3" name="Text Placeholder 2"/>
          <p:cNvSpPr>
            <a:spLocks noGrp="1"/>
          </p:cNvSpPr>
          <p:nvPr>
            <p:ph type="body" idx="1"/>
          </p:nvPr>
        </p:nvSpPr>
        <p:spPr>
          <a:xfrm>
            <a:off x="734484" y="1191887"/>
            <a:ext cx="6623049" cy="2985433"/>
          </a:xfrm>
        </p:spPr>
        <p:txBody>
          <a:bodyPr/>
          <a:lstStyle/>
          <a:p>
            <a:pPr algn="ctr"/>
            <a:r>
              <a:rPr lang="en-US" b="1" dirty="0" smtClean="0">
                <a:solidFill>
                  <a:srgbClr val="C00000"/>
                </a:solidFill>
                <a:latin typeface="fkGroteskNeue"/>
              </a:rPr>
              <a:t>Motivation:</a:t>
            </a:r>
            <a:endParaRPr lang="en-US" b="1" dirty="0">
              <a:solidFill>
                <a:srgbClr val="C00000"/>
              </a:solidFill>
              <a:latin typeface="fkGroteskNeue"/>
            </a:endParaRPr>
          </a:p>
          <a:p>
            <a:pPr marL="342900" indent="-342900" algn="just">
              <a:buFont typeface="Wingdings" panose="05000000000000000000" pitchFamily="2" charset="2"/>
              <a:buChar char="q"/>
            </a:pPr>
            <a:r>
              <a:rPr lang="en-US" i="1" dirty="0" smtClean="0">
                <a:latin typeface="KaTeX_Math"/>
              </a:rPr>
              <a:t>I</a:t>
            </a:r>
            <a:r>
              <a:rPr lang="en-US" i="1" baseline="-25000" dirty="0" smtClean="0">
                <a:latin typeface="KaTeX_Math"/>
              </a:rPr>
              <a:t>D</a:t>
            </a:r>
            <a:r>
              <a:rPr lang="en-US" dirty="0">
                <a:latin typeface="fkGroteskNeue"/>
              </a:rPr>
              <a:t> vs. </a:t>
            </a:r>
            <a:r>
              <a:rPr lang="en-US" i="1" dirty="0" err="1" smtClean="0">
                <a:latin typeface="KaTeX_Math"/>
              </a:rPr>
              <a:t>V</a:t>
            </a:r>
            <a:r>
              <a:rPr lang="en-US" i="1" baseline="-25000" dirty="0" err="1" smtClean="0">
                <a:latin typeface="KaTeX_Math"/>
              </a:rPr>
              <a:t>ov</a:t>
            </a:r>
            <a:r>
              <a:rPr lang="en-US" dirty="0">
                <a:latin typeface="fkGroteskNeue"/>
              </a:rPr>
              <a:t> in the saturation region, emphasizing quadratic relationship and showing that the slope at any </a:t>
            </a:r>
            <a:r>
              <a:rPr lang="en-US" i="1" dirty="0" err="1" smtClean="0">
                <a:latin typeface="KaTeX_Math"/>
              </a:rPr>
              <a:t>V</a:t>
            </a:r>
            <a:r>
              <a:rPr lang="en-US" i="1" baseline="-25000" dirty="0" err="1" smtClean="0">
                <a:latin typeface="KaTeX_Math"/>
              </a:rPr>
              <a:t>ov</a:t>
            </a:r>
            <a:r>
              <a:rPr lang="en-US" dirty="0">
                <a:latin typeface="fkGroteskNeue"/>
              </a:rPr>
              <a:t> is </a:t>
            </a:r>
            <a:r>
              <a:rPr lang="en-US" i="1" dirty="0" smtClean="0">
                <a:latin typeface="KaTeX_Math"/>
              </a:rPr>
              <a:t>g</a:t>
            </a:r>
            <a:r>
              <a:rPr lang="en-US" i="1" baseline="-25000" dirty="0" smtClean="0">
                <a:latin typeface="KaTeX_Math"/>
              </a:rPr>
              <a:t>m</a:t>
            </a:r>
            <a:r>
              <a:rPr lang="en-US" dirty="0">
                <a:latin typeface="fkGroteskNeue"/>
              </a:rPr>
              <a:t> (</a:t>
            </a:r>
            <a:r>
              <a:rPr lang="en-US" dirty="0" err="1">
                <a:latin typeface="fkGroteskNeue"/>
              </a:rPr>
              <a:t>transconductance</a:t>
            </a:r>
            <a:r>
              <a:rPr lang="en-US" dirty="0">
                <a:latin typeface="fkGroteskNeue"/>
              </a:rPr>
              <a:t>).</a:t>
            </a:r>
          </a:p>
          <a:p>
            <a:pPr marL="342900" indent="-342900" algn="just">
              <a:buFont typeface="Wingdings" panose="05000000000000000000" pitchFamily="2" charset="2"/>
              <a:buChar char="q"/>
            </a:pPr>
            <a:r>
              <a:rPr lang="en-US" dirty="0">
                <a:latin typeface="fkGroteskNeue"/>
              </a:rPr>
              <a:t>Saturation region is crucial for analog design (except switches).</a:t>
            </a:r>
          </a:p>
          <a:p>
            <a:pPr marL="342900" indent="-342900" algn="ctr">
              <a:buFont typeface="Wingdings" panose="05000000000000000000" pitchFamily="2" charset="2"/>
              <a:buChar char="q"/>
            </a:pPr>
            <a:r>
              <a:rPr lang="en-US" b="1" dirty="0">
                <a:solidFill>
                  <a:srgbClr val="C00000"/>
                </a:solidFill>
                <a:latin typeface="fkGroteskNeue"/>
              </a:rPr>
              <a:t>As </a:t>
            </a:r>
            <a:r>
              <a:rPr lang="en-US" b="1" i="1" dirty="0" err="1" smtClean="0">
                <a:solidFill>
                  <a:srgbClr val="C00000"/>
                </a:solidFill>
                <a:latin typeface="KaTeX_Math"/>
              </a:rPr>
              <a:t>V</a:t>
            </a:r>
            <a:r>
              <a:rPr lang="en-US" b="1" i="1" baseline="-25000" dirty="0" err="1" smtClean="0">
                <a:solidFill>
                  <a:srgbClr val="C00000"/>
                </a:solidFill>
                <a:latin typeface="KaTeX_Math"/>
              </a:rPr>
              <a:t>ov</a:t>
            </a:r>
            <a:r>
              <a:rPr lang="en-US" b="1" dirty="0">
                <a:solidFill>
                  <a:srgbClr val="C00000"/>
                </a:solidFill>
                <a:latin typeface="fkGroteskNeue"/>
              </a:rPr>
              <a:t> increases:</a:t>
            </a:r>
          </a:p>
          <a:p>
            <a:pPr marL="742950" lvl="1" indent="-285750" algn="just">
              <a:buFont typeface="Wingdings" panose="05000000000000000000" pitchFamily="2" charset="2"/>
              <a:buChar char="q"/>
            </a:pPr>
            <a:r>
              <a:rPr lang="en-US" i="1" dirty="0" smtClean="0">
                <a:latin typeface="KaTeX_Math"/>
              </a:rPr>
              <a:t>I</a:t>
            </a:r>
            <a:r>
              <a:rPr lang="en-US" i="1" baseline="-25000" dirty="0" smtClean="0">
                <a:latin typeface="KaTeX_Math"/>
              </a:rPr>
              <a:t>D</a:t>
            </a:r>
            <a:r>
              <a:rPr lang="en-US" dirty="0">
                <a:latin typeface="fkGroteskNeue"/>
              </a:rPr>
              <a:t> increases </a:t>
            </a:r>
            <a:r>
              <a:rPr lang="en-US" dirty="0" err="1">
                <a:latin typeface="fkGroteskNeue"/>
              </a:rPr>
              <a:t>quadratically</a:t>
            </a:r>
            <a:r>
              <a:rPr lang="en-US" dirty="0">
                <a:latin typeface="fkGroteskNeue"/>
              </a:rPr>
              <a:t>.</a:t>
            </a:r>
          </a:p>
          <a:p>
            <a:pPr marL="742950" lvl="1" indent="-285750" algn="just">
              <a:buFont typeface="Wingdings" panose="05000000000000000000" pitchFamily="2" charset="2"/>
              <a:buChar char="q"/>
            </a:pPr>
            <a:r>
              <a:rPr lang="en-US" i="1" dirty="0" smtClean="0">
                <a:latin typeface="KaTeX_Math"/>
              </a:rPr>
              <a:t>g</a:t>
            </a:r>
            <a:r>
              <a:rPr lang="en-US" i="1" baseline="-25000" dirty="0" smtClean="0">
                <a:latin typeface="KaTeX_Math"/>
              </a:rPr>
              <a:t>m</a:t>
            </a:r>
            <a:r>
              <a:rPr lang="en-US" dirty="0" smtClean="0">
                <a:latin typeface="fkGroteskNeue"/>
              </a:rPr>
              <a:t>—the </a:t>
            </a:r>
            <a:r>
              <a:rPr lang="en-US" dirty="0">
                <a:latin typeface="fkGroteskNeue"/>
              </a:rPr>
              <a:t>slope—even increases with </a:t>
            </a:r>
            <a:r>
              <a:rPr lang="en-US" i="1" dirty="0" err="1" smtClean="0">
                <a:latin typeface="KaTeX_Math"/>
              </a:rPr>
              <a:t>V</a:t>
            </a:r>
            <a:r>
              <a:rPr lang="en-US" i="1" baseline="-25000" dirty="0" err="1" smtClean="0">
                <a:latin typeface="KaTeX_Math"/>
              </a:rPr>
              <a:t>ov</a:t>
            </a:r>
            <a:r>
              <a:rPr lang="en-US" dirty="0">
                <a:latin typeface="fkGroteskNeue"/>
              </a:rPr>
              <a:t>, indicating a stronger, more sensitive device</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a:xfrm>
            <a:off x="5430010" y="6524440"/>
            <a:ext cx="14279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52044" y="64474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450582" y="1227598"/>
            <a:ext cx="4284218" cy="3493284"/>
          </a:xfrm>
          <a:prstGeom prst="rect">
            <a:avLst/>
          </a:prstGeom>
        </p:spPr>
      </p:pic>
      <p:sp>
        <p:nvSpPr>
          <p:cNvPr id="8" name="Rectangle 7"/>
          <p:cNvSpPr/>
          <p:nvPr/>
        </p:nvSpPr>
        <p:spPr>
          <a:xfrm>
            <a:off x="7666062" y="994490"/>
            <a:ext cx="4122988"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smtClean="0">
                <a:ln>
                  <a:noFill/>
                </a:ln>
                <a:solidFill>
                  <a:srgbClr val="00B050"/>
                </a:solidFill>
                <a:effectLst/>
                <a:uLnTx/>
                <a:uFillTx/>
                <a:latin typeface="CMR10"/>
                <a:ea typeface="+mn-ea"/>
                <a:cs typeface="+mn-cs"/>
              </a:rPr>
              <a:t>A saturation-centric view of transistor biasing.</a:t>
            </a:r>
            <a:endParaRPr kumimoji="0" lang="en-US" sz="3200" b="1" i="0" u="none" strike="noStrike" kern="1200" cap="none" spc="0" normalizeH="0" baseline="0" noProof="0" dirty="0">
              <a:ln>
                <a:noFill/>
              </a:ln>
              <a:solidFill>
                <a:srgbClr val="00B050"/>
              </a:solidFill>
              <a:effectLst/>
              <a:uLnTx/>
              <a:uFillTx/>
              <a:latin typeface="Calibri"/>
              <a:ea typeface="+mn-ea"/>
              <a:cs typeface="+mn-cs"/>
            </a:endParaRPr>
          </a:p>
        </p:txBody>
      </p:sp>
      <p:sp>
        <p:nvSpPr>
          <p:cNvPr id="9" name="Rectangle 8"/>
          <p:cNvSpPr/>
          <p:nvPr/>
        </p:nvSpPr>
        <p:spPr>
          <a:xfrm>
            <a:off x="601133" y="4694705"/>
            <a:ext cx="11116734" cy="132343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srgbClr val="C00000"/>
                </a:solidFill>
                <a:effectLst/>
                <a:uLnTx/>
                <a:uFillTx/>
                <a:latin typeface="fkGroteskNeue"/>
                <a:ea typeface="+mn-ea"/>
                <a:cs typeface="+mn-cs"/>
              </a:rPr>
              <a:t>Key Intuitive Takeaways:</a:t>
            </a:r>
          </a:p>
          <a:p>
            <a:pPr marL="800100" marR="0" lvl="1"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0" cap="none" spc="0" normalizeH="0" baseline="0" noProof="0" dirty="0">
                <a:ln>
                  <a:noFill/>
                </a:ln>
                <a:solidFill>
                  <a:prstClr val="black"/>
                </a:solidFill>
                <a:effectLst/>
                <a:uLnTx/>
                <a:uFillTx/>
                <a:latin typeface="fkGroteskNeue"/>
                <a:ea typeface="+mn-ea"/>
                <a:cs typeface="+mn-cs"/>
              </a:rPr>
              <a:t>Biasing in saturation gives precise control over current based solely on gate voltage.</a:t>
            </a:r>
          </a:p>
          <a:p>
            <a:pPr marL="800100" marR="0" lvl="1" indent="-342900" algn="just"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0" lang="en-US" sz="2000" b="0" i="0" u="none" strike="noStrike" kern="0" cap="none" spc="0" normalizeH="0" baseline="0" noProof="0" dirty="0">
                <a:ln>
                  <a:noFill/>
                </a:ln>
                <a:solidFill>
                  <a:prstClr val="black"/>
                </a:solidFill>
                <a:effectLst/>
                <a:uLnTx/>
                <a:uFillTx/>
                <a:latin typeface="fkGroteskNeue"/>
                <a:ea typeface="+mn-ea"/>
                <a:cs typeface="+mn-cs"/>
              </a:rPr>
              <a:t>Gives a direct link: choose </a:t>
            </a:r>
            <a:r>
              <a:rPr kumimoji="0" lang="en-US" sz="2000" b="0" i="1" u="none" strike="noStrike" kern="0" cap="none" spc="0" normalizeH="0" baseline="0" noProof="0" dirty="0" err="1">
                <a:ln>
                  <a:noFill/>
                </a:ln>
                <a:solidFill>
                  <a:prstClr val="black"/>
                </a:solidFill>
                <a:effectLst/>
                <a:uLnTx/>
                <a:uFillTx/>
                <a:latin typeface="KaTeX_Math"/>
                <a:ea typeface="+mn-ea"/>
                <a:cs typeface="+mn-cs"/>
              </a:rPr>
              <a:t>V</a:t>
            </a:r>
            <a:r>
              <a:rPr kumimoji="0" lang="en-US" sz="2000" b="0" i="1" u="none" strike="noStrike" kern="0" cap="none" spc="0" normalizeH="0" baseline="-25000" noProof="0" dirty="0" err="1">
                <a:ln>
                  <a:noFill/>
                </a:ln>
                <a:solidFill>
                  <a:prstClr val="black"/>
                </a:solidFill>
                <a:effectLst/>
                <a:uLnTx/>
                <a:uFillTx/>
                <a:latin typeface="KaTeX_Math"/>
                <a:ea typeface="+mn-ea"/>
                <a:cs typeface="+mn-cs"/>
              </a:rPr>
              <a:t>ov</a:t>
            </a:r>
            <a:r>
              <a:rPr kumimoji="0" lang="en-US" sz="2000" b="0" i="0" u="none" strike="noStrike" kern="0" cap="none" spc="0" normalizeH="0" baseline="0" noProof="0" dirty="0">
                <a:ln>
                  <a:noFill/>
                </a:ln>
                <a:solidFill>
                  <a:prstClr val="black"/>
                </a:solidFill>
                <a:effectLst/>
                <a:uLnTx/>
                <a:uFillTx/>
                <a:latin typeface="fkGroteskNeue"/>
                <a:ea typeface="+mn-ea"/>
                <a:cs typeface="+mn-cs"/>
              </a:rPr>
              <a:t> via gate bias, get predictable </a:t>
            </a:r>
            <a:r>
              <a:rPr kumimoji="0" lang="en-US" sz="2000" b="0" i="1" u="none" strike="noStrike" kern="0" cap="none" spc="0" normalizeH="0" baseline="0" noProof="0" dirty="0">
                <a:ln>
                  <a:noFill/>
                </a:ln>
                <a:solidFill>
                  <a:prstClr val="black"/>
                </a:solidFill>
                <a:effectLst/>
                <a:uLnTx/>
                <a:uFillTx/>
                <a:latin typeface="KaTeX_Math"/>
                <a:ea typeface="+mn-ea"/>
                <a:cs typeface="+mn-cs"/>
              </a:rPr>
              <a:t>I</a:t>
            </a:r>
            <a:r>
              <a:rPr kumimoji="0" lang="en-US" sz="2000" b="0" i="1" u="none" strike="noStrike" kern="0" cap="none" spc="0" normalizeH="0" baseline="-25000" noProof="0" dirty="0">
                <a:ln>
                  <a:noFill/>
                </a:ln>
                <a:solidFill>
                  <a:prstClr val="black"/>
                </a:solidFill>
                <a:effectLst/>
                <a:uLnTx/>
                <a:uFillTx/>
                <a:latin typeface="KaTeX_Math"/>
                <a:ea typeface="+mn-ea"/>
                <a:cs typeface="+mn-cs"/>
              </a:rPr>
              <a:t>D</a:t>
            </a:r>
            <a:r>
              <a:rPr kumimoji="0" lang="en-US" sz="2000" b="0" i="0" u="none" strike="noStrike" kern="0" cap="none" spc="0" normalizeH="0" baseline="0" noProof="0" dirty="0">
                <a:ln>
                  <a:noFill/>
                </a:ln>
                <a:solidFill>
                  <a:prstClr val="black"/>
                </a:solidFill>
                <a:effectLst/>
                <a:uLnTx/>
                <a:uFillTx/>
                <a:latin typeface="fkGroteskNeue"/>
                <a:ea typeface="+mn-ea"/>
                <a:cs typeface="+mn-cs"/>
              </a:rPr>
              <a:t> and </a:t>
            </a:r>
            <a:r>
              <a:rPr kumimoji="0" lang="en-US" sz="2000" b="0" i="1" u="none" strike="noStrike" kern="0" cap="none" spc="0" normalizeH="0" baseline="0" noProof="0" dirty="0">
                <a:ln>
                  <a:noFill/>
                </a:ln>
                <a:solidFill>
                  <a:prstClr val="black"/>
                </a:solidFill>
                <a:effectLst/>
                <a:uLnTx/>
                <a:uFillTx/>
                <a:latin typeface="KaTeX_Math"/>
                <a:ea typeface="+mn-ea"/>
                <a:cs typeface="+mn-cs"/>
              </a:rPr>
              <a:t>g</a:t>
            </a:r>
            <a:r>
              <a:rPr kumimoji="0" lang="en-US" sz="2000" b="0" i="1" u="none" strike="noStrike" kern="0" cap="none" spc="0" normalizeH="0" baseline="-25000" noProof="0" dirty="0">
                <a:ln>
                  <a:noFill/>
                </a:ln>
                <a:solidFill>
                  <a:prstClr val="black"/>
                </a:solidFill>
                <a:effectLst/>
                <a:uLnTx/>
                <a:uFillTx/>
                <a:latin typeface="KaTeX_Math"/>
                <a:ea typeface="+mn-ea"/>
                <a:cs typeface="+mn-cs"/>
              </a:rPr>
              <a:t>m</a:t>
            </a:r>
            <a:r>
              <a:rPr kumimoji="0" lang="en-US" sz="2000" b="0" i="0" u="none" strike="noStrike" kern="0" cap="none" spc="0" normalizeH="0" baseline="0" noProof="0" dirty="0">
                <a:ln>
                  <a:noFill/>
                </a:ln>
                <a:solidFill>
                  <a:prstClr val="black"/>
                </a:solidFill>
                <a:effectLst/>
                <a:uLnTx/>
                <a:uFillTx/>
                <a:latin typeface="fkGroteskNeue"/>
                <a:ea typeface="+mn-ea"/>
                <a:cs typeface="+mn-cs"/>
              </a:rPr>
              <a:t>, which are the backbone of analog performance</a:t>
            </a:r>
          </a:p>
        </p:txBody>
      </p:sp>
    </p:spTree>
    <p:extLst>
      <p:ext uri="{BB962C8B-B14F-4D97-AF65-F5344CB8AC3E}">
        <p14:creationId xmlns:p14="http://schemas.microsoft.com/office/powerpoint/2010/main" val="18913395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Overdrive Voltage—A Fundamental </a:t>
            </a:r>
            <a:r>
              <a:rPr lang="en-US" dirty="0" smtClean="0"/>
              <a:t>Variable</a:t>
            </a:r>
            <a:endParaRPr lang="en-US" dirty="0"/>
          </a:p>
        </p:txBody>
      </p:sp>
      <p:sp>
        <p:nvSpPr>
          <p:cNvPr id="3" name="Text Placeholder 2"/>
          <p:cNvSpPr>
            <a:spLocks noGrp="1"/>
          </p:cNvSpPr>
          <p:nvPr>
            <p:ph type="body" idx="1"/>
          </p:nvPr>
        </p:nvSpPr>
        <p:spPr>
          <a:xfrm>
            <a:off x="844550" y="1327353"/>
            <a:ext cx="10610850" cy="3539430"/>
          </a:xfrm>
        </p:spPr>
        <p:txBody>
          <a:bodyPr/>
          <a:lstStyle/>
          <a:p>
            <a:pPr algn="ctr">
              <a:spcBef>
                <a:spcPts val="600"/>
              </a:spcBef>
              <a:spcAft>
                <a:spcPts val="600"/>
              </a:spcAft>
            </a:pPr>
            <a:r>
              <a:rPr lang="en-US" b="1" dirty="0" smtClean="0">
                <a:solidFill>
                  <a:srgbClr val="C00000"/>
                </a:solidFill>
                <a:latin typeface="fkGroteskNeue"/>
              </a:rPr>
              <a:t>Definition</a:t>
            </a:r>
            <a:r>
              <a:rPr lang="en-US" b="1" dirty="0">
                <a:solidFill>
                  <a:srgbClr val="C00000"/>
                </a:solidFill>
                <a:latin typeface="fkGroteskNeue"/>
              </a:rPr>
              <a:t>:</a:t>
            </a:r>
          </a:p>
          <a:p>
            <a:pPr algn="ctr">
              <a:spcBef>
                <a:spcPts val="600"/>
              </a:spcBef>
              <a:spcAft>
                <a:spcPts val="600"/>
              </a:spcAft>
            </a:pPr>
            <a:r>
              <a:rPr lang="en-US" i="1" dirty="0" err="1" smtClean="0">
                <a:latin typeface="fkGroteskNeue"/>
              </a:rPr>
              <a:t>V</a:t>
            </a:r>
            <a:r>
              <a:rPr lang="en-US" i="1" baseline="-25000" dirty="0" err="1" smtClean="0">
                <a:latin typeface="fkGroteskNeue"/>
              </a:rPr>
              <a:t>ov</a:t>
            </a:r>
            <a:r>
              <a:rPr lang="en-US" dirty="0" smtClean="0">
                <a:latin typeface="fkGroteskNeue"/>
              </a:rPr>
              <a:t>=</a:t>
            </a:r>
            <a:r>
              <a:rPr lang="en-US" i="1" dirty="0" err="1" smtClean="0">
                <a:latin typeface="fkGroteskNeue"/>
              </a:rPr>
              <a:t>V</a:t>
            </a:r>
            <a:r>
              <a:rPr lang="en-US" i="1" baseline="-25000" dirty="0" err="1" smtClean="0">
                <a:latin typeface="fkGroteskNeue"/>
              </a:rPr>
              <a:t>gs</a:t>
            </a:r>
            <a:r>
              <a:rPr lang="en-US" dirty="0">
                <a:latin typeface="fkGroteskNeue"/>
              </a:rPr>
              <a:t>−</a:t>
            </a:r>
            <a:r>
              <a:rPr lang="en-US" i="1" dirty="0" smtClean="0">
                <a:latin typeface="fkGroteskNeue"/>
              </a:rPr>
              <a:t>V</a:t>
            </a:r>
            <a:r>
              <a:rPr lang="en-US" i="1" baseline="-25000" dirty="0" smtClean="0">
                <a:latin typeface="fkGroteskNeue"/>
              </a:rPr>
              <a:t>T</a:t>
            </a:r>
            <a:r>
              <a:rPr lang="en-US" i="1" dirty="0" smtClean="0">
                <a:latin typeface="fkGroteskNeue"/>
              </a:rPr>
              <a:t> </a:t>
            </a:r>
          </a:p>
          <a:p>
            <a:pPr marL="342900" indent="-342900" algn="just">
              <a:spcBef>
                <a:spcPts val="600"/>
              </a:spcBef>
              <a:spcAft>
                <a:spcPts val="600"/>
              </a:spcAft>
              <a:buFont typeface="Wingdings" panose="05000000000000000000" pitchFamily="2" charset="2"/>
              <a:buChar char="q"/>
            </a:pPr>
            <a:r>
              <a:rPr lang="en-US" b="1" dirty="0" smtClean="0">
                <a:solidFill>
                  <a:srgbClr val="00B050"/>
                </a:solidFill>
                <a:latin typeface="fkGroteskNeue"/>
              </a:rPr>
              <a:t>Intuitive </a:t>
            </a:r>
            <a:r>
              <a:rPr lang="en-US" b="1" dirty="0">
                <a:solidFill>
                  <a:srgbClr val="00B050"/>
                </a:solidFill>
                <a:latin typeface="fkGroteskNeue"/>
              </a:rPr>
              <a:t>meaning:</a:t>
            </a:r>
            <a:r>
              <a:rPr lang="en-US" dirty="0">
                <a:latin typeface="fkGroteskNeue"/>
              </a:rPr>
              <a:t> Measures how far above threshold the gate voltage is—i.e., how "ON" the transistor really is.</a:t>
            </a:r>
          </a:p>
          <a:p>
            <a:pPr marL="342900" indent="-342900" algn="just">
              <a:spcBef>
                <a:spcPts val="600"/>
              </a:spcBef>
              <a:spcAft>
                <a:spcPts val="600"/>
              </a:spcAft>
              <a:buFont typeface="Wingdings" panose="05000000000000000000" pitchFamily="2" charset="2"/>
              <a:buChar char="q"/>
            </a:pPr>
            <a:r>
              <a:rPr lang="en-US" dirty="0">
                <a:solidFill>
                  <a:srgbClr val="00B050"/>
                </a:solidFill>
                <a:latin typeface="fkGroteskNeue"/>
              </a:rPr>
              <a:t>Inversion:</a:t>
            </a:r>
            <a:r>
              <a:rPr lang="en-US" dirty="0">
                <a:latin typeface="fkGroteskNeue"/>
              </a:rPr>
              <a:t> Weak inversion (very small </a:t>
            </a:r>
            <a:r>
              <a:rPr lang="en-US" i="1" dirty="0" err="1" smtClean="0">
                <a:latin typeface="fkGroteskNeue"/>
              </a:rPr>
              <a:t>V</a:t>
            </a:r>
            <a:r>
              <a:rPr lang="en-US" i="1" baseline="-25000" dirty="0" err="1" smtClean="0">
                <a:latin typeface="fkGroteskNeue"/>
              </a:rPr>
              <a:t>ov</a:t>
            </a:r>
            <a:r>
              <a:rPr lang="en-US" dirty="0">
                <a:latin typeface="fkGroteskNeue"/>
              </a:rPr>
              <a:t>) gives subthreshold conduction (leakage, ultra-low currents); strong inversion (large </a:t>
            </a:r>
            <a:r>
              <a:rPr lang="en-US" i="1" dirty="0" err="1" smtClean="0">
                <a:latin typeface="fkGroteskNeue"/>
              </a:rPr>
              <a:t>V</a:t>
            </a:r>
            <a:r>
              <a:rPr lang="en-US" i="1" baseline="-25000" dirty="0" err="1" smtClean="0">
                <a:latin typeface="fkGroteskNeue"/>
              </a:rPr>
              <a:t>ov</a:t>
            </a:r>
            <a:r>
              <a:rPr lang="en-US" dirty="0">
                <a:latin typeface="fkGroteskNeue"/>
              </a:rPr>
              <a:t>) gives robust ON state.</a:t>
            </a:r>
          </a:p>
          <a:p>
            <a:pPr marL="342900" indent="-342900" algn="just">
              <a:spcBef>
                <a:spcPts val="600"/>
              </a:spcBef>
              <a:spcAft>
                <a:spcPts val="600"/>
              </a:spcAft>
              <a:buFont typeface="Wingdings" panose="05000000000000000000" pitchFamily="2" charset="2"/>
              <a:buChar char="q"/>
            </a:pPr>
            <a:r>
              <a:rPr lang="en-US" i="1" dirty="0" err="1" smtClean="0">
                <a:latin typeface="fkGroteskNeue"/>
              </a:rPr>
              <a:t>V</a:t>
            </a:r>
            <a:r>
              <a:rPr lang="en-US" i="1" baseline="-25000" dirty="0" err="1" smtClean="0">
                <a:latin typeface="fkGroteskNeue"/>
              </a:rPr>
              <a:t>ov</a:t>
            </a:r>
            <a:r>
              <a:rPr lang="en-US" dirty="0">
                <a:latin typeface="fkGroteskNeue"/>
              </a:rPr>
              <a:t> acts as a practical design variable: easy to work with, hides </a:t>
            </a:r>
            <a:r>
              <a:rPr lang="en-US" i="1" dirty="0" smtClean="0">
                <a:latin typeface="fkGroteskNeue"/>
              </a:rPr>
              <a:t>V</a:t>
            </a:r>
            <a:r>
              <a:rPr lang="en-US" i="1" baseline="-25000" dirty="0" smtClean="0">
                <a:latin typeface="fkGroteskNeue"/>
              </a:rPr>
              <a:t>T</a:t>
            </a:r>
            <a:r>
              <a:rPr lang="en-US" dirty="0">
                <a:latin typeface="fkGroteskNeue"/>
              </a:rPr>
              <a:t> variations, and maps directly to device "strength" (from weak to strong conduction).</a:t>
            </a:r>
          </a:p>
          <a:p>
            <a:pPr>
              <a:spcBef>
                <a:spcPts val="600"/>
              </a:spcBef>
              <a:spcAft>
                <a:spcPts val="600"/>
              </a:spcAft>
            </a:pPr>
            <a:endParaRPr lang="en-US" dirty="0"/>
          </a:p>
        </p:txBody>
      </p:sp>
      <p:sp>
        <p:nvSpPr>
          <p:cNvPr id="4" name="Footer Placeholder 3"/>
          <p:cNvSpPr>
            <a:spLocks noGrp="1"/>
          </p:cNvSpPr>
          <p:nvPr>
            <p:ph type="ftr" sz="quarter" idx="5"/>
          </p:nvPr>
        </p:nvSpPr>
        <p:spPr>
          <a:xfrm>
            <a:off x="5430010" y="6486340"/>
            <a:ext cx="1421639" cy="2319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52044" y="64538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206988" y="642207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7175346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Why Use </a:t>
            </a:r>
            <a:r>
              <a:rPr lang="en-US" i="1" dirty="0" err="1" smtClean="0">
                <a:latin typeface="KaTeX_Math"/>
              </a:rPr>
              <a:t>V</a:t>
            </a:r>
            <a:r>
              <a:rPr lang="en-US" i="1" baseline="-25000" dirty="0" err="1" smtClean="0">
                <a:latin typeface="KaTeX_Math"/>
              </a:rPr>
              <a:t>ov</a:t>
            </a:r>
            <a:r>
              <a:rPr lang="en-US" dirty="0">
                <a:latin typeface="fkGrotesk"/>
              </a:rPr>
              <a:t> in Transistor Design</a:t>
            </a:r>
            <a:r>
              <a:rPr lang="en-US" dirty="0" smtClean="0">
                <a:latin typeface="fkGrotesk"/>
              </a:rPr>
              <a:t>?</a:t>
            </a:r>
            <a:endParaRPr lang="en-US" dirty="0"/>
          </a:p>
        </p:txBody>
      </p:sp>
      <p:sp>
        <p:nvSpPr>
          <p:cNvPr id="3" name="Text Placeholder 2"/>
          <p:cNvSpPr>
            <a:spLocks noGrp="1"/>
          </p:cNvSpPr>
          <p:nvPr>
            <p:ph type="body" idx="1"/>
          </p:nvPr>
        </p:nvSpPr>
        <p:spPr>
          <a:xfrm>
            <a:off x="785282" y="1259620"/>
            <a:ext cx="10780183" cy="4847481"/>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In </a:t>
            </a:r>
            <a:r>
              <a:rPr lang="en-US" dirty="0">
                <a:latin typeface="fkGroteskNeue"/>
              </a:rPr>
              <a:t>analog design, choosing good transistor sizes and bias points is crucial—these choices directly impact gain, bandwidth, noise, and power consumption.</a:t>
            </a:r>
          </a:p>
          <a:p>
            <a:pPr marL="342900" indent="-342900" algn="just">
              <a:spcBef>
                <a:spcPts val="600"/>
              </a:spcBef>
              <a:spcAft>
                <a:spcPts val="600"/>
              </a:spcAft>
              <a:buFont typeface="Wingdings" panose="05000000000000000000" pitchFamily="2" charset="2"/>
              <a:buChar char="q"/>
            </a:pPr>
            <a:r>
              <a:rPr lang="en-US" dirty="0">
                <a:latin typeface="fkGroteskNeue"/>
              </a:rPr>
              <a:t>However, parameters like threshold voltage </a:t>
            </a:r>
            <a:r>
              <a:rPr lang="en-US" dirty="0" smtClean="0">
                <a:latin typeface="fkGroteskNeue"/>
              </a:rPr>
              <a:t>(</a:t>
            </a:r>
            <a:r>
              <a:rPr lang="en-US" i="1" dirty="0" smtClean="0">
                <a:latin typeface="KaTeX_Math"/>
              </a:rPr>
              <a:t>V</a:t>
            </a:r>
            <a:r>
              <a:rPr lang="en-US" i="1" baseline="-25000" dirty="0" smtClean="0">
                <a:latin typeface="KaTeX_Math"/>
              </a:rPr>
              <a:t>T</a:t>
            </a:r>
            <a:r>
              <a:rPr lang="en-US" dirty="0">
                <a:latin typeface="fkGroteskNeue"/>
              </a:rPr>
              <a:t>), mobility, or oxide capacitance </a:t>
            </a:r>
            <a:r>
              <a:rPr lang="en-US" dirty="0" smtClean="0">
                <a:latin typeface="fkGroteskNeue"/>
              </a:rPr>
              <a:t>(</a:t>
            </a:r>
            <a:r>
              <a:rPr lang="en-US" i="1" dirty="0" smtClean="0">
                <a:latin typeface="KaTeX_Math"/>
              </a:rPr>
              <a:t>C</a:t>
            </a:r>
            <a:r>
              <a:rPr lang="en-US" i="1" baseline="-25000" dirty="0" smtClean="0">
                <a:latin typeface="KaTeX_Math"/>
              </a:rPr>
              <a:t>ox</a:t>
            </a:r>
            <a:r>
              <a:rPr lang="en-US" dirty="0">
                <a:latin typeface="fkGroteskNeue"/>
              </a:rPr>
              <a:t>) are either fixed by process or hard to control directly by the designer.</a:t>
            </a:r>
          </a:p>
          <a:p>
            <a:pPr marL="342900" indent="-342900" algn="just">
              <a:spcBef>
                <a:spcPts val="600"/>
              </a:spcBef>
              <a:spcAft>
                <a:spcPts val="600"/>
              </a:spcAft>
              <a:buFont typeface="Wingdings" panose="05000000000000000000" pitchFamily="2" charset="2"/>
              <a:buChar char="q"/>
            </a:pPr>
            <a:r>
              <a:rPr lang="en-US" dirty="0">
                <a:latin typeface="fkGroteskNeue"/>
              </a:rPr>
              <a:t>The overdrive voltage </a:t>
            </a:r>
            <a:r>
              <a:rPr lang="en-US" dirty="0" smtClean="0">
                <a:latin typeface="fkGroteskNeue"/>
              </a:rPr>
              <a:t>(</a:t>
            </a:r>
            <a:r>
              <a:rPr lang="en-US" i="1" dirty="0" err="1" smtClean="0">
                <a:latin typeface="KaTeX_Math"/>
              </a:rPr>
              <a:t>V</a:t>
            </a:r>
            <a:r>
              <a:rPr lang="en-US" i="1" baseline="-25000" dirty="0" err="1" smtClean="0">
                <a:latin typeface="KaTeX_Math"/>
              </a:rPr>
              <a:t>ov</a:t>
            </a:r>
            <a:r>
              <a:rPr lang="en-US" dirty="0" smtClean="0">
                <a:latin typeface="KaTeX_Main"/>
              </a:rPr>
              <a:t>=</a:t>
            </a:r>
            <a:r>
              <a:rPr lang="en-US" i="1" dirty="0" err="1" smtClean="0">
                <a:latin typeface="KaTeX_Math"/>
              </a:rPr>
              <a:t>V</a:t>
            </a:r>
            <a:r>
              <a:rPr lang="en-US" i="1" baseline="-25000" dirty="0" err="1" smtClean="0">
                <a:latin typeface="KaTeX_Math"/>
              </a:rPr>
              <a:t>gs</a:t>
            </a:r>
            <a:r>
              <a:rPr lang="en-US" dirty="0">
                <a:latin typeface="KaTeX_Main"/>
              </a:rPr>
              <a:t>−</a:t>
            </a:r>
            <a:r>
              <a:rPr lang="en-US" i="1" dirty="0">
                <a:latin typeface="KaTeX_Math"/>
              </a:rPr>
              <a:t>V</a:t>
            </a:r>
            <a:r>
              <a:rPr lang="en-US" i="1" baseline="-25000" dirty="0">
                <a:latin typeface="KaTeX_Math"/>
              </a:rPr>
              <a:t>T</a:t>
            </a:r>
            <a:r>
              <a:rPr lang="en-US" dirty="0">
                <a:latin typeface="fkGroteskNeue"/>
              </a:rPr>
              <a:t>) is a key variable because:</a:t>
            </a:r>
          </a:p>
          <a:p>
            <a:pPr marL="742950" lvl="1" indent="-285750" algn="just">
              <a:spcBef>
                <a:spcPts val="600"/>
              </a:spcBef>
              <a:spcAft>
                <a:spcPts val="600"/>
              </a:spcAft>
              <a:buFont typeface="Wingdings" panose="05000000000000000000" pitchFamily="2" charset="2"/>
              <a:buChar char="q"/>
            </a:pPr>
            <a:r>
              <a:rPr lang="en-US" dirty="0">
                <a:latin typeface="fkGroteskNeue"/>
              </a:rPr>
              <a:t>It tells us how strongly a MOSFET channel is "inverted" (how well it conducts).</a:t>
            </a:r>
          </a:p>
          <a:p>
            <a:pPr marL="742950" lvl="1" indent="-285750" algn="just">
              <a:spcBef>
                <a:spcPts val="600"/>
              </a:spcBef>
              <a:spcAft>
                <a:spcPts val="600"/>
              </a:spcAft>
              <a:buFont typeface="Wingdings" panose="05000000000000000000" pitchFamily="2" charset="2"/>
              <a:buChar char="q"/>
            </a:pPr>
            <a:r>
              <a:rPr lang="en-US" dirty="0">
                <a:latin typeface="fkGroteskNeue"/>
              </a:rPr>
              <a:t>It is easy to work with—it hides dependence on </a:t>
            </a:r>
            <a:r>
              <a:rPr lang="en-US" i="1" dirty="0" smtClean="0">
                <a:latin typeface="KaTeX_Math"/>
              </a:rPr>
              <a:t>V</a:t>
            </a:r>
            <a:r>
              <a:rPr lang="en-US" i="1" baseline="-25000" dirty="0" smtClean="0">
                <a:latin typeface="KaTeX_Math"/>
              </a:rPr>
              <a:t>T</a:t>
            </a:r>
            <a:r>
              <a:rPr lang="en-US" dirty="0">
                <a:latin typeface="fkGroteskNeue"/>
              </a:rPr>
              <a:t> and allows focus on how "ON" the device actually is.</a:t>
            </a:r>
          </a:p>
          <a:p>
            <a:pPr marL="742950" lvl="1" indent="-285750" algn="just">
              <a:spcBef>
                <a:spcPts val="600"/>
              </a:spcBef>
              <a:spcAft>
                <a:spcPts val="600"/>
              </a:spcAft>
              <a:buFont typeface="Wingdings" panose="05000000000000000000" pitchFamily="2" charset="2"/>
              <a:buChar char="q"/>
            </a:pPr>
            <a:r>
              <a:rPr lang="en-US" dirty="0">
                <a:latin typeface="fkGroteskNeue"/>
              </a:rPr>
              <a:t>Higher </a:t>
            </a:r>
            <a:r>
              <a:rPr lang="en-US" i="1" dirty="0" err="1" smtClean="0">
                <a:latin typeface="KaTeX_Math"/>
              </a:rPr>
              <a:t>V</a:t>
            </a:r>
            <a:r>
              <a:rPr lang="en-US" i="1" baseline="-25000" dirty="0" err="1" smtClean="0">
                <a:latin typeface="KaTeX_Math"/>
              </a:rPr>
              <a:t>ov</a:t>
            </a:r>
            <a:r>
              <a:rPr lang="en-US" dirty="0">
                <a:latin typeface="fkGroteskNeue"/>
              </a:rPr>
              <a:t> means stronger inversion (robust ON behavior), while lower </a:t>
            </a:r>
            <a:r>
              <a:rPr lang="en-US" i="1" dirty="0" err="1" smtClean="0">
                <a:latin typeface="KaTeX_Math"/>
              </a:rPr>
              <a:t>V</a:t>
            </a:r>
            <a:r>
              <a:rPr lang="en-US" i="1" baseline="-25000" dirty="0" err="1" smtClean="0">
                <a:latin typeface="KaTeX_Math"/>
              </a:rPr>
              <a:t>ov</a:t>
            </a:r>
            <a:r>
              <a:rPr lang="en-US" dirty="0">
                <a:latin typeface="fkGroteskNeue"/>
              </a:rPr>
              <a:t> is weak inversion (subthreshold/leakage).</a:t>
            </a:r>
          </a:p>
          <a:p>
            <a:pPr marL="342900" indent="-342900" algn="just">
              <a:spcBef>
                <a:spcPts val="600"/>
              </a:spcBef>
              <a:spcAft>
                <a:spcPts val="600"/>
              </a:spcAft>
              <a:buFont typeface="Wingdings" panose="05000000000000000000" pitchFamily="2" charset="2"/>
              <a:buChar char="q"/>
            </a:pPr>
            <a:r>
              <a:rPr lang="en-US" dirty="0">
                <a:latin typeface="fkGroteskNeue"/>
              </a:rPr>
              <a:t>By treating </a:t>
            </a:r>
            <a:r>
              <a:rPr lang="en-US" i="1" dirty="0" err="1" smtClean="0">
                <a:latin typeface="KaTeX_Math"/>
              </a:rPr>
              <a:t>V</a:t>
            </a:r>
            <a:r>
              <a:rPr lang="en-US" i="1" baseline="-25000" dirty="0" err="1" smtClean="0">
                <a:latin typeface="KaTeX_Math"/>
              </a:rPr>
              <a:t>ov</a:t>
            </a:r>
            <a:r>
              <a:rPr lang="en-US" dirty="0">
                <a:latin typeface="fkGroteskNeue"/>
              </a:rPr>
              <a:t> as a design "knob"—something that can be tuned—we turn a complex physics problem into a manageable engineering task.</a:t>
            </a:r>
          </a:p>
          <a:p>
            <a:pPr algn="just"/>
            <a:endParaRPr lang="en-US" dirty="0"/>
          </a:p>
        </p:txBody>
      </p:sp>
      <p:sp>
        <p:nvSpPr>
          <p:cNvPr id="4" name="Footer Placeholder 3"/>
          <p:cNvSpPr>
            <a:spLocks noGrp="1"/>
          </p:cNvSpPr>
          <p:nvPr>
            <p:ph type="ftr" sz="quarter" idx="5"/>
          </p:nvPr>
        </p:nvSpPr>
        <p:spPr>
          <a:xfrm>
            <a:off x="5493510" y="6460940"/>
            <a:ext cx="1389889" cy="2700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80644" y="64411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4042546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450" y="0"/>
            <a:ext cx="10593196" cy="1046440"/>
          </a:xfrm>
        </p:spPr>
        <p:txBody>
          <a:bodyPr/>
          <a:lstStyle/>
          <a:p>
            <a:r>
              <a:rPr lang="en-US" dirty="0">
                <a:latin typeface="fkGrotesk"/>
              </a:rPr>
              <a:t>The Role of </a:t>
            </a:r>
            <a:r>
              <a:rPr lang="en-US" i="1" dirty="0" smtClean="0">
                <a:latin typeface="KaTeX_Math"/>
              </a:rPr>
              <a:t>g</a:t>
            </a:r>
            <a:r>
              <a:rPr lang="en-US" i="1" baseline="-25000" dirty="0" smtClean="0">
                <a:latin typeface="KaTeX_Math"/>
              </a:rPr>
              <a:t>m</a:t>
            </a:r>
            <a:r>
              <a:rPr lang="en-US" dirty="0">
                <a:latin typeface="fkGrotesk"/>
              </a:rPr>
              <a:t>: Connecting Small-Signal Performance to </a:t>
            </a:r>
            <a:r>
              <a:rPr lang="en-US" dirty="0" smtClean="0">
                <a:latin typeface="fkGrotesk"/>
              </a:rPr>
              <a:t>Biasing</a:t>
            </a:r>
            <a:endParaRPr lang="en-US" dirty="0"/>
          </a:p>
        </p:txBody>
      </p:sp>
      <p:sp>
        <p:nvSpPr>
          <p:cNvPr id="3" name="Text Placeholder 2"/>
          <p:cNvSpPr>
            <a:spLocks noGrp="1"/>
          </p:cNvSpPr>
          <p:nvPr>
            <p:ph type="body" idx="1"/>
          </p:nvPr>
        </p:nvSpPr>
        <p:spPr>
          <a:xfrm>
            <a:off x="844550" y="1327353"/>
            <a:ext cx="10598150" cy="3924151"/>
          </a:xfrm>
        </p:spPr>
        <p:txBody>
          <a:bodyPr/>
          <a:lstStyle/>
          <a:p>
            <a:pPr marL="342900" indent="-342900" algn="l">
              <a:spcBef>
                <a:spcPts val="600"/>
              </a:spcBef>
              <a:spcAft>
                <a:spcPts val="600"/>
              </a:spcAft>
              <a:buFont typeface="Wingdings" panose="05000000000000000000" pitchFamily="2" charset="2"/>
              <a:buChar char="q"/>
            </a:pPr>
            <a:r>
              <a:rPr lang="en-US" dirty="0" err="1" smtClean="0">
                <a:latin typeface="fkGroteskNeue"/>
              </a:rPr>
              <a:t>Transconductance</a:t>
            </a:r>
            <a:r>
              <a:rPr lang="en-US" dirty="0" smtClean="0">
                <a:latin typeface="fkGroteskNeue"/>
              </a:rPr>
              <a:t> (</a:t>
            </a:r>
            <a:r>
              <a:rPr lang="en-US" i="1" dirty="0" smtClean="0">
                <a:latin typeface="KaTeX_Math"/>
              </a:rPr>
              <a:t>g</a:t>
            </a:r>
            <a:r>
              <a:rPr lang="en-US" i="1" baseline="-25000" dirty="0" smtClean="0">
                <a:latin typeface="KaTeX_Math"/>
              </a:rPr>
              <a:t>m</a:t>
            </a:r>
            <a:r>
              <a:rPr lang="en-US" dirty="0">
                <a:latin typeface="fkGroteskNeue"/>
              </a:rPr>
              <a:t>) is a vital small-signal parameter—it controls the gain and speed of most analog blocks.</a:t>
            </a:r>
          </a:p>
          <a:p>
            <a:pPr marL="342900" indent="-342900" algn="l">
              <a:spcBef>
                <a:spcPts val="600"/>
              </a:spcBef>
              <a:spcAft>
                <a:spcPts val="600"/>
              </a:spcAft>
              <a:buFont typeface="Wingdings" panose="05000000000000000000" pitchFamily="2" charset="2"/>
              <a:buChar char="q"/>
            </a:pPr>
            <a:r>
              <a:rPr lang="en-US" i="1" dirty="0" smtClean="0">
                <a:latin typeface="KaTeX_Math"/>
              </a:rPr>
              <a:t>gm</a:t>
            </a:r>
            <a:r>
              <a:rPr lang="en-US" dirty="0">
                <a:latin typeface="fkGroteskNeue"/>
              </a:rPr>
              <a:t> is defined as the rate at which the drain current </a:t>
            </a:r>
            <a:r>
              <a:rPr lang="en-US" dirty="0" smtClean="0">
                <a:latin typeface="fkGroteskNeue"/>
              </a:rPr>
              <a:t>(</a:t>
            </a:r>
            <a:r>
              <a:rPr lang="en-US" i="1" dirty="0" smtClean="0">
                <a:latin typeface="KaTeX_Math"/>
              </a:rPr>
              <a:t>I</a:t>
            </a:r>
            <a:r>
              <a:rPr lang="en-US" i="1" baseline="-25000" dirty="0" smtClean="0">
                <a:latin typeface="KaTeX_Math"/>
              </a:rPr>
              <a:t>D</a:t>
            </a:r>
            <a:r>
              <a:rPr lang="en-US" dirty="0">
                <a:latin typeface="fkGroteskNeue"/>
              </a:rPr>
              <a:t>) changes with gate voltage, or in our new framework, with overdrive voltage</a:t>
            </a:r>
            <a:r>
              <a:rPr lang="en-US" dirty="0" smtClean="0">
                <a:latin typeface="fkGroteskNeue"/>
              </a:rPr>
              <a:t>:</a:t>
            </a: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endParaRPr lang="en-US" dirty="0" smtClean="0">
              <a:latin typeface="fkGroteskNeue"/>
            </a:endParaRP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Intuitive </a:t>
            </a:r>
            <a:r>
              <a:rPr lang="en-US" dirty="0">
                <a:latin typeface="fkGroteskNeue"/>
              </a:rPr>
              <a:t>point: </a:t>
            </a:r>
            <a:r>
              <a:rPr lang="en-US" i="1" dirty="0" smtClean="0">
                <a:latin typeface="KaTeX_Math"/>
              </a:rPr>
              <a:t>g</a:t>
            </a:r>
            <a:r>
              <a:rPr lang="en-US" i="1" baseline="-25000" dirty="0" smtClean="0">
                <a:latin typeface="KaTeX_Math"/>
              </a:rPr>
              <a:t>m</a:t>
            </a:r>
            <a:r>
              <a:rPr lang="en-US" dirty="0">
                <a:latin typeface="fkGroteskNeue"/>
              </a:rPr>
              <a:t> grows linearly with </a:t>
            </a:r>
            <a:r>
              <a:rPr lang="en-US" i="1" dirty="0" err="1" smtClean="0">
                <a:latin typeface="KaTeX_Math"/>
              </a:rPr>
              <a:t>V</a:t>
            </a:r>
            <a:r>
              <a:rPr lang="en-US" i="1" baseline="-25000" dirty="0" err="1" smtClean="0">
                <a:latin typeface="KaTeX_Math"/>
              </a:rPr>
              <a:t>ov</a:t>
            </a:r>
            <a:r>
              <a:rPr lang="en-US" dirty="0">
                <a:latin typeface="fkGroteskNeue"/>
              </a:rPr>
              <a:t> (in long-channel), so by choosing a bias point, you set both DC current and small-signal gain</a:t>
            </a:r>
          </a:p>
          <a:p>
            <a:endParaRPr lang="en-US" dirty="0"/>
          </a:p>
        </p:txBody>
      </p:sp>
      <p:sp>
        <p:nvSpPr>
          <p:cNvPr id="4" name="Footer Placeholder 3"/>
          <p:cNvSpPr>
            <a:spLocks noGrp="1"/>
          </p:cNvSpPr>
          <p:nvPr>
            <p:ph type="ftr" sz="quarter" idx="5"/>
          </p:nvPr>
        </p:nvSpPr>
        <p:spPr>
          <a:xfrm>
            <a:off x="5480810" y="6499040"/>
            <a:ext cx="1548639" cy="2891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21894" y="64792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708470" y="2934741"/>
            <a:ext cx="2659708" cy="828692"/>
          </a:xfrm>
          <a:prstGeom prst="rect">
            <a:avLst/>
          </a:prstGeom>
        </p:spPr>
      </p:pic>
    </p:spTree>
    <p:extLst>
      <p:ext uri="{BB962C8B-B14F-4D97-AF65-F5344CB8AC3E}">
        <p14:creationId xmlns:p14="http://schemas.microsoft.com/office/powerpoint/2010/main" val="23789579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150875"/>
                <a:ext cx="10593196" cy="762196"/>
              </a:xfrm>
            </p:spPr>
            <p:txBody>
              <a:bodyPr/>
              <a:lstStyle/>
              <a:p>
                <a:r>
                  <a:rPr lang="en-US" dirty="0">
                    <a:latin typeface="fkGrotesk"/>
                  </a:rPr>
                  <a:t>Linking </a:t>
                </a:r>
                <a:r>
                  <a:rPr lang="en-US" i="1" dirty="0" smtClean="0">
                    <a:latin typeface="KaTeX_Math"/>
                  </a:rPr>
                  <a:t>g</a:t>
                </a:r>
                <a:r>
                  <a:rPr lang="en-US" i="1" baseline="-25000" dirty="0" smtClean="0">
                    <a:latin typeface="KaTeX_Math"/>
                  </a:rPr>
                  <a:t>m</a:t>
                </a:r>
                <a:r>
                  <a:rPr lang="en-US" dirty="0">
                    <a:latin typeface="fkGrotesk"/>
                  </a:rPr>
                  <a:t>, </a:t>
                </a:r>
                <a:r>
                  <a:rPr lang="en-US" i="1" dirty="0" smtClean="0">
                    <a:latin typeface="KaTeX_Math"/>
                  </a:rPr>
                  <a:t>I</a:t>
                </a:r>
                <a:r>
                  <a:rPr lang="en-US" i="1" baseline="-25000" dirty="0" smtClean="0">
                    <a:latin typeface="KaTeX_Math"/>
                  </a:rPr>
                  <a:t>D</a:t>
                </a:r>
                <a:r>
                  <a:rPr lang="en-US" dirty="0">
                    <a:latin typeface="fkGrotesk"/>
                  </a:rPr>
                  <a:t>, and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Ratio: Physical </a:t>
                </a:r>
                <a:r>
                  <a:rPr lang="en-US" dirty="0" smtClean="0">
                    <a:latin typeface="fkGrotesk"/>
                  </a:rPr>
                  <a:t>Meaning</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150875"/>
                <a:ext cx="10593196" cy="762196"/>
              </a:xfrm>
              <a:blipFill>
                <a:blip r:embed="rId2"/>
                <a:stretch>
                  <a:fillRect l="-2476" t="-10400"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61650" cy="4389150"/>
              </a:xfrm>
            </p:spPr>
            <p:txBody>
              <a:bodyPr/>
              <a:lstStyle/>
              <a:p>
                <a:pPr marL="342900" indent="-342900" algn="l">
                  <a:spcBef>
                    <a:spcPts val="600"/>
                  </a:spcBef>
                  <a:spcAft>
                    <a:spcPts val="600"/>
                  </a:spcAft>
                  <a:buFont typeface="Wingdings" panose="05000000000000000000" pitchFamily="2" charset="2"/>
                  <a:buChar char="q"/>
                </a:pPr>
                <a:r>
                  <a:rPr lang="en-US" dirty="0" smtClean="0">
                    <a:latin typeface="fkGroteskNeue"/>
                  </a:rPr>
                  <a:t>When </a:t>
                </a:r>
                <a:r>
                  <a:rPr lang="en-US" dirty="0">
                    <a:latin typeface="fkGroteskNeue"/>
                  </a:rPr>
                  <a:t>you manipulate the equation for </a:t>
                </a:r>
                <a:r>
                  <a:rPr lang="en-US" i="1" dirty="0" smtClean="0">
                    <a:latin typeface="KaTeX_Math"/>
                  </a:rPr>
                  <a:t>g</a:t>
                </a:r>
                <a:r>
                  <a:rPr lang="en-US" i="1" baseline="-25000" dirty="0" smtClean="0">
                    <a:latin typeface="KaTeX_Math"/>
                  </a:rPr>
                  <a:t>m</a:t>
                </a:r>
                <a:r>
                  <a:rPr lang="en-US" dirty="0">
                    <a:latin typeface="fkGroteskNeue"/>
                  </a:rPr>
                  <a:t>, you discover</a:t>
                </a:r>
                <a:r>
                  <a:rPr lang="en-US" dirty="0" smtClean="0">
                    <a:latin typeface="fkGroteskNeue"/>
                  </a:rPr>
                  <a:t>:</a:t>
                </a:r>
              </a:p>
              <a:p>
                <a:pPr marL="342900" indent="-342900" algn="l">
                  <a:spcBef>
                    <a:spcPts val="600"/>
                  </a:spcBef>
                  <a:spcAft>
                    <a:spcPts val="600"/>
                  </a:spcAft>
                  <a:buFont typeface="Wingdings" panose="05000000000000000000" pitchFamily="2" charset="2"/>
                  <a:buChar char="q"/>
                </a:pPr>
                <a:endParaRPr lang="en-US" dirty="0" smtClean="0">
                  <a:latin typeface="fkGroteskNeue"/>
                </a:endParaRP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This </a:t>
                </a:r>
                <a:r>
                  <a:rPr lang="en-US" dirty="0">
                    <a:latin typeface="fkGroteskNeue"/>
                  </a:rPr>
                  <a:t>ratio is called </a:t>
                </a:r>
                <a:r>
                  <a:rPr lang="en-US" dirty="0" err="1">
                    <a:latin typeface="fkGroteskNeue"/>
                  </a:rPr>
                  <a:t>transconductor</a:t>
                </a:r>
                <a:r>
                  <a:rPr lang="en-US" dirty="0">
                    <a:latin typeface="fkGroteskNeue"/>
                  </a:rPr>
                  <a:t> efficiency—it tells us “</a:t>
                </a:r>
                <a:r>
                  <a:rPr lang="en-US" b="1" i="1" dirty="0">
                    <a:solidFill>
                      <a:srgbClr val="002060"/>
                    </a:solidFill>
                    <a:latin typeface="fkGroteskNeue"/>
                  </a:rPr>
                  <a:t>How much small-signal gain do you get per unit bias current?</a:t>
                </a:r>
                <a:r>
                  <a:rPr lang="en-US" dirty="0">
                    <a:latin typeface="fkGroteskNeue"/>
                  </a:rPr>
                  <a:t>”.</a:t>
                </a:r>
              </a:p>
              <a:p>
                <a:pPr marL="342900" indent="-342900" algn="l">
                  <a:spcBef>
                    <a:spcPts val="600"/>
                  </a:spcBef>
                  <a:spcAft>
                    <a:spcPts val="600"/>
                  </a:spcAft>
                  <a:buFont typeface="Wingdings" panose="05000000000000000000" pitchFamily="2" charset="2"/>
                  <a:buChar char="q"/>
                </a:pPr>
                <a:r>
                  <a:rPr lang="en-US" dirty="0">
                    <a:latin typeface="fkGroteskNeue"/>
                  </a:rPr>
                  <a:t>Fundamental motivation:</a:t>
                </a:r>
              </a:p>
              <a:p>
                <a:pPr marL="742950" lvl="1" indent="-285750" algn="l">
                  <a:spcBef>
                    <a:spcPts val="600"/>
                  </a:spcBef>
                  <a:spcAft>
                    <a:spcPts val="600"/>
                  </a:spcAft>
                  <a:buFont typeface="Wingdings" panose="05000000000000000000" pitchFamily="2" charset="2"/>
                  <a:buChar char="q"/>
                </a:pPr>
                <a:r>
                  <a:rPr lang="en-US" i="1" dirty="0">
                    <a:solidFill>
                      <a:srgbClr val="002060"/>
                    </a:solidFill>
                    <a:latin typeface="fkGroteskNeue"/>
                  </a:rPr>
                  <a:t>If you want more </a:t>
                </a:r>
                <a:r>
                  <a:rPr lang="en-US" i="1" dirty="0" smtClean="0">
                    <a:solidFill>
                      <a:srgbClr val="002060"/>
                    </a:solidFill>
                    <a:latin typeface="KaTeX_Math"/>
                  </a:rPr>
                  <a:t>g</a:t>
                </a:r>
                <a:r>
                  <a:rPr lang="en-US" i="1" baseline="-25000" dirty="0" smtClean="0">
                    <a:solidFill>
                      <a:srgbClr val="002060"/>
                    </a:solidFill>
                    <a:latin typeface="KaTeX_Math"/>
                  </a:rPr>
                  <a:t>m</a:t>
                </a:r>
                <a:r>
                  <a:rPr lang="en-US" i="1" dirty="0">
                    <a:solidFill>
                      <a:srgbClr val="002060"/>
                    </a:solidFill>
                    <a:latin typeface="fkGroteskNeue"/>
                  </a:rPr>
                  <a:t>, you can raise current </a:t>
                </a:r>
                <a:r>
                  <a:rPr lang="en-US" i="1" dirty="0" smtClean="0">
                    <a:solidFill>
                      <a:srgbClr val="002060"/>
                    </a:solidFill>
                    <a:latin typeface="KaTeX_Math"/>
                  </a:rPr>
                  <a:t>I</a:t>
                </a:r>
                <a:r>
                  <a:rPr lang="en-US" i="1" baseline="-25000" dirty="0" smtClean="0">
                    <a:solidFill>
                      <a:srgbClr val="002060"/>
                    </a:solidFill>
                    <a:latin typeface="KaTeX_Math"/>
                  </a:rPr>
                  <a:t>D</a:t>
                </a:r>
                <a:r>
                  <a:rPr lang="en-US" i="1" dirty="0">
                    <a:solidFill>
                      <a:srgbClr val="002060"/>
                    </a:solidFill>
                    <a:latin typeface="fkGroteskNeue"/>
                  </a:rPr>
                  <a:t> or overdrive </a:t>
                </a:r>
                <a:r>
                  <a:rPr lang="en-US" i="1" dirty="0" err="1" smtClean="0">
                    <a:solidFill>
                      <a:srgbClr val="002060"/>
                    </a:solidFill>
                    <a:latin typeface="KaTeX_Math"/>
                  </a:rPr>
                  <a:t>V</a:t>
                </a:r>
                <a:r>
                  <a:rPr lang="en-US" i="1" baseline="-25000" dirty="0" err="1" smtClean="0">
                    <a:solidFill>
                      <a:srgbClr val="002060"/>
                    </a:solidFill>
                    <a:latin typeface="KaTeX_Math"/>
                  </a:rPr>
                  <a:t>ov</a:t>
                </a:r>
                <a:r>
                  <a:rPr lang="en-US" i="1" dirty="0">
                    <a:solidFill>
                      <a:srgbClr val="002060"/>
                    </a:solidFill>
                    <a:latin typeface="fkGroteskNeue"/>
                  </a:rPr>
                  <a:t>; but higher </a:t>
                </a:r>
                <a:r>
                  <a:rPr lang="en-US" i="1" dirty="0" err="1" smtClean="0">
                    <a:solidFill>
                      <a:srgbClr val="002060"/>
                    </a:solidFill>
                    <a:latin typeface="KaTeX_Math"/>
                  </a:rPr>
                  <a:t>V</a:t>
                </a:r>
                <a:r>
                  <a:rPr lang="en-US" i="1" baseline="-25000" dirty="0" err="1" smtClean="0">
                    <a:solidFill>
                      <a:srgbClr val="002060"/>
                    </a:solidFill>
                    <a:latin typeface="KaTeX_Math"/>
                  </a:rPr>
                  <a:t>ov</a:t>
                </a:r>
                <a:r>
                  <a:rPr lang="en-US" i="1" dirty="0">
                    <a:solidFill>
                      <a:srgbClr val="002060"/>
                    </a:solidFill>
                    <a:latin typeface="fkGroteskNeue"/>
                  </a:rPr>
                  <a:t> brings diminishing efficiency.</a:t>
                </a:r>
              </a:p>
              <a:p>
                <a:pPr marL="742950" lvl="1" indent="-285750" algn="l">
                  <a:spcBef>
                    <a:spcPts val="600"/>
                  </a:spcBef>
                  <a:spcAft>
                    <a:spcPts val="600"/>
                  </a:spcAft>
                  <a:buFont typeface="Wingdings" panose="05000000000000000000" pitchFamily="2" charset="2"/>
                  <a:buChar char="q"/>
                </a:pPr>
                <a:r>
                  <a:rPr lang="en-US" i="1" dirty="0" smtClean="0">
                    <a:solidFill>
                      <a:srgbClr val="002060"/>
                    </a:solidFill>
                    <a:latin typeface="fkGroteskNeue"/>
                  </a:rPr>
                  <a:t>By making </a:t>
                </a:r>
                <a:r>
                  <a:rPr lang="en-US" i="1" dirty="0" err="1" smtClean="0">
                    <a:solidFill>
                      <a:srgbClr val="002060"/>
                    </a:solidFill>
                    <a:latin typeface="KaTeX_Math"/>
                  </a:rPr>
                  <a:t>V</a:t>
                </a:r>
                <a:r>
                  <a:rPr lang="en-US" i="1" baseline="-25000" dirty="0" err="1" smtClean="0">
                    <a:solidFill>
                      <a:srgbClr val="002060"/>
                    </a:solidFill>
                    <a:latin typeface="KaTeX_Math"/>
                  </a:rPr>
                  <a:t>ov</a:t>
                </a:r>
                <a:r>
                  <a:rPr lang="en-US" i="1" dirty="0">
                    <a:solidFill>
                      <a:srgbClr val="002060"/>
                    </a:solidFill>
                    <a:latin typeface="fkGroteskNeue"/>
                  </a:rPr>
                  <a:t> a knob, and using </a:t>
                </a:r>
                <a14:m>
                  <m:oMath xmlns:m="http://schemas.openxmlformats.org/officeDocument/2006/math">
                    <m:f>
                      <m:fPr>
                        <m:ctrlPr>
                          <a:rPr lang="en-US" i="1">
                            <a:solidFill>
                              <a:srgbClr val="002060"/>
                            </a:solidFill>
                            <a:latin typeface="Cambria Math" panose="02040503050406030204" pitchFamily="18" charset="0"/>
                          </a:rPr>
                        </m:ctrlPr>
                      </m:fPr>
                      <m:num>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𝑔</m:t>
                            </m:r>
                          </m:e>
                          <m:sub>
                            <m:r>
                              <a:rPr lang="en-US" i="1">
                                <a:solidFill>
                                  <a:srgbClr val="002060"/>
                                </a:solidFill>
                                <a:latin typeface="Cambria Math" panose="02040503050406030204" pitchFamily="18" charset="0"/>
                              </a:rPr>
                              <m:t>𝑚</m:t>
                            </m:r>
                          </m:sub>
                        </m:sSub>
                      </m:num>
                      <m:den>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𝐼</m:t>
                            </m:r>
                          </m:e>
                          <m:sub>
                            <m:r>
                              <a:rPr lang="en-US" i="1">
                                <a:solidFill>
                                  <a:srgbClr val="002060"/>
                                </a:solidFill>
                                <a:latin typeface="Cambria Math" panose="02040503050406030204" pitchFamily="18" charset="0"/>
                              </a:rPr>
                              <m:t>𝐷</m:t>
                            </m:r>
                          </m:sub>
                        </m:sSub>
                      </m:den>
                    </m:f>
                  </m:oMath>
                </a14:m>
                <a:r>
                  <a:rPr lang="en-US" i="1" dirty="0">
                    <a:solidFill>
                      <a:srgbClr val="002060"/>
                    </a:solidFill>
                    <a:latin typeface="fkGroteskNeue"/>
                  </a:rPr>
                  <a:t> charts, you have a direct, quantifiable handle on how transistor design choices trade off performance and power.</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61650" cy="4389150"/>
              </a:xfrm>
              <a:blipFill>
                <a:blip r:embed="rId3"/>
                <a:stretch>
                  <a:fillRect l="-1372" t="-166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74460" y="6530791"/>
            <a:ext cx="1415289" cy="2002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0294" y="65173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54638" y="646652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4"/>
          <a:stretch>
            <a:fillRect/>
          </a:stretch>
        </p:blipFill>
        <p:spPr>
          <a:xfrm>
            <a:off x="4687330" y="1862650"/>
            <a:ext cx="1073205" cy="635033"/>
          </a:xfrm>
          <a:prstGeom prst="rect">
            <a:avLst/>
          </a:prstGeom>
        </p:spPr>
      </p:pic>
    </p:spTree>
    <p:extLst>
      <p:ext uri="{BB962C8B-B14F-4D97-AF65-F5344CB8AC3E}">
        <p14:creationId xmlns:p14="http://schemas.microsoft.com/office/powerpoint/2010/main" val="17567022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133985" y="1814614"/>
            <a:ext cx="5231765" cy="335428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p:cNvSpPr>
                <a:spLocks noGrp="1"/>
              </p:cNvSpPr>
              <p:nvPr>
                <p:ph type="title"/>
              </p:nvPr>
            </p:nvSpPr>
            <p:spPr>
              <a:xfrm>
                <a:off x="825500" y="201675"/>
                <a:ext cx="10593196" cy="762196"/>
              </a:xfrm>
            </p:spPr>
            <p:txBody>
              <a:bodyPr/>
              <a:lstStyle/>
              <a:p>
                <a:r>
                  <a:rPr lang="en-US" dirty="0">
                    <a:latin typeface="fkGrotesk"/>
                  </a:rPr>
                  <a:t>Why Do We Talk About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in Analog Design</a:t>
                </a:r>
                <a:r>
                  <a:rPr lang="en-US" dirty="0" smtClean="0">
                    <a:latin typeface="fkGrotesk"/>
                  </a:rPr>
                  <a:t>?</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25500" y="201675"/>
                <a:ext cx="10593196" cy="762196"/>
              </a:xfrm>
              <a:blipFill>
                <a:blip r:embed="rId2"/>
                <a:stretch>
                  <a:fillRect l="-2474" t="-10400" b="-9600"/>
                </a:stretch>
              </a:blipFill>
            </p:spPr>
            <p:txBody>
              <a:bodyPr/>
              <a:lstStyle/>
              <a:p>
                <a:r>
                  <a:rPr lang="en-US">
                    <a:noFill/>
                  </a:rPr>
                  <a:t> </a:t>
                </a:r>
              </a:p>
            </p:txBody>
          </p:sp>
        </mc:Fallback>
      </mc:AlternateContent>
      <p:sp>
        <p:nvSpPr>
          <p:cNvPr id="3" name="Text Placeholder 2"/>
          <p:cNvSpPr>
            <a:spLocks noGrp="1"/>
          </p:cNvSpPr>
          <p:nvPr>
            <p:ph type="body" idx="1"/>
          </p:nvPr>
        </p:nvSpPr>
        <p:spPr>
          <a:xfrm>
            <a:off x="5727700" y="1725286"/>
            <a:ext cx="5730875" cy="3231654"/>
          </a:xfrm>
        </p:spPr>
        <p:txBody>
          <a:bodyPr/>
          <a:lstStyle/>
          <a:p>
            <a:pPr algn="ctr"/>
            <a:r>
              <a:rPr lang="en-US" dirty="0">
                <a:latin typeface="fkGroteskNeue"/>
              </a:rPr>
              <a:t/>
            </a:r>
            <a:br>
              <a:rPr lang="en-US" dirty="0">
                <a:latin typeface="fkGroteskNeue"/>
              </a:rPr>
            </a:br>
            <a:r>
              <a:rPr lang="en-US" b="1" i="1" dirty="0">
                <a:solidFill>
                  <a:srgbClr val="002060"/>
                </a:solidFill>
                <a:latin typeface="fkGroteskNeue"/>
              </a:rPr>
              <a:t>Imagine your transistor as a machine</a:t>
            </a:r>
            <a:r>
              <a:rPr lang="en-US" b="1" dirty="0">
                <a:latin typeface="fkGroteskNeue"/>
              </a:rPr>
              <a:t>. </a:t>
            </a:r>
            <a:endParaRPr lang="en-US" b="1" dirty="0" smtClean="0">
              <a:latin typeface="fkGroteskNeue"/>
            </a:endParaRPr>
          </a:p>
          <a:p>
            <a:pPr algn="just"/>
            <a:endParaRPr lang="en-US" dirty="0">
              <a:latin typeface="fkGroteskNeue"/>
            </a:endParaRPr>
          </a:p>
          <a:p>
            <a:pPr algn="just"/>
            <a:r>
              <a:rPr lang="en-US" dirty="0" smtClean="0">
                <a:latin typeface="fkGroteskNeue"/>
              </a:rPr>
              <a:t>To </a:t>
            </a:r>
            <a:r>
              <a:rPr lang="en-US" dirty="0">
                <a:latin typeface="fkGroteskNeue"/>
              </a:rPr>
              <a:t>get more output (</a:t>
            </a:r>
            <a:r>
              <a:rPr lang="en-US" b="1" i="1" dirty="0">
                <a:solidFill>
                  <a:srgbClr val="002060"/>
                </a:solidFill>
                <a:latin typeface="fkGroteskNeue"/>
              </a:rPr>
              <a:t>signal control: g</a:t>
            </a:r>
            <a:r>
              <a:rPr lang="en-US" b="1" i="1" baseline="-25000" dirty="0">
                <a:solidFill>
                  <a:srgbClr val="002060"/>
                </a:solidFill>
                <a:latin typeface="fkGroteskNeue"/>
              </a:rPr>
              <a:t>m</a:t>
            </a:r>
            <a:r>
              <a:rPr lang="en-US" dirty="0">
                <a:latin typeface="fkGroteskNeue"/>
              </a:rPr>
              <a:t>), you must put in more fuel (</a:t>
            </a:r>
            <a:r>
              <a:rPr lang="en-US" b="1" i="1" dirty="0">
                <a:solidFill>
                  <a:srgbClr val="002060"/>
                </a:solidFill>
                <a:latin typeface="fkGroteskNeue"/>
              </a:rPr>
              <a:t>current: I</a:t>
            </a:r>
            <a:r>
              <a:rPr lang="en-US" b="1" i="1" baseline="-25000" dirty="0">
                <a:solidFill>
                  <a:srgbClr val="002060"/>
                </a:solidFill>
                <a:latin typeface="fkGroteskNeue"/>
              </a:rPr>
              <a:t>D</a:t>
            </a:r>
            <a:r>
              <a:rPr lang="en-US" dirty="0" smtClean="0">
                <a:latin typeface="fkGroteskNeue"/>
              </a:rPr>
              <a:t>).</a:t>
            </a:r>
          </a:p>
          <a:p>
            <a:pPr algn="l"/>
            <a:endParaRPr lang="en-US" dirty="0">
              <a:latin typeface="fkGroteskNeue"/>
            </a:endParaRPr>
          </a:p>
          <a:p>
            <a:pPr marL="742950" lvl="1" indent="-285750" algn="l">
              <a:buFont typeface="Wingdings" panose="05000000000000000000" pitchFamily="2" charset="2"/>
              <a:buChar char="q"/>
            </a:pPr>
            <a:r>
              <a:rPr lang="en-US" dirty="0">
                <a:latin typeface="fkGroteskNeue"/>
              </a:rPr>
              <a:t>At low “throttle” (low </a:t>
            </a:r>
            <a:r>
              <a:rPr lang="en-US" dirty="0" err="1">
                <a:latin typeface="fkGroteskNeue"/>
              </a:rPr>
              <a:t>V</a:t>
            </a:r>
            <a:r>
              <a:rPr lang="en-US" baseline="-25000" dirty="0" err="1">
                <a:latin typeface="fkGroteskNeue"/>
              </a:rPr>
              <a:t>gs</a:t>
            </a:r>
            <a:r>
              <a:rPr lang="en-US" dirty="0">
                <a:latin typeface="fkGroteskNeue"/>
              </a:rPr>
              <a:t>–</a:t>
            </a:r>
            <a:r>
              <a:rPr lang="en-US" dirty="0" err="1">
                <a:latin typeface="fkGroteskNeue"/>
              </a:rPr>
              <a:t>V</a:t>
            </a:r>
            <a:r>
              <a:rPr lang="en-US" baseline="-25000" dirty="0" err="1">
                <a:latin typeface="fkGroteskNeue"/>
              </a:rPr>
              <a:t>t</a:t>
            </a:r>
            <a:r>
              <a:rPr lang="en-US" dirty="0">
                <a:latin typeface="fkGroteskNeue"/>
              </a:rPr>
              <a:t>), the machine is lazy: </a:t>
            </a:r>
            <a:r>
              <a:rPr lang="en-US" i="1" dirty="0">
                <a:solidFill>
                  <a:srgbClr val="002060"/>
                </a:solidFill>
                <a:latin typeface="fkGroteskNeue"/>
              </a:rPr>
              <a:t>you spend a lot of fuel for little effect (low gm, inefficient).</a:t>
            </a:r>
          </a:p>
          <a:p>
            <a:pPr marL="742950" lvl="1" indent="-285750" algn="l">
              <a:buFont typeface="Wingdings" panose="05000000000000000000" pitchFamily="2" charset="2"/>
              <a:buChar char="q"/>
            </a:pPr>
            <a:r>
              <a:rPr lang="en-US" dirty="0">
                <a:latin typeface="fkGroteskNeue"/>
              </a:rPr>
              <a:t>At high “throttle,” the machine is lively: </a:t>
            </a:r>
            <a:r>
              <a:rPr lang="en-US" i="1" dirty="0">
                <a:solidFill>
                  <a:srgbClr val="002060"/>
                </a:solidFill>
                <a:latin typeface="fkGroteskNeue"/>
              </a:rPr>
              <a:t>you get more effect for each bit of fuel (high g</a:t>
            </a:r>
            <a:r>
              <a:rPr lang="en-US" i="1" baseline="-25000" dirty="0">
                <a:solidFill>
                  <a:srgbClr val="002060"/>
                </a:solidFill>
                <a:latin typeface="fkGroteskNeue"/>
              </a:rPr>
              <a:t>m</a:t>
            </a:r>
            <a:r>
              <a:rPr lang="en-US" i="1" dirty="0">
                <a:solidFill>
                  <a:srgbClr val="002060"/>
                </a:solidFill>
                <a:latin typeface="fkGroteskNeue"/>
              </a:rPr>
              <a:t>, efficient</a:t>
            </a:r>
            <a:r>
              <a:rPr lang="en-US" i="1" dirty="0" smtClean="0">
                <a:solidFill>
                  <a:srgbClr val="002060"/>
                </a:solidFill>
                <a:latin typeface="fkGroteskNeue"/>
              </a:rPr>
              <a:t>).</a:t>
            </a:r>
            <a:endParaRPr lang="en-US" i="1" dirty="0">
              <a:solidFill>
                <a:srgbClr val="002060"/>
              </a:solidFill>
              <a:latin typeface="fkGroteskNeue"/>
            </a:endParaRPr>
          </a:p>
        </p:txBody>
      </p:sp>
      <p:sp>
        <p:nvSpPr>
          <p:cNvPr id="4" name="Footer Placeholder 3"/>
          <p:cNvSpPr>
            <a:spLocks noGrp="1"/>
          </p:cNvSpPr>
          <p:nvPr>
            <p:ph type="ftr" sz="quarter" idx="5"/>
          </p:nvPr>
        </p:nvSpPr>
        <p:spPr>
          <a:xfrm>
            <a:off x="5442710" y="6422841"/>
            <a:ext cx="1370839" cy="1938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13944" y="63966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4147466" y="1150378"/>
            <a:ext cx="2792752" cy="400110"/>
          </a:xfrm>
          <a:prstGeom prst="rect">
            <a:avLst/>
          </a:prstGeom>
        </p:spPr>
        <p:txBody>
          <a:bodyPr wrap="none">
            <a:spAutoFit/>
          </a:bodyPr>
          <a:lstStyle/>
          <a:p>
            <a:r>
              <a:rPr lang="en-US" sz="2000" b="1" kern="0" dirty="0">
                <a:solidFill>
                  <a:srgbClr val="C00000"/>
                </a:solidFill>
                <a:latin typeface="fkGroteskNeue"/>
              </a:rPr>
              <a:t>Square Law Analogy:</a:t>
            </a:r>
            <a:endParaRPr lang="en-US" b="1" dirty="0">
              <a:solidFill>
                <a:srgbClr val="C00000"/>
              </a:solidFill>
            </a:endParaRPr>
          </a:p>
        </p:txBody>
      </p:sp>
      <p:pic>
        <p:nvPicPr>
          <p:cNvPr id="9" name="Picture 8"/>
          <p:cNvPicPr>
            <a:picLocks noChangeAspect="1"/>
          </p:cNvPicPr>
          <p:nvPr/>
        </p:nvPicPr>
        <p:blipFill>
          <a:blip r:embed="rId3"/>
          <a:stretch>
            <a:fillRect/>
          </a:stretch>
        </p:blipFill>
        <p:spPr>
          <a:xfrm>
            <a:off x="636518" y="1879599"/>
            <a:ext cx="4596066" cy="2945883"/>
          </a:xfrm>
          <a:prstGeom prst="rect">
            <a:avLst/>
          </a:prstGeom>
        </p:spPr>
      </p:pic>
      <p:sp>
        <p:nvSpPr>
          <p:cNvPr id="8" name="Rectangle 7"/>
          <p:cNvSpPr/>
          <p:nvPr/>
        </p:nvSpPr>
        <p:spPr>
          <a:xfrm>
            <a:off x="1407414" y="4679434"/>
            <a:ext cx="2723823" cy="369332"/>
          </a:xfrm>
          <a:prstGeom prst="rect">
            <a:avLst/>
          </a:prstGeom>
        </p:spPr>
        <p:txBody>
          <a:bodyPr wrap="none">
            <a:spAutoFit/>
          </a:bodyPr>
          <a:lstStyle/>
          <a:p>
            <a:pPr algn="ctr"/>
            <a:r>
              <a:rPr lang="en-US" b="1" kern="0" dirty="0">
                <a:solidFill>
                  <a:srgbClr val="002060"/>
                </a:solidFill>
                <a:latin typeface="fkGroteskNeue"/>
              </a:rPr>
              <a:t>Input “throttle” (</a:t>
            </a:r>
            <a:r>
              <a:rPr lang="en-US" b="1" kern="0" dirty="0" err="1">
                <a:solidFill>
                  <a:srgbClr val="002060"/>
                </a:solidFill>
                <a:latin typeface="fkGroteskNeue"/>
              </a:rPr>
              <a:t>V</a:t>
            </a:r>
            <a:r>
              <a:rPr lang="en-US" b="1" kern="0" baseline="-25000" dirty="0" err="1">
                <a:solidFill>
                  <a:srgbClr val="002060"/>
                </a:solidFill>
                <a:latin typeface="fkGroteskNeue"/>
              </a:rPr>
              <a:t>gs</a:t>
            </a:r>
            <a:r>
              <a:rPr lang="en-US" b="1" kern="0" dirty="0">
                <a:solidFill>
                  <a:srgbClr val="002060"/>
                </a:solidFill>
                <a:latin typeface="fkGroteskNeue"/>
              </a:rPr>
              <a:t>–</a:t>
            </a:r>
            <a:r>
              <a:rPr lang="en-US" b="1" kern="0" dirty="0" err="1">
                <a:solidFill>
                  <a:srgbClr val="002060"/>
                </a:solidFill>
                <a:latin typeface="fkGroteskNeue"/>
              </a:rPr>
              <a:t>V</a:t>
            </a:r>
            <a:r>
              <a:rPr lang="en-US" b="1" kern="0" baseline="-25000" dirty="0" err="1">
                <a:solidFill>
                  <a:srgbClr val="002060"/>
                </a:solidFill>
                <a:latin typeface="fkGroteskNeue"/>
              </a:rPr>
              <a:t>t</a:t>
            </a:r>
            <a:r>
              <a:rPr lang="en-US" b="1" kern="0" dirty="0">
                <a:solidFill>
                  <a:srgbClr val="002060"/>
                </a:solidFill>
                <a:latin typeface="fkGroteskNeue"/>
              </a:rPr>
              <a:t>)</a:t>
            </a:r>
          </a:p>
        </p:txBody>
      </p:sp>
      <p:sp>
        <p:nvSpPr>
          <p:cNvPr id="10" name="Rectangle 9"/>
          <p:cNvSpPr/>
          <p:nvPr/>
        </p:nvSpPr>
        <p:spPr>
          <a:xfrm rot="16200000">
            <a:off x="-529623" y="3314184"/>
            <a:ext cx="2180405" cy="369332"/>
          </a:xfrm>
          <a:prstGeom prst="rect">
            <a:avLst/>
          </a:prstGeom>
        </p:spPr>
        <p:txBody>
          <a:bodyPr wrap="none">
            <a:spAutoFit/>
          </a:bodyPr>
          <a:lstStyle/>
          <a:p>
            <a:r>
              <a:rPr lang="en-US" b="1" kern="0" dirty="0">
                <a:solidFill>
                  <a:srgbClr val="002060"/>
                </a:solidFill>
                <a:latin typeface="fkGroteskNeue"/>
              </a:rPr>
              <a:t>Output “push” (I</a:t>
            </a:r>
            <a:r>
              <a:rPr lang="en-US" b="1" kern="0" baseline="-25000" dirty="0">
                <a:solidFill>
                  <a:srgbClr val="002060"/>
                </a:solidFill>
                <a:latin typeface="fkGroteskNeue"/>
              </a:rPr>
              <a:t>D</a:t>
            </a:r>
            <a:r>
              <a:rPr lang="en-US" b="1" kern="0" dirty="0">
                <a:solidFill>
                  <a:srgbClr val="002060"/>
                </a:solidFill>
                <a:latin typeface="fkGroteskNeue"/>
              </a:rPr>
              <a:t>)</a:t>
            </a:r>
          </a:p>
        </p:txBody>
      </p:sp>
      <p:sp>
        <p:nvSpPr>
          <p:cNvPr id="11" name="Rectangle 10"/>
          <p:cNvSpPr/>
          <p:nvPr/>
        </p:nvSpPr>
        <p:spPr>
          <a:xfrm>
            <a:off x="2609850" y="2863850"/>
            <a:ext cx="2628900" cy="923330"/>
          </a:xfrm>
          <a:prstGeom prst="rect">
            <a:avLst/>
          </a:prstGeom>
        </p:spPr>
        <p:txBody>
          <a:bodyPr wrap="square">
            <a:spAutoFit/>
          </a:bodyPr>
          <a:lstStyle/>
          <a:p>
            <a:pPr algn="just"/>
            <a:r>
              <a:rPr lang="en-US" b="1" i="1" kern="0" dirty="0">
                <a:solidFill>
                  <a:srgbClr val="002060"/>
                </a:solidFill>
                <a:latin typeface="fkGroteskNeue"/>
              </a:rPr>
              <a:t>Steep slope = every bit of fuel buys you a lot of push (high g</a:t>
            </a:r>
            <a:r>
              <a:rPr lang="en-US" b="1" i="1" kern="0" baseline="-25000" dirty="0">
                <a:solidFill>
                  <a:srgbClr val="002060"/>
                </a:solidFill>
                <a:latin typeface="fkGroteskNeue"/>
              </a:rPr>
              <a:t>m</a:t>
            </a:r>
            <a:r>
              <a:rPr lang="en-US" b="1" i="1" kern="0" dirty="0">
                <a:solidFill>
                  <a:srgbClr val="002060"/>
                </a:solidFill>
                <a:latin typeface="fkGroteskNeue"/>
              </a:rPr>
              <a:t>/I</a:t>
            </a:r>
            <a:r>
              <a:rPr lang="en-US" b="1" i="1" kern="0" baseline="-25000" dirty="0">
                <a:solidFill>
                  <a:srgbClr val="002060"/>
                </a:solidFill>
                <a:latin typeface="fkGroteskNeue"/>
              </a:rPr>
              <a:t>D</a:t>
            </a:r>
            <a:r>
              <a:rPr lang="en-US" b="1" i="1" kern="0" dirty="0">
                <a:solidFill>
                  <a:srgbClr val="002060"/>
                </a:solidFill>
                <a:latin typeface="fkGroteskNeue"/>
              </a:rPr>
              <a:t>)</a:t>
            </a:r>
          </a:p>
        </p:txBody>
      </p:sp>
    </p:spTree>
    <p:extLst>
      <p:ext uri="{BB962C8B-B14F-4D97-AF65-F5344CB8AC3E}">
        <p14:creationId xmlns:p14="http://schemas.microsoft.com/office/powerpoint/2010/main" val="15729970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44550" y="188975"/>
                <a:ext cx="10593196" cy="762196"/>
              </a:xfrm>
            </p:spPr>
            <p:txBody>
              <a:bodyPr/>
              <a:lstStyle/>
              <a:p>
                <a:r>
                  <a:rPr lang="en-US" dirty="0">
                    <a:latin typeface="fkGrotesk"/>
                  </a:rPr>
                  <a:t>Transistor Efficiency – The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
                  </a:rPr>
                  <a:t> </a:t>
                </a:r>
                <a:r>
                  <a:rPr lang="en-US" dirty="0" smtClean="0">
                    <a:latin typeface="fkGrotesk"/>
                  </a:rPr>
                  <a:t>Concept</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44550" y="188975"/>
                <a:ext cx="10593196" cy="762196"/>
              </a:xfrm>
              <a:blipFill>
                <a:blip r:embed="rId2"/>
                <a:stretch>
                  <a:fillRect l="-2476" t="-10400"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651934" y="1864986"/>
                <a:ext cx="6974416" cy="3772443"/>
              </a:xfrm>
            </p:spPr>
            <p:txBody>
              <a:bodyPr/>
              <a:lstStyle/>
              <a:p>
                <a:pPr algn="l"/>
                <a:r>
                  <a:rPr lang="en-US" dirty="0">
                    <a:latin typeface="fkGroteskNeue"/>
                  </a:rPr>
                  <a:t/>
                </a:r>
                <a:br>
                  <a:rPr lang="en-US" dirty="0">
                    <a:latin typeface="fkGroteskNeue"/>
                  </a:rPr>
                </a:br>
                <a:r>
                  <a:rPr lang="en-US" dirty="0">
                    <a:latin typeface="fkGroteskNeue"/>
                  </a:rPr>
                  <a:t>Think of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as a car’s fuel efficiency.</a:t>
                </a:r>
              </a:p>
              <a:p>
                <a:pPr marL="742950" lvl="1" indent="-285750" algn="l">
                  <a:buFont typeface="Wingdings" panose="05000000000000000000" pitchFamily="2" charset="2"/>
                  <a:buChar char="q"/>
                </a:pPr>
                <a:r>
                  <a:rPr lang="en-US" i="1" dirty="0">
                    <a:solidFill>
                      <a:srgbClr val="002060"/>
                    </a:solidFill>
                    <a:latin typeface="fkGroteskNeue"/>
                  </a:rPr>
                  <a:t>What you want: Maximum performance (g</a:t>
                </a:r>
                <a:r>
                  <a:rPr lang="en-US" i="1" baseline="-25000" dirty="0">
                    <a:solidFill>
                      <a:srgbClr val="002060"/>
                    </a:solidFill>
                    <a:latin typeface="fkGroteskNeue"/>
                  </a:rPr>
                  <a:t>m</a:t>
                </a:r>
                <a:r>
                  <a:rPr lang="en-US" i="1" dirty="0">
                    <a:solidFill>
                      <a:srgbClr val="002060"/>
                    </a:solidFill>
                    <a:latin typeface="fkGroteskNeue"/>
                  </a:rPr>
                  <a:t>)</a:t>
                </a:r>
              </a:p>
              <a:p>
                <a:pPr marL="742950" lvl="1" indent="-285750" algn="l">
                  <a:buFont typeface="Wingdings" panose="05000000000000000000" pitchFamily="2" charset="2"/>
                  <a:buChar char="q"/>
                </a:pPr>
                <a:r>
                  <a:rPr lang="en-US" i="1" dirty="0">
                    <a:solidFill>
                      <a:srgbClr val="002060"/>
                    </a:solidFill>
                    <a:latin typeface="fkGroteskNeue"/>
                  </a:rPr>
                  <a:t>What you pay: Fuel cost (I</a:t>
                </a:r>
                <a:r>
                  <a:rPr lang="en-US" i="1" baseline="-25000" dirty="0">
                    <a:solidFill>
                      <a:srgbClr val="002060"/>
                    </a:solidFill>
                    <a:latin typeface="fkGroteskNeue"/>
                  </a:rPr>
                  <a:t>D</a:t>
                </a:r>
                <a:r>
                  <a:rPr lang="en-US" i="1" dirty="0">
                    <a:solidFill>
                      <a:srgbClr val="002060"/>
                    </a:solidFill>
                    <a:latin typeface="fkGroteskNeue"/>
                  </a:rPr>
                  <a:t>)</a:t>
                </a:r>
              </a:p>
              <a:p>
                <a:pPr marL="342900" indent="-342900" algn="l">
                  <a:buFont typeface="Wingdings" panose="05000000000000000000" pitchFamily="2" charset="2"/>
                  <a:buChar char="q"/>
                </a:pPr>
                <a:r>
                  <a:rPr lang="en-US" dirty="0">
                    <a:latin typeface="fkGroteskNeue"/>
                  </a:rPr>
                  <a:t>Definition:</a:t>
                </a:r>
              </a:p>
              <a:p>
                <a:pPr marL="742950" lvl="1" indent="-285750" algn="l">
                  <a:buFont typeface="Wingdings" panose="05000000000000000000" pitchFamily="2" charset="2"/>
                  <a:buChar char="q"/>
                </a:pPr>
                <a:r>
                  <a:rPr lang="en-US" b="1" i="1" dirty="0">
                    <a:solidFill>
                      <a:srgbClr val="00B050"/>
                    </a:solidFill>
                    <a:latin typeface="fkGroteskNeue"/>
                  </a:rPr>
                  <a:t>"Transistor Efficiency (TE</a:t>
                </a:r>
                <a:r>
                  <a:rPr lang="en-US" b="1" i="1" dirty="0" smtClean="0">
                    <a:solidFill>
                      <a:srgbClr val="00B050"/>
                    </a:solidFill>
                    <a:latin typeface="fkGroteskNeue"/>
                  </a:rPr>
                  <a:t>)":</a:t>
                </a:r>
              </a:p>
              <a:p>
                <a:pPr marL="742950" lvl="1" indent="-285750" algn="l">
                  <a:buFont typeface="Wingdings" panose="05000000000000000000" pitchFamily="2" charset="2"/>
                  <a:buChar char="q"/>
                </a:pPr>
                <a:endParaRPr lang="en-US" dirty="0" smtClean="0">
                  <a:latin typeface="fkGroteskNeue"/>
                </a:endParaRPr>
              </a:p>
              <a:p>
                <a:pPr marL="742950" lvl="1" indent="-285750" algn="l">
                  <a:buFont typeface="Wingdings" panose="05000000000000000000" pitchFamily="2" charset="2"/>
                  <a:buChar char="q"/>
                </a:pPr>
                <a:endParaRPr lang="en-US" dirty="0" smtClean="0">
                  <a:latin typeface="fkGroteskNeue"/>
                </a:endParaRPr>
              </a:p>
              <a:p>
                <a:pPr marL="742950" lvl="1" indent="-285750" algn="l">
                  <a:buFont typeface="Wingdings" panose="05000000000000000000" pitchFamily="2" charset="2"/>
                  <a:buChar char="q"/>
                </a:pPr>
                <a:endParaRPr lang="en-US" dirty="0">
                  <a:latin typeface="fkGroteskNeue"/>
                </a:endParaRPr>
              </a:p>
              <a:p>
                <a:pPr lvl="1" algn="l"/>
                <a:endParaRPr lang="en-US" baseline="-25000" dirty="0">
                  <a:latin typeface="fkGroteskNeue"/>
                </a:endParaRPr>
              </a:p>
              <a:p>
                <a:pPr marL="742950" lvl="1" indent="-285750" algn="l">
                  <a:buFont typeface="Wingdings" panose="05000000000000000000" pitchFamily="2" charset="2"/>
                  <a:buChar char="q"/>
                </a:pPr>
                <a:r>
                  <a:rPr lang="en-US" b="1" i="1" dirty="0">
                    <a:solidFill>
                      <a:srgbClr val="00B050"/>
                    </a:solidFill>
                    <a:latin typeface="fkGroteskNeue"/>
                  </a:rPr>
                  <a:t>The goal: </a:t>
                </a:r>
                <a:r>
                  <a:rPr lang="en-US" b="1" i="1" dirty="0">
                    <a:solidFill>
                      <a:srgbClr val="002060"/>
                    </a:solidFill>
                    <a:latin typeface="fkGroteskNeue"/>
                  </a:rPr>
                  <a:t>Maximize TE </a:t>
                </a:r>
                <a:r>
                  <a:rPr lang="en-US" dirty="0">
                    <a:latin typeface="fkGroteskNeue"/>
                  </a:rPr>
                  <a:t>(high-performance operation for every </a:t>
                </a:r>
                <a:r>
                  <a:rPr lang="en-US" dirty="0" err="1">
                    <a:latin typeface="fkGroteskNeue"/>
                  </a:rPr>
                  <a:t>microamp</a:t>
                </a:r>
                <a:r>
                  <a:rPr lang="en-US" dirty="0">
                    <a:latin typeface="fkGroteskNeue"/>
                  </a:rPr>
                  <a:t> spent).</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651934" y="1864986"/>
                <a:ext cx="6974416" cy="3772443"/>
              </a:xfrm>
              <a:blipFill>
                <a:blip r:embed="rId3"/>
                <a:stretch>
                  <a:fillRect l="-2273"/>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17310" y="6486341"/>
            <a:ext cx="1370839" cy="2002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17144" y="64157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4"/>
          <a:srcRect l="8676" t="1166" r="2225" b="9783"/>
          <a:stretch/>
        </p:blipFill>
        <p:spPr>
          <a:xfrm>
            <a:off x="7615714" y="2089149"/>
            <a:ext cx="3741896" cy="3086101"/>
          </a:xfrm>
          <a:prstGeom prst="rect">
            <a:avLst/>
          </a:prstGeom>
        </p:spPr>
      </p:pic>
      <p:sp>
        <p:nvSpPr>
          <p:cNvPr id="9" name="Rectangle 8"/>
          <p:cNvSpPr/>
          <p:nvPr/>
        </p:nvSpPr>
        <p:spPr>
          <a:xfrm>
            <a:off x="4809970" y="1158845"/>
            <a:ext cx="2563522" cy="400110"/>
          </a:xfrm>
          <a:prstGeom prst="rect">
            <a:avLst/>
          </a:prstGeom>
        </p:spPr>
        <p:txBody>
          <a:bodyPr wrap="none">
            <a:spAutoFit/>
          </a:bodyPr>
          <a:lstStyle/>
          <a:p>
            <a:r>
              <a:rPr lang="en-US" sz="2000" b="1" kern="0" dirty="0">
                <a:solidFill>
                  <a:srgbClr val="C00000"/>
                </a:solidFill>
                <a:latin typeface="fkGroteskNeue"/>
              </a:rPr>
              <a:t>Efficiency Analogy:</a:t>
            </a:r>
            <a:endParaRPr lang="en-US" b="1" dirty="0">
              <a:solidFill>
                <a:srgbClr val="C00000"/>
              </a:solidFill>
            </a:endParaRPr>
          </a:p>
        </p:txBody>
      </p:sp>
      <p:pic>
        <p:nvPicPr>
          <p:cNvPr id="10" name="Picture 9"/>
          <p:cNvPicPr>
            <a:picLocks noChangeAspect="1"/>
          </p:cNvPicPr>
          <p:nvPr/>
        </p:nvPicPr>
        <p:blipFill>
          <a:blip r:embed="rId5"/>
          <a:stretch>
            <a:fillRect/>
          </a:stretch>
        </p:blipFill>
        <p:spPr>
          <a:xfrm>
            <a:off x="2682794" y="3734841"/>
            <a:ext cx="3168813" cy="692186"/>
          </a:xfrm>
          <a:prstGeom prst="rect">
            <a:avLst/>
          </a:prstGeom>
        </p:spPr>
      </p:pic>
      <p:sp>
        <p:nvSpPr>
          <p:cNvPr id="11" name="Rectangle 10"/>
          <p:cNvSpPr/>
          <p:nvPr/>
        </p:nvSpPr>
        <p:spPr>
          <a:xfrm>
            <a:off x="7340600" y="1968501"/>
            <a:ext cx="4286250" cy="338455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5821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150" y="148167"/>
            <a:ext cx="10966450" cy="1046440"/>
          </a:xfrm>
        </p:spPr>
        <p:txBody>
          <a:bodyPr/>
          <a:lstStyle/>
          <a:p>
            <a:r>
              <a:rPr lang="en-US" dirty="0">
                <a:latin typeface="fkGrotesk"/>
              </a:rPr>
              <a:t>Why Does g</a:t>
            </a:r>
            <a:r>
              <a:rPr lang="en-US" baseline="-25000" dirty="0">
                <a:latin typeface="fkGrotesk"/>
              </a:rPr>
              <a:t>m</a:t>
            </a:r>
            <a:r>
              <a:rPr lang="en-US" dirty="0">
                <a:latin typeface="fkGrotesk"/>
              </a:rPr>
              <a:t> Control Speed? (The Bandwidth Analogy</a:t>
            </a:r>
            <a:r>
              <a:rPr lang="en-US" dirty="0" smtClean="0">
                <a:latin typeface="fkGrotesk"/>
              </a:rPr>
              <a: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0" y="1327353"/>
                <a:ext cx="5350933" cy="5081648"/>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Speed </a:t>
                </a:r>
                <a:r>
                  <a:rPr lang="en-US" b="1" dirty="0">
                    <a:solidFill>
                      <a:srgbClr val="C00000"/>
                    </a:solidFill>
                    <a:latin typeface="fkGroteskNeue"/>
                  </a:rPr>
                  <a:t>Limitation Analogy:</a:t>
                </a:r>
                <a:r>
                  <a:rPr lang="en-US" dirty="0">
                    <a:latin typeface="fkGroteskNeue"/>
                  </a:rPr>
                  <a:t/>
                </a:r>
                <a:br>
                  <a:rPr lang="en-US" dirty="0">
                    <a:latin typeface="fkGroteskNeue"/>
                  </a:rPr>
                </a:br>
                <a:r>
                  <a:rPr lang="en-US" dirty="0">
                    <a:latin typeface="fkGroteskNeue"/>
                  </a:rPr>
                  <a:t>Imagine the output node of your amplifier as a </a:t>
                </a:r>
                <a:r>
                  <a:rPr lang="en-US" b="1" i="1" dirty="0">
                    <a:solidFill>
                      <a:srgbClr val="002060"/>
                    </a:solidFill>
                    <a:latin typeface="fkGroteskNeue"/>
                  </a:rPr>
                  <a:t>heavy door (big capacitor C</a:t>
                </a:r>
                <a:r>
                  <a:rPr lang="en-US" b="1" i="1" baseline="-25000" dirty="0">
                    <a:solidFill>
                      <a:srgbClr val="002060"/>
                    </a:solidFill>
                    <a:latin typeface="fkGroteskNeue"/>
                  </a:rPr>
                  <a:t>L</a:t>
                </a:r>
                <a:r>
                  <a:rPr lang="en-US" b="1" i="1" dirty="0">
                    <a:solidFill>
                      <a:srgbClr val="002060"/>
                    </a:solidFill>
                    <a:latin typeface="fkGroteskNeue"/>
                  </a:rPr>
                  <a:t>). </a:t>
                </a:r>
                <a:r>
                  <a:rPr lang="en-US" dirty="0">
                    <a:latin typeface="fkGroteskNeue"/>
                  </a:rPr>
                  <a:t>When you slam it, how fast it opens (circuit response) depends on how much muscle (g</a:t>
                </a:r>
                <a:r>
                  <a:rPr lang="en-US" baseline="-25000" dirty="0">
                    <a:latin typeface="fkGroteskNeue"/>
                  </a:rPr>
                  <a:t>m</a:t>
                </a:r>
                <a:r>
                  <a:rPr lang="en-US" dirty="0">
                    <a:latin typeface="fkGroteskNeue"/>
                  </a:rPr>
                  <a:t>) you supply and how heavy the door is.</a:t>
                </a:r>
              </a:p>
              <a:p>
                <a:pPr marL="742950" lvl="1" indent="-285750" algn="l">
                  <a:buFont typeface="Wingdings" panose="05000000000000000000" pitchFamily="2" charset="2"/>
                  <a:buChar char="q"/>
                </a:pPr>
                <a:r>
                  <a:rPr lang="en-US" i="1" dirty="0">
                    <a:solidFill>
                      <a:srgbClr val="002060"/>
                    </a:solidFill>
                    <a:latin typeface="fkGroteskNeue"/>
                  </a:rPr>
                  <a:t>More g</a:t>
                </a:r>
                <a:r>
                  <a:rPr lang="en-US" i="1" baseline="-25000" dirty="0">
                    <a:solidFill>
                      <a:srgbClr val="002060"/>
                    </a:solidFill>
                    <a:latin typeface="fkGroteskNeue"/>
                  </a:rPr>
                  <a:t>m</a:t>
                </a:r>
                <a:r>
                  <a:rPr lang="en-US" i="1" dirty="0">
                    <a:solidFill>
                      <a:srgbClr val="002060"/>
                    </a:solidFill>
                    <a:latin typeface="fkGroteskNeue"/>
                  </a:rPr>
                  <a:t> = stronger push, faster response.</a:t>
                </a:r>
              </a:p>
              <a:p>
                <a:pPr marL="742950" lvl="1" indent="-285750" algn="l">
                  <a:buFont typeface="Wingdings" panose="05000000000000000000" pitchFamily="2" charset="2"/>
                  <a:buChar char="q"/>
                </a:pPr>
                <a:r>
                  <a:rPr lang="en-US" i="1" dirty="0">
                    <a:solidFill>
                      <a:srgbClr val="002060"/>
                    </a:solidFill>
                    <a:latin typeface="fkGroteskNeue"/>
                  </a:rPr>
                  <a:t>Large C</a:t>
                </a:r>
                <a:r>
                  <a:rPr lang="en-US" i="1" baseline="-25000" dirty="0">
                    <a:solidFill>
                      <a:srgbClr val="002060"/>
                    </a:solidFill>
                    <a:latin typeface="fkGroteskNeue"/>
                  </a:rPr>
                  <a:t>L</a:t>
                </a:r>
                <a:r>
                  <a:rPr lang="en-US" i="1" dirty="0">
                    <a:solidFill>
                      <a:srgbClr val="002060"/>
                    </a:solidFill>
                    <a:latin typeface="fkGroteskNeue"/>
                  </a:rPr>
                  <a:t> = heavier door, slower movement.</a:t>
                </a:r>
              </a:p>
              <a:p>
                <a:pPr marL="342900" indent="-342900" algn="l">
                  <a:buFont typeface="Wingdings" panose="05000000000000000000" pitchFamily="2" charset="2"/>
                  <a:buChar char="q"/>
                </a:pPr>
                <a:r>
                  <a:rPr lang="en-US" b="1" dirty="0">
                    <a:solidFill>
                      <a:srgbClr val="C00000"/>
                    </a:solidFill>
                    <a:latin typeface="fkGroteskNeue"/>
                  </a:rPr>
                  <a:t>Core Formula:</a:t>
                </a:r>
              </a:p>
              <a:p>
                <a:pPr marL="742950" lvl="1" indent="-285750" algn="l">
                  <a:buFont typeface="Wingdings" panose="05000000000000000000" pitchFamily="2" charset="2"/>
                  <a:buChar char="q"/>
                </a:pPr>
                <a:r>
                  <a:rPr lang="en-US" dirty="0">
                    <a:latin typeface="fkGroteskNeue"/>
                  </a:rPr>
                  <a:t>Unity-gain bandwidth (GBW</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marL="742950" lvl="1" indent="-285750" algn="l">
                  <a:buFont typeface="Wingdings" panose="05000000000000000000" pitchFamily="2" charset="2"/>
                  <a:buChar char="q"/>
                </a:pPr>
                <a:endParaRPr lang="en-US" dirty="0">
                  <a:latin typeface="fkGroteskNeue"/>
                </a:endParaRPr>
              </a:p>
              <a:p>
                <a:pPr marL="742950" lvl="1" indent="-285750" algn="l">
                  <a:buFont typeface="Wingdings" panose="05000000000000000000" pitchFamily="2" charset="2"/>
                  <a:buChar char="q"/>
                </a:pPr>
                <a:endParaRPr lang="en-US" dirty="0" smtClean="0">
                  <a:latin typeface="fkGroteskNeue"/>
                </a:endParaRPr>
              </a:p>
              <a:p>
                <a:pPr marL="742950" lvl="1" indent="-285750" algn="l">
                  <a:buFont typeface="Wingdings" panose="05000000000000000000" pitchFamily="2" charset="2"/>
                  <a:buChar char="q"/>
                </a:pPr>
                <a:r>
                  <a:rPr lang="en-US" dirty="0" smtClean="0">
                    <a:latin typeface="fkGroteskNeue"/>
                  </a:rPr>
                  <a:t>The </a:t>
                </a:r>
                <a:r>
                  <a:rPr lang="en-US" dirty="0">
                    <a:latin typeface="fkGroteskNeue"/>
                  </a:rPr>
                  <a:t>only way to make the circuit faster (all else fixed) is to buy more gm per I</a:t>
                </a:r>
                <a:r>
                  <a:rPr lang="en-US" baseline="-25000" dirty="0">
                    <a:latin typeface="fkGroteskNeue"/>
                  </a:rPr>
                  <a:t>D</a:t>
                </a:r>
                <a:r>
                  <a:rPr lang="en-US" dirty="0">
                    <a:latin typeface="fkGroteskNeue"/>
                  </a:rPr>
                  <a:t> – i.e., a higher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endParaRPr lang="en-US" dirty="0">
                  <a:latin typeface="fkGroteskNeue"/>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0" y="1327353"/>
                <a:ext cx="5350933" cy="5081648"/>
              </a:xfrm>
              <a:blipFill>
                <a:blip r:embed="rId2"/>
                <a:stretch>
                  <a:fillRect l="-2733" t="-1441" r="-296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30010" y="6467290"/>
            <a:ext cx="1326389"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34594" y="64284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7" name="Rectangle 6"/>
              <p:cNvSpPr/>
              <p:nvPr/>
            </p:nvSpPr>
            <p:spPr>
              <a:xfrm>
                <a:off x="5181601" y="4440247"/>
                <a:ext cx="6949439" cy="1634550"/>
              </a:xfrm>
              <a:prstGeom prst="rect">
                <a:avLst/>
              </a:prstGeom>
            </p:spPr>
            <p:txBody>
              <a:bodyPr wrap="square">
                <a:spAutoFit/>
              </a:bodyPr>
              <a:lstStyle/>
              <a:p>
                <a:pPr marL="342900" lvl="0" indent="-342900" algn="ctr">
                  <a:buFont typeface="Wingdings" panose="05000000000000000000" pitchFamily="2" charset="2"/>
                  <a:buChar char="q"/>
                </a:pPr>
                <a:r>
                  <a:rPr lang="en-US" sz="2000" b="1" kern="0" dirty="0">
                    <a:solidFill>
                      <a:srgbClr val="C00000"/>
                    </a:solidFill>
                    <a:latin typeface="fkGroteskNeue"/>
                  </a:rPr>
                  <a:t>Summary:</a:t>
                </a:r>
              </a:p>
              <a:p>
                <a:pPr marL="742950" lvl="1" indent="-285750">
                  <a:buFont typeface="Wingdings" panose="05000000000000000000" pitchFamily="2" charset="2"/>
                  <a:buChar char="q"/>
                </a:pPr>
                <a:r>
                  <a:rPr lang="en-US" kern="0" dirty="0">
                    <a:solidFill>
                      <a:sysClr val="windowText" lastClr="000000"/>
                    </a:solidFill>
                    <a:latin typeface="fkGroteskNeue"/>
                  </a:rPr>
                  <a:t>We </a:t>
                </a:r>
                <a:r>
                  <a:rPr lang="en-US" i="1" kern="0" dirty="0">
                    <a:solidFill>
                      <a:srgbClr val="002060"/>
                    </a:solidFill>
                    <a:latin typeface="fkGroteskNeue"/>
                  </a:rPr>
                  <a:t>rarely control C</a:t>
                </a:r>
                <a:r>
                  <a:rPr lang="en-US" i="1" kern="0" baseline="-25000" dirty="0">
                    <a:solidFill>
                      <a:srgbClr val="002060"/>
                    </a:solidFill>
                    <a:latin typeface="fkGroteskNeue"/>
                  </a:rPr>
                  <a:t>L</a:t>
                </a:r>
                <a:r>
                  <a:rPr lang="en-US" i="1" kern="0" dirty="0">
                    <a:solidFill>
                      <a:srgbClr val="002060"/>
                    </a:solidFill>
                    <a:latin typeface="fkGroteskNeue"/>
                  </a:rPr>
                  <a:t> </a:t>
                </a:r>
                <a:r>
                  <a:rPr lang="en-US" kern="0" dirty="0">
                    <a:solidFill>
                      <a:sysClr val="windowText" lastClr="000000"/>
                    </a:solidFill>
                    <a:latin typeface="fkGroteskNeue"/>
                  </a:rPr>
                  <a:t>(set by system needs). </a:t>
                </a:r>
                <a:r>
                  <a:rPr lang="en-US" i="1" kern="0" dirty="0">
                    <a:solidFill>
                      <a:srgbClr val="002060"/>
                    </a:solidFill>
                    <a:latin typeface="fkGroteskNeue"/>
                  </a:rPr>
                  <a:t>Speed is set by our ‘muscle’ (g</a:t>
                </a:r>
                <a:r>
                  <a:rPr lang="en-US" i="1" kern="0" baseline="-25000" dirty="0">
                    <a:solidFill>
                      <a:srgbClr val="002060"/>
                    </a:solidFill>
                    <a:latin typeface="fkGroteskNeue"/>
                  </a:rPr>
                  <a:t>m</a:t>
                </a:r>
                <a:r>
                  <a:rPr lang="en-US" i="1" kern="0" dirty="0">
                    <a:solidFill>
                      <a:srgbClr val="002060"/>
                    </a:solidFill>
                    <a:latin typeface="fkGroteskNeue"/>
                  </a:rPr>
                  <a:t>).</a:t>
                </a:r>
              </a:p>
              <a:p>
                <a:pPr marL="742950" lvl="1" indent="-285750">
                  <a:buFont typeface="Wingdings" panose="05000000000000000000" pitchFamily="2" charset="2"/>
                  <a:buChar char="q"/>
                </a:pPr>
                <a:r>
                  <a:rPr lang="en-US" kern="0" dirty="0">
                    <a:solidFill>
                      <a:sysClr val="windowText" lastClr="000000"/>
                    </a:solidFill>
                    <a:latin typeface="fkGroteskNeue"/>
                  </a:rPr>
                  <a:t>Thus, a </a:t>
                </a:r>
                <a:r>
                  <a:rPr lang="en-US" i="1" kern="0" dirty="0" smtClean="0">
                    <a:solidFill>
                      <a:srgbClr val="002060"/>
                    </a:solidFill>
                    <a:latin typeface="fkGroteskNeue"/>
                  </a:rPr>
                  <a:t>design with higher transistor efficiency (</a:t>
                </a:r>
                <a14:m>
                  <m:oMath xmlns:m="http://schemas.openxmlformats.org/officeDocument/2006/math">
                    <m:f>
                      <m:fPr>
                        <m:ctrlPr>
                          <a:rPr lang="en-US" i="1" smtClean="0">
                            <a:solidFill>
                              <a:srgbClr val="002060"/>
                            </a:solidFill>
                            <a:latin typeface="Cambria Math" panose="02040503050406030204" pitchFamily="18" charset="0"/>
                          </a:rPr>
                        </m:ctrlPr>
                      </m:fPr>
                      <m:num>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𝑔</m:t>
                            </m:r>
                          </m:e>
                          <m:sub>
                            <m:r>
                              <a:rPr lang="en-US" i="1">
                                <a:solidFill>
                                  <a:srgbClr val="002060"/>
                                </a:solidFill>
                                <a:latin typeface="Cambria Math" panose="02040503050406030204" pitchFamily="18" charset="0"/>
                              </a:rPr>
                              <m:t>𝑚</m:t>
                            </m:r>
                          </m:sub>
                        </m:sSub>
                      </m:num>
                      <m:den>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𝐼</m:t>
                            </m:r>
                          </m:e>
                          <m:sub>
                            <m:r>
                              <a:rPr lang="en-US" i="1">
                                <a:solidFill>
                                  <a:srgbClr val="002060"/>
                                </a:solidFill>
                                <a:latin typeface="Cambria Math" panose="02040503050406030204" pitchFamily="18" charset="0"/>
                              </a:rPr>
                              <m:t>𝐷</m:t>
                            </m:r>
                          </m:sub>
                        </m:sSub>
                      </m:den>
                    </m:f>
                  </m:oMath>
                </a14:m>
                <a:r>
                  <a:rPr lang="en-US" i="1" kern="0" dirty="0">
                    <a:solidFill>
                      <a:srgbClr val="002060"/>
                    </a:solidFill>
                    <a:latin typeface="fkGroteskNeue"/>
                  </a:rPr>
                  <a:t>) gets more speed for every amp you burn.</a:t>
                </a:r>
              </a:p>
            </p:txBody>
          </p:sp>
        </mc:Choice>
        <mc:Fallback xmlns="">
          <p:sp>
            <p:nvSpPr>
              <p:cNvPr id="7" name="Rectangle 6"/>
              <p:cNvSpPr>
                <a:spLocks noRot="1" noChangeAspect="1" noMove="1" noResize="1" noEditPoints="1" noAdjustHandles="1" noChangeArrowheads="1" noChangeShapeType="1" noTextEdit="1"/>
              </p:cNvSpPr>
              <p:nvPr/>
            </p:nvSpPr>
            <p:spPr>
              <a:xfrm>
                <a:off x="5181601" y="4440247"/>
                <a:ext cx="6949439" cy="1634550"/>
              </a:xfrm>
              <a:prstGeom prst="rect">
                <a:avLst/>
              </a:prstGeom>
              <a:blipFill>
                <a:blip r:embed="rId3"/>
                <a:stretch>
                  <a:fillRect t="-1487" b="-4833"/>
                </a:stretch>
              </a:blipFill>
            </p:spPr>
            <p:txBody>
              <a:bodyPr/>
              <a:lstStyle/>
              <a:p>
                <a:r>
                  <a:rPr lang="en-US">
                    <a:noFill/>
                  </a:rPr>
                  <a:t> </a:t>
                </a:r>
              </a:p>
            </p:txBody>
          </p:sp>
        </mc:Fallback>
      </mc:AlternateContent>
      <p:pic>
        <p:nvPicPr>
          <p:cNvPr id="8" name="Picture 7"/>
          <p:cNvPicPr>
            <a:picLocks noChangeAspect="1"/>
          </p:cNvPicPr>
          <p:nvPr/>
        </p:nvPicPr>
        <p:blipFill>
          <a:blip r:embed="rId4"/>
          <a:stretch>
            <a:fillRect/>
          </a:stretch>
        </p:blipFill>
        <p:spPr>
          <a:xfrm>
            <a:off x="1636111" y="4353965"/>
            <a:ext cx="2781443" cy="673135"/>
          </a:xfrm>
          <a:prstGeom prst="rect">
            <a:avLst/>
          </a:prstGeom>
        </p:spPr>
      </p:pic>
      <p:pic>
        <p:nvPicPr>
          <p:cNvPr id="10" name="Picture 9" descr="image"/>
          <p:cNvPicPr/>
          <p:nvPr/>
        </p:nvPicPr>
        <p:blipFill rotWithShape="1">
          <a:blip r:embed="rId5" cstate="print">
            <a:extLst>
              <a:ext uri="{28A0092B-C50C-407E-A947-70E740481C1C}">
                <a14:useLocalDpi xmlns:a14="http://schemas.microsoft.com/office/drawing/2010/main" val="0"/>
              </a:ext>
            </a:extLst>
          </a:blip>
          <a:srcRect l="575" t="-188" r="4792" b="867"/>
          <a:stretch/>
        </p:blipFill>
        <p:spPr bwMode="auto">
          <a:xfrm>
            <a:off x="5755640" y="1148080"/>
            <a:ext cx="6156960" cy="3347720"/>
          </a:xfrm>
          <a:prstGeom prst="rect">
            <a:avLst/>
          </a:prstGeom>
          <a:noFill/>
          <a:ln>
            <a:noFill/>
          </a:ln>
        </p:spPr>
      </p:pic>
      <p:sp>
        <p:nvSpPr>
          <p:cNvPr id="11" name="Rectangle 10"/>
          <p:cNvSpPr/>
          <p:nvPr/>
        </p:nvSpPr>
        <p:spPr>
          <a:xfrm>
            <a:off x="5696585" y="1128814"/>
            <a:ext cx="6304915" cy="338603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64388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g</a:t>
            </a:r>
            <a:r>
              <a:rPr lang="en-US" baseline="-25000" dirty="0">
                <a:latin typeface="fkGrotesk"/>
              </a:rPr>
              <a:t>m</a:t>
            </a:r>
            <a:r>
              <a:rPr lang="en-US" dirty="0">
                <a:latin typeface="fkGrotesk"/>
              </a:rPr>
              <a:t> and Noise (Clarity vs. Strength Analogy</a:t>
            </a:r>
            <a:r>
              <a:rPr lang="en-US" dirty="0" smtClean="0">
                <a:latin typeface="fkGrotesk"/>
              </a:rPr>
              <a: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276314" y="1187631"/>
                <a:ext cx="5730875" cy="5235536"/>
              </a:xfrm>
            </p:spPr>
            <p:txBody>
              <a:bodyPr/>
              <a:lstStyle/>
              <a:p>
                <a:pPr marL="342900" indent="-342900" algn="l">
                  <a:buFont typeface="Wingdings" panose="05000000000000000000" pitchFamily="2" charset="2"/>
                  <a:buChar char="q"/>
                </a:pPr>
                <a:r>
                  <a:rPr lang="en-US" b="1" dirty="0" smtClean="0">
                    <a:solidFill>
                      <a:srgbClr val="C00000"/>
                    </a:solidFill>
                    <a:latin typeface="fkGroteskNeue"/>
                  </a:rPr>
                  <a:t>Noise </a:t>
                </a:r>
                <a:r>
                  <a:rPr lang="en-US" b="1" dirty="0">
                    <a:solidFill>
                      <a:srgbClr val="C00000"/>
                    </a:solidFill>
                    <a:latin typeface="fkGroteskNeue"/>
                  </a:rPr>
                  <a:t>Analogy:</a:t>
                </a:r>
              </a:p>
              <a:p>
                <a:pPr marL="742950" lvl="1" indent="-285750" algn="just">
                  <a:buFont typeface="Wingdings" panose="05000000000000000000" pitchFamily="2" charset="2"/>
                  <a:buChar char="q"/>
                </a:pPr>
                <a:r>
                  <a:rPr lang="en-US" dirty="0">
                    <a:latin typeface="fkGroteskNeue"/>
                  </a:rPr>
                  <a:t>Imagine you want to hear someone across a noisy room. If you can speak very forcefully (high g</a:t>
                </a:r>
                <a:r>
                  <a:rPr lang="en-US" baseline="-25000" dirty="0">
                    <a:latin typeface="fkGroteskNeue"/>
                  </a:rPr>
                  <a:t>m</a:t>
                </a:r>
                <a:r>
                  <a:rPr lang="en-US" dirty="0">
                    <a:latin typeface="fkGroteskNeue"/>
                  </a:rPr>
                  <a:t>), your words stand out over the noise.</a:t>
                </a:r>
              </a:p>
              <a:p>
                <a:pPr marL="742950" lvl="1" indent="-285750" algn="just">
                  <a:buFont typeface="Wingdings" panose="05000000000000000000" pitchFamily="2" charset="2"/>
                  <a:buChar char="q"/>
                </a:pPr>
                <a:r>
                  <a:rPr lang="en-US" dirty="0">
                    <a:latin typeface="fkGroteskNeue"/>
                  </a:rPr>
                  <a:t>If your ‘voice’ is weak (low g</a:t>
                </a:r>
                <a:r>
                  <a:rPr lang="en-US" baseline="-25000" dirty="0">
                    <a:latin typeface="fkGroteskNeue"/>
                  </a:rPr>
                  <a:t>m</a:t>
                </a:r>
                <a:r>
                  <a:rPr lang="en-US" dirty="0">
                    <a:latin typeface="fkGroteskNeue"/>
                  </a:rPr>
                  <a:t>), the noise drowns you out.</a:t>
                </a:r>
              </a:p>
              <a:p>
                <a:pPr marL="342900" indent="-342900" algn="l">
                  <a:buFont typeface="Wingdings" panose="05000000000000000000" pitchFamily="2" charset="2"/>
                  <a:buChar char="q"/>
                </a:pPr>
                <a:r>
                  <a:rPr lang="en-US" b="1" dirty="0">
                    <a:solidFill>
                      <a:srgbClr val="C00000"/>
                    </a:solidFill>
                    <a:latin typeface="fkGroteskNeue"/>
                  </a:rPr>
                  <a:t>Formula:</a:t>
                </a:r>
              </a:p>
              <a:p>
                <a:pPr marL="742950" lvl="1" indent="-285750" algn="l">
                  <a:buFont typeface="Wingdings" panose="05000000000000000000" pitchFamily="2" charset="2"/>
                  <a:buChar char="q"/>
                </a:pPr>
                <a:r>
                  <a:rPr lang="en-US" dirty="0">
                    <a:latin typeface="fkGroteskNeue"/>
                  </a:rPr>
                  <a:t>Input-referred noise voltage is inversely proportional to g</a:t>
                </a:r>
                <a:r>
                  <a:rPr lang="en-US" baseline="-25000" dirty="0">
                    <a:latin typeface="fkGroteskNeue"/>
                  </a:rPr>
                  <a:t>m</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marL="742950" lvl="1" indent="-285750" algn="l">
                  <a:buFont typeface="Wingdings" panose="05000000000000000000" pitchFamily="2" charset="2"/>
                  <a:buChar char="q"/>
                </a:pPr>
                <a:endParaRPr lang="en-US" dirty="0" smtClean="0">
                  <a:latin typeface="KaTeX_Main"/>
                </a:endParaRPr>
              </a:p>
              <a:p>
                <a:pPr marL="742950" lvl="1" indent="-285750" algn="l">
                  <a:buFont typeface="Wingdings" panose="05000000000000000000" pitchFamily="2" charset="2"/>
                  <a:buChar char="q"/>
                </a:pPr>
                <a:endParaRPr lang="en-US" dirty="0" smtClean="0">
                  <a:latin typeface="KaTeX_Main"/>
                </a:endParaRPr>
              </a:p>
              <a:p>
                <a:pPr marL="742950" lvl="1" indent="-285750" algn="l">
                  <a:buFont typeface="Wingdings" panose="05000000000000000000" pitchFamily="2" charset="2"/>
                  <a:buChar char="q"/>
                </a:pPr>
                <a:r>
                  <a:rPr lang="en-US" dirty="0" smtClean="0">
                    <a:latin typeface="fkGroteskNeue"/>
                  </a:rPr>
                  <a:t>More </a:t>
                </a:r>
                <a:r>
                  <a:rPr lang="en-US" dirty="0">
                    <a:latin typeface="fkGroteskNeue"/>
                  </a:rPr>
                  <a:t>g</a:t>
                </a:r>
                <a:r>
                  <a:rPr lang="en-US" baseline="-25000" dirty="0">
                    <a:latin typeface="fkGroteskNeue"/>
                  </a:rPr>
                  <a:t>m</a:t>
                </a:r>
                <a:r>
                  <a:rPr lang="en-US" dirty="0">
                    <a:latin typeface="fkGroteskNeue"/>
                  </a:rPr>
                  <a:t> = less noise at the input.</a:t>
                </a:r>
              </a:p>
              <a:p>
                <a:pPr marL="342900" indent="-342900" algn="l">
                  <a:buFont typeface="Wingdings" panose="05000000000000000000" pitchFamily="2" charset="2"/>
                  <a:buChar char="q"/>
                </a:pPr>
                <a:r>
                  <a:rPr lang="en-US" b="1" dirty="0">
                    <a:solidFill>
                      <a:srgbClr val="C00000"/>
                    </a:solidFill>
                    <a:latin typeface="fkGroteskNeue"/>
                  </a:rPr>
                  <a:t>Summary:</a:t>
                </a:r>
              </a:p>
              <a:p>
                <a:pPr marL="742950" lvl="1" indent="-285750" algn="l">
                  <a:buFont typeface="Wingdings" panose="05000000000000000000" pitchFamily="2" charset="2"/>
                  <a:buChar char="q"/>
                </a:pPr>
                <a:r>
                  <a:rPr lang="en-US" dirty="0">
                    <a:latin typeface="fkGroteskNeue"/>
                  </a:rPr>
                  <a:t>To design a low-noise circuit, invest in higher gm (via higher I</a:t>
                </a:r>
                <a:r>
                  <a:rPr lang="en-US" baseline="-25000" dirty="0">
                    <a:latin typeface="fkGroteskNeue"/>
                  </a:rPr>
                  <a:t>D</a:t>
                </a:r>
                <a:r>
                  <a:rPr lang="en-US" dirty="0">
                    <a:latin typeface="fkGroteskNeue"/>
                  </a:rPr>
                  <a:t> or better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i.e., biasing and technology choice).</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276314" y="1187631"/>
                <a:ext cx="5730875" cy="5235536"/>
              </a:xfrm>
              <a:blipFill>
                <a:blip r:embed="rId2"/>
                <a:stretch>
                  <a:fillRect l="-2553" t="-1397" r="-266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385560" y="6460940"/>
            <a:ext cx="1345439" cy="27005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612394" y="64728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3"/>
          <a:stretch>
            <a:fillRect/>
          </a:stretch>
        </p:blipFill>
        <p:spPr>
          <a:xfrm>
            <a:off x="2552446" y="3777381"/>
            <a:ext cx="1200212" cy="666784"/>
          </a:xfrm>
          <a:prstGeom prst="rect">
            <a:avLst/>
          </a:prstGeom>
        </p:spPr>
      </p:pic>
      <p:pic>
        <p:nvPicPr>
          <p:cNvPr id="10" name="Picture 9" descr="image"/>
          <p:cNvPicPr/>
          <p:nvPr/>
        </p:nvPicPr>
        <p:blipFill rotWithShape="1">
          <a:blip r:embed="rId4" cstate="print">
            <a:extLst>
              <a:ext uri="{28A0092B-C50C-407E-A947-70E740481C1C}">
                <a14:useLocalDpi xmlns:a14="http://schemas.microsoft.com/office/drawing/2010/main" val="0"/>
              </a:ext>
            </a:extLst>
          </a:blip>
          <a:srcRect r="48144"/>
          <a:stretch/>
        </p:blipFill>
        <p:spPr bwMode="auto">
          <a:xfrm>
            <a:off x="7143750" y="1931352"/>
            <a:ext cx="4014787" cy="2977198"/>
          </a:xfrm>
          <a:prstGeom prst="rect">
            <a:avLst/>
          </a:prstGeom>
          <a:noFill/>
          <a:ln>
            <a:noFill/>
          </a:ln>
          <a:extLst>
            <a:ext uri="{53640926-AAD7-44D8-BBD7-CCE9431645EC}">
              <a14:shadowObscured xmlns:a14="http://schemas.microsoft.com/office/drawing/2010/main"/>
            </a:ext>
          </a:extLst>
        </p:spPr>
      </p:pic>
      <p:sp>
        <p:nvSpPr>
          <p:cNvPr id="11" name="Rectangle 10"/>
          <p:cNvSpPr/>
          <p:nvPr/>
        </p:nvSpPr>
        <p:spPr>
          <a:xfrm>
            <a:off x="7112000" y="1746249"/>
            <a:ext cx="3911600" cy="278130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751427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Takeaways for </a:t>
            </a:r>
            <a:r>
              <a:rPr lang="en-US" dirty="0" smtClean="0">
                <a:latin typeface="fkGrotesk"/>
              </a:rPr>
              <a:t>Design</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519410" cy="3136115"/>
              </a:xfrm>
            </p:spPr>
            <p:txBody>
              <a:bodyPr/>
              <a:lstStyle/>
              <a:p>
                <a:pPr marL="342900" indent="-342900" algn="l">
                  <a:buFont typeface="Wingdings" panose="05000000000000000000" pitchFamily="2" charset="2"/>
                  <a:buChar char="q"/>
                </a:pPr>
                <a14:m>
                  <m:oMath xmlns:m="http://schemas.openxmlformats.org/officeDocument/2006/math">
                    <m:f>
                      <m:fPr>
                        <m:ctrlPr>
                          <a:rPr lang="en-US" b="1" i="1" smtClean="0">
                            <a:solidFill>
                              <a:srgbClr val="00B050"/>
                            </a:solidFill>
                            <a:latin typeface="Cambria Math" panose="02040503050406030204" pitchFamily="18" charset="0"/>
                          </a:rPr>
                        </m:ctrlPr>
                      </m:fPr>
                      <m:num>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𝒈</m:t>
                            </m:r>
                          </m:e>
                          <m:sub>
                            <m:r>
                              <a:rPr lang="en-US" b="1" i="1">
                                <a:solidFill>
                                  <a:srgbClr val="00B050"/>
                                </a:solidFill>
                                <a:latin typeface="Cambria Math" panose="02040503050406030204" pitchFamily="18" charset="0"/>
                              </a:rPr>
                              <m:t>𝒎</m:t>
                            </m:r>
                          </m:sub>
                        </m:sSub>
                      </m:num>
                      <m:den>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𝑰</m:t>
                            </m:r>
                          </m:e>
                          <m:sub>
                            <m:r>
                              <a:rPr lang="en-US" b="1" i="1">
                                <a:solidFill>
                                  <a:srgbClr val="00B050"/>
                                </a:solidFill>
                                <a:latin typeface="Cambria Math" panose="02040503050406030204" pitchFamily="18" charset="0"/>
                              </a:rPr>
                              <m:t>𝑫</m:t>
                            </m:r>
                          </m:sub>
                        </m:sSub>
                      </m:den>
                    </m:f>
                  </m:oMath>
                </a14:m>
                <a:r>
                  <a:rPr lang="en-US" b="1" dirty="0" smtClean="0">
                    <a:solidFill>
                      <a:srgbClr val="00B050"/>
                    </a:solidFill>
                    <a:latin typeface="fkGroteskNeue"/>
                  </a:rPr>
                  <a:t> </a:t>
                </a:r>
                <a:r>
                  <a:rPr lang="en-US" b="1" dirty="0">
                    <a:solidFill>
                      <a:srgbClr val="00B050"/>
                    </a:solidFill>
                    <a:latin typeface="fkGroteskNeue"/>
                  </a:rPr>
                  <a:t>is Your “Performance-to-Cost” Ratio:</a:t>
                </a:r>
              </a:p>
              <a:p>
                <a:pPr marL="742950" lvl="1" indent="-285750" algn="l">
                  <a:buFont typeface="Wingdings" panose="05000000000000000000" pitchFamily="2" charset="2"/>
                  <a:buChar char="q"/>
                </a:pPr>
                <a:r>
                  <a:rPr lang="en-US" dirty="0">
                    <a:latin typeface="fkGroteskNeue"/>
                  </a:rPr>
                  <a:t>In every analog circuit, maximizing this ratio is like squeezing the most power out of every drop of fuel.</a:t>
                </a:r>
              </a:p>
              <a:p>
                <a:pPr marL="342900" indent="-342900" algn="l">
                  <a:buFont typeface="Wingdings" panose="05000000000000000000" pitchFamily="2" charset="2"/>
                  <a:buChar char="q"/>
                </a:pPr>
                <a:r>
                  <a:rPr lang="en-US" b="1" dirty="0">
                    <a:solidFill>
                      <a:srgbClr val="00B050"/>
                    </a:solidFill>
                    <a:latin typeface="fkGroteskNeue"/>
                  </a:rPr>
                  <a:t>Bandwidth and Noise Are All About g</a:t>
                </a:r>
                <a:r>
                  <a:rPr lang="en-US" b="1" baseline="-25000" dirty="0">
                    <a:solidFill>
                      <a:srgbClr val="00B050"/>
                    </a:solidFill>
                    <a:latin typeface="fkGroteskNeue"/>
                  </a:rPr>
                  <a:t>m</a:t>
                </a:r>
                <a:r>
                  <a:rPr lang="en-US" b="1" dirty="0">
                    <a:solidFill>
                      <a:srgbClr val="00B050"/>
                    </a:solidFill>
                    <a:latin typeface="fkGroteskNeue"/>
                  </a:rPr>
                  <a:t>:</a:t>
                </a:r>
              </a:p>
              <a:p>
                <a:pPr marL="742950" lvl="1" indent="-285750" algn="l">
                  <a:buFont typeface="Wingdings" panose="05000000000000000000" pitchFamily="2" charset="2"/>
                  <a:buChar char="q"/>
                </a:pPr>
                <a:r>
                  <a:rPr lang="en-US" dirty="0">
                    <a:latin typeface="fkGroteskNeue"/>
                  </a:rPr>
                  <a:t>Want faster response or lower noise? Either increase I</a:t>
                </a:r>
                <a:r>
                  <a:rPr lang="en-US" baseline="-25000" dirty="0">
                    <a:latin typeface="fkGroteskNeue"/>
                  </a:rPr>
                  <a:t>D</a:t>
                </a:r>
                <a:r>
                  <a:rPr lang="en-US" dirty="0">
                    <a:latin typeface="fkGroteskNeue"/>
                  </a:rPr>
                  <a:t> or operate where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is higher.</a:t>
                </a:r>
              </a:p>
              <a:p>
                <a:pPr marL="342900" indent="-342900" algn="l">
                  <a:buFont typeface="Wingdings" panose="05000000000000000000" pitchFamily="2" charset="2"/>
                  <a:buChar char="q"/>
                </a:pPr>
                <a:r>
                  <a:rPr lang="en-US" b="1" dirty="0">
                    <a:solidFill>
                      <a:srgbClr val="00B050"/>
                    </a:solidFill>
                    <a:latin typeface="fkGroteskNeue"/>
                  </a:rPr>
                  <a:t>Design Levers:</a:t>
                </a:r>
              </a:p>
              <a:p>
                <a:pPr marL="742950" lvl="1" indent="-285750" algn="l">
                  <a:buFont typeface="Wingdings" panose="05000000000000000000" pitchFamily="2" charset="2"/>
                  <a:buChar char="q"/>
                </a:pPr>
                <a:r>
                  <a:rPr lang="en-US" dirty="0">
                    <a:latin typeface="fkGroteskNeue"/>
                  </a:rPr>
                  <a:t>At fixed power: Seek regions/biases/devices with higher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a:t>
                </a:r>
              </a:p>
              <a:p>
                <a:pPr marL="742950" lvl="1" indent="-285750" algn="l">
                  <a:buFont typeface="Wingdings" panose="05000000000000000000" pitchFamily="2" charset="2"/>
                  <a:buChar char="q"/>
                </a:pPr>
                <a:r>
                  <a:rPr lang="en-US" dirty="0">
                    <a:latin typeface="fkGroteskNeue"/>
                  </a:rPr>
                  <a:t>For best energy efficiency in portable/</a:t>
                </a:r>
                <a:r>
                  <a:rPr lang="en-US" dirty="0" err="1">
                    <a:latin typeface="fkGroteskNeue"/>
                  </a:rPr>
                  <a:t>IoT</a:t>
                </a:r>
                <a:r>
                  <a:rPr lang="en-US" dirty="0">
                    <a:latin typeface="fkGroteskNeue"/>
                  </a:rPr>
                  <a:t>/CMM circuits, always plot and use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charts.</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19410" cy="3136115"/>
              </a:xfrm>
              <a:blipFill>
                <a:blip r:embed="rId2"/>
                <a:stretch>
                  <a:fillRect l="-1391" t="-155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7340752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0900" y="292100"/>
            <a:ext cx="10593196" cy="492443"/>
          </a:xfrm>
        </p:spPr>
        <p:txBody>
          <a:bodyPr/>
          <a:lstStyle/>
          <a:p>
            <a:pPr algn="ctr"/>
            <a:r>
              <a:rPr lang="en-US" sz="3200" b="1" dirty="0">
                <a:solidFill>
                  <a:srgbClr val="000000"/>
                </a:solidFill>
                <a:latin typeface="fkGrotesk"/>
                <a:ea typeface="inter"/>
                <a:cs typeface="inter"/>
              </a:rPr>
              <a:t>The Classic MOSFET Model — Making the </a:t>
            </a:r>
            <a:r>
              <a:rPr lang="en-US" sz="3200" b="1" dirty="0" smtClean="0">
                <a:solidFill>
                  <a:srgbClr val="000000"/>
                </a:solidFill>
                <a:latin typeface="fkGrotesk"/>
                <a:ea typeface="inter"/>
                <a:cs typeface="inter"/>
              </a:rPr>
              <a:t>Channel</a:t>
            </a:r>
            <a:endParaRPr lang="en-US" sz="3200" dirty="0">
              <a:latin typeface="fkGrotesk"/>
            </a:endParaRP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613545" y="1173349"/>
                <a:ext cx="6351136" cy="4655633"/>
              </a:xfrm>
            </p:spPr>
            <p:txBody>
              <a:bodyPr/>
              <a:lstStyle/>
              <a:p>
                <a:pPr marL="342900" marR="0" lvl="0" indent="-342900">
                  <a:spcBef>
                    <a:spcPts val="525"/>
                  </a:spcBef>
                  <a:buFont typeface="Wingdings" panose="05000000000000000000" pitchFamily="2" charset="2"/>
                  <a:buChar char="q"/>
                  <a:tabLst>
                    <a:tab pos="571500" algn="l"/>
                  </a:tabLst>
                </a:pPr>
                <a:r>
                  <a:rPr lang="en-US" sz="1800" b="1" dirty="0" smtClean="0">
                    <a:solidFill>
                      <a:srgbClr val="000000"/>
                    </a:solidFill>
                    <a:latin typeface="fkGrotesk"/>
                    <a:ea typeface="inter"/>
                    <a:cs typeface="inter"/>
                  </a:rPr>
                  <a:t>Gate/Source </a:t>
                </a:r>
                <a:r>
                  <a:rPr lang="en-US" sz="1800" b="1" dirty="0">
                    <a:solidFill>
                      <a:srgbClr val="000000"/>
                    </a:solidFill>
                    <a:latin typeface="fkGrotesk"/>
                    <a:ea typeface="inter"/>
                    <a:cs typeface="inter"/>
                  </a:rPr>
                  <a:t>Analogy:</a:t>
                </a:r>
                <a:r>
                  <a:rPr lang="en-US" sz="1800" dirty="0">
                    <a:solidFill>
                      <a:srgbClr val="000000"/>
                    </a:solidFill>
                    <a:latin typeface="fkGrotesk"/>
                    <a:ea typeface="inter"/>
                    <a:cs typeface="inter"/>
                  </a:rPr>
                  <a:t> Think of the gate voltage (</a:t>
                </a:r>
                <a:r>
                  <a:rPr lang="en-US" sz="1800" dirty="0" err="1" smtClean="0">
                    <a:solidFill>
                      <a:srgbClr val="000000"/>
                    </a:solidFill>
                    <a:latin typeface="fkGrotesk"/>
                    <a:ea typeface="inter"/>
                    <a:cs typeface="inter"/>
                  </a:rPr>
                  <a:t>V</a:t>
                </a:r>
                <a:r>
                  <a:rPr lang="en-US" sz="1800" baseline="-25000" dirty="0" err="1" smtClean="0">
                    <a:solidFill>
                      <a:srgbClr val="000000"/>
                    </a:solidFill>
                    <a:latin typeface="fkGrotesk"/>
                    <a:ea typeface="inter"/>
                    <a:cs typeface="inter"/>
                  </a:rPr>
                  <a:t>gs</a:t>
                </a:r>
                <a:r>
                  <a:rPr lang="en-US" sz="1800" dirty="0" smtClean="0">
                    <a:solidFill>
                      <a:srgbClr val="000000"/>
                    </a:solidFill>
                    <a:latin typeface="fkGrotesk"/>
                    <a:ea typeface="inter"/>
                    <a:cs typeface="inter"/>
                  </a:rPr>
                  <a:t>) </a:t>
                </a:r>
                <a:r>
                  <a:rPr lang="en-US" sz="1800" dirty="0">
                    <a:solidFill>
                      <a:srgbClr val="000000"/>
                    </a:solidFill>
                    <a:latin typeface="fkGrotesk"/>
                    <a:ea typeface="inter"/>
                    <a:cs typeface="inter"/>
                  </a:rPr>
                  <a:t>as a pressure that attracts electrons to form a “conductive river” (the inversion layer).</a:t>
                </a:r>
                <a:endParaRPr lang="en-US" sz="1800" dirty="0">
                  <a:latin typeface="fkGrotesk"/>
                  <a:ea typeface="Calibri" panose="020F0502020204030204" pitchFamily="34" charset="0"/>
                  <a:cs typeface="Times New Roman" panose="02020603050405020304" pitchFamily="18" charset="0"/>
                </a:endParaRPr>
              </a:p>
              <a:p>
                <a:pPr marL="800100" lvl="1" indent="-342900">
                  <a:spcBef>
                    <a:spcPts val="525"/>
                  </a:spcBef>
                  <a:buFont typeface="Symbol" panose="05050102010706020507" pitchFamily="18" charset="2"/>
                  <a:buChar char=""/>
                  <a:tabLst>
                    <a:tab pos="571500" algn="l"/>
                  </a:tabLst>
                </a:pPr>
                <a:r>
                  <a:rPr lang="en-US" sz="1600" dirty="0">
                    <a:solidFill>
                      <a:srgbClr val="000000"/>
                    </a:solidFill>
                    <a:latin typeface="fkGrotesk"/>
                    <a:ea typeface="inter"/>
                    <a:cs typeface="inter"/>
                  </a:rPr>
                  <a:t>The river is only deep enough to flow when:</a:t>
                </a:r>
                <a:endParaRPr lang="en-US" sz="1600" dirty="0">
                  <a:latin typeface="fkGrotesk"/>
                  <a:ea typeface="Calibri" panose="020F0502020204030204" pitchFamily="34" charset="0"/>
                  <a:cs typeface="Times New Roman" panose="02020603050405020304" pitchFamily="18" charset="0"/>
                </a:endParaRPr>
              </a:p>
              <a:p>
                <a:pPr marL="1200150" lvl="2" indent="-285750">
                  <a:spcBef>
                    <a:spcPts val="525"/>
                  </a:spcBef>
                  <a:buFont typeface="Courier New" panose="02070309020205020404" pitchFamily="49" charset="0"/>
                  <a:buChar char="o"/>
                  <a:tabLst>
                    <a:tab pos="914400" algn="l"/>
                  </a:tabLst>
                </a:pPr>
                <a:r>
                  <a:rPr lang="en-US" sz="1600" i="1" dirty="0" smtClean="0">
                    <a:latin typeface="fkGrotesk"/>
                  </a:rPr>
                  <a:t>V</a:t>
                </a:r>
                <a:r>
                  <a:rPr lang="en-US" sz="1600" i="1" baseline="-25000" dirty="0" smtClean="0">
                    <a:latin typeface="fkGrotesk"/>
                  </a:rPr>
                  <a:t>GS</a:t>
                </a:r>
                <a:r>
                  <a:rPr lang="en-US" sz="1600" dirty="0" smtClean="0">
                    <a:latin typeface="fkGrotesk"/>
                  </a:rPr>
                  <a:t>&gt;</a:t>
                </a:r>
                <a:r>
                  <a:rPr lang="en-US" sz="1600" i="1" dirty="0" smtClean="0">
                    <a:latin typeface="fkGrotesk"/>
                  </a:rPr>
                  <a:t>V</a:t>
                </a:r>
                <a:r>
                  <a:rPr lang="en-US" sz="1600" i="1" baseline="-25000" dirty="0" smtClean="0">
                    <a:latin typeface="fkGrotesk"/>
                  </a:rPr>
                  <a:t>TH</a:t>
                </a:r>
                <a:r>
                  <a:rPr lang="en-US" sz="1600" dirty="0">
                    <a:latin typeface="fkGrotesk"/>
                  </a:rPr>
                  <a:t/>
                </a:r>
                <a:br>
                  <a:rPr lang="en-US" sz="1600" dirty="0">
                    <a:latin typeface="fkGrotesk"/>
                  </a:rPr>
                </a:br>
                <a:endParaRPr lang="en-US" sz="1600" dirty="0" smtClean="0">
                  <a:effectLst/>
                  <a:latin typeface="fkGrotesk"/>
                  <a:ea typeface="Calibri" panose="020F0502020204030204" pitchFamily="34" charset="0"/>
                  <a:cs typeface="Times New Roman" panose="02020603050405020304" pitchFamily="18" charset="0"/>
                </a:endParaRPr>
              </a:p>
              <a:p>
                <a:pPr marL="342900" marR="0" lvl="0" indent="-342900">
                  <a:spcBef>
                    <a:spcPts val="525"/>
                  </a:spcBef>
                  <a:buFont typeface="Wingdings" panose="05000000000000000000" pitchFamily="2" charset="2"/>
                  <a:buChar char="q"/>
                  <a:tabLst>
                    <a:tab pos="571500" algn="l"/>
                  </a:tabLst>
                </a:pPr>
                <a:r>
                  <a:rPr lang="en-US" sz="1800" b="1" dirty="0" smtClean="0">
                    <a:solidFill>
                      <a:srgbClr val="000000"/>
                    </a:solidFill>
                    <a:latin typeface="fkGrotesk"/>
                    <a:ea typeface="inter"/>
                    <a:cs typeface="inter"/>
                  </a:rPr>
                  <a:t>Pinch-Off/No-Flow:</a:t>
                </a:r>
                <a:r>
                  <a:rPr lang="en-US" sz="1800" dirty="0" smtClean="0">
                    <a:solidFill>
                      <a:srgbClr val="000000"/>
                    </a:solidFill>
                    <a:latin typeface="fkGrotesk"/>
                    <a:ea typeface="inter"/>
                    <a:cs typeface="inter"/>
                  </a:rPr>
                  <a:t> If our “river” gets squeezed too much by too little </a:t>
                </a:r>
                <a:r>
                  <a:rPr lang="en-US" sz="1800" dirty="0" err="1" smtClean="0">
                    <a:solidFill>
                      <a:srgbClr val="000000"/>
                    </a:solidFill>
                    <a:latin typeface="fkGrotesk"/>
                    <a:ea typeface="inter"/>
                    <a:cs typeface="inter"/>
                  </a:rPr>
                  <a:t>V</a:t>
                </a:r>
                <a:r>
                  <a:rPr lang="en-US" sz="1800" baseline="-25000" dirty="0" err="1" smtClean="0">
                    <a:solidFill>
                      <a:srgbClr val="000000"/>
                    </a:solidFill>
                    <a:latin typeface="fkGrotesk"/>
                    <a:ea typeface="inter"/>
                    <a:cs typeface="inter"/>
                  </a:rPr>
                  <a:t>ds</a:t>
                </a:r>
                <a:r>
                  <a:rPr lang="en-US" sz="1800" dirty="0" smtClean="0">
                    <a:solidFill>
                      <a:srgbClr val="000000"/>
                    </a:solidFill>
                    <a:latin typeface="fkGrotesk"/>
                    <a:ea typeface="inter"/>
                    <a:cs typeface="inter"/>
                  </a:rPr>
                  <a:t> or </a:t>
                </a:r>
                <a:r>
                  <a:rPr lang="en-US" sz="1800" dirty="0" err="1" smtClean="0">
                    <a:solidFill>
                      <a:srgbClr val="000000"/>
                    </a:solidFill>
                    <a:latin typeface="fkGrotesk"/>
                    <a:ea typeface="inter"/>
                    <a:cs typeface="inter"/>
                  </a:rPr>
                  <a:t>V</a:t>
                </a:r>
                <a:r>
                  <a:rPr lang="en-US" sz="1800" baseline="-25000" dirty="0" err="1" smtClean="0">
                    <a:solidFill>
                      <a:srgbClr val="000000"/>
                    </a:solidFill>
                    <a:latin typeface="fkGrotesk"/>
                    <a:ea typeface="inter"/>
                    <a:cs typeface="inter"/>
                  </a:rPr>
                  <a:t>gs</a:t>
                </a:r>
                <a:r>
                  <a:rPr lang="en-US" sz="1800" dirty="0" smtClean="0">
                    <a:solidFill>
                      <a:srgbClr val="000000"/>
                    </a:solidFill>
                    <a:latin typeface="fkGrotesk"/>
                    <a:ea typeface="inter"/>
                    <a:cs typeface="inter"/>
                  </a:rPr>
                  <a:t>, the channel closes, and current stops.</a:t>
                </a:r>
                <a:endParaRPr lang="en-US" sz="1800" dirty="0" smtClean="0">
                  <a:latin typeface="fkGrotesk"/>
                  <a:ea typeface="Calibri" panose="020F0502020204030204" pitchFamily="34" charset="0"/>
                  <a:cs typeface="Times New Roman" panose="02020603050405020304" pitchFamily="18" charset="0"/>
                </a:endParaRPr>
              </a:p>
              <a:p>
                <a:pPr marL="342900" marR="0" lvl="0" indent="-342900">
                  <a:spcBef>
                    <a:spcPts val="525"/>
                  </a:spcBef>
                  <a:buFont typeface="Wingdings" panose="05000000000000000000" pitchFamily="2" charset="2"/>
                  <a:buChar char="q"/>
                  <a:tabLst>
                    <a:tab pos="571500" algn="l"/>
                  </a:tabLst>
                </a:pPr>
                <a:r>
                  <a:rPr lang="en-US" sz="1800" b="1" dirty="0" smtClean="0">
                    <a:solidFill>
                      <a:srgbClr val="000000"/>
                    </a:solidFill>
                    <a:latin typeface="fkGrotesk"/>
                    <a:ea typeface="inter"/>
                    <a:cs typeface="inter"/>
                  </a:rPr>
                  <a:t>Square </a:t>
                </a:r>
                <a:r>
                  <a:rPr lang="en-US" sz="1800" b="1" dirty="0">
                    <a:solidFill>
                      <a:srgbClr val="000000"/>
                    </a:solidFill>
                    <a:latin typeface="fkGrotesk"/>
                    <a:ea typeface="inter"/>
                    <a:cs typeface="inter"/>
                  </a:rPr>
                  <a:t>Law (Long Channel):</a:t>
                </a:r>
                <a:r>
                  <a:rPr lang="en-US" sz="1800" dirty="0">
                    <a:solidFill>
                      <a:srgbClr val="000000"/>
                    </a:solidFill>
                    <a:latin typeface="fkGrotesk"/>
                    <a:ea typeface="inter"/>
                    <a:cs typeface="inter"/>
                  </a:rPr>
                  <a:t> The current through this river follows a simple equation that looks like this (the famous “square law</a:t>
                </a:r>
                <a:r>
                  <a:rPr lang="en-US" sz="1800" dirty="0" smtClean="0">
                    <a:solidFill>
                      <a:srgbClr val="000000"/>
                    </a:solidFill>
                    <a:latin typeface="fkGrotesk"/>
                    <a:ea typeface="inter"/>
                    <a:cs typeface="inter"/>
                  </a:rPr>
                  <a:t>”):</a:t>
                </a:r>
              </a:p>
              <a:p>
                <a:pPr marL="342900" marR="0" lvl="0" indent="-342900">
                  <a:spcBef>
                    <a:spcPts val="525"/>
                  </a:spcBef>
                  <a:buFont typeface="Symbol" panose="05050102010706020507" pitchFamily="18" charset="2"/>
                  <a:buChar char=""/>
                  <a:tabLst>
                    <a:tab pos="571500" algn="l"/>
                  </a:tabLst>
                </a:pPr>
                <a:endParaRPr lang="en-US" sz="1800" i="1" dirty="0" smtClean="0">
                  <a:solidFill>
                    <a:srgbClr val="000000"/>
                  </a:solidFill>
                  <a:latin typeface="fkGrotesk"/>
                  <a:ea typeface="Calibri" panose="020F0502020204030204" pitchFamily="34" charset="0"/>
                  <a:cs typeface="Times New Roman" panose="02020603050405020304" pitchFamily="18" charset="0"/>
                </a:endParaRPr>
              </a:p>
              <a:p>
                <a:pPr marR="0" lvl="0">
                  <a:spcBef>
                    <a:spcPts val="525"/>
                  </a:spcBef>
                  <a:tabLst>
                    <a:tab pos="571500" algn="l"/>
                  </a:tabLst>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𝑜𝑥</m:t>
                              </m:r>
                            </m:sub>
                          </m:sSub>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𝑜𝑥</m:t>
                              </m:r>
                            </m:sub>
                          </m:sSub>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𝑣</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𝑜𝑣</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800" dirty="0">
                  <a:latin typeface="fkGrotesk"/>
                  <a:ea typeface="Calibri" panose="020F0502020204030204" pitchFamily="34" charset="0"/>
                  <a:cs typeface="Times New Roman" panose="02020603050405020304" pitchFamily="18" charset="0"/>
                </a:endParaRPr>
              </a:p>
              <a:p>
                <a:endParaRPr lang="en-US" sz="18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613545" y="1173349"/>
                <a:ext cx="6351136" cy="4655633"/>
              </a:xfrm>
              <a:blipFill>
                <a:blip r:embed="rId2"/>
                <a:stretch>
                  <a:fillRect l="-2111" t="-1702" r="-2687"/>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l="5702" r="8011" b="6620"/>
          <a:stretch/>
        </p:blipFill>
        <p:spPr>
          <a:xfrm>
            <a:off x="6990080" y="1186876"/>
            <a:ext cx="5151120" cy="2800924"/>
          </a:xfrm>
          <a:prstGeom prst="rect">
            <a:avLst/>
          </a:prstGeom>
        </p:spPr>
      </p:pic>
      <p:sp>
        <p:nvSpPr>
          <p:cNvPr id="8" name="Rectangle 7"/>
          <p:cNvSpPr/>
          <p:nvPr/>
        </p:nvSpPr>
        <p:spPr>
          <a:xfrm>
            <a:off x="6990080" y="4207302"/>
            <a:ext cx="5074920" cy="830997"/>
          </a:xfrm>
          <a:prstGeom prst="rect">
            <a:avLst/>
          </a:prstGeom>
        </p:spPr>
        <p:txBody>
          <a:bodyPr wrap="square">
            <a:spAutoFit/>
          </a:bodyPr>
          <a:lstStyle/>
          <a:p>
            <a:pPr algn="just">
              <a:spcBef>
                <a:spcPts val="525"/>
              </a:spcBef>
              <a:tabLst>
                <a:tab pos="914400" algn="l"/>
              </a:tabLst>
            </a:pPr>
            <a:r>
              <a:rPr lang="en-US" sz="1600" b="1" kern="0" dirty="0">
                <a:solidFill>
                  <a:srgbClr val="000000"/>
                </a:solidFill>
                <a:latin typeface="fkGrotesk"/>
                <a:ea typeface="inter"/>
                <a:cs typeface="inter"/>
              </a:rPr>
              <a:t>Analogy:</a:t>
            </a:r>
            <a:r>
              <a:rPr lang="en-US" sz="1600" kern="0" dirty="0">
                <a:solidFill>
                  <a:srgbClr val="000000"/>
                </a:solidFill>
                <a:latin typeface="fkGrotesk"/>
                <a:ea typeface="inter"/>
                <a:cs typeface="inter"/>
              </a:rPr>
              <a:t> The deeper the river (higher </a:t>
            </a:r>
            <a:r>
              <a:rPr lang="en-US" sz="1600" i="1" kern="0" dirty="0">
                <a:solidFill>
                  <a:sysClr val="windowText" lastClr="000000"/>
                </a:solidFill>
                <a:latin typeface="fkGrotesk"/>
              </a:rPr>
              <a:t>V</a:t>
            </a:r>
            <a:r>
              <a:rPr lang="en-US" sz="1600" i="1" kern="0" baseline="-25000" dirty="0">
                <a:solidFill>
                  <a:sysClr val="windowText" lastClr="000000"/>
                </a:solidFill>
                <a:latin typeface="fkGrotesk"/>
              </a:rPr>
              <a:t>GS</a:t>
            </a:r>
            <a:r>
              <a:rPr lang="en-US" sz="1600" kern="0" dirty="0">
                <a:solidFill>
                  <a:sysClr val="windowText" lastClr="000000"/>
                </a:solidFill>
                <a:latin typeface="fkGrotesk"/>
              </a:rPr>
              <a:t>-</a:t>
            </a:r>
            <a:r>
              <a:rPr lang="en-US" sz="1600" i="1" kern="0" dirty="0">
                <a:solidFill>
                  <a:sysClr val="windowText" lastClr="000000"/>
                </a:solidFill>
                <a:latin typeface="fkGrotesk"/>
              </a:rPr>
              <a:t>V</a:t>
            </a:r>
            <a:r>
              <a:rPr lang="en-US" sz="1600" i="1" kern="0" baseline="-25000" dirty="0">
                <a:solidFill>
                  <a:sysClr val="windowText" lastClr="000000"/>
                </a:solidFill>
                <a:latin typeface="fkGrotesk"/>
              </a:rPr>
              <a:t>TH</a:t>
            </a:r>
            <a:r>
              <a:rPr lang="en-US" sz="1600" kern="0" dirty="0">
                <a:solidFill>
                  <a:srgbClr val="000000"/>
                </a:solidFill>
                <a:latin typeface="fkGrotesk"/>
                <a:ea typeface="inter"/>
                <a:cs typeface="inter"/>
              </a:rPr>
              <a:t>), the more water (current) flows, but it grows with the square of the depth.</a:t>
            </a:r>
            <a:endParaRPr lang="en-US" sz="1600" kern="0" dirty="0">
              <a:solidFill>
                <a:sysClr val="windowText" lastClr="000000"/>
              </a:solidFill>
              <a:latin typeface="fkGrotesk"/>
              <a:ea typeface="Calibri" panose="020F0502020204030204" pitchFamily="34" charset="0"/>
              <a:cs typeface="Times New Roman" panose="02020603050405020304" pitchFamily="18" charset="0"/>
            </a:endParaRPr>
          </a:p>
        </p:txBody>
      </p:sp>
      <p:sp>
        <p:nvSpPr>
          <p:cNvPr id="9" name="Rectangle 8"/>
          <p:cNvSpPr/>
          <p:nvPr/>
        </p:nvSpPr>
        <p:spPr>
          <a:xfrm>
            <a:off x="7042785" y="1205015"/>
            <a:ext cx="5028565" cy="283993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019383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b="1" dirty="0">
                <a:solidFill>
                  <a:srgbClr val="000000"/>
                </a:solidFill>
                <a:latin typeface="inter"/>
                <a:ea typeface="inter"/>
                <a:cs typeface="inter"/>
              </a:rPr>
              <a:t>Visualizing the Model (Graphs</a:t>
            </a:r>
            <a:r>
              <a:rPr lang="en-US" b="1" dirty="0" smtClean="0">
                <a:solidFill>
                  <a:srgbClr val="000000"/>
                </a:solidFill>
                <a:latin typeface="inter"/>
                <a:ea typeface="inter"/>
                <a:cs typeface="inter"/>
              </a:rPr>
              <a:t>)</a:t>
            </a:r>
            <a:endParaRPr lang="en-US" dirty="0"/>
          </a:p>
        </p:txBody>
      </p:sp>
      <p:pic>
        <p:nvPicPr>
          <p:cNvPr id="7" name="Picture 6" descr="image">
            <a:hlinkClick r:id="rId2" tgtFrame="&quot;_blank&quot;"/>
          </p:cNvPr>
          <p:cNvPicPr/>
          <p:nvPr/>
        </p:nvPicPr>
        <p:blipFill rotWithShape="1">
          <a:blip r:embed="rId3" cstate="print">
            <a:extLst>
              <a:ext uri="{28A0092B-C50C-407E-A947-70E740481C1C}">
                <a14:useLocalDpi xmlns:a14="http://schemas.microsoft.com/office/drawing/2010/main" val="0"/>
              </a:ext>
            </a:extLst>
          </a:blip>
          <a:srcRect l="2671" r="2620" b="15617"/>
          <a:stretch/>
        </p:blipFill>
        <p:spPr bwMode="auto">
          <a:xfrm>
            <a:off x="2997200" y="1107440"/>
            <a:ext cx="5313680" cy="1148080"/>
          </a:xfrm>
          <a:prstGeom prst="rect">
            <a:avLst/>
          </a:prstGeom>
          <a:noFill/>
          <a:ln>
            <a:noFill/>
          </a:ln>
        </p:spPr>
      </p:pic>
      <p:sp>
        <p:nvSpPr>
          <p:cNvPr id="8" name="Rectangle 7"/>
          <p:cNvSpPr/>
          <p:nvPr/>
        </p:nvSpPr>
        <p:spPr>
          <a:xfrm>
            <a:off x="76200" y="2235538"/>
            <a:ext cx="12070080" cy="1200329"/>
          </a:xfrm>
          <a:prstGeom prst="rect">
            <a:avLst/>
          </a:prstGeom>
        </p:spPr>
        <p:txBody>
          <a:bodyPr wrap="square">
            <a:spAutoFit/>
          </a:bodyPr>
          <a:lstStyle/>
          <a:p>
            <a:pPr marL="285750" indent="-285750">
              <a:buFont typeface="Wingdings" panose="05000000000000000000" pitchFamily="2" charset="2"/>
              <a:buChar char="q"/>
              <a:tabLst>
                <a:tab pos="914400" algn="l"/>
              </a:tabLst>
            </a:pPr>
            <a:r>
              <a:rPr lang="en-US" kern="0" dirty="0">
                <a:solidFill>
                  <a:srgbClr val="000000"/>
                </a:solidFill>
                <a:latin typeface="inter"/>
                <a:ea typeface="inter"/>
                <a:cs typeface="inter"/>
              </a:rPr>
              <a:t>For long “smooth” channels, current grows as the square of gate voltage over threshold.</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tabLst>
                <a:tab pos="914400" algn="l"/>
              </a:tabLst>
            </a:pPr>
            <a:r>
              <a:rPr lang="en-US" kern="0" dirty="0">
                <a:solidFill>
                  <a:srgbClr val="000000"/>
                </a:solidFill>
                <a:latin typeface="inter"/>
                <a:ea typeface="inter"/>
                <a:cs typeface="inter"/>
              </a:rPr>
              <a:t>For short channels, the riverbed isn’t as simple—current grows faster and the classic law fails.</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tabLst>
                <a:tab pos="914400" algn="l"/>
              </a:tabLst>
            </a:pPr>
            <a:r>
              <a:rPr lang="en-US" b="1" kern="0" dirty="0">
                <a:solidFill>
                  <a:srgbClr val="000000"/>
                </a:solidFill>
                <a:latin typeface="inter"/>
                <a:ea typeface="inter"/>
                <a:cs typeface="inter"/>
              </a:rPr>
              <a:t>Takeaway:</a:t>
            </a:r>
            <a:r>
              <a:rPr lang="en-US" kern="0" dirty="0">
                <a:solidFill>
                  <a:srgbClr val="000000"/>
                </a:solidFill>
                <a:latin typeface="inter"/>
                <a:ea typeface="inter"/>
                <a:cs typeface="inter"/>
              </a:rPr>
              <a:t> Classic models are good on long stretches of river (long-channel devices), but break down on short, rough riverbeds.</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p:sp>
        <p:nvSpPr>
          <p:cNvPr id="11" name="Rectangle 10"/>
          <p:cNvSpPr/>
          <p:nvPr/>
        </p:nvSpPr>
        <p:spPr>
          <a:xfrm>
            <a:off x="0" y="5210016"/>
            <a:ext cx="11861800" cy="923330"/>
          </a:xfrm>
          <a:prstGeom prst="rect">
            <a:avLst/>
          </a:prstGeom>
        </p:spPr>
        <p:txBody>
          <a:bodyPr wrap="square">
            <a:spAutoFit/>
          </a:bodyPr>
          <a:lstStyle/>
          <a:p>
            <a:pPr marL="285750" indent="-285750">
              <a:buFont typeface="Wingdings" panose="05000000000000000000" pitchFamily="2" charset="2"/>
              <a:buChar char="q"/>
              <a:tabLst>
                <a:tab pos="914400" algn="l"/>
              </a:tabLst>
            </a:pPr>
            <a:r>
              <a:rPr lang="en-US" kern="0" dirty="0">
                <a:solidFill>
                  <a:srgbClr val="000000"/>
                </a:solidFill>
                <a:latin typeface="inter"/>
                <a:ea typeface="inter"/>
                <a:cs typeface="inter"/>
              </a:rPr>
              <a:t>The “g</a:t>
            </a:r>
            <a:r>
              <a:rPr lang="en-US" kern="0" baseline="-25000" dirty="0">
                <a:solidFill>
                  <a:srgbClr val="000000"/>
                </a:solidFill>
                <a:latin typeface="inter"/>
                <a:ea typeface="inter"/>
                <a:cs typeface="inter"/>
              </a:rPr>
              <a:t>m</a:t>
            </a:r>
            <a:r>
              <a:rPr lang="en-US" kern="0" dirty="0">
                <a:solidFill>
                  <a:srgbClr val="000000"/>
                </a:solidFill>
                <a:latin typeface="inter"/>
                <a:ea typeface="inter"/>
                <a:cs typeface="inter"/>
              </a:rPr>
              <a:t>” is how responsive the current is to a change in </a:t>
            </a:r>
            <a:r>
              <a:rPr lang="en-US" kern="0" dirty="0" err="1">
                <a:solidFill>
                  <a:srgbClr val="000000"/>
                </a:solidFill>
                <a:latin typeface="inter"/>
                <a:ea typeface="inter"/>
                <a:cs typeface="inter"/>
              </a:rPr>
              <a:t>V</a:t>
            </a:r>
            <a:r>
              <a:rPr lang="en-US" kern="0" baseline="-25000" dirty="0" err="1">
                <a:solidFill>
                  <a:srgbClr val="000000"/>
                </a:solidFill>
                <a:latin typeface="inter"/>
                <a:ea typeface="inter"/>
                <a:cs typeface="inter"/>
              </a:rPr>
              <a:t>gs</a:t>
            </a:r>
            <a:r>
              <a:rPr lang="en-US" kern="0" dirty="0">
                <a:solidFill>
                  <a:srgbClr val="000000"/>
                </a:solidFill>
                <a:latin typeface="inter"/>
                <a:ea typeface="inter"/>
                <a:cs typeface="inter"/>
              </a:rPr>
              <a:t>—think of it as sensitivity of water flow to adjusting the dam gate.</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tabLst>
                <a:tab pos="914400" algn="l"/>
              </a:tabLst>
            </a:pPr>
            <a:r>
              <a:rPr lang="en-US" kern="0" dirty="0">
                <a:solidFill>
                  <a:srgbClr val="000000"/>
                </a:solidFill>
                <a:latin typeface="inter"/>
                <a:ea typeface="inter"/>
                <a:cs typeface="inter"/>
              </a:rPr>
              <a:t>Long channels: gm rises linearly with gate voltage over threshold.</a:t>
            </a:r>
            <a:endParaRPr lang="en-US"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p:txBody>
      </p:sp>
      <p:pic>
        <p:nvPicPr>
          <p:cNvPr id="12" name="Picture 11" descr="image"/>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18825" y="3424519"/>
            <a:ext cx="6179753" cy="1807032"/>
          </a:xfrm>
          <a:prstGeom prst="rect">
            <a:avLst/>
          </a:prstGeom>
          <a:noFill/>
          <a:ln>
            <a:noFill/>
          </a:ln>
        </p:spPr>
      </p:pic>
      <p:sp>
        <p:nvSpPr>
          <p:cNvPr id="13" name="Rectangle 12"/>
          <p:cNvSpPr/>
          <p:nvPr/>
        </p:nvSpPr>
        <p:spPr>
          <a:xfrm>
            <a:off x="1087120" y="6292354"/>
            <a:ext cx="10490200" cy="400110"/>
          </a:xfrm>
          <a:prstGeom prst="rect">
            <a:avLst/>
          </a:prstGeom>
        </p:spPr>
        <p:txBody>
          <a:bodyPr wrap="square">
            <a:spAutoFit/>
          </a:bodyPr>
          <a:lstStyle/>
          <a:p>
            <a:pPr lvl="0" algn="ctr"/>
            <a:r>
              <a:rPr lang="en-US" sz="2000" b="1" kern="0" dirty="0">
                <a:solidFill>
                  <a:srgbClr val="C00000"/>
                </a:solidFill>
                <a:latin typeface="inter"/>
                <a:ea typeface="inter"/>
                <a:cs typeface="inter"/>
              </a:rPr>
              <a:t>Short channels: Real-world messiness breaks the classic linear rise</a:t>
            </a:r>
            <a:endParaRPr lang="en-US" sz="2000" b="1" kern="0" dirty="0">
              <a:solidFill>
                <a:srgbClr val="C00000"/>
              </a:solidFill>
              <a:latin typeface="Verdana"/>
            </a:endParaRPr>
          </a:p>
        </p:txBody>
      </p:sp>
      <p:sp>
        <p:nvSpPr>
          <p:cNvPr id="10" name="Rectangle 9"/>
          <p:cNvSpPr/>
          <p:nvPr/>
        </p:nvSpPr>
        <p:spPr>
          <a:xfrm>
            <a:off x="6069952" y="4722465"/>
            <a:ext cx="1504328" cy="400110"/>
          </a:xfrm>
          <a:prstGeom prst="rect">
            <a:avLst/>
          </a:prstGeom>
        </p:spPr>
        <p:txBody>
          <a:bodyPr wrap="square">
            <a:spAutoFit/>
          </a:bodyPr>
          <a:lstStyle/>
          <a:p>
            <a:r>
              <a:rPr lang="en-US" sz="2000" b="1" kern="0" dirty="0">
                <a:solidFill>
                  <a:srgbClr val="C00000"/>
                </a:solidFill>
                <a:latin typeface="inter"/>
                <a:ea typeface="inter"/>
                <a:cs typeface="inter"/>
              </a:rPr>
              <a:t>(g</a:t>
            </a:r>
            <a:r>
              <a:rPr lang="en-US" sz="2000" b="1" kern="0" baseline="-25000" dirty="0">
                <a:solidFill>
                  <a:srgbClr val="C00000"/>
                </a:solidFill>
                <a:latin typeface="inter"/>
                <a:ea typeface="inter"/>
                <a:cs typeface="inter"/>
              </a:rPr>
              <a:t>m</a:t>
            </a:r>
            <a:r>
              <a:rPr lang="en-US" sz="2000" b="1" kern="0" dirty="0">
                <a:solidFill>
                  <a:srgbClr val="C00000"/>
                </a:solidFill>
                <a:latin typeface="inter"/>
                <a:ea typeface="inter"/>
                <a:cs typeface="inter"/>
              </a:rPr>
              <a:t> vs </a:t>
            </a:r>
            <a:r>
              <a:rPr lang="en-US" sz="2000" b="1" kern="0" dirty="0" err="1">
                <a:solidFill>
                  <a:srgbClr val="C00000"/>
                </a:solidFill>
                <a:latin typeface="inter"/>
                <a:ea typeface="inter"/>
                <a:cs typeface="inter"/>
              </a:rPr>
              <a:t>V</a:t>
            </a:r>
            <a:r>
              <a:rPr lang="en-US" sz="2000" b="1" kern="0" baseline="-25000" dirty="0" err="1">
                <a:solidFill>
                  <a:srgbClr val="C00000"/>
                </a:solidFill>
                <a:latin typeface="inter"/>
                <a:ea typeface="inter"/>
                <a:cs typeface="inter"/>
              </a:rPr>
              <a:t>gs</a:t>
            </a:r>
            <a:r>
              <a:rPr lang="en-US" sz="2000" b="1" kern="0" dirty="0" smtClean="0">
                <a:solidFill>
                  <a:srgbClr val="C00000"/>
                </a:solidFill>
                <a:latin typeface="inter"/>
                <a:ea typeface="inter"/>
                <a:cs typeface="inter"/>
              </a:rPr>
              <a:t>)</a:t>
            </a:r>
            <a:endParaRPr lang="en-US" dirty="0">
              <a:solidFill>
                <a:srgbClr val="C00000"/>
              </a:solidFill>
            </a:endParaRPr>
          </a:p>
        </p:txBody>
      </p:sp>
      <p:sp>
        <p:nvSpPr>
          <p:cNvPr id="9" name="Rectangle 8"/>
          <p:cNvSpPr/>
          <p:nvPr/>
        </p:nvSpPr>
        <p:spPr>
          <a:xfrm>
            <a:off x="7824380" y="1847185"/>
            <a:ext cx="1345240" cy="400110"/>
          </a:xfrm>
          <a:prstGeom prst="rect">
            <a:avLst/>
          </a:prstGeom>
        </p:spPr>
        <p:txBody>
          <a:bodyPr wrap="none">
            <a:spAutoFit/>
          </a:bodyPr>
          <a:lstStyle/>
          <a:p>
            <a:r>
              <a:rPr lang="en-US" sz="2000" b="1" kern="0" dirty="0">
                <a:solidFill>
                  <a:srgbClr val="C00000"/>
                </a:solidFill>
                <a:latin typeface="inter"/>
                <a:ea typeface="inter"/>
                <a:cs typeface="inter"/>
              </a:rPr>
              <a:t>(I</a:t>
            </a:r>
            <a:r>
              <a:rPr lang="en-US" sz="2000" b="1" kern="0" baseline="-25000" dirty="0">
                <a:solidFill>
                  <a:srgbClr val="C00000"/>
                </a:solidFill>
                <a:latin typeface="inter"/>
                <a:ea typeface="inter"/>
                <a:cs typeface="inter"/>
              </a:rPr>
              <a:t>D</a:t>
            </a:r>
            <a:r>
              <a:rPr lang="en-US" sz="2000" b="1" kern="0" dirty="0">
                <a:solidFill>
                  <a:srgbClr val="C00000"/>
                </a:solidFill>
                <a:latin typeface="inter"/>
                <a:ea typeface="inter"/>
                <a:cs typeface="inter"/>
              </a:rPr>
              <a:t> vs </a:t>
            </a:r>
            <a:r>
              <a:rPr lang="en-US" sz="2000" b="1" kern="0" dirty="0" err="1">
                <a:solidFill>
                  <a:srgbClr val="C00000"/>
                </a:solidFill>
                <a:latin typeface="inter"/>
                <a:ea typeface="inter"/>
                <a:cs typeface="inter"/>
              </a:rPr>
              <a:t>V</a:t>
            </a:r>
            <a:r>
              <a:rPr lang="en-US" sz="2000" b="1" kern="0" baseline="-25000" dirty="0" err="1">
                <a:solidFill>
                  <a:srgbClr val="C00000"/>
                </a:solidFill>
                <a:latin typeface="inter"/>
                <a:ea typeface="inter"/>
                <a:cs typeface="inter"/>
              </a:rPr>
              <a:t>gs</a:t>
            </a:r>
            <a:r>
              <a:rPr lang="en-US" sz="2000" b="1" kern="0" dirty="0" smtClean="0">
                <a:solidFill>
                  <a:srgbClr val="C00000"/>
                </a:solidFill>
                <a:latin typeface="inter"/>
                <a:ea typeface="inter"/>
                <a:cs typeface="inter"/>
              </a:rPr>
              <a:t>)</a:t>
            </a:r>
            <a:endParaRPr lang="en-US" dirty="0">
              <a:solidFill>
                <a:srgbClr val="C00000"/>
              </a:solidFill>
            </a:endParaRPr>
          </a:p>
        </p:txBody>
      </p:sp>
      <p:sp>
        <p:nvSpPr>
          <p:cNvPr id="14" name="Rectangle 13"/>
          <p:cNvSpPr/>
          <p:nvPr/>
        </p:nvSpPr>
        <p:spPr>
          <a:xfrm>
            <a:off x="3010535" y="1160565"/>
            <a:ext cx="6222365" cy="10936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9535" y="2309915"/>
            <a:ext cx="11708765" cy="10936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273935" y="3510064"/>
            <a:ext cx="6222365" cy="165248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0" y="5205515"/>
            <a:ext cx="11747500" cy="97303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942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06450" y="214375"/>
                <a:ext cx="10593196" cy="762196"/>
              </a:xfrm>
            </p:spPr>
            <p:txBody>
              <a:bodyPr/>
              <a:lstStyle/>
              <a:p>
                <a:r>
                  <a:rPr lang="en-US" b="1" dirty="0">
                    <a:solidFill>
                      <a:srgbClr val="000000"/>
                    </a:solidFill>
                    <a:latin typeface="inter"/>
                    <a:ea typeface="inter"/>
                    <a:cs typeface="inter"/>
                  </a:rPr>
                  <a:t>Deriving and Using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b="1" dirty="0">
                    <a:solidFill>
                      <a:srgbClr val="000000"/>
                    </a:solidFill>
                    <a:latin typeface="inter"/>
                    <a:ea typeface="inter"/>
                    <a:cs typeface="inter"/>
                  </a:rPr>
                  <a:t> (Efficiency</a:t>
                </a:r>
                <a:r>
                  <a:rPr lang="en-US" b="1" dirty="0" smtClean="0">
                    <a:solidFill>
                      <a:srgbClr val="000000"/>
                    </a:solidFill>
                    <a:latin typeface="inter"/>
                    <a:ea typeface="inter"/>
                    <a:cs typeface="inter"/>
                  </a:rPr>
                  <a:t>)</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06450" y="214375"/>
                <a:ext cx="10593196" cy="762196"/>
              </a:xfrm>
              <a:blipFill>
                <a:blip r:embed="rId2"/>
                <a:stretch>
                  <a:fillRect l="-2474" t="-10400"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455509" cy="5357813"/>
              </a:xfrm>
            </p:spPr>
            <p:txBody>
              <a:bodyPr/>
              <a:lstStyle/>
              <a:p>
                <a:pPr marL="342900" marR="0" lvl="0" indent="-342900">
                  <a:buFont typeface="Wingdings" panose="05000000000000000000" pitchFamily="2" charset="2"/>
                  <a:buChar char="q"/>
                  <a:tabLst>
                    <a:tab pos="571500" algn="l"/>
                  </a:tabLst>
                </a:pPr>
                <a:r>
                  <a:rPr lang="en-US" b="1" dirty="0" smtClean="0">
                    <a:solidFill>
                      <a:srgbClr val="000000"/>
                    </a:solidFill>
                    <a:latin typeface="inter"/>
                    <a:ea typeface="inter"/>
                    <a:cs typeface="inter"/>
                  </a:rPr>
                  <a:t>Set-up</a:t>
                </a:r>
                <a:r>
                  <a:rPr lang="en-US" b="1" dirty="0">
                    <a:solidFill>
                      <a:srgbClr val="000000"/>
                    </a:solidFill>
                    <a:latin typeface="inter"/>
                    <a:ea typeface="inter"/>
                    <a:cs typeface="inter"/>
                  </a:rPr>
                  <a: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Take the square-law MOSFET equation: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𝑜𝑥</m:t>
                              </m:r>
                            </m:sub>
                          </m:sSub>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a:r>
                  <a:rPr lang="en-US" dirty="0">
                    <a:solidFill>
                      <a:srgbClr val="000000"/>
                    </a:solidFill>
                    <a:latin typeface="inter"/>
                    <a:ea typeface="inter"/>
                    <a:cs typeface="inter"/>
                  </a:rPr>
                  <a:t>and ask: “How much does the water flow (current) increase if I nudge the gate a bit?”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This “nudge sensitivity” is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𝑇𝐻</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den>
                    </m:f>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Sub>
                  </m:oMath>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Efficiency Ratio:</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We can form a ratio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800" dirty="0" smtClean="0">
                    <a:solidFill>
                      <a:srgbClr val="000000"/>
                    </a:solidFill>
                    <a:effectLst/>
                    <a:latin typeface="inter"/>
                    <a:ea typeface="inter"/>
                    <a:cs typeface="inter"/>
                  </a:rPr>
                  <a:t> — </a:t>
                </a:r>
                <a:r>
                  <a:rPr lang="en-US" sz="1800" dirty="0">
                    <a:solidFill>
                      <a:srgbClr val="000000"/>
                    </a:solidFill>
                    <a:effectLst/>
                    <a:latin typeface="inter"/>
                    <a:ea typeface="inter"/>
                    <a:cs typeface="inter"/>
                  </a:rPr>
                  <a:t>meaning, “</a:t>
                </a:r>
                <a:r>
                  <a:rPr lang="en-US" sz="1800" i="1" dirty="0">
                    <a:solidFill>
                      <a:srgbClr val="002060"/>
                    </a:solidFill>
                    <a:effectLst/>
                    <a:latin typeface="inter"/>
                    <a:ea typeface="inter"/>
                    <a:cs typeface="inter"/>
                  </a:rPr>
                  <a:t>How much extra responsiveness do I get per unit of water flow?”</a:t>
                </a:r>
                <a:endParaRPr lang="en-US" sz="1800" i="1" dirty="0">
                  <a:solidFill>
                    <a:srgbClr val="002060"/>
                  </a:solidFill>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b="1" dirty="0">
                    <a:solidFill>
                      <a:srgbClr val="000000"/>
                    </a:solidFill>
                    <a:effectLst/>
                    <a:latin typeface="inter"/>
                    <a:ea typeface="inter"/>
                    <a:cs typeface="inter"/>
                  </a:rPr>
                  <a:t>Result:</a:t>
                </a:r>
                <a14:m>
                  <m:oMath xmlns:m="http://schemas.openxmlformats.org/officeDocument/2006/math">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num>
                      <m:den>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Sub>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num>
                      <m:den>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𝑇𝐻</m:t>
                            </m:r>
                          </m:sub>
                        </m:sSub>
                      </m:den>
                    </m:f>
                  </m:oMath>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b="1" dirty="0">
                    <a:solidFill>
                      <a:srgbClr val="000000"/>
                    </a:solidFill>
                    <a:effectLst/>
                    <a:latin typeface="inter"/>
                    <a:ea typeface="inter"/>
                    <a:cs typeface="inter"/>
                  </a:rPr>
                  <a:t>Analogy:</a:t>
                </a:r>
                <a:r>
                  <a:rPr lang="en-US" sz="1800" dirty="0">
                    <a:solidFill>
                      <a:srgbClr val="000000"/>
                    </a:solidFill>
                    <a:effectLst/>
                    <a:latin typeface="inter"/>
                    <a:ea typeface="inter"/>
                    <a:cs typeface="inter"/>
                  </a:rPr>
                  <a:t> With a deeper river (big </a:t>
                </a:r>
                <a:r>
                  <a:rPr lang="en-US" sz="1800" dirty="0" err="1">
                    <a:solidFill>
                      <a:srgbClr val="000000"/>
                    </a:solidFill>
                    <a:effectLst/>
                    <a:latin typeface="inter"/>
                    <a:ea typeface="inter"/>
                    <a:cs typeface="inter"/>
                  </a:rPr>
                  <a:t>Vov</a:t>
                </a:r>
                <a:r>
                  <a:rPr lang="en-US" sz="1800" dirty="0">
                    <a:solidFill>
                      <a:srgbClr val="000000"/>
                    </a:solidFill>
                    <a:effectLst/>
                    <a:latin typeface="inter"/>
                    <a:ea typeface="inter"/>
                    <a:cs typeface="inter"/>
                  </a:rPr>
                  <a:t>), you get less “flow sensitivity” per unit of water (current). When the river is shallow (small </a:t>
                </a:r>
                <a:r>
                  <a:rPr lang="en-US" sz="1800" dirty="0" err="1">
                    <a:solidFill>
                      <a:srgbClr val="000000"/>
                    </a:solidFill>
                    <a:effectLst/>
                    <a:latin typeface="inter"/>
                    <a:ea typeface="inter"/>
                    <a:cs typeface="inter"/>
                  </a:rPr>
                  <a:t>Vov</a:t>
                </a:r>
                <a:r>
                  <a:rPr lang="en-US" sz="1800" dirty="0">
                    <a:solidFill>
                      <a:srgbClr val="000000"/>
                    </a:solidFill>
                    <a:effectLst/>
                    <a:latin typeface="inter"/>
                    <a:ea typeface="inter"/>
                    <a:cs typeface="inter"/>
                  </a:rPr>
                  <a:t>), every extra bit of voltage adds a lot of sensitivity, but it’s less stable and more noisy.</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b="1" dirty="0">
                    <a:solidFill>
                      <a:srgbClr val="000000"/>
                    </a:solidFill>
                    <a:latin typeface="inter"/>
                    <a:ea typeface="inter"/>
                    <a:cs typeface="inter"/>
                  </a:rPr>
                  <a:t>Limitations: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For real (short) channels, the river gets unpredictable. The classic square law formula becomes just a rough guide—you need experiment/calibration (LUTs or simulation) for full accuracy.</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455509" cy="5357813"/>
              </a:xfrm>
              <a:blipFill>
                <a:blip r:embed="rId3"/>
                <a:stretch>
                  <a:fillRect l="-1399" t="-1365" r="-1516"/>
                </a:stretch>
              </a:blipFill>
            </p:spPr>
            <p:txBody>
              <a:bodyPr/>
              <a:lstStyle/>
              <a:p>
                <a:r>
                  <a:rPr lang="en-US">
                    <a:noFill/>
                  </a:rPr>
                  <a:t> </a:t>
                </a:r>
              </a:p>
            </p:txBody>
          </p:sp>
        </mc:Fallback>
      </mc:AlternateContent>
    </p:spTree>
    <p:extLst>
      <p:ext uri="{BB962C8B-B14F-4D97-AF65-F5344CB8AC3E}">
        <p14:creationId xmlns:p14="http://schemas.microsoft.com/office/powerpoint/2010/main" val="29276820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53998"/>
          </a:xfrm>
        </p:spPr>
        <p:txBody>
          <a:bodyPr/>
          <a:lstStyle/>
          <a:p>
            <a:r>
              <a:rPr lang="en-US" sz="3600" b="1" dirty="0">
                <a:solidFill>
                  <a:srgbClr val="000000"/>
                </a:solidFill>
                <a:latin typeface="inter"/>
                <a:ea typeface="inter"/>
                <a:cs typeface="inter"/>
              </a:rPr>
              <a:t>Big Picture Design </a:t>
            </a:r>
            <a:r>
              <a:rPr lang="en-US" sz="3600" b="1" dirty="0" smtClean="0">
                <a:solidFill>
                  <a:srgbClr val="000000"/>
                </a:solidFill>
                <a:latin typeface="inter"/>
                <a:ea typeface="inter"/>
                <a:cs typeface="inter"/>
              </a:rPr>
              <a:t>Takeaways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793730" cy="5306837"/>
              </a:xfrm>
            </p:spPr>
            <p:txBody>
              <a:bodyPr/>
              <a:lstStyle/>
              <a:p>
                <a:pPr marL="342900" marR="0" lvl="0" indent="-342900" algn="l">
                  <a:lnSpc>
                    <a:spcPct val="150000"/>
                  </a:lnSpc>
                  <a:spcBef>
                    <a:spcPts val="0"/>
                  </a:spcBef>
                  <a:buFont typeface="Wingdings" panose="05000000000000000000" pitchFamily="2" charset="2"/>
                  <a:buChar char="q"/>
                  <a:tabLst>
                    <a:tab pos="571500" algn="l"/>
                  </a:tabLst>
                </a:pPr>
                <a:r>
                  <a:rPr lang="en-US" b="1" dirty="0" smtClean="0">
                    <a:solidFill>
                      <a:srgbClr val="00B050"/>
                    </a:solidFill>
                    <a:latin typeface="inter"/>
                    <a:ea typeface="inter"/>
                    <a:cs typeface="inter"/>
                  </a:rPr>
                  <a:t>Classic </a:t>
                </a:r>
                <a:r>
                  <a:rPr lang="en-US" b="1" dirty="0">
                    <a:solidFill>
                      <a:srgbClr val="00B050"/>
                    </a:solidFill>
                    <a:latin typeface="inter"/>
                    <a:ea typeface="inter"/>
                    <a:cs typeface="inter"/>
                  </a:rPr>
                  <a:t>Model is a Starting Point:</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Use it for intuition, but measure/simulate for actual design, especially as tech scales down.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l">
                  <a:lnSpc>
                    <a:spcPct val="150000"/>
                  </a:lnSpc>
                  <a:spcBef>
                    <a:spcPts val="0"/>
                  </a:spcBef>
                  <a:buFont typeface="Wingdings" panose="05000000000000000000" pitchFamily="2" charset="2"/>
                  <a:buChar char="q"/>
                  <a:tabLst>
                    <a:tab pos="571500" algn="l"/>
                  </a:tabLst>
                </a:pPr>
                <a14:m>
                  <m:oMath xmlns:m="http://schemas.openxmlformats.org/officeDocument/2006/math">
                    <m:f>
                      <m:fPr>
                        <m:ctrlPr>
                          <a:rPr lang="en-US" i="1" smtClean="0">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b="1" dirty="0">
                    <a:solidFill>
                      <a:srgbClr val="00B050"/>
                    </a:solidFill>
                    <a:latin typeface="inter"/>
                    <a:ea typeface="inter"/>
                    <a:cs typeface="inter"/>
                  </a:rPr>
                  <a:t> Tuning is Key for Energy Efficient Circuits:</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“Shallow” operation (high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is great for low-power sensitivity, but can be noisy and mismatched.</a:t>
                </a:r>
                <a:br>
                  <a:rPr lang="en-US" dirty="0">
                    <a:solidFill>
                      <a:srgbClr val="000000"/>
                    </a:solidFill>
                    <a:latin typeface="inter"/>
                    <a:ea typeface="inter"/>
                    <a:cs typeface="inter"/>
                  </a:rPr>
                </a:br>
                <a:r>
                  <a:rPr lang="en-US" dirty="0">
                    <a:solidFill>
                      <a:srgbClr val="000000"/>
                    </a:solidFill>
                    <a:latin typeface="inter"/>
                    <a:ea typeface="inter"/>
                    <a:cs typeface="inter"/>
                  </a:rPr>
                  <a:t>“Deeper” operation (lower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is robust, less sensitive, more stable—good for precision.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l">
                  <a:lnSpc>
                    <a:spcPct val="150000"/>
                  </a:lnSpc>
                  <a:spcBef>
                    <a:spcPts val="0"/>
                  </a:spcBef>
                  <a:buFont typeface="Wingdings" panose="05000000000000000000" pitchFamily="2" charset="2"/>
                  <a:buChar char="q"/>
                  <a:tabLst>
                    <a:tab pos="571500" algn="l"/>
                  </a:tabLst>
                </a:pPr>
                <a:r>
                  <a:rPr lang="en-US" b="1" dirty="0">
                    <a:solidFill>
                      <a:srgbClr val="00B050"/>
                    </a:solidFill>
                    <a:latin typeface="inter"/>
                    <a:ea typeface="inter"/>
                    <a:cs typeface="inter"/>
                  </a:rPr>
                  <a:t>Every Modern Analog/Mixed-Signal Design Recipe Builds on These Physical Analogies:</a:t>
                </a:r>
                <a:r>
                  <a:rPr lang="en-US" dirty="0">
                    <a:solidFill>
                      <a:srgbClr val="000000"/>
                    </a:solidFill>
                    <a:latin typeface="inter"/>
                    <a:ea typeface="inter"/>
                    <a:cs typeface="inter"/>
                  </a:rPr>
                  <a:t/>
                </a:r>
                <a:br>
                  <a:rPr lang="en-US" dirty="0">
                    <a:solidFill>
                      <a:srgbClr val="000000"/>
                    </a:solidFill>
                    <a:latin typeface="inter"/>
                    <a:ea typeface="inter"/>
                    <a:cs typeface="inter"/>
                  </a:rPr>
                </a:br>
                <a:r>
                  <a:rPr lang="en-US" dirty="0">
                    <a:solidFill>
                      <a:srgbClr val="000000"/>
                    </a:solidFill>
                    <a:latin typeface="inter"/>
                    <a:ea typeface="inter"/>
                    <a:cs typeface="inter"/>
                  </a:rPr>
                  <a:t>Master them, then move on to more accurate process-tuned models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charts, LUTs).</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l"/>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793730" cy="5306837"/>
              </a:xfrm>
              <a:blipFill>
                <a:blip r:embed="rId2"/>
                <a:stretch>
                  <a:fillRect l="-135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398260" y="6594291"/>
            <a:ext cx="1383539" cy="1748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428244"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537188" y="647922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0957506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19150" y="138175"/>
                <a:ext cx="10593196" cy="762196"/>
              </a:xfrm>
            </p:spPr>
            <p:txBody>
              <a:bodyPr/>
              <a:lstStyle/>
              <a:p>
                <a:r>
                  <a:rPr lang="en-US" dirty="0">
                    <a:latin typeface="fkGrotesk"/>
                  </a:rPr>
                  <a:t>What Does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
                  </a:rPr>
                  <a:t> Really Show Us</a:t>
                </a:r>
                <a:r>
                  <a:rPr lang="en-US" dirty="0" smtClean="0">
                    <a:latin typeface="fkGrotesk"/>
                  </a:rPr>
                  <a:t>?</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19150" y="138175"/>
                <a:ext cx="10593196" cy="762196"/>
              </a:xfrm>
              <a:blipFill>
                <a:blip r:embed="rId2"/>
                <a:stretch>
                  <a:fillRect l="-2474" t="-10400" b="-9600"/>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7" name="Text Placeholder 6"/>
              <p:cNvSpPr>
                <a:spLocks noGrp="1"/>
              </p:cNvSpPr>
              <p:nvPr>
                <p:ph type="body" idx="1"/>
              </p:nvPr>
            </p:nvSpPr>
            <p:spPr>
              <a:xfrm>
                <a:off x="844550" y="1327353"/>
                <a:ext cx="10433050" cy="3460499"/>
              </a:xfrm>
            </p:spPr>
            <p:txBody>
              <a:bodyPr/>
              <a:lstStyle/>
              <a:p>
                <a:pPr marL="342900" marR="0" lvl="0" indent="-342900">
                  <a:lnSpc>
                    <a:spcPct val="150000"/>
                  </a:lnSpc>
                  <a:spcBef>
                    <a:spcPts val="0"/>
                  </a:spcBef>
                  <a:spcAft>
                    <a:spcPts val="1050"/>
                  </a:spcAft>
                  <a:buFont typeface="Symbol" panose="05050102010706020507" pitchFamily="18" charset="2"/>
                  <a:buChar char=""/>
                  <a:tabLst>
                    <a:tab pos="571500" algn="l"/>
                  </a:tabLst>
                </a:pPr>
                <a:r>
                  <a:rPr lang="en-US" b="1" dirty="0" smtClean="0">
                    <a:solidFill>
                      <a:srgbClr val="000000"/>
                    </a:solidFill>
                    <a:latin typeface="inter"/>
                    <a:ea typeface="inter"/>
                    <a:cs typeface="inter"/>
                  </a:rPr>
                  <a:t>Efficiency </a:t>
                </a:r>
                <a:r>
                  <a:rPr lang="en-US" b="1" dirty="0">
                    <a:solidFill>
                      <a:srgbClr val="000000"/>
                    </a:solidFill>
                    <a:latin typeface="inter"/>
                    <a:ea typeface="inter"/>
                    <a:cs typeface="inter"/>
                  </a:rPr>
                  <a:t>Analogy:</a:t>
                </a:r>
                <a:r>
                  <a:rPr lang="en-US" dirty="0">
                    <a:solidFill>
                      <a:srgbClr val="000000"/>
                    </a:solidFill>
                    <a:latin typeface="inter"/>
                    <a:ea typeface="inter"/>
                    <a:cs typeface="inter"/>
                  </a:rPr>
                  <a:t>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smtClean="0">
                    <a:solidFill>
                      <a:srgbClr val="000000"/>
                    </a:solidFill>
                    <a:latin typeface="inter"/>
                    <a:ea typeface="inter"/>
                    <a:cs typeface="inter"/>
                  </a:rPr>
                  <a:t> </a:t>
                </a:r>
                <a:r>
                  <a:rPr lang="en-US" dirty="0">
                    <a:solidFill>
                      <a:srgbClr val="000000"/>
                    </a:solidFill>
                    <a:latin typeface="inter"/>
                    <a:ea typeface="inter"/>
                    <a:cs typeface="inter"/>
                  </a:rPr>
                  <a:t>is like “performance per drop of fuel.”</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dirty="0">
                    <a:solidFill>
                      <a:srgbClr val="000000"/>
                    </a:solidFill>
                    <a:latin typeface="inter"/>
                    <a:ea typeface="inter"/>
                    <a:cs typeface="inter"/>
                  </a:rPr>
                  <a:t>At each bias point, it tells how much </a:t>
                </a:r>
                <a:r>
                  <a:rPr lang="en-US" dirty="0" err="1">
                    <a:solidFill>
                      <a:srgbClr val="000000"/>
                    </a:solidFill>
                    <a:latin typeface="inter"/>
                    <a:ea typeface="inter"/>
                    <a:cs typeface="inter"/>
                  </a:rPr>
                  <a:t>transconductance</a:t>
                </a:r>
                <a:r>
                  <a:rPr lang="en-US" dirty="0">
                    <a:solidFill>
                      <a:srgbClr val="000000"/>
                    </a:solidFill>
                    <a:latin typeface="inter"/>
                    <a:ea typeface="inter"/>
                    <a:cs typeface="inter"/>
                  </a:rPr>
                  <a:t> (signal boost) you obtain for every </a:t>
                </a:r>
                <a:r>
                  <a:rPr lang="en-US" dirty="0" err="1">
                    <a:solidFill>
                      <a:srgbClr val="000000"/>
                    </a:solidFill>
                    <a:latin typeface="inter"/>
                    <a:ea typeface="inter"/>
                    <a:cs typeface="inter"/>
                  </a:rPr>
                  <a:t>microamp</a:t>
                </a:r>
                <a:r>
                  <a:rPr lang="en-US" dirty="0">
                    <a:solidFill>
                      <a:srgbClr val="000000"/>
                    </a:solidFill>
                    <a:latin typeface="inter"/>
                    <a:ea typeface="inter"/>
                    <a:cs typeface="inter"/>
                  </a:rPr>
                  <a:t> you spend.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50"/>
                  </a:spcAft>
                  <a:buFont typeface="Symbol" panose="05050102010706020507" pitchFamily="18" charset="2"/>
                  <a:buChar char=""/>
                  <a:tabLst>
                    <a:tab pos="571500" algn="l"/>
                  </a:tabLst>
                </a:pPr>
                <a:r>
                  <a:rPr lang="en-US" b="1" dirty="0">
                    <a:solidFill>
                      <a:srgbClr val="000000"/>
                    </a:solidFill>
                    <a:latin typeface="inter"/>
                    <a:ea typeface="inter"/>
                    <a:cs typeface="inter"/>
                  </a:rPr>
                  <a:t>Classic Expectation: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dirty="0">
                    <a:solidFill>
                      <a:srgbClr val="000000"/>
                    </a:solidFill>
                    <a:latin typeface="inter"/>
                    <a:ea typeface="inter"/>
                    <a:cs typeface="inter"/>
                  </a:rPr>
                  <a:t>The square-law model predicts that as you increase </a:t>
                </a:r>
                <a:r>
                  <a:rPr lang="en-US" dirty="0" smtClean="0">
                    <a:solidFill>
                      <a:srgbClr val="000000"/>
                    </a:solidFill>
                    <a:latin typeface="inter"/>
                    <a:ea typeface="inter"/>
                    <a:cs typeface="inter"/>
                  </a:rPr>
                  <a:t>V</a:t>
                </a:r>
                <a:r>
                  <a:rPr lang="en-US" baseline="-25000" dirty="0" smtClean="0">
                    <a:solidFill>
                      <a:srgbClr val="000000"/>
                    </a:solidFill>
                    <a:latin typeface="inter"/>
                    <a:ea typeface="inter"/>
                    <a:cs typeface="inter"/>
                  </a:rPr>
                  <a:t>GS</a:t>
                </a:r>
                <a:r>
                  <a:rPr lang="en-US" dirty="0" smtClean="0">
                    <a:solidFill>
                      <a:srgbClr val="000000"/>
                    </a:solidFill>
                    <a:latin typeface="inter"/>
                    <a:ea typeface="inter"/>
                    <a:cs typeface="inter"/>
                  </a:rPr>
                  <a:t>,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should decrease as </a:t>
                </a:r>
                <a:r>
                  <a:rPr lang="en-US" dirty="0" smtClean="0">
                    <a:solidFill>
                      <a:srgbClr val="000000"/>
                    </a:solidFill>
                    <a:latin typeface="inter"/>
                    <a:ea typeface="inter"/>
                    <a:cs typeface="inter"/>
                  </a:rPr>
                  <a:t>1</a:t>
                </a:r>
                <a:r>
                  <a:rPr lang="en-US" dirty="0">
                    <a:solidFill>
                      <a:srgbClr val="000000"/>
                    </a:solidFill>
                    <a:latin typeface="inter"/>
                    <a:ea typeface="inter"/>
                    <a:cs typeface="inter"/>
                  </a:rPr>
                  <a:t>/(</a:t>
                </a:r>
                <a:r>
                  <a:rPr lang="en-US" dirty="0" smtClean="0">
                    <a:solidFill>
                      <a:srgbClr val="000000"/>
                    </a:solidFill>
                    <a:latin typeface="inter"/>
                    <a:ea typeface="inter"/>
                    <a:cs typeface="inter"/>
                  </a:rPr>
                  <a:t>V</a:t>
                </a:r>
                <a:r>
                  <a:rPr lang="en-US" baseline="-25000" dirty="0" smtClean="0">
                    <a:solidFill>
                      <a:srgbClr val="000000"/>
                    </a:solidFill>
                    <a:latin typeface="inter"/>
                    <a:ea typeface="inter"/>
                    <a:cs typeface="inter"/>
                  </a:rPr>
                  <a:t>GS</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 </a:t>
                </a:r>
                <a:r>
                  <a:rPr lang="en-US" dirty="0" smtClean="0">
                    <a:solidFill>
                      <a:srgbClr val="000000"/>
                    </a:solidFill>
                    <a:latin typeface="inter"/>
                    <a:ea typeface="inter"/>
                    <a:cs typeface="inter"/>
                  </a:rPr>
                  <a:t>V</a:t>
                </a:r>
                <a:r>
                  <a:rPr lang="en-US" baseline="-25000" dirty="0" smtClean="0">
                    <a:solidFill>
                      <a:srgbClr val="000000"/>
                    </a:solidFill>
                    <a:latin typeface="inter"/>
                    <a:ea typeface="inter"/>
                    <a:cs typeface="inter"/>
                  </a:rPr>
                  <a:t>TH</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 a smooth drop</a:t>
                </a:r>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7" name="Text Placeholder 6"/>
              <p:cNvSpPr>
                <a:spLocks noGrp="1" noRot="1" noChangeAspect="1" noMove="1" noResize="1" noEditPoints="1" noAdjustHandles="1" noChangeArrowheads="1" noChangeShapeType="1" noTextEdit="1"/>
              </p:cNvSpPr>
              <p:nvPr>
                <p:ph type="body" idx="1"/>
              </p:nvPr>
            </p:nvSpPr>
            <p:spPr>
              <a:xfrm>
                <a:off x="844550" y="1327353"/>
                <a:ext cx="10433050" cy="3460499"/>
              </a:xfrm>
              <a:blipFill>
                <a:blip r:embed="rId3"/>
                <a:stretch>
                  <a:fillRect l="-1520" b="-1764"/>
                </a:stretch>
              </a:blipFill>
            </p:spPr>
            <p:txBody>
              <a:bodyPr/>
              <a:lstStyle/>
              <a:p>
                <a:r>
                  <a:rPr lang="en-US">
                    <a:noFill/>
                  </a:rPr>
                  <a:t> </a:t>
                </a:r>
              </a:p>
            </p:txBody>
          </p:sp>
        </mc:Fallback>
      </mc:AlternateContent>
    </p:spTree>
    <p:extLst>
      <p:ext uri="{BB962C8B-B14F-4D97-AF65-F5344CB8AC3E}">
        <p14:creationId xmlns:p14="http://schemas.microsoft.com/office/powerpoint/2010/main" val="277584209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2"/>
          <a:srcRect l="63159" t="11345" r="5137" b="49937"/>
          <a:stretch/>
        </p:blipFill>
        <p:spPr>
          <a:xfrm>
            <a:off x="7448550" y="3130550"/>
            <a:ext cx="2571750" cy="1244600"/>
          </a:xfrm>
          <a:prstGeom prst="rect">
            <a:avLst/>
          </a:prstGeom>
        </p:spPr>
      </p:pic>
      <p:sp>
        <p:nvSpPr>
          <p:cNvPr id="2" name="Title 1"/>
          <p:cNvSpPr>
            <a:spLocks noGrp="1"/>
          </p:cNvSpPr>
          <p:nvPr>
            <p:ph type="title"/>
          </p:nvPr>
        </p:nvSpPr>
        <p:spPr>
          <a:xfrm>
            <a:off x="819150" y="347725"/>
            <a:ext cx="10593196" cy="523220"/>
          </a:xfrm>
        </p:spPr>
        <p:txBody>
          <a:bodyPr/>
          <a:lstStyle/>
          <a:p>
            <a:r>
              <a:rPr lang="en-US" b="1" dirty="0">
                <a:solidFill>
                  <a:srgbClr val="000000"/>
                </a:solidFill>
                <a:latin typeface="inter"/>
                <a:ea typeface="inter"/>
                <a:cs typeface="inter"/>
              </a:rPr>
              <a:t>Real Devices – Long vs Short </a:t>
            </a:r>
            <a:r>
              <a:rPr lang="en-US" b="1" dirty="0" smtClean="0">
                <a:solidFill>
                  <a:srgbClr val="000000"/>
                </a:solidFill>
                <a:latin typeface="inter"/>
                <a:ea typeface="inter"/>
                <a:cs typeface="inter"/>
              </a:rPr>
              <a:t>Channel</a:t>
            </a:r>
            <a:endParaRPr lang="en-US" dirty="0"/>
          </a:p>
        </p:txBody>
      </p:sp>
      <p:sp>
        <p:nvSpPr>
          <p:cNvPr id="3" name="Text Placeholder 2"/>
          <p:cNvSpPr>
            <a:spLocks noGrp="1"/>
          </p:cNvSpPr>
          <p:nvPr>
            <p:ph type="body" idx="1"/>
          </p:nvPr>
        </p:nvSpPr>
        <p:spPr>
          <a:xfrm>
            <a:off x="652045" y="1327353"/>
            <a:ext cx="10503635" cy="1446550"/>
          </a:xfrm>
        </p:spPr>
        <p:txBody>
          <a:bodyPr/>
          <a:lstStyle/>
          <a:p>
            <a:pPr marL="342900" marR="0" lvl="0" indent="-342900" algn="just">
              <a:buFont typeface="Symbol" panose="05050102010706020507" pitchFamily="18" charset="2"/>
              <a:buChar char=""/>
              <a:tabLst>
                <a:tab pos="571500" algn="l"/>
              </a:tabLst>
            </a:pPr>
            <a:r>
              <a:rPr lang="en-US" b="1" dirty="0" smtClean="0">
                <a:solidFill>
                  <a:srgbClr val="000000"/>
                </a:solidFill>
                <a:latin typeface="inter"/>
                <a:ea typeface="inter"/>
                <a:cs typeface="inter"/>
              </a:rPr>
              <a:t>Graph </a:t>
            </a:r>
            <a:r>
              <a:rPr lang="en-US" b="1" dirty="0">
                <a:solidFill>
                  <a:srgbClr val="000000"/>
                </a:solidFill>
                <a:latin typeface="inter"/>
                <a:ea typeface="inter"/>
                <a:cs typeface="inter"/>
              </a:rPr>
              <a:t>Insight: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gn="just">
              <a:buFont typeface="Courier New" panose="02070309020205020404" pitchFamily="49" charset="0"/>
              <a:buChar char="o"/>
              <a:tabLst>
                <a:tab pos="914400" algn="l"/>
              </a:tabLst>
            </a:pPr>
            <a:r>
              <a:rPr lang="en-US" dirty="0">
                <a:solidFill>
                  <a:srgbClr val="000000"/>
                </a:solidFill>
                <a:latin typeface="inter"/>
                <a:ea typeface="inter"/>
                <a:cs typeface="inter"/>
              </a:rPr>
              <a:t>The </a:t>
            </a:r>
            <a:r>
              <a:rPr lang="en-US" b="1" dirty="0">
                <a:solidFill>
                  <a:srgbClr val="000000"/>
                </a:solidFill>
                <a:latin typeface="inter"/>
                <a:ea typeface="inter"/>
                <a:cs typeface="inter"/>
              </a:rPr>
              <a:t>dashed line</a:t>
            </a:r>
            <a:r>
              <a:rPr lang="en-US" dirty="0">
                <a:solidFill>
                  <a:srgbClr val="000000"/>
                </a:solidFill>
                <a:latin typeface="inter"/>
                <a:ea typeface="inter"/>
                <a:cs typeface="inter"/>
              </a:rPr>
              <a:t> is the ideal (square law, long-channel).</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gn="just">
              <a:buFont typeface="Courier New" panose="02070309020205020404" pitchFamily="49" charset="0"/>
              <a:buChar char="o"/>
              <a:tabLst>
                <a:tab pos="914400" algn="l"/>
              </a:tabLst>
            </a:pPr>
            <a:r>
              <a:rPr lang="en-US" dirty="0">
                <a:solidFill>
                  <a:srgbClr val="000000"/>
                </a:solidFill>
                <a:latin typeface="inter"/>
                <a:ea typeface="inter"/>
                <a:cs typeface="inter"/>
              </a:rPr>
              <a:t>The </a:t>
            </a:r>
            <a:r>
              <a:rPr lang="en-US" b="1" dirty="0">
                <a:solidFill>
                  <a:srgbClr val="002060"/>
                </a:solidFill>
                <a:latin typeface="inter"/>
                <a:ea typeface="inter"/>
                <a:cs typeface="inter"/>
              </a:rPr>
              <a:t>blue line</a:t>
            </a:r>
            <a:r>
              <a:rPr lang="en-US" dirty="0">
                <a:solidFill>
                  <a:srgbClr val="002060"/>
                </a:solidFill>
                <a:latin typeface="inter"/>
                <a:ea typeface="inter"/>
                <a:cs typeface="inter"/>
              </a:rPr>
              <a:t> </a:t>
            </a:r>
            <a:r>
              <a:rPr lang="en-US" dirty="0">
                <a:solidFill>
                  <a:srgbClr val="000000"/>
                </a:solidFill>
                <a:latin typeface="inter"/>
                <a:ea typeface="inter"/>
                <a:cs typeface="inter"/>
              </a:rPr>
              <a:t>is a real long-channel MOSFET.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gn="just">
              <a:buFont typeface="Courier New" panose="02070309020205020404" pitchFamily="49" charset="0"/>
              <a:buChar char="o"/>
              <a:tabLst>
                <a:tab pos="914400" algn="l"/>
              </a:tabLst>
            </a:pPr>
            <a:r>
              <a:rPr lang="en-US" dirty="0">
                <a:solidFill>
                  <a:srgbClr val="000000"/>
                </a:solidFill>
                <a:latin typeface="inter"/>
                <a:ea typeface="inter"/>
                <a:cs typeface="inter"/>
              </a:rPr>
              <a:t>The </a:t>
            </a:r>
            <a:r>
              <a:rPr lang="en-US" b="1" dirty="0">
                <a:solidFill>
                  <a:srgbClr val="C00000"/>
                </a:solidFill>
                <a:latin typeface="inter"/>
                <a:ea typeface="inter"/>
                <a:cs typeface="inter"/>
              </a:rPr>
              <a:t>red line</a:t>
            </a:r>
            <a:r>
              <a:rPr lang="en-US" dirty="0">
                <a:solidFill>
                  <a:srgbClr val="C00000"/>
                </a:solidFill>
                <a:latin typeface="inter"/>
                <a:ea typeface="inter"/>
                <a:cs typeface="inter"/>
              </a:rPr>
              <a:t> </a:t>
            </a:r>
            <a:r>
              <a:rPr lang="en-US" dirty="0">
                <a:solidFill>
                  <a:srgbClr val="000000"/>
                </a:solidFill>
                <a:latin typeface="inter"/>
                <a:ea typeface="inter"/>
                <a:cs typeface="inter"/>
              </a:rPr>
              <a:t>is a modern short-channel MOSFET (what we actually fabricate!).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r="30266"/>
          <a:stretch/>
        </p:blipFill>
        <p:spPr>
          <a:xfrm>
            <a:off x="2007693" y="2753195"/>
            <a:ext cx="5656757" cy="3214468"/>
          </a:xfrm>
          <a:prstGeom prst="rect">
            <a:avLst/>
          </a:prstGeom>
        </p:spPr>
      </p:pic>
      <p:sp>
        <p:nvSpPr>
          <p:cNvPr id="8" name="Rectangle 7"/>
          <p:cNvSpPr/>
          <p:nvPr/>
        </p:nvSpPr>
        <p:spPr>
          <a:xfrm>
            <a:off x="2038350" y="2913164"/>
            <a:ext cx="5829300" cy="302408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113500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253532" y="1311378"/>
                <a:ext cx="6201143" cy="5300425"/>
              </a:xfrm>
            </p:spPr>
            <p:txBody>
              <a:bodyPr/>
              <a:lstStyle/>
              <a:p>
                <a:pPr marL="342900" marR="0" lvl="0" indent="-342900" algn="just" defTabSz="914400" eaLnBrk="1" fontAlgn="auto" latinLnBrk="0" hangingPunct="1">
                  <a:lnSpc>
                    <a:spcPct val="100000"/>
                  </a:lnSpc>
                  <a:spcBef>
                    <a:spcPts val="0"/>
                  </a:spcBef>
                  <a:spcAft>
                    <a:spcPts val="0"/>
                  </a:spcAft>
                  <a:buClrTx/>
                  <a:buSzTx/>
                  <a:buFont typeface="Wingdings" panose="05000000000000000000" pitchFamily="2" charset="2"/>
                  <a:buChar char="q"/>
                  <a:tabLst>
                    <a:tab pos="571500" algn="l"/>
                  </a:tabLst>
                  <a:defRPr/>
                </a:pPr>
                <a:r>
                  <a:rPr lang="en-US" b="1" dirty="0">
                    <a:solidFill>
                      <a:srgbClr val="000000"/>
                    </a:solidFill>
                    <a:latin typeface="inter"/>
                    <a:ea typeface="inter"/>
                    <a:cs typeface="inter"/>
                  </a:rPr>
                  <a:t>Three Bias Regions:</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R="0" lvl="1" algn="ctr" defTabSz="914400" eaLnBrk="1" fontAlgn="auto" latinLnBrk="0" hangingPunct="1">
                  <a:lnSpc>
                    <a:spcPct val="100000"/>
                  </a:lnSpc>
                  <a:spcBef>
                    <a:spcPts val="0"/>
                  </a:spcBef>
                  <a:spcAft>
                    <a:spcPts val="0"/>
                  </a:spcAft>
                  <a:buClrTx/>
                  <a:buSzTx/>
                  <a:tabLst>
                    <a:tab pos="914400" algn="l"/>
                  </a:tabLst>
                  <a:defRPr/>
                </a:pPr>
                <a:r>
                  <a:rPr lang="en-US" b="1" dirty="0">
                    <a:solidFill>
                      <a:srgbClr val="00B050"/>
                    </a:solidFill>
                    <a:latin typeface="inter"/>
                    <a:ea typeface="inter"/>
                    <a:cs typeface="inter"/>
                  </a:rPr>
                  <a:t>Weak Inversion (left):</a:t>
                </a:r>
                <a:r>
                  <a:rPr lang="en-US" dirty="0">
                    <a:solidFill>
                      <a:srgbClr val="00B050"/>
                    </a:solidFill>
                    <a:latin typeface="inter"/>
                    <a:ea typeface="inter"/>
                    <a:cs typeface="inter"/>
                  </a:rPr>
                  <a:t> </a:t>
                </a:r>
                <a:endParaRPr lang="en-US" dirty="0" smtClean="0">
                  <a:solidFill>
                    <a:srgbClr val="00B050"/>
                  </a:solidFill>
                  <a:latin typeface="inter"/>
                  <a:ea typeface="inter"/>
                  <a:cs typeface="inter"/>
                </a:endParaRPr>
              </a:p>
              <a:p>
                <a:pPr marR="0" lvl="1" algn="just" defTabSz="914400" eaLnBrk="1" fontAlgn="auto" latinLnBrk="0" hangingPunct="1">
                  <a:lnSpc>
                    <a:spcPct val="100000"/>
                  </a:lnSpc>
                  <a:spcBef>
                    <a:spcPts val="0"/>
                  </a:spcBef>
                  <a:spcAft>
                    <a:spcPts val="0"/>
                  </a:spcAft>
                  <a:buClrTx/>
                  <a:buSzTx/>
                  <a:tabLst>
                    <a:tab pos="914400" algn="l"/>
                  </a:tabLst>
                  <a:defRPr/>
                </a:pPr>
                <a:r>
                  <a:rPr lang="en-US" dirty="0" smtClean="0">
                    <a:solidFill>
                      <a:srgbClr val="000000"/>
                    </a:solidFill>
                    <a:latin typeface="inter"/>
                    <a:ea typeface="inter"/>
                    <a:cs typeface="inter"/>
                  </a:rPr>
                  <a:t>Huge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in theory, but both long and short devices show that the model is wrong here — the “fuel efficiency” is not really that high.</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685800" lvl="1" indent="-228600" algn="just">
                  <a:buFont typeface="Wingdings" panose="05000000000000000000" pitchFamily="2" charset="2"/>
                  <a:buChar char=""/>
                  <a:tabLst>
                    <a:tab pos="1600200" algn="l"/>
                  </a:tabLst>
                  <a:defRPr/>
                </a:pPr>
                <a:r>
                  <a:rPr lang="en-US" b="1" dirty="0">
                    <a:solidFill>
                      <a:srgbClr val="000000"/>
                    </a:solidFill>
                    <a:latin typeface="inter"/>
                    <a:ea typeface="inter"/>
                    <a:cs typeface="inter"/>
                  </a:rPr>
                  <a:t>Design Tip:</a:t>
                </a:r>
                <a:r>
                  <a:rPr lang="en-US" dirty="0">
                    <a:solidFill>
                      <a:srgbClr val="000000"/>
                    </a:solidFill>
                    <a:latin typeface="inter"/>
                    <a:ea typeface="inter"/>
                    <a:cs typeface="inter"/>
                  </a:rPr>
                  <a:t> Great for ultra-low-power, but matching, noise, and accuracy become tough!</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R="0" lvl="1" algn="ctr" defTabSz="914400" eaLnBrk="1" fontAlgn="auto" latinLnBrk="0" hangingPunct="1">
                  <a:lnSpc>
                    <a:spcPct val="100000"/>
                  </a:lnSpc>
                  <a:spcBef>
                    <a:spcPts val="0"/>
                  </a:spcBef>
                  <a:spcAft>
                    <a:spcPts val="0"/>
                  </a:spcAft>
                  <a:buClrTx/>
                  <a:buSzTx/>
                  <a:tabLst>
                    <a:tab pos="914400" algn="l"/>
                  </a:tabLst>
                  <a:defRPr/>
                </a:pPr>
                <a:r>
                  <a:rPr lang="en-US" b="1" dirty="0">
                    <a:solidFill>
                      <a:srgbClr val="00B050"/>
                    </a:solidFill>
                    <a:latin typeface="inter"/>
                    <a:ea typeface="inter"/>
                    <a:cs typeface="inter"/>
                  </a:rPr>
                  <a:t>Moderate Inversion (middle):</a:t>
                </a:r>
                <a:endParaRPr lang="en-US" dirty="0">
                  <a:solidFill>
                    <a:srgbClr val="00B050"/>
                  </a:solidFill>
                  <a:latin typeface="Georgia" panose="02040502050405020303" pitchFamily="18" charset="0"/>
                  <a:ea typeface="Calibri" panose="020F0502020204030204" pitchFamily="34" charset="0"/>
                  <a:cs typeface="Times New Roman" panose="02020603050405020304" pitchFamily="18" charset="0"/>
                </a:endParaRPr>
              </a:p>
              <a:p>
                <a:pPr marL="685800" lvl="1" indent="-228600" algn="just">
                  <a:buFont typeface="Wingdings" panose="05000000000000000000" pitchFamily="2" charset="2"/>
                  <a:buChar char=""/>
                  <a:tabLst>
                    <a:tab pos="1600200" algn="l"/>
                  </a:tabLst>
                  <a:defRPr/>
                </a:pPr>
                <a:r>
                  <a:rPr lang="en-US" b="1" dirty="0">
                    <a:solidFill>
                      <a:srgbClr val="000000"/>
                    </a:solidFill>
                    <a:latin typeface="inter"/>
                    <a:ea typeface="inter"/>
                    <a:cs typeface="inter"/>
                  </a:rPr>
                  <a:t>Long-channel:</a:t>
                </a:r>
                <a:r>
                  <a:rPr lang="en-US" dirty="0">
                    <a:solidFill>
                      <a:srgbClr val="000000"/>
                    </a:solidFill>
                    <a:latin typeface="inter"/>
                    <a:ea typeface="inter"/>
                    <a:cs typeface="inter"/>
                  </a:rPr>
                  <a:t> Square-law does reasonably well.</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685800" lvl="1" indent="-228600" algn="just">
                  <a:buFont typeface="Wingdings" panose="05000000000000000000" pitchFamily="2" charset="2"/>
                  <a:buChar char=""/>
                  <a:tabLst>
                    <a:tab pos="1600200" algn="l"/>
                  </a:tabLst>
                  <a:defRPr/>
                </a:pPr>
                <a:r>
                  <a:rPr lang="en-US" b="1" dirty="0">
                    <a:solidFill>
                      <a:srgbClr val="000000"/>
                    </a:solidFill>
                    <a:latin typeface="inter"/>
                    <a:ea typeface="inter"/>
                    <a:cs typeface="inter"/>
                  </a:rPr>
                  <a:t>Short-channel:</a:t>
                </a:r>
                <a:r>
                  <a:rPr lang="en-US" dirty="0">
                    <a:solidFill>
                      <a:srgbClr val="000000"/>
                    </a:solidFill>
                    <a:latin typeface="inter"/>
                    <a:ea typeface="inter"/>
                    <a:cs typeface="inter"/>
                  </a:rPr>
                  <a:t> Still usable, but a bit off — process corners matter.</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685800" lvl="1" indent="-228600" algn="just">
                  <a:buFont typeface="Wingdings" panose="05000000000000000000" pitchFamily="2" charset="2"/>
                  <a:buChar char=""/>
                  <a:tabLst>
                    <a:tab pos="1600200" algn="l"/>
                  </a:tabLst>
                  <a:defRPr/>
                </a:pPr>
                <a:r>
                  <a:rPr lang="en-US" b="1" dirty="0">
                    <a:solidFill>
                      <a:srgbClr val="000000"/>
                    </a:solidFill>
                    <a:latin typeface="inter"/>
                    <a:ea typeface="inter"/>
                    <a:cs typeface="inter"/>
                  </a:rPr>
                  <a:t>Design Tip:</a:t>
                </a:r>
                <a:r>
                  <a:rPr lang="en-US" dirty="0">
                    <a:solidFill>
                      <a:srgbClr val="000000"/>
                    </a:solidFill>
                    <a:latin typeface="inter"/>
                    <a:ea typeface="inter"/>
                    <a:cs typeface="inter"/>
                  </a:rPr>
                  <a:t> This is the “sweet spot” for practical designs: compromise between speed, noise, power, and matching.</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R="0" lvl="1" algn="ctr" defTabSz="914400" eaLnBrk="1" fontAlgn="auto" latinLnBrk="0" hangingPunct="1">
                  <a:lnSpc>
                    <a:spcPct val="100000"/>
                  </a:lnSpc>
                  <a:spcBef>
                    <a:spcPts val="0"/>
                  </a:spcBef>
                  <a:spcAft>
                    <a:spcPts val="0"/>
                  </a:spcAft>
                  <a:buClrTx/>
                  <a:buSzTx/>
                  <a:tabLst>
                    <a:tab pos="914400" algn="l"/>
                  </a:tabLst>
                  <a:defRPr/>
                </a:pPr>
                <a:r>
                  <a:rPr lang="en-US" b="1" dirty="0">
                    <a:solidFill>
                      <a:srgbClr val="00B050"/>
                    </a:solidFill>
                    <a:latin typeface="inter"/>
                    <a:ea typeface="inter"/>
                    <a:cs typeface="inter"/>
                  </a:rPr>
                  <a:t>Strong Inversion (right):</a:t>
                </a:r>
                <a:r>
                  <a:rPr lang="en-US" dirty="0">
                    <a:solidFill>
                      <a:srgbClr val="00B050"/>
                    </a:solidFill>
                    <a:latin typeface="inter"/>
                    <a:ea typeface="inter"/>
                    <a:cs typeface="inter"/>
                  </a:rPr>
                  <a:t> </a:t>
                </a:r>
                <a:endParaRPr lang="en-US" dirty="0" smtClean="0">
                  <a:solidFill>
                    <a:srgbClr val="00B050"/>
                  </a:solidFill>
                  <a:latin typeface="inter"/>
                  <a:ea typeface="inter"/>
                  <a:cs typeface="inter"/>
                </a:endParaRPr>
              </a:p>
              <a:p>
                <a:pPr marR="0" lvl="1" algn="just" defTabSz="914400" eaLnBrk="1" fontAlgn="auto" latinLnBrk="0" hangingPunct="1">
                  <a:lnSpc>
                    <a:spcPct val="100000"/>
                  </a:lnSpc>
                  <a:spcBef>
                    <a:spcPts val="0"/>
                  </a:spcBef>
                  <a:spcAft>
                    <a:spcPts val="0"/>
                  </a:spcAft>
                  <a:buClrTx/>
                  <a:buSzTx/>
                  <a:tabLst>
                    <a:tab pos="914400" algn="l"/>
                  </a:tabLst>
                  <a:defRPr/>
                </a:pPr>
                <a:r>
                  <a:rPr lang="en-US" dirty="0" smtClean="0">
                    <a:solidFill>
                      <a:srgbClr val="000000"/>
                    </a:solidFill>
                    <a:latin typeface="inter"/>
                    <a:ea typeface="inter"/>
                    <a:cs typeface="inter"/>
                  </a:rPr>
                  <a:t>Both </a:t>
                </a:r>
                <a:r>
                  <a:rPr lang="en-US" dirty="0">
                    <a:solidFill>
                      <a:srgbClr val="000000"/>
                    </a:solidFill>
                    <a:latin typeface="inter"/>
                    <a:ea typeface="inter"/>
                    <a:cs typeface="inter"/>
                  </a:rPr>
                  <a:t>models converge. Low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(less efficient), but predictions are trustworthy and circuits become robust.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253532" y="1311378"/>
                <a:ext cx="6201143" cy="5300425"/>
              </a:xfrm>
              <a:blipFill>
                <a:blip r:embed="rId2"/>
                <a:stretch>
                  <a:fillRect l="-2360" t="-1494" r="-2262"/>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74460" y="6479990"/>
            <a:ext cx="1326389" cy="2383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93344" y="640937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Rectangle 7"/>
          <p:cNvSpPr/>
          <p:nvPr/>
        </p:nvSpPr>
        <p:spPr>
          <a:xfrm>
            <a:off x="654050" y="1625600"/>
            <a:ext cx="5829300" cy="17907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54050" y="3429000"/>
            <a:ext cx="5829300" cy="1930400"/>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54050" y="5359400"/>
            <a:ext cx="5829300" cy="9906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3"/>
          <a:stretch>
            <a:fillRect/>
          </a:stretch>
        </p:blipFill>
        <p:spPr>
          <a:xfrm>
            <a:off x="6692900" y="1752715"/>
            <a:ext cx="5449917" cy="2184111"/>
          </a:xfrm>
          <a:prstGeom prst="rect">
            <a:avLst/>
          </a:prstGeom>
        </p:spPr>
      </p:pic>
    </p:spTree>
    <p:extLst>
      <p:ext uri="{BB962C8B-B14F-4D97-AF65-F5344CB8AC3E}">
        <p14:creationId xmlns:p14="http://schemas.microsoft.com/office/powerpoint/2010/main" val="33526001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 name="Picture 7"/>
          <p:cNvPicPr>
            <a:picLocks noChangeAspect="1"/>
          </p:cNvPicPr>
          <p:nvPr/>
        </p:nvPicPr>
        <p:blipFill>
          <a:blip r:embed="rId2"/>
          <a:stretch>
            <a:fillRect/>
          </a:stretch>
        </p:blipFill>
        <p:spPr>
          <a:xfrm>
            <a:off x="6240424" y="1132840"/>
            <a:ext cx="5712816" cy="2059378"/>
          </a:xfrm>
          <a:prstGeom prst="rect">
            <a:avLst/>
          </a:prstGeom>
        </p:spPr>
      </p:pic>
      <p:pic>
        <p:nvPicPr>
          <p:cNvPr id="9" name="Picture 8"/>
          <p:cNvPicPr>
            <a:picLocks noChangeAspect="1"/>
          </p:cNvPicPr>
          <p:nvPr/>
        </p:nvPicPr>
        <p:blipFill>
          <a:blip r:embed="rId3"/>
          <a:stretch>
            <a:fillRect/>
          </a:stretch>
        </p:blipFill>
        <p:spPr>
          <a:xfrm>
            <a:off x="0" y="3493277"/>
            <a:ext cx="5004657" cy="1563725"/>
          </a:xfrm>
          <a:prstGeom prst="rect">
            <a:avLst/>
          </a:prstGeom>
        </p:spPr>
      </p:pic>
      <p:pic>
        <p:nvPicPr>
          <p:cNvPr id="10" name="Picture 9"/>
          <p:cNvPicPr>
            <a:picLocks noChangeAspect="1"/>
          </p:cNvPicPr>
          <p:nvPr/>
        </p:nvPicPr>
        <p:blipFill>
          <a:blip r:embed="rId4"/>
          <a:stretch>
            <a:fillRect/>
          </a:stretch>
        </p:blipFill>
        <p:spPr>
          <a:xfrm>
            <a:off x="5576146" y="3538131"/>
            <a:ext cx="5843499" cy="1475463"/>
          </a:xfrm>
          <a:prstGeom prst="rect">
            <a:avLst/>
          </a:prstGeom>
        </p:spPr>
      </p:pic>
      <p:pic>
        <p:nvPicPr>
          <p:cNvPr id="11" name="Picture 10"/>
          <p:cNvPicPr>
            <a:picLocks noChangeAspect="1"/>
          </p:cNvPicPr>
          <p:nvPr/>
        </p:nvPicPr>
        <p:blipFill>
          <a:blip r:embed="rId5"/>
          <a:stretch>
            <a:fillRect/>
          </a:stretch>
        </p:blipFill>
        <p:spPr>
          <a:xfrm>
            <a:off x="1" y="5273002"/>
            <a:ext cx="5237480" cy="941935"/>
          </a:xfrm>
          <a:prstGeom prst="rect">
            <a:avLst/>
          </a:prstGeom>
        </p:spPr>
      </p:pic>
      <p:pic>
        <p:nvPicPr>
          <p:cNvPr id="12" name="Picture 11"/>
          <p:cNvPicPr>
            <a:picLocks noChangeAspect="1"/>
          </p:cNvPicPr>
          <p:nvPr/>
        </p:nvPicPr>
        <p:blipFill>
          <a:blip r:embed="rId6"/>
          <a:stretch>
            <a:fillRect/>
          </a:stretch>
        </p:blipFill>
        <p:spPr>
          <a:xfrm>
            <a:off x="5428387" y="5259827"/>
            <a:ext cx="6275668" cy="1242573"/>
          </a:xfrm>
          <a:prstGeom prst="rect">
            <a:avLst/>
          </a:prstGeom>
        </p:spPr>
      </p:pic>
      <p:pic>
        <p:nvPicPr>
          <p:cNvPr id="13" name="Picture 12"/>
          <p:cNvPicPr>
            <a:picLocks noChangeAspect="1"/>
          </p:cNvPicPr>
          <p:nvPr/>
        </p:nvPicPr>
        <p:blipFill rotWithShape="1">
          <a:blip r:embed="rId7"/>
          <a:srcRect l="63159" t="11345" r="5137" b="49937"/>
          <a:stretch/>
        </p:blipFill>
        <p:spPr>
          <a:xfrm>
            <a:off x="4222750" y="1416050"/>
            <a:ext cx="1865779" cy="902945"/>
          </a:xfrm>
          <a:prstGeom prst="rect">
            <a:avLst/>
          </a:prstGeom>
        </p:spPr>
      </p:pic>
      <p:pic>
        <p:nvPicPr>
          <p:cNvPr id="14" name="Picture 13"/>
          <p:cNvPicPr>
            <a:picLocks noChangeAspect="1"/>
          </p:cNvPicPr>
          <p:nvPr/>
        </p:nvPicPr>
        <p:blipFill rotWithShape="1">
          <a:blip r:embed="rId7"/>
          <a:srcRect r="30266"/>
          <a:stretch/>
        </p:blipFill>
        <p:spPr>
          <a:xfrm>
            <a:off x="318594" y="1152995"/>
            <a:ext cx="4103922" cy="2332065"/>
          </a:xfrm>
          <a:prstGeom prst="rect">
            <a:avLst/>
          </a:prstGeom>
        </p:spPr>
      </p:pic>
      <p:sp>
        <p:nvSpPr>
          <p:cNvPr id="15" name="Rectangle 14"/>
          <p:cNvSpPr/>
          <p:nvPr/>
        </p:nvSpPr>
        <p:spPr>
          <a:xfrm>
            <a:off x="349250" y="1312964"/>
            <a:ext cx="4229100" cy="203983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598744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05140" y="228600"/>
                <a:ext cx="10970774" cy="762196"/>
              </a:xfrm>
            </p:spPr>
            <p:txBody>
              <a:bodyPr/>
              <a:lstStyle/>
              <a:p>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
                  </a:rPr>
                  <a:t> Regions, Circuit Implications, and Efficiency </a:t>
                </a:r>
                <a:r>
                  <a:rPr lang="en-US" dirty="0" smtClean="0">
                    <a:latin typeface="fkGrotesk"/>
                  </a:rPr>
                  <a:t>Zones</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05140" y="228600"/>
                <a:ext cx="10970774" cy="762196"/>
              </a:xfrm>
              <a:blipFill>
                <a:blip r:embed="rId2"/>
                <a:stretch>
                  <a:fillRect t="-10400" b="-880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24606" y="6573485"/>
            <a:ext cx="1438257" cy="21082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69223" y="6558130"/>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63107" y="656785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t="3423" r="2796" b="4928"/>
          <a:stretch/>
        </p:blipFill>
        <p:spPr>
          <a:xfrm>
            <a:off x="6578975" y="1292429"/>
            <a:ext cx="5613025" cy="1800438"/>
          </a:xfrm>
          <a:prstGeom prst="rect">
            <a:avLst/>
          </a:prstGeom>
        </p:spPr>
      </p:pic>
      <p:pic>
        <p:nvPicPr>
          <p:cNvPr id="8" name="Picture 7"/>
          <p:cNvPicPr>
            <a:picLocks noChangeAspect="1"/>
          </p:cNvPicPr>
          <p:nvPr/>
        </p:nvPicPr>
        <p:blipFill rotWithShape="1">
          <a:blip r:embed="rId4"/>
          <a:srcRect r="1828"/>
          <a:stretch/>
        </p:blipFill>
        <p:spPr>
          <a:xfrm>
            <a:off x="206627" y="1343363"/>
            <a:ext cx="6352923" cy="4768549"/>
          </a:xfrm>
          <a:prstGeom prst="rect">
            <a:avLst/>
          </a:prstGeom>
        </p:spPr>
      </p:pic>
      <p:pic>
        <p:nvPicPr>
          <p:cNvPr id="9" name="Picture 8"/>
          <p:cNvPicPr>
            <a:picLocks noChangeAspect="1"/>
          </p:cNvPicPr>
          <p:nvPr/>
        </p:nvPicPr>
        <p:blipFill rotWithShape="1">
          <a:blip r:embed="rId5"/>
          <a:srcRect l="1656"/>
          <a:stretch/>
        </p:blipFill>
        <p:spPr>
          <a:xfrm>
            <a:off x="6838950" y="3456142"/>
            <a:ext cx="5014136" cy="1890424"/>
          </a:xfrm>
          <a:prstGeom prst="rect">
            <a:avLst/>
          </a:prstGeom>
        </p:spPr>
      </p:pic>
      <p:sp>
        <p:nvSpPr>
          <p:cNvPr id="10" name="Rectangle 9"/>
          <p:cNvSpPr/>
          <p:nvPr/>
        </p:nvSpPr>
        <p:spPr>
          <a:xfrm>
            <a:off x="6572250" y="1236764"/>
            <a:ext cx="5619750" cy="203983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92198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Why Your Bias Choice </a:t>
            </a:r>
            <a:r>
              <a:rPr lang="en-US" dirty="0" smtClean="0">
                <a:latin typeface="fkGrotesk"/>
              </a:rPr>
              <a:t>Matters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637163" y="1191165"/>
                <a:ext cx="10918824" cy="5434436"/>
              </a:xfrm>
            </p:spPr>
            <p:txBody>
              <a:bodyPr/>
              <a:lstStyle/>
              <a:p>
                <a:pPr marL="342900" indent="-342900" algn="l">
                  <a:buFont typeface="Wingdings" panose="05000000000000000000" pitchFamily="2" charset="2"/>
                  <a:buChar char="q"/>
                </a:pPr>
                <a:r>
                  <a:rPr lang="en-US" b="1" dirty="0" smtClean="0">
                    <a:solidFill>
                      <a:srgbClr val="00B050"/>
                    </a:solidFill>
                    <a:latin typeface="fkGroteskNeue"/>
                  </a:rPr>
                  <a:t>Speed</a:t>
                </a:r>
                <a:r>
                  <a:rPr lang="en-US" b="1" dirty="0">
                    <a:solidFill>
                      <a:srgbClr val="00B050"/>
                    </a:solidFill>
                    <a:latin typeface="fkGroteskNeue"/>
                  </a:rPr>
                  <a:t>:</a:t>
                </a:r>
                <a:r>
                  <a:rPr lang="en-US" dirty="0">
                    <a:latin typeface="fkGroteskNeue"/>
                  </a:rPr>
                  <a:t> Moderate inversion gives you both bandwidth and low noise.</a:t>
                </a:r>
              </a:p>
              <a:p>
                <a:pPr marL="342900" indent="-342900" algn="l">
                  <a:buFont typeface="Wingdings" panose="05000000000000000000" pitchFamily="2" charset="2"/>
                  <a:buChar char="q"/>
                </a:pPr>
                <a:r>
                  <a:rPr lang="en-US" b="1" dirty="0">
                    <a:solidFill>
                      <a:srgbClr val="00B050"/>
                    </a:solidFill>
                    <a:latin typeface="fkGroteskNeue"/>
                  </a:rPr>
                  <a:t>Noise:</a:t>
                </a:r>
                <a:r>
                  <a:rPr lang="en-US" dirty="0">
                    <a:latin typeface="fkGroteskNeue"/>
                  </a:rPr>
                  <a:t> Lower input noise = higher g</a:t>
                </a:r>
                <a:r>
                  <a:rPr lang="en-US" baseline="-25000" dirty="0">
                    <a:latin typeface="fkGroteskNeue"/>
                  </a:rPr>
                  <a:t>m</a:t>
                </a:r>
                <a:r>
                  <a:rPr lang="en-US" dirty="0">
                    <a:latin typeface="fkGroteskNeue"/>
                  </a:rPr>
                  <a:t> (but you pay in current).</a:t>
                </a:r>
              </a:p>
              <a:p>
                <a:pPr marL="342900" indent="-342900" algn="l">
                  <a:buFont typeface="Wingdings" panose="05000000000000000000" pitchFamily="2" charset="2"/>
                  <a:buChar char="q"/>
                </a:pPr>
                <a:r>
                  <a:rPr lang="en-US" b="1" dirty="0">
                    <a:solidFill>
                      <a:srgbClr val="00B050"/>
                    </a:solidFill>
                    <a:latin typeface="fkGroteskNeue"/>
                  </a:rPr>
                  <a:t>Mismatch:</a:t>
                </a:r>
                <a:r>
                  <a:rPr lang="en-US" dirty="0">
                    <a:latin typeface="fkGroteskNeue"/>
                  </a:rPr>
                  <a:t> Higher area (larger W·L) and/or moderate inversion reduces offset and drift.</a:t>
                </a:r>
              </a:p>
              <a:p>
                <a:pPr marL="342900" indent="-342900" algn="l">
                  <a:buFont typeface="Wingdings" panose="05000000000000000000" pitchFamily="2" charset="2"/>
                  <a:buChar char="q"/>
                </a:pPr>
                <a:r>
                  <a:rPr lang="en-US" b="1" dirty="0">
                    <a:solidFill>
                      <a:srgbClr val="00B050"/>
                    </a:solidFill>
                    <a:latin typeface="fkGroteskNeue"/>
                  </a:rPr>
                  <a:t>Design Takeaway:</a:t>
                </a:r>
                <a:r>
                  <a:rPr lang="en-US" dirty="0">
                    <a:latin typeface="fkGroteskNeue"/>
                  </a:rPr>
                  <a:t/>
                </a:r>
                <a:br>
                  <a:rPr lang="en-US" dirty="0">
                    <a:latin typeface="fkGroteskNeue"/>
                  </a:rPr>
                </a:br>
                <a:r>
                  <a:rPr lang="en-US" dirty="0">
                    <a:latin typeface="fkGroteskNeue"/>
                  </a:rPr>
                  <a:t>You can “dial in” a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that matches your spec — but each region involves tradeoffs in current budget, speed, and variability</a:t>
                </a:r>
                <a:r>
                  <a:rPr lang="en-US" dirty="0" smtClean="0">
                    <a:latin typeface="fkGroteskNeue"/>
                  </a:rPr>
                  <a:t>.</a:t>
                </a:r>
              </a:p>
              <a:p>
                <a:pPr algn="l">
                  <a:buFont typeface="Arial" panose="020B0604020202020204" pitchFamily="34" charset="0"/>
                  <a:buChar char="•"/>
                </a:pPr>
                <a:endParaRPr lang="en-US" dirty="0">
                  <a:latin typeface="fkGroteskNeue"/>
                </a:endParaRPr>
              </a:p>
              <a:p>
                <a:pPr algn="ctr"/>
                <a:r>
                  <a:rPr lang="en-US" b="1" dirty="0">
                    <a:solidFill>
                      <a:srgbClr val="C00000"/>
                    </a:solidFill>
                    <a:latin typeface="fkGrotesk"/>
                  </a:rPr>
                  <a:t>Visual Summary with Numbers</a:t>
                </a:r>
              </a:p>
              <a:p>
                <a:pPr algn="ctr"/>
                <a:r>
                  <a:rPr lang="en-US" b="1" dirty="0">
                    <a:solidFill>
                      <a:srgbClr val="00B050"/>
                    </a:solidFill>
                    <a:latin typeface="fkGroteskNeue"/>
                  </a:rPr>
                  <a:t>Efficiency Zones on the Curve:</a:t>
                </a:r>
              </a:p>
              <a:p>
                <a:pPr marL="742950" lvl="1" indent="-285750" algn="l">
                  <a:buFont typeface="Wingdings" panose="05000000000000000000" pitchFamily="2" charset="2"/>
                  <a:buChar char="q"/>
                </a:pPr>
                <a:r>
                  <a:rPr lang="en-US" i="1" dirty="0">
                    <a:solidFill>
                      <a:srgbClr val="002060"/>
                    </a:solidFill>
                    <a:latin typeface="fkGroteskNeue"/>
                  </a:rPr>
                  <a:t>40+: Weak inversion (WI), super “efficient,” but dangerous for precision.</a:t>
                </a:r>
              </a:p>
              <a:p>
                <a:pPr marL="742950" lvl="1" indent="-285750" algn="l">
                  <a:buFont typeface="Wingdings" panose="05000000000000000000" pitchFamily="2" charset="2"/>
                  <a:buChar char="q"/>
                </a:pPr>
                <a:r>
                  <a:rPr lang="en-US" i="1" dirty="0">
                    <a:solidFill>
                      <a:srgbClr val="002060"/>
                    </a:solidFill>
                    <a:latin typeface="fkGroteskNeue"/>
                  </a:rPr>
                  <a:t>20-40: Moderate inversion (MI), the “engineer’s sweet spot.”</a:t>
                </a:r>
              </a:p>
              <a:p>
                <a:pPr marL="742950" lvl="1" indent="-285750" algn="l">
                  <a:buFont typeface="Wingdings" panose="05000000000000000000" pitchFamily="2" charset="2"/>
                  <a:buChar char="q"/>
                </a:pPr>
                <a:r>
                  <a:rPr lang="en-US" i="1" dirty="0">
                    <a:solidFill>
                      <a:srgbClr val="002060"/>
                    </a:solidFill>
                    <a:latin typeface="fkGroteskNeue"/>
                  </a:rPr>
                  <a:t>10 and below: Strong inversion (SI), safe and reliable</a:t>
                </a:r>
                <a:r>
                  <a:rPr lang="en-US" i="1" dirty="0" smtClean="0">
                    <a:solidFill>
                      <a:srgbClr val="002060"/>
                    </a:solidFill>
                    <a:latin typeface="fkGroteskNeue"/>
                  </a:rPr>
                  <a:t>.</a:t>
                </a:r>
              </a:p>
              <a:p>
                <a:pPr marL="742950" lvl="1" indent="-285750" algn="l">
                  <a:buFont typeface="Arial" panose="020B0604020202020204" pitchFamily="34" charset="0"/>
                  <a:buChar char="•"/>
                </a:pPr>
                <a:endParaRPr lang="en-US" dirty="0">
                  <a:latin typeface="fkGroteskNeue"/>
                </a:endParaRPr>
              </a:p>
              <a:p>
                <a:pPr algn="ctr"/>
                <a:r>
                  <a:rPr lang="en-US" b="1" dirty="0">
                    <a:solidFill>
                      <a:srgbClr val="00B050"/>
                    </a:solidFill>
                    <a:latin typeface="fkGroteskNeue"/>
                  </a:rPr>
                  <a:t>Always Remember:</a:t>
                </a:r>
              </a:p>
              <a:p>
                <a:pPr marL="742950" lvl="1" indent="-285750" algn="l">
                  <a:buFont typeface="Wingdings" panose="05000000000000000000" pitchFamily="2" charset="2"/>
                  <a:buChar char="q"/>
                </a:pPr>
                <a:r>
                  <a:rPr lang="en-US" dirty="0">
                    <a:latin typeface="fkGroteskNeue"/>
                  </a:rPr>
                  <a:t>The square-law is a useful guide, not the ground truth — always cross-check with measured/simulated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curves for your actual device and technology node.</a:t>
                </a:r>
              </a:p>
              <a:p>
                <a:pPr marL="742950" lvl="1" indent="-285750" algn="l">
                  <a:buFont typeface="Wingdings" panose="05000000000000000000" pitchFamily="2" charset="2"/>
                  <a:buChar char="q"/>
                </a:pPr>
                <a:r>
                  <a:rPr lang="en-US" dirty="0">
                    <a:latin typeface="fkGroteskNeue"/>
                  </a:rPr>
                  <a:t>The choice of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decides your circuit’s speed, noise, power, and ultimately its real-world success</a:t>
                </a:r>
                <a:r>
                  <a:rPr lang="en-US" dirty="0" smtClean="0">
                    <a:latin typeface="fkGroteskNeue"/>
                  </a:rPr>
                  <a:t>.</a:t>
                </a:r>
                <a:endParaRPr lang="en-US" dirty="0">
                  <a:latin typeface="fkGroteskNeue"/>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637163" y="1191165"/>
                <a:ext cx="10918824" cy="5434436"/>
              </a:xfrm>
              <a:blipFill>
                <a:blip r:embed="rId2"/>
                <a:stretch>
                  <a:fillRect l="-1340" t="-1345" r="-44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05151" y="6578349"/>
            <a:ext cx="1375027" cy="210820"/>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35177" y="6548403"/>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78282" y="6533811"/>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06672392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66006" y="1343654"/>
            <a:ext cx="8884107" cy="1797142"/>
          </a:xfrm>
          <a:prstGeom prst="rect">
            <a:avLst/>
          </a:prstGeom>
        </p:spPr>
      </p:pic>
    </p:spTree>
    <p:extLst>
      <p:ext uri="{BB962C8B-B14F-4D97-AF65-F5344CB8AC3E}">
        <p14:creationId xmlns:p14="http://schemas.microsoft.com/office/powerpoint/2010/main" val="54805486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150779" y="3286329"/>
            <a:ext cx="11517549" cy="2798322"/>
          </a:xfrm>
          <a:prstGeom prst="rect">
            <a:avLst/>
          </a:prstGeom>
          <a:solidFill>
            <a:schemeClr val="bg1">
              <a:lumMod val="8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7999379" y="3873231"/>
            <a:ext cx="3605719" cy="2012003"/>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4447163" y="3847289"/>
            <a:ext cx="3432242" cy="2042809"/>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267511" y="3842426"/>
            <a:ext cx="4012660" cy="2047671"/>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71209" y="1168400"/>
            <a:ext cx="4460131" cy="1560210"/>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le 1"/>
              <p:cNvSpPr>
                <a:spLocks noGrp="1"/>
              </p:cNvSpPr>
              <p:nvPr>
                <p:ph type="title"/>
              </p:nvPr>
            </p:nvSpPr>
            <p:spPr>
              <a:xfrm>
                <a:off x="819150" y="347725"/>
                <a:ext cx="10593196" cy="762196"/>
              </a:xfrm>
            </p:spPr>
            <p:txBody>
              <a:bodyPr/>
              <a:lstStyle/>
              <a:p>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smtClean="0">
                    <a:latin typeface="fkGrotesk"/>
                  </a:rPr>
                  <a:t> Regions—Mapping </a:t>
                </a:r>
                <a:r>
                  <a:rPr lang="en-US" dirty="0">
                    <a:latin typeface="fkGrotesk"/>
                  </a:rPr>
                  <a:t>Bias to </a:t>
                </a:r>
                <a:r>
                  <a:rPr lang="en-US" dirty="0" smtClean="0">
                    <a:latin typeface="fkGrotesk"/>
                  </a:rPr>
                  <a:t>Efficiency</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19150" y="347725"/>
                <a:ext cx="10593196" cy="762196"/>
              </a:xfrm>
              <a:blipFill>
                <a:blip r:embed="rId2"/>
                <a:stretch>
                  <a:fillRect t="-10400" b="-9600"/>
                </a:stretch>
              </a:blipFill>
            </p:spPr>
            <p:txBody>
              <a:bodyPr/>
              <a:lstStyle/>
              <a:p>
                <a:r>
                  <a:rPr lang="en-US">
                    <a:noFill/>
                  </a:rPr>
                  <a:t> </a:t>
                </a:r>
              </a:p>
            </p:txBody>
          </p:sp>
        </mc:Fallback>
      </mc:AlternateContent>
      <p:sp>
        <p:nvSpPr>
          <p:cNvPr id="3" name="Text Placeholder 2"/>
          <p:cNvSpPr>
            <a:spLocks noGrp="1"/>
          </p:cNvSpPr>
          <p:nvPr>
            <p:ph type="body" idx="1"/>
          </p:nvPr>
        </p:nvSpPr>
        <p:spPr>
          <a:xfrm>
            <a:off x="844551" y="1327353"/>
            <a:ext cx="4204104" cy="1231106"/>
          </a:xfrm>
        </p:spPr>
        <p:txBody>
          <a:bodyPr/>
          <a:lstStyle/>
          <a:p>
            <a:pPr algn="l"/>
            <a:r>
              <a:rPr lang="en-US" sz="1600" dirty="0" smtClean="0">
                <a:latin typeface="fkGroteskNeue"/>
              </a:rPr>
              <a:t>A </a:t>
            </a:r>
            <a:r>
              <a:rPr lang="en-US" sz="1600" i="1" dirty="0">
                <a:latin typeface="KaTeX_Math"/>
              </a:rPr>
              <a:t>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a:t>
            </a:r>
            <a:r>
              <a:rPr lang="en-US" sz="1600" dirty="0" smtClean="0">
                <a:latin typeface="fkGroteskNeue"/>
              </a:rPr>
              <a:t> </a:t>
            </a:r>
            <a:r>
              <a:rPr lang="en-US" sz="1600" dirty="0">
                <a:latin typeface="fkGroteskNeue"/>
              </a:rPr>
              <a:t>versus </a:t>
            </a:r>
            <a:r>
              <a:rPr lang="en-US" sz="1600" dirty="0" smtClean="0">
                <a:latin typeface="fkGroteskNeue"/>
              </a:rPr>
              <a:t>VGS </a:t>
            </a:r>
            <a:r>
              <a:rPr lang="en-US" sz="1600" dirty="0">
                <a:latin typeface="fkGroteskNeue"/>
              </a:rPr>
              <a:t>curve for MOSFETs, with three zones clearly marked:</a:t>
            </a:r>
          </a:p>
          <a:p>
            <a:pPr marL="285750" indent="-285750" algn="l">
              <a:buFont typeface="Wingdings" panose="05000000000000000000" pitchFamily="2" charset="2"/>
              <a:buChar char="q"/>
            </a:pPr>
            <a:r>
              <a:rPr lang="en-US" sz="1600" dirty="0">
                <a:latin typeface="fkGroteskNeue"/>
              </a:rPr>
              <a:t>WI (Weak Inversion): </a:t>
            </a:r>
            <a:r>
              <a:rPr lang="en-US" sz="1600" i="1" dirty="0" smtClean="0">
                <a:latin typeface="KaTeX_Math"/>
              </a:rPr>
              <a:t>g</a:t>
            </a:r>
            <a:r>
              <a:rPr lang="en-US" sz="1600" i="1" baseline="-25000" dirty="0" smtClean="0">
                <a:latin typeface="KaTeX_Math"/>
              </a:rPr>
              <a:t>m</a:t>
            </a:r>
            <a:r>
              <a:rPr lang="en-US" sz="1600" dirty="0" smtClean="0">
                <a:latin typeface="KaTeX_Main"/>
              </a:rPr>
              <a:t>/</a:t>
            </a:r>
            <a:r>
              <a:rPr lang="en-US" sz="1600" i="1" dirty="0" smtClean="0">
                <a:latin typeface="KaTeX_Math"/>
              </a:rPr>
              <a:t>I</a:t>
            </a:r>
            <a:r>
              <a:rPr lang="en-US" sz="1600" i="1" baseline="-25000" dirty="0" smtClean="0">
                <a:latin typeface="KaTeX_Math"/>
              </a:rPr>
              <a:t>D</a:t>
            </a:r>
            <a:r>
              <a:rPr lang="en-US" sz="1600" dirty="0">
                <a:latin typeface="KaTeX_Main"/>
              </a:rPr>
              <a:t>≥20</a:t>
            </a:r>
            <a:endParaRPr lang="en-US" sz="1600" dirty="0">
              <a:latin typeface="fkGroteskNeue"/>
            </a:endParaRPr>
          </a:p>
          <a:p>
            <a:pPr marL="285750" indent="-285750" algn="l">
              <a:buFont typeface="Wingdings" panose="05000000000000000000" pitchFamily="2" charset="2"/>
              <a:buChar char="q"/>
            </a:pPr>
            <a:r>
              <a:rPr lang="en-US" sz="1600" dirty="0">
                <a:latin typeface="fkGroteskNeue"/>
              </a:rPr>
              <a:t>MI (Moderate Inversion): </a:t>
            </a:r>
            <a:r>
              <a:rPr lang="en-US" sz="1600" dirty="0" smtClean="0">
                <a:latin typeface="KaTeX_Main"/>
              </a:rPr>
              <a:t>10&lt;</a:t>
            </a:r>
            <a:r>
              <a:rPr lang="en-US" sz="1600" i="1" dirty="0">
                <a:latin typeface="KaTeX_Math"/>
              </a:rPr>
              <a:t> 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 </a:t>
            </a:r>
            <a:r>
              <a:rPr lang="en-US" sz="1600" dirty="0" smtClean="0">
                <a:latin typeface="KaTeX_Main"/>
              </a:rPr>
              <a:t>&lt;20</a:t>
            </a:r>
            <a:endParaRPr lang="en-US" sz="1600" dirty="0">
              <a:latin typeface="fkGroteskNeue"/>
            </a:endParaRPr>
          </a:p>
          <a:p>
            <a:pPr marL="285750" indent="-285750" algn="l">
              <a:buFont typeface="Wingdings" panose="05000000000000000000" pitchFamily="2" charset="2"/>
              <a:buChar char="q"/>
            </a:pPr>
            <a:r>
              <a:rPr lang="en-US" sz="1600" dirty="0">
                <a:latin typeface="fkGroteskNeue"/>
              </a:rPr>
              <a:t>SI (Strong Inversion): </a:t>
            </a:r>
            <a:r>
              <a:rPr lang="en-US" sz="1600" i="1" dirty="0">
                <a:latin typeface="KaTeX_Math"/>
              </a:rPr>
              <a:t> 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 </a:t>
            </a:r>
            <a:r>
              <a:rPr lang="en-US" sz="1600" dirty="0" smtClean="0">
                <a:latin typeface="KaTeX_Main"/>
              </a:rPr>
              <a:t>&lt;10</a:t>
            </a:r>
            <a:endParaRPr lang="en-US" sz="1600" dirty="0">
              <a:latin typeface="fkGrotesk"/>
            </a:endParaRPr>
          </a:p>
        </p:txBody>
      </p:sp>
      <p:pic>
        <p:nvPicPr>
          <p:cNvPr id="7" name="Picture 6" descr="image"/>
          <p:cNvPicPr/>
          <p:nvPr/>
        </p:nvPicPr>
        <p:blipFill rotWithShape="1">
          <a:blip r:embed="rId3" cstate="print">
            <a:extLst>
              <a:ext uri="{28A0092B-C50C-407E-A947-70E740481C1C}">
                <a14:useLocalDpi xmlns:a14="http://schemas.microsoft.com/office/drawing/2010/main" val="0"/>
              </a:ext>
            </a:extLst>
          </a:blip>
          <a:srcRect r="3490"/>
          <a:stretch/>
        </p:blipFill>
        <p:spPr bwMode="auto">
          <a:xfrm>
            <a:off x="5669702" y="890604"/>
            <a:ext cx="6246683" cy="1898015"/>
          </a:xfrm>
          <a:prstGeom prst="rect">
            <a:avLst/>
          </a:prstGeom>
          <a:noFill/>
          <a:ln>
            <a:noFill/>
          </a:ln>
        </p:spPr>
      </p:pic>
      <p:sp>
        <p:nvSpPr>
          <p:cNvPr id="8" name="Rectangle 7"/>
          <p:cNvSpPr/>
          <p:nvPr/>
        </p:nvSpPr>
        <p:spPr>
          <a:xfrm>
            <a:off x="5880370" y="2812410"/>
            <a:ext cx="6074923" cy="523220"/>
          </a:xfrm>
          <a:prstGeom prst="rect">
            <a:avLst/>
          </a:prstGeom>
        </p:spPr>
        <p:txBody>
          <a:bodyPr wrap="square">
            <a:spAutoFit/>
          </a:bodyPr>
          <a:lstStyle/>
          <a:p>
            <a:pPr algn="ctr"/>
            <a:r>
              <a:rPr lang="en-US" sz="1400" kern="0" dirty="0">
                <a:solidFill>
                  <a:prstClr val="black"/>
                </a:solidFill>
                <a:latin typeface="fkGroteskNeue"/>
              </a:rPr>
              <a:t>Dashed curve: Classic long-channel theory.</a:t>
            </a:r>
            <a:br>
              <a:rPr lang="en-US" sz="1400" kern="0" dirty="0">
                <a:solidFill>
                  <a:prstClr val="black"/>
                </a:solidFill>
                <a:latin typeface="fkGroteskNeue"/>
              </a:rPr>
            </a:br>
            <a:r>
              <a:rPr lang="en-US" sz="1400" kern="0" dirty="0">
                <a:solidFill>
                  <a:prstClr val="black"/>
                </a:solidFill>
                <a:latin typeface="fkGroteskNeue"/>
              </a:rPr>
              <a:t>Blue (long channel) and red (short channel) lines: </a:t>
            </a:r>
            <a:endParaRPr lang="en-US" sz="1200" dirty="0"/>
          </a:p>
        </p:txBody>
      </p:sp>
      <p:sp>
        <p:nvSpPr>
          <p:cNvPr id="9" name="Rectangle 8"/>
          <p:cNvSpPr/>
          <p:nvPr/>
        </p:nvSpPr>
        <p:spPr>
          <a:xfrm>
            <a:off x="236705" y="3518224"/>
            <a:ext cx="4030495" cy="2339102"/>
          </a:xfrm>
          <a:prstGeom prst="rect">
            <a:avLst/>
          </a:prstGeom>
        </p:spPr>
        <p:txBody>
          <a:bodyPr wrap="square">
            <a:spAutoFit/>
          </a:bodyPr>
          <a:lstStyle/>
          <a:p>
            <a:pPr algn="ctr"/>
            <a:r>
              <a:rPr lang="en-US" b="1" dirty="0">
                <a:solidFill>
                  <a:srgbClr val="002060"/>
                </a:solidFill>
                <a:latin typeface="fkGroteskNeue"/>
              </a:rPr>
              <a:t>Weak Inversion (WI):</a:t>
            </a:r>
          </a:p>
          <a:p>
            <a:pPr marL="285750" indent="-285750" algn="just">
              <a:buFont typeface="Wingdings" panose="05000000000000000000" pitchFamily="2" charset="2"/>
              <a:buChar char="q"/>
            </a:pPr>
            <a:r>
              <a:rPr lang="en-US" sz="1600" dirty="0">
                <a:latin typeface="fkGroteskNeue"/>
              </a:rPr>
              <a:t>Large </a:t>
            </a:r>
            <a:r>
              <a:rPr lang="en-US" sz="1600" i="1" dirty="0">
                <a:latin typeface="KaTeX_Math"/>
              </a:rPr>
              <a:t>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a:t>
            </a:r>
            <a:r>
              <a:rPr lang="en-US" sz="1600" dirty="0" smtClean="0">
                <a:latin typeface="fkGroteskNeue"/>
              </a:rPr>
              <a:t>—“</a:t>
            </a:r>
            <a:r>
              <a:rPr lang="en-US" sz="1600" dirty="0">
                <a:latin typeface="fkGroteskNeue"/>
              </a:rPr>
              <a:t>super mileage” per </a:t>
            </a:r>
            <a:r>
              <a:rPr lang="en-US" sz="1600" dirty="0" err="1">
                <a:latin typeface="fkGroteskNeue"/>
              </a:rPr>
              <a:t>microamp</a:t>
            </a:r>
            <a:r>
              <a:rPr lang="en-US" sz="1600" dirty="0">
                <a:latin typeface="fkGroteskNeue"/>
              </a:rPr>
              <a:t>.</a:t>
            </a:r>
          </a:p>
          <a:p>
            <a:pPr marL="285750" indent="-285750" algn="just">
              <a:buFont typeface="Wingdings" panose="05000000000000000000" pitchFamily="2" charset="2"/>
              <a:buChar char="q"/>
            </a:pPr>
            <a:r>
              <a:rPr lang="en-US" sz="1600" dirty="0">
                <a:latin typeface="fkGroteskNeue"/>
              </a:rPr>
              <a:t>Like “tiptoeing”—very low current, highly sensitive (good for ultra-low-power sensors or bias circuits).</a:t>
            </a:r>
          </a:p>
          <a:p>
            <a:pPr marL="285750" indent="-285750" algn="just">
              <a:buFont typeface="Wingdings" panose="05000000000000000000" pitchFamily="2" charset="2"/>
              <a:buChar char="q"/>
            </a:pPr>
            <a:r>
              <a:rPr lang="en-US" sz="1600" dirty="0">
                <a:latin typeface="fkGroteskNeue"/>
              </a:rPr>
              <a:t>Drawback: Poor prediction with short-channel models, higher noise/mismatch, risk of parameter drift</a:t>
            </a:r>
            <a:r>
              <a:rPr lang="en-US" sz="1600" dirty="0" smtClean="0">
                <a:latin typeface="fkGroteskNeue"/>
              </a:rPr>
              <a:t>.</a:t>
            </a:r>
            <a:endParaRPr lang="en-US" sz="1600" dirty="0">
              <a:latin typeface="fkGroteskNeue"/>
            </a:endParaRPr>
          </a:p>
        </p:txBody>
      </p:sp>
      <p:sp>
        <p:nvSpPr>
          <p:cNvPr id="10" name="Rectangle 9"/>
          <p:cNvSpPr/>
          <p:nvPr/>
        </p:nvSpPr>
        <p:spPr>
          <a:xfrm>
            <a:off x="4385554" y="3537840"/>
            <a:ext cx="3469531" cy="2092881"/>
          </a:xfrm>
          <a:prstGeom prst="rect">
            <a:avLst/>
          </a:prstGeom>
        </p:spPr>
        <p:txBody>
          <a:bodyPr wrap="square">
            <a:spAutoFit/>
          </a:bodyPr>
          <a:lstStyle/>
          <a:p>
            <a:pPr lvl="0" algn="ctr"/>
            <a:r>
              <a:rPr lang="en-US" b="1" dirty="0">
                <a:solidFill>
                  <a:srgbClr val="002060"/>
                </a:solidFill>
                <a:latin typeface="fkGroteskNeue"/>
              </a:rPr>
              <a:t>Moderate Inversion (MI):</a:t>
            </a:r>
          </a:p>
          <a:p>
            <a:pPr marL="285750" indent="-285750" algn="just">
              <a:buFont typeface="Wingdings" panose="05000000000000000000" pitchFamily="2" charset="2"/>
              <a:buChar char="q"/>
            </a:pPr>
            <a:r>
              <a:rPr lang="en-US" sz="1600" dirty="0">
                <a:solidFill>
                  <a:prstClr val="black"/>
                </a:solidFill>
                <a:latin typeface="fkGroteskNeue"/>
              </a:rPr>
              <a:t>Sweet spot for analog: balances energy efficiency and practical robustness.</a:t>
            </a:r>
          </a:p>
          <a:p>
            <a:pPr marL="285750" indent="-285750" algn="just">
              <a:buFont typeface="Wingdings" panose="05000000000000000000" pitchFamily="2" charset="2"/>
              <a:buChar char="q"/>
            </a:pPr>
            <a:r>
              <a:rPr lang="en-US" sz="1600" dirty="0">
                <a:solidFill>
                  <a:prstClr val="black"/>
                </a:solidFill>
                <a:latin typeface="fkGroteskNeue"/>
              </a:rPr>
              <a:t>You get good speed/noise, reasonable current, and the model is still reliable (especially for long channel</a:t>
            </a:r>
            <a:r>
              <a:rPr lang="en-US" sz="1600" dirty="0" smtClean="0">
                <a:solidFill>
                  <a:prstClr val="black"/>
                </a:solidFill>
                <a:latin typeface="fkGroteskNeue"/>
              </a:rPr>
              <a:t>).</a:t>
            </a:r>
            <a:endParaRPr lang="en-US" sz="1600" dirty="0">
              <a:solidFill>
                <a:prstClr val="black"/>
              </a:solidFill>
              <a:latin typeface="fkGroteskNeue"/>
            </a:endParaRPr>
          </a:p>
        </p:txBody>
      </p:sp>
      <p:sp>
        <p:nvSpPr>
          <p:cNvPr id="11" name="Rectangle 10"/>
          <p:cNvSpPr/>
          <p:nvPr/>
        </p:nvSpPr>
        <p:spPr>
          <a:xfrm>
            <a:off x="7942635" y="3535043"/>
            <a:ext cx="3550596" cy="2339102"/>
          </a:xfrm>
          <a:prstGeom prst="rect">
            <a:avLst/>
          </a:prstGeom>
        </p:spPr>
        <p:txBody>
          <a:bodyPr wrap="square">
            <a:spAutoFit/>
          </a:bodyPr>
          <a:lstStyle/>
          <a:p>
            <a:pPr lvl="0" algn="ctr"/>
            <a:r>
              <a:rPr lang="en-US" b="1" dirty="0">
                <a:solidFill>
                  <a:srgbClr val="002060"/>
                </a:solidFill>
                <a:latin typeface="fkGroteskNeue"/>
              </a:rPr>
              <a:t>Strong Inversion (SI):</a:t>
            </a:r>
          </a:p>
          <a:p>
            <a:pPr marL="285750" indent="-285750" algn="just">
              <a:buFont typeface="Wingdings" panose="05000000000000000000" pitchFamily="2" charset="2"/>
              <a:buChar char="q"/>
            </a:pPr>
            <a:r>
              <a:rPr lang="en-US" sz="1600" dirty="0">
                <a:solidFill>
                  <a:prstClr val="black"/>
                </a:solidFill>
                <a:latin typeface="fkGroteskNeue"/>
              </a:rPr>
              <a:t>Small </a:t>
            </a:r>
            <a:r>
              <a:rPr lang="en-US" sz="1600" i="1" dirty="0">
                <a:latin typeface="KaTeX_Math"/>
              </a:rPr>
              <a:t>g</a:t>
            </a:r>
            <a:r>
              <a:rPr lang="en-US" sz="1600" i="1" baseline="-25000" dirty="0">
                <a:latin typeface="KaTeX_Math"/>
              </a:rPr>
              <a:t>m</a:t>
            </a:r>
            <a:r>
              <a:rPr lang="en-US" sz="1600" dirty="0">
                <a:latin typeface="KaTeX_Main"/>
              </a:rPr>
              <a:t>/</a:t>
            </a:r>
            <a:r>
              <a:rPr lang="en-US" sz="1600" i="1" dirty="0">
                <a:latin typeface="KaTeX_Math"/>
              </a:rPr>
              <a:t>I</a:t>
            </a:r>
            <a:r>
              <a:rPr lang="en-US" sz="1600" i="1" baseline="-25000" dirty="0">
                <a:latin typeface="KaTeX_Math"/>
              </a:rPr>
              <a:t>D</a:t>
            </a:r>
            <a:r>
              <a:rPr lang="en-US" sz="1600" dirty="0" smtClean="0">
                <a:solidFill>
                  <a:prstClr val="black"/>
                </a:solidFill>
                <a:latin typeface="fkGroteskNeue"/>
              </a:rPr>
              <a:t>; </a:t>
            </a:r>
            <a:r>
              <a:rPr lang="en-US" sz="1600" dirty="0">
                <a:solidFill>
                  <a:prstClr val="black"/>
                </a:solidFill>
                <a:latin typeface="fkGroteskNeue"/>
              </a:rPr>
              <a:t>you’re now “flooring the gas.”</a:t>
            </a:r>
          </a:p>
          <a:p>
            <a:pPr marL="285750" indent="-285750" algn="just">
              <a:buFont typeface="Wingdings" panose="05000000000000000000" pitchFamily="2" charset="2"/>
              <a:buChar char="q"/>
            </a:pPr>
            <a:r>
              <a:rPr lang="en-US" sz="1600" dirty="0">
                <a:solidFill>
                  <a:prstClr val="black"/>
                </a:solidFill>
                <a:latin typeface="fkGroteskNeue"/>
              </a:rPr>
              <a:t>High current for low noise or speed critical blocks (buffers, high-speed </a:t>
            </a:r>
            <a:r>
              <a:rPr lang="en-US" sz="1600" dirty="0" err="1">
                <a:solidFill>
                  <a:prstClr val="black"/>
                </a:solidFill>
                <a:latin typeface="fkGroteskNeue"/>
              </a:rPr>
              <a:t>opamps</a:t>
            </a:r>
            <a:r>
              <a:rPr lang="en-US" sz="1600" dirty="0">
                <a:solidFill>
                  <a:prstClr val="black"/>
                </a:solidFill>
                <a:latin typeface="fkGroteskNeue"/>
              </a:rPr>
              <a:t>).</a:t>
            </a:r>
          </a:p>
          <a:p>
            <a:pPr marL="285750" indent="-285750" algn="just">
              <a:buFont typeface="Wingdings" panose="05000000000000000000" pitchFamily="2" charset="2"/>
              <a:buChar char="q"/>
            </a:pPr>
            <a:r>
              <a:rPr lang="en-US" sz="1600" dirty="0">
                <a:solidFill>
                  <a:prstClr val="black"/>
                </a:solidFill>
                <a:latin typeface="fkGroteskNeue"/>
              </a:rPr>
              <a:t>The theory matches real devices; robust but energetically expensive</a:t>
            </a:r>
            <a:r>
              <a:rPr lang="en-US" sz="1600" dirty="0" smtClean="0">
                <a:solidFill>
                  <a:prstClr val="black"/>
                </a:solidFill>
                <a:latin typeface="fkGroteskNeue"/>
              </a:rPr>
              <a:t>.</a:t>
            </a:r>
            <a:endParaRPr lang="en-US" sz="1600" dirty="0">
              <a:solidFill>
                <a:prstClr val="black"/>
              </a:solidFill>
              <a:latin typeface="fkGroteskNeue"/>
            </a:endParaRPr>
          </a:p>
        </p:txBody>
      </p:sp>
      <p:sp>
        <p:nvSpPr>
          <p:cNvPr id="12" name="Rectangle 11"/>
          <p:cNvSpPr/>
          <p:nvPr/>
        </p:nvSpPr>
        <p:spPr>
          <a:xfrm>
            <a:off x="262646" y="6027003"/>
            <a:ext cx="11736421" cy="830997"/>
          </a:xfrm>
          <a:prstGeom prst="rect">
            <a:avLst/>
          </a:prstGeom>
        </p:spPr>
        <p:txBody>
          <a:bodyPr wrap="square">
            <a:spAutoFit/>
          </a:bodyPr>
          <a:lstStyle/>
          <a:p>
            <a:pPr lvl="0" algn="ctr"/>
            <a:r>
              <a:rPr lang="en-US" sz="1600" b="1" dirty="0">
                <a:solidFill>
                  <a:srgbClr val="C00000"/>
                </a:solidFill>
                <a:latin typeface="fkGroteskNeue"/>
              </a:rPr>
              <a:t>Core Message:</a:t>
            </a:r>
            <a:r>
              <a:rPr lang="en-US" sz="1600" dirty="0">
                <a:solidFill>
                  <a:prstClr val="black"/>
                </a:solidFill>
                <a:latin typeface="fkGroteskNeue"/>
              </a:rPr>
              <a:t/>
            </a:r>
            <a:br>
              <a:rPr lang="en-US" sz="1600" dirty="0">
                <a:solidFill>
                  <a:prstClr val="black"/>
                </a:solidFill>
                <a:latin typeface="fkGroteskNeue"/>
              </a:rPr>
            </a:br>
            <a:r>
              <a:rPr lang="en-US" sz="1600" dirty="0">
                <a:solidFill>
                  <a:prstClr val="black"/>
                </a:solidFill>
                <a:latin typeface="fkGroteskNeue"/>
              </a:rPr>
              <a:t>Where you set your bias on this gm/ID curve dictates the noise, power, and matching in every analog cell you build. For most analog/RF designs, aim for moderate inversion unless extreme low power or ultra-precision is mandated</a:t>
            </a:r>
          </a:p>
        </p:txBody>
      </p:sp>
      <p:sp>
        <p:nvSpPr>
          <p:cNvPr id="13" name="Rectangle 12"/>
          <p:cNvSpPr/>
          <p:nvPr/>
        </p:nvSpPr>
        <p:spPr>
          <a:xfrm>
            <a:off x="2412460" y="3242022"/>
            <a:ext cx="6318113" cy="369332"/>
          </a:xfrm>
          <a:prstGeom prst="rect">
            <a:avLst/>
          </a:prstGeom>
        </p:spPr>
        <p:txBody>
          <a:bodyPr wrap="square">
            <a:spAutoFit/>
          </a:bodyPr>
          <a:lstStyle/>
          <a:p>
            <a:pPr lvl="0"/>
            <a:r>
              <a:rPr lang="en-US" b="1" kern="0" dirty="0">
                <a:solidFill>
                  <a:srgbClr val="C00000"/>
                </a:solidFill>
                <a:latin typeface="fkGroteskNeue"/>
              </a:rPr>
              <a:t>Actual device </a:t>
            </a:r>
            <a:r>
              <a:rPr lang="en-US" b="1" kern="0" dirty="0" smtClean="0">
                <a:solidFill>
                  <a:srgbClr val="C00000"/>
                </a:solidFill>
                <a:latin typeface="fkGroteskNeue"/>
              </a:rPr>
              <a:t>behavior, </a:t>
            </a:r>
            <a:r>
              <a:rPr lang="en-US" b="1" kern="0" dirty="0" smtClean="0">
                <a:solidFill>
                  <a:srgbClr val="C00000"/>
                </a:solidFill>
                <a:latin typeface="fkGrotesk"/>
              </a:rPr>
              <a:t>Interpretation </a:t>
            </a:r>
            <a:r>
              <a:rPr lang="en-US" b="1" kern="0" dirty="0">
                <a:solidFill>
                  <a:srgbClr val="C00000"/>
                </a:solidFill>
                <a:latin typeface="fkGrotesk"/>
              </a:rPr>
              <a:t>&amp; Design Insight:</a:t>
            </a:r>
          </a:p>
        </p:txBody>
      </p:sp>
      <p:sp>
        <p:nvSpPr>
          <p:cNvPr id="19" name="Rectangle 18"/>
          <p:cNvSpPr/>
          <p:nvPr/>
        </p:nvSpPr>
        <p:spPr>
          <a:xfrm>
            <a:off x="5734050" y="912915"/>
            <a:ext cx="6273800" cy="191283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998483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The Subthreshold (Weak Inversion) </a:t>
            </a:r>
            <a:r>
              <a:rPr lang="en-US" dirty="0" smtClean="0">
                <a:latin typeface="fkGrotesk"/>
              </a:rPr>
              <a:t>Regime</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6728433" cy="3051348"/>
              </a:xfrm>
            </p:spPr>
            <p:txBody>
              <a:bodyPr/>
              <a:lstStyle/>
              <a:p>
                <a:pPr algn="ctr"/>
                <a:r>
                  <a:rPr lang="en-US" b="1" dirty="0" smtClean="0">
                    <a:solidFill>
                      <a:srgbClr val="C00000"/>
                    </a:solidFill>
                    <a:latin typeface="fkGroteskNeue"/>
                  </a:rPr>
                  <a:t>In </a:t>
                </a:r>
                <a:r>
                  <a:rPr lang="en-US" b="1" dirty="0">
                    <a:solidFill>
                      <a:srgbClr val="C00000"/>
                    </a:solidFill>
                    <a:latin typeface="fkGroteskNeue"/>
                  </a:rPr>
                  <a:t>subthreshold (WI):</a:t>
                </a:r>
              </a:p>
              <a:p>
                <a:pPr marL="342900" indent="-342900" algn="l">
                  <a:buFont typeface="Wingdings" panose="05000000000000000000" pitchFamily="2" charset="2"/>
                  <a:buChar char="q"/>
                </a:pP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saturates—it stops rising, even as VGS decreases further.</a:t>
                </a:r>
              </a:p>
              <a:p>
                <a:pPr marL="342900" indent="-342900" algn="l">
                  <a:buFont typeface="Wingdings" panose="05000000000000000000" pitchFamily="2" charset="2"/>
                  <a:buChar char="q"/>
                </a:pPr>
                <a:r>
                  <a:rPr lang="en-US" dirty="0">
                    <a:latin typeface="fkGroteskNeue"/>
                  </a:rPr>
                  <a:t>log(I</a:t>
                </a:r>
                <a:r>
                  <a:rPr lang="en-US" baseline="-25000" dirty="0">
                    <a:latin typeface="fkGroteskNeue"/>
                  </a:rPr>
                  <a:t>D</a:t>
                </a:r>
                <a:r>
                  <a:rPr lang="en-US" dirty="0">
                    <a:latin typeface="fkGroteskNeue"/>
                  </a:rPr>
                  <a:t>) vs. V</a:t>
                </a:r>
                <a:r>
                  <a:rPr lang="en-US" baseline="-25000" dirty="0">
                    <a:latin typeface="fkGroteskNeue"/>
                  </a:rPr>
                  <a:t>GS</a:t>
                </a:r>
                <a:r>
                  <a:rPr lang="en-US" dirty="0">
                    <a:latin typeface="fkGroteskNeue"/>
                  </a:rPr>
                  <a:t> is a straight line (like in BJTs), meaning I</a:t>
                </a:r>
                <a:r>
                  <a:rPr lang="en-US" baseline="-25000" dirty="0">
                    <a:latin typeface="fkGroteskNeue"/>
                  </a:rPr>
                  <a:t>D</a:t>
                </a:r>
                <a:r>
                  <a:rPr lang="en-US" dirty="0">
                    <a:latin typeface="fkGroteskNeue"/>
                  </a:rPr>
                  <a:t> grows exponentially with V</a:t>
                </a:r>
                <a:r>
                  <a:rPr lang="en-US" baseline="-25000" dirty="0">
                    <a:latin typeface="fkGroteskNeue"/>
                  </a:rPr>
                  <a:t>GS</a:t>
                </a:r>
                <a:r>
                  <a:rPr lang="en-US" dirty="0">
                    <a:latin typeface="fkGroteskNeue"/>
                  </a:rPr>
                  <a:t>.</a:t>
                </a:r>
              </a:p>
              <a:p>
                <a:pPr marL="342900" indent="-342900" algn="l">
                  <a:buFont typeface="Wingdings" panose="05000000000000000000" pitchFamily="2" charset="2"/>
                  <a:buChar char="q"/>
                </a:pPr>
                <a:r>
                  <a:rPr lang="en-US" dirty="0">
                    <a:latin typeface="fkGroteskNeue"/>
                  </a:rPr>
                  <a:t>This is why subthreshold “feels” like BJT operation.</a:t>
                </a:r>
              </a:p>
              <a:p>
                <a:pPr marL="342900" indent="-342900" algn="l">
                  <a:buFont typeface="Wingdings" panose="05000000000000000000" pitchFamily="2" charset="2"/>
                  <a:buChar char="q"/>
                </a:pPr>
                <a:r>
                  <a:rPr lang="en-US" dirty="0">
                    <a:latin typeface="fkGroteskNeue"/>
                  </a:rPr>
                  <a:t>Designer tip: In WI, </a:t>
                </a:r>
                <a14:m>
                  <m:oMath xmlns:m="http://schemas.openxmlformats.org/officeDocument/2006/math">
                    <m:f>
                      <m:f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Neue"/>
                  </a:rPr>
                  <a:t> is predictable (for long channel), but real world rarely matches the theory for very small (advanced) MOSFETs</a:t>
                </a:r>
                <a:r>
                  <a:rPr lang="en-US" dirty="0" smtClean="0">
                    <a:latin typeface="fkGroteskNeue"/>
                  </a:rPr>
                  <a:t>.</a:t>
                </a:r>
                <a:endParaRPr lang="en-US" dirty="0">
                  <a:latin typeface="fkGroteskNeue"/>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728433" cy="3051348"/>
              </a:xfrm>
              <a:blipFill>
                <a:blip r:embed="rId2"/>
                <a:stretch>
                  <a:fillRect l="-2176" t="-2400" r="-725" b="-4200"/>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3"/>
          <a:srcRect r="66696" b="26437"/>
          <a:stretch/>
        </p:blipFill>
        <p:spPr>
          <a:xfrm>
            <a:off x="8315476" y="1650111"/>
            <a:ext cx="3254987" cy="3072668"/>
          </a:xfrm>
          <a:prstGeom prst="rect">
            <a:avLst/>
          </a:prstGeom>
        </p:spPr>
      </p:pic>
      <p:sp>
        <p:nvSpPr>
          <p:cNvPr id="8" name="Rectangle 7"/>
          <p:cNvSpPr/>
          <p:nvPr/>
        </p:nvSpPr>
        <p:spPr>
          <a:xfrm>
            <a:off x="8630878" y="1118043"/>
            <a:ext cx="2021707" cy="400110"/>
          </a:xfrm>
          <a:prstGeom prst="rect">
            <a:avLst/>
          </a:prstGeom>
        </p:spPr>
        <p:txBody>
          <a:bodyPr wrap="none">
            <a:spAutoFit/>
          </a:bodyPr>
          <a:lstStyle/>
          <a:p>
            <a:pPr lvl="0"/>
            <a:r>
              <a:rPr lang="en-US" sz="2000" kern="0" dirty="0">
                <a:solidFill>
                  <a:prstClr val="black"/>
                </a:solidFill>
                <a:latin typeface="fkGroteskNeue"/>
              </a:rPr>
              <a:t>(Key Concepts):</a:t>
            </a:r>
          </a:p>
        </p:txBody>
      </p:sp>
      <p:sp>
        <p:nvSpPr>
          <p:cNvPr id="9" name="Rectangle 8"/>
          <p:cNvSpPr/>
          <p:nvPr/>
        </p:nvSpPr>
        <p:spPr>
          <a:xfrm>
            <a:off x="8178800" y="1814614"/>
            <a:ext cx="3530600" cy="295423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875448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787940" y="4328809"/>
            <a:ext cx="6133290" cy="1065177"/>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05774" y="3505202"/>
            <a:ext cx="6113834" cy="697148"/>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804153" y="2555133"/>
            <a:ext cx="6113834" cy="873867"/>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26851" y="1284052"/>
            <a:ext cx="6113834" cy="1079769"/>
          </a:xfrm>
          <a:prstGeom prst="rect">
            <a:avLst/>
          </a:prstGeom>
          <a:solidFill>
            <a:schemeClr val="bg1">
              <a:lumMod val="95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0229" y="329883"/>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62392" y="1322893"/>
                <a:ext cx="6086407" cy="4480329"/>
              </a:xfrm>
            </p:spPr>
            <p:txBody>
              <a:bodyPr/>
              <a:lstStyle/>
              <a:p>
                <a:pPr algn="ctr"/>
                <a:r>
                  <a:rPr lang="en-US" sz="1600" b="1" dirty="0">
                    <a:solidFill>
                      <a:srgbClr val="C00000"/>
                    </a:solidFill>
                    <a:latin typeface="fkGroteskNeue"/>
                  </a:rPr>
                  <a:t>I</a:t>
                </a:r>
                <a:r>
                  <a:rPr lang="en-US" sz="1600" b="1" baseline="-25000" dirty="0">
                    <a:solidFill>
                      <a:srgbClr val="C00000"/>
                    </a:solidFill>
                    <a:latin typeface="fkGroteskNeue"/>
                  </a:rPr>
                  <a:t>D</a:t>
                </a:r>
                <a:r>
                  <a:rPr lang="en-US" sz="1600" b="1" dirty="0">
                    <a:solidFill>
                      <a:srgbClr val="C00000"/>
                    </a:solidFill>
                    <a:latin typeface="fkGroteskNeue"/>
                  </a:rPr>
                  <a:t> vs. V</a:t>
                </a:r>
                <a:r>
                  <a:rPr lang="en-US" sz="1600" b="1" baseline="-25000" dirty="0">
                    <a:solidFill>
                      <a:srgbClr val="C00000"/>
                    </a:solidFill>
                    <a:latin typeface="fkGroteskNeue"/>
                  </a:rPr>
                  <a:t>GS</a:t>
                </a:r>
                <a:r>
                  <a:rPr lang="en-US" sz="1600" b="1" dirty="0">
                    <a:solidFill>
                      <a:srgbClr val="C00000"/>
                    </a:solidFill>
                    <a:latin typeface="fkGroteskNeue"/>
                  </a:rPr>
                  <a:t>:</a:t>
                </a:r>
              </a:p>
              <a:p>
                <a:pPr marL="285750" indent="-285750" algn="l">
                  <a:buFont typeface="Wingdings" panose="05000000000000000000" pitchFamily="2" charset="2"/>
                  <a:buChar char="q"/>
                </a:pPr>
                <a:r>
                  <a:rPr lang="en-US" sz="1600" dirty="0">
                    <a:latin typeface="fkGroteskNeue"/>
                  </a:rPr>
                  <a:t>Long channel: matches “square law” far right, straight log line in subthreshold.</a:t>
                </a:r>
              </a:p>
              <a:p>
                <a:pPr marL="285750" indent="-285750" algn="l">
                  <a:buFont typeface="Wingdings" panose="05000000000000000000" pitchFamily="2" charset="2"/>
                  <a:buChar char="q"/>
                </a:pPr>
                <a:r>
                  <a:rPr lang="en-US" sz="1600" dirty="0">
                    <a:latin typeface="fkGroteskNeue"/>
                  </a:rPr>
                  <a:t>Short channel: deviates significantly at low </a:t>
                </a:r>
                <a:r>
                  <a:rPr lang="en-US" sz="1600" dirty="0" smtClean="0">
                    <a:latin typeface="fkGroteskNeue"/>
                  </a:rPr>
                  <a:t>V</a:t>
                </a:r>
                <a:r>
                  <a:rPr lang="en-US" sz="1600" baseline="-25000" dirty="0" smtClean="0">
                    <a:latin typeface="fkGroteskNeue"/>
                  </a:rPr>
                  <a:t>GS</a:t>
                </a:r>
                <a:r>
                  <a:rPr lang="en-US" sz="1600" dirty="0" smtClean="0">
                    <a:latin typeface="fkGroteskNeue"/>
                  </a:rPr>
                  <a:t>.</a:t>
                </a:r>
              </a:p>
              <a:p>
                <a:pPr marL="285750" indent="-285750" algn="l">
                  <a:buFont typeface="Wingdings" panose="05000000000000000000" pitchFamily="2" charset="2"/>
                  <a:buChar char="q"/>
                </a:pPr>
                <a:endParaRPr lang="en-US" sz="1600" dirty="0">
                  <a:latin typeface="fkGroteskNeue"/>
                </a:endParaRPr>
              </a:p>
              <a:p>
                <a:pPr algn="ctr"/>
                <a:r>
                  <a:rPr lang="en-US" sz="1600" b="1" dirty="0">
                    <a:solidFill>
                      <a:srgbClr val="C00000"/>
                    </a:solidFill>
                    <a:latin typeface="fkGroteskNeue"/>
                  </a:rPr>
                  <a:t>g</a:t>
                </a:r>
                <a:r>
                  <a:rPr lang="en-US" sz="1600" b="1" baseline="-25000" dirty="0">
                    <a:solidFill>
                      <a:srgbClr val="C00000"/>
                    </a:solidFill>
                    <a:latin typeface="fkGroteskNeue"/>
                  </a:rPr>
                  <a:t>m</a:t>
                </a:r>
                <a:r>
                  <a:rPr lang="en-US" sz="1600" b="1" dirty="0">
                    <a:solidFill>
                      <a:srgbClr val="C00000"/>
                    </a:solidFill>
                    <a:latin typeface="fkGroteskNeue"/>
                  </a:rPr>
                  <a:t> vs. V</a:t>
                </a:r>
                <a:r>
                  <a:rPr lang="en-US" sz="1600" b="1" baseline="-25000" dirty="0">
                    <a:solidFill>
                      <a:srgbClr val="C00000"/>
                    </a:solidFill>
                    <a:latin typeface="fkGroteskNeue"/>
                  </a:rPr>
                  <a:t>GS</a:t>
                </a:r>
                <a:r>
                  <a:rPr lang="en-US" sz="1600" b="1" dirty="0">
                    <a:solidFill>
                      <a:srgbClr val="C00000"/>
                    </a:solidFill>
                    <a:latin typeface="fkGroteskNeue"/>
                  </a:rPr>
                  <a:t>:</a:t>
                </a:r>
              </a:p>
              <a:p>
                <a:pPr marL="285750" indent="-285750" algn="l">
                  <a:buFont typeface="Wingdings" panose="05000000000000000000" pitchFamily="2" charset="2"/>
                  <a:buChar char="q"/>
                </a:pPr>
                <a:r>
                  <a:rPr lang="en-US" sz="1600" dirty="0">
                    <a:latin typeface="fkGroteskNeue"/>
                  </a:rPr>
                  <a:t>Theory: should increase linearly in SI (right), flatten in WI (left).</a:t>
                </a:r>
              </a:p>
              <a:p>
                <a:pPr marL="285750" indent="-285750" algn="l">
                  <a:buFont typeface="Wingdings" panose="05000000000000000000" pitchFamily="2" charset="2"/>
                  <a:buChar char="q"/>
                </a:pPr>
                <a:r>
                  <a:rPr lang="en-US" sz="1600" dirty="0">
                    <a:latin typeface="fkGroteskNeue"/>
                  </a:rPr>
                  <a:t>Short channel effect: Early deviations, less predictability</a:t>
                </a:r>
                <a:r>
                  <a:rPr lang="en-US" sz="1800" dirty="0" smtClean="0">
                    <a:latin typeface="fkGroteskNeue"/>
                  </a:rPr>
                  <a:t>.</a:t>
                </a:r>
              </a:p>
              <a:p>
                <a:pPr marL="285750" indent="-285750" algn="l">
                  <a:buFont typeface="Wingdings" panose="05000000000000000000" pitchFamily="2" charset="2"/>
                  <a:buChar char="q"/>
                </a:pPr>
                <a:endParaRPr lang="en-US" sz="1800" dirty="0">
                  <a:latin typeface="fkGroteskNeue"/>
                </a:endParaRPr>
              </a:p>
              <a:p>
                <a:pPr algn="ctr"/>
                <a:r>
                  <a:rPr lang="en-US" sz="1600" b="1" dirty="0">
                    <a:solidFill>
                      <a:srgbClr val="C00000"/>
                    </a:solidFill>
                    <a:latin typeface="fkGroteskNeue"/>
                  </a:rPr>
                  <a:t>log(I</a:t>
                </a:r>
                <a:r>
                  <a:rPr lang="en-US" sz="1600" b="1" baseline="-25000" dirty="0">
                    <a:solidFill>
                      <a:srgbClr val="C00000"/>
                    </a:solidFill>
                    <a:latin typeface="fkGroteskNeue"/>
                  </a:rPr>
                  <a:t>D</a:t>
                </a:r>
                <a:r>
                  <a:rPr lang="en-US" sz="1600" b="1" dirty="0">
                    <a:solidFill>
                      <a:srgbClr val="C00000"/>
                    </a:solidFill>
                    <a:latin typeface="fkGroteskNeue"/>
                  </a:rPr>
                  <a:t>) vs. V</a:t>
                </a:r>
                <a:r>
                  <a:rPr lang="en-US" sz="1600" b="1" baseline="-25000" dirty="0">
                    <a:solidFill>
                      <a:srgbClr val="C00000"/>
                    </a:solidFill>
                    <a:latin typeface="fkGroteskNeue"/>
                  </a:rPr>
                  <a:t>GS</a:t>
                </a:r>
                <a:r>
                  <a:rPr lang="en-US" sz="1600" b="1" dirty="0">
                    <a:solidFill>
                      <a:srgbClr val="C00000"/>
                    </a:solidFill>
                    <a:latin typeface="fkGroteskNeue"/>
                  </a:rPr>
                  <a:t>:</a:t>
                </a:r>
              </a:p>
              <a:p>
                <a:pPr marL="342900" indent="-342900" algn="l">
                  <a:buFont typeface="Wingdings" panose="05000000000000000000" pitchFamily="2" charset="2"/>
                  <a:buChar char="q"/>
                </a:pPr>
                <a:r>
                  <a:rPr lang="en-US" sz="1600" dirty="0">
                    <a:latin typeface="fkGroteskNeue"/>
                  </a:rPr>
                  <a:t>Slope is constant in WI, confirming exponential relationship</a:t>
                </a:r>
                <a:r>
                  <a:rPr lang="en-US" sz="1600" dirty="0" smtClean="0">
                    <a:latin typeface="fkGroteskNeue"/>
                  </a:rPr>
                  <a:t>.</a:t>
                </a:r>
              </a:p>
              <a:p>
                <a:pPr marL="342900" indent="-342900" algn="l">
                  <a:buFont typeface="Wingdings" panose="05000000000000000000" pitchFamily="2" charset="2"/>
                  <a:buChar char="q"/>
                </a:pPr>
                <a:endParaRPr lang="en-US" sz="1600" dirty="0">
                  <a:latin typeface="fkGroteskNeue"/>
                </a:endParaRPr>
              </a:p>
              <a:p>
                <a:pPr algn="ctr"/>
                <a14:m>
                  <m:oMath xmlns:m="http://schemas.openxmlformats.org/officeDocument/2006/math">
                    <m:f>
                      <m:fPr>
                        <m:ctrlPr>
                          <a:rPr lang="en-US" sz="1600" b="1" i="1" smtClean="0">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𝒎</m:t>
                            </m:r>
                          </m:sub>
                        </m:sSub>
                      </m:num>
                      <m:den>
                        <m:sSub>
                          <m:sSubPr>
                            <m:ctrlP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𝑫</m:t>
                            </m:r>
                          </m:sub>
                        </m:sSub>
                      </m:den>
                    </m:f>
                  </m:oMath>
                </a14:m>
                <a:r>
                  <a:rPr lang="en-US" sz="1600" b="1" dirty="0">
                    <a:solidFill>
                      <a:srgbClr val="C00000"/>
                    </a:solidFill>
                    <a:latin typeface="fkGroteskNeue"/>
                  </a:rPr>
                  <a:t> vs V</a:t>
                </a:r>
                <a:r>
                  <a:rPr lang="en-US" sz="1600" b="1" baseline="-25000" dirty="0">
                    <a:solidFill>
                      <a:srgbClr val="C00000"/>
                    </a:solidFill>
                    <a:latin typeface="fkGroteskNeue"/>
                  </a:rPr>
                  <a:t>GS </a:t>
                </a:r>
                <a:r>
                  <a:rPr lang="en-US" sz="1600" b="1" dirty="0" smtClean="0">
                    <a:solidFill>
                      <a:srgbClr val="C00000"/>
                    </a:solidFill>
                    <a:latin typeface="fkGroteskNeue"/>
                  </a:rPr>
                  <a:t>Curve:</a:t>
                </a:r>
                <a:endParaRPr lang="en-US" sz="1600" b="1" dirty="0">
                  <a:solidFill>
                    <a:srgbClr val="C00000"/>
                  </a:solidFill>
                  <a:latin typeface="fkGroteskNeue"/>
                </a:endParaRPr>
              </a:p>
              <a:p>
                <a:pPr marL="342900" indent="-342900" algn="l">
                  <a:buFont typeface="Wingdings" panose="05000000000000000000" pitchFamily="2" charset="2"/>
                  <a:buChar char="q"/>
                </a:pPr>
                <a:r>
                  <a:rPr lang="en-US" sz="1600" dirty="0">
                    <a:latin typeface="fkGroteskNeue"/>
                  </a:rPr>
                  <a:t>Again, big efficiency in WI (but not as big as ideal).</a:t>
                </a:r>
              </a:p>
              <a:p>
                <a:pPr marL="342900" indent="-342900" algn="l">
                  <a:buFont typeface="Wingdings" panose="05000000000000000000" pitchFamily="2" charset="2"/>
                  <a:buChar char="q"/>
                </a:pPr>
                <a:r>
                  <a:rPr lang="en-US" sz="1600" dirty="0">
                    <a:latin typeface="fkGroteskNeue"/>
                  </a:rPr>
                  <a:t>Sharp drop into strong inversion; model and device finally converge.</a:t>
                </a:r>
              </a:p>
              <a:p>
                <a:endParaRPr lang="en-US" sz="18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62392" y="1322893"/>
                <a:ext cx="6086407" cy="4480329"/>
              </a:xfrm>
              <a:blipFill>
                <a:blip r:embed="rId2"/>
                <a:stretch>
                  <a:fillRect l="-1902" t="-1361" r="-1602"/>
                </a:stretch>
              </a:blipFill>
            </p:spPr>
            <p:txBody>
              <a:bodyPr/>
              <a:lstStyle/>
              <a:p>
                <a:r>
                  <a:rPr lang="en-US">
                    <a:noFill/>
                  </a:rPr>
                  <a:t> </a:t>
                </a:r>
              </a:p>
            </p:txBody>
          </p:sp>
        </mc:Fallback>
      </mc:AlternateContent>
      <p:sp>
        <p:nvSpPr>
          <p:cNvPr id="7" name="Rectangle 6"/>
          <p:cNvSpPr/>
          <p:nvPr/>
        </p:nvSpPr>
        <p:spPr>
          <a:xfrm>
            <a:off x="426394" y="5697059"/>
            <a:ext cx="10989013" cy="830997"/>
          </a:xfrm>
          <a:prstGeom prst="rect">
            <a:avLst/>
          </a:prstGeom>
        </p:spPr>
        <p:txBody>
          <a:bodyPr wrap="square">
            <a:spAutoFit/>
          </a:bodyPr>
          <a:lstStyle/>
          <a:p>
            <a:pPr lvl="0" algn="ctr"/>
            <a:r>
              <a:rPr lang="en-US" sz="1600" b="1" kern="0" dirty="0">
                <a:solidFill>
                  <a:srgbClr val="C00000"/>
                </a:solidFill>
                <a:latin typeface="fkGroteskNeue"/>
              </a:rPr>
              <a:t>Similarity to BJT:</a:t>
            </a:r>
          </a:p>
          <a:p>
            <a:pPr lvl="0"/>
            <a:r>
              <a:rPr lang="en-US" sz="1600" kern="0" dirty="0">
                <a:solidFill>
                  <a:prstClr val="black"/>
                </a:solidFill>
                <a:latin typeface="fkGroteskNeue"/>
              </a:rPr>
              <a:t>In subthreshold, the MOSFET operates similarly to BJTs—I</a:t>
            </a:r>
            <a:r>
              <a:rPr lang="en-US" sz="1600" kern="0" baseline="-25000" dirty="0">
                <a:solidFill>
                  <a:prstClr val="black"/>
                </a:solidFill>
                <a:latin typeface="fkGroteskNeue"/>
              </a:rPr>
              <a:t>D</a:t>
            </a:r>
            <a:r>
              <a:rPr lang="en-US" sz="1600" kern="0" dirty="0">
                <a:solidFill>
                  <a:prstClr val="black"/>
                </a:solidFill>
                <a:latin typeface="fkGroteskNeue"/>
              </a:rPr>
              <a:t> depends exponentially on V</a:t>
            </a:r>
            <a:r>
              <a:rPr lang="en-US" sz="1600" kern="0" baseline="-25000" dirty="0">
                <a:solidFill>
                  <a:prstClr val="black"/>
                </a:solidFill>
                <a:latin typeface="fkGroteskNeue"/>
              </a:rPr>
              <a:t>GS</a:t>
            </a:r>
            <a:r>
              <a:rPr lang="en-US" sz="1600" kern="0" dirty="0">
                <a:solidFill>
                  <a:prstClr val="black"/>
                </a:solidFill>
                <a:latin typeface="fkGroteskNeue"/>
              </a:rPr>
              <a:t>. This is harnessed in circuits like current mirrors, bandgap references, and low-power sensors</a:t>
            </a:r>
          </a:p>
        </p:txBody>
      </p:sp>
      <p:pic>
        <p:nvPicPr>
          <p:cNvPr id="8" name="Picture 7"/>
          <p:cNvPicPr>
            <a:picLocks noChangeAspect="1"/>
          </p:cNvPicPr>
          <p:nvPr/>
        </p:nvPicPr>
        <p:blipFill rotWithShape="1">
          <a:blip r:embed="rId3"/>
          <a:srcRect l="35040" t="2663" r="4568" b="8518"/>
          <a:stretch/>
        </p:blipFill>
        <p:spPr>
          <a:xfrm>
            <a:off x="7261697" y="1546697"/>
            <a:ext cx="4844202" cy="3044758"/>
          </a:xfrm>
          <a:prstGeom prst="rect">
            <a:avLst/>
          </a:prstGeom>
        </p:spPr>
      </p:pic>
      <p:sp>
        <p:nvSpPr>
          <p:cNvPr id="13" name="Rectangle 12"/>
          <p:cNvSpPr/>
          <p:nvPr/>
        </p:nvSpPr>
        <p:spPr>
          <a:xfrm>
            <a:off x="7232650" y="1338364"/>
            <a:ext cx="4876800" cy="3455886"/>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p:nvPr/>
        </p:nvGrpSpPr>
        <p:grpSpPr>
          <a:xfrm>
            <a:off x="7741672" y="1891324"/>
            <a:ext cx="301686" cy="369332"/>
            <a:chOff x="4360622" y="521954"/>
            <a:chExt cx="301686" cy="369332"/>
          </a:xfrm>
        </p:grpSpPr>
        <p:sp>
          <p:nvSpPr>
            <p:cNvPr id="4" name="Oval 3"/>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360622" y="521954"/>
              <a:ext cx="301686" cy="369332"/>
            </a:xfrm>
            <a:prstGeom prst="rect">
              <a:avLst/>
            </a:prstGeom>
            <a:noFill/>
          </p:spPr>
          <p:txBody>
            <a:bodyPr wrap="none" rtlCol="0">
              <a:spAutoFit/>
            </a:bodyPr>
            <a:lstStyle/>
            <a:p>
              <a:r>
                <a:rPr lang="en-US" dirty="0" smtClean="0"/>
                <a:t>1</a:t>
              </a:r>
              <a:endParaRPr lang="en-US" dirty="0"/>
            </a:p>
          </p:txBody>
        </p:sp>
      </p:grpSp>
      <p:grpSp>
        <p:nvGrpSpPr>
          <p:cNvPr id="14" name="Group 13"/>
          <p:cNvGrpSpPr/>
          <p:nvPr/>
        </p:nvGrpSpPr>
        <p:grpSpPr>
          <a:xfrm>
            <a:off x="4459496" y="1231915"/>
            <a:ext cx="301686" cy="369332"/>
            <a:chOff x="4360622" y="521954"/>
            <a:chExt cx="301686" cy="369332"/>
          </a:xfrm>
        </p:grpSpPr>
        <p:sp>
          <p:nvSpPr>
            <p:cNvPr id="15" name="Oval 14"/>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4360622" y="521954"/>
              <a:ext cx="301686" cy="369332"/>
            </a:xfrm>
            <a:prstGeom prst="rect">
              <a:avLst/>
            </a:prstGeom>
            <a:noFill/>
          </p:spPr>
          <p:txBody>
            <a:bodyPr wrap="none" rtlCol="0">
              <a:spAutoFit/>
            </a:bodyPr>
            <a:lstStyle/>
            <a:p>
              <a:r>
                <a:rPr lang="en-US" dirty="0" smtClean="0"/>
                <a:t>1</a:t>
              </a:r>
              <a:endParaRPr lang="en-US" dirty="0"/>
            </a:p>
          </p:txBody>
        </p:sp>
      </p:grpSp>
      <p:grpSp>
        <p:nvGrpSpPr>
          <p:cNvPr id="17" name="Group 16"/>
          <p:cNvGrpSpPr/>
          <p:nvPr/>
        </p:nvGrpSpPr>
        <p:grpSpPr>
          <a:xfrm>
            <a:off x="4491463" y="2494976"/>
            <a:ext cx="301686" cy="369332"/>
            <a:chOff x="4360622" y="521954"/>
            <a:chExt cx="301686" cy="369332"/>
          </a:xfrm>
        </p:grpSpPr>
        <p:sp>
          <p:nvSpPr>
            <p:cNvPr id="18" name="Oval 17"/>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4360622" y="521954"/>
              <a:ext cx="301686" cy="369332"/>
            </a:xfrm>
            <a:prstGeom prst="rect">
              <a:avLst/>
            </a:prstGeom>
            <a:noFill/>
          </p:spPr>
          <p:txBody>
            <a:bodyPr wrap="none" rtlCol="0">
              <a:spAutoFit/>
            </a:bodyPr>
            <a:lstStyle/>
            <a:p>
              <a:r>
                <a:rPr lang="en-US" dirty="0"/>
                <a:t>2</a:t>
              </a:r>
            </a:p>
          </p:txBody>
        </p:sp>
      </p:grpSp>
      <p:grpSp>
        <p:nvGrpSpPr>
          <p:cNvPr id="20" name="Group 19"/>
          <p:cNvGrpSpPr/>
          <p:nvPr/>
        </p:nvGrpSpPr>
        <p:grpSpPr>
          <a:xfrm>
            <a:off x="10139184" y="2219169"/>
            <a:ext cx="301686" cy="369332"/>
            <a:chOff x="4360622" y="521954"/>
            <a:chExt cx="301686" cy="369332"/>
          </a:xfrm>
        </p:grpSpPr>
        <p:sp>
          <p:nvSpPr>
            <p:cNvPr id="21" name="Oval 20"/>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4360622" y="521954"/>
              <a:ext cx="301686" cy="369332"/>
            </a:xfrm>
            <a:prstGeom prst="rect">
              <a:avLst/>
            </a:prstGeom>
            <a:noFill/>
          </p:spPr>
          <p:txBody>
            <a:bodyPr wrap="none" rtlCol="0">
              <a:spAutoFit/>
            </a:bodyPr>
            <a:lstStyle/>
            <a:p>
              <a:r>
                <a:rPr lang="en-US" dirty="0"/>
                <a:t>2</a:t>
              </a:r>
            </a:p>
          </p:txBody>
        </p:sp>
      </p:grpSp>
      <p:grpSp>
        <p:nvGrpSpPr>
          <p:cNvPr id="23" name="Group 22"/>
          <p:cNvGrpSpPr/>
          <p:nvPr/>
        </p:nvGrpSpPr>
        <p:grpSpPr>
          <a:xfrm>
            <a:off x="9145239" y="3098629"/>
            <a:ext cx="301686" cy="369332"/>
            <a:chOff x="4360622" y="521954"/>
            <a:chExt cx="301686" cy="369332"/>
          </a:xfrm>
        </p:grpSpPr>
        <p:sp>
          <p:nvSpPr>
            <p:cNvPr id="24" name="Oval 23"/>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p:cNvSpPr txBox="1"/>
            <p:nvPr/>
          </p:nvSpPr>
          <p:spPr>
            <a:xfrm>
              <a:off x="4360622" y="521954"/>
              <a:ext cx="301686" cy="369332"/>
            </a:xfrm>
            <a:prstGeom prst="rect">
              <a:avLst/>
            </a:prstGeom>
            <a:noFill/>
          </p:spPr>
          <p:txBody>
            <a:bodyPr wrap="none" rtlCol="0">
              <a:spAutoFit/>
            </a:bodyPr>
            <a:lstStyle/>
            <a:p>
              <a:r>
                <a:rPr lang="en-US" dirty="0" smtClean="0"/>
                <a:t>3</a:t>
              </a:r>
              <a:endParaRPr lang="en-US" dirty="0"/>
            </a:p>
          </p:txBody>
        </p:sp>
      </p:grpSp>
      <p:grpSp>
        <p:nvGrpSpPr>
          <p:cNvPr id="26" name="Group 25"/>
          <p:cNvGrpSpPr/>
          <p:nvPr/>
        </p:nvGrpSpPr>
        <p:grpSpPr>
          <a:xfrm>
            <a:off x="4676574" y="3496356"/>
            <a:ext cx="301686" cy="369332"/>
            <a:chOff x="4360622" y="521954"/>
            <a:chExt cx="301686" cy="369332"/>
          </a:xfrm>
        </p:grpSpPr>
        <p:sp>
          <p:nvSpPr>
            <p:cNvPr id="27" name="Oval 26"/>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4360622" y="521954"/>
              <a:ext cx="301686" cy="369332"/>
            </a:xfrm>
            <a:prstGeom prst="rect">
              <a:avLst/>
            </a:prstGeom>
            <a:noFill/>
          </p:spPr>
          <p:txBody>
            <a:bodyPr wrap="none" rtlCol="0">
              <a:spAutoFit/>
            </a:bodyPr>
            <a:lstStyle/>
            <a:p>
              <a:r>
                <a:rPr lang="en-US" dirty="0" smtClean="0"/>
                <a:t>3</a:t>
              </a:r>
              <a:endParaRPr lang="en-US" dirty="0"/>
            </a:p>
          </p:txBody>
        </p:sp>
      </p:grpSp>
      <p:grpSp>
        <p:nvGrpSpPr>
          <p:cNvPr id="29" name="Group 28"/>
          <p:cNvGrpSpPr/>
          <p:nvPr/>
        </p:nvGrpSpPr>
        <p:grpSpPr>
          <a:xfrm>
            <a:off x="11385891" y="3871780"/>
            <a:ext cx="301686" cy="369332"/>
            <a:chOff x="4360622" y="521954"/>
            <a:chExt cx="301686" cy="369332"/>
          </a:xfrm>
        </p:grpSpPr>
        <p:sp>
          <p:nvSpPr>
            <p:cNvPr id="30" name="Oval 29"/>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p:cNvSpPr txBox="1"/>
            <p:nvPr/>
          </p:nvSpPr>
          <p:spPr>
            <a:xfrm>
              <a:off x="4360622" y="521954"/>
              <a:ext cx="301686" cy="369332"/>
            </a:xfrm>
            <a:prstGeom prst="rect">
              <a:avLst/>
            </a:prstGeom>
            <a:noFill/>
          </p:spPr>
          <p:txBody>
            <a:bodyPr wrap="none" rtlCol="0">
              <a:spAutoFit/>
            </a:bodyPr>
            <a:lstStyle/>
            <a:p>
              <a:r>
                <a:rPr lang="en-US" dirty="0" smtClean="0"/>
                <a:t>4</a:t>
              </a:r>
              <a:endParaRPr lang="en-US" dirty="0"/>
            </a:p>
          </p:txBody>
        </p:sp>
      </p:grpSp>
      <p:grpSp>
        <p:nvGrpSpPr>
          <p:cNvPr id="32" name="Group 31"/>
          <p:cNvGrpSpPr/>
          <p:nvPr/>
        </p:nvGrpSpPr>
        <p:grpSpPr>
          <a:xfrm>
            <a:off x="4776191" y="4305191"/>
            <a:ext cx="301686" cy="369332"/>
            <a:chOff x="4360622" y="521954"/>
            <a:chExt cx="301686" cy="369332"/>
          </a:xfrm>
        </p:grpSpPr>
        <p:sp>
          <p:nvSpPr>
            <p:cNvPr id="33" name="Oval 32"/>
            <p:cNvSpPr/>
            <p:nvPr/>
          </p:nvSpPr>
          <p:spPr>
            <a:xfrm>
              <a:off x="4362357" y="579863"/>
              <a:ext cx="274320" cy="27432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p:cNvSpPr txBox="1"/>
            <p:nvPr/>
          </p:nvSpPr>
          <p:spPr>
            <a:xfrm>
              <a:off x="4360622" y="521954"/>
              <a:ext cx="301686" cy="369332"/>
            </a:xfrm>
            <a:prstGeom prst="rect">
              <a:avLst/>
            </a:prstGeom>
            <a:noFill/>
          </p:spPr>
          <p:txBody>
            <a:bodyPr wrap="none" rtlCol="0">
              <a:spAutoFit/>
            </a:bodyPr>
            <a:lstStyle/>
            <a:p>
              <a:r>
                <a:rPr lang="en-US" dirty="0" smtClean="0"/>
                <a:t>4</a:t>
              </a:r>
              <a:endParaRPr lang="en-US" dirty="0"/>
            </a:p>
          </p:txBody>
        </p:sp>
      </p:grpSp>
    </p:spTree>
    <p:extLst>
      <p:ext uri="{BB962C8B-B14F-4D97-AF65-F5344CB8AC3E}">
        <p14:creationId xmlns:p14="http://schemas.microsoft.com/office/powerpoint/2010/main" val="22845516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Summary </a:t>
            </a:r>
            <a:r>
              <a:rPr lang="en-US" dirty="0" err="1" smtClean="0"/>
              <a:t>Tabel</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946691" y="4440203"/>
                <a:ext cx="10658407" cy="1279453"/>
              </a:xfrm>
            </p:spPr>
            <p:txBody>
              <a:bodyPr/>
              <a:lstStyle/>
              <a:p>
                <a:pPr algn="just"/>
                <a:r>
                  <a:rPr lang="en-US" sz="1800" dirty="0">
                    <a:latin typeface="fkGroteskNeue"/>
                  </a:rPr>
                  <a:t>Understand that </a:t>
                </a:r>
                <a14:m>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800" dirty="0">
                    <a:latin typeface="fkGroteskNeue"/>
                  </a:rPr>
                  <a:t> vs. V</a:t>
                </a:r>
                <a:r>
                  <a:rPr lang="en-US" sz="1800" baseline="-25000" dirty="0">
                    <a:latin typeface="fkGroteskNeue"/>
                  </a:rPr>
                  <a:t>GS</a:t>
                </a:r>
                <a:r>
                  <a:rPr lang="en-US" sz="1800" dirty="0">
                    <a:latin typeface="fkGroteskNeue"/>
                  </a:rPr>
                  <a:t> breakdown is not just “textbook” – it determines the achievable power, noise, and match in every analog design you do. Weak inversion is king for efficiency, strong inversion for robustness, and moderate for all-around excellence. Always cross-check your modeling zone with real process data—especially in modern, short-channel tech.</a:t>
                </a:r>
                <a:endParaRPr lang="en-US" sz="18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946691" y="4440203"/>
                <a:ext cx="10658407" cy="1279453"/>
              </a:xfrm>
              <a:blipFill>
                <a:blip r:embed="rId2"/>
                <a:stretch>
                  <a:fillRect l="-1315" t="-3810" r="-1315" b="-7143"/>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39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7" name="Table 6"/>
          <p:cNvGraphicFramePr>
            <a:graphicFrameLocks noGrp="1"/>
          </p:cNvGraphicFramePr>
          <p:nvPr>
            <p:extLst>
              <p:ext uri="{D42A27DB-BD31-4B8C-83A1-F6EECF244321}">
                <p14:modId xmlns:p14="http://schemas.microsoft.com/office/powerpoint/2010/main" val="1489884467"/>
              </p:ext>
            </p:extLst>
          </p:nvPr>
        </p:nvGraphicFramePr>
        <p:xfrm>
          <a:off x="714985" y="1322286"/>
          <a:ext cx="10817155" cy="1699584"/>
        </p:xfrm>
        <a:graphic>
          <a:graphicData uri="http://schemas.openxmlformats.org/drawingml/2006/table">
            <a:tbl>
              <a:tblPr/>
              <a:tblGrid>
                <a:gridCol w="2163431">
                  <a:extLst>
                    <a:ext uri="{9D8B030D-6E8A-4147-A177-3AD203B41FA5}">
                      <a16:colId xmlns:a16="http://schemas.microsoft.com/office/drawing/2014/main" val="12816772"/>
                    </a:ext>
                  </a:extLst>
                </a:gridCol>
                <a:gridCol w="1080741">
                  <a:extLst>
                    <a:ext uri="{9D8B030D-6E8A-4147-A177-3AD203B41FA5}">
                      <a16:colId xmlns:a16="http://schemas.microsoft.com/office/drawing/2014/main" val="257860819"/>
                    </a:ext>
                  </a:extLst>
                </a:gridCol>
                <a:gridCol w="2388141">
                  <a:extLst>
                    <a:ext uri="{9D8B030D-6E8A-4147-A177-3AD203B41FA5}">
                      <a16:colId xmlns:a16="http://schemas.microsoft.com/office/drawing/2014/main" val="3044347562"/>
                    </a:ext>
                  </a:extLst>
                </a:gridCol>
                <a:gridCol w="2616740">
                  <a:extLst>
                    <a:ext uri="{9D8B030D-6E8A-4147-A177-3AD203B41FA5}">
                      <a16:colId xmlns:a16="http://schemas.microsoft.com/office/drawing/2014/main" val="3783456977"/>
                    </a:ext>
                  </a:extLst>
                </a:gridCol>
                <a:gridCol w="2568102">
                  <a:extLst>
                    <a:ext uri="{9D8B030D-6E8A-4147-A177-3AD203B41FA5}">
                      <a16:colId xmlns:a16="http://schemas.microsoft.com/office/drawing/2014/main" val="83076397"/>
                    </a:ext>
                  </a:extLst>
                </a:gridCol>
              </a:tblGrid>
              <a:tr h="170112">
                <a:tc>
                  <a:txBody>
                    <a:bodyPr/>
                    <a:lstStyle/>
                    <a:p>
                      <a:pPr algn="ctr"/>
                      <a:r>
                        <a:rPr lang="en-US" sz="1800" b="1">
                          <a:effectLst/>
                        </a:rPr>
                        <a:t>Region</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gm/ID</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Pros</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Cons</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Core Use</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201133252"/>
                  </a:ext>
                </a:extLst>
              </a:tr>
              <a:tr h="542520">
                <a:tc>
                  <a:txBody>
                    <a:bodyPr/>
                    <a:lstStyle/>
                    <a:p>
                      <a:pPr algn="ctr"/>
                      <a:r>
                        <a:rPr lang="en-US" sz="1800">
                          <a:effectLst/>
                        </a:rPr>
                        <a:t>Weak Inversion</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&gt;20</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Extreme efficiency</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Poor matching, more noise</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Ultra-low power blocks</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94941604"/>
                  </a:ext>
                </a:extLst>
              </a:tr>
              <a:tr h="418384">
                <a:tc>
                  <a:txBody>
                    <a:bodyPr/>
                    <a:lstStyle/>
                    <a:p>
                      <a:pPr algn="ctr"/>
                      <a:r>
                        <a:rPr lang="en-US" sz="1800">
                          <a:effectLst/>
                        </a:rPr>
                        <a:t>Moderate Inversion</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10–20</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Best tradeoff (speed, IQ)</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Calibration may be needed</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Precision analog, general</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84647896"/>
                  </a:ext>
                </a:extLst>
              </a:tr>
              <a:tr h="418384">
                <a:tc>
                  <a:txBody>
                    <a:bodyPr/>
                    <a:lstStyle/>
                    <a:p>
                      <a:pPr algn="ctr"/>
                      <a:r>
                        <a:rPr lang="en-US" sz="1800">
                          <a:effectLst/>
                        </a:rPr>
                        <a:t>Strong Inversion</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&lt;10</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Robust, predictable</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Poor efficiency (high IQ)</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dirty="0">
                          <a:effectLst/>
                        </a:rPr>
                        <a:t>High-speed, low noise</a:t>
                      </a:r>
                    </a:p>
                  </a:txBody>
                  <a:tcPr marL="22988" marR="22988" marT="22988" marB="22988"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802741441"/>
                  </a:ext>
                </a:extLst>
              </a:tr>
            </a:tbl>
          </a:graphicData>
        </a:graphic>
      </p:graphicFrame>
    </p:spTree>
    <p:extLst>
      <p:ext uri="{BB962C8B-B14F-4D97-AF65-F5344CB8AC3E}">
        <p14:creationId xmlns:p14="http://schemas.microsoft.com/office/powerpoint/2010/main" val="15063118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615553"/>
          </a:xfrm>
        </p:spPr>
        <p:txBody>
          <a:bodyPr/>
          <a:lstStyle/>
          <a:p>
            <a:pPr marL="0" marR="0" lvl="0" indent="0" defTabSz="914400" eaLnBrk="1" fontAlgn="auto" latinLnBrk="0" hangingPunct="1">
              <a:lnSpc>
                <a:spcPct val="100000"/>
              </a:lnSpc>
              <a:spcBef>
                <a:spcPts val="0"/>
              </a:spcBef>
              <a:spcAft>
                <a:spcPts val="0"/>
              </a:spcAft>
              <a:tabLst/>
              <a:defRPr/>
            </a:pPr>
            <a:r>
              <a:rPr lang="en-US" sz="2000" dirty="0">
                <a:solidFill>
                  <a:prstClr val="black"/>
                </a:solidFill>
                <a:latin typeface="fkGrotesk"/>
                <a:ea typeface="+mn-ea"/>
              </a:rPr>
              <a:t>MOSFET in Subthreshold: Fundamental Physics</a:t>
            </a:r>
            <a:br>
              <a:rPr lang="en-US" sz="2000" dirty="0">
                <a:solidFill>
                  <a:prstClr val="black"/>
                </a:solidFill>
                <a:latin typeface="fkGrotesk"/>
                <a:ea typeface="+mn-ea"/>
              </a:rPr>
            </a:br>
            <a:r>
              <a:rPr lang="en-US" sz="2000" dirty="0">
                <a:solidFill>
                  <a:prstClr val="black"/>
                </a:solidFill>
                <a:latin typeface="fkGrotesk"/>
                <a:ea typeface="+mn-ea"/>
              </a:rPr>
              <a:t>What does “subthreshold” mean</a:t>
            </a:r>
            <a:r>
              <a:rPr lang="en-US" sz="2000" dirty="0" smtClean="0">
                <a:solidFill>
                  <a:prstClr val="black"/>
                </a:solidFill>
                <a:latin typeface="fkGrotesk"/>
                <a:ea typeface="+mn-ea"/>
              </a:rPr>
              <a: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00775" y="1157119"/>
                <a:ext cx="10726501" cy="5768310"/>
              </a:xfrm>
            </p:spPr>
            <p:txBody>
              <a:bodyPr/>
              <a:lstStyle/>
              <a:p>
                <a:pPr marL="800100" lvl="1" indent="-342900" algn="just">
                  <a:buFont typeface="Wingdings" panose="05000000000000000000" pitchFamily="2" charset="2"/>
                  <a:buChar char="q"/>
                </a:pPr>
                <a:r>
                  <a:rPr lang="en-US" dirty="0" smtClean="0">
                    <a:latin typeface="fkGroteskNeue"/>
                  </a:rPr>
                  <a:t>A </a:t>
                </a:r>
                <a:r>
                  <a:rPr lang="en-US" dirty="0">
                    <a:latin typeface="fkGroteskNeue"/>
                  </a:rPr>
                  <a:t>MOSFET operates in subthreshold (also called weak inversion) when the gate-source voltage </a:t>
                </a:r>
                <a:r>
                  <a:rPr lang="en-US" i="1" dirty="0" smtClean="0">
                    <a:latin typeface="KaTeX_Math"/>
                  </a:rPr>
                  <a:t>V</a:t>
                </a:r>
                <a:r>
                  <a:rPr lang="en-US" i="1" baseline="-25000" dirty="0" smtClean="0">
                    <a:latin typeface="KaTeX_Math"/>
                  </a:rPr>
                  <a:t>GS</a:t>
                </a:r>
                <a:r>
                  <a:rPr lang="en-US" dirty="0">
                    <a:latin typeface="fkGroteskNeue"/>
                  </a:rPr>
                  <a:t> is less than the threshold voltage </a:t>
                </a:r>
                <a:r>
                  <a:rPr lang="en-US" i="1" dirty="0" smtClean="0">
                    <a:latin typeface="KaTeX_Math"/>
                  </a:rPr>
                  <a:t>V</a:t>
                </a:r>
                <a:r>
                  <a:rPr lang="en-US" i="1" baseline="-25000" dirty="0" smtClean="0">
                    <a:latin typeface="KaTeX_Math"/>
                  </a:rPr>
                  <a:t>TH</a:t>
                </a:r>
                <a:r>
                  <a:rPr lang="en-US" dirty="0">
                    <a:latin typeface="fkGroteskNeue"/>
                  </a:rPr>
                  <a:t>, or equivalently, </a:t>
                </a:r>
                <a:r>
                  <a:rPr lang="en-US" i="1" dirty="0" smtClean="0">
                    <a:latin typeface="KaTeX_Math"/>
                  </a:rPr>
                  <a:t>V</a:t>
                </a:r>
                <a:r>
                  <a:rPr lang="en-US" i="1" baseline="-25000" dirty="0" smtClean="0">
                    <a:latin typeface="KaTeX_Math"/>
                  </a:rPr>
                  <a:t>GS</a:t>
                </a:r>
                <a:r>
                  <a:rPr lang="en-US" dirty="0">
                    <a:latin typeface="KaTeX_Main"/>
                  </a:rPr>
                  <a:t>−</a:t>
                </a:r>
                <a:r>
                  <a:rPr lang="en-US" i="1" dirty="0">
                    <a:latin typeface="KaTeX_Math"/>
                  </a:rPr>
                  <a:t>V</a:t>
                </a:r>
                <a:r>
                  <a:rPr lang="en-US" i="1" baseline="-25000" dirty="0">
                    <a:latin typeface="KaTeX_Math"/>
                  </a:rPr>
                  <a:t>TH</a:t>
                </a:r>
                <a:r>
                  <a:rPr lang="en-US" dirty="0">
                    <a:latin typeface="fkGroteskNeue"/>
                  </a:rPr>
                  <a:t> is small (but the device is not fully off).</a:t>
                </a:r>
              </a:p>
              <a:p>
                <a:pPr marL="800100" lvl="1" indent="-342900" algn="just">
                  <a:buFont typeface="Wingdings" panose="05000000000000000000" pitchFamily="2" charset="2"/>
                  <a:buChar char="q"/>
                </a:pPr>
                <a:r>
                  <a:rPr lang="en-US" dirty="0">
                    <a:latin typeface="fkGroteskNeue"/>
                  </a:rPr>
                  <a:t>In this regime, channel conduction is not due to strong inversion carriers, but to diffusion — much like how a bipolar junction transistor (BJT) works.</a:t>
                </a:r>
              </a:p>
              <a:p>
                <a:pPr algn="l"/>
                <a:r>
                  <a:rPr lang="en-US" dirty="0">
                    <a:latin typeface="fkGrotesk"/>
                  </a:rPr>
                  <a:t>The BJT Analogy</a:t>
                </a:r>
              </a:p>
              <a:p>
                <a:pPr marL="800100" lvl="1" indent="-342900" algn="just">
                  <a:buFont typeface="Wingdings" panose="05000000000000000000" pitchFamily="2" charset="2"/>
                  <a:buChar char="q"/>
                </a:pPr>
                <a:r>
                  <a:rPr lang="en-US" dirty="0">
                    <a:latin typeface="fkGroteskNeue"/>
                  </a:rPr>
                  <a:t>The MOSFET’s gate acts like a “virtual base,” </a:t>
                </a:r>
                <a:r>
                  <a:rPr lang="en-US" dirty="0" err="1">
                    <a:latin typeface="fkGroteskNeue"/>
                  </a:rPr>
                  <a:t>capacitively</a:t>
                </a:r>
                <a:r>
                  <a:rPr lang="en-US" dirty="0">
                    <a:latin typeface="fkGroteskNeue"/>
                  </a:rPr>
                  <a:t> coupled to the channel through a divider made of </a:t>
                </a:r>
                <a:r>
                  <a:rPr lang="en-US" i="1" dirty="0" smtClean="0">
                    <a:latin typeface="KaTeX_Math"/>
                  </a:rPr>
                  <a:t>C</a:t>
                </a:r>
                <a:r>
                  <a:rPr lang="en-US" i="1" baseline="-25000" dirty="0" smtClean="0">
                    <a:latin typeface="KaTeX_Math"/>
                  </a:rPr>
                  <a:t>OX</a:t>
                </a:r>
                <a:r>
                  <a:rPr lang="en-US" dirty="0">
                    <a:latin typeface="fkGroteskNeue"/>
                  </a:rPr>
                  <a:t> (oxide capacitance) and </a:t>
                </a:r>
                <a:r>
                  <a:rPr lang="en-US" i="1" dirty="0" err="1" smtClean="0">
                    <a:latin typeface="KaTeX_Math"/>
                  </a:rPr>
                  <a:t>C</a:t>
                </a:r>
                <a:r>
                  <a:rPr lang="en-US" i="1" baseline="-25000" dirty="0" err="1" smtClean="0">
                    <a:latin typeface="KaTeX_Math"/>
                  </a:rPr>
                  <a:t>dep</a:t>
                </a:r>
                <a:r>
                  <a:rPr lang="en-US" dirty="0">
                    <a:latin typeface="fkGroteskNeue"/>
                  </a:rPr>
                  <a:t> (depletion capacitance).</a:t>
                </a:r>
              </a:p>
              <a:p>
                <a:pPr marL="800100" lvl="1" indent="-342900" algn="just">
                  <a:buFont typeface="Wingdings" panose="05000000000000000000" pitchFamily="2" charset="2"/>
                  <a:buChar char="q"/>
                </a:pPr>
                <a:r>
                  <a:rPr lang="en-US" dirty="0">
                    <a:latin typeface="fkGroteskNeue"/>
                  </a:rPr>
                  <a:t>The effective “base-emitter” voltage for the analog BJT becomes</a:t>
                </a:r>
                <a:r>
                  <a:rPr lang="en-US" dirty="0" smtClean="0">
                    <a:latin typeface="fkGroteskNeue"/>
                  </a:rPr>
                  <a:t>:</a:t>
                </a:r>
              </a:p>
              <a:p>
                <a:pPr lvl="1" algn="just"/>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𝐵𝐸</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f>
                        <m:fPr>
                          <m:ctrlPr>
                            <a:rPr lang="en-US" i="1">
                              <a:solidFill>
                                <a:srgbClr val="000000"/>
                              </a:solidFill>
                              <a:effectLst/>
                              <a:latin typeface="Cambria Math" panose="02040503050406030204" pitchFamily="18" charset="0"/>
                            </a:rPr>
                          </m:ctrlPr>
                        </m:fPr>
                        <m:num>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𝑂𝑋</m:t>
                              </m:r>
                            </m:sub>
                          </m:sSub>
                        </m:num>
                        <m:den>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𝑂𝑋</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𝑑𝑒𝑝</m:t>
                              </m:r>
                            </m:sub>
                          </m:sSub>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effectLst/>
                              <a:latin typeface="Cambria Math" panose="02040503050406030204" pitchFamily="18" charset="0"/>
                            </a:rPr>
                          </m:ctrlPr>
                        </m:fPr>
                        <m:num>
                          <m:sSub>
                            <m:sSubPr>
                              <m:ctrlPr>
                                <a:rPr lang="en-US" i="1">
                                  <a:solidFill>
                                    <a:srgbClr val="000000"/>
                                  </a:solidFill>
                                  <a:effectLst/>
                                  <a:latin typeface="Cambria Math" panose="020405030504060302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den>
                      </m:f>
                    </m:oMath>
                  </m:oMathPara>
                </a14:m>
                <a:endParaRPr lang="en-US" dirty="0" smtClean="0">
                  <a:latin typeface="fkGroteskNeue"/>
                </a:endParaRPr>
              </a:p>
              <a:p>
                <a:pPr lvl="2" algn="l"/>
                <a:r>
                  <a:rPr lang="en-US" dirty="0" smtClean="0">
                    <a:latin typeface="fkGroteskNeue"/>
                  </a:rPr>
                  <a:t>Here</a:t>
                </a:r>
                <a:r>
                  <a:rPr lang="en-US" dirty="0">
                    <a:latin typeface="fkGroteskNeue"/>
                  </a:rPr>
                  <a:t>, </a:t>
                </a:r>
                <a:r>
                  <a:rPr lang="en-US" i="1" dirty="0" smtClean="0">
                    <a:latin typeface="KaTeX_Math"/>
                  </a:rPr>
                  <a:t>n</a:t>
                </a:r>
                <a:r>
                  <a:rPr lang="en-US" dirty="0">
                    <a:latin typeface="fkGroteskNeue"/>
                  </a:rPr>
                  <a:t> (the subthreshold slope factor) is always greater than 1; lower is better for efficiency:</a:t>
                </a:r>
              </a:p>
              <a:p>
                <a:pPr marL="1657350" lvl="3" indent="-285750" algn="l">
                  <a:buFont typeface="Arial" panose="020B0604020202020204" pitchFamily="34" charset="0"/>
                  <a:buChar char="•"/>
                </a:pPr>
                <a:r>
                  <a:rPr lang="en-US" dirty="0">
                    <a:latin typeface="fkGroteskNeue"/>
                  </a:rPr>
                  <a:t>Bulk MOS: </a:t>
                </a:r>
                <a:r>
                  <a:rPr lang="en-US" i="1" dirty="0" smtClean="0">
                    <a:latin typeface="KaTeX_Math"/>
                  </a:rPr>
                  <a:t>n</a:t>
                </a:r>
                <a:r>
                  <a:rPr lang="en-US" dirty="0">
                    <a:latin typeface="KaTeX_Main"/>
                  </a:rPr>
                  <a:t>≈1.2</a:t>
                </a:r>
                <a:r>
                  <a:rPr lang="en-US" dirty="0">
                    <a:latin typeface="fkGroteskNeue"/>
                  </a:rPr>
                  <a:t> to </a:t>
                </a:r>
                <a:r>
                  <a:rPr lang="en-US" dirty="0" smtClean="0">
                    <a:latin typeface="KaTeX_Main"/>
                  </a:rPr>
                  <a:t>1.5</a:t>
                </a:r>
                <a:endParaRPr lang="en-US" dirty="0">
                  <a:latin typeface="fkGroteskNeue"/>
                </a:endParaRPr>
              </a:p>
              <a:p>
                <a:pPr marL="1657350" lvl="3" indent="-285750" algn="l">
                  <a:buFont typeface="Arial" panose="020B0604020202020204" pitchFamily="34" charset="0"/>
                  <a:buChar char="•"/>
                </a:pPr>
                <a:r>
                  <a:rPr lang="en-US" dirty="0">
                    <a:latin typeface="fkGroteskNeue"/>
                  </a:rPr>
                  <a:t>SOI/</a:t>
                </a:r>
                <a:r>
                  <a:rPr lang="en-US" dirty="0" err="1">
                    <a:latin typeface="fkGroteskNeue"/>
                  </a:rPr>
                  <a:t>FinFET</a:t>
                </a:r>
                <a:r>
                  <a:rPr lang="en-US" dirty="0">
                    <a:latin typeface="fkGroteskNeue"/>
                  </a:rPr>
                  <a:t>: </a:t>
                </a:r>
                <a:r>
                  <a:rPr lang="en-US" i="1" dirty="0" smtClean="0">
                    <a:latin typeface="KaTeX_Math"/>
                  </a:rPr>
                  <a:t>n</a:t>
                </a:r>
                <a:r>
                  <a:rPr lang="en-US" dirty="0">
                    <a:latin typeface="KaTeX_Main"/>
                  </a:rPr>
                  <a:t>≈1.1</a:t>
                </a:r>
                <a:r>
                  <a:rPr lang="en-US" dirty="0">
                    <a:latin typeface="fkGroteskNeue"/>
                  </a:rPr>
                  <a:t> (thanks to very low </a:t>
                </a:r>
                <a:r>
                  <a:rPr lang="en-US" i="1" dirty="0" err="1" smtClean="0">
                    <a:latin typeface="KaTeX_Math"/>
                  </a:rPr>
                  <a:t>C</a:t>
                </a:r>
                <a:r>
                  <a:rPr lang="en-US" i="1" baseline="-25000" dirty="0" err="1" smtClean="0">
                    <a:latin typeface="KaTeX_Math"/>
                  </a:rPr>
                  <a:t>dep</a:t>
                </a:r>
                <a:r>
                  <a:rPr lang="en-US" dirty="0">
                    <a:latin typeface="fkGroteskNeue"/>
                  </a:rPr>
                  <a:t>)</a:t>
                </a:r>
              </a:p>
              <a:p>
                <a:pPr algn="l"/>
                <a:r>
                  <a:rPr lang="en-US" dirty="0">
                    <a:latin typeface="fkGrotesk"/>
                  </a:rPr>
                  <a:t>Current Equation in Subthreshold</a:t>
                </a:r>
              </a:p>
              <a:p>
                <a:pPr marL="800100" lvl="1" indent="-342900" algn="l">
                  <a:buFont typeface="Wingdings" panose="05000000000000000000" pitchFamily="2" charset="2"/>
                  <a:buChar char="q"/>
                </a:pPr>
                <a:r>
                  <a:rPr lang="en-US" dirty="0">
                    <a:latin typeface="fkGroteskNeue"/>
                  </a:rPr>
                  <a:t>The drain current grows exponentially with </a:t>
                </a:r>
                <a:r>
                  <a:rPr lang="en-US" i="1" dirty="0" smtClean="0">
                    <a:latin typeface="KaTeX_Math"/>
                  </a:rPr>
                  <a:t>VGS</a:t>
                </a:r>
                <a:r>
                  <a:rPr lang="en-US" dirty="0" smtClean="0">
                    <a:latin typeface="fkGroteskNeue"/>
                  </a:rPr>
                  <a:t>:</a:t>
                </a:r>
              </a:p>
              <a:p>
                <a:pPr lvl="1" algn="l"/>
                <a14:m>
                  <m:oMathPara xmlns:m="http://schemas.openxmlformats.org/officeDocument/2006/math">
                    <m:oMathParaPr>
                      <m:jc m:val="centerGroup"/>
                    </m:oMathParaPr>
                    <m:oMath xmlns:m="http://schemas.openxmlformats.org/officeDocument/2006/math">
                      <m:sSub>
                        <m:sSubPr>
                          <m:ctrlPr>
                            <a:rPr lang="en-US" i="1" smtClean="0">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𝑜𝑓𝑓</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i="1">
                              <a:solidFill>
                                <a:srgbClr val="000000"/>
                              </a:solidFill>
                              <a:effectLst/>
                              <a:latin typeface="Cambria Math" panose="020405030504060302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sSub>
                            <m:sSubPr>
                              <m:ctrlPr>
                                <a:rPr lang="en-US" i="1">
                                  <a:solidFill>
                                    <a:srgbClr val="000000"/>
                                  </a:solidFill>
                                  <a:effectLst/>
                                  <a:latin typeface="Cambria Math" panose="020405030504060302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Sub>
                            <m:sSubPr>
                              <m:ctrlPr>
                                <a:rPr lang="en-US" i="1">
                                  <a:solidFill>
                                    <a:srgbClr val="000000"/>
                                  </a:solidFill>
                                  <a:effectLst/>
                                  <a:latin typeface="Cambria Math" panose="020405030504060302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oMath>
                  </m:oMathPara>
                </a14:m>
                <a:endParaRPr lang="en-US" dirty="0">
                  <a:latin typeface="fkGroteskNeue"/>
                </a:endParaRPr>
              </a:p>
              <a:p>
                <a:pPr lvl="2" algn="l"/>
                <a:r>
                  <a:rPr lang="en-US" i="1" dirty="0" smtClean="0">
                    <a:latin typeface="KaTeX_Math"/>
                  </a:rPr>
                  <a:t>    U</a:t>
                </a:r>
                <a:r>
                  <a:rPr lang="en-US" i="1" baseline="-25000" dirty="0" smtClean="0">
                    <a:latin typeface="KaTeX_Math"/>
                  </a:rPr>
                  <a:t>T</a:t>
                </a:r>
                <a:r>
                  <a:rPr lang="en-US" dirty="0">
                    <a:latin typeface="fkGroteskNeue"/>
                  </a:rPr>
                  <a:t> is the thermal voltage (</a:t>
                </a:r>
                <a:r>
                  <a:rPr lang="en-US" dirty="0">
                    <a:latin typeface="KaTeX_Main"/>
                  </a:rPr>
                  <a:t>≈26mV≈26</a:t>
                </a:r>
                <a:r>
                  <a:rPr lang="en-US" i="1" dirty="0">
                    <a:latin typeface="KaTeX_Math"/>
                  </a:rPr>
                  <a:t>mV</a:t>
                </a:r>
                <a:r>
                  <a:rPr lang="en-US" dirty="0">
                    <a:latin typeface="fkGroteskNeue"/>
                  </a:rPr>
                  <a:t> at room temp)</a:t>
                </a:r>
              </a:p>
              <a:p>
                <a:pPr marL="800100" lvl="1" indent="-342900" algn="l">
                  <a:buFont typeface="Wingdings" panose="05000000000000000000" pitchFamily="2" charset="2"/>
                  <a:buChar char="q"/>
                </a:pPr>
                <a:r>
                  <a:rPr lang="en-US" dirty="0">
                    <a:latin typeface="fkGroteskNeue"/>
                  </a:rPr>
                  <a:t>Logarithmically, </a:t>
                </a:r>
                <a:r>
                  <a:rPr lang="en-US" dirty="0" smtClean="0">
                    <a:latin typeface="KaTeX_Main"/>
                  </a:rPr>
                  <a:t>log(</a:t>
                </a:r>
                <a:r>
                  <a:rPr lang="en-US" i="1" dirty="0" smtClean="0">
                    <a:latin typeface="KaTeX_Math"/>
                  </a:rPr>
                  <a:t>I</a:t>
                </a:r>
                <a:r>
                  <a:rPr lang="en-US" i="1" baseline="-25000" dirty="0" smtClean="0">
                    <a:latin typeface="KaTeX_Math"/>
                  </a:rPr>
                  <a:t>D</a:t>
                </a:r>
                <a:r>
                  <a:rPr lang="en-US" dirty="0">
                    <a:latin typeface="KaTeX_Main"/>
                  </a:rPr>
                  <a:t>)</a:t>
                </a:r>
                <a:r>
                  <a:rPr lang="en-US" dirty="0">
                    <a:latin typeface="fkGroteskNeue"/>
                  </a:rPr>
                  <a:t> vs </a:t>
                </a:r>
                <a:r>
                  <a:rPr lang="en-US" i="1" dirty="0" smtClean="0">
                    <a:latin typeface="KaTeX_Math"/>
                  </a:rPr>
                  <a:t>V</a:t>
                </a:r>
                <a:r>
                  <a:rPr lang="en-US" i="1" baseline="-25000" dirty="0" smtClean="0">
                    <a:latin typeface="KaTeX_Math"/>
                  </a:rPr>
                  <a:t>GS</a:t>
                </a:r>
                <a:r>
                  <a:rPr lang="en-US" dirty="0">
                    <a:latin typeface="fkGroteskNeue"/>
                  </a:rPr>
                  <a:t> is a straight line — the key signature of subthreshold.</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00775" y="1157119"/>
                <a:ext cx="10726501" cy="5768310"/>
              </a:xfrm>
              <a:blipFill>
                <a:blip r:embed="rId2"/>
                <a:stretch>
                  <a:fillRect l="-1420" t="-1374" r="-1307"/>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97062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29471" y="6495663"/>
            <a:ext cx="1350708" cy="27965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78951" y="6494900"/>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556103" y="6548402"/>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9" name="Picture 8" descr="image"/>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0067" y="1419860"/>
            <a:ext cx="7618413" cy="4168140"/>
          </a:xfrm>
          <a:prstGeom prst="rect">
            <a:avLst/>
          </a:prstGeom>
          <a:noFill/>
          <a:ln>
            <a:noFill/>
          </a:ln>
        </p:spPr>
      </p:pic>
    </p:spTree>
    <p:extLst>
      <p:ext uri="{BB962C8B-B14F-4D97-AF65-F5344CB8AC3E}">
        <p14:creationId xmlns:p14="http://schemas.microsoft.com/office/powerpoint/2010/main" val="19413843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19150" y="150875"/>
                <a:ext cx="10593196" cy="762196"/>
              </a:xfrm>
            </p:spPr>
            <p:txBody>
              <a:bodyPr/>
              <a:lstStyle/>
              <a:p>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latin typeface="fkGrotesk"/>
                  </a:rPr>
                  <a:t> in Weak </a:t>
                </a:r>
                <a:r>
                  <a:rPr lang="en-US" dirty="0" smtClean="0">
                    <a:latin typeface="fkGrotesk"/>
                  </a:rPr>
                  <a:t>Inversion/Subthreshold</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19150" y="150875"/>
                <a:ext cx="10593196" cy="762196"/>
              </a:xfrm>
              <a:blipFill>
                <a:blip r:embed="rId2"/>
                <a:stretch>
                  <a:fillRect t="-10400"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528402" y="1225213"/>
                <a:ext cx="4773172" cy="5256824"/>
              </a:xfrm>
            </p:spPr>
            <p:txBody>
              <a:bodyPr/>
              <a:lstStyle/>
              <a:p>
                <a:pPr algn="ctr"/>
                <a:r>
                  <a:rPr lang="en-US" sz="1800" b="1" dirty="0" smtClean="0">
                    <a:solidFill>
                      <a:srgbClr val="C00000"/>
                    </a:solidFill>
                    <a:latin typeface="fkGrotesk"/>
                  </a:rPr>
                  <a:t>Theoretical </a:t>
                </a:r>
                <a:r>
                  <a:rPr lang="en-US" sz="1800" b="1" dirty="0">
                    <a:solidFill>
                      <a:srgbClr val="C00000"/>
                    </a:solidFill>
                    <a:latin typeface="fkGrotesk"/>
                  </a:rPr>
                  <a:t>Foundation</a:t>
                </a:r>
              </a:p>
              <a:p>
                <a:pPr marL="285750" indent="-285750" algn="just">
                  <a:buFont typeface="Wingdings" panose="05000000000000000000" pitchFamily="2" charset="2"/>
                  <a:buChar char="q"/>
                </a:pPr>
                <a:r>
                  <a:rPr lang="en-US" sz="1800" dirty="0">
                    <a:latin typeface="fkGroteskNeue"/>
                  </a:rPr>
                  <a:t>By differentiating </a:t>
                </a:r>
                <a:r>
                  <a:rPr lang="en-US" sz="1800" i="1" dirty="0" smtClean="0">
                    <a:latin typeface="KaTeX_Math"/>
                  </a:rPr>
                  <a:t>I</a:t>
                </a:r>
                <a:r>
                  <a:rPr lang="en-US" sz="1800" i="1" baseline="-25000" dirty="0" smtClean="0">
                    <a:latin typeface="KaTeX_Math"/>
                  </a:rPr>
                  <a:t>D</a:t>
                </a:r>
                <a:r>
                  <a:rPr lang="en-US" sz="1800" dirty="0">
                    <a:latin typeface="fkGroteskNeue"/>
                  </a:rPr>
                  <a:t> with respect </a:t>
                </a:r>
                <a:r>
                  <a:rPr lang="en-US" sz="1800" dirty="0" err="1" smtClean="0">
                    <a:latin typeface="fkGroteskNeue"/>
                  </a:rPr>
                  <a:t>to</a:t>
                </a:r>
                <a:r>
                  <a:rPr lang="en-US" sz="1800" i="1" dirty="0" err="1" smtClean="0">
                    <a:latin typeface="KaTeX_Math"/>
                  </a:rPr>
                  <a:t>V</a:t>
                </a:r>
                <a:r>
                  <a:rPr lang="en-US" sz="1800" i="1" baseline="-25000" dirty="0" err="1" smtClean="0">
                    <a:latin typeface="KaTeX_Math"/>
                  </a:rPr>
                  <a:t>GS</a:t>
                </a:r>
                <a:r>
                  <a:rPr lang="en-US" sz="1800" dirty="0">
                    <a:latin typeface="fkGroteskNeue"/>
                  </a:rPr>
                  <a:t>:</a:t>
                </a:r>
              </a:p>
              <a:p>
                <a:pPr marL="742950" lvl="1" indent="-285750" algn="just">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r>
                      <a:rPr lang="en-US" sz="1600">
                        <a:latin typeface="Cambria Math" panose="02040503050406030204" pitchFamily="18" charset="0"/>
                      </a:rPr>
                      <m:t>=</m:t>
                    </m:r>
                    <m:f>
                      <m:fPr>
                        <m:ctrlPr>
                          <a:rPr lang="en-US" sz="1600" i="1">
                            <a:latin typeface="Cambria Math" panose="02040503050406030204" pitchFamily="18" charset="0"/>
                          </a:rPr>
                        </m:ctrlPr>
                      </m:fPr>
                      <m:num>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num>
                      <m:den>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𝑉</m:t>
                            </m:r>
                          </m:e>
                          <m:sub>
                            <m:r>
                              <a:rPr lang="en-US" sz="1600" i="1">
                                <a:latin typeface="Cambria Math" panose="02040503050406030204" pitchFamily="18" charset="0"/>
                              </a:rPr>
                              <m:t>𝐺𝑆</m:t>
                            </m:r>
                          </m:sub>
                        </m:sSub>
                      </m:den>
                    </m:f>
                    <m:r>
                      <a:rPr lang="en-US" sz="1600">
                        <a:latin typeface="Cambria Math" panose="02040503050406030204" pitchFamily="18" charset="0"/>
                      </a:rPr>
                      <m:t>=</m:t>
                    </m:r>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num>
                      <m:den>
                        <m:r>
                          <a:rPr lang="en-US" sz="1600" i="1">
                            <a:latin typeface="Cambria Math" panose="02040503050406030204" pitchFamily="18" charset="0"/>
                          </a:rPr>
                          <m:t>𝑛</m:t>
                        </m:r>
                        <m:sSub>
                          <m:sSubPr>
                            <m:ctrlPr>
                              <a:rPr lang="en-US" sz="1600" i="1">
                                <a:latin typeface="Cambria Math" panose="02040503050406030204" pitchFamily="18" charset="0"/>
                              </a:rPr>
                            </m:ctrlPr>
                          </m:sSubPr>
                          <m:e>
                            <m:r>
                              <a:rPr lang="en-US" sz="1600" i="1">
                                <a:latin typeface="Cambria Math" panose="02040503050406030204" pitchFamily="18" charset="0"/>
                              </a:rPr>
                              <m:t>𝑈</m:t>
                            </m:r>
                          </m:e>
                          <m:sub>
                            <m:r>
                              <a:rPr lang="en-US" sz="1600" i="1">
                                <a:latin typeface="Cambria Math" panose="02040503050406030204" pitchFamily="18" charset="0"/>
                              </a:rPr>
                              <m:t>𝑇</m:t>
                            </m:r>
                          </m:sub>
                        </m:sSub>
                      </m:den>
                    </m:f>
                  </m:oMath>
                </a14:m>
                <a:endParaRPr lang="en-US" sz="1600" dirty="0" smtClean="0">
                  <a:latin typeface="fkGroteskNeue"/>
                </a:endParaRPr>
              </a:p>
              <a:p>
                <a:pPr marL="742950" lvl="1" indent="-285750" algn="just">
                  <a:buFont typeface="Arial" panose="020B0604020202020204" pitchFamily="34" charset="0"/>
                  <a:buChar char="•"/>
                </a:pPr>
                <a:r>
                  <a:rPr lang="en-US" sz="1600" dirty="0" smtClean="0">
                    <a:latin typeface="fkGroteskNeue"/>
                  </a:rPr>
                  <a:t>Thus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r>
                      <a:rPr lang="en-US" sz="1600">
                        <a:latin typeface="Cambria Math" panose="02040503050406030204" pitchFamily="18" charset="0"/>
                      </a:rPr>
                      <m:t>=</m:t>
                    </m:r>
                    <m:f>
                      <m:fPr>
                        <m:ctrlPr>
                          <a:rPr lang="en-US" sz="1600" i="1">
                            <a:latin typeface="Cambria Math" panose="02040503050406030204" pitchFamily="18" charset="0"/>
                          </a:rPr>
                        </m:ctrlPr>
                      </m:fPr>
                      <m:num>
                        <m:r>
                          <a:rPr lang="en-US" sz="1600">
                            <a:latin typeface="Cambria Math" panose="02040503050406030204" pitchFamily="18" charset="0"/>
                          </a:rPr>
                          <m:t>1</m:t>
                        </m:r>
                      </m:num>
                      <m:den>
                        <m:r>
                          <a:rPr lang="en-US" sz="1600" i="1">
                            <a:latin typeface="Cambria Math" panose="02040503050406030204" pitchFamily="18" charset="0"/>
                          </a:rPr>
                          <m:t>𝑛</m:t>
                        </m:r>
                        <m:sSub>
                          <m:sSubPr>
                            <m:ctrlPr>
                              <a:rPr lang="en-US" sz="1600" i="1">
                                <a:latin typeface="Cambria Math" panose="02040503050406030204" pitchFamily="18" charset="0"/>
                              </a:rPr>
                            </m:ctrlPr>
                          </m:sSubPr>
                          <m:e>
                            <m:r>
                              <a:rPr lang="en-US" sz="1600" i="1">
                                <a:latin typeface="Cambria Math" panose="02040503050406030204" pitchFamily="18" charset="0"/>
                              </a:rPr>
                              <m:t>𝑈</m:t>
                            </m:r>
                          </m:e>
                          <m:sub>
                            <m:r>
                              <a:rPr lang="en-US" sz="1600" i="1">
                                <a:latin typeface="Cambria Math" panose="02040503050406030204" pitchFamily="18" charset="0"/>
                              </a:rPr>
                              <m:t>𝑇</m:t>
                            </m:r>
                          </m:sub>
                        </m:sSub>
                      </m:den>
                    </m:f>
                  </m:oMath>
                </a14:m>
                <a:endParaRPr lang="en-US" sz="1600" dirty="0"/>
              </a:p>
              <a:p>
                <a:pPr marL="285750" indent="-285750" algn="just">
                  <a:buFont typeface="Wingdings" panose="05000000000000000000" pitchFamily="2" charset="2"/>
                  <a:buChar char="q"/>
                </a:pPr>
                <a:r>
                  <a:rPr lang="en-US" sz="1800" dirty="0">
                    <a:latin typeface="fkGroteskNeue"/>
                  </a:rPr>
                  <a:t>At room temperature (</a:t>
                </a:r>
                <a:r>
                  <a:rPr lang="en-US" sz="1800" dirty="0">
                    <a:latin typeface="KaTeX_Main"/>
                  </a:rPr>
                  <a:t>UT≈26mV</a:t>
                </a:r>
                <a:r>
                  <a:rPr lang="en-US" sz="1800" i="1" dirty="0">
                    <a:latin typeface="KaTeX_Math"/>
                  </a:rPr>
                  <a:t>UT</a:t>
                </a:r>
                <a:r>
                  <a:rPr lang="en-US" sz="1800" dirty="0">
                    <a:latin typeface="KaTeX_Main"/>
                  </a:rPr>
                  <a:t>≈26</a:t>
                </a:r>
                <a:r>
                  <a:rPr lang="en-US" sz="1800" i="1" dirty="0">
                    <a:latin typeface="KaTeX_Math"/>
                  </a:rPr>
                  <a:t>mV</a:t>
                </a:r>
                <a:r>
                  <a:rPr lang="en-US" sz="1800" dirty="0">
                    <a:latin typeface="fkGroteskNeue"/>
                  </a:rPr>
                  <a:t>):</a:t>
                </a:r>
              </a:p>
              <a:p>
                <a:pPr marL="742950" lvl="1" indent="-285750" algn="just">
                  <a:buFont typeface="Arial" panose="020B0604020202020204" pitchFamily="34" charset="0"/>
                  <a:buChar char="•"/>
                </a:pPr>
                <a:r>
                  <a:rPr lang="en-US" sz="1600" dirty="0">
                    <a:latin typeface="fkGroteskNeue"/>
                  </a:rPr>
                  <a:t>For </a:t>
                </a:r>
                <a:r>
                  <a:rPr lang="en-US" sz="1600" i="1" dirty="0" smtClean="0">
                    <a:latin typeface="KaTeX_Math"/>
                  </a:rPr>
                  <a:t>n</a:t>
                </a:r>
                <a:r>
                  <a:rPr lang="en-US" sz="1600" dirty="0" smtClean="0">
                    <a:latin typeface="KaTeX_Main"/>
                  </a:rPr>
                  <a:t>=1.1</a:t>
                </a:r>
                <a:r>
                  <a:rPr lang="en-US" sz="1600" dirty="0">
                    <a:latin typeface="fkGroteskNeue"/>
                  </a:rPr>
                  <a:t>: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a:latin typeface="KaTeX_Main"/>
                  </a:rPr>
                  <a:t>≈35S/A</a:t>
                </a:r>
                <a:endParaRPr lang="en-US" sz="1600" dirty="0">
                  <a:latin typeface="fkGroteskNeue"/>
                </a:endParaRPr>
              </a:p>
              <a:p>
                <a:pPr marL="742950" lvl="1" indent="-285750" algn="just">
                  <a:buFont typeface="Arial" panose="020B0604020202020204" pitchFamily="34" charset="0"/>
                  <a:buChar char="•"/>
                </a:pPr>
                <a:r>
                  <a:rPr lang="en-US" sz="1600" dirty="0">
                    <a:latin typeface="fkGroteskNeue"/>
                  </a:rPr>
                  <a:t>For </a:t>
                </a:r>
                <a:r>
                  <a:rPr lang="en-US" sz="1600" dirty="0" smtClean="0">
                    <a:latin typeface="KaTeX_Main"/>
                  </a:rPr>
                  <a:t>n=1.5</a:t>
                </a:r>
                <a:r>
                  <a:rPr lang="en-US" sz="1600" dirty="0" smtClean="0">
                    <a:latin typeface="fkGroteskNeue"/>
                  </a:rPr>
                  <a:t>:</a:t>
                </a:r>
                <a:r>
                  <a:rPr lang="en-US" sz="1600" dirty="0">
                    <a:latin typeface="fkGroteskNeue"/>
                  </a:rPr>
                  <a:t> </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a:latin typeface="KaTeX_Main"/>
                  </a:rPr>
                  <a:t>≈25 </a:t>
                </a:r>
                <a:r>
                  <a:rPr lang="en-US" sz="1600" dirty="0" smtClean="0">
                    <a:latin typeface="KaTeX_Main"/>
                  </a:rPr>
                  <a:t>S/A</a:t>
                </a:r>
                <a:endParaRPr lang="en-US" sz="1600" dirty="0">
                  <a:latin typeface="fkGroteskNeue"/>
                </a:endParaRPr>
              </a:p>
              <a:p>
                <a:pPr marL="285750" indent="-285750" algn="just">
                  <a:buFont typeface="Wingdings" panose="05000000000000000000" pitchFamily="2" charset="2"/>
                  <a:buChar char="q"/>
                </a:pPr>
                <a:r>
                  <a:rPr lang="en-US" sz="1800" dirty="0">
                    <a:latin typeface="fkGroteskNeue"/>
                  </a:rPr>
                  <a:t>Key fact: In weak inversion,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𝑔</m:t>
                            </m:r>
                          </m:e>
                          <m:sub>
                            <m:r>
                              <a:rPr lang="en-US" sz="1800" i="1">
                                <a:latin typeface="Cambria Math" panose="02040503050406030204" pitchFamily="18" charset="0"/>
                              </a:rPr>
                              <m:t>𝑚</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𝐼</m:t>
                            </m:r>
                          </m:e>
                          <m:sub>
                            <m:r>
                              <a:rPr lang="en-US" sz="1800" i="1">
                                <a:latin typeface="Cambria Math" panose="02040503050406030204" pitchFamily="18" charset="0"/>
                              </a:rPr>
                              <m:t>𝐷</m:t>
                            </m:r>
                          </m:sub>
                        </m:sSub>
                      </m:den>
                    </m:f>
                  </m:oMath>
                </a14:m>
                <a:r>
                  <a:rPr lang="en-US" sz="1800" dirty="0">
                    <a:latin typeface="fkGroteskNeue"/>
                  </a:rPr>
                  <a:t> is </a:t>
                </a:r>
                <a:r>
                  <a:rPr lang="en-US" sz="1800" i="1" dirty="0">
                    <a:latin typeface="fkGroteskNeue"/>
                  </a:rPr>
                  <a:t>constant</a:t>
                </a:r>
                <a:r>
                  <a:rPr lang="en-US" sz="1800" dirty="0">
                    <a:latin typeface="fkGroteskNeue"/>
                  </a:rPr>
                  <a:t>; it does not increase as current decreases further.</a:t>
                </a:r>
              </a:p>
              <a:p>
                <a:pPr algn="ctr"/>
                <a:r>
                  <a:rPr lang="en-US" sz="1800" b="1" dirty="0">
                    <a:solidFill>
                      <a:srgbClr val="C00000"/>
                    </a:solidFill>
                    <a:latin typeface="fkGrotesk"/>
                  </a:rPr>
                  <a:t>Practical Range</a:t>
                </a:r>
              </a:p>
              <a:p>
                <a:pPr marL="285750" indent="-285750" algn="just">
                  <a:buFont typeface="Wingdings" panose="05000000000000000000" pitchFamily="2" charset="2"/>
                  <a:buChar char="q"/>
                </a:pPr>
                <a:r>
                  <a:rPr lang="en-US" sz="1800" dirty="0">
                    <a:latin typeface="fkGroteskNeue"/>
                  </a:rPr>
                  <a:t>For all practical bulk or SOI/</a:t>
                </a:r>
                <a:r>
                  <a:rPr lang="en-US" sz="1800" dirty="0" err="1">
                    <a:latin typeface="fkGroteskNeue"/>
                  </a:rPr>
                  <a:t>FinFET</a:t>
                </a:r>
                <a:r>
                  <a:rPr lang="en-US" sz="1800" dirty="0">
                    <a:latin typeface="fkGroteskNeue"/>
                  </a:rPr>
                  <a:t> MOSFETs, as annotated:</a:t>
                </a:r>
              </a:p>
              <a:p>
                <a:pPr marL="742950" lvl="1" indent="-285750" algn="just">
                  <a:buFont typeface="Arial" panose="020B0604020202020204" pitchFamily="34" charset="0"/>
                  <a:buChar char="•"/>
                </a:pPr>
                <a:r>
                  <a:rPr lang="en-US" sz="1600" dirty="0" smtClean="0">
                    <a:latin typeface="KaTeX_Main"/>
                  </a:rPr>
                  <a:t>25&lt;</a:t>
                </a:r>
                <a14:m>
                  <m:oMath xmlns:m="http://schemas.openxmlformats.org/officeDocument/2006/math">
                    <m:f>
                      <m:fPr>
                        <m:ctrlPr>
                          <a:rPr lang="en-US" sz="1600" i="1">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smtClean="0">
                    <a:latin typeface="KaTeX_Main"/>
                  </a:rPr>
                  <a:t>&lt;35S/A</a:t>
                </a:r>
                <a:r>
                  <a:rPr lang="en-US" sz="1600" dirty="0">
                    <a:latin typeface="fkGroteskNeue"/>
                  </a:rPr>
                  <a:t> in subthreshold</a:t>
                </a:r>
              </a:p>
              <a:p>
                <a:pPr marL="285750" indent="-285750" algn="just">
                  <a:buFont typeface="Wingdings" panose="05000000000000000000" pitchFamily="2" charset="2"/>
                  <a:buChar char="q"/>
                </a:pPr>
                <a:r>
                  <a:rPr lang="en-US" sz="1800" dirty="0">
                    <a:latin typeface="fkGroteskNeue"/>
                  </a:rPr>
                  <a:t>This is a “ceiling” for performance-per-amp efficiency — you cannot get better in real silicon at room </a:t>
                </a:r>
                <a:r>
                  <a:rPr lang="en-US" sz="1800" dirty="0" smtClean="0">
                    <a:latin typeface="fkGroteskNeue"/>
                  </a:rPr>
                  <a:t>temperature</a:t>
                </a:r>
                <a:endParaRPr lang="en-US" sz="1800" dirty="0">
                  <a:latin typeface="fkGroteskNeue"/>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528402" y="1225213"/>
                <a:ext cx="4773172" cy="5256824"/>
              </a:xfrm>
              <a:blipFill>
                <a:blip r:embed="rId4"/>
                <a:stretch>
                  <a:fillRect l="-2810" t="-1508" r="-2937" b="-2668"/>
                </a:stretch>
              </a:blipFill>
            </p:spPr>
            <p:txBody>
              <a:bodyPr/>
              <a:lstStyle/>
              <a:p>
                <a:r>
                  <a:rPr lang="en-US">
                    <a:noFill/>
                  </a:rPr>
                  <a:t> </a:t>
                </a:r>
              </a:p>
            </p:txBody>
          </p:sp>
        </mc:Fallback>
      </mc:AlternateContent>
      <p:pic>
        <p:nvPicPr>
          <p:cNvPr id="7" name="Picture 6"/>
          <p:cNvPicPr>
            <a:picLocks noChangeAspect="1"/>
          </p:cNvPicPr>
          <p:nvPr/>
        </p:nvPicPr>
        <p:blipFill rotWithShape="1">
          <a:blip r:embed="rId5"/>
          <a:srcRect l="4891"/>
          <a:stretch/>
        </p:blipFill>
        <p:spPr>
          <a:xfrm>
            <a:off x="5826866" y="925192"/>
            <a:ext cx="6297039" cy="3279932"/>
          </a:xfrm>
          <a:prstGeom prst="rect">
            <a:avLst/>
          </a:prstGeom>
        </p:spPr>
      </p:pic>
      <p:sp>
        <p:nvSpPr>
          <p:cNvPr id="8" name="Rectangle 7"/>
          <p:cNvSpPr/>
          <p:nvPr/>
        </p:nvSpPr>
        <p:spPr>
          <a:xfrm>
            <a:off x="5922523" y="4247241"/>
            <a:ext cx="6096000" cy="2062103"/>
          </a:xfrm>
          <a:prstGeom prst="rect">
            <a:avLst/>
          </a:prstGeom>
        </p:spPr>
        <p:txBody>
          <a:bodyPr>
            <a:spAutoFit/>
          </a:bodyPr>
          <a:lstStyle/>
          <a:p>
            <a:pPr algn="ctr"/>
            <a:r>
              <a:rPr lang="en-US" sz="1600" b="1" dirty="0">
                <a:solidFill>
                  <a:srgbClr val="C00000"/>
                </a:solidFill>
                <a:latin typeface="fkGrotesk"/>
              </a:rPr>
              <a:t>Device Plots and Comparison</a:t>
            </a:r>
          </a:p>
          <a:p>
            <a:pPr algn="ctr"/>
            <a:r>
              <a:rPr lang="en-US" sz="1600" b="1" dirty="0">
                <a:solidFill>
                  <a:srgbClr val="00B050"/>
                </a:solidFill>
                <a:latin typeface="fkGroteskNeue"/>
              </a:rPr>
              <a:t>The </a:t>
            </a:r>
            <a:r>
              <a:rPr lang="en-US" sz="1600" b="1" dirty="0" smtClean="0">
                <a:solidFill>
                  <a:srgbClr val="00B050"/>
                </a:solidFill>
                <a:latin typeface="fkGroteskNeue"/>
              </a:rPr>
              <a:t>bottom </a:t>
            </a:r>
            <a:r>
              <a:rPr lang="en-US" sz="1600" b="1" dirty="0">
                <a:solidFill>
                  <a:srgbClr val="00B050"/>
                </a:solidFill>
                <a:latin typeface="fkGroteskNeue"/>
              </a:rPr>
              <a:t>plot shows that, in weak inversion</a:t>
            </a:r>
            <a:r>
              <a:rPr lang="en-US" sz="1600" b="1" dirty="0" smtClean="0">
                <a:solidFill>
                  <a:srgbClr val="00B050"/>
                </a:solidFill>
                <a:latin typeface="fkGroteskNeue"/>
              </a:rPr>
              <a:t>,</a:t>
            </a:r>
          </a:p>
          <a:p>
            <a:pPr algn="ctr"/>
            <a:endParaRPr lang="en-US" sz="1600" b="1" dirty="0">
              <a:solidFill>
                <a:srgbClr val="00B050"/>
              </a:solidFill>
              <a:latin typeface="fkGroteskNeue"/>
            </a:endParaRPr>
          </a:p>
          <a:p>
            <a:pPr marL="285750" indent="-285750" algn="just">
              <a:buFont typeface="Wingdings" panose="05000000000000000000" pitchFamily="2" charset="2"/>
              <a:buChar char="q"/>
            </a:pPr>
            <a:r>
              <a:rPr lang="en-US" sz="1600" dirty="0">
                <a:latin typeface="fkGroteskNeue"/>
              </a:rPr>
              <a:t>Both long and short channel curves saturate to this flat regime (marked by BJT-like and theoretical value lines).</a:t>
            </a:r>
          </a:p>
          <a:p>
            <a:pPr marL="285750" indent="-285750" algn="just">
              <a:buFont typeface="Wingdings" panose="05000000000000000000" pitchFamily="2" charset="2"/>
              <a:buChar char="q"/>
            </a:pPr>
            <a:r>
              <a:rPr lang="en-US" sz="1600" dirty="0">
                <a:latin typeface="fkGroteskNeue"/>
              </a:rPr>
              <a:t>The curve lines up with theory in this leftmost region regardless of short/long channel (though real short-channel behavior may show deviations at </a:t>
            </a:r>
            <a:r>
              <a:rPr lang="en-US" sz="1600" dirty="0" err="1">
                <a:latin typeface="fkGroteskNeue"/>
              </a:rPr>
              <a:t>ultrasmall</a:t>
            </a:r>
            <a:r>
              <a:rPr lang="en-US" sz="1600" dirty="0">
                <a:latin typeface="fkGroteskNeue"/>
              </a:rPr>
              <a:t> nodes).</a:t>
            </a:r>
            <a:endParaRPr lang="en-US" sz="1600" b="0" i="0" dirty="0">
              <a:effectLst/>
              <a:latin typeface="fkGroteskNeue"/>
            </a:endParaRPr>
          </a:p>
        </p:txBody>
      </p:sp>
      <p:sp>
        <p:nvSpPr>
          <p:cNvPr id="6" name="Rectangle 5"/>
          <p:cNvSpPr/>
          <p:nvPr/>
        </p:nvSpPr>
        <p:spPr>
          <a:xfrm>
            <a:off x="5845438" y="972604"/>
            <a:ext cx="6229102" cy="325147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18517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Additional </a:t>
            </a:r>
            <a:r>
              <a:rPr lang="en-US" dirty="0" smtClean="0">
                <a:latin typeface="fkGrotesk"/>
              </a:rPr>
              <a:t>Insights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415216" cy="3604320"/>
              </a:xfrm>
            </p:spPr>
            <p:txBody>
              <a:bodyPr/>
              <a:lstStyle/>
              <a:p>
                <a:pPr algn="ctr"/>
                <a:r>
                  <a:rPr lang="en-US" b="1" dirty="0" smtClean="0">
                    <a:solidFill>
                      <a:srgbClr val="C00000"/>
                    </a:solidFill>
                    <a:latin typeface="fkGrotesk"/>
                  </a:rPr>
                  <a:t>Why </a:t>
                </a:r>
                <a:r>
                  <a:rPr lang="en-US" b="1" dirty="0">
                    <a:solidFill>
                      <a:srgbClr val="C00000"/>
                    </a:solidFill>
                    <a:latin typeface="fkGrotesk"/>
                  </a:rPr>
                  <a:t>is this Important for Analog Design?</a:t>
                </a:r>
              </a:p>
              <a:p>
                <a:pPr marL="342900" indent="-342900" algn="l">
                  <a:buFont typeface="Wingdings" panose="05000000000000000000" pitchFamily="2" charset="2"/>
                  <a:buChar char="q"/>
                </a:pPr>
                <a:r>
                  <a:rPr lang="en-US" b="1" dirty="0">
                    <a:solidFill>
                      <a:srgbClr val="002060"/>
                    </a:solidFill>
                    <a:latin typeface="fkGroteskNeue"/>
                  </a:rPr>
                  <a:t>Subthreshold Design:</a:t>
                </a:r>
              </a:p>
              <a:p>
                <a:pPr marL="742950" lvl="1" indent="-285750" algn="l">
                  <a:buFont typeface="Arial" panose="020B0604020202020204" pitchFamily="34" charset="0"/>
                  <a:buChar char="•"/>
                </a:pPr>
                <a:r>
                  <a:rPr lang="en-US" dirty="0">
                    <a:latin typeface="fkGroteskNeue"/>
                  </a:rPr>
                  <a:t>Favored in ultra-low-power (ULP), </a:t>
                </a:r>
                <a:r>
                  <a:rPr lang="en-US" dirty="0" err="1">
                    <a:latin typeface="fkGroteskNeue"/>
                  </a:rPr>
                  <a:t>IoT</a:t>
                </a:r>
                <a:r>
                  <a:rPr lang="en-US" dirty="0">
                    <a:latin typeface="fkGroteskNeue"/>
                  </a:rPr>
                  <a:t>, and biomedical designs, where every </a:t>
                </a:r>
                <a:r>
                  <a:rPr lang="en-US" dirty="0" err="1">
                    <a:latin typeface="fkGroteskNeue"/>
                  </a:rPr>
                  <a:t>nanoamp</a:t>
                </a:r>
                <a:r>
                  <a:rPr lang="en-US" dirty="0">
                    <a:latin typeface="fkGroteskNeue"/>
                  </a:rPr>
                  <a:t> counts.</a:t>
                </a:r>
              </a:p>
              <a:p>
                <a:pPr marL="742950" lvl="1" indent="-285750" algn="l">
                  <a:buFont typeface="Arial" panose="020B0604020202020204" pitchFamily="34" charset="0"/>
                  <a:buChar char="•"/>
                </a:pPr>
                <a:r>
                  <a:rPr lang="en-US" dirty="0">
                    <a:latin typeface="fkGroteskNeue"/>
                  </a:rPr>
                  <a:t>Offers the </a:t>
                </a:r>
                <a:r>
                  <a:rPr lang="en-US" i="1" dirty="0">
                    <a:latin typeface="fkGroteskNeue"/>
                  </a:rPr>
                  <a:t>maximum efficiency</a:t>
                </a:r>
                <a:r>
                  <a:rPr lang="en-US" dirty="0">
                    <a:latin typeface="fkGroteskNeue"/>
                  </a:rPr>
                  <a:t> (highest gm per amp), but at the cost of greater sensitivity to mismatch, parameter spread, and low speed.</a:t>
                </a:r>
              </a:p>
              <a:p>
                <a:pPr marL="342900" indent="-342900" algn="l">
                  <a:buFont typeface="Wingdings" panose="05000000000000000000" pitchFamily="2" charset="2"/>
                  <a:buChar char="q"/>
                </a:pPr>
                <a:r>
                  <a:rPr lang="en-US" b="1" dirty="0">
                    <a:solidFill>
                      <a:srgbClr val="002060"/>
                    </a:solidFill>
                    <a:latin typeface="fkGroteskNeue"/>
                  </a:rPr>
                  <a:t>Selection of n (Slope Factor):</a:t>
                </a:r>
              </a:p>
              <a:p>
                <a:pPr marL="742950" lvl="1" indent="-285750" algn="l">
                  <a:buFont typeface="Arial" panose="020B0604020202020204" pitchFamily="34" charset="0"/>
                  <a:buChar char="•"/>
                </a:pPr>
                <a:r>
                  <a:rPr lang="en-US" dirty="0">
                    <a:latin typeface="fkGroteskNeue"/>
                  </a:rPr>
                  <a:t>SOI and </a:t>
                </a:r>
                <a:r>
                  <a:rPr lang="en-US" dirty="0" err="1">
                    <a:latin typeface="fkGroteskNeue"/>
                  </a:rPr>
                  <a:t>FinFET</a:t>
                </a:r>
                <a:r>
                  <a:rPr lang="en-US" dirty="0">
                    <a:latin typeface="fkGroteskNeue"/>
                  </a:rPr>
                  <a:t> processes (due to reduced depletion capacitance) allow for slightly better efficiency than bulk, but the practical difference is small.</a:t>
                </a:r>
              </a:p>
              <a:p>
                <a:pPr marL="342900" indent="-342900" algn="l">
                  <a:buFont typeface="Wingdings" panose="05000000000000000000" pitchFamily="2" charset="2"/>
                  <a:buChar char="q"/>
                </a:pPr>
                <a:r>
                  <a:rPr lang="en-US" b="1" dirty="0">
                    <a:solidFill>
                      <a:srgbClr val="002060"/>
                    </a:solidFill>
                    <a:latin typeface="fkGroteskNeue"/>
                  </a:rPr>
                  <a:t>Limits of the Model:</a:t>
                </a:r>
              </a:p>
              <a:p>
                <a:pPr marL="742950" lvl="1" indent="-285750" algn="l">
                  <a:buFont typeface="Arial" panose="020B0604020202020204" pitchFamily="34" charset="0"/>
                  <a:buChar char="•"/>
                </a:pPr>
                <a:r>
                  <a:rPr lang="en-US" dirty="0">
                    <a:latin typeface="fkGroteskNeue"/>
                  </a:rPr>
                  <a:t>Even as </a:t>
                </a:r>
                <a:r>
                  <a:rPr lang="en-US" i="1" dirty="0" smtClean="0">
                    <a:latin typeface="KaTeX_Math"/>
                  </a:rPr>
                  <a:t>V</a:t>
                </a:r>
                <a:r>
                  <a:rPr lang="en-US" i="1" baseline="-25000" dirty="0" smtClean="0">
                    <a:latin typeface="KaTeX_Math"/>
                  </a:rPr>
                  <a:t>GS</a:t>
                </a:r>
                <a:r>
                  <a:rPr lang="en-US" dirty="0">
                    <a:latin typeface="fkGroteskNeue"/>
                  </a:rPr>
                  <a:t> is reduced,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cannot exceed this theoretical range because device physics, not circuit design, sets the limit.</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415216" cy="3604320"/>
              </a:xfrm>
              <a:blipFill>
                <a:blip r:embed="rId2"/>
                <a:stretch>
                  <a:fillRect l="-1405" t="-2030" r="-1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102869079"/>
                  </p:ext>
                </p:extLst>
              </p:nvPr>
            </p:nvGraphicFramePr>
            <p:xfrm>
              <a:off x="3479507" y="4661488"/>
              <a:ext cx="6321110" cy="1675151"/>
            </p:xfrm>
            <a:graphic>
              <a:graphicData uri="http://schemas.openxmlformats.org/drawingml/2006/table">
                <a:tbl>
                  <a:tblPr/>
                  <a:tblGrid>
                    <a:gridCol w="2107037">
                      <a:extLst>
                        <a:ext uri="{9D8B030D-6E8A-4147-A177-3AD203B41FA5}">
                          <a16:colId xmlns:a16="http://schemas.microsoft.com/office/drawing/2014/main" val="1031240310"/>
                        </a:ext>
                      </a:extLst>
                    </a:gridCol>
                    <a:gridCol w="1855116">
                      <a:extLst>
                        <a:ext uri="{9D8B030D-6E8A-4147-A177-3AD203B41FA5}">
                          <a16:colId xmlns:a16="http://schemas.microsoft.com/office/drawing/2014/main" val="1548896111"/>
                        </a:ext>
                      </a:extLst>
                    </a:gridCol>
                    <a:gridCol w="2358957">
                      <a:extLst>
                        <a:ext uri="{9D8B030D-6E8A-4147-A177-3AD203B41FA5}">
                          <a16:colId xmlns:a16="http://schemas.microsoft.com/office/drawing/2014/main" val="3596142141"/>
                        </a:ext>
                      </a:extLst>
                    </a:gridCol>
                  </a:tblGrid>
                  <a:tr h="327587">
                    <a:tc>
                      <a:txBody>
                        <a:bodyPr/>
                        <a:lstStyle/>
                        <a:p>
                          <a:pPr algn="ctr"/>
                          <a:r>
                            <a:rPr lang="en-US" sz="1600" b="1">
                              <a:effectLst/>
                            </a:rPr>
                            <a:t>Parameter</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600" b="1">
                              <a:effectLst/>
                            </a:rPr>
                            <a:t>Bulk MOS</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600" b="1" dirty="0">
                              <a:effectLst/>
                            </a:rPr>
                            <a:t>SOI/</a:t>
                          </a:r>
                          <a:r>
                            <a:rPr lang="en-US" sz="1600" b="1" dirty="0" err="1">
                              <a:effectLst/>
                            </a:rPr>
                            <a:t>FinFET</a:t>
                          </a:r>
                          <a:endParaRPr lang="en-US" sz="1600" b="1" dirty="0">
                            <a:effectLst/>
                          </a:endParaRP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911548870"/>
                      </a:ext>
                    </a:extLst>
                  </a:tr>
                  <a:tr h="327587">
                    <a:tc>
                      <a:txBody>
                        <a:bodyPr/>
                        <a:lstStyle/>
                        <a:p>
                          <a:pPr algn="l"/>
                          <a:r>
                            <a:rPr lang="en-US" sz="1600">
                              <a:effectLst/>
                            </a:rPr>
                            <a:t>n (slope factor)</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1.2 – 1.5</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1.1</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1607507"/>
                      </a:ext>
                    </a:extLst>
                  </a:tr>
                  <a:tr h="327587">
                    <a:tc>
                      <a:txBody>
                        <a:bodyPr/>
                        <a:lstStyle/>
                        <a:p>
                          <a:pPr algn="l"/>
                          <a14:m>
                            <m:oMath xmlns:m="http://schemas.openxmlformats.org/officeDocument/2006/math">
                              <m:f>
                                <m:fPr>
                                  <m:ctrlPr>
                                    <a:rPr lang="en-US" sz="160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a:latin typeface="fkGroteskNeue"/>
                            </a:rPr>
                            <a:t> </a:t>
                          </a:r>
                          <a:r>
                            <a:rPr lang="en-US" sz="1600" dirty="0">
                              <a:effectLst/>
                            </a:rPr>
                            <a:t> (S/A, WI)</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25 – 32</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up to 35</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29193438"/>
                      </a:ext>
                    </a:extLst>
                  </a:tr>
                  <a:tr h="566638">
                    <a:tc>
                      <a:txBody>
                        <a:bodyPr/>
                        <a:lstStyle/>
                        <a:p>
                          <a:pPr algn="l"/>
                          <a:r>
                            <a:rPr lang="en-US" sz="1600">
                              <a:effectLst/>
                            </a:rPr>
                            <a:t>Behavior in WI</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dirty="0">
                              <a:effectLst/>
                            </a:rPr>
                            <a:t>Exponential, flat </a:t>
                          </a:r>
                          <a14:m>
                            <m:oMath xmlns:m="http://schemas.openxmlformats.org/officeDocument/2006/math">
                              <m:f>
                                <m:fPr>
                                  <m:ctrlPr>
                                    <a:rPr lang="en-US" sz="1600" i="1" smtClean="0">
                                      <a:latin typeface="Cambria Math" panose="02040503050406030204" pitchFamily="18" charset="0"/>
                                    </a:rPr>
                                  </m:ctrlPr>
                                </m:fPr>
                                <m:num>
                                  <m:sSub>
                                    <m:sSubPr>
                                      <m:ctrlPr>
                                        <a:rPr lang="en-US" sz="1600" i="1">
                                          <a:latin typeface="Cambria Math" panose="02040503050406030204" pitchFamily="18" charset="0"/>
                                        </a:rPr>
                                      </m:ctrlPr>
                                    </m:sSubPr>
                                    <m:e>
                                      <m:r>
                                        <a:rPr lang="en-US" sz="1600" i="1">
                                          <a:latin typeface="Cambria Math" panose="02040503050406030204" pitchFamily="18" charset="0"/>
                                        </a:rPr>
                                        <m:t>𝑔</m:t>
                                      </m:r>
                                    </m:e>
                                    <m:sub>
                                      <m:r>
                                        <a:rPr lang="en-US" sz="1600" i="1">
                                          <a:latin typeface="Cambria Math" panose="02040503050406030204" pitchFamily="18" charset="0"/>
                                        </a:rPr>
                                        <m:t>𝑚</m:t>
                                      </m:r>
                                    </m:sub>
                                  </m:sSub>
                                </m:num>
                                <m:den>
                                  <m:sSub>
                                    <m:sSubPr>
                                      <m:ctrlPr>
                                        <a:rPr lang="en-US" sz="1600" i="1">
                                          <a:latin typeface="Cambria Math" panose="02040503050406030204" pitchFamily="18" charset="0"/>
                                        </a:rPr>
                                      </m:ctrlPr>
                                    </m:sSubPr>
                                    <m:e>
                                      <m:r>
                                        <a:rPr lang="en-US" sz="1600" i="1">
                                          <a:latin typeface="Cambria Math" panose="02040503050406030204" pitchFamily="18" charset="0"/>
                                        </a:rPr>
                                        <m:t>𝐼</m:t>
                                      </m:r>
                                    </m:e>
                                    <m:sub>
                                      <m:r>
                                        <a:rPr lang="en-US" sz="1600" i="1">
                                          <a:latin typeface="Cambria Math" panose="02040503050406030204" pitchFamily="18" charset="0"/>
                                        </a:rPr>
                                        <m:t>𝐷</m:t>
                                      </m:r>
                                    </m:sub>
                                  </m:sSub>
                                </m:den>
                              </m:f>
                            </m:oMath>
                          </a14:m>
                          <a:r>
                            <a:rPr lang="en-US" sz="1600" dirty="0">
                              <a:latin typeface="fkGroteskNeue"/>
                            </a:rPr>
                            <a:t> </a:t>
                          </a:r>
                          <a:endParaRPr lang="en-US" sz="1600" dirty="0">
                            <a:effectLst/>
                          </a:endParaRP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dirty="0">
                              <a:effectLst/>
                            </a:rPr>
                            <a:t>Exponential, higher ceiling</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47960047"/>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102869079"/>
                  </p:ext>
                </p:extLst>
              </p:nvPr>
            </p:nvGraphicFramePr>
            <p:xfrm>
              <a:off x="3479507" y="4661488"/>
              <a:ext cx="6321110" cy="1675151"/>
            </p:xfrm>
            <a:graphic>
              <a:graphicData uri="http://schemas.openxmlformats.org/drawingml/2006/table">
                <a:tbl>
                  <a:tblPr/>
                  <a:tblGrid>
                    <a:gridCol w="2107037">
                      <a:extLst>
                        <a:ext uri="{9D8B030D-6E8A-4147-A177-3AD203B41FA5}">
                          <a16:colId xmlns:a16="http://schemas.microsoft.com/office/drawing/2014/main" val="1031240310"/>
                        </a:ext>
                      </a:extLst>
                    </a:gridCol>
                    <a:gridCol w="1855116">
                      <a:extLst>
                        <a:ext uri="{9D8B030D-6E8A-4147-A177-3AD203B41FA5}">
                          <a16:colId xmlns:a16="http://schemas.microsoft.com/office/drawing/2014/main" val="1548896111"/>
                        </a:ext>
                      </a:extLst>
                    </a:gridCol>
                    <a:gridCol w="2358957">
                      <a:extLst>
                        <a:ext uri="{9D8B030D-6E8A-4147-A177-3AD203B41FA5}">
                          <a16:colId xmlns:a16="http://schemas.microsoft.com/office/drawing/2014/main" val="3596142141"/>
                        </a:ext>
                      </a:extLst>
                    </a:gridCol>
                  </a:tblGrid>
                  <a:tr h="332378">
                    <a:tc>
                      <a:txBody>
                        <a:bodyPr/>
                        <a:lstStyle/>
                        <a:p>
                          <a:pPr algn="ctr"/>
                          <a:r>
                            <a:rPr lang="en-US" sz="1600" b="1">
                              <a:effectLst/>
                            </a:rPr>
                            <a:t>Parameter</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600" b="1">
                              <a:effectLst/>
                            </a:rPr>
                            <a:t>Bulk MOS</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600" b="1" dirty="0">
                              <a:effectLst/>
                            </a:rPr>
                            <a:t>SOI/</a:t>
                          </a:r>
                          <a:r>
                            <a:rPr lang="en-US" sz="1600" b="1" dirty="0" err="1">
                              <a:effectLst/>
                            </a:rPr>
                            <a:t>FinFET</a:t>
                          </a:r>
                          <a:endParaRPr lang="en-US" sz="1600" b="1" dirty="0">
                            <a:effectLst/>
                          </a:endParaRP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911548870"/>
                      </a:ext>
                    </a:extLst>
                  </a:tr>
                  <a:tr h="332378">
                    <a:tc>
                      <a:txBody>
                        <a:bodyPr/>
                        <a:lstStyle/>
                        <a:p>
                          <a:pPr algn="l"/>
                          <a:r>
                            <a:rPr lang="en-US" sz="1600">
                              <a:effectLst/>
                            </a:rPr>
                            <a:t>n (slope factor)</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1.2 – 1.5</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1.1</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1607507"/>
                      </a:ext>
                    </a:extLst>
                  </a:tr>
                  <a:tr h="443757">
                    <a:tc>
                      <a:txBody>
                        <a:bodyPr/>
                        <a:lstStyle/>
                        <a:p>
                          <a:endParaRPr lang="en-US"/>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blipFill>
                          <a:blip r:embed="rId3"/>
                          <a:stretch>
                            <a:fillRect t="-154795" r="-200289" b="-128767"/>
                          </a:stretch>
                        </a:blipFill>
                      </a:tcPr>
                    </a:tc>
                    <a:tc>
                      <a:txBody>
                        <a:bodyPr/>
                        <a:lstStyle/>
                        <a:p>
                          <a:pPr algn="l"/>
                          <a:r>
                            <a:rPr lang="en-US" sz="1600">
                              <a:effectLst/>
                            </a:rPr>
                            <a:t>25 – 32</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l"/>
                          <a:r>
                            <a:rPr lang="en-US" sz="1600">
                              <a:effectLst/>
                            </a:rPr>
                            <a:t>up to 35</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29193438"/>
                      </a:ext>
                    </a:extLst>
                  </a:tr>
                  <a:tr h="566638">
                    <a:tc>
                      <a:txBody>
                        <a:bodyPr/>
                        <a:lstStyle/>
                        <a:p>
                          <a:pPr algn="l"/>
                          <a:r>
                            <a:rPr lang="en-US" sz="1600">
                              <a:effectLst/>
                            </a:rPr>
                            <a:t>Behavior in WI</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endParaRPr lang="en-US"/>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blipFill>
                          <a:blip r:embed="rId3"/>
                          <a:stretch>
                            <a:fillRect l="-113443" t="-200000" r="-127213" b="-1075"/>
                          </a:stretch>
                        </a:blipFill>
                      </a:tcPr>
                    </a:tc>
                    <a:tc>
                      <a:txBody>
                        <a:bodyPr/>
                        <a:lstStyle/>
                        <a:p>
                          <a:pPr algn="l"/>
                          <a:r>
                            <a:rPr lang="en-US" sz="1600" dirty="0">
                              <a:effectLst/>
                            </a:rPr>
                            <a:t>Exponential, higher ceiling</a:t>
                          </a:r>
                        </a:p>
                      </a:txBody>
                      <a:tcPr marL="44269" marR="44269" marT="44269" marB="44269"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47960047"/>
                      </a:ext>
                    </a:extLst>
                  </a:tr>
                </a:tbl>
              </a:graphicData>
            </a:graphic>
          </p:graphicFrame>
        </mc:Fallback>
      </mc:AlternateContent>
    </p:spTree>
    <p:extLst>
      <p:ext uri="{BB962C8B-B14F-4D97-AF65-F5344CB8AC3E}">
        <p14:creationId xmlns:p14="http://schemas.microsoft.com/office/powerpoint/2010/main" val="30893783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87590" cy="4418774"/>
              </a:xfrm>
            </p:spPr>
            <p:txBody>
              <a:bodyPr/>
              <a:lstStyle/>
              <a:p>
                <a:pPr algn="ctr"/>
                <a:r>
                  <a:rPr lang="en-US" b="1" dirty="0">
                    <a:solidFill>
                      <a:srgbClr val="C00000"/>
                    </a:solidFill>
                    <a:latin typeface="fkGrotesk"/>
                  </a:rPr>
                  <a:t>Graphical Takeaway</a:t>
                </a:r>
              </a:p>
              <a:p>
                <a:pPr marL="800100" lvl="1" indent="-342900" algn="l">
                  <a:buFont typeface="Wingdings" panose="05000000000000000000" pitchFamily="2" charset="2"/>
                  <a:buChar char="q"/>
                </a:pPr>
                <a:r>
                  <a:rPr lang="en-US" sz="2000" dirty="0">
                    <a:latin typeface="fkGroteskNeue"/>
                  </a:rPr>
                  <a:t>On a </a:t>
                </a:r>
                <a:r>
                  <a:rPr lang="en-US" sz="2000" dirty="0" err="1">
                    <a:latin typeface="fkGroteskNeue"/>
                  </a:rPr>
                  <a:t>semilog</a:t>
                </a:r>
                <a:r>
                  <a:rPr lang="en-US" sz="2000" dirty="0">
                    <a:latin typeface="fkGroteskNeue"/>
                  </a:rPr>
                  <a:t> plot, I</a:t>
                </a:r>
                <a:r>
                  <a:rPr lang="en-US" sz="2000" baseline="-25000" dirty="0">
                    <a:latin typeface="fkGroteskNeue"/>
                  </a:rPr>
                  <a:t>D</a:t>
                </a:r>
                <a:r>
                  <a:rPr lang="en-US" sz="2000" dirty="0">
                    <a:latin typeface="fkGroteskNeue"/>
                  </a:rPr>
                  <a:t> vs V</a:t>
                </a:r>
                <a:r>
                  <a:rPr lang="en-US" sz="2000" baseline="-25000" dirty="0">
                    <a:latin typeface="fkGroteskNeue"/>
                  </a:rPr>
                  <a:t>GS</a:t>
                </a:r>
                <a:r>
                  <a:rPr lang="en-US" sz="2000" dirty="0">
                    <a:latin typeface="fkGroteskNeue"/>
                  </a:rPr>
                  <a:t> is a straight line in WI.</a:t>
                </a:r>
              </a:p>
              <a:p>
                <a:pPr marL="800100" lvl="1" indent="-342900" algn="l">
                  <a:buFont typeface="Wingdings" panose="05000000000000000000" pitchFamily="2" charset="2"/>
                  <a:buChar char="q"/>
                </a:pPr>
                <a14:m>
                  <m:oMath xmlns:m="http://schemas.openxmlformats.org/officeDocument/2006/math">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𝑚</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𝐷</m:t>
                            </m:r>
                          </m:sub>
                        </m:sSub>
                      </m:den>
                    </m:f>
                  </m:oMath>
                </a14:m>
                <a:r>
                  <a:rPr lang="en-US" sz="2000" dirty="0" smtClean="0">
                    <a:latin typeface="fkGroteskNeue"/>
                  </a:rPr>
                  <a:t> vs V</a:t>
                </a:r>
                <a:r>
                  <a:rPr lang="en-US" sz="2000" baseline="-25000" dirty="0" smtClean="0">
                    <a:latin typeface="fkGroteskNeue"/>
                  </a:rPr>
                  <a:t>GS</a:t>
                </a:r>
                <a:r>
                  <a:rPr lang="en-US" sz="2000" dirty="0" smtClean="0">
                    <a:latin typeface="fkGroteskNeue"/>
                  </a:rPr>
                  <a:t> </a:t>
                </a:r>
                <a:r>
                  <a:rPr lang="en-US" sz="2000" dirty="0">
                    <a:latin typeface="fkGroteskNeue"/>
                  </a:rPr>
                  <a:t>is flat and constant for reasonable technology parameters.</a:t>
                </a:r>
              </a:p>
              <a:p>
                <a:pPr marL="800100" lvl="1" indent="-342900" algn="l">
                  <a:buFont typeface="Wingdings" panose="05000000000000000000" pitchFamily="2" charset="2"/>
                  <a:buChar char="q"/>
                </a:pPr>
                <a:r>
                  <a:rPr lang="en-US" sz="2000" dirty="0">
                    <a:latin typeface="fkGroteskNeue"/>
                  </a:rPr>
                  <a:t>This is the best achievable “bang per buck” for </a:t>
                </a:r>
                <a:r>
                  <a:rPr lang="en-US" sz="2000" dirty="0" err="1">
                    <a:latin typeface="fkGroteskNeue"/>
                  </a:rPr>
                  <a:t>transconductance</a:t>
                </a:r>
                <a:r>
                  <a:rPr lang="en-US" sz="2000" dirty="0">
                    <a:latin typeface="fkGroteskNeue"/>
                  </a:rPr>
                  <a:t> in the subthreshold/weak inversion </a:t>
                </a:r>
                <a:r>
                  <a:rPr lang="en-US" sz="2000" dirty="0" smtClean="0">
                    <a:latin typeface="fkGroteskNeue"/>
                  </a:rPr>
                  <a:t>regime</a:t>
                </a:r>
              </a:p>
              <a:p>
                <a:pPr algn="l"/>
                <a:endParaRPr lang="en-US" sz="2200" dirty="0">
                  <a:latin typeface="fkGroteskNeue"/>
                </a:endParaRPr>
              </a:p>
              <a:p>
                <a:pPr algn="ctr"/>
                <a:r>
                  <a:rPr lang="en-US" sz="1800" b="1" dirty="0">
                    <a:solidFill>
                      <a:srgbClr val="C00000"/>
                    </a:solidFill>
                    <a:latin typeface="fkGroteskNeue"/>
                  </a:rPr>
                  <a:t>In conclusion</a:t>
                </a:r>
                <a:r>
                  <a:rPr lang="en-US" sz="1800" b="1" dirty="0" smtClean="0">
                    <a:solidFill>
                      <a:srgbClr val="C00000"/>
                    </a:solidFill>
                    <a:latin typeface="fkGroteskNeue"/>
                  </a:rPr>
                  <a:t>:</a:t>
                </a:r>
              </a:p>
              <a:p>
                <a:pPr algn="just"/>
                <a:r>
                  <a:rPr lang="en-US" sz="1800" dirty="0"/>
                  <a:t/>
                </a:r>
                <a:br>
                  <a:rPr lang="en-US" sz="1800" dirty="0"/>
                </a:br>
                <a:r>
                  <a:rPr lang="en-US" dirty="0">
                    <a:latin typeface="fkGroteskNeue"/>
                  </a:rPr>
                  <a:t>The subthreshold region of MOSFET operation is analogous to bipolar transistor action, characterized by exponentially rising current, a constant and process-limited </a:t>
                </a:r>
                <a:r>
                  <a:rPr lang="en-US" dirty="0" err="1">
                    <a:latin typeface="fkGroteskNeue"/>
                  </a:rPr>
                  <a:t>transconductance</a:t>
                </a:r>
                <a:r>
                  <a:rPr lang="en-US" dirty="0">
                    <a:latin typeface="fkGroteskNeue"/>
                  </a:rPr>
                  <a:t> efficiency, and practical constraints set by the physical parameter n. For analog designers, this provides a predictable, technology-bound foundation for ULP circuit synthesis and a rigorous limit on analog performance in WI operation.</a:t>
                </a: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87590" cy="4418774"/>
              </a:xfrm>
              <a:blipFill>
                <a:blip r:embed="rId2"/>
                <a:stretch>
                  <a:fillRect l="-1483" t="-1655" r="-1426"/>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569076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b="1" dirty="0">
                <a:solidFill>
                  <a:srgbClr val="C00000"/>
                </a:solidFill>
                <a:latin typeface="fkGrotesk"/>
              </a:rPr>
              <a:t>Overview: Moderate Inversion in </a:t>
            </a:r>
            <a:r>
              <a:rPr lang="en-US" b="1" dirty="0" smtClean="0">
                <a:solidFill>
                  <a:srgbClr val="C00000"/>
                </a:solidFill>
                <a:latin typeface="fkGrotesk"/>
              </a:rPr>
              <a:t>MOSFETs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63271" cy="4348626"/>
              </a:xfrm>
            </p:spPr>
            <p:txBody>
              <a:bodyPr/>
              <a:lstStyle/>
              <a:p>
                <a:pPr algn="just"/>
                <a:r>
                  <a:rPr lang="en-US" dirty="0" smtClean="0">
                    <a:latin typeface="fkGroteskNeue"/>
                  </a:rPr>
                  <a:t>Moderate </a:t>
                </a:r>
                <a:r>
                  <a:rPr lang="en-US" dirty="0">
                    <a:latin typeface="fkGroteskNeue"/>
                  </a:rPr>
                  <a:t>inversion is the bias regime where the gate overdrive </a:t>
                </a:r>
                <a:r>
                  <a:rPr lang="en-US" dirty="0" smtClean="0">
                    <a:latin typeface="fkGroteskNeue"/>
                  </a:rPr>
                  <a:t>(</a:t>
                </a:r>
                <a:r>
                  <a:rPr lang="en-US" i="1" dirty="0" smtClean="0">
                    <a:latin typeface="KaTeX_Math"/>
                  </a:rPr>
                  <a:t>V</a:t>
                </a:r>
                <a:r>
                  <a:rPr lang="en-US" i="1" baseline="-25000" dirty="0" smtClean="0">
                    <a:latin typeface="KaTeX_Math"/>
                  </a:rPr>
                  <a:t>GS</a:t>
                </a:r>
                <a:r>
                  <a:rPr lang="en-US" dirty="0">
                    <a:latin typeface="KaTeX_Main"/>
                  </a:rPr>
                  <a:t>−</a:t>
                </a:r>
                <a:r>
                  <a:rPr lang="en-US" i="1" dirty="0">
                    <a:latin typeface="KaTeX_Math"/>
                  </a:rPr>
                  <a:t>V</a:t>
                </a:r>
                <a:r>
                  <a:rPr lang="en-US" i="1" baseline="-25000" dirty="0">
                    <a:latin typeface="KaTeX_Math"/>
                  </a:rPr>
                  <a:t>TH</a:t>
                </a:r>
                <a:r>
                  <a:rPr lang="en-US" dirty="0">
                    <a:latin typeface="fkGroteskNeue"/>
                  </a:rPr>
                  <a:t>) is neither very small (weak inversion) nor very large (strong inversion). This is the region most practical analog designers target for balanced energy efficiency, speed, and robustness</a:t>
                </a:r>
                <a:r>
                  <a:rPr lang="en-US" dirty="0" smtClean="0">
                    <a:latin typeface="fkGroteskNeue"/>
                  </a:rPr>
                  <a:t>.</a:t>
                </a:r>
              </a:p>
              <a:p>
                <a:pPr algn="l"/>
                <a:endParaRPr lang="en-US" dirty="0">
                  <a:latin typeface="fkGroteskNeue"/>
                </a:endParaRPr>
              </a:p>
              <a:p>
                <a:pPr algn="l"/>
                <a:r>
                  <a:rPr lang="en-US" dirty="0">
                    <a:latin typeface="fkGroteskNeue"/>
                  </a:rPr>
                  <a:t>Key </a:t>
                </a:r>
                <a:r>
                  <a:rPr lang="en-US" dirty="0" smtClean="0">
                    <a:latin typeface="fkGroteskNeue"/>
                  </a:rPr>
                  <a:t>Features:</a:t>
                </a:r>
                <a:endParaRPr lang="en-US" dirty="0">
                  <a:latin typeface="fkGroteskNeue"/>
                </a:endParaRPr>
              </a:p>
              <a:p>
                <a:pPr marL="742950" lvl="1" indent="-285750" algn="l">
                  <a:buFont typeface="Wingdings" panose="05000000000000000000" pitchFamily="2" charset="2"/>
                  <a:buChar char="q"/>
                </a:pPr>
                <a:r>
                  <a:rPr lang="en-US" dirty="0">
                    <a:latin typeface="fkGroteskNeue"/>
                  </a:rPr>
                  <a:t>Decently high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Still good “</a:t>
                </a:r>
                <a:r>
                  <a:rPr lang="en-US" dirty="0" err="1">
                    <a:latin typeface="fkGroteskNeue"/>
                  </a:rPr>
                  <a:t>transconductance</a:t>
                </a:r>
                <a:r>
                  <a:rPr lang="en-US" dirty="0">
                    <a:latin typeface="fkGroteskNeue"/>
                  </a:rPr>
                  <a:t> per amp” (efficiency).</a:t>
                </a:r>
              </a:p>
              <a:p>
                <a:pPr lvl="2" algn="l"/>
                <a:r>
                  <a:rPr lang="en-US" b="1" dirty="0">
                    <a:solidFill>
                      <a:srgbClr val="00B050"/>
                    </a:solidFill>
                    <a:latin typeface="fkGroteskNeue"/>
                  </a:rPr>
                  <a:t>✓</a:t>
                </a:r>
                <a:r>
                  <a:rPr lang="en-US" dirty="0">
                    <a:latin typeface="fkGroteskNeue"/>
                  </a:rPr>
                  <a:t> Enables low-noise, low-power design.</a:t>
                </a:r>
              </a:p>
              <a:p>
                <a:pPr marL="742950" lvl="1" indent="-285750" algn="l">
                  <a:buFont typeface="Wingdings" panose="05000000000000000000" pitchFamily="2" charset="2"/>
                  <a:buChar char="q"/>
                </a:pPr>
                <a:r>
                  <a:rPr lang="en-US" dirty="0">
                    <a:latin typeface="fkGroteskNeue"/>
                  </a:rPr>
                  <a:t>Decently high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𝑑𝑠</m:t>
                            </m:r>
                          </m:sub>
                        </m:sSub>
                      </m:den>
                    </m:f>
                  </m:oMath>
                </a14:m>
                <a:r>
                  <a:rPr lang="en-US" dirty="0" smtClean="0">
                    <a:latin typeface="fkGroteskNeue"/>
                  </a:rPr>
                  <a:t>: </a:t>
                </a:r>
                <a:r>
                  <a:rPr lang="en-US" dirty="0">
                    <a:latin typeface="fkGroteskNeue"/>
                  </a:rPr>
                  <a:t>Good intrinsic gain (signal boost), supports good analog performance.</a:t>
                </a:r>
              </a:p>
              <a:p>
                <a:pPr lvl="2" algn="l"/>
                <a:r>
                  <a:rPr lang="en-US" b="1" dirty="0">
                    <a:solidFill>
                      <a:srgbClr val="00B050"/>
                    </a:solidFill>
                    <a:latin typeface="fkGroteskNeue"/>
                  </a:rPr>
                  <a:t>✓</a:t>
                </a:r>
                <a:r>
                  <a:rPr lang="en-US" dirty="0">
                    <a:latin typeface="fkGroteskNeue"/>
                  </a:rPr>
                  <a:t> Useful for achieving desired gain without excessive current.</a:t>
                </a:r>
              </a:p>
              <a:p>
                <a:pPr marL="742950" lvl="1" indent="-285750" algn="l">
                  <a:buFont typeface="Wingdings" panose="05000000000000000000" pitchFamily="2" charset="2"/>
                  <a:buChar char="q"/>
                </a:pPr>
                <a:r>
                  <a:rPr lang="en-US" dirty="0">
                    <a:latin typeface="fkGroteskNeue"/>
                  </a:rPr>
                  <a:t>However, no simple textbook model: Behavior is not fully captured by either subthreshold exponential law or strong inversion square law.</a:t>
                </a:r>
              </a:p>
              <a:p>
                <a:pPr lvl="2" algn="l"/>
                <a:r>
                  <a:rPr lang="en-US" b="1" dirty="0">
                    <a:solidFill>
                      <a:srgbClr val="FF0000"/>
                    </a:solidFill>
                    <a:latin typeface="fkGroteskNeue"/>
                  </a:rPr>
                  <a:t>✗</a:t>
                </a:r>
                <a:r>
                  <a:rPr lang="en-US" dirty="0">
                    <a:latin typeface="fkGroteskNeue"/>
                  </a:rPr>
                  <a:t> Requires lookup tables, measurements, or simulation for precise design.</a:t>
                </a:r>
              </a:p>
              <a:p>
                <a:r>
                  <a:rPr lang="en-US" dirty="0"/>
                  <a:t/>
                </a:r>
                <a:br>
                  <a:rPr lang="en-US" dirty="0"/>
                </a:br>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63271" cy="4348626"/>
              </a:xfrm>
              <a:blipFill>
                <a:blip r:embed="rId2"/>
                <a:stretch>
                  <a:fillRect l="-1487" t="-1683" r="-1429"/>
                </a:stretch>
              </a:blipFill>
            </p:spPr>
            <p:txBody>
              <a:bodyPr/>
              <a:lstStyle/>
              <a:p>
                <a:r>
                  <a:rPr lang="en-US">
                    <a:noFill/>
                  </a:rPr>
                  <a:t> </a:t>
                </a:r>
              </a:p>
            </p:txBody>
          </p:sp>
        </mc:Fallback>
      </mc:AlternateContent>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177142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b="1" dirty="0">
                <a:solidFill>
                  <a:srgbClr val="C00000"/>
                </a:solidFill>
                <a:latin typeface="fkGrotesk"/>
              </a:rPr>
              <a:t>Moderate Inversion in </a:t>
            </a:r>
            <a:r>
              <a:rPr lang="en-US" b="1" dirty="0" smtClean="0">
                <a:solidFill>
                  <a:srgbClr val="C00000"/>
                </a:solidFill>
                <a:latin typeface="fkGrotesk"/>
              </a:rPr>
              <a:t>MOSFETs deep Dive</a:t>
            </a:r>
            <a:endParaRPr lang="en-US" dirty="0"/>
          </a:p>
        </p:txBody>
      </p:sp>
      <p:sp>
        <p:nvSpPr>
          <p:cNvPr id="3" name="Text Placeholder 2"/>
          <p:cNvSpPr>
            <a:spLocks noGrp="1"/>
          </p:cNvSpPr>
          <p:nvPr>
            <p:ph type="body" idx="1"/>
          </p:nvPr>
        </p:nvSpPr>
        <p:spPr>
          <a:xfrm>
            <a:off x="844550" y="1327353"/>
            <a:ext cx="6607810" cy="861774"/>
          </a:xfrm>
        </p:spPr>
        <p:txBody>
          <a:bodyPr/>
          <a:lstStyle/>
          <a:p>
            <a:pPr marL="342900" indent="-342900" algn="just">
              <a:buFont typeface="Wingdings" panose="05000000000000000000" pitchFamily="2" charset="2"/>
              <a:buChar char="q"/>
            </a:pPr>
            <a:r>
              <a:rPr lang="en-US" sz="1400" dirty="0">
                <a:latin typeface="fkGroteskNeue"/>
              </a:rPr>
              <a:t>In moderate inversion (MI), the curve transitions from the exponential climb of subthreshold (WI) toward the quadratic shape of strong inversion (SI).</a:t>
            </a:r>
          </a:p>
          <a:p>
            <a:pPr marL="342900" indent="-342900" algn="just">
              <a:buFont typeface="Wingdings" panose="05000000000000000000" pitchFamily="2" charset="2"/>
              <a:buChar char="q"/>
            </a:pPr>
            <a:r>
              <a:rPr lang="en-US" sz="1400" i="1" dirty="0">
                <a:solidFill>
                  <a:srgbClr val="00B050"/>
                </a:solidFill>
                <a:latin typeface="fkGroteskNeue"/>
              </a:rPr>
              <a:t>Interpretation:</a:t>
            </a:r>
            <a:r>
              <a:rPr lang="en-US" sz="1400" dirty="0">
                <a:latin typeface="fkGroteskNeue"/>
              </a:rPr>
              <a:t> MI produces drain currents that are not “as thrifty” as WI, but much better than SI.</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8" name="Text Placeholder 2"/>
          <p:cNvSpPr txBox="1">
            <a:spLocks/>
          </p:cNvSpPr>
          <p:nvPr/>
        </p:nvSpPr>
        <p:spPr>
          <a:xfrm>
            <a:off x="710551" y="3079225"/>
            <a:ext cx="6689398" cy="1077218"/>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85750" indent="-285750" algn="just">
              <a:buFont typeface="Wingdings" panose="05000000000000000000" pitchFamily="2" charset="2"/>
              <a:buChar char="q"/>
            </a:pPr>
            <a:r>
              <a:rPr lang="en-US" sz="1400" dirty="0">
                <a:latin typeface="fkGroteskNeue"/>
              </a:rPr>
              <a:t>Left: </a:t>
            </a:r>
            <a:r>
              <a:rPr lang="en-US" sz="1400" i="1" dirty="0">
                <a:solidFill>
                  <a:srgbClr val="00B050"/>
                </a:solidFill>
                <a:latin typeface="fkGroteskNeue"/>
              </a:rPr>
              <a:t>Weak Inversion (WI)</a:t>
            </a:r>
            <a:r>
              <a:rPr lang="en-US" sz="1400" dirty="0">
                <a:latin typeface="fkGroteskNeue"/>
              </a:rPr>
              <a:t> — Saturated, high value </a:t>
            </a:r>
            <a:r>
              <a:rPr lang="en-US" sz="1400" dirty="0" smtClean="0">
                <a:latin typeface="fkGroteskNeue"/>
              </a:rPr>
              <a:t>(</a:t>
            </a:r>
            <a:r>
              <a:rPr lang="en-US" sz="1400" dirty="0" smtClean="0">
                <a:latin typeface="KaTeX_Main"/>
              </a:rPr>
              <a:t>&gt;20S/A</a:t>
            </a:r>
            <a:r>
              <a:rPr lang="en-US" sz="1400" dirty="0">
                <a:latin typeface="fkGroteskNeue"/>
              </a:rPr>
              <a:t>), set by physics.</a:t>
            </a:r>
          </a:p>
          <a:p>
            <a:pPr marL="285750" indent="-285750" algn="just">
              <a:buFont typeface="Wingdings" panose="05000000000000000000" pitchFamily="2" charset="2"/>
              <a:buChar char="q"/>
            </a:pPr>
            <a:r>
              <a:rPr lang="en-US" sz="1400" dirty="0">
                <a:latin typeface="fkGroteskNeue"/>
              </a:rPr>
              <a:t>Middle: </a:t>
            </a:r>
            <a:r>
              <a:rPr lang="en-US" sz="1400" i="1" dirty="0">
                <a:solidFill>
                  <a:srgbClr val="00B050"/>
                </a:solidFill>
                <a:latin typeface="fkGroteskNeue"/>
              </a:rPr>
              <a:t>Moderate Inversion (MI)</a:t>
            </a:r>
            <a:r>
              <a:rPr lang="en-US" sz="1400" dirty="0">
                <a:latin typeface="fkGroteskNeue"/>
              </a:rPr>
              <a:t> — Drops smoothly, but still elevated </a:t>
            </a:r>
            <a:r>
              <a:rPr lang="en-US" sz="1400" dirty="0" smtClean="0">
                <a:latin typeface="fkGroteskNeue"/>
              </a:rPr>
              <a:t>(</a:t>
            </a:r>
            <a:r>
              <a:rPr lang="en-US" sz="1400" dirty="0" smtClean="0">
                <a:latin typeface="KaTeX_Main"/>
              </a:rPr>
              <a:t>10</a:t>
            </a:r>
            <a:r>
              <a:rPr lang="en-US" sz="1400" dirty="0">
                <a:latin typeface="KaTeX_Main"/>
              </a:rPr>
              <a:t>−20S/A</a:t>
            </a:r>
            <a:r>
              <a:rPr lang="en-US" sz="1400" dirty="0">
                <a:latin typeface="fkGroteskNeue"/>
              </a:rPr>
              <a:t>).</a:t>
            </a:r>
          </a:p>
          <a:p>
            <a:pPr marL="285750" indent="-285750" algn="just">
              <a:buFont typeface="Wingdings" panose="05000000000000000000" pitchFamily="2" charset="2"/>
              <a:buChar char="q"/>
            </a:pPr>
            <a:r>
              <a:rPr lang="en-US" sz="1400" dirty="0">
                <a:latin typeface="fkGroteskNeue"/>
              </a:rPr>
              <a:t>Right: </a:t>
            </a:r>
            <a:r>
              <a:rPr lang="en-US" sz="1400" i="1" dirty="0">
                <a:solidFill>
                  <a:srgbClr val="00B050"/>
                </a:solidFill>
                <a:latin typeface="fkGroteskNeue"/>
              </a:rPr>
              <a:t>Strong Inversion (SI)</a:t>
            </a:r>
            <a:r>
              <a:rPr lang="en-US" sz="1400" dirty="0">
                <a:latin typeface="fkGroteskNeue"/>
              </a:rPr>
              <a:t> — Falls to </a:t>
            </a:r>
            <a:r>
              <a:rPr lang="en-US" sz="1400" dirty="0" smtClean="0">
                <a:latin typeface="KaTeX_Main"/>
              </a:rPr>
              <a:t>&lt;10S/A</a:t>
            </a:r>
            <a:r>
              <a:rPr lang="en-US" sz="1400" dirty="0">
                <a:latin typeface="fkGroteskNeue"/>
              </a:rPr>
              <a:t>, typical classic square law regime.</a:t>
            </a:r>
          </a:p>
          <a:p>
            <a:pPr marL="285750" indent="-285750" algn="just">
              <a:buFont typeface="Wingdings" panose="05000000000000000000" pitchFamily="2" charset="2"/>
              <a:buChar char="q"/>
            </a:pPr>
            <a:r>
              <a:rPr lang="en-US" sz="1400" i="1" dirty="0">
                <a:solidFill>
                  <a:srgbClr val="00B050"/>
                </a:solidFill>
                <a:latin typeface="fkGroteskNeue"/>
              </a:rPr>
              <a:t>Key Insight:</a:t>
            </a:r>
            <a:r>
              <a:rPr lang="en-US" sz="1400" dirty="0">
                <a:latin typeface="fkGroteskNeue"/>
              </a:rPr>
              <a:t> In MI, both long- and short-channel MOSFETs are reasonably close to textbook square law, but not exact — calibration/LUT is required.</a:t>
            </a:r>
          </a:p>
        </p:txBody>
      </p:sp>
      <p:pic>
        <p:nvPicPr>
          <p:cNvPr id="11" name="Picture 10"/>
          <p:cNvPicPr>
            <a:picLocks noChangeAspect="1"/>
          </p:cNvPicPr>
          <p:nvPr/>
        </p:nvPicPr>
        <p:blipFill rotWithShape="1">
          <a:blip r:embed="rId2"/>
          <a:srcRect t="8115"/>
          <a:stretch/>
        </p:blipFill>
        <p:spPr>
          <a:xfrm>
            <a:off x="8644427" y="1253397"/>
            <a:ext cx="2622858" cy="1052944"/>
          </a:xfrm>
          <a:prstGeom prst="rect">
            <a:avLst/>
          </a:prstGeom>
        </p:spPr>
      </p:pic>
      <p:pic>
        <p:nvPicPr>
          <p:cNvPr id="12" name="Picture 11"/>
          <p:cNvPicPr>
            <a:picLocks noChangeAspect="1"/>
          </p:cNvPicPr>
          <p:nvPr/>
        </p:nvPicPr>
        <p:blipFill>
          <a:blip r:embed="rId3"/>
          <a:stretch>
            <a:fillRect/>
          </a:stretch>
        </p:blipFill>
        <p:spPr>
          <a:xfrm>
            <a:off x="7538720" y="3064851"/>
            <a:ext cx="4653280" cy="1029380"/>
          </a:xfrm>
          <a:prstGeom prst="rect">
            <a:avLst/>
          </a:prstGeom>
        </p:spPr>
      </p:pic>
      <p:pic>
        <p:nvPicPr>
          <p:cNvPr id="13" name="Picture 12"/>
          <p:cNvPicPr>
            <a:picLocks noChangeAspect="1"/>
          </p:cNvPicPr>
          <p:nvPr/>
        </p:nvPicPr>
        <p:blipFill>
          <a:blip r:embed="rId4"/>
          <a:stretch>
            <a:fillRect/>
          </a:stretch>
        </p:blipFill>
        <p:spPr>
          <a:xfrm>
            <a:off x="7777480" y="4809002"/>
            <a:ext cx="4346179" cy="1237536"/>
          </a:xfrm>
          <a:prstGeom prst="rect">
            <a:avLst/>
          </a:prstGeom>
        </p:spPr>
      </p:pic>
      <mc:AlternateContent xmlns:mc="http://schemas.openxmlformats.org/markup-compatibility/2006" xmlns:a14="http://schemas.microsoft.com/office/drawing/2010/main">
        <mc:Choice Requires="a14">
          <p:sp>
            <p:nvSpPr>
              <p:cNvPr id="14" name="Text Placeholder 2"/>
              <p:cNvSpPr txBox="1">
                <a:spLocks/>
              </p:cNvSpPr>
              <p:nvPr/>
            </p:nvSpPr>
            <p:spPr>
              <a:xfrm>
                <a:off x="793318" y="4801965"/>
                <a:ext cx="6709842" cy="1277401"/>
              </a:xfrm>
              <a:prstGeom prst="rect">
                <a:avLst/>
              </a:prstGeom>
            </p:spPr>
            <p:txBody>
              <a:bodyPr wrap="square" lIns="0" tIns="0" rIns="0" bIns="0">
                <a:spAutoFit/>
              </a:bodyPr>
              <a:lstStyle>
                <a:lvl1pPr marL="0">
                  <a:defRPr sz="2000" b="0" i="0">
                    <a:solidFill>
                      <a:schemeClr val="tx1"/>
                    </a:solidFill>
                    <a:latin typeface="Verdana"/>
                    <a:ea typeface="+mn-ea"/>
                    <a:cs typeface="Verdan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285750" indent="-285750">
                  <a:buFont typeface="Wingdings" panose="05000000000000000000" pitchFamily="2" charset="2"/>
                  <a:buChar char="q"/>
                </a:pPr>
                <a:r>
                  <a:rPr lang="en-US" sz="1400" dirty="0">
                    <a:latin typeface="fkGroteskNeue"/>
                  </a:rPr>
                  <a:t>In MI, </a:t>
                </a:r>
                <a14:m>
                  <m:oMath xmlns:m="http://schemas.openxmlformats.org/officeDocument/2006/math">
                    <m:f>
                      <m:fPr>
                        <m:ctrlPr>
                          <a:rPr lang="en-US" sz="1400" i="1">
                            <a:latin typeface="Cambria Math" panose="02040503050406030204" pitchFamily="18" charset="0"/>
                          </a:rPr>
                        </m:ctrlPr>
                      </m:fPr>
                      <m:num>
                        <m:sSub>
                          <m:sSubPr>
                            <m:ctrlPr>
                              <a:rPr lang="en-US" sz="1400" i="1">
                                <a:latin typeface="Cambria Math" panose="02040503050406030204" pitchFamily="18" charset="0"/>
                              </a:rPr>
                            </m:ctrlPr>
                          </m:sSubPr>
                          <m:e>
                            <m:r>
                              <a:rPr lang="en-US" sz="1400" i="1">
                                <a:latin typeface="Cambria Math" panose="02040503050406030204" pitchFamily="18" charset="0"/>
                              </a:rPr>
                              <m:t>𝑔</m:t>
                            </m:r>
                          </m:e>
                          <m:sub>
                            <m:r>
                              <a:rPr lang="en-US" sz="1400" i="1">
                                <a:latin typeface="Cambria Math" panose="02040503050406030204" pitchFamily="18" charset="0"/>
                              </a:rPr>
                              <m:t>𝑚</m:t>
                            </m:r>
                          </m:sub>
                        </m:sSub>
                      </m:num>
                      <m:den>
                        <m:sSub>
                          <m:sSubPr>
                            <m:ctrlPr>
                              <a:rPr lang="en-US" sz="1400" i="1">
                                <a:latin typeface="Cambria Math" panose="02040503050406030204" pitchFamily="18" charset="0"/>
                              </a:rPr>
                            </m:ctrlPr>
                          </m:sSubPr>
                          <m:e>
                            <m:r>
                              <a:rPr lang="en-US" sz="1400" i="1">
                                <a:latin typeface="Cambria Math" panose="02040503050406030204" pitchFamily="18" charset="0"/>
                              </a:rPr>
                              <m:t>𝑔</m:t>
                            </m:r>
                          </m:e>
                          <m:sub>
                            <m:r>
                              <a:rPr lang="en-US" sz="1400" i="1">
                                <a:latin typeface="Cambria Math" panose="02040503050406030204" pitchFamily="18" charset="0"/>
                              </a:rPr>
                              <m:t>𝑑𝑠</m:t>
                            </m:r>
                          </m:sub>
                        </m:sSub>
                      </m:den>
                    </m:f>
                  </m:oMath>
                </a14:m>
                <a:r>
                  <a:rPr lang="en-US" sz="1400" dirty="0">
                    <a:latin typeface="fkGroteskNeue"/>
                  </a:rPr>
                  <a:t> is well above subthreshold and often much better than SI.</a:t>
                </a:r>
              </a:p>
              <a:p>
                <a:pPr marL="285750" indent="-285750">
                  <a:buFont typeface="Wingdings" panose="05000000000000000000" pitchFamily="2" charset="2"/>
                  <a:buChar char="q"/>
                </a:pPr>
                <a:r>
                  <a:rPr lang="en-US" sz="1400" dirty="0">
                    <a:latin typeface="fkGroteskNeue"/>
                  </a:rPr>
                  <a:t>BJT and subthreshold models (“horizontal lines”) do not apply here; the real device transitions between fundamental limits.</a:t>
                </a:r>
              </a:p>
              <a:p>
                <a:pPr marL="285750" indent="-285750">
                  <a:buFont typeface="Wingdings" panose="05000000000000000000" pitchFamily="2" charset="2"/>
                  <a:buChar char="q"/>
                </a:pPr>
                <a:r>
                  <a:rPr lang="en-US" sz="1400" i="1" dirty="0" smtClean="0">
                    <a:solidFill>
                      <a:srgbClr val="00B050"/>
                    </a:solidFill>
                    <a:latin typeface="fkGroteskNeue"/>
                  </a:rPr>
                  <a:t>In analog circuits, higher </a:t>
                </a:r>
                <a14:m>
                  <m:oMath xmlns:m="http://schemas.openxmlformats.org/officeDocument/2006/math">
                    <m:f>
                      <m:fPr>
                        <m:ctrlPr>
                          <a:rPr lang="en-US" sz="1400" i="1">
                            <a:solidFill>
                              <a:srgbClr val="00B050"/>
                            </a:solidFill>
                            <a:latin typeface="Cambria Math" panose="02040503050406030204" pitchFamily="18" charset="0"/>
                          </a:rPr>
                        </m:ctrlPr>
                      </m:fPr>
                      <m:num>
                        <m:sSub>
                          <m:sSubPr>
                            <m:ctrlPr>
                              <a:rPr lang="en-US" sz="1400" i="1">
                                <a:solidFill>
                                  <a:srgbClr val="00B050"/>
                                </a:solidFill>
                                <a:latin typeface="Cambria Math" panose="02040503050406030204" pitchFamily="18" charset="0"/>
                              </a:rPr>
                            </m:ctrlPr>
                          </m:sSubPr>
                          <m:e>
                            <m:r>
                              <a:rPr lang="en-US" sz="1400" i="1">
                                <a:solidFill>
                                  <a:srgbClr val="00B050"/>
                                </a:solidFill>
                                <a:latin typeface="Cambria Math" panose="02040503050406030204" pitchFamily="18" charset="0"/>
                              </a:rPr>
                              <m:t>𝑔</m:t>
                            </m:r>
                          </m:e>
                          <m:sub>
                            <m:r>
                              <a:rPr lang="en-US" sz="1400" i="1">
                                <a:solidFill>
                                  <a:srgbClr val="00B050"/>
                                </a:solidFill>
                                <a:latin typeface="Cambria Math" panose="02040503050406030204" pitchFamily="18" charset="0"/>
                              </a:rPr>
                              <m:t>𝑚</m:t>
                            </m:r>
                          </m:sub>
                        </m:sSub>
                      </m:num>
                      <m:den>
                        <m:sSub>
                          <m:sSubPr>
                            <m:ctrlPr>
                              <a:rPr lang="en-US" sz="1400" i="1">
                                <a:solidFill>
                                  <a:srgbClr val="00B050"/>
                                </a:solidFill>
                                <a:latin typeface="Cambria Math" panose="02040503050406030204" pitchFamily="18" charset="0"/>
                              </a:rPr>
                            </m:ctrlPr>
                          </m:sSubPr>
                          <m:e>
                            <m:r>
                              <a:rPr lang="en-US" sz="1400" i="1">
                                <a:solidFill>
                                  <a:srgbClr val="00B050"/>
                                </a:solidFill>
                                <a:latin typeface="Cambria Math" panose="02040503050406030204" pitchFamily="18" charset="0"/>
                              </a:rPr>
                              <m:t>𝑔</m:t>
                            </m:r>
                          </m:e>
                          <m:sub>
                            <m:r>
                              <a:rPr lang="en-US" sz="1400" i="1">
                                <a:solidFill>
                                  <a:srgbClr val="00B050"/>
                                </a:solidFill>
                                <a:latin typeface="Cambria Math" panose="02040503050406030204" pitchFamily="18" charset="0"/>
                              </a:rPr>
                              <m:t>𝑑𝑠</m:t>
                            </m:r>
                          </m:sub>
                        </m:sSub>
                      </m:den>
                    </m:f>
                  </m:oMath>
                </a14:m>
                <a:r>
                  <a:rPr lang="en-US" sz="1400" i="1" dirty="0">
                    <a:solidFill>
                      <a:srgbClr val="00B050"/>
                    </a:solidFill>
                    <a:latin typeface="fkGroteskNeue"/>
                  </a:rPr>
                  <a:t> = higher open-loop gain (important for error amplifiers, OTAs, analog filters).</a:t>
                </a:r>
              </a:p>
            </p:txBody>
          </p:sp>
        </mc:Choice>
        <mc:Fallback xmlns="">
          <p:sp>
            <p:nvSpPr>
              <p:cNvPr id="14" name="Text Placeholder 2"/>
              <p:cNvSpPr txBox="1">
                <a:spLocks noRot="1" noChangeAspect="1" noMove="1" noResize="1" noEditPoints="1" noAdjustHandles="1" noChangeArrowheads="1" noChangeShapeType="1" noTextEdit="1"/>
              </p:cNvSpPr>
              <p:nvPr/>
            </p:nvSpPr>
            <p:spPr>
              <a:xfrm>
                <a:off x="793318" y="4801965"/>
                <a:ext cx="6709842" cy="1277401"/>
              </a:xfrm>
              <a:prstGeom prst="rect">
                <a:avLst/>
              </a:prstGeom>
              <a:blipFill>
                <a:blip r:embed="rId6"/>
                <a:stretch>
                  <a:fillRect l="-1453" t="-2871" b="-8134"/>
                </a:stretch>
              </a:blipFill>
            </p:spPr>
            <p:txBody>
              <a:bodyPr/>
              <a:lstStyle/>
              <a:p>
                <a:r>
                  <a:rPr lang="en-US">
                    <a:noFill/>
                  </a:rPr>
                  <a:t> </a:t>
                </a:r>
              </a:p>
            </p:txBody>
          </p:sp>
        </mc:Fallback>
      </mc:AlternateContent>
      <p:sp>
        <p:nvSpPr>
          <p:cNvPr id="15" name="Rectangle 14"/>
          <p:cNvSpPr/>
          <p:nvPr/>
        </p:nvSpPr>
        <p:spPr>
          <a:xfrm>
            <a:off x="8470468" y="1235555"/>
            <a:ext cx="2961764" cy="103037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687657" y="1254141"/>
            <a:ext cx="6886251" cy="102070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652718" y="3034618"/>
            <a:ext cx="6814140" cy="120730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520382" y="3039821"/>
            <a:ext cx="4621810" cy="1207305"/>
          </a:xfrm>
          <a:prstGeom prst="rect">
            <a:avLst/>
          </a:prstGeom>
          <a:no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7672784" y="4755623"/>
            <a:ext cx="4397296" cy="131064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683942" y="4800971"/>
            <a:ext cx="6394851" cy="1310640"/>
          </a:xfrm>
          <a:prstGeom prst="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28193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Practical Design </a:t>
            </a:r>
            <a:r>
              <a:rPr lang="en-US" dirty="0" smtClean="0">
                <a:latin typeface="fkGrotesk"/>
              </a:rPr>
              <a:t>Takeaways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66730" cy="5235536"/>
              </a:xfrm>
            </p:spPr>
            <p:txBody>
              <a:bodyPr/>
              <a:lstStyle/>
              <a:p>
                <a:pPr marL="342900" indent="-342900" algn="just">
                  <a:buFont typeface="Wingdings" panose="05000000000000000000" pitchFamily="2" charset="2"/>
                  <a:buChar char="q"/>
                </a:pPr>
                <a:r>
                  <a:rPr lang="en-US" b="1" dirty="0" smtClean="0">
                    <a:solidFill>
                      <a:srgbClr val="C00000"/>
                    </a:solidFill>
                    <a:latin typeface="fkGroteskNeue"/>
                  </a:rPr>
                  <a:t>Why </a:t>
                </a:r>
                <a:r>
                  <a:rPr lang="en-US" b="1" dirty="0">
                    <a:solidFill>
                      <a:srgbClr val="C00000"/>
                    </a:solidFill>
                    <a:latin typeface="fkGroteskNeue"/>
                  </a:rPr>
                  <a:t>use Moderate Inversion?</a:t>
                </a:r>
              </a:p>
              <a:p>
                <a:pPr marL="742950" lvl="1" indent="-285750" algn="just">
                  <a:buFont typeface="Arial" panose="020B0604020202020204" pitchFamily="34" charset="0"/>
                  <a:buChar char="•"/>
                </a:pPr>
                <a:r>
                  <a:rPr lang="en-US" dirty="0">
                    <a:latin typeface="fkGroteskNeue"/>
                  </a:rPr>
                  <a:t>Most analog building blocks (OPAMPs, OTAs, bias circuits) are optimized in moderate inversion. This gives a sweet spot for:</a:t>
                </a:r>
              </a:p>
              <a:p>
                <a:pPr marL="1143000" lvl="2" indent="-228600" algn="just">
                  <a:buFont typeface="Arial" panose="020B0604020202020204" pitchFamily="34" charset="0"/>
                  <a:buChar char="•"/>
                </a:pPr>
                <a:r>
                  <a:rPr lang="en-US" dirty="0">
                    <a:latin typeface="fkGroteskNeue"/>
                  </a:rPr>
                  <a:t>Power versus noise tradeoff.</a:t>
                </a:r>
              </a:p>
              <a:p>
                <a:pPr marL="1143000" lvl="2" indent="-228600" algn="just">
                  <a:buFont typeface="Arial" panose="020B0604020202020204" pitchFamily="34" charset="0"/>
                  <a:buChar char="•"/>
                </a:pPr>
                <a:r>
                  <a:rPr lang="en-US" dirty="0">
                    <a:latin typeface="fkGroteskNeue"/>
                  </a:rPr>
                  <a:t>High bandwidth (for speed).</a:t>
                </a:r>
              </a:p>
              <a:p>
                <a:pPr marL="1143000" lvl="2" indent="-228600" algn="just">
                  <a:buFont typeface="Arial" panose="020B0604020202020204" pitchFamily="34" charset="0"/>
                  <a:buChar char="•"/>
                </a:pPr>
                <a:r>
                  <a:rPr lang="en-US" dirty="0">
                    <a:latin typeface="fkGroteskNeue"/>
                  </a:rPr>
                  <a:t>Adequate matching for most specs.</a:t>
                </a:r>
              </a:p>
              <a:p>
                <a:pPr marL="742950" lvl="1" indent="-285750" algn="just">
                  <a:buFont typeface="Arial" panose="020B0604020202020204" pitchFamily="34" charset="0"/>
                  <a:buChar char="•"/>
                </a:pPr>
                <a:r>
                  <a:rPr lang="en-US" dirty="0">
                    <a:latin typeface="fkGroteskNeue"/>
                  </a:rPr>
                  <a:t>Moderate inversion provides flexibility and reliability that is hard to get in either extreme regime.</a:t>
                </a:r>
              </a:p>
              <a:p>
                <a:pPr marL="342900" indent="-342900" algn="just">
                  <a:buFont typeface="Wingdings" panose="05000000000000000000" pitchFamily="2" charset="2"/>
                  <a:buChar char="q"/>
                </a:pPr>
                <a:r>
                  <a:rPr lang="en-US" b="1" dirty="0">
                    <a:solidFill>
                      <a:srgbClr val="C00000"/>
                    </a:solidFill>
                    <a:latin typeface="fkGroteskNeue"/>
                  </a:rPr>
                  <a:t>How to Design in MI?</a:t>
                </a:r>
              </a:p>
              <a:p>
                <a:pPr marL="742950" lvl="1" indent="-285750" algn="just">
                  <a:buFont typeface="Arial" panose="020B0604020202020204" pitchFamily="34" charset="0"/>
                  <a:buChar char="•"/>
                </a:pPr>
                <a:r>
                  <a:rPr lang="en-US" dirty="0">
                    <a:latin typeface="fkGroteskNeue"/>
                  </a:rPr>
                  <a:t>Since there’s no simple closed-form model:</a:t>
                </a:r>
              </a:p>
              <a:p>
                <a:pPr marL="1143000" lvl="2" indent="-228600" algn="just">
                  <a:buFont typeface="Arial" panose="020B0604020202020204" pitchFamily="34" charset="0"/>
                  <a:buChar char="•"/>
                </a:pPr>
                <a:r>
                  <a:rPr lang="en-US" dirty="0">
                    <a:latin typeface="fkGroteskNeue"/>
                  </a:rPr>
                  <a:t>Use </a:t>
                </a:r>
                <a14:m>
                  <m:oMath xmlns:m="http://schemas.openxmlformats.org/officeDocument/2006/math">
                    <m:f>
                      <m:fPr>
                        <m:ctrlPr>
                          <a:rPr lang="en-US" b="1" i="1" smtClean="0">
                            <a:solidFill>
                              <a:srgbClr val="00B050"/>
                            </a:solidFill>
                            <a:latin typeface="Cambria Math" panose="02040503050406030204" pitchFamily="18" charset="0"/>
                          </a:rPr>
                        </m:ctrlPr>
                      </m:fPr>
                      <m:num>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𝒈</m:t>
                            </m:r>
                          </m:e>
                          <m:sub>
                            <m:r>
                              <a:rPr lang="en-US" b="1" i="1">
                                <a:solidFill>
                                  <a:srgbClr val="00B050"/>
                                </a:solidFill>
                                <a:latin typeface="Cambria Math" panose="02040503050406030204" pitchFamily="18" charset="0"/>
                              </a:rPr>
                              <m:t>𝒎</m:t>
                            </m:r>
                          </m:sub>
                        </m:sSub>
                      </m:num>
                      <m:den>
                        <m:sSub>
                          <m:sSubPr>
                            <m:ctrlPr>
                              <a:rPr lang="en-US" b="1" i="1">
                                <a:solidFill>
                                  <a:srgbClr val="00B050"/>
                                </a:solidFill>
                                <a:latin typeface="Cambria Math" panose="02040503050406030204" pitchFamily="18" charset="0"/>
                              </a:rPr>
                            </m:ctrlPr>
                          </m:sSubPr>
                          <m:e>
                            <m:r>
                              <a:rPr lang="en-US" b="1" i="1">
                                <a:solidFill>
                                  <a:srgbClr val="00B050"/>
                                </a:solidFill>
                                <a:latin typeface="Cambria Math" panose="02040503050406030204" pitchFamily="18" charset="0"/>
                              </a:rPr>
                              <m:t>𝑰</m:t>
                            </m:r>
                          </m:e>
                          <m:sub>
                            <m:r>
                              <a:rPr lang="en-US" b="1" i="1">
                                <a:solidFill>
                                  <a:srgbClr val="00B050"/>
                                </a:solidFill>
                                <a:latin typeface="Cambria Math" panose="02040503050406030204" pitchFamily="18" charset="0"/>
                              </a:rPr>
                              <m:t>𝑫</m:t>
                            </m:r>
                          </m:sub>
                        </m:sSub>
                      </m:den>
                    </m:f>
                  </m:oMath>
                </a14:m>
                <a:r>
                  <a:rPr lang="en-US" b="1" dirty="0">
                    <a:solidFill>
                      <a:srgbClr val="00B050"/>
                    </a:solidFill>
                    <a:latin typeface="fkGroteskNeue"/>
                  </a:rPr>
                  <a:t> lookup tables (LUTs)</a:t>
                </a:r>
                <a:r>
                  <a:rPr lang="en-US" dirty="0">
                    <a:latin typeface="fkGroteskNeue"/>
                  </a:rPr>
                  <a:t> generated from simulation/measurement for the specific process node.</a:t>
                </a:r>
              </a:p>
              <a:p>
                <a:pPr marL="1143000" lvl="2" indent="-228600" algn="just">
                  <a:buFont typeface="Arial" panose="020B0604020202020204" pitchFamily="34" charset="0"/>
                  <a:buChar char="•"/>
                </a:pPr>
                <a:r>
                  <a:rPr lang="en-US" dirty="0">
                    <a:latin typeface="fkGroteskNeue"/>
                  </a:rPr>
                  <a:t>Plug MI values directly into sizing equations (e.g., current mirrors, input pairs, gain stages).</a:t>
                </a:r>
              </a:p>
              <a:p>
                <a:pPr marL="1143000" lvl="2" indent="-228600" algn="just">
                  <a:buFont typeface="Arial" panose="020B0604020202020204" pitchFamily="34" charset="0"/>
                  <a:buChar char="•"/>
                </a:pPr>
                <a:r>
                  <a:rPr lang="en-US" dirty="0">
                    <a:latin typeface="fkGroteskNeue"/>
                  </a:rPr>
                  <a:t>Continuously verify with layout-aware and corner-aware simulation.</a:t>
                </a:r>
              </a:p>
              <a:p>
                <a:pPr marL="742950" lvl="1" indent="-285750" algn="just">
                  <a:buFont typeface="Arial" panose="020B0604020202020204" pitchFamily="34" charset="0"/>
                  <a:buChar char="•"/>
                </a:pPr>
                <a:r>
                  <a:rPr lang="en-US" dirty="0">
                    <a:latin typeface="fkGroteskNeue"/>
                  </a:rPr>
                  <a:t>Remember: Modern, short-channel nodes require LUT-based design for accuracy.</a:t>
                </a:r>
              </a:p>
              <a:p>
                <a:pPr marL="342900" indent="-342900" algn="just">
                  <a:buFont typeface="Wingdings" panose="05000000000000000000" pitchFamily="2" charset="2"/>
                  <a:buChar char="q"/>
                </a:pPr>
                <a:r>
                  <a:rPr lang="en-US" b="1" dirty="0">
                    <a:solidFill>
                      <a:srgbClr val="C00000"/>
                    </a:solidFill>
                    <a:latin typeface="fkGroteskNeue"/>
                  </a:rPr>
                  <a:t>Bottom Line:</a:t>
                </a:r>
              </a:p>
              <a:p>
                <a:pPr marL="742950" lvl="1" indent="-285750" algn="just">
                  <a:buFont typeface="Arial" panose="020B0604020202020204" pitchFamily="34" charset="0"/>
                  <a:buChar char="•"/>
                </a:pPr>
                <a:r>
                  <a:rPr lang="en-US" dirty="0">
                    <a:latin typeface="fkGroteskNeue"/>
                  </a:rPr>
                  <a:t>MI is the "engineer's region"—not as theoretically “clean” as WI or SI, but the most practical, tunable, and robust for most analog/RF IC needs.</a:t>
                </a: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66730" cy="5235536"/>
              </a:xfrm>
              <a:blipFill>
                <a:blip r:embed="rId2"/>
                <a:stretch>
                  <a:fillRect l="-1372" t="-1397" r="-1372"/>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1130" y="6622231"/>
            <a:ext cx="1361949" cy="23576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5202437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19150" y="193720"/>
                <a:ext cx="10593196" cy="762196"/>
              </a:xfrm>
            </p:spPr>
            <p:txBody>
              <a:bodyPr/>
              <a:lstStyle/>
              <a:p>
                <a:r>
                  <a:rPr lang="en-US" dirty="0">
                    <a:latin typeface="fkGroteskNeue"/>
                  </a:rPr>
                  <a:t>Table of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latin typeface="fkGroteskNeue"/>
                  </a:rPr>
                  <a:t> Regimes:</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19150" y="193720"/>
                <a:ext cx="10593196" cy="762196"/>
              </a:xfrm>
              <a:blipFill>
                <a:blip r:embed="rId2"/>
                <a:stretch>
                  <a:fillRect l="-2474" t="-10400" b="-9600"/>
                </a:stretch>
              </a:blipFill>
            </p:spPr>
            <p:txBody>
              <a:bodyPr/>
              <a:lstStyle/>
              <a:p>
                <a:r>
                  <a:rPr lang="en-US">
                    <a:noFill/>
                  </a:rPr>
                  <a:t> </a:t>
                </a:r>
              </a:p>
            </p:txBody>
          </p:sp>
        </mc:Fallback>
      </mc:AlternateContent>
      <p:sp>
        <p:nvSpPr>
          <p:cNvPr id="3" name="Text Placeholder 2"/>
          <p:cNvSpPr>
            <a:spLocks noGrp="1"/>
          </p:cNvSpPr>
          <p:nvPr>
            <p:ph type="body" idx="1"/>
          </p:nvPr>
        </p:nvSpPr>
        <p:spPr>
          <a:xfrm>
            <a:off x="580390" y="3633673"/>
            <a:ext cx="11479530" cy="1538883"/>
          </a:xfrm>
        </p:spPr>
        <p:txBody>
          <a:bodyPr/>
          <a:lstStyle/>
          <a:p>
            <a:pPr algn="just"/>
            <a:r>
              <a:rPr lang="en-US" dirty="0">
                <a:latin typeface="fkGroteskNeue"/>
              </a:rPr>
              <a:t>Moderate inversion blends efficiency, noise, speed, and precision. Though it lacks a simple closed-form MOSFET model, it represents the heart of modern analog design—practically optimized, empirically guided, and fundamental for sizing in gm/ID-driven methodologies. Your figure precisely illustrates this regime’s importance and why analog designers must embrace lookup-driven, simulation-backed design in MI for state-of-the-art circuits.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48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8" name="Table 7"/>
          <p:cNvGraphicFramePr>
            <a:graphicFrameLocks noGrp="1"/>
          </p:cNvGraphicFramePr>
          <p:nvPr>
            <p:extLst>
              <p:ext uri="{D42A27DB-BD31-4B8C-83A1-F6EECF244321}">
                <p14:modId xmlns:p14="http://schemas.microsoft.com/office/powerpoint/2010/main" val="2937858634"/>
              </p:ext>
            </p:extLst>
          </p:nvPr>
        </p:nvGraphicFramePr>
        <p:xfrm>
          <a:off x="904239" y="1316090"/>
          <a:ext cx="10617200" cy="1558248"/>
        </p:xfrm>
        <a:graphic>
          <a:graphicData uri="http://schemas.openxmlformats.org/drawingml/2006/table">
            <a:tbl>
              <a:tblPr/>
              <a:tblGrid>
                <a:gridCol w="2654300">
                  <a:extLst>
                    <a:ext uri="{9D8B030D-6E8A-4147-A177-3AD203B41FA5}">
                      <a16:colId xmlns:a16="http://schemas.microsoft.com/office/drawing/2014/main" val="2453513097"/>
                    </a:ext>
                  </a:extLst>
                </a:gridCol>
                <a:gridCol w="2654300">
                  <a:extLst>
                    <a:ext uri="{9D8B030D-6E8A-4147-A177-3AD203B41FA5}">
                      <a16:colId xmlns:a16="http://schemas.microsoft.com/office/drawing/2014/main" val="3408502681"/>
                    </a:ext>
                  </a:extLst>
                </a:gridCol>
                <a:gridCol w="2654300">
                  <a:extLst>
                    <a:ext uri="{9D8B030D-6E8A-4147-A177-3AD203B41FA5}">
                      <a16:colId xmlns:a16="http://schemas.microsoft.com/office/drawing/2014/main" val="693059592"/>
                    </a:ext>
                  </a:extLst>
                </a:gridCol>
                <a:gridCol w="2654300">
                  <a:extLst>
                    <a:ext uri="{9D8B030D-6E8A-4147-A177-3AD203B41FA5}">
                      <a16:colId xmlns:a16="http://schemas.microsoft.com/office/drawing/2014/main" val="924567673"/>
                    </a:ext>
                  </a:extLst>
                </a:gridCol>
              </a:tblGrid>
              <a:tr h="319876">
                <a:tc>
                  <a:txBody>
                    <a:bodyPr/>
                    <a:lstStyle/>
                    <a:p>
                      <a:pPr algn="ctr"/>
                      <a:r>
                        <a:rPr lang="en-US" sz="1800" b="1">
                          <a:effectLst/>
                        </a:rPr>
                        <a:t>Region</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gm/ID</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Model Used</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ctr"/>
                      <a:r>
                        <a:rPr lang="en-US" sz="1800" b="1">
                          <a:effectLst/>
                        </a:rPr>
                        <a:t>Best Application</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extLst>
                  <a:ext uri="{0D108BD9-81ED-4DB2-BD59-A6C34878D82A}">
                    <a16:rowId xmlns:a16="http://schemas.microsoft.com/office/drawing/2014/main" val="443155023"/>
                  </a:ext>
                </a:extLst>
              </a:tr>
              <a:tr h="454824">
                <a:tc>
                  <a:txBody>
                    <a:bodyPr/>
                    <a:lstStyle/>
                    <a:p>
                      <a:pPr algn="ctr"/>
                      <a:r>
                        <a:rPr lang="en-US" sz="1800">
                          <a:effectLst/>
                        </a:rPr>
                        <a:t>Weak Inversion (WI)</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&gt;20 S/A</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Subthreshold/BJT</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Ultra-low power, sensors</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77939152"/>
                  </a:ext>
                </a:extLst>
              </a:tr>
              <a:tr h="454824">
                <a:tc>
                  <a:txBody>
                    <a:bodyPr/>
                    <a:lstStyle/>
                    <a:p>
                      <a:pPr algn="ctr"/>
                      <a:r>
                        <a:rPr lang="en-US" sz="1800" dirty="0">
                          <a:effectLst/>
                        </a:rPr>
                        <a:t>Moderate (MI)</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10–20 S/A</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LUT, no simple model</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dirty="0">
                          <a:effectLst/>
                        </a:rPr>
                        <a:t>Precision analog, general</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14048002"/>
                  </a:ext>
                </a:extLst>
              </a:tr>
              <a:tr h="319876">
                <a:tc>
                  <a:txBody>
                    <a:bodyPr/>
                    <a:lstStyle/>
                    <a:p>
                      <a:pPr algn="ctr"/>
                      <a:r>
                        <a:rPr lang="en-US" sz="1800">
                          <a:effectLst/>
                        </a:rPr>
                        <a:t>Strong Inversion (SI)</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&lt;10 S/A</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a:effectLst/>
                        </a:rPr>
                        <a:t>Square law</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algn="ctr"/>
                      <a:r>
                        <a:rPr lang="en-US" sz="1800" dirty="0">
                          <a:effectLst/>
                        </a:rPr>
                        <a:t>Buffers, high-speed stages</a:t>
                      </a:r>
                    </a:p>
                  </a:txBody>
                  <a:tcPr marL="24990" marR="24990" marT="24990" marB="2499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33520803"/>
                  </a:ext>
                </a:extLst>
              </a:tr>
            </a:tbl>
          </a:graphicData>
        </a:graphic>
      </p:graphicFrame>
    </p:spTree>
    <p:extLst>
      <p:ext uri="{BB962C8B-B14F-4D97-AF65-F5344CB8AC3E}">
        <p14:creationId xmlns:p14="http://schemas.microsoft.com/office/powerpoint/2010/main" val="10013146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Discussion</a:t>
            </a:r>
            <a:endParaRPr lang="en-US" dirty="0"/>
          </a:p>
        </p:txBody>
      </p:sp>
      <p:sp>
        <p:nvSpPr>
          <p:cNvPr id="3" name="Text Placeholder 2"/>
          <p:cNvSpPr>
            <a:spLocks noGrp="1"/>
          </p:cNvSpPr>
          <p:nvPr>
            <p:ph type="body" idx="1"/>
          </p:nvPr>
        </p:nvSpPr>
        <p:spPr>
          <a:xfrm>
            <a:off x="844550" y="1327353"/>
            <a:ext cx="10561387" cy="4431983"/>
          </a:xfrm>
        </p:spPr>
        <p:txBody>
          <a:bodyPr/>
          <a:lstStyle/>
          <a:p>
            <a:pPr algn="l"/>
            <a:r>
              <a:rPr lang="en-US" b="1" dirty="0">
                <a:solidFill>
                  <a:srgbClr val="C00000"/>
                </a:solidFill>
                <a:latin typeface="fkGroteskNeue"/>
              </a:rPr>
              <a:t>1. The Fundamental Challenge:</a:t>
            </a:r>
          </a:p>
          <a:p>
            <a:pPr marL="742950" lvl="1" indent="-285750" algn="l">
              <a:buFont typeface="Wingdings" panose="05000000000000000000" pitchFamily="2" charset="2"/>
              <a:buChar char="q"/>
            </a:pPr>
            <a:r>
              <a:rPr lang="en-US" sz="1600" dirty="0">
                <a:latin typeface="fkGroteskNeue"/>
              </a:rPr>
              <a:t>Moderate inversion is a "transition" region between classic strong inversion and weak inversion for MOSFET operation.</a:t>
            </a:r>
          </a:p>
          <a:p>
            <a:pPr marL="742950" lvl="1" indent="-285750" algn="l">
              <a:buFont typeface="Wingdings" panose="05000000000000000000" pitchFamily="2" charset="2"/>
              <a:buChar char="q"/>
            </a:pPr>
            <a:r>
              <a:rPr lang="en-US" sz="1600" dirty="0">
                <a:latin typeface="fkGroteskNeue"/>
              </a:rPr>
              <a:t>Unlike strong inversion (well-modeled by the quadratic "square law") and weak inversion (well-modeled by exponential subthreshold equations), </a:t>
            </a:r>
            <a:r>
              <a:rPr lang="en-US" sz="1600" i="1" dirty="0">
                <a:latin typeface="fkGroteskNeue"/>
              </a:rPr>
              <a:t>no simple, closed-form model</a:t>
            </a:r>
            <a:r>
              <a:rPr lang="en-US" sz="1600" dirty="0">
                <a:latin typeface="fkGroteskNeue"/>
              </a:rPr>
              <a:t> exists for moderate inversion.</a:t>
            </a:r>
          </a:p>
          <a:p>
            <a:pPr algn="l"/>
            <a:r>
              <a:rPr lang="en-US" b="1" dirty="0">
                <a:solidFill>
                  <a:srgbClr val="C00000"/>
                </a:solidFill>
                <a:latin typeface="fkGroteskNeue"/>
              </a:rPr>
              <a:t>2. Existing Models—Their Limitations:</a:t>
            </a:r>
          </a:p>
          <a:p>
            <a:pPr marL="742950" lvl="1" indent="-285750" algn="l">
              <a:buFont typeface="Wingdings" panose="05000000000000000000" pitchFamily="2" charset="2"/>
              <a:buChar char="q"/>
            </a:pPr>
            <a:r>
              <a:rPr lang="en-US" sz="1600" i="1" dirty="0">
                <a:solidFill>
                  <a:srgbClr val="00B050"/>
                </a:solidFill>
                <a:latin typeface="fkGroteskNeue"/>
              </a:rPr>
              <a:t>Square Law (Strong Inversion):</a:t>
            </a:r>
            <a:r>
              <a:rPr lang="en-US" sz="1600" dirty="0">
                <a:latin typeface="fkGroteskNeue"/>
              </a:rPr>
              <a:t> Good for large overdrive; very </a:t>
            </a:r>
            <a:r>
              <a:rPr lang="en-US" sz="1600" i="1" dirty="0">
                <a:solidFill>
                  <a:srgbClr val="00B050"/>
                </a:solidFill>
                <a:latin typeface="fkGroteskNeue"/>
              </a:rPr>
              <a:t>intuitive</a:t>
            </a:r>
            <a:r>
              <a:rPr lang="en-US" sz="1600" dirty="0">
                <a:latin typeface="fkGroteskNeue"/>
              </a:rPr>
              <a:t>, but often </a:t>
            </a:r>
            <a:r>
              <a:rPr lang="en-US" sz="1600" i="1" dirty="0">
                <a:solidFill>
                  <a:srgbClr val="00B050"/>
                </a:solidFill>
                <a:latin typeface="fkGroteskNeue"/>
              </a:rPr>
              <a:t>inaccurate</a:t>
            </a:r>
            <a:r>
              <a:rPr lang="en-US" sz="1600" dirty="0">
                <a:latin typeface="fkGroteskNeue"/>
              </a:rPr>
              <a:t> outside SI.</a:t>
            </a:r>
          </a:p>
          <a:p>
            <a:pPr marL="742950" lvl="1" indent="-285750" algn="l">
              <a:buFont typeface="Wingdings" panose="05000000000000000000" pitchFamily="2" charset="2"/>
              <a:buChar char="q"/>
            </a:pPr>
            <a:r>
              <a:rPr lang="en-US" sz="1600" i="1" dirty="0">
                <a:solidFill>
                  <a:srgbClr val="00B050"/>
                </a:solidFill>
                <a:latin typeface="fkGroteskNeue"/>
              </a:rPr>
              <a:t>Subthreshold Exponential (Weak Inversion):</a:t>
            </a:r>
            <a:r>
              <a:rPr lang="en-US" sz="1600" dirty="0">
                <a:latin typeface="fkGroteskNeue"/>
              </a:rPr>
              <a:t> Good for very low current and small overdrive; also </a:t>
            </a:r>
            <a:r>
              <a:rPr lang="en-US" sz="1600" i="1" dirty="0">
                <a:solidFill>
                  <a:srgbClr val="00B050"/>
                </a:solidFill>
                <a:latin typeface="fkGroteskNeue"/>
              </a:rPr>
              <a:t>intuitive</a:t>
            </a:r>
            <a:r>
              <a:rPr lang="en-US" sz="1600" dirty="0">
                <a:latin typeface="fkGroteskNeue"/>
              </a:rPr>
              <a:t>, but not valid in most analog designs.</a:t>
            </a:r>
          </a:p>
          <a:p>
            <a:pPr marL="742950" lvl="1" indent="-285750" algn="l">
              <a:buFont typeface="Wingdings" panose="05000000000000000000" pitchFamily="2" charset="2"/>
              <a:buChar char="q"/>
            </a:pPr>
            <a:r>
              <a:rPr lang="en-US" sz="1600" i="1" dirty="0">
                <a:solidFill>
                  <a:srgbClr val="00B050"/>
                </a:solidFill>
                <a:latin typeface="fkGroteskNeue"/>
              </a:rPr>
              <a:t>Moderate Inversion:</a:t>
            </a:r>
            <a:r>
              <a:rPr lang="en-US" sz="1600" dirty="0">
                <a:latin typeface="fkGroteskNeue"/>
              </a:rPr>
              <a:t> Sits between SI and WI; not accurately described by either model above.</a:t>
            </a:r>
          </a:p>
          <a:p>
            <a:pPr algn="l"/>
            <a:r>
              <a:rPr lang="en-US" b="1" dirty="0">
                <a:solidFill>
                  <a:srgbClr val="C00000"/>
                </a:solidFill>
                <a:latin typeface="fkGroteskNeue"/>
              </a:rPr>
              <a:t>3. About "Accurate" Models:</a:t>
            </a:r>
          </a:p>
          <a:p>
            <a:pPr marL="742950" lvl="1" indent="-285750" algn="l">
              <a:buFont typeface="Wingdings" panose="05000000000000000000" pitchFamily="2" charset="2"/>
              <a:buChar char="q"/>
            </a:pPr>
            <a:r>
              <a:rPr lang="en-US" sz="1600" dirty="0">
                <a:latin typeface="fkGroteskNeue"/>
              </a:rPr>
              <a:t>Highly accurate models (such as BSIM, EKV, and foundry-specific SPICE models) DO cover moderate inversion, but:</a:t>
            </a:r>
          </a:p>
          <a:p>
            <a:pPr marL="1143000" lvl="2" indent="-228600" algn="l">
              <a:buFont typeface="Arial" panose="020B0604020202020204" pitchFamily="34" charset="0"/>
              <a:buChar char="•"/>
            </a:pPr>
            <a:r>
              <a:rPr lang="en-US" sz="1600" i="1" dirty="0">
                <a:solidFill>
                  <a:srgbClr val="00B050"/>
                </a:solidFill>
                <a:latin typeface="fkGroteskNeue"/>
              </a:rPr>
              <a:t>They sacrifice intuition</a:t>
            </a:r>
            <a:r>
              <a:rPr lang="en-US" sz="1600" dirty="0">
                <a:latin typeface="fkGroteskNeue"/>
              </a:rPr>
              <a:t> (complex expressions, not directly related to gm, speed, specs, or bias current).</a:t>
            </a:r>
          </a:p>
          <a:p>
            <a:pPr marL="1143000" lvl="2" indent="-228600" algn="l">
              <a:buFont typeface="Arial" panose="020B0604020202020204" pitchFamily="34" charset="0"/>
              <a:buChar char="•"/>
            </a:pPr>
            <a:r>
              <a:rPr lang="en-US" sz="1600" i="1" dirty="0">
                <a:solidFill>
                  <a:srgbClr val="00B050"/>
                </a:solidFill>
                <a:latin typeface="fkGroteskNeue"/>
              </a:rPr>
              <a:t>They are impractical for hand analysis</a:t>
            </a:r>
            <a:r>
              <a:rPr lang="en-US" sz="1600" dirty="0">
                <a:latin typeface="fkGroteskNeue"/>
              </a:rPr>
              <a:t> or “design intuition.”</a:t>
            </a:r>
          </a:p>
          <a:p>
            <a:pPr marL="1143000" lvl="2" indent="-228600" algn="l">
              <a:buFont typeface="Arial" panose="020B0604020202020204" pitchFamily="34" charset="0"/>
              <a:buChar char="•"/>
            </a:pPr>
            <a:r>
              <a:rPr lang="en-US" sz="1600" dirty="0">
                <a:latin typeface="fkGroteskNeue"/>
              </a:rPr>
              <a:t>Circuit designers rarely use them analytically—they're excellent for simulation, but not for rapid insight.</a:t>
            </a:r>
          </a:p>
          <a:p>
            <a:endParaRPr lang="en-US" dirty="0"/>
          </a:p>
        </p:txBody>
      </p:sp>
    </p:spTree>
    <p:extLst>
      <p:ext uri="{BB962C8B-B14F-4D97-AF65-F5344CB8AC3E}">
        <p14:creationId xmlns:p14="http://schemas.microsoft.com/office/powerpoint/2010/main" val="9308166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1148528" cy="5509200"/>
          </a:xfrm>
        </p:spPr>
        <p:txBody>
          <a:bodyPr/>
          <a:lstStyle/>
          <a:p>
            <a:pPr lvl="0" algn="just"/>
            <a:r>
              <a:rPr lang="en-US" b="1" dirty="0">
                <a:solidFill>
                  <a:srgbClr val="C00000"/>
                </a:solidFill>
                <a:latin typeface="fkGroteskNeue"/>
              </a:rPr>
              <a:t>4. The EKV Model Case:</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EKV is mathematically rigorous and spans all regions (weak, moderate, strong inversion).</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solidFill>
                  <a:srgbClr val="00B050"/>
                </a:solidFill>
                <a:latin typeface="fkGroteskNeue"/>
              </a:rPr>
              <a:t>Design reality:</a:t>
            </a:r>
            <a:r>
              <a:rPr lang="en-US" sz="1600" dirty="0">
                <a:latin typeface="fkGroteskNeue"/>
              </a:rPr>
              <a:t> While EKV can numerically size devices across all regions, it's complicated, not easily linked to core circuit specs (“how do I get more gm or more speed?”), and thus is unpopular for everyday analog sizing.</a:t>
            </a:r>
          </a:p>
          <a:p>
            <a:pPr lvl="0" algn="just"/>
            <a:r>
              <a:rPr lang="en-US" b="1" dirty="0">
                <a:solidFill>
                  <a:srgbClr val="C00000"/>
                </a:solidFill>
                <a:latin typeface="fkGroteskNeue"/>
              </a:rPr>
              <a:t>5. The Design “Philosophy”:</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solidFill>
                  <a:srgbClr val="00B050"/>
                </a:solidFill>
                <a:latin typeface="fkGroteskNeue"/>
              </a:rPr>
              <a:t>Intuitive models like square law and exponential</a:t>
            </a:r>
            <a:r>
              <a:rPr lang="en-US" sz="1600" dirty="0">
                <a:latin typeface="fkGroteskNeue"/>
              </a:rPr>
              <a:t> are meant for “rough trend prediction,” </a:t>
            </a:r>
            <a:r>
              <a:rPr lang="en-US" sz="1600" i="1" dirty="0">
                <a:latin typeface="fkGroteskNeue"/>
              </a:rPr>
              <a:t>not</a:t>
            </a:r>
            <a:r>
              <a:rPr lang="en-US" sz="1600" dirty="0">
                <a:latin typeface="fkGroteskNeue"/>
              </a:rPr>
              <a:t> accurate numbers.</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When you need actual numbers for circuit sizing (gm, gain, bandwidth), do NOT trust the simple models in MI—</a:t>
            </a:r>
            <a:r>
              <a:rPr lang="en-US" sz="1600" i="1" dirty="0">
                <a:latin typeface="fkGroteskNeue"/>
              </a:rPr>
              <a:t>use empirically generated LUTs</a:t>
            </a:r>
            <a:r>
              <a:rPr lang="en-US" sz="1600" dirty="0">
                <a:latin typeface="fkGroteskNeue"/>
              </a:rPr>
              <a:t> (lookup tables) instead.</a:t>
            </a:r>
          </a:p>
          <a:p>
            <a:pPr lvl="0" algn="just"/>
            <a:r>
              <a:rPr lang="en-US" b="1" dirty="0">
                <a:solidFill>
                  <a:srgbClr val="C00000"/>
                </a:solidFill>
                <a:latin typeface="fkGroteskNeue"/>
              </a:rPr>
              <a:t>6. LUT-Based Design is Practical and Preferred:</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solidFill>
                  <a:srgbClr val="00B050"/>
                </a:solidFill>
                <a:latin typeface="fkGroteskNeue"/>
              </a:rPr>
              <a:t>Lookup tables (LUTs)</a:t>
            </a:r>
            <a:r>
              <a:rPr lang="en-US" sz="1600" dirty="0">
                <a:latin typeface="fkGroteskNeue"/>
              </a:rPr>
              <a:t> are generated from measurements or detailed simulations for the specific process.</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The designer uses simple models for basic understanding, but relies on LUTs to translate circuit targets (e.g., “I need this gm/ID, what W/L should I use?”) into actual device dimensions.</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solidFill>
                  <a:srgbClr val="00B050"/>
                </a:solidFill>
                <a:latin typeface="fkGroteskNeue"/>
              </a:rPr>
              <a:t>Bottom line: </a:t>
            </a:r>
            <a:r>
              <a:rPr lang="en-US" sz="1600" dirty="0">
                <a:latin typeface="fkGroteskNeue"/>
              </a:rPr>
              <a:t>Use simple models for learning and initial estimation, </a:t>
            </a:r>
            <a:r>
              <a:rPr lang="en-US" sz="1600" i="1" dirty="0">
                <a:solidFill>
                  <a:srgbClr val="00B050"/>
                </a:solidFill>
                <a:latin typeface="fkGroteskNeue"/>
              </a:rPr>
              <a:t>but always size in MI with LUTs</a:t>
            </a:r>
            <a:r>
              <a:rPr lang="en-US" sz="1600" dirty="0">
                <a:latin typeface="fkGroteskNeue"/>
              </a:rPr>
              <a:t> for device accuracy.</a:t>
            </a:r>
          </a:p>
          <a:p>
            <a:pPr lvl="0" algn="just"/>
            <a:r>
              <a:rPr lang="en-US" b="1" dirty="0">
                <a:solidFill>
                  <a:srgbClr val="C00000"/>
                </a:solidFill>
                <a:latin typeface="fkGroteskNeue"/>
              </a:rPr>
              <a:t>7. Summary for Practicing Analog Designers:</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i="1" dirty="0">
                <a:latin typeface="fkGroteskNeue"/>
              </a:rPr>
              <a:t>Don’t get stuck seeking a neat, intuitive, analytical model for moderate inversion—you won’t find one that’s both accurate and usable for hand calculation.</a:t>
            </a:r>
            <a:endParaRPr lang="en-US" sz="1600" dirty="0">
              <a:latin typeface="fkGroteskNeue"/>
            </a:endParaRP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When working in MI (which is the “sweet spot” for many designs), </a:t>
            </a:r>
            <a:r>
              <a:rPr lang="en-US" sz="1600" i="1" dirty="0">
                <a:solidFill>
                  <a:srgbClr val="00B050"/>
                </a:solidFill>
                <a:latin typeface="fkGroteskNeue"/>
              </a:rPr>
              <a:t>combine intuitive models for understanding and trends, with LUTs or simulation-derived data for actual sizing.</a:t>
            </a:r>
          </a:p>
          <a:p>
            <a:pPr marL="742950" marR="0" lvl="1" indent="-285750" algn="just" defTabSz="914400" eaLnBrk="1" fontAlgn="auto" latinLnBrk="0" hangingPunct="1">
              <a:lnSpc>
                <a:spcPct val="100000"/>
              </a:lnSpc>
              <a:spcBef>
                <a:spcPts val="0"/>
              </a:spcBef>
              <a:spcAft>
                <a:spcPts val="0"/>
              </a:spcAft>
              <a:buClrTx/>
              <a:buSzTx/>
              <a:buFont typeface="Wingdings" panose="05000000000000000000" pitchFamily="2" charset="2"/>
              <a:buChar char="q"/>
              <a:tabLst/>
              <a:defRPr/>
            </a:pPr>
            <a:r>
              <a:rPr lang="en-US" sz="1600" dirty="0">
                <a:latin typeface="fkGroteskNeue"/>
              </a:rPr>
              <a:t>Accurate models are for simulation, </a:t>
            </a:r>
            <a:r>
              <a:rPr lang="en-US" sz="1600" i="1" dirty="0">
                <a:solidFill>
                  <a:srgbClr val="00B050"/>
                </a:solidFill>
                <a:latin typeface="fkGroteskNeue"/>
              </a:rPr>
              <a:t>not for design intuition</a:t>
            </a:r>
            <a:r>
              <a:rPr lang="en-US" sz="1600" dirty="0">
                <a:latin typeface="fkGroteskNeue"/>
              </a:rPr>
              <a:t>.</a:t>
            </a:r>
          </a:p>
          <a:p>
            <a:pPr algn="just"/>
            <a:endParaRPr lang="en-US" dirty="0"/>
          </a:p>
        </p:txBody>
      </p:sp>
    </p:spTree>
    <p:extLst>
      <p:ext uri="{BB962C8B-B14F-4D97-AF65-F5344CB8AC3E}">
        <p14:creationId xmlns:p14="http://schemas.microsoft.com/office/powerpoint/2010/main" val="22563742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620491"/>
          </a:xfrm>
        </p:spPr>
        <p:txBody>
          <a:bodyPr/>
          <a:lstStyle/>
          <a:p>
            <a:pPr marL="0" marR="0">
              <a:lnSpc>
                <a:spcPct val="112000"/>
              </a:lnSpc>
              <a:spcBef>
                <a:spcPts val="785"/>
              </a:spcBef>
              <a:spcAft>
                <a:spcPts val="785"/>
              </a:spcAft>
            </a:pPr>
            <a:r>
              <a:rPr lang="en-US" sz="3600" b="1" dirty="0">
                <a:solidFill>
                  <a:srgbClr val="000000"/>
                </a:solidFill>
                <a:latin typeface="inter"/>
                <a:ea typeface="inter"/>
                <a:cs typeface="inter"/>
              </a:rPr>
              <a:t>The Five MOSFET Design </a:t>
            </a:r>
            <a:r>
              <a:rPr lang="en-US" sz="3600" b="1" dirty="0" smtClean="0">
                <a:solidFill>
                  <a:srgbClr val="000000"/>
                </a:solidFill>
                <a:latin typeface="inter"/>
                <a:ea typeface="inter"/>
                <a:cs typeface="inter"/>
              </a:rPr>
              <a:t>Variables</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9317" cy="4493538"/>
              </a:xfrm>
            </p:spPr>
            <p:txBody>
              <a:bodyPr/>
              <a:lstStyle/>
              <a:p>
                <a:pPr algn="ctr">
                  <a:lnSpc>
                    <a:spcPct val="150000"/>
                  </a:lnSpc>
                  <a:spcBef>
                    <a:spcPts val="1575"/>
                  </a:spcBef>
                  <a:spcAft>
                    <a:spcPts val="525"/>
                  </a:spcAft>
                </a:pPr>
                <a:r>
                  <a:rPr lang="en-US" sz="2800" dirty="0">
                    <a:solidFill>
                      <a:srgbClr val="C00000"/>
                    </a:solidFill>
                    <a:latin typeface="fkGroteskNeue"/>
                    <a:ea typeface="inter"/>
                    <a:cs typeface="inter"/>
                  </a:rPr>
                  <a:t>Introduction</a:t>
                </a:r>
                <a:endParaRPr lang="en-US" dirty="0">
                  <a:solidFill>
                    <a:srgbClr val="C00000"/>
                  </a:solidFill>
                  <a:latin typeface="fkGroteskNeue"/>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fkGroteskNeue"/>
                    <a:ea typeface="inter"/>
                    <a:cs typeface="inter"/>
                  </a:rPr>
                  <a:t>Designing analog CMOS circuits revolves around controlling and understanding five fundamental variables for each MOSFET: </a:t>
                </a:r>
                <a:endParaRPr lang="en-US" dirty="0" smtClean="0">
                  <a:solidFill>
                    <a:srgbClr val="000000"/>
                  </a:solidFill>
                  <a:latin typeface="fkGroteskNeue"/>
                  <a:ea typeface="inter"/>
                  <a:cs typeface="inter"/>
                </a:endParaRPr>
              </a:p>
              <a:p>
                <a:pPr marL="342900" indent="-342900" algn="just">
                  <a:spcAft>
                    <a:spcPts val="1050"/>
                  </a:spcAft>
                  <a:buFont typeface="Arial" panose="020B0604020202020204" pitchFamily="34" charset="0"/>
                  <a:buChar char="•"/>
                </a:pPr>
                <a:r>
                  <a:rPr lang="en-US" i="1" dirty="0" smtClean="0">
                    <a:solidFill>
                      <a:srgbClr val="00B050"/>
                    </a:solidFill>
                    <a:latin typeface="fkGroteskNeue"/>
                    <a:ea typeface="inter"/>
                    <a:cs typeface="inter"/>
                  </a:rPr>
                  <a:t>Three </a:t>
                </a:r>
                <a:r>
                  <a:rPr lang="en-US" i="1" dirty="0">
                    <a:solidFill>
                      <a:srgbClr val="00B050"/>
                    </a:solidFill>
                    <a:latin typeface="fkGroteskNeue"/>
                    <a:ea typeface="inter"/>
                    <a:cs typeface="inter"/>
                  </a:rPr>
                  <a:t>voltages (</a:t>
                </a:r>
                <a14:m>
                  <m:oMath xmlns:m="http://schemas.openxmlformats.org/officeDocument/2006/math">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𝐷𝑆</m:t>
                        </m:r>
                      </m:sub>
                    </m:s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i="1" dirty="0" smtClean="0">
                    <a:solidFill>
                      <a:srgbClr val="00B050"/>
                    </a:solidFill>
                    <a:latin typeface="fkGroteskNeue"/>
                    <a:ea typeface="inter"/>
                    <a:cs typeface="inter"/>
                  </a:rPr>
                  <a:t>)</a:t>
                </a:r>
                <a:endParaRPr lang="en-US" dirty="0" smtClean="0">
                  <a:solidFill>
                    <a:srgbClr val="000000"/>
                  </a:solidFill>
                  <a:latin typeface="fkGroteskNeue"/>
                  <a:ea typeface="inter"/>
                  <a:cs typeface="inter"/>
                </a:endParaRPr>
              </a:p>
              <a:p>
                <a:pPr marL="342900" indent="-342900" algn="just">
                  <a:spcAft>
                    <a:spcPts val="1050"/>
                  </a:spcAft>
                  <a:buFont typeface="Arial" panose="020B0604020202020204" pitchFamily="34" charset="0"/>
                  <a:buChar char="•"/>
                </a:pPr>
                <a:r>
                  <a:rPr lang="en-US" i="1" dirty="0" smtClean="0">
                    <a:solidFill>
                      <a:srgbClr val="00B050"/>
                    </a:solidFill>
                    <a:latin typeface="fkGroteskNeue"/>
                    <a:ea typeface="inter"/>
                    <a:cs typeface="inter"/>
                  </a:rPr>
                  <a:t>Two </a:t>
                </a:r>
                <a:r>
                  <a:rPr lang="en-US" i="1" dirty="0">
                    <a:solidFill>
                      <a:srgbClr val="00B050"/>
                    </a:solidFill>
                    <a:latin typeface="fkGroteskNeue"/>
                    <a:ea typeface="inter"/>
                    <a:cs typeface="inter"/>
                  </a:rPr>
                  <a:t>sizing dimensions (</a:t>
                </a:r>
                <a14:m>
                  <m:oMath xmlns:m="http://schemas.openxmlformats.org/officeDocument/2006/math">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𝑊</m:t>
                    </m:r>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B050"/>
                        </a:solidFill>
                        <a:latin typeface="Cambria Math" panose="02040503050406030204" pitchFamily="18" charset="0"/>
                        <a:ea typeface="Calibri" panose="020F0502020204030204" pitchFamily="34" charset="0"/>
                        <a:cs typeface="Times New Roman" panose="02020603050405020304" pitchFamily="18" charset="0"/>
                      </a:rPr>
                      <m:t>𝐿</m:t>
                    </m:r>
                  </m:oMath>
                </a14:m>
                <a:r>
                  <a:rPr lang="en-US" i="1" dirty="0">
                    <a:solidFill>
                      <a:srgbClr val="00B050"/>
                    </a:solidFill>
                    <a:latin typeface="fkGroteskNeue"/>
                    <a:ea typeface="inter"/>
                    <a:cs typeface="inter"/>
                  </a:rPr>
                  <a:t>). </a:t>
                </a:r>
                <a:endParaRPr lang="en-US" i="1" dirty="0" smtClean="0">
                  <a:solidFill>
                    <a:srgbClr val="00B050"/>
                  </a:solidFill>
                  <a:latin typeface="fkGroteskNeue"/>
                  <a:ea typeface="inter"/>
                  <a:cs typeface="inter"/>
                </a:endParaRPr>
              </a:p>
              <a:p>
                <a:pPr marL="342900" indent="-342900" algn="just">
                  <a:spcAft>
                    <a:spcPts val="1050"/>
                  </a:spcAft>
                  <a:buFont typeface="Arial" panose="020B0604020202020204" pitchFamily="34" charset="0"/>
                  <a:buChar char="•"/>
                </a:pPr>
                <a:r>
                  <a:rPr lang="en-US" dirty="0" smtClean="0">
                    <a:solidFill>
                      <a:srgbClr val="00B050"/>
                    </a:solidFill>
                    <a:latin typeface="fkGroteskNeue"/>
                    <a:ea typeface="inter"/>
                    <a:cs typeface="inter"/>
                  </a:rPr>
                  <a:t>Mastery </a:t>
                </a:r>
                <a:r>
                  <a:rPr lang="en-US" dirty="0">
                    <a:solidFill>
                      <a:srgbClr val="00B050"/>
                    </a:solidFill>
                    <a:latin typeface="fkGroteskNeue"/>
                    <a:ea typeface="inter"/>
                    <a:cs typeface="inter"/>
                  </a:rPr>
                  <a:t>of these variables lets designers sculpt device behavior for noise, speed, precision, and area. </a:t>
                </a:r>
                <a:endParaRPr lang="en-US" dirty="0" smtClean="0">
                  <a:solidFill>
                    <a:srgbClr val="00B050"/>
                  </a:solidFill>
                  <a:latin typeface="fkGroteskNeue"/>
                  <a:ea typeface="inter"/>
                  <a:cs typeface="inter"/>
                </a:endParaRPr>
              </a:p>
              <a:p>
                <a:pPr algn="just">
                  <a:spcAft>
                    <a:spcPts val="1050"/>
                  </a:spcAft>
                </a:pPr>
                <a:r>
                  <a:rPr lang="en-US" dirty="0" smtClean="0">
                    <a:solidFill>
                      <a:srgbClr val="000000"/>
                    </a:solidFill>
                    <a:latin typeface="fkGroteskNeue"/>
                    <a:ea typeface="inter"/>
                    <a:cs typeface="inter"/>
                  </a:rPr>
                  <a:t>However</a:t>
                </a:r>
                <a:r>
                  <a:rPr lang="en-US" dirty="0">
                    <a:solidFill>
                      <a:srgbClr val="000000"/>
                    </a:solidFill>
                    <a:latin typeface="fkGroteskNeue"/>
                    <a:ea typeface="inter"/>
                    <a:cs typeface="inter"/>
                  </a:rPr>
                  <a:t>, not all five variables offer equal leverage in modern design—some are rarely </a:t>
                </a:r>
                <a:r>
                  <a:rPr lang="en-US" dirty="0" err="1">
                    <a:solidFill>
                      <a:srgbClr val="000000"/>
                    </a:solidFill>
                    <a:latin typeface="fkGroteskNeue"/>
                    <a:ea typeface="inter"/>
                    <a:cs typeface="inter"/>
                  </a:rPr>
                  <a:t>manipulable</a:t>
                </a:r>
                <a:r>
                  <a:rPr lang="en-US" dirty="0">
                    <a:solidFill>
                      <a:srgbClr val="000000"/>
                    </a:solidFill>
                    <a:latin typeface="fkGroteskNeue"/>
                    <a:ea typeface="inter"/>
                    <a:cs typeface="inter"/>
                  </a:rPr>
                  <a:t>, while others are central to every performance tradeoff.</a:t>
                </a:r>
                <a:endParaRPr lang="en-US" dirty="0">
                  <a:latin typeface="fkGroteskNeue"/>
                  <a:ea typeface="Calibri" panose="020F0502020204030204" pitchFamily="34" charset="0"/>
                  <a:cs typeface="Times New Roman" panose="02020603050405020304" pitchFamily="18" charset="0"/>
                </a:endParaRPr>
              </a:p>
              <a:p>
                <a:pPr algn="just">
                  <a:spcAft>
                    <a:spcPts val="1050"/>
                  </a:spcAft>
                </a:pPr>
                <a:r>
                  <a:rPr lang="en-US" dirty="0">
                    <a:solidFill>
                      <a:srgbClr val="000000"/>
                    </a:solidFill>
                    <a:latin typeface="fkGroteskNeue"/>
                    <a:ea typeface="inter"/>
                    <a:cs typeface="inter"/>
                  </a:rPr>
                  <a:t>This lecture will present each variable, discuss its physical impact, practical manipulability, and offer a modern design methodology rooted in gm/ID-based sizing</a:t>
                </a:r>
                <a:r>
                  <a:rPr lang="en-US" dirty="0" smtClean="0">
                    <a:solidFill>
                      <a:srgbClr val="000000"/>
                    </a:solidFill>
                    <a:latin typeface="fkGroteskNeue"/>
                    <a:ea typeface="inter"/>
                    <a:cs typeface="inter"/>
                  </a:rPr>
                  <a:t>.</a:t>
                </a:r>
                <a:endParaRPr lang="en-US" dirty="0">
                  <a:latin typeface="fkGroteskNeue"/>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4493538"/>
              </a:xfrm>
              <a:blipFill>
                <a:blip r:embed="rId2"/>
                <a:stretch>
                  <a:fillRect l="-1493" r="-1435" b="-2578"/>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285281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12145" y="0"/>
                <a:ext cx="10593196" cy="905934"/>
              </a:xfrm>
            </p:spPr>
            <p:txBody>
              <a:bodyPr/>
              <a:lstStyle/>
              <a:p>
                <a:pPr marL="0" marR="0" algn="ctr"/>
                <a:r>
                  <a:rPr lang="en-US" sz="3600" b="1" dirty="0">
                    <a:solidFill>
                      <a:srgbClr val="000000"/>
                    </a:solidFill>
                    <a:latin typeface="inter"/>
                    <a:ea typeface="inter"/>
                    <a:cs typeface="inter"/>
                  </a:rPr>
                  <a:t> </a:t>
                </a:r>
                <a14:m>
                  <m:oMath xmlns:m="http://schemas.openxmlformats.org/officeDocument/2006/math">
                    <m:sSub>
                      <m:sSubPr>
                        <m:ctrlPr>
                          <a:rPr lang="en-US" sz="3600" i="1">
                            <a:solidFill>
                              <a:srgbClr val="000000"/>
                            </a:solidFill>
                            <a:effectLst/>
                            <a:latin typeface="Cambria Math" panose="02040503050406030204" pitchFamily="18" charset="0"/>
                          </a:rPr>
                        </m:ctrlPr>
                      </m:sSubPr>
                      <m:e>
                        <m:r>
                          <a:rPr lang="en-US" sz="3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36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3600" b="1" dirty="0">
                    <a:solidFill>
                      <a:srgbClr val="000000"/>
                    </a:solidFill>
                    <a:effectLst/>
                    <a:latin typeface="inter"/>
                    <a:ea typeface="inter"/>
                    <a:cs typeface="inter"/>
                  </a:rPr>
                  <a:t> (Source-to-Body Voltage)—Body Effect and Its Minimized Role</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12145" y="0"/>
                <a:ext cx="10593196" cy="905934"/>
              </a:xfrm>
              <a:blipFill>
                <a:blip r:embed="rId4"/>
                <a:stretch>
                  <a:fillRect t="-15436" r="-2704" b="-510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76816" y="1462819"/>
                <a:ext cx="10619317" cy="4001095"/>
              </a:xfrm>
            </p:spPr>
            <p:txBody>
              <a:bodyPr/>
              <a:lstStyle/>
              <a:p>
                <a:pPr marL="457200" marR="0" lvl="0" indent="-457200" algn="just">
                  <a:buFont typeface="Wingdings" panose="05000000000000000000" pitchFamily="2" charset="2"/>
                  <a:buChar char="q"/>
                  <a:tabLst>
                    <a:tab pos="571500" algn="l"/>
                  </a:tabLst>
                </a:pPr>
                <a:r>
                  <a:rPr lang="en-US" sz="2400" b="1" i="1" dirty="0">
                    <a:solidFill>
                      <a:srgbClr val="00B050"/>
                    </a:solidFill>
                    <a:latin typeface="inter"/>
                    <a:ea typeface="inter"/>
                    <a:cs typeface="inter"/>
                  </a:rPr>
                  <a:t>Physical Role:</a:t>
                </a:r>
                <a:r>
                  <a:rPr lang="en-US" sz="2400" i="1" dirty="0">
                    <a:solidFill>
                      <a:srgbClr val="00B050"/>
                    </a:solidFill>
                    <a:effectLst/>
                    <a:latin typeface="inter"/>
                    <a:ea typeface="inter"/>
                    <a:cs typeface="inter"/>
                  </a:rPr>
                  <a:t>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2400" dirty="0">
                    <a:solidFill>
                      <a:srgbClr val="000000"/>
                    </a:solidFill>
                    <a:effectLst/>
                    <a:latin typeface="inter"/>
                    <a:ea typeface="inter"/>
                    <a:cs typeface="inter"/>
                  </a:rPr>
                  <a:t> sets the body effect, raising the threshold voltage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𝑇𝐻</m:t>
                        </m:r>
                      </m:sub>
                    </m:sSub>
                  </m:oMath>
                </a14:m>
                <a:r>
                  <a:rPr lang="en-US" sz="2400" dirty="0">
                    <a:solidFill>
                      <a:srgbClr val="000000"/>
                    </a:solidFill>
                    <a:effectLst/>
                    <a:latin typeface="inter"/>
                    <a:ea typeface="inter"/>
                    <a:cs typeface="inter"/>
                  </a:rPr>
                  <a:t> if the body sits above the source. This can hurt </a:t>
                </a:r>
                <a:r>
                  <a:rPr lang="en-US" sz="2400" dirty="0" smtClean="0">
                    <a:solidFill>
                      <a:srgbClr val="000000"/>
                    </a:solidFill>
                    <a:effectLst/>
                    <a:latin typeface="inter"/>
                    <a:ea typeface="inter"/>
                    <a:cs typeface="inter"/>
                  </a:rPr>
                  <a:t>trans-conductance </a:t>
                </a:r>
                <a:r>
                  <a:rPr lang="en-US" sz="2400" dirty="0">
                    <a:solidFill>
                      <a:srgbClr val="000000"/>
                    </a:solidFill>
                    <a:effectLst/>
                    <a:latin typeface="inter"/>
                    <a:ea typeface="inter"/>
                    <a:cs typeface="inter"/>
                  </a:rPr>
                  <a:t>and slow down the circuit.</a:t>
                </a:r>
                <a:endParaRPr lang="en-US" sz="2400"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buFont typeface="Wingdings" panose="05000000000000000000" pitchFamily="2" charset="2"/>
                  <a:buChar char="q"/>
                  <a:tabLst>
                    <a:tab pos="571500" algn="l"/>
                  </a:tabLst>
                </a:pPr>
                <a:r>
                  <a:rPr lang="en-US" sz="2400" b="1" i="1" dirty="0">
                    <a:solidFill>
                      <a:srgbClr val="00B050"/>
                    </a:solidFill>
                    <a:effectLst/>
                    <a:latin typeface="inter"/>
                    <a:ea typeface="inter"/>
                    <a:cs typeface="inter"/>
                  </a:rPr>
                  <a:t>Practical Handling:</a:t>
                </a:r>
                <a:r>
                  <a:rPr lang="en-US" sz="2400" i="1" dirty="0">
                    <a:solidFill>
                      <a:srgbClr val="00B050"/>
                    </a:solidFill>
                    <a:effectLst/>
                    <a:latin typeface="inter"/>
                    <a:ea typeface="inter"/>
                    <a:cs typeface="inter"/>
                  </a:rPr>
                  <a:t> </a:t>
                </a:r>
                <a:r>
                  <a:rPr lang="en-US" sz="2400" dirty="0">
                    <a:solidFill>
                      <a:srgbClr val="000000"/>
                    </a:solidFill>
                    <a:effectLst/>
                    <a:latin typeface="inter"/>
                    <a:ea typeface="inter"/>
                    <a:cs typeface="inter"/>
                  </a:rPr>
                  <a:t>Most circuits try to 'neutralize'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2400" dirty="0">
                    <a:solidFill>
                      <a:srgbClr val="000000"/>
                    </a:solidFill>
                    <a:effectLst/>
                    <a:latin typeface="inter"/>
                    <a:ea typeface="inter"/>
                    <a:cs typeface="inter"/>
                  </a:rPr>
                  <a:t>, tying the body to the source to defeat the effect. Technologies with Deep NWELLs make this easy.</a:t>
                </a:r>
                <a:endParaRPr lang="en-US" sz="2400"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buFont typeface="Wingdings" panose="05000000000000000000" pitchFamily="2" charset="2"/>
                  <a:buChar char="q"/>
                  <a:tabLst>
                    <a:tab pos="571500" algn="l"/>
                  </a:tabLst>
                </a:pPr>
                <a:r>
                  <a:rPr lang="en-US" sz="2400" b="1" i="1" dirty="0">
                    <a:solidFill>
                      <a:srgbClr val="00B050"/>
                    </a:solidFill>
                    <a:effectLst/>
                    <a:latin typeface="inter"/>
                    <a:ea typeface="inter"/>
                    <a:cs typeface="inter"/>
                  </a:rPr>
                  <a:t>Exceptions:</a:t>
                </a:r>
                <a:r>
                  <a:rPr lang="en-US" sz="2400" i="1" dirty="0">
                    <a:solidFill>
                      <a:srgbClr val="00B050"/>
                    </a:solidFill>
                    <a:effectLst/>
                    <a:latin typeface="inter"/>
                    <a:ea typeface="inter"/>
                    <a:cs typeface="inter"/>
                  </a:rPr>
                  <a:t> </a:t>
                </a:r>
                <a:r>
                  <a:rPr lang="en-US" sz="2400" dirty="0">
                    <a:solidFill>
                      <a:srgbClr val="000000"/>
                    </a:solidFill>
                    <a:effectLst/>
                    <a:latin typeface="inter"/>
                    <a:ea typeface="inter"/>
                    <a:cs typeface="inter"/>
                  </a:rPr>
                  <a:t>In some topologies (5T-OTA, differential pairs with floating sources), tying </a:t>
                </a:r>
                <a:r>
                  <a:rPr lang="en-US" sz="2400" dirty="0" smtClean="0">
                    <a:solidFill>
                      <a:srgbClr val="000000"/>
                    </a:solidFill>
                    <a:effectLst/>
                    <a:latin typeface="inter"/>
                    <a:ea typeface="inter"/>
                    <a:cs typeface="inter"/>
                  </a:rPr>
                  <a:t>the body to the source </a:t>
                </a:r>
                <a:r>
                  <a:rPr lang="en-US" sz="2400" dirty="0">
                    <a:solidFill>
                      <a:srgbClr val="000000"/>
                    </a:solidFill>
                    <a:effectLst/>
                    <a:latin typeface="inter"/>
                    <a:ea typeface="inter"/>
                    <a:cs typeface="inter"/>
                  </a:rPr>
                  <a:t>isn't possible due to circuit needs.</a:t>
                </a:r>
                <a:endParaRPr lang="en-US" sz="2400"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buFont typeface="Wingdings" panose="05000000000000000000" pitchFamily="2" charset="2"/>
                  <a:buChar char="q"/>
                  <a:tabLst>
                    <a:tab pos="571500" algn="l"/>
                  </a:tabLst>
                </a:pPr>
                <a:r>
                  <a:rPr lang="en-US" sz="2400" b="1" i="1" dirty="0">
                    <a:solidFill>
                      <a:srgbClr val="00B050"/>
                    </a:solidFill>
                    <a:effectLst/>
                    <a:latin typeface="inter"/>
                    <a:ea typeface="inter"/>
                    <a:cs typeface="inter"/>
                  </a:rPr>
                  <a:t>Design Conclusion:</a:t>
                </a:r>
                <a:r>
                  <a:rPr lang="en-US" sz="2400" i="1" dirty="0">
                    <a:solidFill>
                      <a:srgbClr val="00B050"/>
                    </a:solidFill>
                    <a:effectLst/>
                    <a:latin typeface="inter"/>
                    <a:ea typeface="inter"/>
                    <a:cs typeface="inter"/>
                  </a:rPr>
                  <a:t> </a:t>
                </a:r>
                <a14:m>
                  <m:oMath xmlns:m="http://schemas.openxmlformats.org/officeDocument/2006/math">
                    <m:sSub>
                      <m:sSubPr>
                        <m:ctrlP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24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2400" dirty="0">
                    <a:solidFill>
                      <a:srgbClr val="000000"/>
                    </a:solidFill>
                    <a:effectLst/>
                    <a:latin typeface="inter"/>
                    <a:ea typeface="inter"/>
                    <a:cs typeface="inter"/>
                  </a:rPr>
                  <a:t> is not a primary tuning knob. It is minimized when possible and accepted as an unavoidable penalty where not.</a:t>
                </a:r>
                <a:endParaRPr lang="en-US" sz="2400" dirty="0">
                  <a:effectLst/>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776816" y="1462819"/>
                <a:ext cx="10619317" cy="4001095"/>
              </a:xfrm>
              <a:blipFill>
                <a:blip r:embed="rId5"/>
                <a:stretch>
                  <a:fillRect l="-1607" t="-2287" r="-178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4910454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549615" y="284015"/>
                <a:ext cx="11504109" cy="553998"/>
              </a:xfrm>
            </p:spPr>
            <p:txBody>
              <a:bodyPr/>
              <a:lstStyle/>
              <a:p>
                <a:pPr algn="just"/>
                <a:r>
                  <a:rPr lang="en-US" sz="3600" b="1" dirty="0">
                    <a:solidFill>
                      <a:srgbClr val="000000"/>
                    </a:solidFill>
                    <a:latin typeface="inter"/>
                    <a:ea typeface="inter"/>
                    <a:cs typeface="inter"/>
                  </a:rPr>
                  <a:t>The Effect of </a:t>
                </a:r>
                <a14:m>
                  <m:oMath xmlns:m="http://schemas.openxmlformats.org/officeDocument/2006/math">
                    <m:sSub>
                      <m:sSubPr>
                        <m:ctrlP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sz="3600" b="1" dirty="0">
                    <a:solidFill>
                      <a:srgbClr val="000000"/>
                    </a:solidFill>
                    <a:latin typeface="inter"/>
                    <a:ea typeface="inter"/>
                    <a:cs typeface="inter"/>
                  </a:rPr>
                  <a:t> (Body Effect) on Threshold Voltage</a:t>
                </a:r>
                <a:endParaRPr lang="en-US" sz="3600"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549615" y="284015"/>
                <a:ext cx="11504109" cy="553998"/>
              </a:xfrm>
              <a:blipFill>
                <a:blip r:embed="rId2"/>
                <a:stretch>
                  <a:fillRect l="-2385" t="-25556" r="-901"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9317" cy="5069529"/>
              </a:xfrm>
            </p:spPr>
            <p:txBody>
              <a:bodyPr/>
              <a:lstStyle/>
              <a:p>
                <a:r>
                  <a:rPr lang="en-US" b="1" dirty="0">
                    <a:solidFill>
                      <a:srgbClr val="000000"/>
                    </a:solidFill>
                    <a:latin typeface="inter"/>
                    <a:ea typeface="inter"/>
                    <a:cs typeface="inter"/>
                  </a:rPr>
                  <a:t>Step 1:</a:t>
                </a:r>
                <a:r>
                  <a:rPr lang="en-US" dirty="0">
                    <a:solidFill>
                      <a:srgbClr val="000000"/>
                    </a:solidFill>
                    <a:latin typeface="inter"/>
                    <a:ea typeface="inter"/>
                    <a:cs typeface="inter"/>
                  </a:rPr>
                  <a:t> Start with a bulk NMOS device.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Nominal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Body-source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=0.5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Process parameter: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𝛾</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 </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p>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1/2</m:t>
                        </m:r>
                      </m:sup>
                    </m:sSup>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dirty="0">
                    <a:solidFill>
                      <a:srgbClr val="000000"/>
                    </a:solidFill>
                    <a:latin typeface="inter"/>
                    <a:ea typeface="inter"/>
                    <a:cs typeface="inter"/>
                  </a:rPr>
                  <a:t>Bulk potential: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=0.6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Step 2:</a:t>
                </a:r>
                <a:r>
                  <a:rPr lang="en-US" dirty="0">
                    <a:solidFill>
                      <a:srgbClr val="000000"/>
                    </a:solidFill>
                    <a:latin typeface="inter"/>
                    <a:ea typeface="inter"/>
                    <a:cs typeface="inter"/>
                  </a:rPr>
                  <a:t> Compute new threshold voltage: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𝛾</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rad>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𝜙</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𝐹</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rad>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=0.4+0.4</m:t>
                      </m:r>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0.6+0.5</m:t>
                              </m:r>
                            </m:e>
                          </m:rad>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0.6</m:t>
                              </m:r>
                            </m:e>
                          </m:rad>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=0.4+0.4</m:t>
                      </m:r>
                      <m:d>
                        <m:dPr>
                          <m:begChr m:val="["/>
                          <m:endChr m:val="]"/>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1.1</m:t>
                              </m:r>
                            </m:e>
                          </m:rad>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0.6</m:t>
                              </m:r>
                            </m:e>
                          </m:rad>
                        </m:e>
                      </m:d>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=0.4+0.4(1.049</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0.775)</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=0.4+0.4×0.274≈0.510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m:oMathPara>
                </a14:m>
                <a:endParaRPr lang="en-US" dirty="0" smtClean="0">
                  <a:latin typeface="Georgia" panose="02040502050405020303" pitchFamily="18" charset="0"/>
                  <a:ea typeface="Calibri" panose="020F0502020204030204" pitchFamily="34" charset="0"/>
                  <a:cs typeface="Times New Roman" panose="02020603050405020304" pitchFamily="18" charset="0"/>
                </a:endParaRPr>
              </a:p>
              <a:p>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Step 3:</a:t>
                </a:r>
                <a:r>
                  <a:rPr lang="en-US" dirty="0">
                    <a:solidFill>
                      <a:srgbClr val="000000"/>
                    </a:solidFill>
                    <a:latin typeface="inter"/>
                    <a:ea typeface="inter"/>
                    <a:cs typeface="inter"/>
                  </a:rPr>
                  <a:t> Conclusion: Raising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oMath>
                </a14:m>
                <a:r>
                  <a:rPr lang="en-US" dirty="0">
                    <a:solidFill>
                      <a:srgbClr val="000000"/>
                    </a:solidFill>
                    <a:latin typeface="inter"/>
                    <a:ea typeface="inter"/>
                    <a:cs typeface="inter"/>
                  </a:rPr>
                  <a:t> by 0.5 V increases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oMath>
                </a14:m>
                <a:r>
                  <a:rPr lang="en-US" dirty="0">
                    <a:solidFill>
                      <a:srgbClr val="000000"/>
                    </a:solidFill>
                    <a:latin typeface="inter"/>
                    <a:ea typeface="inter"/>
                    <a:cs typeface="inter"/>
                  </a:rPr>
                  <a:t> by about 0.11 V, directly shifting or reducing the current possible for the same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5069529"/>
              </a:xfrm>
              <a:blipFill>
                <a:blip r:embed="rId3"/>
                <a:stretch>
                  <a:fillRect l="-1493" t="-1564"/>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541995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6084" y="0"/>
                <a:ext cx="10593196" cy="861774"/>
              </a:xfrm>
            </p:spPr>
            <p:txBody>
              <a:bodyPr/>
              <a:lstStyle/>
              <a:p>
                <a:pPr marL="0" marR="0" lvl="0" indent="0" defTabSz="914400" eaLnBrk="1" fontAlgn="auto" latinLnBrk="0" hangingPunct="1">
                  <a:spcBef>
                    <a:spcPts val="1575"/>
                  </a:spcBef>
                  <a:spcAft>
                    <a:spcPts val="525"/>
                  </a:spcAft>
                  <a:tabLst/>
                  <a:defRPr/>
                </a:pPr>
                <a14:m>
                  <m:oMath xmlns:m="http://schemas.openxmlformats.org/officeDocument/2006/math">
                    <m:sSub>
                      <m:sSubPr>
                        <m:ctrlPr>
                          <a:rPr lang="en-US" sz="2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2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oMath>
                </a14:m>
                <a:r>
                  <a:rPr lang="en-US" sz="2800" b="1" dirty="0">
                    <a:solidFill>
                      <a:srgbClr val="000000"/>
                    </a:solidFill>
                    <a:latin typeface="inter"/>
                    <a:ea typeface="inter"/>
                    <a:cs typeface="inter"/>
                  </a:rPr>
                  <a:t> (Drain-to-Source Voltage)—Early Effect, Gain, and </a:t>
                </a:r>
                <a:r>
                  <a:rPr lang="en-US" sz="2800" b="1" dirty="0" smtClean="0">
                    <a:solidFill>
                      <a:srgbClr val="000000"/>
                    </a:solidFill>
                    <a:latin typeface="inter"/>
                    <a:ea typeface="inter"/>
                    <a:cs typeface="inter"/>
                  </a:rPr>
                  <a:t>Headroom</a:t>
                </a:r>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6084" y="0"/>
                <a:ext cx="10593196" cy="861774"/>
              </a:xfrm>
              <a:blipFill>
                <a:blip r:embed="rId2"/>
                <a:stretch>
                  <a:fillRect l="-2014" t="-12766" b="-241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585450" cy="4283801"/>
              </a:xfrm>
            </p:spPr>
            <p:txBody>
              <a:bodyPr/>
              <a:lstStyle/>
              <a:p>
                <a:pPr marL="342900" marR="0" lvl="0" indent="-342900" algn="just">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Classic </a:t>
                </a:r>
                <a:r>
                  <a:rPr lang="en-US" b="1" dirty="0">
                    <a:solidFill>
                      <a:srgbClr val="000000"/>
                    </a:solidFill>
                    <a:latin typeface="inter"/>
                    <a:ea typeface="inter"/>
                    <a:cs typeface="inter"/>
                  </a:rPr>
                  <a:t>Model:</a:t>
                </a:r>
                <a:r>
                  <a:rPr lang="en-US" dirty="0">
                    <a:solidFill>
                      <a:srgbClr val="000000"/>
                    </a:solidFill>
                    <a:latin typeface="inter"/>
                    <a:ea typeface="inter"/>
                    <a:cs typeface="inter"/>
                  </a:rPr>
                  <a:t> Square Law says current is independent of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oMath>
                </a14:m>
                <a:r>
                  <a:rPr lang="en-US" dirty="0">
                    <a:solidFill>
                      <a:srgbClr val="000000"/>
                    </a:solidFill>
                    <a:latin typeface="inter"/>
                    <a:ea typeface="inter"/>
                    <a:cs typeface="inter"/>
                  </a:rPr>
                  <a:t> (in saturation), but reality is more complex.</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Modern Reality:</a:t>
                </a:r>
                <a:r>
                  <a:rPr lang="en-US" dirty="0">
                    <a:solidFill>
                      <a:srgbClr val="000000"/>
                    </a:solidFill>
                    <a:latin typeface="inter"/>
                    <a:ea typeface="inter"/>
                    <a:cs typeface="inter"/>
                  </a:rPr>
                  <a:t> Early effect/Channel-Length Modulation (CLM) causes output conductance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oMath>
                </a14:m>
                <a:r>
                  <a:rPr lang="en-US" dirty="0">
                    <a:solidFill>
                      <a:srgbClr val="000000"/>
                    </a:solidFill>
                    <a:latin typeface="inter"/>
                    <a:ea typeface="inter"/>
                    <a:cs typeface="inter"/>
                  </a:rPr>
                  <a:t>), which limits gain. The Early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dirty="0">
                    <a:solidFill>
                      <a:srgbClr val="000000"/>
                    </a:solidFill>
                    <a:latin typeface="inter"/>
                    <a:ea typeface="inter"/>
                    <a:cs typeface="inter"/>
                  </a:rPr>
                  <a:t>) relates to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higher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dirty="0">
                    <a:solidFill>
                      <a:srgbClr val="000000"/>
                    </a:solidFill>
                    <a:latin typeface="inter"/>
                    <a:ea typeface="inter"/>
                    <a:cs typeface="inter"/>
                  </a:rPr>
                  <a:t> leads to higher gain.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How to Maximize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b="1" dirty="0">
                    <a:solidFill>
                      <a:srgbClr val="000000"/>
                    </a:solidFill>
                    <a:latin typeface="inter"/>
                    <a:ea typeface="inter"/>
                    <a:cs typeface="inter"/>
                  </a:rPr>
                  <a:t>:</a:t>
                </a:r>
                <a:r>
                  <a:rPr lang="en-US" dirty="0">
                    <a:solidFill>
                      <a:srgbClr val="000000"/>
                    </a:solidFill>
                    <a:latin typeface="inter"/>
                    <a:ea typeface="inter"/>
                    <a:cs typeface="inter"/>
                  </a:rPr>
                  <a:t> Place the device deep in saturation (well beyond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𝑠𝑎𝑡</m:t>
                        </m:r>
                      </m:sub>
                    </m:sSub>
                  </m:oMath>
                </a14:m>
                <a:r>
                  <a:rPr lang="en-US" dirty="0">
                    <a:solidFill>
                      <a:srgbClr val="000000"/>
                    </a:solidFill>
                    <a:latin typeface="inter"/>
                    <a:ea typeface="inter"/>
                    <a:cs typeface="inter"/>
                  </a:rPr>
                  <a:t>), and use a longer device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Constraints:</a:t>
                </a:r>
                <a:r>
                  <a:rPr lang="en-US" dirty="0">
                    <a:solidFill>
                      <a:srgbClr val="000000"/>
                    </a:solidFill>
                    <a:latin typeface="inter"/>
                    <a:ea typeface="inter"/>
                    <a:cs typeface="inter"/>
                  </a:rPr>
                  <a:t> Headroom limitations often restrict usable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oMath>
                </a14:m>
                <a:r>
                  <a:rPr lang="en-US" dirty="0">
                    <a:solidFill>
                      <a:srgbClr val="000000"/>
                    </a:solidFill>
                    <a:latin typeface="inter"/>
                    <a:ea typeface="inter"/>
                    <a:cs typeface="inter"/>
                  </a:rPr>
                  <a:t>, especially in low-supply designs, making deep saturation difficult.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Design Reality:</a:t>
                </a:r>
                <a:r>
                  <a:rPr lang="en-US" dirty="0">
                    <a:solidFill>
                      <a:srgbClr val="000000"/>
                    </a:solidFill>
                    <a:latin typeface="inter"/>
                    <a:ea typeface="inter"/>
                    <a:cs typeface="inter"/>
                  </a:rPr>
                  <a:t> While potentially helpful for gain,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oMath>
                </a14:m>
                <a:r>
                  <a:rPr lang="en-US" dirty="0">
                    <a:solidFill>
                      <a:srgbClr val="000000"/>
                    </a:solidFill>
                    <a:latin typeface="inter"/>
                    <a:ea typeface="inter"/>
                    <a:cs typeface="inter"/>
                  </a:rPr>
                  <a:t> is usually dictated by supply, signal swing, and is seldom a key design knob.</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85450" cy="4283801"/>
              </a:xfrm>
              <a:blipFill>
                <a:blip r:embed="rId3"/>
                <a:stretch>
                  <a:fillRect l="-1382" t="-1709" r="-144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31611" y="6505391"/>
            <a:ext cx="16396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688594"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164655" y="6513095"/>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1793467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65155"/>
          </a:xfrm>
        </p:spPr>
        <p:txBody>
          <a:bodyPr/>
          <a:lstStyle/>
          <a:p>
            <a:pPr marL="0" marR="0" lvl="0" indent="0" defTabSz="914400" eaLnBrk="1" fontAlgn="auto" latinLnBrk="0" hangingPunct="1">
              <a:lnSpc>
                <a:spcPct val="150000"/>
              </a:lnSpc>
              <a:spcBef>
                <a:spcPts val="1575"/>
              </a:spcBef>
              <a:spcAft>
                <a:spcPts val="525"/>
              </a:spcAft>
              <a:tabLst/>
              <a:defRPr/>
            </a:pPr>
            <a:r>
              <a:rPr lang="en-US" sz="2800" b="1" dirty="0">
                <a:solidFill>
                  <a:srgbClr val="000000"/>
                </a:solidFill>
                <a:latin typeface="inter"/>
                <a:ea typeface="inter"/>
                <a:cs typeface="inter"/>
              </a:rPr>
              <a:t>Example 2: Output Resistance via Early </a:t>
            </a:r>
            <a:r>
              <a:rPr lang="en-US" sz="2800" b="1" dirty="0" smtClean="0">
                <a:solidFill>
                  <a:srgbClr val="000000"/>
                </a:solidFill>
                <a:latin typeface="inter"/>
                <a:ea typeface="inter"/>
                <a:cs typeface="inter"/>
              </a:rPr>
              <a:t>Effect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27617" y="1208819"/>
                <a:ext cx="10881783" cy="5476307"/>
              </a:xfrm>
            </p:spPr>
            <p:txBody>
              <a:bodyPr/>
              <a:lstStyle/>
              <a:p>
                <a:pPr algn="just">
                  <a:spcAft>
                    <a:spcPts val="1050"/>
                  </a:spcAft>
                </a:pPr>
                <a:r>
                  <a:rPr lang="en-US" b="1" dirty="0" smtClean="0">
                    <a:solidFill>
                      <a:srgbClr val="000000"/>
                    </a:solidFill>
                    <a:latin typeface="inter"/>
                    <a:ea typeface="inter"/>
                    <a:cs typeface="inter"/>
                  </a:rPr>
                  <a:t>Given</a:t>
                </a:r>
                <a:r>
                  <a:rPr lang="en-US" b="1"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Symbol" panose="05050102010706020507" pitchFamily="18" charset="2"/>
                  <a:buChar char=""/>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=50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Device length: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=0.36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gn="just">
                  <a:spcBef>
                    <a:spcPts val="525"/>
                  </a:spcBef>
                  <a:spcAft>
                    <a:spcPts val="525"/>
                  </a:spcAft>
                  <a:buFont typeface="Symbol" panose="05050102010706020507" pitchFamily="18" charset="2"/>
                  <a:buChar char=""/>
                  <a:tabLst>
                    <a:tab pos="571500" algn="l"/>
                  </a:tabLst>
                </a:pPr>
                <a:r>
                  <a:rPr lang="en-US" dirty="0">
                    <a:solidFill>
                      <a:srgbClr val="000000"/>
                    </a:solidFill>
                    <a:latin typeface="inter"/>
                    <a:ea typeface="inter"/>
                    <a:cs typeface="inter"/>
                  </a:rPr>
                  <a:t>Early voltage: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b="1" dirty="0">
                    <a:solidFill>
                      <a:srgbClr val="000000"/>
                    </a:solidFill>
                    <a:latin typeface="inter"/>
                    <a:ea typeface="inter"/>
                    <a:cs typeface="inter"/>
                  </a:rPr>
                  <a:t>Step 1:</a:t>
                </a:r>
                <a:r>
                  <a:rPr lang="en-US" dirty="0">
                    <a:solidFill>
                      <a:srgbClr val="000000"/>
                    </a:solidFill>
                    <a:latin typeface="inter"/>
                    <a:ea typeface="inter"/>
                    <a:cs typeface="inter"/>
                  </a:rPr>
                  <a:t> Compute output resistance:</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14:m>
                  <m:oMathPara xmlns:m="http://schemas.openxmlformats.org/officeDocument/2006/math">
                    <m:oMathParaPr>
                      <m:jc m:val="centerGroup"/>
                    </m:oMathParaPr>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20</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50 × </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m:t>
                              </m:r>
                            </m:sup>
                          </m:sSup>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=400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b="1" dirty="0">
                    <a:solidFill>
                      <a:srgbClr val="000000"/>
                    </a:solidFill>
                    <a:latin typeface="inter"/>
                    <a:ea typeface="inter"/>
                    <a:cs typeface="inter"/>
                  </a:rPr>
                  <a:t>Step 2:</a:t>
                </a:r>
                <a:r>
                  <a:rPr lang="en-US" dirty="0">
                    <a:solidFill>
                      <a:srgbClr val="000000"/>
                    </a:solidFill>
                    <a:latin typeface="inter"/>
                    <a:ea typeface="inter"/>
                    <a:cs typeface="inter"/>
                  </a:rPr>
                  <a:t> To improve gain, increase L (assume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dirty="0">
                    <a:solidFill>
                      <a:srgbClr val="000000"/>
                    </a:solidFill>
                    <a:latin typeface="inter"/>
                    <a:ea typeface="inter"/>
                    <a:cs typeface="inter"/>
                  </a:rPr>
                  <a:t> rises to 40 V):</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40</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50 × </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m:t>
                              </m:r>
                            </m:sup>
                          </m:sSup>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=800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m:rPr>
                          <m:sty m:val="p"/>
                        </m:rP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spcAft>
                    <a:spcPts val="1050"/>
                  </a:spcAft>
                </a:pPr>
                <a:r>
                  <a:rPr lang="en-US" b="1" dirty="0">
                    <a:solidFill>
                      <a:srgbClr val="000000"/>
                    </a:solidFill>
                    <a:latin typeface="inter"/>
                    <a:ea typeface="inter"/>
                    <a:cs typeface="inter"/>
                  </a:rPr>
                  <a:t>Design lesson:</a:t>
                </a:r>
                <a:r>
                  <a:rPr lang="en-US" dirty="0">
                    <a:solidFill>
                      <a:srgbClr val="000000"/>
                    </a:solidFill>
                    <a:latin typeface="inter"/>
                    <a:ea typeface="inter"/>
                    <a:cs typeface="inter"/>
                  </a:rPr>
                  <a:t> Increasing L increases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dirty="0">
                    <a:solidFill>
                      <a:srgbClr val="000000"/>
                    </a:solidFill>
                    <a:latin typeface="inter"/>
                    <a:ea typeface="inter"/>
                    <a:cs typeface="inter"/>
                  </a:rPr>
                  <a:t> and thus output resistance, but also increases area and lowers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oMath>
                </a14:m>
                <a:r>
                  <a:rPr lang="en-US"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27617" y="1208819"/>
                <a:ext cx="10881783" cy="5476307"/>
              </a:xfrm>
              <a:blipFill>
                <a:blip r:embed="rId2"/>
                <a:stretch>
                  <a:fillRect l="-1457" t="-1446" r="-1401" b="-1891"/>
                </a:stretch>
              </a:blipFill>
            </p:spPr>
            <p:txBody>
              <a:bodyPr/>
              <a:lstStyle/>
              <a:p>
                <a:r>
                  <a:rPr lang="en-US">
                    <a:noFill/>
                  </a:rPr>
                  <a:t> </a:t>
                </a:r>
              </a:p>
            </p:txBody>
          </p:sp>
        </mc:Fallback>
      </mc:AlternateContent>
    </p:spTree>
    <p:extLst>
      <p:ext uri="{BB962C8B-B14F-4D97-AF65-F5344CB8AC3E}">
        <p14:creationId xmlns:p14="http://schemas.microsoft.com/office/powerpoint/2010/main" val="20224889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79877" y="-110067"/>
                <a:ext cx="11139589" cy="1107996"/>
              </a:xfrm>
            </p:spPr>
            <p:txBody>
              <a:bodyPr/>
              <a:lstStyle/>
              <a:p>
                <a:pPr>
                  <a:spcBef>
                    <a:spcPts val="1575"/>
                  </a:spcBef>
                  <a:spcAft>
                    <a:spcPts val="525"/>
                  </a:spcAft>
                </a:pPr>
                <a14:m>
                  <m:oMath xmlns:m="http://schemas.openxmlformats.org/officeDocument/2006/math">
                    <m:sSub>
                      <m:sSubPr>
                        <m:ctrlP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sz="3600" b="1" dirty="0">
                    <a:solidFill>
                      <a:srgbClr val="000000"/>
                    </a:solidFill>
                    <a:latin typeface="inter"/>
                    <a:ea typeface="inter"/>
                    <a:cs typeface="inter"/>
                  </a:rPr>
                  <a:t> (Gate-to-Source Voltage)—The 'Control Knob' (but really, </a:t>
                </a:r>
                <a14:m>
                  <m:oMath xmlns:m="http://schemas.openxmlformats.org/officeDocument/2006/math">
                    <m:sSub>
                      <m:sSubPr>
                        <m:ctrlP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3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3600" b="1" dirty="0">
                    <a:solidFill>
                      <a:srgbClr val="000000"/>
                    </a:solidFill>
                    <a:latin typeface="inter"/>
                    <a:ea typeface="inter"/>
                    <a:cs typeface="inter"/>
                  </a:rPr>
                  <a:t>)</a:t>
                </a:r>
                <a:endParaRPr lang="en-US" sz="2800"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79877" y="-110067"/>
                <a:ext cx="11139589" cy="1107996"/>
              </a:xfrm>
              <a:blipFill>
                <a:blip r:embed="rId2"/>
                <a:stretch>
                  <a:fillRect l="-2518" t="-12637" b="-236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9317" cy="3398366"/>
              </a:xfrm>
            </p:spPr>
            <p:txBody>
              <a:bodyPr/>
              <a:lstStyle/>
              <a:p>
                <a:pPr marL="457200" marR="0" lvl="0" indent="-457200" algn="just">
                  <a:spcBef>
                    <a:spcPts val="525"/>
                  </a:spcBef>
                  <a:spcAft>
                    <a:spcPts val="525"/>
                  </a:spcAft>
                  <a:buFont typeface="Wingdings" panose="05000000000000000000" pitchFamily="2" charset="2"/>
                  <a:buChar char="q"/>
                  <a:tabLst>
                    <a:tab pos="571500" algn="l"/>
                  </a:tabLst>
                </a:pPr>
                <a:r>
                  <a:rPr lang="en-US" b="1" dirty="0" smtClean="0">
                    <a:solidFill>
                      <a:srgbClr val="000000"/>
                    </a:solidFill>
                    <a:effectLst/>
                    <a:latin typeface="inter"/>
                    <a:ea typeface="inter"/>
                    <a:cs typeface="inter"/>
                  </a:rPr>
                  <a:t>Core </a:t>
                </a:r>
                <a:r>
                  <a:rPr lang="en-US" b="1" dirty="0">
                    <a:solidFill>
                      <a:srgbClr val="000000"/>
                    </a:solidFill>
                    <a:effectLst/>
                    <a:latin typeface="inter"/>
                    <a:ea typeface="inter"/>
                    <a:cs typeface="inter"/>
                  </a:rPr>
                  <a:t>Impact:</a:t>
                </a:r>
                <a:r>
                  <a:rPr lang="en-US" dirty="0">
                    <a:solidFill>
                      <a:srgbClr val="000000"/>
                    </a:solidFill>
                    <a:effectLst/>
                    <a:latin typeface="inter"/>
                    <a:ea typeface="inter"/>
                    <a:cs typeface="inter"/>
                  </a:rPr>
                  <a: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effectLst/>
                    <a:latin typeface="inter"/>
                    <a:ea typeface="inter"/>
                    <a:cs typeface="inter"/>
                  </a:rPr>
                  <a:t> directly governs the channel, controlling </a:t>
                </a:r>
                <a:r>
                  <a:rPr lang="en-US" dirty="0" err="1">
                    <a:solidFill>
                      <a:srgbClr val="000000"/>
                    </a:solidFill>
                    <a:effectLst/>
                    <a:latin typeface="inter"/>
                    <a:ea typeface="inter"/>
                    <a:cs typeface="inter"/>
                  </a:rPr>
                  <a:t>transconductance</a:t>
                </a:r>
                <a:r>
                  <a:rPr lang="en-US" dirty="0">
                    <a:solidFill>
                      <a:srgbClr val="000000"/>
                    </a:solidFill>
                    <a:effectLst/>
                    <a:latin typeface="inter"/>
                    <a:ea typeface="inter"/>
                    <a:cs typeface="inter"/>
                  </a:rPr>
                  <a:t>, bias point, speed, and noise. It is the voltage to which people traditionally attribute most of the transistor's "control."</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spcBef>
                    <a:spcPts val="525"/>
                  </a:spcBef>
                  <a:spcAft>
                    <a:spcPts val="525"/>
                  </a:spcAft>
                  <a:buFont typeface="Wingdings" panose="05000000000000000000" pitchFamily="2" charset="2"/>
                  <a:buChar char="q"/>
                  <a:tabLst>
                    <a:tab pos="571500" algn="l"/>
                  </a:tabLst>
                </a:pPr>
                <a:r>
                  <a:rPr lang="en-US" b="1" dirty="0">
                    <a:solidFill>
                      <a:srgbClr val="000000"/>
                    </a:solidFill>
                    <a:effectLst/>
                    <a:latin typeface="inter"/>
                    <a:ea typeface="inter"/>
                    <a:cs typeface="inter"/>
                  </a:rPr>
                  <a:t>How Design Actually Proceeds:</a:t>
                </a:r>
                <a:r>
                  <a:rPr lang="en-US" dirty="0">
                    <a:solidFill>
                      <a:srgbClr val="000000"/>
                    </a:solidFill>
                    <a:effectLst/>
                    <a:latin typeface="inter"/>
                    <a:ea typeface="inter"/>
                    <a:cs typeface="inter"/>
                  </a:rPr>
                  <a:t> Rather than setting a specific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effectLst/>
                    <a:latin typeface="inter"/>
                    <a:ea typeface="inter"/>
                    <a:cs typeface="inter"/>
                  </a:rPr>
                  <a:t>, designers set reference currents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effectLst/>
                    <a:latin typeface="inter"/>
                    <a:ea typeface="inter"/>
                    <a:cs typeface="inter"/>
                  </a:rPr>
                  <a:t>) through current sources/mirrors.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effectLst/>
                    <a:latin typeface="inter"/>
                    <a:ea typeface="inter"/>
                    <a:cs typeface="inter"/>
                  </a:rPr>
                  <a:t> is then implicitly determined by the chosen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effectLst/>
                    <a:latin typeface="inter"/>
                    <a:ea typeface="inter"/>
                    <a:cs typeface="inter"/>
                  </a:rPr>
                  <a:t>, technology, and previous sizing.</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457200" marR="0" lvl="0" indent="-457200" algn="just">
                  <a:spcBef>
                    <a:spcPts val="525"/>
                  </a:spcBef>
                  <a:spcAft>
                    <a:spcPts val="525"/>
                  </a:spcAft>
                  <a:buFont typeface="Wingdings" panose="05000000000000000000" pitchFamily="2" charset="2"/>
                  <a:buChar char="q"/>
                  <a:tabLst>
                    <a:tab pos="571500" algn="l"/>
                  </a:tabLst>
                </a:pPr>
                <a:r>
                  <a:rPr lang="en-US" b="1" dirty="0">
                    <a:solidFill>
                      <a:srgbClr val="000000"/>
                    </a:solidFill>
                    <a:effectLst/>
                    <a:latin typeface="inter"/>
                    <a:ea typeface="inter"/>
                    <a:cs typeface="inter"/>
                  </a:rPr>
                  <a:t>Key Insight:</a:t>
                </a:r>
                <a:r>
                  <a:rPr lang="en-US" dirty="0">
                    <a:solidFill>
                      <a:srgbClr val="000000"/>
                    </a:solidFill>
                    <a:effectLst/>
                    <a:latin typeface="inter"/>
                    <a:ea typeface="inter"/>
                    <a:cs typeface="inter"/>
                  </a:rPr>
                  <a:t> The truly actionable lever is </a:t>
                </a:r>
                <a:r>
                  <a:rPr lang="en-US" b="1" dirty="0">
                    <a:solidFill>
                      <a:srgbClr val="000000"/>
                    </a:solidFill>
                    <a:effectLst/>
                    <a:latin typeface="inter"/>
                    <a:ea typeface="inter"/>
                    <a:cs typeface="inter"/>
                  </a:rPr>
                  <a:t>bias current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b="1" dirty="0">
                    <a:solidFill>
                      <a:srgbClr val="000000"/>
                    </a:solidFill>
                    <a:effectLst/>
                    <a:latin typeface="inter"/>
                    <a:ea typeface="inter"/>
                    <a:cs typeface="inter"/>
                  </a:rPr>
                  <a:t>)</a:t>
                </a:r>
                <a:r>
                  <a:rPr lang="en-US" dirty="0">
                    <a:solidFill>
                      <a:srgbClr val="000000"/>
                    </a:solidFill>
                    <a:effectLst/>
                    <a:latin typeface="inter"/>
                    <a:ea typeface="inter"/>
                    <a:cs typeface="inter"/>
                  </a:rPr>
                  <a:t>, not direct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dirty="0">
                    <a:solidFill>
                      <a:srgbClr val="000000"/>
                    </a:solidFill>
                    <a:effectLst/>
                    <a:latin typeface="inter"/>
                    <a:ea typeface="inter"/>
                    <a:cs typeface="inter"/>
                  </a:rPr>
                  <a:t>. Modern flows thus always phrase spec trade-offs in terms of current and gm/ID, not gate voltage by itself.</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3398366"/>
              </a:xfrm>
              <a:blipFill>
                <a:blip r:embed="rId3"/>
                <a:stretch>
                  <a:fillRect l="-1378" t="-2154" r="-1435"/>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1283522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65155"/>
          </a:xfrm>
        </p:spPr>
        <p:txBody>
          <a:bodyPr/>
          <a:lstStyle/>
          <a:p>
            <a:pPr marL="0" marR="0" lvl="0" indent="0" defTabSz="914400" eaLnBrk="1" fontAlgn="auto" latinLnBrk="0" hangingPunct="1">
              <a:lnSpc>
                <a:spcPct val="150000"/>
              </a:lnSpc>
              <a:spcBef>
                <a:spcPts val="1575"/>
              </a:spcBef>
              <a:spcAft>
                <a:spcPts val="525"/>
              </a:spcAft>
              <a:tabLst/>
              <a:defRPr/>
            </a:pPr>
            <a:r>
              <a:rPr lang="en-US" sz="2800" b="1" dirty="0">
                <a:solidFill>
                  <a:srgbClr val="000000"/>
                </a:solidFill>
                <a:latin typeface="inter"/>
                <a:ea typeface="inter"/>
                <a:cs typeface="inter"/>
              </a:rPr>
              <a:t>Setting ID (via gm/ID) for Required </a:t>
            </a:r>
            <a:r>
              <a:rPr lang="en-US" sz="2800" b="1" dirty="0" smtClean="0">
                <a:solidFill>
                  <a:srgbClr val="000000"/>
                </a:solidFill>
                <a:latin typeface="inter"/>
                <a:ea typeface="inter"/>
                <a:cs typeface="inter"/>
              </a:rPr>
              <a:t>Noise/Speed</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70117" cy="3841436"/>
              </a:xfrm>
            </p:spPr>
            <p:txBody>
              <a:bodyPr/>
              <a:lstStyle/>
              <a:p>
                <a:pPr algn="just">
                  <a:lnSpc>
                    <a:spcPct val="150000"/>
                  </a:lnSpc>
                  <a:spcAft>
                    <a:spcPts val="1050"/>
                  </a:spcAft>
                </a:pPr>
                <a:r>
                  <a:rPr lang="en-US" b="1" dirty="0" smtClean="0">
                    <a:solidFill>
                      <a:srgbClr val="000000"/>
                    </a:solidFill>
                    <a:latin typeface="inter"/>
                    <a:ea typeface="inter"/>
                    <a:cs typeface="inter"/>
                  </a:rPr>
                  <a:t>Spec</a:t>
                </a:r>
                <a:r>
                  <a:rPr lang="en-US" b="1" dirty="0">
                    <a:solidFill>
                      <a:srgbClr val="000000"/>
                    </a:solidFill>
                    <a:latin typeface="inter"/>
                    <a:ea typeface="inter"/>
                    <a:cs typeface="inter"/>
                  </a:rPr>
                  <a:t>:</a:t>
                </a:r>
                <a:r>
                  <a:rPr lang="en-US" dirty="0">
                    <a:solidFill>
                      <a:srgbClr val="000000"/>
                    </a:solidFill>
                    <a:latin typeface="inter"/>
                    <a:ea typeface="inter"/>
                    <a:cs typeface="inter"/>
                  </a:rPr>
                  <a:t> Design an input device with</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Required gm: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𝑚𝑆</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Technology: In moderate inversion,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=15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spcAft>
                    <a:spcPts val="1050"/>
                  </a:spcAft>
                </a:pPr>
                <a:r>
                  <a:rPr lang="en-US" b="1" dirty="0">
                    <a:solidFill>
                      <a:srgbClr val="000000"/>
                    </a:solidFill>
                    <a:latin typeface="inter"/>
                    <a:ea typeface="inter"/>
                    <a:cs typeface="inter"/>
                  </a:rPr>
                  <a:t>Step 1:</a:t>
                </a:r>
                <a:r>
                  <a:rPr lang="en-US" dirty="0">
                    <a:solidFill>
                      <a:srgbClr val="000000"/>
                    </a:solidFill>
                    <a:latin typeface="inter"/>
                    <a:ea typeface="inter"/>
                    <a:cs typeface="inter"/>
                  </a:rPr>
                  <a:t> Compute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𝑔𝑚</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𝐼𝐷</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 × </m:t>
                          </m:r>
                          <m:sSup>
                            <m:sSup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sup>
                          </m:sSup>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15</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=66.7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oMath>
                  </m:oMathPara>
                </a14:m>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r>
                  <a:rPr lang="en-US" b="1" dirty="0">
                    <a:solidFill>
                      <a:srgbClr val="000000"/>
                    </a:solidFill>
                    <a:latin typeface="inter"/>
                    <a:ea typeface="inter"/>
                    <a:cs typeface="inter"/>
                  </a:rPr>
                  <a:t>Step 2:</a:t>
                </a:r>
                <a:r>
                  <a:rPr lang="en-US" dirty="0">
                    <a:solidFill>
                      <a:srgbClr val="000000"/>
                    </a:solidFill>
                    <a:latin typeface="inter"/>
                    <a:ea typeface="inter"/>
                    <a:cs typeface="inter"/>
                  </a:rPr>
                  <a:t> Result: For that noise and speed, bias the device at about 67 µA in moderate inversion</a:t>
                </a:r>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70117" cy="3841436"/>
              </a:xfrm>
              <a:blipFill>
                <a:blip r:embed="rId2"/>
                <a:stretch>
                  <a:fillRect l="-1486" r="-1257" b="-794"/>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14676" y="6496924"/>
            <a:ext cx="1453389" cy="2086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90661" y="6462294"/>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418655" y="6462295"/>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44477625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9878" y="192617"/>
            <a:ext cx="10593196" cy="729815"/>
          </a:xfrm>
        </p:spPr>
        <p:txBody>
          <a:bodyPr/>
          <a:lstStyle/>
          <a:p>
            <a:pPr>
              <a:lnSpc>
                <a:spcPct val="150000"/>
              </a:lnSpc>
              <a:spcBef>
                <a:spcPts val="1575"/>
              </a:spcBef>
              <a:spcAft>
                <a:spcPts val="525"/>
              </a:spcAft>
            </a:pPr>
            <a:r>
              <a:rPr lang="en-US" sz="3600" b="1" dirty="0">
                <a:solidFill>
                  <a:srgbClr val="000000"/>
                </a:solidFill>
                <a:latin typeface="inter"/>
                <a:ea typeface="inter"/>
                <a:cs typeface="inter"/>
              </a:rPr>
              <a:t>L (Length)—Speed, Gain, Matching, and Noise</a:t>
            </a:r>
            <a:endParaRPr lang="en-US" sz="2800" dirty="0">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9317" cy="4885953"/>
              </a:xfrm>
            </p:spPr>
            <p:txBody>
              <a:bodyPr/>
              <a:lstStyle/>
              <a:p>
                <a:pPr marL="342900" marR="0" lvl="0" indent="-342900">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Shorter </a:t>
                </a:r>
                <a:r>
                  <a:rPr lang="en-US" b="1" dirty="0">
                    <a:solidFill>
                      <a:srgbClr val="000000"/>
                    </a:solidFill>
                    <a:latin typeface="inter"/>
                    <a:ea typeface="inter"/>
                    <a:cs typeface="inter"/>
                  </a:rPr>
                  <a:t>L (minimum):</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Reduced area, minimized input gate capacitance (faster charging/discharging).</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Maximized speed (higher </a:t>
                </a:r>
                <a:r>
                  <a:rPr lang="en-US" sz="1800" dirty="0" err="1">
                    <a:solidFill>
                      <a:srgbClr val="000000"/>
                    </a:solidFill>
                    <a:effectLst/>
                    <a:latin typeface="inter"/>
                    <a:ea typeface="inter"/>
                    <a:cs typeface="inter"/>
                  </a:rPr>
                  <a:t>f</a:t>
                </a:r>
                <a:r>
                  <a:rPr lang="en-US" sz="1800" baseline="-25000" dirty="0" err="1">
                    <a:solidFill>
                      <a:srgbClr val="000000"/>
                    </a:solidFill>
                    <a:effectLst/>
                    <a:latin typeface="inter"/>
                    <a:ea typeface="inter"/>
                    <a:cs typeface="inter"/>
                  </a:rPr>
                  <a:t>t</a:t>
                </a:r>
                <a:r>
                  <a:rPr lang="en-US" sz="1800" dirty="0">
                    <a:solidFill>
                      <a:srgbClr val="000000"/>
                    </a:solidFill>
                    <a:effectLst/>
                    <a:latin typeface="inter"/>
                    <a:ea typeface="inter"/>
                    <a:cs typeface="inter"/>
                  </a:rPr>
                  <a: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Longer L:</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Greater Early voltage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sub>
                    </m:sSub>
                  </m:oMath>
                </a14:m>
                <a:r>
                  <a:rPr lang="en-US" sz="1800" dirty="0">
                    <a:solidFill>
                      <a:srgbClr val="000000"/>
                    </a:solidFill>
                    <a:effectLst/>
                    <a:latin typeface="inter"/>
                    <a:ea typeface="inter"/>
                    <a:cs typeface="inter"/>
                  </a:rPr>
                  <a:t>)—increases output resistance, raises gain.</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Better device matching (random mismatch reduces as area enlarges).</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Reduces flicker noise.</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Design Philosophy:</a:t>
                </a:r>
                <a:r>
                  <a:rPr lang="en-US" dirty="0">
                    <a:solidFill>
                      <a:srgbClr val="000000"/>
                    </a:solidFill>
                    <a:latin typeface="inter"/>
                    <a:ea typeface="inter"/>
                    <a:cs typeface="inter"/>
                  </a:rPr>
                  <a:t> Choose L primarily based on the need for speed (short L) or precision (long L). For high-speed blocks, minimize L; for references, mirrors, or precise input pairs, increase L.</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4885953"/>
              </a:xfrm>
              <a:blipFill>
                <a:blip r:embed="rId2"/>
                <a:stretch>
                  <a:fillRect l="-1378" t="-1623" r="-183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823708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677562" y="-140435"/>
                <a:ext cx="10593196" cy="1210652"/>
              </a:xfrm>
            </p:spPr>
            <p:txBody>
              <a:bodyPr/>
              <a:lstStyle/>
              <a:p>
                <a:pPr marL="0" marR="0" lvl="0" indent="0" defTabSz="914400" eaLnBrk="1" fontAlgn="auto" latinLnBrk="0" hangingPunct="1">
                  <a:lnSpc>
                    <a:spcPct val="150000"/>
                  </a:lnSpc>
                  <a:spcBef>
                    <a:spcPts val="1575"/>
                  </a:spcBef>
                  <a:spcAft>
                    <a:spcPts val="525"/>
                  </a:spcAft>
                  <a:buClrTx/>
                  <a:buSzTx/>
                  <a:buFontTx/>
                  <a:buNone/>
                  <a:tabLst/>
                  <a:defRPr/>
                </a:pPr>
                <a:r>
                  <a:rPr lang="en-US" sz="3600" b="1" dirty="0">
                    <a:solidFill>
                      <a:srgbClr val="000000"/>
                    </a:solidFill>
                    <a:latin typeface="inter"/>
                    <a:ea typeface="inter"/>
                    <a:cs typeface="inter"/>
                  </a:rPr>
                  <a:t>Calculating W from </a:t>
                </a:r>
                <a14:m>
                  <m:oMath xmlns:m="http://schemas.openxmlformats.org/officeDocument/2006/math">
                    <m:f>
                      <m:fPr>
                        <m:ctrlPr>
                          <a:rPr lang="en-US" sz="3600" i="1">
                            <a:latin typeface="Cambria Math" panose="02040503050406030204" pitchFamily="18" charset="0"/>
                          </a:rPr>
                        </m:ctrlPr>
                      </m:fPr>
                      <m:num>
                        <m:sSub>
                          <m:sSubPr>
                            <m:ctrlPr>
                              <a:rPr lang="en-US" sz="3600" i="1">
                                <a:latin typeface="Cambria Math" panose="02040503050406030204" pitchFamily="18" charset="0"/>
                              </a:rPr>
                            </m:ctrlPr>
                          </m:sSubPr>
                          <m:e>
                            <m:r>
                              <a:rPr lang="en-US" sz="3600" i="1">
                                <a:latin typeface="Cambria Math" panose="02040503050406030204" pitchFamily="18" charset="0"/>
                              </a:rPr>
                              <m:t>𝑔</m:t>
                            </m:r>
                          </m:e>
                          <m:sub>
                            <m:r>
                              <a:rPr lang="en-US" sz="3600" i="1">
                                <a:latin typeface="Cambria Math" panose="02040503050406030204" pitchFamily="18" charset="0"/>
                              </a:rPr>
                              <m:t>𝑚</m:t>
                            </m:r>
                          </m:sub>
                        </m:sSub>
                      </m:num>
                      <m:den>
                        <m:sSub>
                          <m:sSubPr>
                            <m:ctrlPr>
                              <a:rPr lang="en-US" sz="3600" i="1">
                                <a:latin typeface="Cambria Math" panose="02040503050406030204" pitchFamily="18" charset="0"/>
                              </a:rPr>
                            </m:ctrlPr>
                          </m:sSubPr>
                          <m:e>
                            <m:r>
                              <a:rPr lang="en-US" sz="3600" i="1">
                                <a:latin typeface="Cambria Math" panose="02040503050406030204" pitchFamily="18" charset="0"/>
                              </a:rPr>
                              <m:t>𝐼</m:t>
                            </m:r>
                          </m:e>
                          <m:sub>
                            <m:r>
                              <a:rPr lang="en-US" sz="3600" i="1">
                                <a:latin typeface="Cambria Math" panose="02040503050406030204" pitchFamily="18" charset="0"/>
                              </a:rPr>
                              <m:t>𝐷</m:t>
                            </m:r>
                          </m:sub>
                        </m:sSub>
                      </m:den>
                    </m:f>
                  </m:oMath>
                </a14:m>
                <a:r>
                  <a:rPr lang="en-US" sz="3600" b="1" dirty="0">
                    <a:solidFill>
                      <a:srgbClr val="000000"/>
                    </a:solidFill>
                    <a:latin typeface="inter"/>
                    <a:ea typeface="inter"/>
                    <a:cs typeface="inter"/>
                  </a:rPr>
                  <a:t> Table (LUT approach)</a:t>
                </a:r>
                <a:endParaRPr lang="en-US" sz="2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677562" y="-140435"/>
                <a:ext cx="10593196" cy="1210652"/>
              </a:xfrm>
              <a:blipFill>
                <a:blip r:embed="rId2"/>
                <a:stretch>
                  <a:fillRect l="-25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9317" cy="4816960"/>
              </a:xfrm>
            </p:spPr>
            <p:txBody>
              <a:bodyPr/>
              <a:lstStyle/>
              <a:p>
                <a:pPr>
                  <a:lnSpc>
                    <a:spcPct val="150000"/>
                  </a:lnSpc>
                  <a:spcAft>
                    <a:spcPts val="1050"/>
                  </a:spcAft>
                </a:pPr>
                <a:r>
                  <a:rPr lang="en-US" b="1" dirty="0" smtClean="0">
                    <a:solidFill>
                      <a:srgbClr val="000000"/>
                    </a:solidFill>
                    <a:effectLst/>
                    <a:latin typeface="inter"/>
                    <a:ea typeface="inter"/>
                    <a:cs typeface="inter"/>
                  </a:rPr>
                  <a:t>Given</a:t>
                </a:r>
                <a:r>
                  <a:rPr lang="en-US" b="1" dirty="0">
                    <a:solidFill>
                      <a:srgbClr val="000000"/>
                    </a:solidFill>
                    <a:effectLst/>
                    <a:latin typeface="inter"/>
                    <a:ea typeface="inter"/>
                    <a:cs typeface="inter"/>
                  </a:rPr>
                  <a:t>:</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Symbol" panose="05050102010706020507" pitchFamily="18" charset="2"/>
                  <a:buChar char=""/>
                  <a:tabLst>
                    <a:tab pos="571500" algn="l"/>
                  </a:tabLst>
                </a:pP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=67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oMath>
                </a14:m>
                <a:r>
                  <a:rPr lang="en-US" dirty="0">
                    <a:solidFill>
                      <a:srgbClr val="000000"/>
                    </a:solidFill>
                    <a:effectLst/>
                    <a:latin typeface="inter"/>
                    <a:ea typeface="inter"/>
                    <a:cs typeface="inter"/>
                  </a:rPr>
                  <a:t>, </a:t>
                </a:r>
                <a14:m>
                  <m:oMath xmlns:m="http://schemas.openxmlformats.org/officeDocument/2006/math">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=0.36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US" dirty="0">
                    <a:solidFill>
                      <a:srgbClr val="000000"/>
                    </a:solidFill>
                    <a:effectLst/>
                    <a:latin typeface="inter"/>
                    <a:ea typeface="inter"/>
                    <a:cs typeface="inter"/>
                  </a:rPr>
                  <a:t>, </a:t>
                </a:r>
                <a14:m>
                  <m:oMath xmlns:m="http://schemas.openxmlformats.org/officeDocument/2006/math">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𝑔𝑚</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𝐼𝐷</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=15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oMath>
                </a14:m>
                <a:r>
                  <a:rPr lang="en-US" dirty="0">
                    <a:solidFill>
                      <a:srgbClr val="000000"/>
                    </a:solidFill>
                    <a:effectLst/>
                    <a:latin typeface="inter"/>
                    <a:ea typeface="inter"/>
                    <a:cs typeface="inter"/>
                  </a:rPr>
                  <a:t> (moderate inversion)</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Symbol" panose="05050102010706020507" pitchFamily="18" charset="2"/>
                  <a:buChar char=""/>
                  <a:tabLst>
                    <a:tab pos="571500" algn="l"/>
                  </a:tabLst>
                </a:pPr>
                <a:r>
                  <a:rPr lang="en-US" dirty="0">
                    <a:solidFill>
                      <a:srgbClr val="000000"/>
                    </a:solidFill>
                    <a:effectLst/>
                    <a:latin typeface="inter"/>
                    <a:ea typeface="inter"/>
                    <a:cs typeface="inter"/>
                  </a:rPr>
                  <a:t>gm/ID table says, for </a:t>
                </a:r>
                <a14:m>
                  <m:oMath xmlns:m="http://schemas.openxmlformats.org/officeDocument/2006/math">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=0.36</m:t>
                    </m:r>
                  </m:oMath>
                </a14:m>
                <a:r>
                  <a:rPr lang="en-US" dirty="0">
                    <a:solidFill>
                      <a:srgbClr val="000000"/>
                    </a:solidFill>
                    <a:effectLst/>
                    <a:latin typeface="inter"/>
                    <a:ea typeface="inter"/>
                    <a:cs typeface="inter"/>
                  </a:rPr>
                  <a:t>, </a:t>
                </a:r>
                <a14:m>
                  <m:oMath xmlns:m="http://schemas.openxmlformats.org/officeDocument/2006/math">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US" dirty="0">
                    <a:solidFill>
                      <a:srgbClr val="000000"/>
                    </a:solidFill>
                    <a:effectLst/>
                    <a:latin typeface="inter"/>
                    <a:ea typeface="inter"/>
                    <a:cs typeface="inter"/>
                  </a:rPr>
                  <a:t> at this bias</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b="1" dirty="0">
                    <a:solidFill>
                      <a:srgbClr val="000000"/>
                    </a:solidFill>
                    <a:effectLst/>
                    <a:latin typeface="inter"/>
                    <a:ea typeface="inter"/>
                    <a:cs typeface="inter"/>
                  </a:rPr>
                  <a:t>Step 1:</a:t>
                </a:r>
                <a:r>
                  <a:rPr lang="en-US" dirty="0">
                    <a:solidFill>
                      <a:srgbClr val="000000"/>
                    </a:solidFill>
                    <a:effectLst/>
                    <a:latin typeface="inter"/>
                    <a:ea typeface="inter"/>
                    <a:cs typeface="inter"/>
                  </a:rPr>
                  <a:t> Compute required W:</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num>
                        <m:den>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den>
                      </m:f>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67 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num>
                        <m:den>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den>
                      </m:f>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=6.7 </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b="1" dirty="0">
                    <a:solidFill>
                      <a:srgbClr val="000000"/>
                    </a:solidFill>
                    <a:effectLst/>
                    <a:latin typeface="inter"/>
                    <a:ea typeface="inter"/>
                    <a:cs typeface="inter"/>
                  </a:rPr>
                  <a:t>Step 2:</a:t>
                </a:r>
                <a:r>
                  <a:rPr lang="en-US" dirty="0">
                    <a:solidFill>
                      <a:srgbClr val="000000"/>
                    </a:solidFill>
                    <a:effectLst/>
                    <a:latin typeface="inter"/>
                    <a:ea typeface="inter"/>
                    <a:cs typeface="inter"/>
                  </a:rPr>
                  <a:t> Chosen W is 6.7 µm. If you change ID, inversion level, or L, revisit your LUT to re-size W.</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algn="just"/>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4816960"/>
              </a:xfrm>
              <a:blipFill>
                <a:blip r:embed="rId3"/>
                <a:stretch>
                  <a:fillRect l="-1493" r="-1435"/>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59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58059344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1412" y="82550"/>
            <a:ext cx="10593196" cy="984885"/>
          </a:xfrm>
        </p:spPr>
        <p:txBody>
          <a:bodyPr/>
          <a:lstStyle/>
          <a:p>
            <a:pPr>
              <a:spcBef>
                <a:spcPts val="1575"/>
              </a:spcBef>
              <a:spcAft>
                <a:spcPts val="525"/>
              </a:spcAft>
            </a:pPr>
            <a:r>
              <a:rPr lang="en-US" sz="3200" b="1" dirty="0">
                <a:solidFill>
                  <a:srgbClr val="000000"/>
                </a:solidFill>
                <a:latin typeface="inter"/>
                <a:ea typeface="inter"/>
                <a:cs typeface="inter"/>
              </a:rPr>
              <a:t>W (Width)—The True Sizing Variable (But the Most Interdependent)</a:t>
            </a:r>
            <a:endParaRPr lang="en-US" sz="2400" dirty="0">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19317" cy="5302029"/>
              </a:xfrm>
            </p:spPr>
            <p:txBody>
              <a:bodyPr/>
              <a:lstStyle/>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smtClean="0">
                    <a:solidFill>
                      <a:srgbClr val="000000"/>
                    </a:solidFill>
                    <a:latin typeface="inter"/>
                    <a:ea typeface="inter"/>
                    <a:cs typeface="inter"/>
                  </a:rPr>
                  <a:t>W </a:t>
                </a:r>
                <a:r>
                  <a:rPr lang="en-US" b="1" dirty="0">
                    <a:solidFill>
                      <a:srgbClr val="000000"/>
                    </a:solidFill>
                    <a:latin typeface="inter"/>
                    <a:ea typeface="inter"/>
                    <a:cs typeface="inter"/>
                  </a:rPr>
                  <a:t>in Old Flows:</a:t>
                </a:r>
                <a:r>
                  <a:rPr lang="en-US" dirty="0">
                    <a:solidFill>
                      <a:srgbClr val="000000"/>
                    </a:solidFill>
                    <a:latin typeface="inter"/>
                    <a:ea typeface="inter"/>
                    <a:cs typeface="inter"/>
                  </a:rPr>
                  <a:t> In classic strong inversion, one could choose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𝑜𝑣</m:t>
                        </m:r>
                      </m:sub>
                    </m:sSub>
                  </m:oMath>
                </a14:m>
                <a:r>
                  <a:rPr lang="en-US" dirty="0">
                    <a:solidFill>
                      <a:srgbClr val="000000"/>
                    </a:solidFill>
                    <a:latin typeface="inter"/>
                    <a:ea typeface="inter"/>
                    <a:cs typeface="inter"/>
                  </a:rPr>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oMath>
                </a14:m>
                <a:r>
                  <a:rPr lang="en-US" dirty="0">
                    <a:solidFill>
                      <a:srgbClr val="000000"/>
                    </a:solidFill>
                    <a:latin typeface="inter"/>
                    <a:ea typeface="inter"/>
                    <a:cs typeface="inter"/>
                  </a:rPr>
                  <a:t>) and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and calculate W using square-law equations.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Modern Constraint:</a:t>
                </a:r>
                <a:r>
                  <a:rPr lang="en-US" dirty="0">
                    <a:solidFill>
                      <a:srgbClr val="000000"/>
                    </a:solidFill>
                    <a:latin typeface="inter"/>
                    <a:ea typeface="inter"/>
                    <a:cs typeface="inter"/>
                  </a:rPr>
                  <a:t> The square law does NOT hold for short-channel or even modern moderate and weak inversion operation: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In MI/WI, or in short-channel devices, W must be “chased” after setting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800" dirty="0">
                    <a:solidFill>
                      <a:srgbClr val="000000"/>
                    </a:solidFill>
                    <a:effectLst/>
                    <a:latin typeface="inter"/>
                    <a:ea typeface="inter"/>
                    <a:cs typeface="inter"/>
                  </a:rPr>
                  <a:t>, L, and desired inversion level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sz="1800" dirty="0">
                    <a:solidFill>
                      <a:srgbClr val="000000"/>
                    </a:solidFill>
                    <a:effectLst/>
                    <a:latin typeface="inter"/>
                    <a:ea typeface="inter"/>
                    <a:cs typeface="inter"/>
                  </a:rPr>
                  <a: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lnSpc>
                    <a:spcPct val="150000"/>
                  </a:lnSpc>
                  <a:spcBef>
                    <a:spcPts val="525"/>
                  </a:spcBef>
                  <a:spcAft>
                    <a:spcPts val="525"/>
                  </a:spcAft>
                  <a:buFont typeface="Courier New" panose="02070309020205020404" pitchFamily="49" charset="0"/>
                  <a:buChar char="o"/>
                  <a:tabLst>
                    <a:tab pos="914400" algn="l"/>
                  </a:tabLst>
                </a:pPr>
                <a:r>
                  <a:rPr lang="en-US" sz="1800" dirty="0">
                    <a:solidFill>
                      <a:srgbClr val="000000"/>
                    </a:solidFill>
                    <a:effectLst/>
                    <a:latin typeface="inter"/>
                    <a:ea typeface="inter"/>
                    <a:cs typeface="inter"/>
                  </a:rPr>
                  <a:t>There is no direct link between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Sub>
                  </m:oMath>
                </a14:m>
                <a:r>
                  <a:rPr lang="en-US" sz="1800" dirty="0">
                    <a:solidFill>
                      <a:srgbClr val="000000"/>
                    </a:solidFill>
                    <a:effectLst/>
                    <a:latin typeface="inter"/>
                    <a:ea typeface="inter"/>
                    <a:cs typeface="inter"/>
                  </a:rPr>
                  <a:t> and circuit specs.</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Wingdings" panose="05000000000000000000" pitchFamily="2" charset="2"/>
                  <a:buChar char="q"/>
                  <a:tabLst>
                    <a:tab pos="571500" algn="l"/>
                  </a:tabLst>
                </a:pPr>
                <a:r>
                  <a:rPr lang="en-US" b="1" dirty="0">
                    <a:solidFill>
                      <a:srgbClr val="000000"/>
                    </a:solidFill>
                    <a:latin typeface="inter"/>
                    <a:ea typeface="inter"/>
                    <a:cs typeface="inter"/>
                  </a:rPr>
                  <a:t>How Sizing Works Now:</a:t>
                </a:r>
                <a:r>
                  <a:rPr lang="en-US" dirty="0">
                    <a:solidFill>
                      <a:srgbClr val="000000"/>
                    </a:solidFill>
                    <a:latin typeface="inter"/>
                    <a:ea typeface="inter"/>
                    <a:cs typeface="inter"/>
                  </a:rPr>
                  <a:t> Use </a:t>
                </a:r>
                <a:r>
                  <a:rPr lang="en-US" b="1" dirty="0">
                    <a:solidFill>
                      <a:srgbClr val="000000"/>
                    </a:solidFill>
                    <a:latin typeface="inter"/>
                    <a:ea typeface="inter"/>
                    <a:cs typeface="inter"/>
                  </a:rPr>
                  <a:t>lookup tables (LUTs)</a:t>
                </a:r>
                <a:r>
                  <a:rPr lang="en-US" dirty="0">
                    <a:solidFill>
                      <a:srgbClr val="000000"/>
                    </a:solidFill>
                    <a:latin typeface="inter"/>
                    <a:ea typeface="inter"/>
                    <a:cs typeface="inter"/>
                  </a:rPr>
                  <a:t>, which relate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smtClean="0">
                    <a:solidFill>
                      <a:srgbClr val="000000"/>
                    </a:solidFill>
                    <a:latin typeface="inter"/>
                    <a:ea typeface="inter"/>
                    <a:cs typeface="inter"/>
                  </a:rPr>
                  <a:t>, </a:t>
                </a:r>
                <a:r>
                  <a:rPr lang="en-US" dirty="0">
                    <a:solidFill>
                      <a:srgbClr val="000000"/>
                    </a:solidFill>
                    <a:latin typeface="inter"/>
                    <a:ea typeface="inter"/>
                    <a:cs typeface="inter"/>
                  </a:rPr>
                  <a:t>inversion level, and process parameters to W for a given choice of L and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19317" cy="5302029"/>
              </a:xfrm>
              <a:blipFill>
                <a:blip r:embed="rId2"/>
                <a:stretch>
                  <a:fillRect l="-1378" r="-918"/>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2407935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729815"/>
          </a:xfrm>
        </p:spPr>
        <p:txBody>
          <a:bodyPr/>
          <a:lstStyle/>
          <a:p>
            <a:pPr>
              <a:lnSpc>
                <a:spcPct val="150000"/>
              </a:lnSpc>
              <a:spcBef>
                <a:spcPts val="1575"/>
              </a:spcBef>
              <a:spcAft>
                <a:spcPts val="525"/>
              </a:spcAft>
            </a:pPr>
            <a:r>
              <a:rPr lang="en-US" sz="3600" b="1" dirty="0">
                <a:solidFill>
                  <a:srgbClr val="000000"/>
                </a:solidFill>
                <a:latin typeface="inter"/>
                <a:ea typeface="inter"/>
                <a:cs typeface="inter"/>
              </a:rPr>
              <a:t>Classic Sizing Flow (Square Law, for Intuition)</a:t>
            </a:r>
            <a:endParaRPr lang="en-US" sz="2800" dirty="0">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17787" y="1037421"/>
                <a:ext cx="10619317" cy="5676939"/>
              </a:xfrm>
            </p:spPr>
            <p:txBody>
              <a:bodyPr/>
              <a:lstStyle/>
              <a:p>
                <a:pPr>
                  <a:lnSpc>
                    <a:spcPct val="150000"/>
                  </a:lnSpc>
                  <a:spcAft>
                    <a:spcPts val="1050"/>
                  </a:spcAft>
                </a:pPr>
                <a:r>
                  <a:rPr lang="en-US" sz="1800" b="1" dirty="0" smtClean="0">
                    <a:solidFill>
                      <a:srgbClr val="000000"/>
                    </a:solidFill>
                    <a:effectLst/>
                    <a:latin typeface="inter"/>
                    <a:ea typeface="inter"/>
                    <a:cs typeface="inter"/>
                  </a:rPr>
                  <a:t>Suppose</a:t>
                </a:r>
                <a:r>
                  <a:rPr lang="en-US" sz="1800" b="1" dirty="0">
                    <a:solidFill>
                      <a:srgbClr val="000000"/>
                    </a:solidFill>
                    <a:effectLst/>
                    <a:latin typeface="inter"/>
                    <a:ea typeface="inter"/>
                    <a:cs typeface="inter"/>
                  </a:rPr>
                  <a:t>:</a:t>
                </a:r>
                <a:r>
                  <a:rPr lang="en-US" sz="1800" dirty="0">
                    <a:solidFill>
                      <a:srgbClr val="000000"/>
                    </a:solidFill>
                    <a:effectLst/>
                    <a:latin typeface="inter"/>
                    <a:ea typeface="inter"/>
                    <a:cs typeface="inter"/>
                  </a:rPr>
                  <a:t> You want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oMath>
                </a14:m>
                <a:r>
                  <a:rPr lang="en-US" sz="1800" dirty="0">
                    <a:solidFill>
                      <a:srgbClr val="000000"/>
                    </a:solidFill>
                    <a:effectLst/>
                    <a:latin typeface="inter"/>
                    <a:ea typeface="inter"/>
                    <a:cs typeface="inter"/>
                  </a:rPr>
                  <a:t>, choose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=0.2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oMath>
                </a14:m>
                <a:r>
                  <a:rPr lang="en-US" sz="1800" dirty="0">
                    <a:solidFill>
                      <a:srgbClr val="000000"/>
                    </a:solidFill>
                    <a:effectLst/>
                    <a:latin typeface="inter"/>
                    <a:ea typeface="inter"/>
                    <a:cs typeface="inter"/>
                  </a:rPr>
                  <a:t>, </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𝑜𝑥</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=200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oMath>
                </a14:m>
                <a:r>
                  <a:rPr lang="en-US" sz="1800" dirty="0">
                    <a:solidFill>
                      <a:srgbClr val="000000"/>
                    </a:solidFill>
                    <a:effectLst/>
                    <a:latin typeface="inter"/>
                    <a:ea typeface="inter"/>
                    <a:cs typeface="inter"/>
                  </a:rPr>
                  <a:t>, </a:t>
                </a:r>
                <a14:m>
                  <m:oMath xmlns:m="http://schemas.openxmlformats.org/officeDocument/2006/math">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US" sz="1800" dirty="0">
                    <a:solidFill>
                      <a:srgbClr val="000000"/>
                    </a:solidFill>
                    <a:effectLst/>
                    <a:latin typeface="inter"/>
                    <a:ea typeface="inter"/>
                    <a:cs typeface="inter"/>
                  </a:rPr>
                  <a: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den>
                      </m:f>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𝐿</m:t>
                          </m:r>
                        </m:den>
                      </m:f>
                      <m:sSubSup>
                        <m:sSubSup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𝑜𝑣</m:t>
                          </m:r>
                        </m:sub>
                        <m: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bSup>
                    </m:oMath>
                  </m:oMathPara>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=0.5×200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𝐴</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m:t>
                          </m:r>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×(0.2</m:t>
                      </m:r>
                      <m:sSup>
                        <m:sSup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e>
                        <m:sup>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100=100×</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m:t>
                          </m:r>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×0.04=4×</m:t>
                      </m:r>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m:t>
                          </m:r>
                        </m:den>
                      </m:f>
                    </m:oMath>
                  </m:oMathPara>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f>
                        <m:f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num>
                        <m:den>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0.18</m:t>
                          </m:r>
                        </m:den>
                      </m:f>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=25 ⟹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r>
                        <a:rPr lang="en-US" sz="18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=4.5 </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sz="1800" b="1" dirty="0">
                    <a:solidFill>
                      <a:srgbClr val="000000"/>
                    </a:solidFill>
                    <a:effectLst/>
                    <a:latin typeface="inter"/>
                    <a:ea typeface="inter"/>
                    <a:cs typeface="inter"/>
                  </a:rPr>
                  <a:t>Result:</a:t>
                </a:r>
                <a:r>
                  <a:rPr lang="en-US" sz="1800" dirty="0">
                    <a:solidFill>
                      <a:srgbClr val="000000"/>
                    </a:solidFill>
                    <a:effectLst/>
                    <a:latin typeface="inter"/>
                    <a:ea typeface="inter"/>
                    <a:cs typeface="inter"/>
                  </a:rPr>
                  <a:t> The “classic” answer for W is 4.5 µm — but if you check a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𝑔</m:t>
                            </m:r>
                          </m:e>
                          <m:sub>
                            <m:r>
                              <a:rPr lang="en-US" sz="1800" i="1">
                                <a:latin typeface="Cambria Math" panose="02040503050406030204" pitchFamily="18" charset="0"/>
                              </a:rPr>
                              <m:t>𝑚</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𝐼</m:t>
                            </m:r>
                          </m:e>
                          <m:sub>
                            <m:r>
                              <a:rPr lang="en-US" sz="1800" i="1">
                                <a:latin typeface="Cambria Math" panose="02040503050406030204" pitchFamily="18" charset="0"/>
                              </a:rPr>
                              <m:t>𝐷</m:t>
                            </m:r>
                          </m:sub>
                        </m:sSub>
                      </m:den>
                    </m:f>
                  </m:oMath>
                </a14:m>
                <a:r>
                  <a:rPr lang="en-US" sz="1800" dirty="0">
                    <a:solidFill>
                      <a:srgbClr val="000000"/>
                    </a:solidFill>
                    <a:effectLst/>
                    <a:latin typeface="inter"/>
                    <a:ea typeface="inter"/>
                    <a:cs typeface="inter"/>
                  </a:rPr>
                  <a:t> table or simulation, in modern processes this will underestimate W, especially in short channel or moderate/weak inversion.</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p>
                <a:pPr algn="just"/>
                <a:endParaRPr lang="en-US" sz="14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17787" y="1037421"/>
                <a:ext cx="10619317" cy="5676939"/>
              </a:xfrm>
              <a:blipFill>
                <a:blip r:embed="rId2"/>
                <a:stretch>
                  <a:fillRect l="-1320"/>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3539198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529953"/>
          </a:xfrm>
        </p:spPr>
        <p:txBody>
          <a:bodyPr/>
          <a:lstStyle/>
          <a:p>
            <a:pPr marL="0" marR="0">
              <a:lnSpc>
                <a:spcPct val="112000"/>
              </a:lnSpc>
              <a:spcBef>
                <a:spcPts val="785"/>
              </a:spcBef>
              <a:spcAft>
                <a:spcPts val="785"/>
              </a:spcAft>
            </a:pPr>
            <a:r>
              <a:rPr lang="en-US" b="1" dirty="0"/>
              <a:t>Design Variables and Their Power</a:t>
            </a:r>
            <a:endParaRPr lang="en-US" dirty="0"/>
          </a:p>
        </p:txBody>
      </p:sp>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771427914"/>
                  </p:ext>
                </p:extLst>
              </p:nvPr>
            </p:nvGraphicFramePr>
            <p:xfrm>
              <a:off x="1676765" y="1333492"/>
              <a:ext cx="8637327" cy="4103808"/>
            </p:xfrm>
            <a:graphic>
              <a:graphicData uri="http://schemas.openxmlformats.org/drawingml/2006/table">
                <a:tbl>
                  <a:tblPr firstRow="1" firstCol="1" bandRow="1"/>
                  <a:tblGrid>
                    <a:gridCol w="2239915">
                      <a:extLst>
                        <a:ext uri="{9D8B030D-6E8A-4147-A177-3AD203B41FA5}">
                          <a16:colId xmlns:a16="http://schemas.microsoft.com/office/drawing/2014/main" val="1040832321"/>
                        </a:ext>
                      </a:extLst>
                    </a:gridCol>
                    <a:gridCol w="2763520">
                      <a:extLst>
                        <a:ext uri="{9D8B030D-6E8A-4147-A177-3AD203B41FA5}">
                          <a16:colId xmlns:a16="http://schemas.microsoft.com/office/drawing/2014/main" val="3030759613"/>
                        </a:ext>
                      </a:extLst>
                    </a:gridCol>
                    <a:gridCol w="3633892">
                      <a:extLst>
                        <a:ext uri="{9D8B030D-6E8A-4147-A177-3AD203B41FA5}">
                          <a16:colId xmlns:a16="http://schemas.microsoft.com/office/drawing/2014/main" val="3650304542"/>
                        </a:ext>
                      </a:extLst>
                    </a:gridCol>
                  </a:tblGrid>
                  <a:tr h="194405">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Variable</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Physical Effect</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Modern Role</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90655649"/>
                      </a:ext>
                    </a:extLst>
                  </a:tr>
                  <a:tr h="194405">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𝑆𝐵</m:t>
                                    </m:r>
                                  </m:sub>
                                </m:sSub>
                              </m:oMath>
                            </m:oMathPara>
                          </a14:m>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Adjusts threshold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Minimize/accept</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0908382"/>
                      </a:ext>
                    </a:extLst>
                  </a:tr>
                  <a:tr h="322062">
                    <a:tc>
                      <a:txBody>
                        <a:bodyPr/>
                        <a:lstStyle/>
                        <a:p>
                          <a:pPr marL="0" marR="0" algn="ctr">
                            <a:lnSpc>
                              <a:spcPct val="15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𝐷𝑆</m:t>
                                    </m:r>
                                  </m:sub>
                                </m:sSub>
                              </m:oMath>
                            </m:oMathPara>
                          </a14:m>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Sets </a:t>
                          </a:r>
                          <a:r>
                            <a:rPr lang="en-US" sz="1800" dirty="0" err="1" smtClean="0">
                              <a:solidFill>
                                <a:srgbClr val="000000"/>
                              </a:solidFill>
                              <a:effectLst/>
                              <a:latin typeface="inter"/>
                              <a:ea typeface="inter"/>
                              <a:cs typeface="inter"/>
                            </a:rPr>
                            <a:t>r</a:t>
                          </a:r>
                          <a:r>
                            <a:rPr lang="en-US" sz="1800" baseline="-25000" dirty="0" err="1" smtClean="0">
                              <a:solidFill>
                                <a:srgbClr val="000000"/>
                              </a:solidFill>
                              <a:effectLst/>
                              <a:latin typeface="inter"/>
                              <a:ea typeface="inter"/>
                              <a:cs typeface="inter"/>
                            </a:rPr>
                            <a:t>o</a:t>
                          </a:r>
                          <a:r>
                            <a:rPr lang="en-US" sz="1800" dirty="0" smtClean="0">
                              <a:solidFill>
                                <a:srgbClr val="000000"/>
                              </a:solidFill>
                              <a:effectLst/>
                              <a:latin typeface="inter"/>
                              <a:ea typeface="inter"/>
                              <a:cs typeface="inter"/>
                            </a:rPr>
                            <a:t>/gain</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Marginal lever, dictated by circuit topology/headroom</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876151"/>
                      </a:ext>
                    </a:extLst>
                  </a:tr>
                  <a:tr h="322062">
                    <a:tc>
                      <a:txBody>
                        <a:bodyPr/>
                        <a:lstStyle/>
                        <a:p>
                          <a:pPr marL="0" marR="0" algn="ctr">
                            <a:lnSpc>
                              <a:spcPct val="150000"/>
                            </a:lnSpc>
                            <a:spcBef>
                              <a:spcPts val="0"/>
                            </a:spcBef>
                            <a:spcAft>
                              <a:spcPts val="0"/>
                            </a:spcAft>
                          </a:pP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oMath>
                          </a14:m>
                          <a:r>
                            <a:rPr lang="en-US" sz="1800" dirty="0">
                              <a:solidFill>
                                <a:srgbClr val="000000"/>
                              </a:solidFill>
                              <a:effectLst/>
                              <a:latin typeface="inter"/>
                              <a:ea typeface="inter"/>
                              <a:cs typeface="inter"/>
                            </a:rPr>
                            <a:t>/</a:t>
                          </a:r>
                          <a14:m>
                            <m:oMath xmlns:m="http://schemas.openxmlformats.org/officeDocument/2006/math">
                              <m:sSub>
                                <m:sSubPr>
                                  <m:ctrlP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oMath>
                          </a14:m>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Controls bias/g</a:t>
                          </a:r>
                          <a:r>
                            <a:rPr lang="en-US" sz="1800" baseline="-25000" dirty="0">
                              <a:solidFill>
                                <a:srgbClr val="000000"/>
                              </a:solidFill>
                              <a:effectLst/>
                              <a:latin typeface="inter"/>
                              <a:ea typeface="inter"/>
                              <a:cs typeface="inter"/>
                            </a:rPr>
                            <a:t>m</a:t>
                          </a:r>
                          <a:r>
                            <a:rPr lang="en-US" sz="1800" dirty="0">
                              <a:solidFill>
                                <a:srgbClr val="000000"/>
                              </a:solidFill>
                              <a:effectLst/>
                              <a:latin typeface="inter"/>
                              <a:ea typeface="inter"/>
                              <a:cs typeface="inter"/>
                            </a:rPr>
                            <a:t>/speed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smtClean="0">
                              <a:solidFill>
                                <a:srgbClr val="000000"/>
                              </a:solidFill>
                              <a:effectLst/>
                              <a:latin typeface="inter"/>
                              <a:ea typeface="inter"/>
                              <a:cs typeface="inter"/>
                            </a:rPr>
                            <a:t>The </a:t>
                          </a:r>
                          <a:r>
                            <a:rPr lang="en-US" sz="1800" dirty="0">
                              <a:solidFill>
                                <a:srgbClr val="000000"/>
                              </a:solidFill>
                              <a:effectLst/>
                              <a:latin typeface="inter"/>
                              <a:ea typeface="inter"/>
                              <a:cs typeface="inter"/>
                            </a:rPr>
                            <a:t>main designer lever, always work in I</a:t>
                          </a:r>
                          <a:r>
                            <a:rPr lang="en-US" sz="1800" baseline="-25000" dirty="0">
                              <a:solidFill>
                                <a:srgbClr val="000000"/>
                              </a:solidFill>
                              <a:effectLst/>
                              <a:latin typeface="inter"/>
                              <a:ea typeface="inter"/>
                              <a:cs typeface="inter"/>
                            </a:rPr>
                            <a:t>D</a:t>
                          </a:r>
                          <a:endParaRPr lang="en-US" sz="2000" baseline="-25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1832640"/>
                      </a:ext>
                    </a:extLst>
                  </a:tr>
                  <a:tr h="322062">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L</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a:solidFill>
                                <a:srgbClr val="000000"/>
                              </a:solidFill>
                              <a:effectLst/>
                              <a:latin typeface="inter"/>
                              <a:ea typeface="inter"/>
                              <a:cs typeface="inter"/>
                            </a:rPr>
                            <a:t>Noise/gain/speed</a:t>
                          </a:r>
                          <a:endParaRPr lang="en-US" sz="200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Trade for matching/gain/noise vs. area/speed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7037009"/>
                      </a:ext>
                    </a:extLst>
                  </a:tr>
                  <a:tr h="194405">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W</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g</a:t>
                          </a:r>
                          <a:r>
                            <a:rPr lang="en-US" sz="1800" baseline="-25000" dirty="0">
                              <a:solidFill>
                                <a:srgbClr val="000000"/>
                              </a:solidFill>
                              <a:effectLst/>
                              <a:latin typeface="inter"/>
                              <a:ea typeface="inter"/>
                              <a:cs typeface="inter"/>
                            </a:rPr>
                            <a:t>m</a:t>
                          </a:r>
                          <a:r>
                            <a:rPr lang="en-US" sz="1800" dirty="0">
                              <a:solidFill>
                                <a:srgbClr val="000000"/>
                              </a:solidFill>
                              <a:effectLst/>
                              <a:latin typeface="inter"/>
                              <a:ea typeface="inter"/>
                              <a:cs typeface="inter"/>
                            </a:rPr>
                            <a:t>, current, sizing</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Iterate with LUTs for specs</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6275759"/>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771427914"/>
                  </p:ext>
                </p:extLst>
              </p:nvPr>
            </p:nvGraphicFramePr>
            <p:xfrm>
              <a:off x="1676765" y="1333492"/>
              <a:ext cx="8637327" cy="4053008"/>
            </p:xfrm>
            <a:graphic>
              <a:graphicData uri="http://schemas.openxmlformats.org/drawingml/2006/table">
                <a:tbl>
                  <a:tblPr firstRow="1" firstCol="1" bandRow="1"/>
                  <a:tblGrid>
                    <a:gridCol w="2239915">
                      <a:extLst>
                        <a:ext uri="{9D8B030D-6E8A-4147-A177-3AD203B41FA5}">
                          <a16:colId xmlns:a16="http://schemas.microsoft.com/office/drawing/2014/main" val="1040832321"/>
                        </a:ext>
                      </a:extLst>
                    </a:gridCol>
                    <a:gridCol w="2763520">
                      <a:extLst>
                        <a:ext uri="{9D8B030D-6E8A-4147-A177-3AD203B41FA5}">
                          <a16:colId xmlns:a16="http://schemas.microsoft.com/office/drawing/2014/main" val="3030759613"/>
                        </a:ext>
                      </a:extLst>
                    </a:gridCol>
                    <a:gridCol w="3633892">
                      <a:extLst>
                        <a:ext uri="{9D8B030D-6E8A-4147-A177-3AD203B41FA5}">
                          <a16:colId xmlns:a16="http://schemas.microsoft.com/office/drawing/2014/main" val="3650304542"/>
                        </a:ext>
                      </a:extLst>
                    </a:gridCol>
                  </a:tblGrid>
                  <a:tr h="478228">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Variable</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Physical Effect</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Modern Role</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190655649"/>
                      </a:ext>
                    </a:extLst>
                  </a:tr>
                  <a:tr h="478228">
                    <a:tc>
                      <a:txBody>
                        <a:bodyPr/>
                        <a:lstStyle/>
                        <a:p>
                          <a:endParaRPr lang="en-US"/>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102564" r="-286921" b="-665385"/>
                          </a:stretch>
                        </a:blip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Adjusts threshold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Minimize/accept</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40908382"/>
                      </a:ext>
                    </a:extLst>
                  </a:tr>
                  <a:tr h="889708">
                    <a:tc>
                      <a:txBody>
                        <a:bodyPr/>
                        <a:lstStyle/>
                        <a:p>
                          <a:endParaRPr lang="en-US"/>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108219" r="-286921" b="-255479"/>
                          </a:stretch>
                        </a:blip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Sets </a:t>
                          </a:r>
                          <a:r>
                            <a:rPr lang="en-US" sz="1800" dirty="0" err="1" smtClean="0">
                              <a:solidFill>
                                <a:srgbClr val="000000"/>
                              </a:solidFill>
                              <a:effectLst/>
                              <a:latin typeface="inter"/>
                              <a:ea typeface="inter"/>
                              <a:cs typeface="inter"/>
                            </a:rPr>
                            <a:t>r</a:t>
                          </a:r>
                          <a:r>
                            <a:rPr lang="en-US" sz="1800" baseline="-25000" dirty="0" err="1" smtClean="0">
                              <a:solidFill>
                                <a:srgbClr val="000000"/>
                              </a:solidFill>
                              <a:effectLst/>
                              <a:latin typeface="inter"/>
                              <a:ea typeface="inter"/>
                              <a:cs typeface="inter"/>
                            </a:rPr>
                            <a:t>o</a:t>
                          </a:r>
                          <a:r>
                            <a:rPr lang="en-US" sz="1800" dirty="0" smtClean="0">
                              <a:solidFill>
                                <a:srgbClr val="000000"/>
                              </a:solidFill>
                              <a:effectLst/>
                              <a:latin typeface="inter"/>
                              <a:ea typeface="inter"/>
                              <a:cs typeface="inter"/>
                            </a:rPr>
                            <a:t>/gain</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Marginal lever, dictated by circuit topology/headroom</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43876151"/>
                      </a:ext>
                    </a:extLst>
                  </a:tr>
                  <a:tr h="838908">
                    <a:tc>
                      <a:txBody>
                        <a:bodyPr/>
                        <a:lstStyle/>
                        <a:p>
                          <a:endParaRPr lang="en-US"/>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72" t="-220290" r="-286921" b="-170290"/>
                          </a:stretch>
                        </a:blip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Controls bias/g</a:t>
                          </a:r>
                          <a:r>
                            <a:rPr lang="en-US" sz="1800" baseline="-25000" dirty="0">
                              <a:solidFill>
                                <a:srgbClr val="000000"/>
                              </a:solidFill>
                              <a:effectLst/>
                              <a:latin typeface="inter"/>
                              <a:ea typeface="inter"/>
                              <a:cs typeface="inter"/>
                            </a:rPr>
                            <a:t>m</a:t>
                          </a:r>
                          <a:r>
                            <a:rPr lang="en-US" sz="1800" dirty="0">
                              <a:solidFill>
                                <a:srgbClr val="000000"/>
                              </a:solidFill>
                              <a:effectLst/>
                              <a:latin typeface="inter"/>
                              <a:ea typeface="inter"/>
                              <a:cs typeface="inter"/>
                            </a:rPr>
                            <a:t>/speed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smtClean="0">
                              <a:solidFill>
                                <a:srgbClr val="000000"/>
                              </a:solidFill>
                              <a:effectLst/>
                              <a:latin typeface="inter"/>
                              <a:ea typeface="inter"/>
                              <a:cs typeface="inter"/>
                            </a:rPr>
                            <a:t>The </a:t>
                          </a:r>
                          <a:r>
                            <a:rPr lang="en-US" sz="1800" dirty="0">
                              <a:solidFill>
                                <a:srgbClr val="000000"/>
                              </a:solidFill>
                              <a:effectLst/>
                              <a:latin typeface="inter"/>
                              <a:ea typeface="inter"/>
                              <a:cs typeface="inter"/>
                            </a:rPr>
                            <a:t>main designer lever, always work in I</a:t>
                          </a:r>
                          <a:r>
                            <a:rPr lang="en-US" sz="1800" baseline="-25000" dirty="0">
                              <a:solidFill>
                                <a:srgbClr val="000000"/>
                              </a:solidFill>
                              <a:effectLst/>
                              <a:latin typeface="inter"/>
                              <a:ea typeface="inter"/>
                              <a:cs typeface="inter"/>
                            </a:rPr>
                            <a:t>D</a:t>
                          </a:r>
                          <a:endParaRPr lang="en-US" sz="2000" baseline="-25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01832640"/>
                      </a:ext>
                    </a:extLst>
                  </a:tr>
                  <a:tr h="889708">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L</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a:solidFill>
                                <a:srgbClr val="000000"/>
                              </a:solidFill>
                              <a:effectLst/>
                              <a:latin typeface="inter"/>
                              <a:ea typeface="inter"/>
                              <a:cs typeface="inter"/>
                            </a:rPr>
                            <a:t>Noise/gain/speed</a:t>
                          </a:r>
                          <a:endParaRPr lang="en-US" sz="200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Trade for matching/gain/noise vs. area/speed</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7037009"/>
                      </a:ext>
                    </a:extLst>
                  </a:tr>
                  <a:tr h="478228">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W</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g</a:t>
                          </a:r>
                          <a:r>
                            <a:rPr lang="en-US" sz="1800" baseline="-25000" dirty="0">
                              <a:solidFill>
                                <a:srgbClr val="000000"/>
                              </a:solidFill>
                              <a:effectLst/>
                              <a:latin typeface="inter"/>
                              <a:ea typeface="inter"/>
                              <a:cs typeface="inter"/>
                            </a:rPr>
                            <a:t>m</a:t>
                          </a:r>
                          <a:r>
                            <a:rPr lang="en-US" sz="1800" dirty="0">
                              <a:solidFill>
                                <a:srgbClr val="000000"/>
                              </a:solidFill>
                              <a:effectLst/>
                              <a:latin typeface="inter"/>
                              <a:ea typeface="inter"/>
                              <a:cs typeface="inter"/>
                            </a:rPr>
                            <a:t>, current, sizing</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1800" dirty="0">
                              <a:solidFill>
                                <a:srgbClr val="000000"/>
                              </a:solidFill>
                              <a:effectLst/>
                              <a:latin typeface="inter"/>
                              <a:ea typeface="inter"/>
                              <a:cs typeface="inter"/>
                            </a:rPr>
                            <a:t>Iterate with LUTs for specs</a:t>
                          </a:r>
                          <a:endParaRPr lang="en-US" sz="2000" dirty="0">
                            <a:effectLst/>
                            <a:latin typeface="Georgia" panose="02040502050405020303" pitchFamily="18" charset="0"/>
                            <a:ea typeface="Calibri" panose="020F0502020204030204" pitchFamily="34" charset="0"/>
                            <a:cs typeface="Times New Roman" panose="02020603050405020304" pitchFamily="18" charset="0"/>
                          </a:endParaRPr>
                        </a:p>
                      </a:txBody>
                      <a:tcPr marL="66749" marR="66749" marT="33374" marB="3337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6275759"/>
                      </a:ext>
                    </a:extLst>
                  </a:tr>
                </a:tbl>
              </a:graphicData>
            </a:graphic>
          </p:graphicFrame>
        </mc:Fallback>
      </mc:AlternateContent>
    </p:spTree>
    <p:extLst>
      <p:ext uri="{BB962C8B-B14F-4D97-AF65-F5344CB8AC3E}">
        <p14:creationId xmlns:p14="http://schemas.microsoft.com/office/powerpoint/2010/main" val="24172955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523220"/>
          </a:xfrm>
        </p:spPr>
        <p:txBody>
          <a:bodyPr/>
          <a:lstStyle/>
          <a:p>
            <a:r>
              <a:rPr lang="en-US" b="1" dirty="0"/>
              <a:t>Modern Sizing Methodology</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15675" y="1154099"/>
                <a:ext cx="10619317" cy="5346464"/>
              </a:xfrm>
            </p:spPr>
            <p:txBody>
              <a:bodyPr/>
              <a:lstStyle/>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Start with specs:</a:t>
                </a:r>
                <a:r>
                  <a:rPr lang="en-US" dirty="0">
                    <a:solidFill>
                      <a:srgbClr val="000000"/>
                    </a:solidFill>
                    <a:latin typeface="inter"/>
                    <a:ea typeface="inter"/>
                    <a:cs typeface="inter"/>
                  </a:rPr>
                  <a:t> Define speed, gain, noise, area, and current requirements.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Biasing:</a:t>
                </a:r>
                <a:r>
                  <a:rPr lang="en-US" dirty="0">
                    <a:solidFill>
                      <a:srgbClr val="000000"/>
                    </a:solidFill>
                    <a:latin typeface="inter"/>
                    <a:ea typeface="inter"/>
                    <a:cs typeface="inter"/>
                  </a:rPr>
                  <a:t> Choose target I</a:t>
                </a:r>
                <a:r>
                  <a:rPr lang="en-US" baseline="-25000" dirty="0">
                    <a:solidFill>
                      <a:srgbClr val="000000"/>
                    </a:solidFill>
                    <a:latin typeface="inter"/>
                    <a:ea typeface="inter"/>
                    <a:cs typeface="inter"/>
                  </a:rPr>
                  <a:t>D</a:t>
                </a:r>
                <a:r>
                  <a:rPr lang="en-US" dirty="0">
                    <a:solidFill>
                      <a:srgbClr val="000000"/>
                    </a:solidFill>
                    <a:latin typeface="inter"/>
                    <a:ea typeface="inter"/>
                    <a:cs typeface="inter"/>
                  </a:rPr>
                  <a:t> (current), which underpins gm, noise, and speed.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Pick L:</a:t>
                </a:r>
                <a:r>
                  <a:rPr lang="en-US" dirty="0">
                    <a:solidFill>
                      <a:srgbClr val="000000"/>
                    </a:solidFill>
                    <a:latin typeface="inter"/>
                    <a:ea typeface="inter"/>
                    <a:cs typeface="inter"/>
                  </a:rPr>
                  <a:t> Based on speed vs. gain/matching tradeoff.</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gm/ID Approach:</a:t>
                </a:r>
                <a:r>
                  <a:rPr lang="en-US" dirty="0">
                    <a:solidFill>
                      <a:srgbClr val="000000"/>
                    </a:solidFill>
                    <a:latin typeface="inter"/>
                    <a:ea typeface="inter"/>
                    <a:cs typeface="inter"/>
                  </a:rPr>
                  <a:t> Choose desired inversion level for each transistor (sets efficiency and performance tradeoffs).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Consult LUTs:</a:t>
                </a:r>
                <a:r>
                  <a:rPr lang="en-US" dirty="0">
                    <a:solidFill>
                      <a:srgbClr val="000000"/>
                    </a:solidFill>
                    <a:latin typeface="inter"/>
                    <a:ea typeface="inter"/>
                    <a:cs typeface="inter"/>
                  </a:rPr>
                  <a:t> Use process-specific lookup tables to map I</a:t>
                </a:r>
                <a:r>
                  <a:rPr lang="en-US" baseline="-25000" dirty="0">
                    <a:solidFill>
                      <a:srgbClr val="000000"/>
                    </a:solidFill>
                    <a:latin typeface="inter"/>
                    <a:ea typeface="inter"/>
                    <a:cs typeface="inter"/>
                  </a:rPr>
                  <a:t>D</a:t>
                </a:r>
                <a:r>
                  <a:rPr lang="en-US" dirty="0">
                    <a:solidFill>
                      <a:srgbClr val="000000"/>
                    </a:solidFill>
                    <a:latin typeface="inter"/>
                    <a:ea typeface="inter"/>
                    <a:cs typeface="inter"/>
                  </a:rPr>
                  <a:t>/L/</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solidFill>
                      <a:srgbClr val="000000"/>
                    </a:solidFill>
                    <a:latin typeface="inter"/>
                    <a:ea typeface="inter"/>
                    <a:cs typeface="inter"/>
                  </a:rPr>
                  <a:t> choices to final W.</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Verify via Simulation:</a:t>
                </a:r>
                <a:r>
                  <a:rPr lang="en-US" dirty="0">
                    <a:solidFill>
                      <a:srgbClr val="000000"/>
                    </a:solidFill>
                    <a:latin typeface="inter"/>
                    <a:ea typeface="inter"/>
                    <a:cs typeface="inter"/>
                  </a:rPr>
                  <a:t> Confirm target specs in full-circuit simulation (corner/Monte Carlo as needed).</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b="1" dirty="0">
                    <a:solidFill>
                      <a:srgbClr val="000000"/>
                    </a:solidFill>
                    <a:latin typeface="inter"/>
                    <a:ea typeface="inter"/>
                    <a:cs typeface="inter"/>
                  </a:rPr>
                  <a:t>Iterate as needed:</a:t>
                </a:r>
                <a:r>
                  <a:rPr lang="en-US" dirty="0">
                    <a:solidFill>
                      <a:srgbClr val="000000"/>
                    </a:solidFill>
                    <a:latin typeface="inter"/>
                    <a:ea typeface="inter"/>
                    <a:cs typeface="inter"/>
                  </a:rPr>
                  <a:t> Change L or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solidFill>
                      <a:srgbClr val="000000"/>
                    </a:solidFill>
                    <a:latin typeface="inter"/>
                    <a:ea typeface="inter"/>
                    <a:cs typeface="inter"/>
                  </a:rPr>
                  <a:t>, "chase" W as specs are refined.</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15675" y="1154099"/>
                <a:ext cx="10619317" cy="5346464"/>
              </a:xfrm>
              <a:blipFill>
                <a:blip r:embed="rId2"/>
                <a:stretch>
                  <a:fillRect l="-1378"/>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47802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6812" y="234950"/>
            <a:ext cx="10593196" cy="529953"/>
          </a:xfrm>
        </p:spPr>
        <p:txBody>
          <a:bodyPr/>
          <a:lstStyle/>
          <a:p>
            <a:pPr marL="0" marR="0">
              <a:lnSpc>
                <a:spcPct val="112000"/>
              </a:lnSpc>
              <a:spcBef>
                <a:spcPts val="785"/>
              </a:spcBef>
              <a:spcAft>
                <a:spcPts val="785"/>
              </a:spcAft>
            </a:pPr>
            <a:r>
              <a:rPr lang="en-US" b="1" dirty="0"/>
              <a:t>Sizing Flow Comparison</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469166" y="4186056"/>
                <a:ext cx="10619317" cy="2615716"/>
              </a:xfrm>
            </p:spPr>
            <p:txBody>
              <a:bodyPr/>
              <a:lstStyle/>
              <a:p>
                <a:pPr marL="342900" marR="0" lvl="0" indent="-34290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Intuitive, model-based thinking is critical for initial design direction, but should not be relied on for actual sizing.</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Modern CMOS design, especially in advanced nodes and all but the simplest analog blocks, </a:t>
                </a:r>
                <a:r>
                  <a:rPr lang="en-US" b="1" dirty="0">
                    <a:solidFill>
                      <a:srgbClr val="000000"/>
                    </a:solidFill>
                    <a:latin typeface="inter"/>
                    <a:ea typeface="inter"/>
                    <a:cs typeface="inter"/>
                  </a:rPr>
                  <a:t>depends on data-driven LUTs and numerical sizing, not closed-form models.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spcBef>
                    <a:spcPts val="525"/>
                  </a:spcBef>
                  <a:spcAft>
                    <a:spcPts val="525"/>
                  </a:spcAft>
                  <a:buFont typeface="Wingdings" panose="05000000000000000000" pitchFamily="2" charset="2"/>
                  <a:buChar char="q"/>
                  <a:tabLst>
                    <a:tab pos="571500" algn="l"/>
                  </a:tabLst>
                </a:pPr>
                <a:r>
                  <a:rPr lang="en-US" dirty="0">
                    <a:solidFill>
                      <a:srgbClr val="000000"/>
                    </a:solidFill>
                    <a:latin typeface="inter"/>
                    <a:ea typeface="inter"/>
                    <a:cs typeface="inter"/>
                  </a:rPr>
                  <a:t>The right methodology combines an intuitive "feel" (via simplified models) with robust, data-backed device sizing (via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m:t>
                            </m:r>
                          </m:e>
                          <m:sub>
                            <m:r>
                              <a:rPr lang="en-US" i="1">
                                <a:latin typeface="Cambria Math" panose="02040503050406030204" pitchFamily="18" charset="0"/>
                              </a:rPr>
                              <m:t>𝑚</m:t>
                            </m:r>
                          </m:sub>
                        </m:sSub>
                      </m:num>
                      <m:den>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i="1">
                                <a:latin typeface="Cambria Math" panose="02040503050406030204" pitchFamily="18" charset="0"/>
                              </a:rPr>
                              <m:t>𝐷</m:t>
                            </m:r>
                          </m:sub>
                        </m:sSub>
                      </m:den>
                    </m:f>
                  </m:oMath>
                </a14:m>
                <a:r>
                  <a:rPr lang="en-US" dirty="0">
                    <a:solidFill>
                      <a:srgbClr val="000000"/>
                    </a:solidFill>
                    <a:latin typeface="inter"/>
                    <a:ea typeface="inter"/>
                    <a:cs typeface="inter"/>
                  </a:rPr>
                  <a:t> tables and simulation).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469166" y="4186056"/>
                <a:ext cx="10619317" cy="2615716"/>
              </a:xfrm>
              <a:blipFill>
                <a:blip r:embed="rId2"/>
                <a:stretch>
                  <a:fillRect l="-1378" t="-2797" r="-97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506211" y="6573124"/>
            <a:ext cx="1487256" cy="2848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24527"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47255"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452769819"/>
                  </p:ext>
                </p:extLst>
              </p:nvPr>
            </p:nvGraphicFramePr>
            <p:xfrm>
              <a:off x="844548" y="1463675"/>
              <a:ext cx="10224504" cy="2799779"/>
            </p:xfrm>
            <a:graphic>
              <a:graphicData uri="http://schemas.openxmlformats.org/drawingml/2006/table">
                <a:tbl>
                  <a:tblPr firstRow="1" firstCol="1" bandRow="1"/>
                  <a:tblGrid>
                    <a:gridCol w="2556126">
                      <a:extLst>
                        <a:ext uri="{9D8B030D-6E8A-4147-A177-3AD203B41FA5}">
                          <a16:colId xmlns:a16="http://schemas.microsoft.com/office/drawing/2014/main" val="2195463661"/>
                        </a:ext>
                      </a:extLst>
                    </a:gridCol>
                    <a:gridCol w="2556126">
                      <a:extLst>
                        <a:ext uri="{9D8B030D-6E8A-4147-A177-3AD203B41FA5}">
                          <a16:colId xmlns:a16="http://schemas.microsoft.com/office/drawing/2014/main" val="3689154995"/>
                        </a:ext>
                      </a:extLst>
                    </a:gridCol>
                    <a:gridCol w="2556126">
                      <a:extLst>
                        <a:ext uri="{9D8B030D-6E8A-4147-A177-3AD203B41FA5}">
                          <a16:colId xmlns:a16="http://schemas.microsoft.com/office/drawing/2014/main" val="915069922"/>
                        </a:ext>
                      </a:extLst>
                    </a:gridCol>
                    <a:gridCol w="2556126">
                      <a:extLst>
                        <a:ext uri="{9D8B030D-6E8A-4147-A177-3AD203B41FA5}">
                          <a16:colId xmlns:a16="http://schemas.microsoft.com/office/drawing/2014/main" val="1754222320"/>
                        </a:ext>
                      </a:extLst>
                    </a:gridCol>
                  </a:tblGrid>
                  <a:tr h="295910">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Method</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Steps</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Accurate Today?</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Usage</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484361"/>
                      </a:ext>
                    </a:extLst>
                  </a:tr>
                  <a:tr h="490220">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Square-law</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Choose Vov, ID, compute W</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No (except long channel/SI)</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Intuition</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252894"/>
                      </a:ext>
                    </a:extLst>
                  </a:tr>
                  <a:tr h="490220">
                    <a:tc>
                      <a:txBody>
                        <a:bodyPr/>
                        <a:lstStyle/>
                        <a:p>
                          <a:pPr marL="0" marR="0" algn="ctr">
                            <a:lnSpc>
                              <a:spcPct val="150000"/>
                            </a:lnSpc>
                            <a:spcBef>
                              <a:spcPts val="0"/>
                            </a:spcBef>
                            <a:spcAft>
                              <a:spcPts val="0"/>
                            </a:spcAft>
                          </a:pPr>
                          <a14:m>
                            <m:oMath xmlns:m="http://schemas.openxmlformats.org/officeDocument/2006/math">
                              <m:f>
                                <m:fPr>
                                  <m:ctrlPr>
                                    <a:rPr lang="en-US" sz="200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𝑚</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𝐷</m:t>
                                      </m:r>
                                    </m:sub>
                                  </m:sSub>
                                </m:den>
                              </m:f>
                            </m:oMath>
                          </a14:m>
                          <a:r>
                            <a:rPr lang="en-US" sz="2000" dirty="0">
                              <a:solidFill>
                                <a:srgbClr val="000000"/>
                              </a:solidFill>
                              <a:effectLst/>
                              <a:latin typeface="inter"/>
                              <a:ea typeface="inter"/>
                              <a:cs typeface="inter"/>
                            </a:rPr>
                            <a:t>, LUT</a:t>
                          </a:r>
                          <a:endParaRPr lang="en-US" sz="2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dirty="0">
                              <a:solidFill>
                                <a:srgbClr val="000000"/>
                              </a:solidFill>
                              <a:effectLst/>
                              <a:latin typeface="inter"/>
                              <a:ea typeface="inter"/>
                              <a:cs typeface="inter"/>
                            </a:rPr>
                            <a:t>Choose ID, L, </a:t>
                          </a:r>
                          <a14:m>
                            <m:oMath xmlns:m="http://schemas.openxmlformats.org/officeDocument/2006/math">
                              <m:f>
                                <m:fPr>
                                  <m:ctrlPr>
                                    <a:rPr lang="en-US" sz="200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𝑔</m:t>
                                      </m:r>
                                    </m:e>
                                    <m:sub>
                                      <m:r>
                                        <a:rPr lang="en-US" sz="2000" i="1">
                                          <a:latin typeface="Cambria Math" panose="02040503050406030204" pitchFamily="18" charset="0"/>
                                        </a:rPr>
                                        <m:t>𝑚</m:t>
                                      </m:r>
                                    </m:sub>
                                  </m:sSub>
                                </m:num>
                                <m:den>
                                  <m:sSub>
                                    <m:sSubPr>
                                      <m:ctrlPr>
                                        <a:rPr lang="en-US" sz="2000" i="1">
                                          <a:latin typeface="Cambria Math" panose="02040503050406030204" pitchFamily="18" charset="0"/>
                                        </a:rPr>
                                      </m:ctrlPr>
                                    </m:sSubPr>
                                    <m:e>
                                      <m:r>
                                        <a:rPr lang="en-US" sz="2000" i="1">
                                          <a:latin typeface="Cambria Math" panose="02040503050406030204" pitchFamily="18" charset="0"/>
                                        </a:rPr>
                                        <m:t>𝐼</m:t>
                                      </m:r>
                                    </m:e>
                                    <m:sub>
                                      <m:r>
                                        <a:rPr lang="en-US" sz="2000" i="1">
                                          <a:latin typeface="Cambria Math" panose="02040503050406030204" pitchFamily="18" charset="0"/>
                                        </a:rPr>
                                        <m:t>𝐷</m:t>
                                      </m:r>
                                    </m:sub>
                                  </m:sSub>
                                </m:den>
                              </m:f>
                            </m:oMath>
                          </a14:m>
                          <a:r>
                            <a:rPr lang="en-US" sz="2000" dirty="0">
                              <a:solidFill>
                                <a:srgbClr val="000000"/>
                              </a:solidFill>
                              <a:effectLst/>
                              <a:latin typeface="inter"/>
                              <a:ea typeface="inter"/>
                              <a:cs typeface="inter"/>
                            </a:rPr>
                            <a:t>, look up W</a:t>
                          </a:r>
                          <a:endParaRPr lang="en-US" sz="2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Yes (modern flows)</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dirty="0">
                              <a:solidFill>
                                <a:srgbClr val="000000"/>
                              </a:solidFill>
                              <a:effectLst/>
                              <a:latin typeface="inter"/>
                              <a:ea typeface="inter"/>
                              <a:cs typeface="inter"/>
                            </a:rPr>
                            <a:t>Real device sizing</a:t>
                          </a:r>
                          <a:endParaRPr lang="en-US" sz="2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7574127"/>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452769819"/>
                  </p:ext>
                </p:extLst>
              </p:nvPr>
            </p:nvGraphicFramePr>
            <p:xfrm>
              <a:off x="844548" y="1463675"/>
              <a:ext cx="10224504" cy="2632711"/>
            </p:xfrm>
            <a:graphic>
              <a:graphicData uri="http://schemas.openxmlformats.org/drawingml/2006/table">
                <a:tbl>
                  <a:tblPr firstRow="1" firstCol="1" bandRow="1"/>
                  <a:tblGrid>
                    <a:gridCol w="2556126">
                      <a:extLst>
                        <a:ext uri="{9D8B030D-6E8A-4147-A177-3AD203B41FA5}">
                          <a16:colId xmlns:a16="http://schemas.microsoft.com/office/drawing/2014/main" val="2195463661"/>
                        </a:ext>
                      </a:extLst>
                    </a:gridCol>
                    <a:gridCol w="2556126">
                      <a:extLst>
                        <a:ext uri="{9D8B030D-6E8A-4147-A177-3AD203B41FA5}">
                          <a16:colId xmlns:a16="http://schemas.microsoft.com/office/drawing/2014/main" val="3689154995"/>
                        </a:ext>
                      </a:extLst>
                    </a:gridCol>
                    <a:gridCol w="2556126">
                      <a:extLst>
                        <a:ext uri="{9D8B030D-6E8A-4147-A177-3AD203B41FA5}">
                          <a16:colId xmlns:a16="http://schemas.microsoft.com/office/drawing/2014/main" val="915069922"/>
                        </a:ext>
                      </a:extLst>
                    </a:gridCol>
                    <a:gridCol w="2556126">
                      <a:extLst>
                        <a:ext uri="{9D8B030D-6E8A-4147-A177-3AD203B41FA5}">
                          <a16:colId xmlns:a16="http://schemas.microsoft.com/office/drawing/2014/main" val="1754222320"/>
                        </a:ext>
                      </a:extLst>
                    </a:gridCol>
                  </a:tblGrid>
                  <a:tr h="503111">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Method</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Steps</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Accurate Today?</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Usage</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1484361"/>
                      </a:ext>
                    </a:extLst>
                  </a:tr>
                  <a:tr h="960311">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Square-law</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Choose Vov, ID, compute W</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No (except long channel/SI)</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Intuition</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8252894"/>
                      </a:ext>
                    </a:extLst>
                  </a:tr>
                  <a:tr h="1169289">
                    <a:tc>
                      <a:txBody>
                        <a:bodyPr/>
                        <a:lstStyle/>
                        <a:p>
                          <a:endParaRPr lang="en-US"/>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38" t="-125521" r="-300000" b="-9375"/>
                          </a:stretch>
                        </a:blipFill>
                      </a:tcPr>
                    </a:tc>
                    <a:tc>
                      <a:txBody>
                        <a:bodyPr/>
                        <a:lstStyle/>
                        <a:p>
                          <a:endParaRPr lang="en-US"/>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477" t="-125521" r="-200716" b="-9375"/>
                          </a:stretch>
                        </a:blipFill>
                      </a:tcPr>
                    </a:tc>
                    <a:tc>
                      <a:txBody>
                        <a:bodyPr/>
                        <a:lstStyle/>
                        <a:p>
                          <a:pPr marL="0" marR="0" algn="ctr">
                            <a:lnSpc>
                              <a:spcPct val="150000"/>
                            </a:lnSpc>
                            <a:spcBef>
                              <a:spcPts val="0"/>
                            </a:spcBef>
                            <a:spcAft>
                              <a:spcPts val="0"/>
                            </a:spcAft>
                          </a:pPr>
                          <a:r>
                            <a:rPr lang="en-US" sz="2000">
                              <a:solidFill>
                                <a:srgbClr val="000000"/>
                              </a:solidFill>
                              <a:effectLst/>
                              <a:latin typeface="inter"/>
                              <a:ea typeface="inter"/>
                              <a:cs typeface="inter"/>
                            </a:rPr>
                            <a:t>Yes (modern flows)</a:t>
                          </a:r>
                          <a:endParaRPr lang="en-US" sz="280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US" sz="2000" dirty="0">
                              <a:solidFill>
                                <a:srgbClr val="000000"/>
                              </a:solidFill>
                              <a:effectLst/>
                              <a:latin typeface="inter"/>
                              <a:ea typeface="inter"/>
                              <a:cs typeface="inter"/>
                            </a:rPr>
                            <a:t>Real device sizing</a:t>
                          </a:r>
                          <a:endParaRPr lang="en-US" sz="2800" dirty="0">
                            <a:effectLst/>
                            <a:latin typeface="Georgia" panose="02040502050405020303" pitchFamily="18" charset="0"/>
                            <a:ea typeface="Calibri" panose="020F0502020204030204" pitchFamily="34" charset="0"/>
                            <a:cs typeface="Times New Roman" panose="02020603050405020304" pitchFamily="18" charset="0"/>
                          </a:endParaRPr>
                        </a:p>
                      </a:txBody>
                      <a:tcPr marL="101600" marR="1016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7574127"/>
                      </a:ext>
                    </a:extLst>
                  </a:tr>
                </a:tbl>
              </a:graphicData>
            </a:graphic>
          </p:graphicFrame>
        </mc:Fallback>
      </mc:AlternateContent>
    </p:spTree>
    <p:extLst>
      <p:ext uri="{BB962C8B-B14F-4D97-AF65-F5344CB8AC3E}">
        <p14:creationId xmlns:p14="http://schemas.microsoft.com/office/powerpoint/2010/main" val="69758562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450" y="0"/>
            <a:ext cx="10864850" cy="1046440"/>
          </a:xfrm>
        </p:spPr>
        <p:txBody>
          <a:bodyPr/>
          <a:lstStyle/>
          <a:p>
            <a:r>
              <a:rPr lang="en-US" dirty="0">
                <a:latin typeface="fkGrotesk"/>
              </a:rPr>
              <a:t>Transistor-Level Design Steps—How Beginners Should Approach Netlist </a:t>
            </a:r>
            <a:r>
              <a:rPr lang="en-US" dirty="0" smtClean="0">
                <a:latin typeface="fkGrotesk"/>
              </a:rPr>
              <a:t>Construction</a:t>
            </a:r>
            <a:endParaRPr lang="en-US" dirty="0"/>
          </a:p>
        </p:txBody>
      </p:sp>
      <p:sp>
        <p:nvSpPr>
          <p:cNvPr id="3" name="Text Placeholder 2"/>
          <p:cNvSpPr>
            <a:spLocks noGrp="1"/>
          </p:cNvSpPr>
          <p:nvPr>
            <p:ph type="body" idx="1"/>
          </p:nvPr>
        </p:nvSpPr>
        <p:spPr>
          <a:xfrm>
            <a:off x="836084" y="1158020"/>
            <a:ext cx="10648950" cy="4585871"/>
          </a:xfrm>
        </p:spPr>
        <p:txBody>
          <a:bodyPr/>
          <a:lstStyle/>
          <a:p>
            <a:pPr algn="ctr"/>
            <a:r>
              <a:rPr lang="en-US" b="1" dirty="0" smtClean="0">
                <a:solidFill>
                  <a:srgbClr val="C00000"/>
                </a:solidFill>
                <a:latin typeface="fkGroteskNeue"/>
              </a:rPr>
              <a:t>Steps for </a:t>
            </a:r>
            <a:r>
              <a:rPr lang="en-US" b="1" dirty="0">
                <a:solidFill>
                  <a:srgbClr val="C00000"/>
                </a:solidFill>
                <a:latin typeface="fkGroteskNeue"/>
              </a:rPr>
              <a:t>transistor-level design</a:t>
            </a:r>
            <a:r>
              <a:rPr lang="en-US" b="1" dirty="0" smtClean="0">
                <a:solidFill>
                  <a:srgbClr val="C00000"/>
                </a:solidFill>
                <a:latin typeface="fkGroteskNeue"/>
              </a:rPr>
              <a:t>:</a:t>
            </a:r>
          </a:p>
          <a:p>
            <a:pPr algn="ctr"/>
            <a:endParaRPr lang="en-US" b="1" dirty="0">
              <a:solidFill>
                <a:srgbClr val="C00000"/>
              </a:solidFill>
              <a:latin typeface="fkGroteskNeue"/>
            </a:endParaRPr>
          </a:p>
          <a:p>
            <a:pPr algn="ctr">
              <a:buFont typeface="+mj-lt"/>
              <a:buAutoNum type="arabicPeriod"/>
            </a:pPr>
            <a:r>
              <a:rPr lang="en-US" b="1" dirty="0">
                <a:solidFill>
                  <a:srgbClr val="00B050"/>
                </a:solidFill>
                <a:latin typeface="fkGroteskNeue"/>
              </a:rPr>
              <a:t>W</a:t>
            </a:r>
            <a:r>
              <a:rPr lang="en-US" b="1" dirty="0" smtClean="0">
                <a:solidFill>
                  <a:srgbClr val="00B050"/>
                </a:solidFill>
                <a:latin typeface="fkGroteskNeue"/>
              </a:rPr>
              <a:t>hat </a:t>
            </a:r>
            <a:r>
              <a:rPr lang="en-US" b="1" dirty="0">
                <a:solidFill>
                  <a:srgbClr val="00B050"/>
                </a:solidFill>
                <a:latin typeface="fkGroteskNeue"/>
              </a:rPr>
              <a:t>the netlist should specify:</a:t>
            </a:r>
          </a:p>
          <a:p>
            <a:pPr marL="742950" lvl="1" indent="-285750" algn="l">
              <a:buFont typeface="Wingdings" panose="05000000000000000000" pitchFamily="2" charset="2"/>
              <a:buChar char="q"/>
            </a:pPr>
            <a:r>
              <a:rPr lang="en-US" dirty="0">
                <a:latin typeface="fkGroteskNeue"/>
              </a:rPr>
              <a:t>Each line instantiates a transistor with channel length (L) and width (W), but not mobility </a:t>
            </a:r>
            <a:r>
              <a:rPr lang="en-US" dirty="0" smtClean="0">
                <a:latin typeface="fkGroteskNeue"/>
              </a:rPr>
              <a:t>(</a:t>
            </a:r>
            <a:r>
              <a:rPr lang="en-US" i="1" dirty="0" smtClean="0">
                <a:latin typeface="KaTeX_Math"/>
              </a:rPr>
              <a:t>μ</a:t>
            </a:r>
            <a:r>
              <a:rPr lang="en-US" dirty="0">
                <a:latin typeface="fkGroteskNeue"/>
              </a:rPr>
              <a:t>), oxide capacitance </a:t>
            </a:r>
            <a:r>
              <a:rPr lang="en-US" dirty="0" smtClean="0">
                <a:latin typeface="fkGroteskNeue"/>
              </a:rPr>
              <a:t>(</a:t>
            </a:r>
            <a:r>
              <a:rPr lang="en-US" i="1" dirty="0" smtClean="0">
                <a:latin typeface="KaTeX_Math"/>
              </a:rPr>
              <a:t>Cox</a:t>
            </a:r>
            <a:r>
              <a:rPr lang="en-US" dirty="0">
                <a:latin typeface="fkGroteskNeue"/>
              </a:rPr>
              <a:t>), threshold voltage </a:t>
            </a:r>
            <a:r>
              <a:rPr lang="en-US" dirty="0" smtClean="0">
                <a:latin typeface="fkGroteskNeue"/>
              </a:rPr>
              <a:t>(</a:t>
            </a:r>
            <a:r>
              <a:rPr lang="en-US" i="1" dirty="0" smtClean="0">
                <a:latin typeface="KaTeX_Math"/>
              </a:rPr>
              <a:t>VT</a:t>
            </a:r>
            <a:r>
              <a:rPr lang="en-US" dirty="0">
                <a:latin typeface="fkGroteskNeue"/>
              </a:rPr>
              <a:t>), etc.</a:t>
            </a:r>
          </a:p>
          <a:p>
            <a:pPr marL="742950" lvl="1" indent="-285750" algn="l">
              <a:buFont typeface="Wingdings" panose="05000000000000000000" pitchFamily="2" charset="2"/>
              <a:buChar char="q"/>
            </a:pPr>
            <a:r>
              <a:rPr lang="en-US" dirty="0">
                <a:latin typeface="fkGroteskNeue"/>
              </a:rPr>
              <a:t>Students realize they directly control sizing but not physical properties</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algn="ctr">
              <a:buFont typeface="+mj-lt"/>
              <a:buAutoNum type="arabicPeriod"/>
            </a:pPr>
            <a:r>
              <a:rPr lang="en-US" b="1" dirty="0">
                <a:solidFill>
                  <a:srgbClr val="00B050"/>
                </a:solidFill>
                <a:latin typeface="fkGroteskNeue"/>
              </a:rPr>
              <a:t>Begin with Sizing Selection:</a:t>
            </a:r>
          </a:p>
          <a:p>
            <a:pPr marL="742950" lvl="1" indent="-285750" algn="l">
              <a:buFont typeface="Wingdings" panose="05000000000000000000" pitchFamily="2" charset="2"/>
              <a:buChar char="q"/>
            </a:pPr>
            <a:r>
              <a:rPr lang="en-US" dirty="0">
                <a:latin typeface="fkGroteskNeue"/>
              </a:rPr>
              <a:t>Use gm/ID-based design tables or charts to select W and L intelligently, connecting bias point, small-signal model, and performance.</a:t>
            </a:r>
          </a:p>
          <a:p>
            <a:pPr marL="742950" lvl="1" indent="-285750" algn="l">
              <a:buFont typeface="Wingdings" panose="05000000000000000000" pitchFamily="2" charset="2"/>
              <a:buChar char="q"/>
            </a:pPr>
            <a:r>
              <a:rPr lang="en-US" dirty="0">
                <a:latin typeface="fkGroteskNeue"/>
              </a:rPr>
              <a:t>Avoid random guessing—ground choices in analytical pre-work</a:t>
            </a:r>
            <a:r>
              <a:rPr lang="en-US" dirty="0" smtClean="0">
                <a:latin typeface="fkGroteskNeue"/>
              </a:rPr>
              <a:t>.</a:t>
            </a:r>
          </a:p>
          <a:p>
            <a:pPr marL="742950" lvl="1" indent="-285750" algn="l">
              <a:buFont typeface="Wingdings" panose="05000000000000000000" pitchFamily="2" charset="2"/>
              <a:buChar char="q"/>
            </a:pPr>
            <a:endParaRPr lang="en-US" dirty="0">
              <a:latin typeface="fkGroteskNeue"/>
            </a:endParaRPr>
          </a:p>
          <a:p>
            <a:pPr algn="ctr">
              <a:buFont typeface="+mj-lt"/>
              <a:buAutoNum type="arabicPeriod"/>
            </a:pPr>
            <a:r>
              <a:rPr lang="en-US" b="1" dirty="0">
                <a:solidFill>
                  <a:srgbClr val="00B050"/>
                </a:solidFill>
                <a:latin typeface="fkGroteskNeue"/>
              </a:rPr>
              <a:t>Iterative Specification:</a:t>
            </a:r>
          </a:p>
          <a:p>
            <a:pPr marL="742950" lvl="1" indent="-285750" algn="l">
              <a:buFont typeface="Wingdings" panose="05000000000000000000" pitchFamily="2" charset="2"/>
              <a:buChar char="q"/>
            </a:pPr>
            <a:r>
              <a:rPr lang="en-US" dirty="0">
                <a:latin typeface="fkGroteskNeue"/>
              </a:rPr>
              <a:t>Fill in W and L for each transistor in netlist based on intended role in topology and targeted small-signal behavior.</a:t>
            </a:r>
          </a:p>
          <a:p>
            <a:pPr marL="742950" lvl="1" indent="-285750" algn="l">
              <a:buFont typeface="Wingdings" panose="05000000000000000000" pitchFamily="2" charset="2"/>
              <a:buChar char="q"/>
            </a:pPr>
            <a:r>
              <a:rPr lang="en-US" dirty="0">
                <a:latin typeface="fkGroteskNeue"/>
              </a:rPr>
              <a:t>Validate choices analytically before </a:t>
            </a:r>
            <a:r>
              <a:rPr lang="en-US" dirty="0" smtClean="0">
                <a:latin typeface="fkGroteskNeue"/>
              </a:rPr>
              <a:t>simulation</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4761659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Intuitive </a:t>
            </a:r>
            <a:r>
              <a:rPr lang="en-US" dirty="0" smtClean="0">
                <a:latin typeface="fkGrotesk"/>
              </a:rPr>
              <a:t>Takeaways</a:t>
            </a:r>
            <a:endParaRPr lang="en-US" dirty="0"/>
          </a:p>
        </p:txBody>
      </p:sp>
      <p:sp>
        <p:nvSpPr>
          <p:cNvPr id="3" name="Text Placeholder 2"/>
          <p:cNvSpPr>
            <a:spLocks noGrp="1"/>
          </p:cNvSpPr>
          <p:nvPr>
            <p:ph type="body" idx="1"/>
          </p:nvPr>
        </p:nvSpPr>
        <p:spPr>
          <a:xfrm>
            <a:off x="844550" y="1327353"/>
            <a:ext cx="11135783" cy="3616375"/>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Hand </a:t>
            </a:r>
            <a:r>
              <a:rPr lang="en-US" dirty="0">
                <a:latin typeface="fkGroteskNeue"/>
              </a:rPr>
              <a:t>calculation phase is where insight, creativity, and optimization thrive; simulation is for verifying and fine-tuning, not for broad exploration.</a:t>
            </a:r>
          </a:p>
          <a:p>
            <a:pPr marL="342900" indent="-342900" algn="just">
              <a:spcBef>
                <a:spcPts val="600"/>
              </a:spcBef>
              <a:spcAft>
                <a:spcPts val="600"/>
              </a:spcAft>
              <a:buFont typeface="Wingdings" panose="05000000000000000000" pitchFamily="2" charset="2"/>
              <a:buChar char="q"/>
            </a:pPr>
            <a:r>
              <a:rPr lang="en-US" dirty="0">
                <a:latin typeface="fkGroteskNeue"/>
              </a:rPr>
              <a:t>gm/ID methodology allows designers to make confident sizing choices before simulation—minimizing wasteful blind tweaking and maximizing the value of circuit intuition.</a:t>
            </a:r>
          </a:p>
          <a:p>
            <a:pPr marL="342900" indent="-342900" algn="just">
              <a:spcBef>
                <a:spcPts val="600"/>
              </a:spcBef>
              <a:spcAft>
                <a:spcPts val="600"/>
              </a:spcAft>
              <a:buFont typeface="Wingdings" panose="05000000000000000000" pitchFamily="2" charset="2"/>
              <a:buChar char="q"/>
            </a:pPr>
            <a:r>
              <a:rPr lang="en-US" dirty="0">
                <a:latin typeface="fkGroteskNeue"/>
              </a:rPr>
              <a:t>A strong design flow emphasizes rapid, deep exploration in the analytical phase, ensuring simulation is just the confirmation of informed decisions, not an endless search for performance</a:t>
            </a:r>
            <a:r>
              <a:rPr lang="en-US" dirty="0" smtClean="0">
                <a:latin typeface="fkGroteskNeue"/>
              </a:rPr>
              <a:t>.</a:t>
            </a:r>
          </a:p>
          <a:p>
            <a:pPr marL="342900" indent="-342900" algn="just">
              <a:spcBef>
                <a:spcPts val="600"/>
              </a:spcBef>
              <a:spcAft>
                <a:spcPts val="600"/>
              </a:spcAft>
              <a:buFont typeface="Wingdings" panose="05000000000000000000" pitchFamily="2" charset="2"/>
              <a:buChar char="q"/>
            </a:pPr>
            <a:endParaRPr lang="en-US" dirty="0">
              <a:latin typeface="fkGroteskNeue"/>
            </a:endParaRPr>
          </a:p>
          <a:p>
            <a:pPr algn="just"/>
            <a:r>
              <a:rPr lang="en-US" dirty="0">
                <a:latin typeface="fkGroteskNeue"/>
              </a:rPr>
              <a:t>This approach fully aligns with modern, efficient analog design practice, ensuring that designers and students develop true intuition and control over their circuits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48770348"/>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756704" y="321155"/>
                <a:ext cx="10593196" cy="582852"/>
              </a:xfrm>
            </p:spPr>
            <p:txBody>
              <a:bodyPr/>
              <a:lstStyle/>
              <a:p>
                <a14:m>
                  <m:oMath xmlns:m="http://schemas.openxmlformats.org/officeDocument/2006/math">
                    <m:f>
                      <m:fPr>
                        <m:ctrlPr>
                          <a:rPr lang="en-US" sz="2600" i="1" smtClean="0">
                            <a:latin typeface="Cambria Math" panose="02040503050406030204" pitchFamily="18" charset="0"/>
                          </a:rPr>
                        </m:ctrlPr>
                      </m:fPr>
                      <m:num>
                        <m:sSub>
                          <m:sSubPr>
                            <m:ctrlPr>
                              <a:rPr lang="en-US" sz="2600" i="1">
                                <a:latin typeface="Cambria Math" panose="02040503050406030204" pitchFamily="18" charset="0"/>
                              </a:rPr>
                            </m:ctrlPr>
                          </m:sSubPr>
                          <m:e>
                            <m:r>
                              <a:rPr lang="en-US" sz="2600" i="1">
                                <a:latin typeface="Cambria Math" panose="02040503050406030204" pitchFamily="18" charset="0"/>
                              </a:rPr>
                              <m:t>𝑔</m:t>
                            </m:r>
                          </m:e>
                          <m:sub>
                            <m:r>
                              <a:rPr lang="en-US" sz="2600" i="1">
                                <a:latin typeface="Cambria Math" panose="02040503050406030204" pitchFamily="18" charset="0"/>
                              </a:rPr>
                              <m:t>𝑚</m:t>
                            </m:r>
                          </m:sub>
                        </m:sSub>
                      </m:num>
                      <m:den>
                        <m:sSub>
                          <m:sSubPr>
                            <m:ctrlPr>
                              <a:rPr lang="en-US" sz="2600" i="1">
                                <a:latin typeface="Cambria Math" panose="02040503050406030204" pitchFamily="18" charset="0"/>
                              </a:rPr>
                            </m:ctrlPr>
                          </m:sSubPr>
                          <m:e>
                            <m:r>
                              <a:rPr lang="en-US" sz="2600" i="1">
                                <a:latin typeface="Cambria Math" panose="02040503050406030204" pitchFamily="18" charset="0"/>
                              </a:rPr>
                              <m:t>𝐼</m:t>
                            </m:r>
                          </m:e>
                          <m:sub>
                            <m:r>
                              <a:rPr lang="en-US" sz="2600" i="1">
                                <a:latin typeface="Cambria Math" panose="02040503050406030204" pitchFamily="18" charset="0"/>
                              </a:rPr>
                              <m:t>𝐷</m:t>
                            </m:r>
                          </m:sub>
                        </m:sSub>
                      </m:den>
                    </m:f>
                  </m:oMath>
                </a14:m>
                <a:r>
                  <a:rPr lang="en-US" sz="2600" dirty="0">
                    <a:solidFill>
                      <a:srgbClr val="000000"/>
                    </a:solidFill>
                    <a:latin typeface="inter"/>
                    <a:ea typeface="inter"/>
                    <a:cs typeface="inter"/>
                  </a:rPr>
                  <a:t>-Based Device Sizing Using Reference Plots and Cross-Multiplication</a:t>
                </a:r>
                <a:endParaRPr lang="en-US" sz="2600"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756704" y="321155"/>
                <a:ext cx="10593196" cy="582852"/>
              </a:xfrm>
              <a:blipFill>
                <a:blip r:embed="rId2"/>
                <a:stretch>
                  <a:fillRect t="-11579" r="-1151" b="-947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27617" y="1132620"/>
                <a:ext cx="11025717" cy="5182252"/>
              </a:xfrm>
            </p:spPr>
            <p:txBody>
              <a:bodyPr/>
              <a:lstStyle/>
              <a:p>
                <a:pPr algn="ctr">
                  <a:lnSpc>
                    <a:spcPct val="150000"/>
                  </a:lnSpc>
                  <a:spcBef>
                    <a:spcPts val="1575"/>
                  </a:spcBef>
                  <a:spcAft>
                    <a:spcPts val="525"/>
                  </a:spcAft>
                </a:pPr>
                <a:r>
                  <a:rPr lang="en-US" sz="1800" dirty="0">
                    <a:solidFill>
                      <a:srgbClr val="C00000"/>
                    </a:solidFill>
                    <a:latin typeface="inter"/>
                    <a:ea typeface="inter"/>
                    <a:cs typeface="inter"/>
                  </a:rPr>
                  <a:t>Part 1: Foundation and Philosophy</a:t>
                </a:r>
                <a:endParaRPr lang="en-US" sz="14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gn="ctr">
                  <a:lnSpc>
                    <a:spcPct val="150000"/>
                  </a:lnSpc>
                </a:pPr>
                <a:r>
                  <a:rPr lang="en-US" sz="1800" b="1" i="1" dirty="0">
                    <a:solidFill>
                      <a:srgbClr val="C00000"/>
                    </a:solidFill>
                    <a:latin typeface="inter"/>
                    <a:ea typeface="inter"/>
                    <a:cs typeface="inter"/>
                  </a:rPr>
                  <a:t>1.1 The Evolution of Analog Design Methodology</a:t>
                </a:r>
                <a:endParaRPr lang="en-US" sz="1400" i="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400" dirty="0">
                    <a:solidFill>
                      <a:srgbClr val="000000"/>
                    </a:solidFill>
                    <a:latin typeface="inter"/>
                    <a:ea typeface="inter"/>
                    <a:cs typeface="inter"/>
                  </a:rPr>
                  <a:t>Historically, analog designers relied on </a:t>
                </a:r>
                <a:r>
                  <a:rPr lang="en-US" sz="1400" b="1" dirty="0">
                    <a:solidFill>
                      <a:srgbClr val="000000"/>
                    </a:solidFill>
                    <a:latin typeface="inter"/>
                    <a:ea typeface="inter"/>
                    <a:cs typeface="inter"/>
                  </a:rPr>
                  <a:t>closed-form equations</a:t>
                </a:r>
                <a:r>
                  <a:rPr lang="en-US" sz="1400" dirty="0">
                    <a:solidFill>
                      <a:srgbClr val="000000"/>
                    </a:solidFill>
                    <a:latin typeface="inter"/>
                    <a:ea typeface="inter"/>
                    <a:cs typeface="inter"/>
                  </a:rPr>
                  <a:t> (like the square law) to size transistors. This worked reasonably well in older, longer-channel technologies where simple models matched reality. However, modern nanoscale CMOS presents challenges: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a:solidFill>
                      <a:srgbClr val="000000"/>
                    </a:solidFill>
                    <a:latin typeface="inter"/>
                    <a:ea typeface="inter"/>
                    <a:cs typeface="inter"/>
                  </a:rPr>
                  <a:t>Short-channel effects</a:t>
                </a:r>
                <a:r>
                  <a:rPr lang="en-US" sz="1600" dirty="0">
                    <a:solidFill>
                      <a:srgbClr val="000000"/>
                    </a:solidFill>
                    <a:latin typeface="inter"/>
                    <a:ea typeface="inter"/>
                    <a:cs typeface="inter"/>
                  </a:rPr>
                  <a:t> dominate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a:solidFill>
                      <a:srgbClr val="000000"/>
                    </a:solidFill>
                    <a:latin typeface="inter"/>
                    <a:ea typeface="inter"/>
                    <a:cs typeface="inter"/>
                  </a:rPr>
                  <a:t>Velocity saturation</a:t>
                </a:r>
                <a:r>
                  <a:rPr lang="en-US" sz="1600" dirty="0">
                    <a:solidFill>
                      <a:srgbClr val="000000"/>
                    </a:solidFill>
                    <a:latin typeface="inter"/>
                    <a:ea typeface="inter"/>
                    <a:cs typeface="inter"/>
                  </a:rPr>
                  <a:t> occurs at lower electric fields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a:solidFill>
                      <a:srgbClr val="000000"/>
                    </a:solidFill>
                    <a:latin typeface="inter"/>
                    <a:ea typeface="inter"/>
                    <a:cs typeface="inter"/>
                  </a:rPr>
                  <a:t>Moderate inversion</a:t>
                </a:r>
                <a:r>
                  <a:rPr lang="en-US" sz="1600" dirty="0">
                    <a:solidFill>
                      <a:srgbClr val="000000"/>
                    </a:solidFill>
                    <a:latin typeface="inter"/>
                    <a:ea typeface="inter"/>
                    <a:cs typeface="inter"/>
                  </a:rPr>
                  <a:t> (MI) is commonly used but lacks simple models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a:solidFill>
                      <a:srgbClr val="000000"/>
                    </a:solidFill>
                    <a:latin typeface="inter"/>
                    <a:ea typeface="inter"/>
                    <a:cs typeface="inter"/>
                  </a:rPr>
                  <a:t>Process variations</a:t>
                </a:r>
                <a:r>
                  <a:rPr lang="en-US" sz="1600" dirty="0">
                    <a:solidFill>
                      <a:srgbClr val="000000"/>
                    </a:solidFill>
                    <a:latin typeface="inter"/>
                    <a:ea typeface="inter"/>
                    <a:cs typeface="inter"/>
                  </a:rPr>
                  <a:t> are significant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400" dirty="0">
                    <a:solidFill>
                      <a:srgbClr val="000000"/>
                    </a:solidFill>
                    <a:latin typeface="inter"/>
                    <a:ea typeface="inter"/>
                    <a:cs typeface="inter"/>
                  </a:rPr>
                  <a:t>The </a:t>
                </a:r>
                <a14:m>
                  <m:oMath xmlns:m="http://schemas.openxmlformats.org/officeDocument/2006/math">
                    <m:f>
                      <m:fPr>
                        <m:ctrlPr>
                          <a:rPr lang="en-US" sz="1400" b="1" i="1">
                            <a:latin typeface="Cambria Math" panose="02040503050406030204" pitchFamily="18" charset="0"/>
                          </a:rPr>
                        </m:ctrlPr>
                      </m:fPr>
                      <m:num>
                        <m:sSub>
                          <m:sSubPr>
                            <m:ctrlPr>
                              <a:rPr lang="en-US" sz="1400" b="1" i="1">
                                <a:latin typeface="Cambria Math" panose="02040503050406030204" pitchFamily="18" charset="0"/>
                              </a:rPr>
                            </m:ctrlPr>
                          </m:sSubPr>
                          <m:e>
                            <m:r>
                              <a:rPr lang="en-US" sz="1400" b="1" i="1">
                                <a:latin typeface="Cambria Math" panose="02040503050406030204" pitchFamily="18" charset="0"/>
                              </a:rPr>
                              <m:t>𝒈</m:t>
                            </m:r>
                          </m:e>
                          <m:sub>
                            <m:r>
                              <a:rPr lang="en-US" sz="1400" b="1" i="1">
                                <a:latin typeface="Cambria Math" panose="02040503050406030204" pitchFamily="18" charset="0"/>
                              </a:rPr>
                              <m:t>𝒎</m:t>
                            </m:r>
                          </m:sub>
                        </m:sSub>
                      </m:num>
                      <m:den>
                        <m:sSub>
                          <m:sSubPr>
                            <m:ctrlPr>
                              <a:rPr lang="en-US" sz="1400" b="1" i="1">
                                <a:latin typeface="Cambria Math" panose="02040503050406030204" pitchFamily="18" charset="0"/>
                              </a:rPr>
                            </m:ctrlPr>
                          </m:sSubPr>
                          <m:e>
                            <m:r>
                              <a:rPr lang="en-US" sz="1400" b="1" i="1">
                                <a:latin typeface="Cambria Math" panose="02040503050406030204" pitchFamily="18" charset="0"/>
                              </a:rPr>
                              <m:t>𝑰</m:t>
                            </m:r>
                          </m:e>
                          <m:sub>
                            <m:r>
                              <a:rPr lang="en-US" sz="1400" b="1" i="1">
                                <a:latin typeface="Cambria Math" panose="02040503050406030204" pitchFamily="18" charset="0"/>
                              </a:rPr>
                              <m:t>𝑫</m:t>
                            </m:r>
                          </m:sub>
                        </m:sSub>
                      </m:den>
                    </m:f>
                  </m:oMath>
                </a14:m>
                <a:r>
                  <a:rPr lang="en-US" sz="1400" b="1" dirty="0">
                    <a:solidFill>
                      <a:srgbClr val="000000"/>
                    </a:solidFill>
                    <a:latin typeface="inter"/>
                    <a:ea typeface="inter"/>
                    <a:cs typeface="inter"/>
                  </a:rPr>
                  <a:t> methodology</a:t>
                </a:r>
                <a:r>
                  <a:rPr lang="en-US" sz="1400" dirty="0">
                    <a:solidFill>
                      <a:srgbClr val="000000"/>
                    </a:solidFill>
                    <a:latin typeface="inter"/>
                    <a:ea typeface="inter"/>
                    <a:cs typeface="inter"/>
                  </a:rPr>
                  <a:t> emerged as a solution—a practical, measurement-based approach that: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Works across all inversion regions (WI, MI, SI)</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Captures real device physics without complex equations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Provides intuitive design decisions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Scales across technology nodes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27617" y="1132620"/>
                <a:ext cx="11025717" cy="5182252"/>
              </a:xfrm>
              <a:blipFill>
                <a:blip r:embed="rId3"/>
                <a:stretch>
                  <a:fillRect l="-99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370778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61483" y="1090286"/>
                <a:ext cx="10856383" cy="5353838"/>
              </a:xfrm>
            </p:spPr>
            <p:txBody>
              <a:bodyPr/>
              <a:lstStyle/>
              <a:p>
                <a:pPr>
                  <a:lnSpc>
                    <a:spcPct val="150000"/>
                  </a:lnSpc>
                </a:pPr>
                <a:r>
                  <a:rPr lang="en-US" b="1" dirty="0">
                    <a:solidFill>
                      <a:srgbClr val="000000"/>
                    </a:solidFill>
                    <a:latin typeface="inter"/>
                    <a:ea typeface="inter"/>
                    <a:cs typeface="inter"/>
                  </a:rPr>
                  <a:t>1.2 Why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6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b="1" dirty="0">
                    <a:solidFill>
                      <a:srgbClr val="000000"/>
                    </a:solidFill>
                    <a:latin typeface="inter"/>
                    <a:ea typeface="inter"/>
                    <a:cs typeface="inter"/>
                  </a:rPr>
                  <a:t> Is the Right Design Variable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The </a:t>
                </a:r>
                <a:r>
                  <a:rPr lang="en-US" sz="1600" dirty="0" err="1">
                    <a:solidFill>
                      <a:srgbClr val="000000"/>
                    </a:solidFill>
                    <a:latin typeface="inter"/>
                    <a:ea typeface="inter"/>
                    <a:cs typeface="inter"/>
                  </a:rPr>
                  <a:t>transconductance</a:t>
                </a:r>
                <a:r>
                  <a:rPr lang="en-US" sz="1600" dirty="0">
                    <a:solidFill>
                      <a:srgbClr val="000000"/>
                    </a:solidFill>
                    <a:latin typeface="inter"/>
                    <a:ea typeface="inter"/>
                    <a:cs typeface="inter"/>
                  </a:rPr>
                  <a:t> efficiency, defined as: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signal</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amplification</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capability</m:t>
                          </m:r>
                        </m:num>
                        <m:den>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power</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consumed</m:t>
                          </m:r>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is fundamentally important because it directly relates to circuit performance: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b="1" dirty="0">
                    <a:solidFill>
                      <a:srgbClr val="000000"/>
                    </a:solidFill>
                    <a:latin typeface="inter"/>
                    <a:ea typeface="inter"/>
                    <a:cs typeface="inter"/>
                  </a:rPr>
                  <a:t>For Speed (Bandwidth):</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GBW</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b="1" dirty="0">
                    <a:solidFill>
                      <a:srgbClr val="000000"/>
                    </a:solidFill>
                    <a:latin typeface="inter"/>
                    <a:ea typeface="inter"/>
                    <a:cs typeface="inter"/>
                  </a:rPr>
                  <a:t>For Noise: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bar>
                        <m:barPr>
                          <m:pos m:val="top"/>
                          <m:ctrlPr>
                            <a:rPr lang="en-US" sz="1600" i="1">
                              <a:latin typeface="Cambria Math" panose="02040503050406030204" pitchFamily="18" charset="0"/>
                              <a:ea typeface="Calibri" panose="020F0502020204030204" pitchFamily="34" charset="0"/>
                              <a:cs typeface="Times New Roman" panose="02020603050405020304" pitchFamily="18" charset="0"/>
                            </a:rPr>
                          </m:ctrlPr>
                        </m:barPr>
                        <m:e>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ba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b="1" dirty="0">
                    <a:solidFill>
                      <a:srgbClr val="000000"/>
                    </a:solidFill>
                    <a:latin typeface="inter"/>
                    <a:ea typeface="inter"/>
                    <a:cs typeface="inter"/>
                  </a:rPr>
                  <a:t>For Gain: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𝑣</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Notice that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b="1" dirty="0">
                    <a:solidFill>
                      <a:srgbClr val="000000"/>
                    </a:solidFill>
                    <a:latin typeface="inter"/>
                    <a:ea typeface="inter"/>
                    <a:cs typeface="inter"/>
                  </a:rPr>
                  <a:t> appears in every performance metric</a:t>
                </a:r>
                <a:r>
                  <a:rPr lang="en-US" sz="1600" dirty="0">
                    <a:solidFill>
                      <a:srgbClr val="000000"/>
                    </a:solidFill>
                    <a:latin typeface="inter"/>
                    <a:ea typeface="inter"/>
                    <a:cs typeface="inter"/>
                  </a:rPr>
                  <a:t>, making it the natural variable to work with</a:t>
                </a:r>
                <a:r>
                  <a:rPr lang="en-US" sz="1600" dirty="0" smtClean="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61483" y="1090286"/>
                <a:ext cx="10856383" cy="5353838"/>
              </a:xfrm>
              <a:blipFill>
                <a:blip r:embed="rId2"/>
                <a:stretch>
                  <a:fillRect l="-1404" b="-569"/>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8160152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983383" cy="3768852"/>
              </a:xfrm>
            </p:spPr>
            <p:txBody>
              <a:bodyPr/>
              <a:lstStyle/>
              <a:p>
                <a:pPr algn="ctr">
                  <a:lnSpc>
                    <a:spcPct val="150000"/>
                  </a:lnSpc>
                </a:pPr>
                <a:r>
                  <a:rPr lang="en-US" b="1" dirty="0">
                    <a:solidFill>
                      <a:srgbClr val="C00000"/>
                    </a:solidFill>
                    <a:latin typeface="inter"/>
                    <a:ea typeface="inter"/>
                    <a:cs typeface="inter"/>
                  </a:rPr>
                  <a:t>Part 2: The Universal Scaling Law—I</a:t>
                </a:r>
                <a:r>
                  <a:rPr lang="en-US" b="1" baseline="-25000" dirty="0">
                    <a:solidFill>
                      <a:srgbClr val="C00000"/>
                    </a:solidFill>
                    <a:latin typeface="inter"/>
                    <a:ea typeface="inter"/>
                    <a:cs typeface="inter"/>
                  </a:rPr>
                  <a:t>D</a:t>
                </a:r>
                <a:r>
                  <a:rPr lang="en-US" b="1" dirty="0">
                    <a:solidFill>
                      <a:srgbClr val="C00000"/>
                    </a:solidFill>
                    <a:latin typeface="inter"/>
                    <a:ea typeface="inter"/>
                    <a:cs typeface="inter"/>
                  </a:rPr>
                  <a:t> ∝ W</a:t>
                </a:r>
                <a:endParaRPr lang="en-US" sz="16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b="1" dirty="0">
                    <a:solidFill>
                      <a:srgbClr val="000000"/>
                    </a:solidFill>
                    <a:effectLst/>
                    <a:latin typeface="inter"/>
                    <a:ea typeface="inter"/>
                    <a:cs typeface="inter"/>
                  </a:rPr>
                  <a:t>2.1 Physical Derivation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Consider the drain current equation in </a:t>
                </a:r>
                <a:r>
                  <a:rPr lang="en-US" sz="1600" b="1" dirty="0">
                    <a:solidFill>
                      <a:srgbClr val="000000"/>
                    </a:solidFill>
                    <a:latin typeface="inter"/>
                    <a:ea typeface="inter"/>
                    <a:cs typeface="inter"/>
                  </a:rPr>
                  <a:t>any</a:t>
                </a:r>
                <a:r>
                  <a:rPr lang="en-US" sz="1600" dirty="0">
                    <a:solidFill>
                      <a:srgbClr val="000000"/>
                    </a:solidFill>
                    <a:latin typeface="inter"/>
                    <a:ea typeface="inter"/>
                    <a:cs typeface="inter"/>
                  </a:rPr>
                  <a:t> operating region. At a fundamental level, current density (current per unit width) is determined by: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𝐽</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process</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parameters</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The key insight: </a:t>
                </a:r>
                <a:r>
                  <a:rPr lang="en-US" sz="1600" b="1" dirty="0">
                    <a:solidFill>
                      <a:srgbClr val="000000"/>
                    </a:solidFill>
                    <a:latin typeface="inter"/>
                    <a:ea typeface="inter"/>
                    <a:cs typeface="inter"/>
                  </a:rPr>
                  <a:t>for fixed biasing (VGS, VDS, VSB), temperature, and length, the current density is constant</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600" dirty="0">
                    <a:solidFill>
                      <a:srgbClr val="000000"/>
                    </a:solidFill>
                    <a:latin typeface="inter"/>
                    <a:ea typeface="inter"/>
                    <a:cs typeface="inter"/>
                  </a:rPr>
                  <a:t>Therefore: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𝐽</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constant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983383" cy="3768852"/>
              </a:xfrm>
              <a:blipFill>
                <a:blip r:embed="rId2"/>
                <a:stretch>
                  <a:fillRect l="-1444"/>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69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3282110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1262783" cy="4905702"/>
              </a:xfrm>
            </p:spPr>
            <p:txBody>
              <a:bodyPr/>
              <a:lstStyle/>
              <a:p>
                <a:r>
                  <a:rPr lang="en-US" sz="1800" b="1" dirty="0">
                    <a:solidFill>
                      <a:srgbClr val="C00000"/>
                    </a:solidFill>
                    <a:latin typeface="inter"/>
                    <a:ea typeface="inter"/>
                    <a:cs typeface="inter"/>
                  </a:rPr>
                  <a:t>2.2 Why This Holds Universally</a:t>
                </a:r>
                <a:endParaRPr lang="en-US" sz="14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500" b="1" dirty="0">
                    <a:solidFill>
                      <a:srgbClr val="000000"/>
                    </a:solidFill>
                    <a:latin typeface="inter"/>
                    <a:ea typeface="inter"/>
                    <a:cs typeface="inter"/>
                  </a:rPr>
                  <a:t>In Weak Inversion:</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0</m:t>
                          </m:r>
                        </m:sub>
                      </m:sSub>
                      <m:d>
                        <m:d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e>
                      </m:d>
                      <m:sSup>
                        <m:sSup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d>
                        <m:d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m:t>
                              </m:r>
                            </m:e>
                            <m:sup>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𝑈</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sup>
                          </m:sSup>
                        </m:e>
                      </m:d>
                    </m:oMath>
                  </m:oMathPara>
                </a14:m>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dirty="0">
                    <a:solidFill>
                      <a:srgbClr val="000000"/>
                    </a:solidFill>
                    <a:latin typeface="inter"/>
                    <a:ea typeface="inter"/>
                    <a:cs typeface="inter"/>
                  </a:rPr>
                  <a:t>Current is explicitly proportional to W.</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b="1" dirty="0">
                    <a:solidFill>
                      <a:srgbClr val="000000"/>
                    </a:solidFill>
                    <a:latin typeface="inter"/>
                    <a:ea typeface="inter"/>
                    <a:cs typeface="inter"/>
                  </a:rPr>
                  <a:t>In Strong Inversion (Square Law):</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sSup>
                        <m:sSupPr>
                          <m:ctrlPr>
                            <a:rPr lang="en-US" sz="15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5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dirty="0">
                    <a:solidFill>
                      <a:srgbClr val="000000"/>
                    </a:solidFill>
                    <a:latin typeface="inter"/>
                    <a:ea typeface="inter"/>
                    <a:cs typeface="inter"/>
                  </a:rPr>
                  <a:t>Again, explicitly proportional to W</a:t>
                </a:r>
                <a:r>
                  <a:rPr lang="en-US" sz="1500" dirty="0" smtClean="0">
                    <a:solidFill>
                      <a:srgbClr val="000000"/>
                    </a:solidFill>
                    <a:latin typeface="inter"/>
                    <a:ea typeface="inter"/>
                    <a:cs typeface="inter"/>
                  </a:rPr>
                  <a:t>.</a:t>
                </a:r>
              </a:p>
              <a:p>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b="1" dirty="0">
                    <a:solidFill>
                      <a:srgbClr val="000000"/>
                    </a:solidFill>
                    <a:latin typeface="inter"/>
                    <a:ea typeface="inter"/>
                    <a:cs typeface="inter"/>
                  </a:rPr>
                  <a:t>In Moderate Inversion:</a:t>
                </a:r>
                <a:r>
                  <a:rPr lang="en-US" sz="1500" dirty="0">
                    <a:solidFill>
                      <a:srgbClr val="000000"/>
                    </a:solidFill>
                    <a:latin typeface="inter"/>
                    <a:ea typeface="inter"/>
                    <a:cs typeface="inter"/>
                  </a:rPr>
                  <a:t/>
                </a:r>
                <a:br>
                  <a:rPr lang="en-US" sz="1500" dirty="0">
                    <a:solidFill>
                      <a:srgbClr val="000000"/>
                    </a:solidFill>
                    <a:latin typeface="inter"/>
                    <a:ea typeface="inter"/>
                    <a:cs typeface="inter"/>
                  </a:rPr>
                </a:br>
                <a:r>
                  <a:rPr lang="en-US" sz="1500" dirty="0">
                    <a:solidFill>
                      <a:srgbClr val="000000"/>
                    </a:solidFill>
                    <a:latin typeface="inter"/>
                    <a:ea typeface="inter"/>
                    <a:cs typeface="inter"/>
                  </a:rPr>
                  <a:t>Even though there's no simple closed-form equation, the fundamental physics still holds—current flows through the width of the channel</a:t>
                </a:r>
                <a:r>
                  <a:rPr lang="en-US" sz="1500" dirty="0" smtClean="0">
                    <a:solidFill>
                      <a:srgbClr val="000000"/>
                    </a:solidFill>
                    <a:latin typeface="inter"/>
                    <a:ea typeface="inter"/>
                    <a:cs typeface="inter"/>
                  </a:rPr>
                  <a:t>.</a:t>
                </a:r>
              </a:p>
              <a:p>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b="1" dirty="0">
                    <a:solidFill>
                      <a:srgbClr val="000000"/>
                    </a:solidFill>
                    <a:latin typeface="inter"/>
                    <a:ea typeface="inter"/>
                    <a:cs typeface="inter"/>
                  </a:rPr>
                  <a:t>Physical Analogy:</a:t>
                </a:r>
                <a:r>
                  <a:rPr lang="en-US" sz="1500" dirty="0">
                    <a:solidFill>
                      <a:srgbClr val="000000"/>
                    </a:solidFill>
                    <a:latin typeface="inter"/>
                    <a:ea typeface="inter"/>
                    <a:cs typeface="inter"/>
                  </a:rPr>
                  <a:t/>
                </a:r>
                <a:br>
                  <a:rPr lang="en-US" sz="1500" dirty="0">
                    <a:solidFill>
                      <a:srgbClr val="000000"/>
                    </a:solidFill>
                    <a:latin typeface="inter"/>
                    <a:ea typeface="inter"/>
                    <a:cs typeface="inter"/>
                  </a:rPr>
                </a:br>
                <a:r>
                  <a:rPr lang="en-US" sz="1500" dirty="0">
                    <a:solidFill>
                      <a:srgbClr val="000000"/>
                    </a:solidFill>
                    <a:latin typeface="inter"/>
                    <a:ea typeface="inter"/>
                    <a:cs typeface="inter"/>
                  </a:rPr>
                  <a:t>Think of the transistor channel as a highway:</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500" b="1" dirty="0">
                    <a:solidFill>
                      <a:srgbClr val="000000"/>
                    </a:solidFill>
                    <a:latin typeface="inter"/>
                    <a:ea typeface="inter"/>
                    <a:cs typeface="inter"/>
                  </a:rPr>
                  <a:t>Width (W)</a:t>
                </a:r>
                <a:r>
                  <a:rPr lang="en-US" sz="1500" dirty="0">
                    <a:solidFill>
                      <a:srgbClr val="000000"/>
                    </a:solidFill>
                    <a:latin typeface="inter"/>
                    <a:ea typeface="inter"/>
                    <a:cs typeface="inter"/>
                  </a:rPr>
                  <a:t>: Number of lanes</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500" b="1" dirty="0">
                    <a:solidFill>
                      <a:srgbClr val="000000"/>
                    </a:solidFill>
                    <a:latin typeface="inter"/>
                    <a:ea typeface="inter"/>
                    <a:cs typeface="inter"/>
                  </a:rPr>
                  <a:t>Current (ID)</a:t>
                </a:r>
                <a:r>
                  <a:rPr lang="en-US" sz="1500" dirty="0">
                    <a:solidFill>
                      <a:srgbClr val="000000"/>
                    </a:solidFill>
                    <a:latin typeface="inter"/>
                    <a:ea typeface="inter"/>
                    <a:cs typeface="inter"/>
                  </a:rPr>
                  <a:t>: Total traffic flow</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500" b="1" dirty="0">
                    <a:solidFill>
                      <a:srgbClr val="000000"/>
                    </a:solidFill>
                    <a:latin typeface="inter"/>
                    <a:ea typeface="inter"/>
                    <a:cs typeface="inter"/>
                  </a:rPr>
                  <a:t>Current density (I</a:t>
                </a:r>
                <a:r>
                  <a:rPr lang="en-US" sz="1500" b="1" baseline="-25000" dirty="0">
                    <a:solidFill>
                      <a:srgbClr val="000000"/>
                    </a:solidFill>
                    <a:latin typeface="inter"/>
                    <a:ea typeface="inter"/>
                    <a:cs typeface="inter"/>
                  </a:rPr>
                  <a:t>D</a:t>
                </a:r>
                <a:r>
                  <a:rPr lang="en-US" sz="1500" b="1" dirty="0">
                    <a:solidFill>
                      <a:srgbClr val="000000"/>
                    </a:solidFill>
                    <a:latin typeface="inter"/>
                    <a:ea typeface="inter"/>
                    <a:cs typeface="inter"/>
                  </a:rPr>
                  <a:t>/W)</a:t>
                </a:r>
                <a:r>
                  <a:rPr lang="en-US" sz="1500" dirty="0">
                    <a:solidFill>
                      <a:srgbClr val="000000"/>
                    </a:solidFill>
                    <a:latin typeface="inter"/>
                    <a:ea typeface="inter"/>
                    <a:cs typeface="inter"/>
                  </a:rPr>
                  <a:t>: Traffic per lane</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r>
                  <a:rPr lang="en-US" sz="1500" dirty="0">
                    <a:solidFill>
                      <a:srgbClr val="000000"/>
                    </a:solidFill>
                    <a:latin typeface="inter"/>
                    <a:ea typeface="inter"/>
                    <a:cs typeface="inter"/>
                  </a:rPr>
                  <a:t>Doubling the lanes doubles the traffic capacity, regardless of road conditions (bias, temperature, etc.).</a:t>
                </a:r>
                <a:endParaRPr lang="en-US" sz="15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1262783" cy="4905702"/>
              </a:xfrm>
              <a:blipFill>
                <a:blip r:embed="rId2"/>
                <a:stretch>
                  <a:fillRect l="-1299" t="-161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6532287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44550" y="1327353"/>
            <a:ext cx="10534650" cy="2775119"/>
          </a:xfrm>
        </p:spPr>
        <p:txBody>
          <a:bodyPr/>
          <a:lstStyle/>
          <a:p>
            <a:pPr>
              <a:lnSpc>
                <a:spcPct val="150000"/>
              </a:lnSpc>
              <a:spcBef>
                <a:spcPts val="1575"/>
              </a:spcBef>
              <a:spcAft>
                <a:spcPts val="525"/>
              </a:spcAft>
            </a:pPr>
            <a:r>
              <a:rPr lang="en-US" b="1" dirty="0">
                <a:solidFill>
                  <a:srgbClr val="C00000"/>
                </a:solidFill>
                <a:latin typeface="inter"/>
                <a:ea typeface="inter"/>
                <a:cs typeface="inter"/>
              </a:rPr>
              <a:t>2.3 Experimental Verification</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sz="1600" dirty="0">
                <a:solidFill>
                  <a:srgbClr val="000000"/>
                </a:solidFill>
                <a:latin typeface="inter"/>
                <a:ea typeface="inter"/>
                <a:cs typeface="inter"/>
              </a:rPr>
              <a:t>This can be verified experimentally:</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sz="1600" dirty="0">
                <a:solidFill>
                  <a:srgbClr val="000000"/>
                </a:solidFill>
                <a:latin typeface="inter"/>
                <a:ea typeface="inter"/>
                <a:cs typeface="inter"/>
              </a:rPr>
              <a:t>Fabricate devices with W₁, W₂ = 2W₁, W₃ = 3W₁ (same 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sz="1600" dirty="0">
                <a:solidFill>
                  <a:srgbClr val="000000"/>
                </a:solidFill>
                <a:latin typeface="inter"/>
                <a:ea typeface="inter"/>
                <a:cs typeface="inter"/>
              </a:rPr>
              <a:t>Bias all at same V</a:t>
            </a:r>
            <a:r>
              <a:rPr lang="en-US" sz="1600" baseline="-25000" dirty="0">
                <a:solidFill>
                  <a:srgbClr val="000000"/>
                </a:solidFill>
                <a:latin typeface="inter"/>
                <a:ea typeface="inter"/>
                <a:cs typeface="inter"/>
              </a:rPr>
              <a:t>GS</a:t>
            </a:r>
            <a:r>
              <a:rPr lang="en-US" sz="1600" dirty="0">
                <a:solidFill>
                  <a:srgbClr val="000000"/>
                </a:solidFill>
                <a:latin typeface="inter"/>
                <a:ea typeface="inter"/>
                <a:cs typeface="inter"/>
              </a:rPr>
              <a:t>, V</a:t>
            </a:r>
            <a:r>
              <a:rPr lang="en-US" sz="1600" baseline="-25000" dirty="0">
                <a:solidFill>
                  <a:srgbClr val="000000"/>
                </a:solidFill>
                <a:latin typeface="inter"/>
                <a:ea typeface="inter"/>
                <a:cs typeface="inter"/>
              </a:rPr>
              <a:t>DS</a:t>
            </a:r>
            <a:r>
              <a:rPr lang="en-US" sz="1600" dirty="0">
                <a:solidFill>
                  <a:srgbClr val="000000"/>
                </a:solidFill>
                <a:latin typeface="inter"/>
                <a:ea typeface="inter"/>
                <a:cs typeface="inter"/>
              </a:rPr>
              <a:t>, V</a:t>
            </a:r>
            <a:r>
              <a:rPr lang="en-US" sz="1600" baseline="-25000" dirty="0">
                <a:solidFill>
                  <a:srgbClr val="000000"/>
                </a:solidFill>
                <a:latin typeface="inter"/>
                <a:ea typeface="inter"/>
                <a:cs typeface="inter"/>
              </a:rPr>
              <a:t>SB</a:t>
            </a:r>
            <a:endParaRPr lang="en-US" sz="1600" baseline="-250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lnSpc>
                <a:spcPct val="150000"/>
              </a:lnSpc>
              <a:spcBef>
                <a:spcPts val="525"/>
              </a:spcBef>
              <a:spcAft>
                <a:spcPts val="525"/>
              </a:spcAft>
              <a:buFont typeface="+mj-lt"/>
              <a:buAutoNum type="arabicPeriod"/>
              <a:tabLst>
                <a:tab pos="571500" algn="l"/>
              </a:tabLst>
            </a:pPr>
            <a:r>
              <a:rPr lang="en-US" sz="1600" dirty="0">
                <a:solidFill>
                  <a:srgbClr val="000000"/>
                </a:solidFill>
                <a:latin typeface="inter"/>
                <a:ea typeface="inter"/>
                <a:cs typeface="inter"/>
              </a:rPr>
              <a:t>Measure: ID₂ = 2×ID₁, ID₃ = 3×ID₁ (within matching limits)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27401397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44550" y="1327353"/>
            <a:ext cx="10500783" cy="4957767"/>
          </a:xfrm>
        </p:spPr>
        <p:txBody>
          <a:bodyPr/>
          <a:lstStyle/>
          <a:p>
            <a:pPr>
              <a:lnSpc>
                <a:spcPct val="150000"/>
              </a:lnSpc>
              <a:spcBef>
                <a:spcPts val="1575"/>
              </a:spcBef>
              <a:spcAft>
                <a:spcPts val="525"/>
              </a:spcAft>
            </a:pPr>
            <a:r>
              <a:rPr lang="en-US" b="1" dirty="0">
                <a:solidFill>
                  <a:srgbClr val="C00000"/>
                </a:solidFill>
                <a:latin typeface="inter"/>
                <a:ea typeface="inter"/>
                <a:cs typeface="inter"/>
              </a:rPr>
              <a:t>Part 3: Building Reference Plots—The Foundation</a:t>
            </a:r>
            <a:endParaRPr lang="en-US" sz="16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800" b="1" dirty="0">
                <a:solidFill>
                  <a:srgbClr val="C00000"/>
                </a:solidFill>
                <a:latin typeface="inter"/>
                <a:ea typeface="inter"/>
                <a:cs typeface="inter"/>
              </a:rPr>
              <a:t>3.1 What Is a Reference Device?</a:t>
            </a:r>
            <a:endParaRPr lang="en-US" sz="14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800" dirty="0">
                <a:solidFill>
                  <a:srgbClr val="000000"/>
                </a:solidFill>
                <a:latin typeface="inter"/>
                <a:ea typeface="inter"/>
                <a:cs typeface="inter"/>
              </a:rPr>
              <a:t>A </a:t>
            </a:r>
            <a:r>
              <a:rPr lang="en-US" sz="1800" b="1" dirty="0">
                <a:solidFill>
                  <a:srgbClr val="000000"/>
                </a:solidFill>
                <a:latin typeface="inter"/>
                <a:ea typeface="inter"/>
                <a:cs typeface="inter"/>
              </a:rPr>
              <a:t>reference device</a:t>
            </a:r>
            <a:r>
              <a:rPr lang="en-US" sz="1800" dirty="0">
                <a:solidFill>
                  <a:srgbClr val="000000"/>
                </a:solidFill>
                <a:latin typeface="inter"/>
                <a:ea typeface="inter"/>
                <a:cs typeface="inter"/>
              </a:rPr>
              <a:t> is a carefully chosen transistor with:</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800" b="1" dirty="0">
                <a:solidFill>
                  <a:srgbClr val="000000"/>
                </a:solidFill>
                <a:latin typeface="inter"/>
                <a:ea typeface="inter"/>
                <a:cs typeface="inter"/>
              </a:rPr>
              <a:t>Dimensional Specifications: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Width: </a:t>
            </a:r>
            <a:r>
              <a:rPr lang="en-US" sz="1600" b="1" dirty="0" err="1" smtClean="0">
                <a:solidFill>
                  <a:srgbClr val="000000"/>
                </a:solidFill>
                <a:latin typeface="inter"/>
                <a:ea typeface="inter"/>
                <a:cs typeface="inter"/>
              </a:rPr>
              <a:t>W</a:t>
            </a:r>
            <a:r>
              <a:rPr lang="en-US" sz="1600" b="1" baseline="-25000" dirty="0" err="1" smtClean="0">
                <a:solidFill>
                  <a:srgbClr val="000000"/>
                </a:solidFill>
                <a:latin typeface="inter"/>
                <a:ea typeface="inter"/>
                <a:cs typeface="inter"/>
              </a:rPr>
              <a:t>ref</a:t>
            </a:r>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(typically 1 </a:t>
            </a:r>
            <a:r>
              <a:rPr lang="en-US" sz="1600" dirty="0" err="1">
                <a:solidFill>
                  <a:srgbClr val="000000"/>
                </a:solidFill>
                <a:latin typeface="inter"/>
                <a:ea typeface="inter"/>
                <a:cs typeface="inter"/>
              </a:rPr>
              <a:t>μm</a:t>
            </a:r>
            <a:r>
              <a:rPr lang="en-US" sz="1600" dirty="0">
                <a:solidFill>
                  <a:srgbClr val="000000"/>
                </a:solidFill>
                <a:latin typeface="inter"/>
                <a:ea typeface="inter"/>
                <a:cs typeface="inter"/>
              </a:rPr>
              <a:t>, 2 </a:t>
            </a:r>
            <a:r>
              <a:rPr lang="en-US" sz="1600" dirty="0" err="1">
                <a:solidFill>
                  <a:srgbClr val="000000"/>
                </a:solidFill>
                <a:latin typeface="inter"/>
                <a:ea typeface="inter"/>
                <a:cs typeface="inter"/>
              </a:rPr>
              <a:t>μm</a:t>
            </a:r>
            <a:r>
              <a:rPr lang="en-US" sz="1600" dirty="0">
                <a:solidFill>
                  <a:srgbClr val="000000"/>
                </a:solidFill>
                <a:latin typeface="inter"/>
                <a:ea typeface="inter"/>
                <a:cs typeface="inter"/>
              </a:rPr>
              <a:t>, or 10 </a:t>
            </a:r>
            <a:r>
              <a:rPr lang="en-US" sz="1600" dirty="0" err="1">
                <a:solidFill>
                  <a:srgbClr val="000000"/>
                </a:solidFill>
                <a:latin typeface="inter"/>
                <a:ea typeface="inter"/>
                <a:cs typeface="inter"/>
              </a:rPr>
              <a:t>μm</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dirty="0">
                <a:solidFill>
                  <a:srgbClr val="000000"/>
                </a:solidFill>
                <a:latin typeface="inter"/>
                <a:ea typeface="inter"/>
                <a:cs typeface="inter"/>
              </a:rPr>
              <a:t>Length: </a:t>
            </a:r>
            <a:r>
              <a:rPr lang="en-US" sz="1600" b="1" dirty="0" err="1" smtClean="0">
                <a:solidFill>
                  <a:srgbClr val="000000"/>
                </a:solidFill>
                <a:latin typeface="inter"/>
                <a:ea typeface="inter"/>
                <a:cs typeface="inter"/>
              </a:rPr>
              <a:t>L</a:t>
            </a:r>
            <a:r>
              <a:rPr lang="en-US" sz="1600" b="1" baseline="-25000" dirty="0" err="1" smtClean="0">
                <a:solidFill>
                  <a:srgbClr val="000000"/>
                </a:solidFill>
                <a:latin typeface="inter"/>
                <a:ea typeface="inter"/>
                <a:cs typeface="inter"/>
              </a:rPr>
              <a:t>ref</a:t>
            </a:r>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(typically minimum L, 2×L_min, or longer)</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800" b="1" dirty="0">
                <a:solidFill>
                  <a:srgbClr val="000000"/>
                </a:solidFill>
                <a:latin typeface="inter"/>
                <a:ea typeface="inter"/>
                <a:cs typeface="inter"/>
              </a:rPr>
              <a:t>Why These Choices Matter:</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err="1" smtClean="0">
                <a:solidFill>
                  <a:srgbClr val="000000"/>
                </a:solidFill>
                <a:latin typeface="inter"/>
                <a:ea typeface="inter"/>
                <a:cs typeface="inter"/>
              </a:rPr>
              <a:t>W</a:t>
            </a:r>
            <a:r>
              <a:rPr lang="en-US" sz="1600" b="1" baseline="-25000" dirty="0" err="1" smtClean="0">
                <a:solidFill>
                  <a:srgbClr val="000000"/>
                </a:solidFill>
                <a:latin typeface="inter"/>
                <a:ea typeface="inter"/>
                <a:cs typeface="inter"/>
              </a:rPr>
              <a:t>ref</a:t>
            </a:r>
            <a:r>
              <a:rPr lang="en-US" sz="1600" dirty="0">
                <a:solidFill>
                  <a:srgbClr val="000000"/>
                </a:solidFill>
                <a:latin typeface="inter"/>
                <a:ea typeface="inter"/>
                <a:cs typeface="inter"/>
              </a:rPr>
              <a:t>: Small enough for compact simulation, large enough for good matching</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600" b="1" dirty="0" err="1" smtClean="0">
                <a:solidFill>
                  <a:srgbClr val="000000"/>
                </a:solidFill>
                <a:latin typeface="inter"/>
                <a:ea typeface="inter"/>
                <a:cs typeface="inter"/>
              </a:rPr>
              <a:t>L</a:t>
            </a:r>
            <a:r>
              <a:rPr lang="en-US" sz="1600" b="1" baseline="-25000" dirty="0" err="1" smtClean="0">
                <a:solidFill>
                  <a:srgbClr val="000000"/>
                </a:solidFill>
                <a:latin typeface="inter"/>
                <a:ea typeface="inter"/>
                <a:cs typeface="inter"/>
              </a:rPr>
              <a:t>ref</a:t>
            </a:r>
            <a:r>
              <a:rPr lang="en-US" sz="1600" dirty="0">
                <a:solidFill>
                  <a:srgbClr val="000000"/>
                </a:solidFill>
                <a:latin typeface="inter"/>
                <a:ea typeface="inter"/>
                <a:cs typeface="inter"/>
              </a:rPr>
              <a:t>: Chosen based on target application: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lnSpc>
                <a:spcPct val="150000"/>
              </a:lnSpc>
              <a:buFont typeface="Courier New" panose="02070309020205020404" pitchFamily="49" charset="0"/>
              <a:buChar char="o"/>
              <a:tabLst>
                <a:tab pos="914400" algn="l"/>
              </a:tabLst>
            </a:pPr>
            <a:r>
              <a:rPr lang="en-US" sz="1600" b="1" dirty="0">
                <a:solidFill>
                  <a:srgbClr val="000000"/>
                </a:solidFill>
                <a:latin typeface="inter"/>
                <a:ea typeface="inter"/>
                <a:cs typeface="inter"/>
              </a:rPr>
              <a:t>Minimum L</a:t>
            </a:r>
            <a:r>
              <a:rPr lang="en-US" sz="1600" dirty="0">
                <a:solidFill>
                  <a:srgbClr val="000000"/>
                </a:solidFill>
                <a:latin typeface="inter"/>
                <a:ea typeface="inter"/>
                <a:cs typeface="inter"/>
              </a:rPr>
              <a:t>: For high-speed circuits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lnSpc>
                <a:spcPct val="150000"/>
              </a:lnSpc>
              <a:buFont typeface="Courier New" panose="02070309020205020404" pitchFamily="49" charset="0"/>
              <a:buChar char="o"/>
              <a:tabLst>
                <a:tab pos="914400" algn="l"/>
              </a:tabLst>
            </a:pPr>
            <a:r>
              <a:rPr lang="en-US" sz="1600" b="1" dirty="0">
                <a:solidFill>
                  <a:srgbClr val="000000"/>
                </a:solidFill>
                <a:latin typeface="inter"/>
                <a:ea typeface="inter"/>
                <a:cs typeface="inter"/>
              </a:rPr>
              <a:t>2-3× minimum L</a:t>
            </a:r>
            <a:r>
              <a:rPr lang="en-US" sz="1600" dirty="0">
                <a:solidFill>
                  <a:srgbClr val="000000"/>
                </a:solidFill>
                <a:latin typeface="inter"/>
                <a:ea typeface="inter"/>
                <a:cs typeface="inter"/>
              </a:rPr>
              <a:t>: For balanced speed/gain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lnSpc>
                <a:spcPct val="150000"/>
              </a:lnSpc>
              <a:buFont typeface="Courier New" panose="02070309020205020404" pitchFamily="49" charset="0"/>
              <a:buChar char="o"/>
              <a:tabLst>
                <a:tab pos="914400" algn="l"/>
              </a:tabLst>
            </a:pPr>
            <a:r>
              <a:rPr lang="en-US" sz="1600" b="1" dirty="0">
                <a:solidFill>
                  <a:srgbClr val="000000"/>
                </a:solidFill>
                <a:latin typeface="inter"/>
                <a:ea typeface="inter"/>
                <a:cs typeface="inter"/>
              </a:rPr>
              <a:t>Longer L</a:t>
            </a:r>
            <a:r>
              <a:rPr lang="en-US" sz="1600" dirty="0">
                <a:solidFill>
                  <a:srgbClr val="000000"/>
                </a:solidFill>
                <a:latin typeface="inter"/>
                <a:ea typeface="inter"/>
                <a:cs typeface="inter"/>
              </a:rPr>
              <a:t>: For precision analog (ADCs, references, bias circuits</a:t>
            </a:r>
            <a:r>
              <a:rPr lang="en-US" sz="1600" dirty="0" smtClean="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6268229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31851" y="1363657"/>
            <a:ext cx="5251450" cy="4924425"/>
          </a:xfrm>
        </p:spPr>
        <p:txBody>
          <a:bodyPr/>
          <a:lstStyle/>
          <a:p>
            <a:r>
              <a:rPr lang="en-US" sz="1600" b="1" dirty="0" smtClean="0">
                <a:solidFill>
                  <a:srgbClr val="000000"/>
                </a:solidFill>
                <a:latin typeface="inter"/>
                <a:ea typeface="inter"/>
                <a:cs typeface="inter"/>
              </a:rPr>
              <a:t>Step </a:t>
            </a:r>
            <a:r>
              <a:rPr lang="en-US" sz="1600" b="1" dirty="0">
                <a:solidFill>
                  <a:srgbClr val="000000"/>
                </a:solidFill>
                <a:latin typeface="inter"/>
                <a:ea typeface="inter"/>
                <a:cs typeface="inter"/>
              </a:rPr>
              <a:t>1: Set Up SPICE Simulation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Create a </a:t>
            </a:r>
            <a:r>
              <a:rPr lang="en-US" sz="1600" dirty="0" err="1">
                <a:solidFill>
                  <a:srgbClr val="000000"/>
                </a:solidFill>
                <a:latin typeface="inter"/>
                <a:ea typeface="inter"/>
                <a:cs typeface="inter"/>
              </a:rPr>
              <a:t>testbench</a:t>
            </a:r>
            <a:r>
              <a:rPr lang="en-US" sz="1600" dirty="0">
                <a:solidFill>
                  <a:srgbClr val="000000"/>
                </a:solidFill>
                <a:latin typeface="inter"/>
                <a:ea typeface="inter"/>
                <a:cs typeface="inter"/>
              </a:rPr>
              <a:t> with:</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200" dirty="0" smtClean="0">
                <a:solidFill>
                  <a:srgbClr val="000000"/>
                </a:solidFill>
                <a:effectLst/>
                <a:latin typeface="ibm plex mono"/>
                <a:ea typeface="ibm plex mono"/>
                <a:cs typeface="ibm plex mono"/>
              </a:rPr>
              <a:t>* Reference device</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M1 drain gate source body </a:t>
            </a:r>
            <a:r>
              <a:rPr lang="en-US" sz="1200" dirty="0" err="1" smtClean="0">
                <a:solidFill>
                  <a:srgbClr val="000000"/>
                </a:solidFill>
                <a:effectLst/>
                <a:latin typeface="ibm plex mono"/>
                <a:ea typeface="ibm plex mono"/>
                <a:cs typeface="ibm plex mono"/>
              </a:rPr>
              <a:t>nmos</a:t>
            </a:r>
            <a:r>
              <a:rPr lang="en-US" sz="1200" dirty="0" smtClean="0">
                <a:solidFill>
                  <a:srgbClr val="000000"/>
                </a:solidFill>
                <a:effectLst/>
                <a:latin typeface="ibm plex mono"/>
                <a:ea typeface="ibm plex mono"/>
                <a:cs typeface="ibm plex mono"/>
              </a:rPr>
              <a:t> W=2u L=0.2u</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 DC voltage sources</a:t>
            </a:r>
            <a:br>
              <a:rPr lang="en-US" sz="1200" dirty="0" smtClean="0">
                <a:solidFill>
                  <a:srgbClr val="000000"/>
                </a:solidFill>
                <a:effectLst/>
                <a:latin typeface="ibm plex mono"/>
                <a:ea typeface="ibm plex mono"/>
                <a:cs typeface="ibm plex mono"/>
              </a:rPr>
            </a:br>
            <a:r>
              <a:rPr lang="en-US" sz="1200" dirty="0" err="1" smtClean="0">
                <a:solidFill>
                  <a:srgbClr val="000000"/>
                </a:solidFill>
                <a:effectLst/>
                <a:latin typeface="ibm plex mono"/>
                <a:ea typeface="ibm plex mono"/>
                <a:cs typeface="ibm plex mono"/>
              </a:rPr>
              <a:t>Vgs</a:t>
            </a:r>
            <a:r>
              <a:rPr lang="en-US" sz="1200" dirty="0" smtClean="0">
                <a:solidFill>
                  <a:srgbClr val="000000"/>
                </a:solidFill>
                <a:effectLst/>
                <a:latin typeface="ibm plex mono"/>
                <a:ea typeface="ibm plex mono"/>
                <a:cs typeface="ibm plex mono"/>
              </a:rPr>
              <a:t> gate source DC=sweep</a:t>
            </a:r>
            <a:br>
              <a:rPr lang="en-US" sz="1200" dirty="0" smtClean="0">
                <a:solidFill>
                  <a:srgbClr val="000000"/>
                </a:solidFill>
                <a:effectLst/>
                <a:latin typeface="ibm plex mono"/>
                <a:ea typeface="ibm plex mono"/>
                <a:cs typeface="ibm plex mono"/>
              </a:rPr>
            </a:br>
            <a:r>
              <a:rPr lang="en-US" sz="1200" dirty="0" err="1" smtClean="0">
                <a:solidFill>
                  <a:srgbClr val="000000"/>
                </a:solidFill>
                <a:effectLst/>
                <a:latin typeface="ibm plex mono"/>
                <a:ea typeface="ibm plex mono"/>
                <a:cs typeface="ibm plex mono"/>
              </a:rPr>
              <a:t>Vds</a:t>
            </a:r>
            <a:r>
              <a:rPr lang="en-US" sz="1200" dirty="0" smtClean="0">
                <a:solidFill>
                  <a:srgbClr val="000000"/>
                </a:solidFill>
                <a:effectLst/>
                <a:latin typeface="ibm plex mono"/>
                <a:ea typeface="ibm plex mono"/>
                <a:cs typeface="ibm plex mono"/>
              </a:rPr>
              <a:t> drain source DC=1.2V</a:t>
            </a:r>
            <a:br>
              <a:rPr lang="en-US" sz="1200" dirty="0" smtClean="0">
                <a:solidFill>
                  <a:srgbClr val="000000"/>
                </a:solidFill>
                <a:effectLst/>
                <a:latin typeface="ibm plex mono"/>
                <a:ea typeface="ibm plex mono"/>
                <a:cs typeface="ibm plex mono"/>
              </a:rPr>
            </a:br>
            <a:r>
              <a:rPr lang="en-US" sz="1200" dirty="0" err="1" smtClean="0">
                <a:solidFill>
                  <a:srgbClr val="000000"/>
                </a:solidFill>
                <a:effectLst/>
                <a:latin typeface="ibm plex mono"/>
                <a:ea typeface="ibm plex mono"/>
                <a:cs typeface="ibm plex mono"/>
              </a:rPr>
              <a:t>Vss</a:t>
            </a:r>
            <a:r>
              <a:rPr lang="en-US" sz="1200" dirty="0" smtClean="0">
                <a:solidFill>
                  <a:srgbClr val="000000"/>
                </a:solidFill>
                <a:effectLst/>
                <a:latin typeface="ibm plex mono"/>
                <a:ea typeface="ibm plex mono"/>
                <a:cs typeface="ibm plex mono"/>
              </a:rPr>
              <a:t> source 0 DC=0</a:t>
            </a:r>
            <a:br>
              <a:rPr lang="en-US" sz="1200" dirty="0" smtClean="0">
                <a:solidFill>
                  <a:srgbClr val="000000"/>
                </a:solidFill>
                <a:effectLst/>
                <a:latin typeface="ibm plex mono"/>
                <a:ea typeface="ibm plex mono"/>
                <a:cs typeface="ibm plex mono"/>
              </a:rPr>
            </a:br>
            <a:r>
              <a:rPr lang="en-US" sz="1200" dirty="0" err="1" smtClean="0">
                <a:solidFill>
                  <a:srgbClr val="000000"/>
                </a:solidFill>
                <a:effectLst/>
                <a:latin typeface="ibm plex mono"/>
                <a:ea typeface="ibm plex mono"/>
                <a:cs typeface="ibm plex mono"/>
              </a:rPr>
              <a:t>Vbb</a:t>
            </a:r>
            <a:r>
              <a:rPr lang="en-US" sz="1200" dirty="0" smtClean="0">
                <a:solidFill>
                  <a:srgbClr val="000000"/>
                </a:solidFill>
                <a:effectLst/>
                <a:latin typeface="ibm plex mono"/>
                <a:ea typeface="ibm plex mono"/>
                <a:cs typeface="ibm plex mono"/>
              </a:rPr>
              <a:t> body 0 DC=0</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 Measurement statements</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.dc </a:t>
            </a:r>
            <a:r>
              <a:rPr lang="en-US" sz="1200" dirty="0" err="1" smtClean="0">
                <a:solidFill>
                  <a:srgbClr val="000000"/>
                </a:solidFill>
                <a:effectLst/>
                <a:latin typeface="ibm plex mono"/>
                <a:ea typeface="ibm plex mono"/>
                <a:cs typeface="ibm plex mono"/>
              </a:rPr>
              <a:t>Vgs</a:t>
            </a:r>
            <a:r>
              <a:rPr lang="en-US" sz="1200" dirty="0" smtClean="0">
                <a:solidFill>
                  <a:srgbClr val="000000"/>
                </a:solidFill>
                <a:effectLst/>
                <a:latin typeface="ibm plex mono"/>
                <a:ea typeface="ibm plex mono"/>
                <a:cs typeface="ibm plex mono"/>
              </a:rPr>
              <a:t> 0 1.5 0.01</a:t>
            </a:r>
            <a:br>
              <a:rPr lang="en-US" sz="1200" dirty="0" smtClean="0">
                <a:solidFill>
                  <a:srgbClr val="000000"/>
                </a:solidFill>
                <a:effectLst/>
                <a:latin typeface="ibm plex mono"/>
                <a:ea typeface="ibm plex mono"/>
                <a:cs typeface="ibm plex mono"/>
              </a:rPr>
            </a:br>
            <a:r>
              <a:rPr lang="en-US" sz="1200" dirty="0" smtClean="0">
                <a:solidFill>
                  <a:srgbClr val="000000"/>
                </a:solidFill>
                <a:effectLst/>
                <a:latin typeface="ibm plex mono"/>
                <a:ea typeface="ibm plex mono"/>
                <a:cs typeface="ibm plex mono"/>
              </a:rPr>
              <a:t>.print dc I(</a:t>
            </a:r>
            <a:r>
              <a:rPr lang="en-US" sz="1200" dirty="0" err="1" smtClean="0">
                <a:solidFill>
                  <a:srgbClr val="000000"/>
                </a:solidFill>
                <a:effectLst/>
                <a:latin typeface="ibm plex mono"/>
                <a:ea typeface="ibm plex mono"/>
                <a:cs typeface="ibm plex mono"/>
              </a:rPr>
              <a:t>Vds</a:t>
            </a:r>
            <a:r>
              <a:rPr lang="en-US" sz="1200" dirty="0" smtClean="0">
                <a:solidFill>
                  <a:srgbClr val="000000"/>
                </a:solidFill>
                <a:effectLst/>
                <a:latin typeface="ibm plex mono"/>
                <a:ea typeface="ibm plex mono"/>
                <a:cs typeface="ibm plex mono"/>
              </a:rPr>
              <a:t>) @M1[gm] @M1[</a:t>
            </a:r>
            <a:r>
              <a:rPr lang="en-US" sz="1200" dirty="0" err="1" smtClean="0">
                <a:solidFill>
                  <a:srgbClr val="000000"/>
                </a:solidFill>
                <a:effectLst/>
                <a:latin typeface="ibm plex mono"/>
                <a:ea typeface="ibm plex mono"/>
                <a:cs typeface="ibm plex mono"/>
              </a:rPr>
              <a:t>gds</a:t>
            </a:r>
            <a:r>
              <a:rPr lang="en-US" sz="1200" dirty="0" smtClean="0">
                <a:solidFill>
                  <a:srgbClr val="000000"/>
                </a:solidFill>
                <a:effectLst/>
                <a:latin typeface="ibm plex mono"/>
                <a:ea typeface="ibm plex mono"/>
                <a:cs typeface="ibm plex mono"/>
              </a:rPr>
              <a:t>]</a:t>
            </a:r>
            <a:br>
              <a:rPr lang="en-US" sz="1200" dirty="0" smtClean="0">
                <a:solidFill>
                  <a:srgbClr val="000000"/>
                </a:solidFill>
                <a:effectLst/>
                <a:latin typeface="ibm plex mono"/>
                <a:ea typeface="ibm plex mono"/>
                <a:cs typeface="ibm plex mono"/>
              </a:rPr>
            </a:br>
            <a:endParaRPr lang="en-US" sz="1600" dirty="0" smtClean="0">
              <a:latin typeface="Georgia" panose="02040502050405020303" pitchFamily="18" charset="0"/>
              <a:ea typeface="Calibri" panose="020F0502020204030204" pitchFamily="34" charset="0"/>
              <a:cs typeface="Times New Roman" panose="02020603050405020304" pitchFamily="18" charset="0"/>
            </a:endParaRPr>
          </a:p>
          <a:p>
            <a:r>
              <a:rPr lang="en-US" sz="1600" b="1" dirty="0" smtClean="0">
                <a:solidFill>
                  <a:srgbClr val="000000"/>
                </a:solidFill>
                <a:latin typeface="inter"/>
                <a:ea typeface="inter"/>
                <a:cs typeface="inter"/>
              </a:rPr>
              <a:t>Step </a:t>
            </a:r>
            <a:r>
              <a:rPr lang="en-US" sz="1600" b="1" dirty="0">
                <a:solidFill>
                  <a:srgbClr val="000000"/>
                </a:solidFill>
                <a:latin typeface="inter"/>
                <a:ea typeface="inter"/>
                <a:cs typeface="inter"/>
              </a:rPr>
              <a:t>2: Sweep and Extract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Sweep V</a:t>
            </a:r>
            <a:r>
              <a:rPr lang="en-US" sz="1600" baseline="-25000" dirty="0">
                <a:solidFill>
                  <a:srgbClr val="000000"/>
                </a:solidFill>
                <a:latin typeface="inter"/>
                <a:ea typeface="inter"/>
                <a:cs typeface="inter"/>
              </a:rPr>
              <a:t>GS</a:t>
            </a:r>
            <a:r>
              <a:rPr lang="en-US" sz="1600" dirty="0">
                <a:solidFill>
                  <a:srgbClr val="000000"/>
                </a:solidFill>
                <a:latin typeface="inter"/>
                <a:ea typeface="inter"/>
                <a:cs typeface="inter"/>
              </a:rPr>
              <a:t> from 0 to V</a:t>
            </a:r>
            <a:r>
              <a:rPr lang="en-US" sz="1600" baseline="-25000" dirty="0">
                <a:solidFill>
                  <a:srgbClr val="000000"/>
                </a:solidFill>
                <a:latin typeface="inter"/>
                <a:ea typeface="inter"/>
                <a:cs typeface="inter"/>
              </a:rPr>
              <a:t>DD</a:t>
            </a:r>
            <a:r>
              <a:rPr lang="en-US" sz="1600" dirty="0">
                <a:solidFill>
                  <a:srgbClr val="000000"/>
                </a:solidFill>
                <a:latin typeface="inter"/>
                <a:ea typeface="inter"/>
                <a:cs typeface="inter"/>
              </a:rPr>
              <a:t> (e.g., 0 to 1.5V in 10mV steps) and extract: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a:solidFill>
                  <a:srgbClr val="000000"/>
                </a:solidFill>
                <a:latin typeface="inter"/>
                <a:ea typeface="inter"/>
                <a:cs typeface="inter"/>
              </a:rPr>
              <a:t>I</a:t>
            </a:r>
            <a:r>
              <a:rPr lang="en-US" sz="1400" b="1" baseline="-25000" dirty="0">
                <a:solidFill>
                  <a:srgbClr val="000000"/>
                </a:solidFill>
                <a:latin typeface="inter"/>
                <a:ea typeface="inter"/>
                <a:cs typeface="inter"/>
              </a:rPr>
              <a:t>D</a:t>
            </a:r>
            <a:r>
              <a:rPr lang="en-US" sz="1400" dirty="0">
                <a:solidFill>
                  <a:srgbClr val="000000"/>
                </a:solidFill>
                <a:latin typeface="inter"/>
                <a:ea typeface="inter"/>
                <a:cs typeface="inter"/>
              </a:rPr>
              <a:t>: Drain current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a:solidFill>
                  <a:srgbClr val="000000"/>
                </a:solidFill>
                <a:latin typeface="inter"/>
                <a:ea typeface="inter"/>
                <a:cs typeface="inter"/>
              </a:rPr>
              <a:t>g</a:t>
            </a:r>
            <a:r>
              <a:rPr lang="en-US" sz="1400" b="1" baseline="-25000" dirty="0">
                <a:solidFill>
                  <a:srgbClr val="000000"/>
                </a:solidFill>
                <a:latin typeface="inter"/>
                <a:ea typeface="inter"/>
                <a:cs typeface="inter"/>
              </a:rPr>
              <a:t>m</a:t>
            </a:r>
            <a:r>
              <a:rPr lang="en-US" sz="1400" b="1" dirty="0">
                <a:solidFill>
                  <a:srgbClr val="000000"/>
                </a:solidFill>
                <a:latin typeface="inter"/>
                <a:ea typeface="inter"/>
                <a:cs typeface="inter"/>
              </a:rPr>
              <a:t> = ∂I</a:t>
            </a:r>
            <a:r>
              <a:rPr lang="en-US" sz="1400" b="1" baseline="-25000" dirty="0">
                <a:solidFill>
                  <a:srgbClr val="000000"/>
                </a:solidFill>
                <a:latin typeface="inter"/>
                <a:ea typeface="inter"/>
                <a:cs typeface="inter"/>
              </a:rPr>
              <a:t>D</a:t>
            </a:r>
            <a:r>
              <a:rPr lang="en-US" sz="1400" b="1" dirty="0">
                <a:solidFill>
                  <a:srgbClr val="000000"/>
                </a:solidFill>
                <a:latin typeface="inter"/>
                <a:ea typeface="inter"/>
                <a:cs typeface="inter"/>
              </a:rPr>
              <a:t>/∂V</a:t>
            </a:r>
            <a:r>
              <a:rPr lang="en-US" sz="1400" b="1" baseline="-25000" dirty="0">
                <a:solidFill>
                  <a:srgbClr val="000000"/>
                </a:solidFill>
                <a:latin typeface="inter"/>
                <a:ea typeface="inter"/>
                <a:cs typeface="inter"/>
              </a:rPr>
              <a:t>GS</a:t>
            </a:r>
            <a:r>
              <a:rPr lang="en-US" sz="1400" dirty="0">
                <a:solidFill>
                  <a:srgbClr val="000000"/>
                </a:solidFill>
                <a:latin typeface="inter"/>
                <a:ea typeface="inter"/>
                <a:cs typeface="inter"/>
              </a:rPr>
              <a:t>: </a:t>
            </a:r>
            <a:r>
              <a:rPr lang="en-US" sz="1400" dirty="0" err="1">
                <a:solidFill>
                  <a:srgbClr val="000000"/>
                </a:solidFill>
                <a:latin typeface="inter"/>
                <a:ea typeface="inter"/>
                <a:cs typeface="inter"/>
              </a:rPr>
              <a:t>Transconductance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err="1">
                <a:solidFill>
                  <a:srgbClr val="000000"/>
                </a:solidFill>
                <a:latin typeface="inter"/>
                <a:ea typeface="inter"/>
                <a:cs typeface="inter"/>
              </a:rPr>
              <a:t>g</a:t>
            </a:r>
            <a:r>
              <a:rPr lang="en-US" sz="1400" b="1" baseline="-25000" dirty="0" err="1">
                <a:solidFill>
                  <a:srgbClr val="000000"/>
                </a:solidFill>
                <a:latin typeface="inter"/>
                <a:ea typeface="inter"/>
                <a:cs typeface="inter"/>
              </a:rPr>
              <a:t>ds</a:t>
            </a:r>
            <a:r>
              <a:rPr lang="en-US" sz="1400" b="1" dirty="0">
                <a:solidFill>
                  <a:srgbClr val="000000"/>
                </a:solidFill>
                <a:latin typeface="inter"/>
                <a:ea typeface="inter"/>
                <a:cs typeface="inter"/>
              </a:rPr>
              <a:t> = ∂I</a:t>
            </a:r>
            <a:r>
              <a:rPr lang="en-US" sz="1400" b="1" baseline="-25000" dirty="0">
                <a:solidFill>
                  <a:srgbClr val="000000"/>
                </a:solidFill>
                <a:latin typeface="inter"/>
                <a:ea typeface="inter"/>
                <a:cs typeface="inter"/>
              </a:rPr>
              <a:t>D</a:t>
            </a:r>
            <a:r>
              <a:rPr lang="en-US" sz="1400" b="1" dirty="0">
                <a:solidFill>
                  <a:srgbClr val="000000"/>
                </a:solidFill>
                <a:latin typeface="inter"/>
                <a:ea typeface="inter"/>
                <a:cs typeface="inter"/>
              </a:rPr>
              <a:t>/∂V</a:t>
            </a:r>
            <a:r>
              <a:rPr lang="en-US" sz="1400" b="1" baseline="-25000" dirty="0">
                <a:solidFill>
                  <a:srgbClr val="000000"/>
                </a:solidFill>
                <a:latin typeface="inter"/>
                <a:ea typeface="inter"/>
                <a:cs typeface="inter"/>
              </a:rPr>
              <a:t>DS</a:t>
            </a:r>
            <a:r>
              <a:rPr lang="en-US" sz="1400" dirty="0">
                <a:solidFill>
                  <a:srgbClr val="000000"/>
                </a:solidFill>
                <a:latin typeface="inter"/>
                <a:ea typeface="inter"/>
                <a:cs typeface="inter"/>
              </a:rPr>
              <a:t>: Output conductance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err="1">
                <a:solidFill>
                  <a:srgbClr val="000000"/>
                </a:solidFill>
                <a:latin typeface="inter"/>
                <a:ea typeface="inter"/>
                <a:cs typeface="inter"/>
              </a:rPr>
              <a:t>C</a:t>
            </a:r>
            <a:r>
              <a:rPr lang="en-US" sz="1400" b="1" baseline="-25000" dirty="0" err="1">
                <a:solidFill>
                  <a:srgbClr val="000000"/>
                </a:solidFill>
                <a:latin typeface="inter"/>
                <a:ea typeface="inter"/>
                <a:cs typeface="inter"/>
              </a:rPr>
              <a:t>gg</a:t>
            </a:r>
            <a:r>
              <a:rPr lang="en-US" sz="1400" b="1" dirty="0">
                <a:solidFill>
                  <a:srgbClr val="000000"/>
                </a:solidFill>
                <a:latin typeface="inter"/>
                <a:ea typeface="inter"/>
                <a:cs typeface="inter"/>
              </a:rPr>
              <a:t>, </a:t>
            </a:r>
            <a:r>
              <a:rPr lang="en-US" sz="1400" b="1" dirty="0" err="1">
                <a:solidFill>
                  <a:srgbClr val="000000"/>
                </a:solidFill>
                <a:latin typeface="inter"/>
                <a:ea typeface="inter"/>
                <a:cs typeface="inter"/>
              </a:rPr>
              <a:t>C</a:t>
            </a:r>
            <a:r>
              <a:rPr lang="en-US" sz="1400" b="1" baseline="-25000" dirty="0" err="1">
                <a:solidFill>
                  <a:srgbClr val="000000"/>
                </a:solidFill>
                <a:latin typeface="inter"/>
                <a:ea typeface="inter"/>
                <a:cs typeface="inter"/>
              </a:rPr>
              <a:t>gs</a:t>
            </a:r>
            <a:r>
              <a:rPr lang="en-US" sz="1400" b="1" dirty="0">
                <a:solidFill>
                  <a:srgbClr val="000000"/>
                </a:solidFill>
                <a:latin typeface="inter"/>
                <a:ea typeface="inter"/>
                <a:cs typeface="inter"/>
              </a:rPr>
              <a:t>, </a:t>
            </a:r>
            <a:r>
              <a:rPr lang="en-US" sz="1400" b="1" dirty="0" err="1">
                <a:solidFill>
                  <a:srgbClr val="000000"/>
                </a:solidFill>
                <a:latin typeface="inter"/>
                <a:ea typeface="inter"/>
                <a:cs typeface="inter"/>
              </a:rPr>
              <a:t>C</a:t>
            </a:r>
            <a:r>
              <a:rPr lang="en-US" sz="1400" b="1" baseline="-25000" dirty="0" err="1">
                <a:solidFill>
                  <a:srgbClr val="000000"/>
                </a:solidFill>
                <a:latin typeface="inter"/>
                <a:ea typeface="inter"/>
                <a:cs typeface="inter"/>
              </a:rPr>
              <a:t>gd</a:t>
            </a:r>
            <a:r>
              <a:rPr lang="en-US" sz="1400" dirty="0">
                <a:solidFill>
                  <a:srgbClr val="000000"/>
                </a:solidFill>
                <a:latin typeface="inter"/>
                <a:ea typeface="inter"/>
                <a:cs typeface="inter"/>
              </a:rPr>
              <a:t>: Capacitances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7" name="Rectangle 6"/>
              <p:cNvSpPr/>
              <p:nvPr/>
            </p:nvSpPr>
            <p:spPr>
              <a:xfrm>
                <a:off x="6595079" y="1533643"/>
                <a:ext cx="6096000" cy="3972819"/>
              </a:xfrm>
              <a:prstGeom prst="rect">
                <a:avLst/>
              </a:prstGeom>
            </p:spPr>
            <p:txBody>
              <a:bodyPr>
                <a:spAutoFit/>
              </a:bodyPr>
              <a:lstStyle/>
              <a:p>
                <a:r>
                  <a:rPr lang="en-US" sz="1600" b="1" dirty="0">
                    <a:solidFill>
                      <a:srgbClr val="000000"/>
                    </a:solidFill>
                    <a:latin typeface="inter"/>
                    <a:ea typeface="inter"/>
                    <a:cs typeface="inter"/>
                  </a:rPr>
                  <a:t>Step 3: Calculate Derived Quantities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each VGS point, compute: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𝑑𝑠</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𝑔𝑔</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b="1" dirty="0" smtClean="0">
                  <a:solidFill>
                    <a:srgbClr val="000000"/>
                  </a:solidFill>
                  <a:latin typeface="inter"/>
                  <a:ea typeface="inter"/>
                  <a:cs typeface="inter"/>
                </a:endParaRPr>
              </a:p>
              <a:p>
                <a:r>
                  <a:rPr lang="en-US" sz="1600" b="1" dirty="0" smtClean="0">
                    <a:solidFill>
                      <a:srgbClr val="000000"/>
                    </a:solidFill>
                    <a:latin typeface="inter"/>
                    <a:ea typeface="inter"/>
                    <a:cs typeface="inter"/>
                  </a:rPr>
                  <a:t>Step </a:t>
                </a:r>
                <a:r>
                  <a:rPr lang="en-US" sz="1600" b="1" dirty="0">
                    <a:solidFill>
                      <a:srgbClr val="000000"/>
                    </a:solidFill>
                    <a:latin typeface="inter"/>
                    <a:ea typeface="inter"/>
                    <a:cs typeface="inter"/>
                  </a:rPr>
                  <a:t>4: Generate Plots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Create these essential plots: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b="1" dirty="0">
                    <a:solidFill>
                      <a:srgbClr val="000000"/>
                    </a:solidFill>
                    <a:latin typeface="inter"/>
                    <a:ea typeface="inter"/>
                    <a:cs typeface="inter"/>
                  </a:rPr>
                  <a:t> vs V</a:t>
                </a:r>
                <a:r>
                  <a:rPr lang="en-US" sz="1600" b="1" baseline="-25000" dirty="0">
                    <a:solidFill>
                      <a:srgbClr val="000000"/>
                    </a:solidFill>
                    <a:latin typeface="inter"/>
                    <a:ea typeface="inter"/>
                    <a:cs typeface="inter"/>
                  </a:rPr>
                  <a:t>GS</a:t>
                </a:r>
                <a:r>
                  <a:rPr lang="en-US" sz="1600" dirty="0">
                    <a:solidFill>
                      <a:srgbClr val="000000"/>
                    </a:solidFill>
                    <a:latin typeface="inter"/>
                    <a:ea typeface="inter"/>
                    <a:cs typeface="inter"/>
                  </a:rPr>
                  <a:t>: Shows current-voltage characteristic</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a:solidFill>
                      <a:srgbClr val="000000"/>
                    </a:solidFill>
                    <a:latin typeface="inter"/>
                    <a:ea typeface="inter"/>
                    <a:cs typeface="inter"/>
                  </a:rPr>
                  <a:t>g</a:t>
                </a:r>
                <a:r>
                  <a:rPr lang="en-US" sz="1600" b="1" baseline="-25000" dirty="0">
                    <a:solidFill>
                      <a:srgbClr val="000000"/>
                    </a:solidFill>
                    <a:latin typeface="inter"/>
                    <a:ea typeface="inter"/>
                    <a:cs typeface="inter"/>
                  </a:rPr>
                  <a:t>m</a:t>
                </a: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b="1" dirty="0">
                    <a:solidFill>
                      <a:srgbClr val="000000"/>
                    </a:solidFill>
                    <a:latin typeface="inter"/>
                    <a:ea typeface="inter"/>
                    <a:cs typeface="inter"/>
                  </a:rPr>
                  <a:t> vs V</a:t>
                </a:r>
                <a:r>
                  <a:rPr lang="en-US" sz="1600" b="1" baseline="-25000" dirty="0">
                    <a:solidFill>
                      <a:srgbClr val="000000"/>
                    </a:solidFill>
                    <a:latin typeface="inter"/>
                    <a:ea typeface="inter"/>
                    <a:cs typeface="inter"/>
                  </a:rPr>
                  <a:t>GS</a:t>
                </a:r>
                <a:r>
                  <a:rPr lang="en-US" sz="1600" dirty="0">
                    <a:solidFill>
                      <a:srgbClr val="000000"/>
                    </a:solidFill>
                    <a:latin typeface="inter"/>
                    <a:ea typeface="inter"/>
                    <a:cs typeface="inter"/>
                  </a:rPr>
                  <a:t>: Shows efficiency vs bias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a:solidFill>
                      <a:srgbClr val="000000"/>
                    </a:solidFill>
                    <a:latin typeface="inter"/>
                    <a:ea typeface="inter"/>
                    <a:cs typeface="inter"/>
                  </a:rPr>
                  <a:t>g</a:t>
                </a:r>
                <a:r>
                  <a:rPr lang="en-US" sz="1600" b="1" baseline="-25000" dirty="0">
                    <a:solidFill>
                      <a:srgbClr val="000000"/>
                    </a:solidFill>
                    <a:latin typeface="inter"/>
                    <a:ea typeface="inter"/>
                    <a:cs typeface="inter"/>
                  </a:rPr>
                  <a:t>m</a:t>
                </a: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b="1" dirty="0">
                    <a:solidFill>
                      <a:srgbClr val="000000"/>
                    </a:solidFill>
                    <a:latin typeface="inter"/>
                    <a:ea typeface="inter"/>
                    <a:cs typeface="inter"/>
                  </a:rPr>
                  <a:t> vs I</a:t>
                </a:r>
                <a:r>
                  <a:rPr lang="en-US" sz="1600" b="1" baseline="-25000" dirty="0">
                    <a:solidFill>
                      <a:srgbClr val="000000"/>
                    </a:solidFill>
                    <a:latin typeface="inter"/>
                    <a:ea typeface="inter"/>
                    <a:cs typeface="inter"/>
                  </a:rPr>
                  <a:t>D</a:t>
                </a:r>
                <a:r>
                  <a:rPr lang="en-US" sz="1600" dirty="0">
                    <a:solidFill>
                      <a:srgbClr val="000000"/>
                    </a:solidFill>
                    <a:latin typeface="inter"/>
                    <a:ea typeface="inter"/>
                    <a:cs typeface="inter"/>
                  </a:rPr>
                  <a:t>: Direct lookup for sizing</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err="1">
                    <a:solidFill>
                      <a:srgbClr val="000000"/>
                    </a:solidFill>
                    <a:latin typeface="inter"/>
                    <a:ea typeface="inter"/>
                    <a:cs typeface="inter"/>
                  </a:rPr>
                  <a:t>f</a:t>
                </a:r>
                <a:r>
                  <a:rPr lang="en-US" sz="1600" b="1" baseline="-25000" dirty="0" err="1">
                    <a:solidFill>
                      <a:srgbClr val="000000"/>
                    </a:solidFill>
                    <a:latin typeface="inter"/>
                    <a:ea typeface="inter"/>
                    <a:cs typeface="inter"/>
                  </a:rPr>
                  <a:t>t</a:t>
                </a:r>
                <a:r>
                  <a:rPr lang="en-US" sz="1600" b="1" dirty="0">
                    <a:solidFill>
                      <a:srgbClr val="000000"/>
                    </a:solidFill>
                    <a:latin typeface="inter"/>
                    <a:ea typeface="inter"/>
                    <a:cs typeface="inter"/>
                  </a:rPr>
                  <a:t> vs g</a:t>
                </a:r>
                <a:r>
                  <a:rPr lang="en-US" sz="1600" b="1" baseline="-25000" dirty="0">
                    <a:solidFill>
                      <a:srgbClr val="000000"/>
                    </a:solidFill>
                    <a:latin typeface="inter"/>
                    <a:ea typeface="inter"/>
                    <a:cs typeface="inter"/>
                  </a:rPr>
                  <a:t>m</a:t>
                </a: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dirty="0">
                    <a:solidFill>
                      <a:srgbClr val="000000"/>
                    </a:solidFill>
                    <a:latin typeface="inter"/>
                    <a:ea typeface="inter"/>
                    <a:cs typeface="inter"/>
                  </a:rPr>
                  <a:t>: Speed vs efficiency tradeoff</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err="1">
                    <a:solidFill>
                      <a:srgbClr val="000000"/>
                    </a:solidFill>
                    <a:latin typeface="inter"/>
                    <a:ea typeface="inter"/>
                    <a:cs typeface="inter"/>
                  </a:rPr>
                  <a:t>g</a:t>
                </a:r>
                <a:r>
                  <a:rPr lang="en-US" sz="1600" b="1" baseline="-25000" dirty="0" err="1">
                    <a:solidFill>
                      <a:srgbClr val="000000"/>
                    </a:solidFill>
                    <a:latin typeface="inter"/>
                    <a:ea typeface="inter"/>
                    <a:cs typeface="inter"/>
                  </a:rPr>
                  <a:t>m</a:t>
                </a:r>
                <a:r>
                  <a:rPr lang="en-US" sz="1600" b="1" dirty="0" err="1">
                    <a:solidFill>
                      <a:srgbClr val="000000"/>
                    </a:solidFill>
                    <a:latin typeface="inter"/>
                    <a:ea typeface="inter"/>
                    <a:cs typeface="inter"/>
                  </a:rPr>
                  <a:t>·r</a:t>
                </a:r>
                <a:r>
                  <a:rPr lang="en-US" sz="1600" b="1" baseline="-25000" dirty="0" err="1">
                    <a:solidFill>
                      <a:srgbClr val="000000"/>
                    </a:solidFill>
                    <a:latin typeface="inter"/>
                    <a:ea typeface="inter"/>
                    <a:cs typeface="inter"/>
                  </a:rPr>
                  <a:t>o</a:t>
                </a:r>
                <a:r>
                  <a:rPr lang="en-US" sz="1600" b="1" dirty="0">
                    <a:solidFill>
                      <a:srgbClr val="000000"/>
                    </a:solidFill>
                    <a:latin typeface="inter"/>
                    <a:ea typeface="inter"/>
                    <a:cs typeface="inter"/>
                  </a:rPr>
                  <a:t> vs g</a:t>
                </a:r>
                <a:r>
                  <a:rPr lang="en-US" sz="1600" b="1" baseline="-25000" dirty="0">
                    <a:solidFill>
                      <a:srgbClr val="000000"/>
                    </a:solidFill>
                    <a:latin typeface="inter"/>
                    <a:ea typeface="inter"/>
                    <a:cs typeface="inter"/>
                  </a:rPr>
                  <a:t>m</a:t>
                </a:r>
                <a:r>
                  <a:rPr lang="en-US" sz="1600" b="1" dirty="0">
                    <a:solidFill>
                      <a:srgbClr val="000000"/>
                    </a:solidFill>
                    <a:latin typeface="inter"/>
                    <a:ea typeface="inter"/>
                    <a:cs typeface="inter"/>
                  </a:rPr>
                  <a:t>/I</a:t>
                </a:r>
                <a:r>
                  <a:rPr lang="en-US" sz="1600" b="1" baseline="-25000" dirty="0">
                    <a:solidFill>
                      <a:srgbClr val="000000"/>
                    </a:solidFill>
                    <a:latin typeface="inter"/>
                    <a:ea typeface="inter"/>
                    <a:cs typeface="inter"/>
                  </a:rPr>
                  <a:t>D</a:t>
                </a:r>
                <a:r>
                  <a:rPr lang="en-US" sz="1600" dirty="0">
                    <a:solidFill>
                      <a:srgbClr val="000000"/>
                    </a:solidFill>
                    <a:latin typeface="inter"/>
                    <a:ea typeface="inter"/>
                    <a:cs typeface="inter"/>
                  </a:rPr>
                  <a:t>: Intrinsic gain vs efficiency</a:t>
                </a:r>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6595079" y="1533643"/>
                <a:ext cx="6096000" cy="3972819"/>
              </a:xfrm>
              <a:prstGeom prst="rect">
                <a:avLst/>
              </a:prstGeom>
              <a:blipFill>
                <a:blip r:embed="rId2"/>
                <a:stretch>
                  <a:fillRect l="-600" t="-461" b="-1229"/>
                </a:stretch>
              </a:blipFill>
            </p:spPr>
            <p:txBody>
              <a:bodyPr/>
              <a:lstStyle/>
              <a:p>
                <a:r>
                  <a:rPr lang="en-US">
                    <a:noFill/>
                  </a:rPr>
                  <a:t> </a:t>
                </a:r>
              </a:p>
            </p:txBody>
          </p:sp>
        </mc:Fallback>
      </mc:AlternateContent>
      <p:sp>
        <p:nvSpPr>
          <p:cNvPr id="8" name="Rectangle 7"/>
          <p:cNvSpPr/>
          <p:nvPr/>
        </p:nvSpPr>
        <p:spPr>
          <a:xfrm>
            <a:off x="2999224" y="1007622"/>
            <a:ext cx="5711820" cy="400110"/>
          </a:xfrm>
          <a:prstGeom prst="rect">
            <a:avLst/>
          </a:prstGeom>
        </p:spPr>
        <p:txBody>
          <a:bodyPr wrap="none">
            <a:spAutoFit/>
          </a:bodyPr>
          <a:lstStyle/>
          <a:p>
            <a:pPr lvl="0"/>
            <a:r>
              <a:rPr lang="en-US" sz="2000" b="1" kern="0" dirty="0">
                <a:solidFill>
                  <a:srgbClr val="000000"/>
                </a:solidFill>
                <a:latin typeface="inter"/>
                <a:ea typeface="inter"/>
                <a:cs typeface="inter"/>
              </a:rPr>
              <a:t>3.2 Generating Reference Data—Step by Step</a:t>
            </a:r>
            <a:endParaRPr lang="en-US" sz="16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33933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8" name="Rectangle 7"/>
              <p:cNvSpPr/>
              <p:nvPr/>
            </p:nvSpPr>
            <p:spPr>
              <a:xfrm>
                <a:off x="724085" y="1158572"/>
                <a:ext cx="6096000" cy="4179734"/>
              </a:xfrm>
              <a:prstGeom prst="rect">
                <a:avLst/>
              </a:prstGeom>
            </p:spPr>
            <p:txBody>
              <a:bodyPr>
                <a:spAutoFit/>
              </a:bodyPr>
              <a:lstStyle/>
              <a:p>
                <a:pPr>
                  <a:lnSpc>
                    <a:spcPct val="150000"/>
                  </a:lnSpc>
                </a:pPr>
                <a:r>
                  <a:rPr lang="en-US" sz="1600" b="1" dirty="0">
                    <a:solidFill>
                      <a:srgbClr val="000000"/>
                    </a:solidFill>
                    <a:latin typeface="inter"/>
                    <a:ea typeface="inter"/>
                    <a:cs typeface="inter"/>
                  </a:rPr>
                  <a:t>3.3 Understanding the Reference Plots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200" dirty="0">
                    <a:solidFill>
                      <a:srgbClr val="000000"/>
                    </a:solidFill>
                    <a:effectLst/>
                    <a:latin typeface="inter"/>
                    <a:ea typeface="inter"/>
                    <a:cs typeface="inter"/>
                  </a:rPr>
                  <a:t>Looking at your figures, we see three distinct curves: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200" b="1" dirty="0">
                    <a:solidFill>
                      <a:srgbClr val="000000"/>
                    </a:solidFill>
                    <a:effectLst/>
                    <a:latin typeface="inter"/>
                    <a:ea typeface="inter"/>
                    <a:cs typeface="inter"/>
                  </a:rPr>
                  <a:t>Dashed Line (Square Law):</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Theoretical prediction</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Assumes long channel, no short-channel effects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14:m>
                  <m:oMath xmlns:m="http://schemas.openxmlformats.org/officeDocument/2006/math">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12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2</m:t>
                        </m:r>
                      </m:num>
                      <m:den>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𝐺𝑆</m:t>
                            </m:r>
                          </m:sub>
                        </m:s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en-US" sz="1200"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𝑇𝐻</m:t>
                            </m:r>
                          </m:sub>
                        </m:sSub>
                      </m:den>
                    </m:f>
                  </m:oMath>
                </a14:m>
                <a:r>
                  <a:rPr lang="en-US" sz="1200" dirty="0">
                    <a:solidFill>
                      <a:srgbClr val="000000"/>
                    </a:solidFill>
                    <a:effectLst/>
                    <a:latin typeface="inter"/>
                    <a:ea typeface="inter"/>
                    <a:cs typeface="inter"/>
                  </a:rPr>
                  <a:t> in strong inversion</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200" b="1" dirty="0">
                    <a:solidFill>
                      <a:srgbClr val="000000"/>
                    </a:solidFill>
                    <a:effectLst/>
                    <a:latin typeface="inter"/>
                    <a:ea typeface="inter"/>
                    <a:cs typeface="inter"/>
                  </a:rPr>
                  <a:t>Blue Curve (Long Channel MOSFET):</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Actual device with larger L (e.g., L = 1 </a:t>
                </a:r>
                <a:r>
                  <a:rPr lang="en-US" sz="1200" dirty="0" err="1">
                    <a:solidFill>
                      <a:srgbClr val="000000"/>
                    </a:solidFill>
                    <a:effectLst/>
                    <a:latin typeface="inter"/>
                    <a:ea typeface="inter"/>
                    <a:cs typeface="inter"/>
                  </a:rPr>
                  <a:t>μm</a:t>
                </a:r>
                <a:r>
                  <a:rPr lang="en-US" sz="1200" dirty="0">
                    <a:solidFill>
                      <a:srgbClr val="000000"/>
                    </a:solidFill>
                    <a:effectLst/>
                    <a:latin typeface="inter"/>
                    <a:ea typeface="inter"/>
                    <a:cs typeface="inter"/>
                  </a:rPr>
                  <a:t>)</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Closer to square law but still deviates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Shows velocity saturation effects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a:lnSpc>
                    <a:spcPct val="150000"/>
                  </a:lnSpc>
                </a:pPr>
                <a:r>
                  <a:rPr lang="en-US" sz="1200" b="1" dirty="0">
                    <a:solidFill>
                      <a:srgbClr val="000000"/>
                    </a:solidFill>
                    <a:effectLst/>
                    <a:latin typeface="inter"/>
                    <a:ea typeface="inter"/>
                    <a:cs typeface="inter"/>
                  </a:rPr>
                  <a:t>Red Curve (Short Channel MOSFET):</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Modern device (e.g., L = 0.18 </a:t>
                </a:r>
                <a:r>
                  <a:rPr lang="en-US" sz="1200" dirty="0" err="1">
                    <a:solidFill>
                      <a:srgbClr val="000000"/>
                    </a:solidFill>
                    <a:effectLst/>
                    <a:latin typeface="inter"/>
                    <a:ea typeface="inter"/>
                    <a:cs typeface="inter"/>
                  </a:rPr>
                  <a:t>μm</a:t>
                </a:r>
                <a:r>
                  <a:rPr lang="en-US" sz="1200" dirty="0">
                    <a:solidFill>
                      <a:srgbClr val="000000"/>
                    </a:solidFill>
                    <a:effectLst/>
                    <a:latin typeface="inter"/>
                    <a:ea typeface="inter"/>
                    <a:cs typeface="inter"/>
                  </a:rPr>
                  <a:t>)</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Significant deviations from square law</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lnSpc>
                    <a:spcPct val="150000"/>
                  </a:lnSpc>
                  <a:buFont typeface="Wingdings" panose="05000000000000000000" pitchFamily="2" charset="2"/>
                  <a:buChar char="q"/>
                  <a:tabLst>
                    <a:tab pos="571500" algn="l"/>
                  </a:tabLst>
                </a:pPr>
                <a:r>
                  <a:rPr lang="en-US" sz="1200" dirty="0">
                    <a:solidFill>
                      <a:srgbClr val="000000"/>
                    </a:solidFill>
                    <a:effectLst/>
                    <a:latin typeface="inter"/>
                    <a:ea typeface="inter"/>
                    <a:cs typeface="inter"/>
                  </a:rPr>
                  <a:t>This is what you'll actually design with!</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724085" y="1158572"/>
                <a:ext cx="6096000" cy="4179734"/>
              </a:xfrm>
              <a:prstGeom prst="rect">
                <a:avLst/>
              </a:prstGeom>
              <a:blipFill>
                <a:blip r:embed="rId2"/>
                <a:stretch>
                  <a:fillRect l="-600"/>
                </a:stretch>
              </a:blipFill>
            </p:spPr>
            <p:txBody>
              <a:bodyPr/>
              <a:lstStyle/>
              <a:p>
                <a:r>
                  <a:rPr lang="en-US">
                    <a:noFill/>
                  </a:rPr>
                  <a:t> </a:t>
                </a:r>
              </a:p>
            </p:txBody>
          </p:sp>
        </mc:Fallback>
      </mc:AlternateContent>
      <p:pic>
        <p:nvPicPr>
          <p:cNvPr id="9" name="Picture 8" descr="image"/>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69485" y="1636805"/>
            <a:ext cx="6372225" cy="3272155"/>
          </a:xfrm>
          <a:prstGeom prst="rect">
            <a:avLst/>
          </a:prstGeom>
          <a:noFill/>
          <a:ln>
            <a:noFill/>
          </a:ln>
        </p:spPr>
      </p:pic>
      <p:sp>
        <p:nvSpPr>
          <p:cNvPr id="10" name="Rectangle 9"/>
          <p:cNvSpPr/>
          <p:nvPr/>
        </p:nvSpPr>
        <p:spPr>
          <a:xfrm>
            <a:off x="8467726" y="1990725"/>
            <a:ext cx="2095500" cy="9382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807888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29047" y="1163723"/>
                <a:ext cx="11158153" cy="5498813"/>
              </a:xfrm>
            </p:spPr>
            <p:txBody>
              <a:bodyPr/>
              <a:lstStyle/>
              <a:p>
                <a:pPr algn="ctr"/>
                <a:r>
                  <a:rPr lang="en-US" sz="1800" b="1" dirty="0" smtClean="0">
                    <a:solidFill>
                      <a:srgbClr val="C00000"/>
                    </a:solidFill>
                    <a:latin typeface="inter"/>
                    <a:ea typeface="inter"/>
                    <a:cs typeface="inter"/>
                  </a:rPr>
                  <a:t>Part 4: The Cross-Multiplication Method—Complete Derivation</a:t>
                </a:r>
                <a:endParaRPr lang="en-US" sz="1400" b="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effectLst/>
                    <a:latin typeface="inter"/>
                    <a:ea typeface="inter"/>
                    <a:cs typeface="inter"/>
                  </a:rPr>
                  <a:t>4.1 Mathematical Foundation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pPr>
                <a:r>
                  <a:rPr lang="en-US" sz="1400" b="1" dirty="0">
                    <a:solidFill>
                      <a:srgbClr val="000000"/>
                    </a:solidFill>
                    <a:latin typeface="inter"/>
                    <a:ea typeface="inter"/>
                    <a:cs typeface="inter"/>
                  </a:rPr>
                  <a:t>Starting Point:</a:t>
                </a:r>
                <a:r>
                  <a:rPr lang="en-US" sz="1400" dirty="0">
                    <a:solidFill>
                      <a:srgbClr val="000000"/>
                    </a:solidFill>
                    <a:latin typeface="inter"/>
                    <a:ea typeface="inter"/>
                    <a:cs typeface="inter"/>
                  </a:rPr>
                  <a:t/>
                </a:r>
                <a:br>
                  <a:rPr lang="en-US" sz="1400" dirty="0">
                    <a:solidFill>
                      <a:srgbClr val="000000"/>
                    </a:solidFill>
                    <a:latin typeface="inter"/>
                    <a:ea typeface="inter"/>
                    <a:cs typeface="inter"/>
                  </a:rPr>
                </a:br>
                <a:r>
                  <a:rPr lang="en-US" sz="1400" dirty="0">
                    <a:solidFill>
                      <a:srgbClr val="000000"/>
                    </a:solidFill>
                    <a:latin typeface="inter"/>
                    <a:ea typeface="inter"/>
                    <a:cs typeface="inter"/>
                  </a:rPr>
                  <a:t>We have a reference device characterized by (</a:t>
                </a:r>
                <a:r>
                  <a:rPr lang="en-US" sz="1400" dirty="0" err="1" smtClean="0">
                    <a:solidFill>
                      <a:srgbClr val="000000"/>
                    </a:solidFill>
                    <a:latin typeface="inter"/>
                    <a:ea typeface="inter"/>
                    <a:cs typeface="inter"/>
                  </a:rPr>
                  <a:t>W</a:t>
                </a:r>
                <a:r>
                  <a:rPr lang="en-US" sz="1400" baseline="-25000" dirty="0" err="1" smtClean="0">
                    <a:solidFill>
                      <a:srgbClr val="000000"/>
                    </a:solidFill>
                    <a:latin typeface="inter"/>
                    <a:ea typeface="inter"/>
                    <a:cs typeface="inter"/>
                  </a:rPr>
                  <a:t>ref</a:t>
                </a:r>
                <a:r>
                  <a:rPr lang="en-US" sz="1400" dirty="0">
                    <a:solidFill>
                      <a:srgbClr val="000000"/>
                    </a:solidFill>
                    <a:latin typeface="inter"/>
                    <a:ea typeface="inter"/>
                    <a:cs typeface="inter"/>
                  </a:rPr>
                  <a:t>, </a:t>
                </a:r>
                <a:r>
                  <a:rPr lang="en-US" sz="1400" dirty="0" err="1" smtClean="0">
                    <a:solidFill>
                      <a:srgbClr val="000000"/>
                    </a:solidFill>
                    <a:latin typeface="inter"/>
                    <a:ea typeface="inter"/>
                    <a:cs typeface="inter"/>
                  </a:rPr>
                  <a:t>L</a:t>
                </a:r>
                <a:r>
                  <a:rPr lang="en-US" sz="1400" baseline="-25000" dirty="0" err="1" smtClean="0">
                    <a:solidFill>
                      <a:srgbClr val="000000"/>
                    </a:solidFill>
                    <a:latin typeface="inter"/>
                    <a:ea typeface="inter"/>
                    <a:cs typeface="inter"/>
                  </a:rPr>
                  <a:t>ref</a:t>
                </a:r>
                <a:r>
                  <a:rPr lang="en-US" sz="1400" dirty="0">
                    <a:solidFill>
                      <a:srgbClr val="000000"/>
                    </a:solidFill>
                    <a:latin typeface="inter"/>
                    <a:ea typeface="inter"/>
                    <a:cs typeface="inter"/>
                  </a:rPr>
                  <a:t>) with known behavior: </a:t>
                </a:r>
                <a:r>
                  <a:rPr lang="en-US" sz="1400" dirty="0" err="1" smtClean="0">
                    <a:solidFill>
                      <a:srgbClr val="000000"/>
                    </a:solidFill>
                    <a:latin typeface="inter"/>
                    <a:ea typeface="inter"/>
                    <a:cs typeface="inter"/>
                  </a:rPr>
                  <a:t>I</a:t>
                </a:r>
                <a:r>
                  <a:rPr lang="en-US" sz="1400" baseline="-25000" dirty="0" err="1" smtClean="0">
                    <a:solidFill>
                      <a:srgbClr val="000000"/>
                    </a:solidFill>
                    <a:latin typeface="inter"/>
                    <a:ea typeface="inter"/>
                    <a:cs typeface="inter"/>
                  </a:rPr>
                  <a:t>Dref</a:t>
                </a:r>
                <a:r>
                  <a:rPr lang="en-US" sz="1400" dirty="0" smtClean="0">
                    <a:solidFill>
                      <a:srgbClr val="000000"/>
                    </a:solidFill>
                    <a:latin typeface="inter"/>
                    <a:ea typeface="inter"/>
                    <a:cs typeface="inter"/>
                  </a:rPr>
                  <a:t>(V</a:t>
                </a:r>
                <a:r>
                  <a:rPr lang="en-US" sz="1400" baseline="-25000" dirty="0" smtClean="0">
                    <a:solidFill>
                      <a:srgbClr val="000000"/>
                    </a:solidFill>
                    <a:latin typeface="inter"/>
                    <a:ea typeface="inter"/>
                    <a:cs typeface="inter"/>
                  </a:rPr>
                  <a:t>GS</a:t>
                </a:r>
                <a:r>
                  <a:rPr lang="en-US" sz="1400" dirty="0">
                    <a:solidFill>
                      <a:srgbClr val="000000"/>
                    </a:solidFill>
                    <a:latin typeface="inter"/>
                    <a:ea typeface="inter"/>
                    <a:cs typeface="inter"/>
                  </a:rPr>
                  <a:t>) and corresponding </a:t>
                </a:r>
                <a14:m>
                  <m:oMath xmlns:m="http://schemas.openxmlformats.org/officeDocument/2006/math">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dirty="0">
                    <a:solidFill>
                      <a:srgbClr val="000000"/>
                    </a:solidFill>
                    <a:latin typeface="inter"/>
                    <a:ea typeface="inter"/>
                    <a:cs typeface="inter"/>
                  </a:rPr>
                  <a:t> values.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pPr>
                <a:r>
                  <a:rPr lang="en-US" sz="1400" b="1" dirty="0">
                    <a:solidFill>
                      <a:srgbClr val="000000"/>
                    </a:solidFill>
                    <a:latin typeface="inter"/>
                    <a:ea typeface="inter"/>
                    <a:cs typeface="inter"/>
                  </a:rPr>
                  <a:t>Design Problem:</a:t>
                </a:r>
                <a:r>
                  <a:rPr lang="en-US" sz="1400" dirty="0">
                    <a:solidFill>
                      <a:srgbClr val="000000"/>
                    </a:solidFill>
                    <a:latin typeface="inter"/>
                    <a:ea typeface="inter"/>
                    <a:cs typeface="inter"/>
                  </a:rPr>
                  <a:t/>
                </a:r>
                <a:br>
                  <a:rPr lang="en-US" sz="1400" dirty="0">
                    <a:solidFill>
                      <a:srgbClr val="000000"/>
                    </a:solidFill>
                    <a:latin typeface="inter"/>
                    <a:ea typeface="inter"/>
                    <a:cs typeface="inter"/>
                  </a:rPr>
                </a:br>
                <a:r>
                  <a:rPr lang="en-US" sz="1400" dirty="0">
                    <a:solidFill>
                      <a:srgbClr val="000000"/>
                    </a:solidFill>
                    <a:latin typeface="inter"/>
                    <a:ea typeface="inter"/>
                    <a:cs typeface="inter"/>
                  </a:rPr>
                  <a:t>We need a new device that delivers </a:t>
                </a:r>
                <a:r>
                  <a:rPr lang="en-US" sz="1400" b="1" dirty="0" err="1" smtClean="0">
                    <a:solidFill>
                      <a:srgbClr val="000000"/>
                    </a:solidFill>
                    <a:latin typeface="inter"/>
                    <a:ea typeface="inter"/>
                    <a:cs typeface="inter"/>
                  </a:rPr>
                  <a:t>I</a:t>
                </a:r>
                <a:r>
                  <a:rPr lang="en-US" sz="1400" b="1" baseline="-25000" dirty="0" err="1" smtClean="0">
                    <a:solidFill>
                      <a:srgbClr val="000000"/>
                    </a:solidFill>
                    <a:latin typeface="inter"/>
                    <a:ea typeface="inter"/>
                    <a:cs typeface="inter"/>
                  </a:rPr>
                  <a:t>Dnew</a:t>
                </a:r>
                <a:r>
                  <a:rPr lang="en-US" sz="1400" dirty="0" smtClean="0">
                    <a:solidFill>
                      <a:srgbClr val="000000"/>
                    </a:solidFill>
                    <a:latin typeface="inter"/>
                    <a:ea typeface="inter"/>
                    <a:cs typeface="inter"/>
                  </a:rPr>
                  <a:t> </a:t>
                </a:r>
                <a:r>
                  <a:rPr lang="en-US" sz="1400" dirty="0">
                    <a:solidFill>
                      <a:srgbClr val="000000"/>
                    </a:solidFill>
                    <a:latin typeface="inter"/>
                    <a:ea typeface="inter"/>
                    <a:cs typeface="inter"/>
                  </a:rPr>
                  <a:t>at the </a:t>
                </a:r>
                <a:r>
                  <a:rPr lang="en-US" sz="1400" b="1" dirty="0">
                    <a:solidFill>
                      <a:srgbClr val="000000"/>
                    </a:solidFill>
                    <a:latin typeface="inter"/>
                    <a:ea typeface="inter"/>
                    <a:cs typeface="inter"/>
                  </a:rPr>
                  <a:t>same </a:t>
                </a:r>
                <a14:m>
                  <m:oMath xmlns:m="http://schemas.openxmlformats.org/officeDocument/2006/math">
                    <m:f>
                      <m:f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num>
                      <m:den>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den>
                    </m:f>
                  </m:oMath>
                </a14:m>
                <a:r>
                  <a:rPr lang="en-US" sz="1400" dirty="0">
                    <a:solidFill>
                      <a:srgbClr val="000000"/>
                    </a:solidFill>
                    <a:latin typeface="inter"/>
                    <a:ea typeface="inter"/>
                    <a:cs typeface="inter"/>
                  </a:rPr>
                  <a:t> as the reference.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pPr>
                <a:r>
                  <a:rPr lang="en-US" sz="1400" b="1" dirty="0">
                    <a:solidFill>
                      <a:srgbClr val="000000"/>
                    </a:solidFill>
                    <a:latin typeface="inter"/>
                    <a:ea typeface="inter"/>
                    <a:cs typeface="inter"/>
                  </a:rPr>
                  <a:t>Key Assumption:</a:t>
                </a:r>
                <a:r>
                  <a:rPr lang="en-US" sz="1400" dirty="0">
                    <a:solidFill>
                      <a:srgbClr val="000000"/>
                    </a:solidFill>
                    <a:latin typeface="inter"/>
                    <a:ea typeface="inter"/>
                    <a:cs typeface="inter"/>
                  </a:rPr>
                  <a:t/>
                </a:r>
                <a:br>
                  <a:rPr lang="en-US" sz="1400" dirty="0">
                    <a:solidFill>
                      <a:srgbClr val="000000"/>
                    </a:solidFill>
                    <a:latin typeface="inter"/>
                    <a:ea typeface="inter"/>
                    <a:cs typeface="inter"/>
                  </a:rPr>
                </a:br>
                <a:r>
                  <a:rPr lang="en-US" sz="1400" dirty="0">
                    <a:solidFill>
                      <a:srgbClr val="000000"/>
                    </a:solidFill>
                    <a:latin typeface="inter"/>
                    <a:ea typeface="inter"/>
                    <a:cs typeface="inter"/>
                  </a:rPr>
                  <a:t>Since I</a:t>
                </a:r>
                <a:r>
                  <a:rPr lang="en-US" sz="1400" baseline="-25000" dirty="0">
                    <a:solidFill>
                      <a:srgbClr val="000000"/>
                    </a:solidFill>
                    <a:latin typeface="inter"/>
                    <a:ea typeface="inter"/>
                    <a:cs typeface="inter"/>
                  </a:rPr>
                  <a:t>D</a:t>
                </a:r>
                <a:r>
                  <a:rPr lang="en-US" sz="1400" dirty="0">
                    <a:solidFill>
                      <a:srgbClr val="000000"/>
                    </a:solidFill>
                    <a:latin typeface="inter"/>
                    <a:ea typeface="inter"/>
                    <a:cs typeface="inter"/>
                  </a:rPr>
                  <a:t> ∝ W (proven in Part 2), we can write: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dirty="0">
                    <a:solidFill>
                      <a:srgbClr val="000000"/>
                    </a:solidFill>
                    <a:latin typeface="inter"/>
                    <a:ea typeface="inter"/>
                    <a:cs typeface="inter"/>
                  </a:rPr>
                  <a:t>For reference device:</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dirty="0">
                    <a:solidFill>
                      <a:srgbClr val="000000"/>
                    </a:solidFill>
                    <a:latin typeface="inter"/>
                    <a:ea typeface="inter"/>
                    <a:cs typeface="inter"/>
                  </a:rPr>
                  <a:t>For new device:</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dirty="0">
                    <a:solidFill>
                      <a:srgbClr val="000000"/>
                    </a:solidFill>
                    <a:latin typeface="inter"/>
                    <a:ea typeface="inter"/>
                    <a:cs typeface="inter"/>
                  </a:rPr>
                  <a:t>where k is the current density (</a:t>
                </a:r>
                <a14:m>
                  <m:oMath xmlns:m="http://schemas.openxmlformats.org/officeDocument/2006/math">
                    <m:f>
                      <m:fPr>
                        <m:ctrlPr>
                          <a:rPr lang="en-US" sz="12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2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num>
                      <m:den>
                        <m:r>
                          <a:rPr lang="en-US" sz="12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𝑾</m:t>
                        </m:r>
                      </m:den>
                    </m:f>
                  </m:oMath>
                </a14:m>
                <a:r>
                  <a:rPr lang="en-US" sz="1200" dirty="0" smtClean="0">
                    <a:solidFill>
                      <a:srgbClr val="000000"/>
                    </a:solidFill>
                    <a:latin typeface="inter"/>
                    <a:ea typeface="inter"/>
                    <a:cs typeface="inter"/>
                  </a:rPr>
                  <a:t>), </a:t>
                </a:r>
                <a:r>
                  <a:rPr lang="en-US" sz="1200" dirty="0">
                    <a:solidFill>
                      <a:srgbClr val="000000"/>
                    </a:solidFill>
                    <a:latin typeface="inter"/>
                    <a:ea typeface="inter"/>
                    <a:cs typeface="inter"/>
                  </a:rPr>
                  <a:t>which depends on V</a:t>
                </a:r>
                <a:r>
                  <a:rPr lang="en-US" sz="1200" baseline="-25000" dirty="0">
                    <a:solidFill>
                      <a:srgbClr val="000000"/>
                    </a:solidFill>
                    <a:latin typeface="inter"/>
                    <a:ea typeface="inter"/>
                    <a:cs typeface="inter"/>
                  </a:rPr>
                  <a:t>GS</a:t>
                </a:r>
                <a:r>
                  <a:rPr lang="en-US" sz="1200" dirty="0">
                    <a:solidFill>
                      <a:srgbClr val="000000"/>
                    </a:solidFill>
                    <a:latin typeface="inter"/>
                    <a:ea typeface="inter"/>
                    <a:cs typeface="inter"/>
                  </a:rPr>
                  <a:t>, V</a:t>
                </a:r>
                <a:r>
                  <a:rPr lang="en-US" sz="1200" baseline="-25000" dirty="0">
                    <a:solidFill>
                      <a:srgbClr val="000000"/>
                    </a:solidFill>
                    <a:latin typeface="inter"/>
                    <a:ea typeface="inter"/>
                    <a:cs typeface="inter"/>
                  </a:rPr>
                  <a:t>DS</a:t>
                </a:r>
                <a:r>
                  <a:rPr lang="en-US" sz="1200" dirty="0">
                    <a:solidFill>
                      <a:srgbClr val="000000"/>
                    </a:solidFill>
                    <a:latin typeface="inter"/>
                    <a:ea typeface="inter"/>
                    <a:cs typeface="inter"/>
                  </a:rPr>
                  <a:t>, L, etc.</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285750" indent="-285750">
                  <a:buFont typeface="Wingdings" panose="05000000000000000000" pitchFamily="2" charset="2"/>
                  <a:buChar char="q"/>
                </a:pPr>
                <a:r>
                  <a:rPr lang="en-US" sz="1400" b="1" dirty="0">
                    <a:solidFill>
                      <a:srgbClr val="000000"/>
                    </a:solidFill>
                    <a:latin typeface="inter"/>
                    <a:ea typeface="inter"/>
                    <a:cs typeface="inter"/>
                  </a:rPr>
                  <a:t>Critical Insight:</a:t>
                </a:r>
                <a:r>
                  <a:rPr lang="en-US" sz="1400" dirty="0">
                    <a:solidFill>
                      <a:srgbClr val="000000"/>
                    </a:solidFill>
                    <a:latin typeface="inter"/>
                    <a:ea typeface="inter"/>
                    <a:cs typeface="inter"/>
                  </a:rPr>
                  <a:t/>
                </a:r>
                <a:br>
                  <a:rPr lang="en-US" sz="1400" dirty="0">
                    <a:solidFill>
                      <a:srgbClr val="000000"/>
                    </a:solidFill>
                    <a:latin typeface="inter"/>
                    <a:ea typeface="inter"/>
                    <a:cs typeface="inter"/>
                  </a:rPr>
                </a:br>
                <a:r>
                  <a:rPr lang="en-US" sz="1400" dirty="0">
                    <a:solidFill>
                      <a:srgbClr val="000000"/>
                    </a:solidFill>
                    <a:latin typeface="inter"/>
                    <a:ea typeface="inter"/>
                    <a:cs typeface="inter"/>
                  </a:rPr>
                  <a:t>If we want the same </a:t>
                </a:r>
                <a14:m>
                  <m:oMath xmlns:m="http://schemas.openxmlformats.org/officeDocument/2006/math">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dirty="0">
                    <a:solidFill>
                      <a:srgbClr val="000000"/>
                    </a:solidFill>
                    <a:latin typeface="inter"/>
                    <a:ea typeface="inter"/>
                    <a:cs typeface="inter"/>
                  </a:rPr>
                  <a:t>, we must operate at the </a:t>
                </a:r>
                <a:r>
                  <a:rPr lang="en-US" sz="1400" b="1" dirty="0">
                    <a:solidFill>
                      <a:srgbClr val="000000"/>
                    </a:solidFill>
                    <a:latin typeface="inter"/>
                    <a:ea typeface="inter"/>
                    <a:cs typeface="inter"/>
                  </a:rPr>
                  <a:t>same V</a:t>
                </a:r>
                <a:r>
                  <a:rPr lang="en-US" sz="1400" b="1" baseline="-25000" dirty="0">
                    <a:solidFill>
                      <a:srgbClr val="000000"/>
                    </a:solidFill>
                    <a:latin typeface="inter"/>
                    <a:ea typeface="inter"/>
                    <a:cs typeface="inter"/>
                  </a:rPr>
                  <a:t>GS</a:t>
                </a:r>
                <a:r>
                  <a:rPr lang="en-US" sz="1400" dirty="0">
                    <a:solidFill>
                      <a:srgbClr val="000000"/>
                    </a:solidFill>
                    <a:latin typeface="inter"/>
                    <a:ea typeface="inter"/>
                    <a:cs typeface="inter"/>
                  </a:rPr>
                  <a:t>, which means </a:t>
                </a:r>
                <a:r>
                  <a:rPr lang="en-US" sz="1400" b="1" dirty="0">
                    <a:solidFill>
                      <a:srgbClr val="000000"/>
                    </a:solidFill>
                    <a:latin typeface="inter"/>
                    <a:ea typeface="inter"/>
                    <a:cs typeface="inter"/>
                  </a:rPr>
                  <a:t>same k</a:t>
                </a:r>
                <a:r>
                  <a:rPr lang="en-US" sz="1400" dirty="0">
                    <a:solidFill>
                      <a:srgbClr val="000000"/>
                    </a:solidFill>
                    <a:latin typeface="inter"/>
                    <a:ea typeface="inter"/>
                    <a:cs typeface="inter"/>
                  </a:rPr>
                  <a:t> (current density).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dirty="0">
                    <a:solidFill>
                      <a:srgbClr val="000000"/>
                    </a:solidFill>
                    <a:latin typeface="inter"/>
                    <a:ea typeface="inter"/>
                    <a:cs typeface="inter"/>
                  </a:rPr>
                  <a:t>Therefore:</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den>
                      </m:f>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b="1" dirty="0">
                    <a:solidFill>
                      <a:srgbClr val="000000"/>
                    </a:solidFill>
                    <a:latin typeface="inter"/>
                    <a:ea typeface="inter"/>
                    <a:cs typeface="inter"/>
                  </a:rPr>
                  <a:t>Cross-multiplying:</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r>
                  <a:rPr lang="en-US" sz="1200" b="1" dirty="0">
                    <a:solidFill>
                      <a:srgbClr val="000000"/>
                    </a:solidFill>
                    <a:latin typeface="inter"/>
                    <a:ea typeface="inter"/>
                    <a:cs typeface="inter"/>
                  </a:rPr>
                  <a:t>Solving for </a:t>
                </a:r>
                <a:r>
                  <a:rPr lang="en-US" sz="1200" b="1" dirty="0" err="1" smtClean="0">
                    <a:solidFill>
                      <a:srgbClr val="000000"/>
                    </a:solidFill>
                    <a:latin typeface="inter"/>
                    <a:ea typeface="inter"/>
                    <a:cs typeface="inter"/>
                  </a:rPr>
                  <a:t>W</a:t>
                </a:r>
                <a:r>
                  <a:rPr lang="en-US" sz="1200" b="1" baseline="-25000" dirty="0" err="1" smtClean="0">
                    <a:solidFill>
                      <a:srgbClr val="000000"/>
                    </a:solidFill>
                    <a:latin typeface="inter"/>
                    <a:ea typeface="inter"/>
                    <a:cs typeface="inter"/>
                  </a:rPr>
                  <a:t>new</a:t>
                </a:r>
                <a:r>
                  <a:rPr lang="en-US" sz="1200" b="1" dirty="0">
                    <a:solidFill>
                      <a:srgbClr val="000000"/>
                    </a:solidFill>
                    <a:latin typeface="inter"/>
                    <a:ea typeface="inter"/>
                    <a:cs typeface="inter"/>
                  </a:rPr>
                  <a:t>:</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borderBox>
                        <m:borderBoxPr>
                          <m:hideTop m:val="on"/>
                          <m:hideBot m:val="on"/>
                          <m:hideLeft m:val="on"/>
                          <m:hideRight m:val="on"/>
                          <m:ctrlPr>
                            <a:rPr lang="en-US" sz="1200" i="1">
                              <a:latin typeface="Cambria Math" panose="02040503050406030204" pitchFamily="18" charset="0"/>
                              <a:ea typeface="Calibri" panose="020F0502020204030204" pitchFamily="34" charset="0"/>
                              <a:cs typeface="Times New Roman" panose="02020603050405020304" pitchFamily="18" charset="0"/>
                            </a:rPr>
                          </m:ctrlPr>
                        </m:borderBoxPr>
                        <m:e>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2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e>
                      </m:borderBox>
                    </m:oMath>
                  </m:oMathPara>
                </a14:m>
                <a:endParaRPr lang="en-US" sz="12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729047" y="1163723"/>
                <a:ext cx="11158153" cy="5498813"/>
              </a:xfrm>
              <a:blipFill>
                <a:blip r:embed="rId2"/>
                <a:stretch>
                  <a:fillRect l="-1311" t="-1441"/>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8472164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529694" cy="4874604"/>
              </a:xfrm>
            </p:spPr>
            <p:txBody>
              <a:bodyPr/>
              <a:lstStyle/>
              <a:p>
                <a:pPr algn="just">
                  <a:lnSpc>
                    <a:spcPct val="150000"/>
                  </a:lnSpc>
                </a:pPr>
                <a:r>
                  <a:rPr lang="en-US" b="1" dirty="0">
                    <a:solidFill>
                      <a:srgbClr val="000000"/>
                    </a:solidFill>
                    <a:latin typeface="inter"/>
                    <a:ea typeface="inter"/>
                    <a:cs typeface="inter"/>
                  </a:rPr>
                  <a:t>4.2 What Remains Constant?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600" dirty="0">
                    <a:solidFill>
                      <a:srgbClr val="000000"/>
                    </a:solidFill>
                    <a:latin typeface="inter"/>
                    <a:ea typeface="inter"/>
                    <a:cs typeface="inter"/>
                  </a:rPr>
                  <a:t>When using cross-multiplication, the following parameters </a:t>
                </a:r>
                <a:r>
                  <a:rPr lang="en-US" sz="1600" b="1" dirty="0">
                    <a:solidFill>
                      <a:srgbClr val="000000"/>
                    </a:solidFill>
                    <a:latin typeface="inter"/>
                    <a:ea typeface="inter"/>
                    <a:cs typeface="inter"/>
                  </a:rPr>
                  <a:t>do not change</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600" b="1" dirty="0">
                    <a:solidFill>
                      <a:srgbClr val="000000"/>
                    </a:solidFill>
                    <a:latin typeface="inter"/>
                    <a:ea typeface="inter"/>
                    <a:cs typeface="inter"/>
                  </a:rPr>
                  <a:t>Geometric:</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err="1" smtClean="0">
                    <a:solidFill>
                      <a:srgbClr val="000000"/>
                    </a:solidFill>
                    <a:latin typeface="inter"/>
                    <a:ea typeface="inter"/>
                    <a:cs typeface="inter"/>
                  </a:rPr>
                  <a:t>L</a:t>
                </a:r>
                <a:r>
                  <a:rPr lang="en-US" sz="1400" b="1" baseline="-25000" dirty="0" err="1" smtClean="0">
                    <a:solidFill>
                      <a:srgbClr val="000000"/>
                    </a:solidFill>
                    <a:latin typeface="inter"/>
                    <a:ea typeface="inter"/>
                    <a:cs typeface="inter"/>
                  </a:rPr>
                  <a:t>new</a:t>
                </a:r>
                <a:r>
                  <a:rPr lang="en-US" sz="1400" b="1" baseline="-25000" dirty="0" smtClean="0">
                    <a:solidFill>
                      <a:srgbClr val="000000"/>
                    </a:solidFill>
                    <a:latin typeface="inter"/>
                    <a:ea typeface="inter"/>
                    <a:cs typeface="inter"/>
                  </a:rPr>
                  <a:t> </a:t>
                </a:r>
                <a:r>
                  <a:rPr lang="en-US" sz="1400" b="1" dirty="0">
                    <a:solidFill>
                      <a:srgbClr val="000000"/>
                    </a:solidFill>
                    <a:latin typeface="inter"/>
                    <a:ea typeface="inter"/>
                    <a:cs typeface="inter"/>
                  </a:rPr>
                  <a:t>= </a:t>
                </a:r>
                <a:r>
                  <a:rPr lang="en-US" sz="1400" b="1" dirty="0" err="1" smtClean="0">
                    <a:solidFill>
                      <a:srgbClr val="000000"/>
                    </a:solidFill>
                    <a:latin typeface="inter"/>
                    <a:ea typeface="inter"/>
                    <a:cs typeface="inter"/>
                  </a:rPr>
                  <a:t>L</a:t>
                </a:r>
                <a:r>
                  <a:rPr lang="en-US" sz="1400" b="1" baseline="-25000" dirty="0" err="1" smtClean="0">
                    <a:solidFill>
                      <a:srgbClr val="000000"/>
                    </a:solidFill>
                    <a:latin typeface="inter"/>
                    <a:ea typeface="inter"/>
                    <a:cs typeface="inter"/>
                  </a:rPr>
                  <a:t>ref</a:t>
                </a:r>
                <a:r>
                  <a:rPr lang="en-US" sz="1400" dirty="0">
                    <a:solidFill>
                      <a:srgbClr val="000000"/>
                    </a:solidFill>
                    <a:latin typeface="inter"/>
                    <a:ea typeface="inter"/>
                    <a:cs typeface="inter"/>
                  </a:rPr>
                  <a:t>: Length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600" b="1" dirty="0">
                    <a:solidFill>
                      <a:srgbClr val="000000"/>
                    </a:solidFill>
                    <a:latin typeface="inter"/>
                    <a:ea typeface="inter"/>
                    <a:cs typeface="inter"/>
                  </a:rPr>
                  <a:t>Electrical: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GS,new</a:t>
                </a:r>
                <a:r>
                  <a:rPr lang="en-US" sz="1400" b="1" dirty="0">
                    <a:solidFill>
                      <a:srgbClr val="000000"/>
                    </a:solidFill>
                    <a:latin typeface="inter"/>
                    <a:ea typeface="inter"/>
                    <a:cs typeface="inter"/>
                  </a:rPr>
                  <a:t> = </a:t>
                </a: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GS,ref</a:t>
                </a:r>
                <a:r>
                  <a:rPr lang="en-US" sz="1400" dirty="0">
                    <a:solidFill>
                      <a:srgbClr val="000000"/>
                    </a:solidFill>
                    <a:latin typeface="inter"/>
                    <a:ea typeface="inter"/>
                    <a:cs typeface="inter"/>
                  </a:rPr>
                  <a:t>: Gate-source voltage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DS,new</a:t>
                </a:r>
                <a:r>
                  <a:rPr lang="en-US" sz="1400" b="1" dirty="0">
                    <a:solidFill>
                      <a:srgbClr val="000000"/>
                    </a:solidFill>
                    <a:latin typeface="inter"/>
                    <a:ea typeface="inter"/>
                    <a:cs typeface="inter"/>
                  </a:rPr>
                  <a:t> ≈ </a:t>
                </a: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DS,ref</a:t>
                </a:r>
                <a:r>
                  <a:rPr lang="en-US" sz="1400" dirty="0">
                    <a:solidFill>
                      <a:srgbClr val="000000"/>
                    </a:solidFill>
                    <a:latin typeface="inter"/>
                    <a:ea typeface="inter"/>
                    <a:cs typeface="inter"/>
                  </a:rPr>
                  <a:t>: Should maintain similar drain voltage (both in saturation)</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SB,new</a:t>
                </a:r>
                <a:r>
                  <a:rPr lang="en-US" sz="1400" b="1" dirty="0">
                    <a:solidFill>
                      <a:srgbClr val="000000"/>
                    </a:solidFill>
                    <a:latin typeface="inter"/>
                    <a:ea typeface="inter"/>
                    <a:cs typeface="inter"/>
                  </a:rPr>
                  <a:t> = </a:t>
                </a:r>
                <a:r>
                  <a:rPr lang="en-US" sz="1400" b="1" dirty="0" err="1">
                    <a:solidFill>
                      <a:srgbClr val="000000"/>
                    </a:solidFill>
                    <a:latin typeface="inter"/>
                    <a:ea typeface="inter"/>
                    <a:cs typeface="inter"/>
                  </a:rPr>
                  <a:t>V</a:t>
                </a:r>
                <a:r>
                  <a:rPr lang="en-US" sz="1400" b="1" baseline="-25000" dirty="0" err="1">
                    <a:solidFill>
                      <a:srgbClr val="000000"/>
                    </a:solidFill>
                    <a:latin typeface="inter"/>
                    <a:ea typeface="inter"/>
                    <a:cs typeface="inter"/>
                  </a:rPr>
                  <a:t>SB,ref</a:t>
                </a:r>
                <a:r>
                  <a:rPr lang="en-US" sz="1400" dirty="0">
                    <a:solidFill>
                      <a:srgbClr val="000000"/>
                    </a:solidFill>
                    <a:latin typeface="inter"/>
                    <a:ea typeface="inter"/>
                    <a:cs typeface="inter"/>
                  </a:rPr>
                  <a:t>: Body-source voltage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600" b="1" dirty="0">
                    <a:solidFill>
                      <a:srgbClr val="000000"/>
                    </a:solidFill>
                    <a:latin typeface="inter"/>
                    <a:ea typeface="inter"/>
                    <a:cs typeface="inter"/>
                  </a:rPr>
                  <a:t>Performance Metrics: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a:solidFill>
                      <a:srgbClr val="000000"/>
                    </a:solidFill>
                    <a:latin typeface="inter"/>
                    <a:ea typeface="inter"/>
                    <a:cs typeface="inter"/>
                  </a:rPr>
                  <a:t>(</a:t>
                </a:r>
                <a14:m>
                  <m:oMath xmlns:m="http://schemas.openxmlformats.org/officeDocument/2006/math">
                    <m:f>
                      <m:fPr>
                        <m:ctrlPr>
                          <a:rPr lang="en-US" sz="140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b="1" dirty="0" smtClean="0">
                    <a:solidFill>
                      <a:srgbClr val="000000"/>
                    </a:solidFill>
                    <a:latin typeface="inter"/>
                    <a:ea typeface="inter"/>
                    <a:cs typeface="inter"/>
                  </a:rPr>
                  <a:t>)</a:t>
                </a:r>
                <a:r>
                  <a:rPr lang="en-US" sz="1400" b="1" baseline="-25000" dirty="0" smtClean="0">
                    <a:solidFill>
                      <a:srgbClr val="000000"/>
                    </a:solidFill>
                    <a:latin typeface="inter"/>
                    <a:ea typeface="inter"/>
                    <a:cs typeface="inter"/>
                  </a:rPr>
                  <a:t>new</a:t>
                </a:r>
                <a:r>
                  <a:rPr lang="en-US" sz="1400" b="1" dirty="0" smtClean="0">
                    <a:solidFill>
                      <a:srgbClr val="000000"/>
                    </a:solidFill>
                    <a:latin typeface="inter"/>
                    <a:ea typeface="inter"/>
                    <a:cs typeface="inter"/>
                  </a:rPr>
                  <a:t> </a:t>
                </a:r>
                <a:r>
                  <a:rPr lang="en-US" sz="1400" b="1" dirty="0">
                    <a:solidFill>
                      <a:srgbClr val="000000"/>
                    </a:solidFill>
                    <a:latin typeface="inter"/>
                    <a:ea typeface="inter"/>
                    <a:cs typeface="inter"/>
                  </a:rPr>
                  <a:t>= (</a:t>
                </a:r>
                <a14:m>
                  <m:oMath xmlns:m="http://schemas.openxmlformats.org/officeDocument/2006/math">
                    <m:f>
                      <m:fPr>
                        <m:ctrlPr>
                          <a:rPr lang="en-US" sz="140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b="1" dirty="0" smtClean="0">
                    <a:solidFill>
                      <a:srgbClr val="000000"/>
                    </a:solidFill>
                    <a:latin typeface="inter"/>
                    <a:ea typeface="inter"/>
                    <a:cs typeface="inter"/>
                  </a:rPr>
                  <a:t>)</a:t>
                </a:r>
                <a:r>
                  <a:rPr lang="en-US" sz="1400" b="1" baseline="-25000" dirty="0" smtClean="0">
                    <a:solidFill>
                      <a:srgbClr val="000000"/>
                    </a:solidFill>
                    <a:latin typeface="inter"/>
                    <a:ea typeface="inter"/>
                    <a:cs typeface="inter"/>
                  </a:rPr>
                  <a:t>ref</a:t>
                </a:r>
                <a:r>
                  <a:rPr lang="en-US" sz="1400" dirty="0">
                    <a:solidFill>
                      <a:srgbClr val="000000"/>
                    </a:solidFill>
                    <a:latin typeface="inter"/>
                    <a:ea typeface="inter"/>
                    <a:cs typeface="inter"/>
                  </a:rPr>
                  <a:t>: Efficiency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a:solidFill>
                      <a:srgbClr val="000000"/>
                    </a:solidFill>
                    <a:latin typeface="inter"/>
                    <a:ea typeface="inter"/>
                    <a:cs typeface="inter"/>
                  </a:rPr>
                  <a:t>Inversion level</a:t>
                </a:r>
                <a:r>
                  <a:rPr lang="en-US" sz="1400" dirty="0">
                    <a:solidFill>
                      <a:srgbClr val="000000"/>
                    </a:solidFill>
                    <a:latin typeface="inter"/>
                    <a:ea typeface="inter"/>
                    <a:cs typeface="inter"/>
                  </a:rPr>
                  <a:t>: WI, MI, or SI stays the same</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400" b="1" dirty="0">
                    <a:solidFill>
                      <a:srgbClr val="000000"/>
                    </a:solidFill>
                    <a:latin typeface="inter"/>
                    <a:ea typeface="inter"/>
                    <a:cs typeface="inter"/>
                  </a:rPr>
                  <a:t>Current density (</a:t>
                </a:r>
                <a14:m>
                  <m:oMath xmlns:m="http://schemas.openxmlformats.org/officeDocument/2006/math">
                    <m:f>
                      <m:f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num>
                      <m:den>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𝑾</m:t>
                        </m:r>
                      </m:den>
                    </m:f>
                  </m:oMath>
                </a14:m>
                <a:r>
                  <a:rPr lang="en-US" sz="1400" b="1" dirty="0">
                    <a:solidFill>
                      <a:srgbClr val="000000"/>
                    </a:solidFill>
                    <a:latin typeface="inter"/>
                    <a:ea typeface="inter"/>
                    <a:cs typeface="inter"/>
                  </a:rPr>
                  <a:t>)</a:t>
                </a:r>
                <a:r>
                  <a:rPr lang="en-US" sz="1400" dirty="0">
                    <a:solidFill>
                      <a:srgbClr val="000000"/>
                    </a:solidFill>
                    <a:latin typeface="inter"/>
                    <a:ea typeface="inter"/>
                    <a:cs typeface="inter"/>
                  </a:rPr>
                  <a:t>: Stays constant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529694" cy="4874604"/>
              </a:xfrm>
              <a:blipFill>
                <a:blip r:embed="rId2"/>
                <a:stretch>
                  <a:fillRect l="-150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830924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190697" cy="3746282"/>
              </a:xfrm>
            </p:spPr>
            <p:txBody>
              <a:bodyPr/>
              <a:lstStyle/>
              <a:p>
                <a:pPr algn="just">
                  <a:lnSpc>
                    <a:spcPct val="150000"/>
                  </a:lnSpc>
                </a:pPr>
                <a:r>
                  <a:rPr lang="en-US" sz="1800" b="1" dirty="0">
                    <a:solidFill>
                      <a:srgbClr val="000000"/>
                    </a:solidFill>
                    <a:latin typeface="inter"/>
                    <a:ea typeface="inter"/>
                    <a:cs typeface="inter"/>
                  </a:rPr>
                  <a:t>4.3 What Scales Proportionally?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400" b="1" dirty="0">
                    <a:solidFill>
                      <a:srgbClr val="000000"/>
                    </a:solidFill>
                    <a:latin typeface="inter"/>
                    <a:ea typeface="inter"/>
                    <a:cs typeface="inter"/>
                  </a:rPr>
                  <a:t>Linearly with W:</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ID</a:t>
                </a:r>
                <a:r>
                  <a:rPr lang="en-US" sz="1200" dirty="0">
                    <a:solidFill>
                      <a:srgbClr val="000000"/>
                    </a:solidFill>
                    <a:latin typeface="inter"/>
                    <a:ea typeface="inter"/>
                    <a:cs typeface="inter"/>
                  </a:rPr>
                  <a:t>: Scales by factor (</a:t>
                </a:r>
                <a:r>
                  <a:rPr lang="en-US" sz="1200" dirty="0" err="1" smtClean="0">
                    <a:solidFill>
                      <a:srgbClr val="000000"/>
                    </a:solidFill>
                    <a:latin typeface="inter"/>
                    <a:ea typeface="inter"/>
                    <a:cs typeface="inter"/>
                  </a:rPr>
                  <a:t>W</a:t>
                </a:r>
                <a:r>
                  <a:rPr lang="en-US" sz="1200" baseline="-25000" dirty="0" err="1" smtClean="0">
                    <a:solidFill>
                      <a:srgbClr val="000000"/>
                    </a:solidFill>
                    <a:latin typeface="inter"/>
                    <a:ea typeface="inter"/>
                    <a:cs typeface="inter"/>
                  </a:rPr>
                  <a:t>new</a:t>
                </a:r>
                <a:r>
                  <a:rPr lang="en-US" sz="1200" dirty="0" smtClean="0">
                    <a:solidFill>
                      <a:srgbClr val="000000"/>
                    </a:solidFill>
                    <a:latin typeface="inter"/>
                    <a:ea typeface="inter"/>
                    <a:cs typeface="inter"/>
                  </a:rPr>
                  <a:t>/</a:t>
                </a:r>
                <a:r>
                  <a:rPr lang="en-US" sz="1200" dirty="0" err="1" smtClean="0">
                    <a:solidFill>
                      <a:srgbClr val="000000"/>
                    </a:solidFill>
                    <a:latin typeface="inter"/>
                    <a:ea typeface="inter"/>
                    <a:cs typeface="inter"/>
                  </a:rPr>
                  <a:t>W</a:t>
                </a:r>
                <a:r>
                  <a:rPr lang="en-US" sz="1200" baseline="-25000" dirty="0" err="1" smtClean="0">
                    <a:solidFill>
                      <a:srgbClr val="000000"/>
                    </a:solidFill>
                    <a:latin typeface="inter"/>
                    <a:ea typeface="inter"/>
                    <a:cs typeface="inter"/>
                  </a:rPr>
                  <a:t>ref</a:t>
                </a:r>
                <a:r>
                  <a:rPr lang="en-US" sz="1200" dirty="0">
                    <a:solidFill>
                      <a:srgbClr val="000000"/>
                    </a:solidFill>
                    <a:latin typeface="inter"/>
                    <a:ea typeface="inter"/>
                    <a:cs typeface="inter"/>
                  </a:rPr>
                  <a:t>)</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gm</a:t>
                </a:r>
                <a:r>
                  <a:rPr lang="en-US" sz="1200" dirty="0">
                    <a:solidFill>
                      <a:srgbClr val="000000"/>
                    </a:solidFill>
                    <a:latin typeface="inter"/>
                    <a:ea typeface="inter"/>
                    <a:cs typeface="inter"/>
                  </a:rPr>
                  <a:t>: Scales by same factor since gm = (</a:t>
                </a:r>
                <a14:m>
                  <m:oMath xmlns:m="http://schemas.openxmlformats.org/officeDocument/2006/math">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200" dirty="0">
                    <a:solidFill>
                      <a:srgbClr val="000000"/>
                    </a:solidFill>
                    <a:latin typeface="inter"/>
                    <a:ea typeface="inter"/>
                    <a:cs typeface="inter"/>
                  </a:rPr>
                  <a:t>) × ID</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Capacitances</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C</a:t>
                </a:r>
                <a:r>
                  <a:rPr lang="en-US" sz="1200" baseline="-25000" dirty="0" err="1">
                    <a:solidFill>
                      <a:srgbClr val="000000"/>
                    </a:solidFill>
                    <a:latin typeface="inter"/>
                    <a:ea typeface="inter"/>
                    <a:cs typeface="inter"/>
                  </a:rPr>
                  <a:t>gg</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C</a:t>
                </a:r>
                <a:r>
                  <a:rPr lang="en-US" sz="1200" baseline="-25000" dirty="0" err="1">
                    <a:solidFill>
                      <a:srgbClr val="000000"/>
                    </a:solidFill>
                    <a:latin typeface="inter"/>
                    <a:ea typeface="inter"/>
                    <a:cs typeface="inter"/>
                  </a:rPr>
                  <a:t>gs</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C</a:t>
                </a:r>
                <a:r>
                  <a:rPr lang="en-US" sz="1200" baseline="-25000" dirty="0" err="1">
                    <a:solidFill>
                      <a:srgbClr val="000000"/>
                    </a:solidFill>
                    <a:latin typeface="inter"/>
                    <a:ea typeface="inter"/>
                    <a:cs typeface="inter"/>
                  </a:rPr>
                  <a:t>gd</a:t>
                </a:r>
                <a:r>
                  <a:rPr lang="en-US" sz="1200" dirty="0">
                    <a:solidFill>
                      <a:srgbClr val="000000"/>
                    </a:solidFill>
                    <a:latin typeface="inter"/>
                    <a:ea typeface="inter"/>
                    <a:cs typeface="inter"/>
                  </a:rPr>
                  <a:t> all scale with W</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Matching (absolute)</a:t>
                </a:r>
                <a:r>
                  <a:rPr lang="en-US" sz="1200" dirty="0">
                    <a:solidFill>
                      <a:srgbClr val="000000"/>
                    </a:solidFill>
                    <a:latin typeface="inter"/>
                    <a:ea typeface="inter"/>
                    <a:cs typeface="inter"/>
                  </a:rPr>
                  <a:t>: σ(ΔV) ∝ 1/√(WL), so matching improves with larger W</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algn="just">
                  <a:lnSpc>
                    <a:spcPct val="150000"/>
                  </a:lnSpc>
                </a:pPr>
                <a:r>
                  <a:rPr lang="en-US" sz="1400" b="1" dirty="0">
                    <a:solidFill>
                      <a:srgbClr val="000000"/>
                    </a:solidFill>
                    <a:latin typeface="inter"/>
                    <a:ea typeface="inter"/>
                    <a:cs typeface="inter"/>
                  </a:rPr>
                  <a:t>Unchanged:</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Threshold voltage</a:t>
                </a:r>
                <a:r>
                  <a:rPr lang="en-US" sz="1200" dirty="0">
                    <a:solidFill>
                      <a:srgbClr val="000000"/>
                    </a:solidFill>
                    <a:latin typeface="inter"/>
                    <a:ea typeface="inter"/>
                    <a:cs typeface="inter"/>
                  </a:rPr>
                  <a:t>: V</a:t>
                </a:r>
                <a:r>
                  <a:rPr lang="en-US" sz="1200" baseline="-25000" dirty="0">
                    <a:solidFill>
                      <a:srgbClr val="000000"/>
                    </a:solidFill>
                    <a:latin typeface="inter"/>
                    <a:ea typeface="inter"/>
                    <a:cs typeface="inter"/>
                  </a:rPr>
                  <a:t>TH</a:t>
                </a:r>
                <a:endParaRPr lang="en-US" sz="1200" baseline="-25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err="1">
                    <a:solidFill>
                      <a:srgbClr val="000000"/>
                    </a:solidFill>
                    <a:latin typeface="inter"/>
                    <a:ea typeface="inter"/>
                    <a:cs typeface="inter"/>
                  </a:rPr>
                  <a:t>Transconductance</a:t>
                </a:r>
                <a:r>
                  <a:rPr lang="en-US" sz="1200" b="1" dirty="0">
                    <a:solidFill>
                      <a:srgbClr val="000000"/>
                    </a:solidFill>
                    <a:latin typeface="inter"/>
                    <a:ea typeface="inter"/>
                    <a:cs typeface="inter"/>
                  </a:rPr>
                  <a:t> efficiency</a:t>
                </a:r>
                <a:r>
                  <a:rPr lang="en-US" sz="1200" dirty="0">
                    <a:solidFill>
                      <a:srgbClr val="000000"/>
                    </a:solidFill>
                    <a:latin typeface="inter"/>
                    <a:ea typeface="inter"/>
                    <a:cs typeface="inter"/>
                  </a:rPr>
                  <a:t>: </a:t>
                </a:r>
                <a14:m>
                  <m:oMath xmlns:m="http://schemas.openxmlformats.org/officeDocument/2006/math">
                    <m:f>
                      <m:f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2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endParaRPr lang="en-US" sz="1200" b="1" dirty="0" smtClean="0">
                  <a:solidFill>
                    <a:srgbClr val="000000"/>
                  </a:solidFill>
                  <a:latin typeface="inter"/>
                  <a:ea typeface="inter"/>
                  <a:cs typeface="inter"/>
                </a:endParaRPr>
              </a:p>
              <a:p>
                <a:pPr marL="800100" lvl="1" indent="-342900" algn="just">
                  <a:lnSpc>
                    <a:spcPct val="150000"/>
                  </a:lnSpc>
                  <a:buFont typeface="Wingdings" panose="05000000000000000000" pitchFamily="2" charset="2"/>
                  <a:buChar char="q"/>
                  <a:tabLst>
                    <a:tab pos="571500" algn="l"/>
                  </a:tabLst>
                </a:pPr>
                <a:r>
                  <a:rPr lang="en-US" sz="1200" b="1" dirty="0" smtClean="0">
                    <a:solidFill>
                      <a:srgbClr val="000000"/>
                    </a:solidFill>
                    <a:latin typeface="inter"/>
                    <a:ea typeface="inter"/>
                    <a:cs typeface="inter"/>
                  </a:rPr>
                  <a:t>Transit </a:t>
                </a:r>
                <a:r>
                  <a:rPr lang="en-US" sz="1200" b="1" dirty="0">
                    <a:solidFill>
                      <a:srgbClr val="000000"/>
                    </a:solidFill>
                    <a:latin typeface="inter"/>
                    <a:ea typeface="inter"/>
                    <a:cs typeface="inter"/>
                  </a:rPr>
                  <a:t>frequency</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f</a:t>
                </a:r>
                <a:r>
                  <a:rPr lang="en-US" sz="1200" baseline="-25000" dirty="0" err="1">
                    <a:solidFill>
                      <a:srgbClr val="000000"/>
                    </a:solidFill>
                    <a:latin typeface="inter"/>
                    <a:ea typeface="inter"/>
                    <a:cs typeface="inter"/>
                  </a:rPr>
                  <a:t>t</a:t>
                </a:r>
                <a:r>
                  <a:rPr lang="en-US" sz="1200" dirty="0">
                    <a:solidFill>
                      <a:srgbClr val="000000"/>
                    </a:solidFill>
                    <a:latin typeface="inter"/>
                    <a:ea typeface="inter"/>
                    <a:cs typeface="inter"/>
                  </a:rPr>
                  <a:t> = g</a:t>
                </a:r>
                <a:r>
                  <a:rPr lang="en-US" sz="1200" baseline="-25000" dirty="0">
                    <a:solidFill>
                      <a:srgbClr val="000000"/>
                    </a:solidFill>
                    <a:latin typeface="inter"/>
                    <a:ea typeface="inter"/>
                    <a:cs typeface="inter"/>
                  </a:rPr>
                  <a:t>m</a:t>
                </a:r>
                <a:r>
                  <a:rPr lang="en-US" sz="1200" dirty="0">
                    <a:solidFill>
                      <a:srgbClr val="000000"/>
                    </a:solidFill>
                    <a:latin typeface="inter"/>
                    <a:ea typeface="inter"/>
                    <a:cs typeface="inter"/>
                  </a:rPr>
                  <a:t>/(2π</a:t>
                </a:r>
                <a:r>
                  <a:rPr lang="en-US" sz="1200" dirty="0" err="1">
                    <a:solidFill>
                      <a:srgbClr val="000000"/>
                    </a:solidFill>
                    <a:latin typeface="inter"/>
                    <a:ea typeface="inter"/>
                    <a:cs typeface="inter"/>
                  </a:rPr>
                  <a:t>C</a:t>
                </a:r>
                <a:r>
                  <a:rPr lang="en-US" sz="1200" baseline="-25000" dirty="0" err="1">
                    <a:solidFill>
                      <a:srgbClr val="000000"/>
                    </a:solidFill>
                    <a:latin typeface="inter"/>
                    <a:ea typeface="inter"/>
                    <a:cs typeface="inter"/>
                  </a:rPr>
                  <a:t>gg</a:t>
                </a:r>
                <a:r>
                  <a:rPr lang="en-US" sz="1200" dirty="0">
                    <a:solidFill>
                      <a:srgbClr val="000000"/>
                    </a:solidFill>
                    <a:latin typeface="inter"/>
                    <a:ea typeface="inter"/>
                    <a:cs typeface="inter"/>
                  </a:rPr>
                  <a:t>) stays constant (both numerator and denominator scale together)</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lgn="just">
                  <a:lnSpc>
                    <a:spcPct val="150000"/>
                  </a:lnSpc>
                  <a:buFont typeface="Wingdings" panose="05000000000000000000" pitchFamily="2" charset="2"/>
                  <a:buChar char="q"/>
                  <a:tabLst>
                    <a:tab pos="571500" algn="l"/>
                  </a:tabLst>
                </a:pPr>
                <a:r>
                  <a:rPr lang="en-US" sz="1200" b="1" dirty="0">
                    <a:solidFill>
                      <a:srgbClr val="000000"/>
                    </a:solidFill>
                    <a:latin typeface="inter"/>
                    <a:ea typeface="inter"/>
                    <a:cs typeface="inter"/>
                  </a:rPr>
                  <a:t>Intrinsic gain</a:t>
                </a:r>
                <a:r>
                  <a:rPr lang="en-US" sz="1200" dirty="0">
                    <a:solidFill>
                      <a:srgbClr val="000000"/>
                    </a:solidFill>
                    <a:latin typeface="inter"/>
                    <a:ea typeface="inter"/>
                    <a:cs typeface="inter"/>
                  </a:rPr>
                  <a:t>: </a:t>
                </a:r>
                <a:r>
                  <a:rPr lang="en-US" sz="1200" dirty="0" err="1">
                    <a:solidFill>
                      <a:srgbClr val="000000"/>
                    </a:solidFill>
                    <a:latin typeface="inter"/>
                    <a:ea typeface="inter"/>
                    <a:cs typeface="inter"/>
                  </a:rPr>
                  <a:t>g</a:t>
                </a:r>
                <a:r>
                  <a:rPr lang="en-US" sz="1200" baseline="-25000" dirty="0" err="1">
                    <a:solidFill>
                      <a:srgbClr val="000000"/>
                    </a:solidFill>
                    <a:latin typeface="inter"/>
                    <a:ea typeface="inter"/>
                    <a:cs typeface="inter"/>
                  </a:rPr>
                  <a:t>m</a:t>
                </a:r>
                <a:r>
                  <a:rPr lang="en-US" sz="1200" dirty="0" err="1">
                    <a:solidFill>
                      <a:srgbClr val="000000"/>
                    </a:solidFill>
                    <a:latin typeface="inter"/>
                    <a:ea typeface="inter"/>
                    <a:cs typeface="inter"/>
                  </a:rPr>
                  <a:t>·r</a:t>
                </a:r>
                <a:r>
                  <a:rPr lang="en-US" sz="1200" baseline="-25000" dirty="0" err="1">
                    <a:solidFill>
                      <a:srgbClr val="000000"/>
                    </a:solidFill>
                    <a:latin typeface="inter"/>
                    <a:ea typeface="inter"/>
                    <a:cs typeface="inter"/>
                  </a:rPr>
                  <a:t>o</a:t>
                </a:r>
                <a:r>
                  <a:rPr lang="en-US" sz="1200" dirty="0">
                    <a:solidFill>
                      <a:srgbClr val="000000"/>
                    </a:solidFill>
                    <a:latin typeface="inter"/>
                    <a:ea typeface="inter"/>
                    <a:cs typeface="inter"/>
                  </a:rPr>
                  <a:t> (if </a:t>
                </a:r>
                <a:r>
                  <a:rPr lang="en-US" sz="1200" dirty="0" err="1">
                    <a:solidFill>
                      <a:srgbClr val="000000"/>
                    </a:solidFill>
                    <a:latin typeface="inter"/>
                    <a:ea typeface="inter"/>
                    <a:cs typeface="inter"/>
                  </a:rPr>
                  <a:t>r</a:t>
                </a:r>
                <a:r>
                  <a:rPr lang="en-US" sz="1200" baseline="-25000" dirty="0" err="1">
                    <a:solidFill>
                      <a:srgbClr val="000000"/>
                    </a:solidFill>
                    <a:latin typeface="inter"/>
                    <a:ea typeface="inter"/>
                    <a:cs typeface="inter"/>
                  </a:rPr>
                  <a:t>o</a:t>
                </a:r>
                <a:r>
                  <a:rPr lang="en-US" sz="1200" dirty="0">
                    <a:solidFill>
                      <a:srgbClr val="000000"/>
                    </a:solidFill>
                    <a:latin typeface="inter"/>
                    <a:ea typeface="inter"/>
                    <a:cs typeface="inter"/>
                  </a:rPr>
                  <a:t> doesn't change with W, which is approximately true)</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algn="just"/>
                <a:endParaRPr lang="en-US" sz="14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190697" cy="3746282"/>
              </a:xfrm>
              <a:blipFill>
                <a:blip r:embed="rId2"/>
                <a:stretch>
                  <a:fillRect l="-143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973421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38200" y="1486103"/>
                <a:ext cx="5730875" cy="4965398"/>
              </a:xfrm>
            </p:spPr>
            <p:txBody>
              <a:bodyPr/>
              <a:lstStyle/>
              <a:p>
                <a:r>
                  <a:rPr lang="en-US" sz="1600" b="1" dirty="0" smtClean="0">
                    <a:solidFill>
                      <a:srgbClr val="000000"/>
                    </a:solidFill>
                    <a:latin typeface="inter"/>
                    <a:ea typeface="inter"/>
                    <a:cs typeface="inter"/>
                  </a:rPr>
                  <a:t>5.1 </a:t>
                </a:r>
                <a:r>
                  <a:rPr lang="en-US" sz="1600" b="1" dirty="0">
                    <a:solidFill>
                      <a:srgbClr val="000000"/>
                    </a:solidFill>
                    <a:latin typeface="inter"/>
                    <a:ea typeface="inter"/>
                    <a:cs typeface="inter"/>
                  </a:rPr>
                  <a:t>Analyzing </a:t>
                </a:r>
                <a:r>
                  <a:rPr lang="en-US" sz="1600" b="1" dirty="0" smtClean="0">
                    <a:solidFill>
                      <a:srgbClr val="000000"/>
                    </a:solidFill>
                    <a:latin typeface="inter"/>
                    <a:ea typeface="inter"/>
                    <a:cs typeface="inter"/>
                  </a:rPr>
                  <a:t>Figure</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Given Reference Device Specifications: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From the handwritten notes: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600" dirty="0">
                    <a:solidFill>
                      <a:srgbClr val="000000"/>
                    </a:solidFill>
                    <a:latin typeface="inter"/>
                    <a:ea typeface="inter"/>
                    <a:cs typeface="inter"/>
                  </a:rPr>
                  <a:t>Aspect ratio: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0.2 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285750" marR="0" lvl="0" indent="-285750">
                  <a:buFont typeface="Wingdings" panose="05000000000000000000" pitchFamily="2" charset="2"/>
                  <a:buChar char="q"/>
                  <a:tabLst>
                    <a:tab pos="571500" algn="l"/>
                  </a:tabLst>
                </a:pPr>
                <a:r>
                  <a:rPr lang="en-US" sz="1600" dirty="0">
                    <a:solidFill>
                      <a:srgbClr val="000000"/>
                    </a:solidFill>
                    <a:latin typeface="inter"/>
                    <a:ea typeface="inter"/>
                    <a:cs typeface="inter"/>
                  </a:rPr>
                  <a:t>Reference dimensions: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oMath>
                </a14:m>
                <a:r>
                  <a:rPr lang="en-US" sz="1600" b="1" dirty="0" smtClean="0">
                    <a:solidFill>
                      <a:srgbClr val="000000"/>
                    </a:solidFill>
                    <a:latin typeface="inter"/>
                    <a:ea typeface="inter"/>
                    <a:cs typeface="inter"/>
                  </a:rPr>
                  <a:t> </a:t>
                </a:r>
                <a:r>
                  <a:rPr lang="en-US" sz="1600" b="1" dirty="0">
                    <a:solidFill>
                      <a:srgbClr val="000000"/>
                    </a:solidFill>
                    <a:latin typeface="inter"/>
                    <a:ea typeface="inter"/>
                    <a:cs typeface="inter"/>
                  </a:rPr>
                  <a:t>= 2 </a:t>
                </a:r>
                <a:r>
                  <a:rPr lang="en-US" sz="1600" b="1" dirty="0" err="1">
                    <a:solidFill>
                      <a:srgbClr val="000000"/>
                    </a:solidFill>
                    <a:latin typeface="inter"/>
                    <a:ea typeface="inter"/>
                    <a:cs typeface="inter"/>
                  </a:rPr>
                  <a:t>μm</a:t>
                </a:r>
                <a:r>
                  <a:rPr lang="en-US" sz="1600" dirty="0">
                    <a:solidFill>
                      <a:srgbClr val="000000"/>
                    </a:solidFill>
                    <a:latin typeface="inter"/>
                    <a:ea typeface="inter"/>
                    <a:cs typeface="inter"/>
                  </a:rPr>
                  <a: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oMath>
                </a14:m>
                <a:r>
                  <a:rPr lang="en-US" sz="1600" b="1" dirty="0" smtClean="0">
                    <a:solidFill>
                      <a:srgbClr val="000000"/>
                    </a:solidFill>
                    <a:latin typeface="inter"/>
                    <a:ea typeface="inter"/>
                    <a:cs typeface="inter"/>
                  </a:rPr>
                  <a:t> </a:t>
                </a:r>
                <a:r>
                  <a:rPr lang="en-US" sz="1600" b="1" dirty="0">
                    <a:solidFill>
                      <a:srgbClr val="000000"/>
                    </a:solidFill>
                    <a:latin typeface="inter"/>
                    <a:ea typeface="inter"/>
                    <a:cs typeface="inter"/>
                  </a:rPr>
                  <a:t>= 0.2 </a:t>
                </a:r>
                <a:r>
                  <a:rPr lang="en-US" sz="1600" b="1" dirty="0" err="1">
                    <a:solidFill>
                      <a:srgbClr val="000000"/>
                    </a:solidFill>
                    <a:latin typeface="inter"/>
                    <a:ea typeface="inter"/>
                    <a:cs typeface="inter"/>
                  </a:rPr>
                  <a:t>μm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Reading from the Plots: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Looking at the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600" dirty="0">
                    <a:solidFill>
                      <a:srgbClr val="000000"/>
                    </a:solidFill>
                    <a:latin typeface="inter"/>
                    <a:ea typeface="inter"/>
                    <a:cs typeface="inter"/>
                  </a:rPr>
                  <a:t> vs VGS curve (middle plot):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Target operating point: </a:t>
                </a:r>
                <a14:m>
                  <m:oMath xmlns:m="http://schemas.openxmlformats.org/officeDocument/2006/math">
                    <m:f>
                      <m:f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num>
                      <m:den>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den>
                    </m:f>
                  </m:oMath>
                </a14:m>
                <a:r>
                  <a:rPr lang="en-US" sz="1600" b="1" dirty="0">
                    <a:solidFill>
                      <a:srgbClr val="000000"/>
                    </a:solidFill>
                    <a:latin typeface="inter"/>
                    <a:ea typeface="inter"/>
                    <a:cs typeface="inter"/>
                  </a:rPr>
                  <a:t> = 15 S/A</a:t>
                </a:r>
                <a:r>
                  <a:rPr lang="en-US" sz="1600" dirty="0">
                    <a:solidFill>
                      <a:srgbClr val="000000"/>
                    </a:solidFill>
                    <a:latin typeface="inter"/>
                    <a:ea typeface="inter"/>
                    <a:cs typeface="inter"/>
                  </a:rPr>
                  <a:t> (moderate inversion)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From the red curve (short channel): at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600" dirty="0">
                    <a:solidFill>
                      <a:srgbClr val="000000"/>
                    </a:solidFill>
                    <a:latin typeface="inter"/>
                    <a:ea typeface="inter"/>
                    <a:cs typeface="inter"/>
                  </a:rPr>
                  <a:t> = 15, we find:</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400" b="1" dirty="0">
                    <a:solidFill>
                      <a:srgbClr val="000000"/>
                    </a:solidFill>
                    <a:effectLst/>
                    <a:latin typeface="inter"/>
                    <a:ea typeface="inter"/>
                    <a:cs typeface="inter"/>
                  </a:rPr>
                  <a:t>V</a:t>
                </a:r>
                <a:r>
                  <a:rPr lang="en-US" sz="1400" b="1" baseline="-25000" dirty="0">
                    <a:solidFill>
                      <a:srgbClr val="000000"/>
                    </a:solidFill>
                    <a:effectLst/>
                    <a:latin typeface="inter"/>
                    <a:ea typeface="inter"/>
                    <a:cs typeface="inter"/>
                  </a:rPr>
                  <a:t>GS</a:t>
                </a:r>
                <a:r>
                  <a:rPr lang="en-US" sz="1400" b="1" dirty="0">
                    <a:solidFill>
                      <a:srgbClr val="000000"/>
                    </a:solidFill>
                    <a:effectLst/>
                    <a:latin typeface="inter"/>
                    <a:ea typeface="inter"/>
                    <a:cs typeface="inter"/>
                  </a:rPr>
                  <a:t> ≈ 0.6 V</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marL="742950" marR="0" lvl="1" indent="-285750">
                  <a:buFont typeface="Courier New" panose="02070309020205020404" pitchFamily="49" charset="0"/>
                  <a:buChar char="o"/>
                  <a:tabLst>
                    <a:tab pos="914400" algn="l"/>
                  </a:tabLst>
                </a:pPr>
                <a:r>
                  <a:rPr lang="en-US" sz="1400" b="1" dirty="0" err="1" smtClean="0">
                    <a:solidFill>
                      <a:srgbClr val="000000"/>
                    </a:solidFill>
                    <a:effectLst/>
                    <a:latin typeface="inter"/>
                    <a:ea typeface="inter"/>
                    <a:cs typeface="inter"/>
                  </a:rPr>
                  <a:t>I</a:t>
                </a:r>
                <a:r>
                  <a:rPr lang="en-US" sz="1400" b="1" baseline="-25000" dirty="0" err="1" smtClean="0">
                    <a:solidFill>
                      <a:srgbClr val="000000"/>
                    </a:solidFill>
                    <a:effectLst/>
                    <a:latin typeface="inter"/>
                    <a:ea typeface="inter"/>
                    <a:cs typeface="inter"/>
                  </a:rPr>
                  <a:t>Dref</a:t>
                </a:r>
                <a:r>
                  <a:rPr lang="en-US" sz="1400" b="1" dirty="0" smtClean="0">
                    <a:solidFill>
                      <a:srgbClr val="000000"/>
                    </a:solidFill>
                    <a:effectLst/>
                    <a:latin typeface="inter"/>
                    <a:ea typeface="inter"/>
                    <a:cs typeface="inter"/>
                  </a:rPr>
                  <a:t> </a:t>
                </a:r>
                <a:r>
                  <a:rPr lang="en-US" sz="1400" b="1" dirty="0">
                    <a:solidFill>
                      <a:srgbClr val="000000"/>
                    </a:solidFill>
                    <a:effectLst/>
                    <a:latin typeface="inter"/>
                    <a:ea typeface="inter"/>
                    <a:cs typeface="inter"/>
                  </a:rPr>
                  <a:t>≈ 0.4 </a:t>
                </a:r>
                <a:r>
                  <a:rPr lang="en-US" sz="1400" b="1" dirty="0" err="1">
                    <a:solidFill>
                      <a:srgbClr val="000000"/>
                    </a:solidFill>
                    <a:effectLst/>
                    <a:latin typeface="inter"/>
                    <a:ea typeface="inter"/>
                    <a:cs typeface="inter"/>
                  </a:rPr>
                  <a:t>μA</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Extracting Additional Information: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From ID vs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600" dirty="0">
                    <a:solidFill>
                      <a:srgbClr val="000000"/>
                    </a:solidFill>
                    <a:latin typeface="inter"/>
                    <a:ea typeface="inter"/>
                    <a:cs typeface="inter"/>
                  </a:rPr>
                  <a:t> plot (bottom):</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Confirms: at </a:t>
                </a:r>
                <a14:m>
                  <m:oMath xmlns:m="http://schemas.openxmlformats.org/officeDocument/2006/math">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600" dirty="0">
                    <a:solidFill>
                      <a:srgbClr val="000000"/>
                    </a:solidFill>
                    <a:latin typeface="inter"/>
                    <a:ea typeface="inter"/>
                    <a:cs typeface="inter"/>
                  </a:rPr>
                  <a:t> = 15, ID = 0.4 </a:t>
                </a:r>
                <a:r>
                  <a:rPr lang="en-US" sz="1600" dirty="0" err="1">
                    <a:solidFill>
                      <a:srgbClr val="000000"/>
                    </a:solidFill>
                    <a:latin typeface="inter"/>
                    <a:ea typeface="inter"/>
                    <a:cs typeface="inter"/>
                  </a:rPr>
                  <a:t>μA</a:t>
                </a:r>
                <a:r>
                  <a:rPr lang="en-US" sz="1600" dirty="0">
                    <a:solidFill>
                      <a:srgbClr val="000000"/>
                    </a:solidFill>
                    <a:latin typeface="inter"/>
                    <a:ea typeface="inter"/>
                    <a:cs typeface="inter"/>
                  </a:rPr>
                  <a:t> for our reference device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Computing </a:t>
                </a:r>
                <a:r>
                  <a:rPr lang="en-US" sz="1600" b="1" dirty="0" err="1">
                    <a:solidFill>
                      <a:srgbClr val="000000"/>
                    </a:solidFill>
                    <a:latin typeface="inter"/>
                    <a:ea typeface="inter"/>
                    <a:cs typeface="inter"/>
                  </a:rPr>
                  <a:t>Transconductance</a:t>
                </a:r>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=15×0.4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=6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38200" y="1486103"/>
                <a:ext cx="5730875" cy="4965398"/>
              </a:xfrm>
              <a:blipFill>
                <a:blip r:embed="rId2"/>
                <a:stretch>
                  <a:fillRect l="-2234" t="-135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descr="image"/>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7800" y="2095500"/>
            <a:ext cx="5664200" cy="2912427"/>
          </a:xfrm>
          <a:prstGeom prst="rect">
            <a:avLst/>
          </a:prstGeom>
          <a:noFill/>
          <a:ln>
            <a:noFill/>
          </a:ln>
        </p:spPr>
      </p:pic>
      <p:sp>
        <p:nvSpPr>
          <p:cNvPr id="8" name="Rectangle 7"/>
          <p:cNvSpPr/>
          <p:nvPr/>
        </p:nvSpPr>
        <p:spPr>
          <a:xfrm>
            <a:off x="3148742" y="1119773"/>
            <a:ext cx="5069016" cy="338554"/>
          </a:xfrm>
          <a:prstGeom prst="rect">
            <a:avLst/>
          </a:prstGeom>
        </p:spPr>
        <p:txBody>
          <a:bodyPr wrap="none">
            <a:spAutoFit/>
          </a:bodyPr>
          <a:lstStyle/>
          <a:p>
            <a:pPr lvl="0"/>
            <a:r>
              <a:rPr lang="en-US" sz="1600" b="1" kern="0" dirty="0">
                <a:solidFill>
                  <a:srgbClr val="000000"/>
                </a:solidFill>
                <a:latin typeface="inter"/>
                <a:ea typeface="inter"/>
                <a:cs typeface="inter"/>
              </a:rPr>
              <a:t>Part 5: Detailed Worked Example from the Figures</a:t>
            </a:r>
            <a:endParaRPr lang="en-US" sz="12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786659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95564" y="1155903"/>
                <a:ext cx="8707664" cy="5632952"/>
              </a:xfrm>
            </p:spPr>
            <p:txBody>
              <a:bodyPr/>
              <a:lstStyle/>
              <a:p>
                <a:r>
                  <a:rPr lang="en-US" sz="1600" b="1" dirty="0" smtClean="0">
                    <a:solidFill>
                      <a:srgbClr val="000000"/>
                    </a:solidFill>
                    <a:latin typeface="inter"/>
                    <a:ea typeface="inter"/>
                    <a:cs typeface="inter"/>
                  </a:rPr>
                  <a:t>5.2 The </a:t>
                </a:r>
                <a:r>
                  <a:rPr lang="en-US" sz="1600" b="1" dirty="0">
                    <a:solidFill>
                      <a:srgbClr val="000000"/>
                    </a:solidFill>
                    <a:latin typeface="inter"/>
                    <a:ea typeface="inter"/>
                    <a:cs typeface="inter"/>
                  </a:rPr>
                  <a:t>Design Problem</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New Design Specification: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The problem states we want: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err="1" smtClean="0">
                    <a:solidFill>
                      <a:srgbClr val="000000"/>
                    </a:solidFill>
                    <a:latin typeface="inter"/>
                    <a:ea typeface="inter"/>
                    <a:cs typeface="inter"/>
                  </a:rPr>
                  <a:t>I</a:t>
                </a:r>
                <a:r>
                  <a:rPr lang="en-US" sz="1400" b="1" baseline="-25000" dirty="0" err="1" smtClean="0">
                    <a:solidFill>
                      <a:srgbClr val="000000"/>
                    </a:solidFill>
                    <a:latin typeface="inter"/>
                    <a:ea typeface="inter"/>
                    <a:cs typeface="inter"/>
                  </a:rPr>
                  <a:t>Dnew</a:t>
                </a:r>
                <a:r>
                  <a:rPr lang="en-US" sz="1400" b="1" dirty="0" smtClean="0">
                    <a:solidFill>
                      <a:srgbClr val="000000"/>
                    </a:solidFill>
                    <a:latin typeface="inter"/>
                    <a:ea typeface="inter"/>
                    <a:cs typeface="inter"/>
                  </a:rPr>
                  <a:t> </a:t>
                </a:r>
                <a:r>
                  <a:rPr lang="en-US" sz="1400" b="1" dirty="0">
                    <a:solidFill>
                      <a:srgbClr val="000000"/>
                    </a:solidFill>
                    <a:latin typeface="inter"/>
                    <a:ea typeface="inter"/>
                    <a:cs typeface="inter"/>
                  </a:rPr>
                  <a:t>= 0.2 mA = 200 </a:t>
                </a:r>
                <a:r>
                  <a:rPr lang="en-US" sz="1400" b="1" dirty="0" err="1">
                    <a:solidFill>
                      <a:srgbClr val="000000"/>
                    </a:solidFill>
                    <a:latin typeface="inter"/>
                    <a:ea typeface="inter"/>
                    <a:cs typeface="inter"/>
                  </a:rPr>
                  <a:t>μA</a:t>
                </a:r>
                <a:r>
                  <a:rPr lang="en-US" sz="1400" dirty="0">
                    <a:solidFill>
                      <a:srgbClr val="000000"/>
                    </a:solidFill>
                    <a:latin typeface="inter"/>
                    <a:ea typeface="inter"/>
                    <a:cs typeface="inter"/>
                  </a:rPr>
                  <a:t> (much larger current!)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a:solidFill>
                      <a:srgbClr val="000000"/>
                    </a:solidFill>
                    <a:latin typeface="inter"/>
                    <a:ea typeface="inter"/>
                    <a:cs typeface="inter"/>
                  </a:rPr>
                  <a:t>Same </a:t>
                </a:r>
                <a14:m>
                  <m:oMath xmlns:m="http://schemas.openxmlformats.org/officeDocument/2006/math">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b="1" dirty="0">
                    <a:solidFill>
                      <a:srgbClr val="000000"/>
                    </a:solidFill>
                    <a:latin typeface="inter"/>
                    <a:ea typeface="inter"/>
                    <a:cs typeface="inter"/>
                  </a:rPr>
                  <a:t> = 15 S/A</a:t>
                </a:r>
                <a:r>
                  <a:rPr lang="en-US" sz="1400" dirty="0">
                    <a:solidFill>
                      <a:srgbClr val="000000"/>
                    </a:solidFill>
                    <a:latin typeface="inter"/>
                    <a:ea typeface="inter"/>
                    <a:cs typeface="inter"/>
                  </a:rPr>
                  <a:t> (maintain efficiency)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b="1" dirty="0">
                    <a:solidFill>
                      <a:srgbClr val="000000"/>
                    </a:solidFill>
                    <a:latin typeface="inter"/>
                    <a:ea typeface="inter"/>
                    <a:cs typeface="inter"/>
                  </a:rPr>
                  <a:t>Same L = 0.2 </a:t>
                </a:r>
                <a:r>
                  <a:rPr lang="en-US" sz="1400" b="1" dirty="0" err="1">
                    <a:solidFill>
                      <a:srgbClr val="000000"/>
                    </a:solidFill>
                    <a:latin typeface="inter"/>
                    <a:ea typeface="inter"/>
                    <a:cs typeface="inter"/>
                  </a:rPr>
                  <a:t>μm</a:t>
                </a:r>
                <a:r>
                  <a:rPr lang="en-US" sz="1400" dirty="0">
                    <a:solidFill>
                      <a:srgbClr val="000000"/>
                    </a:solidFill>
                    <a:latin typeface="inter"/>
                    <a:ea typeface="inter"/>
                    <a:cs typeface="inter"/>
                  </a:rPr>
                  <a:t> (use same technology/speed)</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b="1" dirty="0">
                    <a:solidFill>
                      <a:srgbClr val="000000"/>
                    </a:solidFill>
                    <a:latin typeface="inter"/>
                    <a:ea typeface="inter"/>
                    <a:cs typeface="inter"/>
                  </a:rPr>
                  <a:t>Step 1: Identify Known Values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From reference: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dirty="0" err="1" smtClean="0">
                    <a:solidFill>
                      <a:srgbClr val="000000"/>
                    </a:solidFill>
                    <a:latin typeface="inter"/>
                    <a:ea typeface="inter"/>
                    <a:cs typeface="inter"/>
                  </a:rPr>
                  <a:t>W</a:t>
                </a:r>
                <a:r>
                  <a:rPr lang="en-US" sz="1400" baseline="-25000" dirty="0" err="1" smtClean="0">
                    <a:solidFill>
                      <a:srgbClr val="000000"/>
                    </a:solidFill>
                    <a:latin typeface="inter"/>
                    <a:ea typeface="inter"/>
                    <a:cs typeface="inter"/>
                  </a:rPr>
                  <a:t>ref</a:t>
                </a:r>
                <a:r>
                  <a:rPr lang="en-US" sz="1400" dirty="0" smtClean="0">
                    <a:solidFill>
                      <a:srgbClr val="000000"/>
                    </a:solidFill>
                    <a:latin typeface="inter"/>
                    <a:ea typeface="inter"/>
                    <a:cs typeface="inter"/>
                  </a:rPr>
                  <a:t> </a:t>
                </a:r>
                <a:r>
                  <a:rPr lang="en-US" sz="1400" dirty="0">
                    <a:solidFill>
                      <a:srgbClr val="000000"/>
                    </a:solidFill>
                    <a:latin typeface="inter"/>
                    <a:ea typeface="inter"/>
                    <a:cs typeface="inter"/>
                  </a:rPr>
                  <a:t>= 2 </a:t>
                </a:r>
                <a:r>
                  <a:rPr lang="en-US" sz="1400" dirty="0" err="1">
                    <a:solidFill>
                      <a:srgbClr val="000000"/>
                    </a:solidFill>
                    <a:latin typeface="inter"/>
                    <a:ea typeface="inter"/>
                    <a:cs typeface="inter"/>
                  </a:rPr>
                  <a:t>μm</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dirty="0" err="1" smtClean="0">
                    <a:solidFill>
                      <a:srgbClr val="000000"/>
                    </a:solidFill>
                    <a:latin typeface="inter"/>
                    <a:ea typeface="inter"/>
                    <a:cs typeface="inter"/>
                  </a:rPr>
                  <a:t>I</a:t>
                </a:r>
                <a:r>
                  <a:rPr lang="en-US" sz="1400" baseline="-25000" dirty="0" err="1" smtClean="0">
                    <a:solidFill>
                      <a:srgbClr val="000000"/>
                    </a:solidFill>
                    <a:latin typeface="inter"/>
                    <a:ea typeface="inter"/>
                    <a:cs typeface="inter"/>
                  </a:rPr>
                  <a:t>D_ref</a:t>
                </a:r>
                <a:r>
                  <a:rPr lang="en-US" sz="1400" dirty="0" smtClean="0">
                    <a:solidFill>
                      <a:srgbClr val="000000"/>
                    </a:solidFill>
                    <a:latin typeface="inter"/>
                    <a:ea typeface="inter"/>
                    <a:cs typeface="inter"/>
                  </a:rPr>
                  <a:t> </a:t>
                </a:r>
                <a:r>
                  <a:rPr lang="en-US" sz="1400" dirty="0">
                    <a:solidFill>
                      <a:srgbClr val="000000"/>
                    </a:solidFill>
                    <a:latin typeface="inter"/>
                    <a:ea typeface="inter"/>
                    <a:cs typeface="inter"/>
                  </a:rPr>
                  <a:t>= 0.4 </a:t>
                </a:r>
                <a:r>
                  <a:rPr lang="en-US" sz="1400" dirty="0" err="1">
                    <a:solidFill>
                      <a:srgbClr val="000000"/>
                    </a:solidFill>
                    <a:latin typeface="inter"/>
                    <a:ea typeface="inter"/>
                    <a:cs typeface="inter"/>
                  </a:rPr>
                  <a:t>μA</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dirty="0">
                    <a:solidFill>
                      <a:srgbClr val="000000"/>
                    </a:solidFill>
                    <a:latin typeface="inter"/>
                    <a:ea typeface="inter"/>
                    <a:cs typeface="inter"/>
                  </a:rPr>
                  <a:t> = 15</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From specification: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dirty="0" err="1">
                    <a:solidFill>
                      <a:srgbClr val="000000"/>
                    </a:solidFill>
                    <a:latin typeface="inter"/>
                    <a:ea typeface="inter"/>
                    <a:cs typeface="inter"/>
                  </a:rPr>
                  <a:t>I</a:t>
                </a:r>
                <a:r>
                  <a:rPr lang="en-US" sz="1400" baseline="-25000" dirty="0" err="1">
                    <a:solidFill>
                      <a:srgbClr val="000000"/>
                    </a:solidFill>
                    <a:latin typeface="inter"/>
                    <a:ea typeface="inter"/>
                    <a:cs typeface="inter"/>
                  </a:rPr>
                  <a:t>D_new</a:t>
                </a:r>
                <a:r>
                  <a:rPr lang="en-US" sz="1400" dirty="0">
                    <a:solidFill>
                      <a:srgbClr val="000000"/>
                    </a:solidFill>
                    <a:latin typeface="inter"/>
                    <a:ea typeface="inter"/>
                    <a:cs typeface="inter"/>
                  </a:rPr>
                  <a:t> = 200 </a:t>
                </a:r>
                <a:r>
                  <a:rPr lang="en-US" sz="1400" dirty="0" err="1">
                    <a:solidFill>
                      <a:srgbClr val="000000"/>
                    </a:solidFill>
                    <a:latin typeface="inter"/>
                    <a:ea typeface="inter"/>
                    <a:cs typeface="inter"/>
                  </a:rPr>
                  <a:t>μA</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14:m>
                  <m:oMath xmlns:m="http://schemas.openxmlformats.org/officeDocument/2006/math">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400" dirty="0">
                    <a:solidFill>
                      <a:srgbClr val="000000"/>
                    </a:solidFill>
                    <a:latin typeface="inter"/>
                    <a:ea typeface="inter"/>
                    <a:cs typeface="inter"/>
                  </a:rPr>
                  <a:t> = 15 (same efficiency point)</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r>
                  <a:rPr lang="en-US" sz="1400" b="1" dirty="0">
                    <a:solidFill>
                      <a:srgbClr val="000000"/>
                    </a:solidFill>
                    <a:latin typeface="inter"/>
                    <a:ea typeface="inter"/>
                    <a:cs typeface="inter"/>
                  </a:rPr>
                  <a:t>Step 2: Apply Cross-Multiplication Formula</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400" b="1" dirty="0">
                    <a:solidFill>
                      <a:srgbClr val="000000"/>
                    </a:solidFill>
                    <a:latin typeface="inter"/>
                    <a:ea typeface="inter"/>
                    <a:cs typeface="inter"/>
                  </a:rPr>
                  <a:t>Step 3: Calculate Numerically</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200 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0.4 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×500</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borderBox>
                        <m:borderBoxPr>
                          <m:hideTop m:val="on"/>
                          <m:hideBot m:val="on"/>
                          <m:hideLeft m:val="on"/>
                          <m:hideRight m:val="on"/>
                          <m:ctrlPr>
                            <a:rPr lang="en-US" sz="1600" i="1">
                              <a:latin typeface="Cambria Math" panose="02040503050406030204" pitchFamily="18" charset="0"/>
                              <a:ea typeface="Calibri" panose="020F0502020204030204" pitchFamily="34" charset="0"/>
                              <a:cs typeface="Times New Roman" panose="02020603050405020304" pitchFamily="18" charset="0"/>
                            </a:rPr>
                          </m:ctrlPr>
                        </m:borderBoxPr>
                        <m:e>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=1000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𝑚𝑚</m:t>
                          </m:r>
                        </m:e>
                      </m:borderBox>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795564" y="1155903"/>
                <a:ext cx="8707664" cy="5632952"/>
              </a:xfrm>
              <a:blipFill>
                <a:blip r:embed="rId2"/>
                <a:stretch>
                  <a:fillRect l="-1471" t="-1190"/>
                </a:stretch>
              </a:blipFill>
            </p:spPr>
            <p:txBody>
              <a:bodyPr/>
              <a:lstStyle/>
              <a:p>
                <a:r>
                  <a:rPr lang="en-US">
                    <a:noFill/>
                  </a:rPr>
                  <a:t> </a:t>
                </a:r>
              </a:p>
            </p:txBody>
          </p:sp>
        </mc:Fallback>
      </mc:AlternateContent>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79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3"/>
          <a:stretch>
            <a:fillRect/>
          </a:stretch>
        </p:blipFill>
        <p:spPr>
          <a:xfrm>
            <a:off x="6095472" y="1378007"/>
            <a:ext cx="6096528" cy="2895851"/>
          </a:xfrm>
          <a:prstGeom prst="rect">
            <a:avLst/>
          </a:prstGeom>
        </p:spPr>
      </p:pic>
    </p:spTree>
    <p:extLst>
      <p:ext uri="{BB962C8B-B14F-4D97-AF65-F5344CB8AC3E}">
        <p14:creationId xmlns:p14="http://schemas.microsoft.com/office/powerpoint/2010/main" val="39002872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6658429" cy="4935903"/>
              </a:xfrm>
            </p:spPr>
            <p:txBody>
              <a:bodyPr/>
              <a:lstStyle/>
              <a:p>
                <a:pPr lvl="0"/>
                <a:r>
                  <a:rPr lang="en-US" sz="1400" b="1" dirty="0">
                    <a:solidFill>
                      <a:srgbClr val="000000"/>
                    </a:solidFill>
                    <a:latin typeface="inter"/>
                    <a:ea typeface="inter"/>
                    <a:cs typeface="inter"/>
                  </a:rPr>
                  <a:t>Step 4: Verify Other Parameters</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a:solidFill>
                      <a:srgbClr val="000000"/>
                    </a:solidFill>
                    <a:latin typeface="inter"/>
                    <a:ea typeface="inter"/>
                    <a:cs typeface="inter"/>
                  </a:rPr>
                  <a:t>Length remains the same:</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=0.2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a:solidFill>
                      <a:srgbClr val="000000"/>
                    </a:solidFill>
                    <a:latin typeface="inter"/>
                    <a:ea typeface="inter"/>
                    <a:cs typeface="inter"/>
                  </a:rPr>
                  <a:t>Gate voltage remains the same:</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=0.6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oMath>
                  </m:oMathPara>
                </a14:m>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err="1">
                    <a:solidFill>
                      <a:srgbClr val="000000"/>
                    </a:solidFill>
                    <a:latin typeface="inter"/>
                    <a:ea typeface="inter"/>
                    <a:cs typeface="inter"/>
                  </a:rPr>
                  <a:t>Transconductance</a:t>
                </a:r>
                <a:r>
                  <a:rPr lang="en-US" sz="1400" b="1" dirty="0">
                    <a:solidFill>
                      <a:srgbClr val="000000"/>
                    </a:solidFill>
                    <a:latin typeface="inter"/>
                    <a:ea typeface="inter"/>
                    <a:cs typeface="inter"/>
                  </a:rPr>
                  <a:t> scales linearly:</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=15×200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=3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𝑚𝑆</m:t>
                      </m:r>
                    </m:oMath>
                  </m:oMathPara>
                </a14:m>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a:solidFill>
                      <a:srgbClr val="000000"/>
                    </a:solidFill>
                    <a:latin typeface="inter"/>
                    <a:ea typeface="inter"/>
                    <a:cs typeface="inter"/>
                  </a:rPr>
                  <a:t>Verification ratio:</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3000 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num>
                        <m:den>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6 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den>
                      </m:f>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=500=</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a:solidFill>
                      <a:srgbClr val="000000"/>
                    </a:solidFill>
                    <a:latin typeface="inter"/>
                    <a:ea typeface="inter"/>
                    <a:cs typeface="inter"/>
                  </a:rPr>
                  <a:t>Step 5: Physical Implementation Considerations</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dirty="0">
                    <a:solidFill>
                      <a:srgbClr val="000000"/>
                    </a:solidFill>
                    <a:latin typeface="inter"/>
                    <a:ea typeface="inter"/>
                    <a:cs typeface="inter"/>
                  </a:rPr>
                  <a:t>A 1 mm wide device is quite large! Practical implementation strategies:</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a:solidFill>
                      <a:srgbClr val="000000"/>
                    </a:solidFill>
                    <a:latin typeface="inter"/>
                    <a:ea typeface="inter"/>
                    <a:cs typeface="inter"/>
                  </a:rPr>
                  <a:t>Option 1: Multi-finger Layout</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200" dirty="0">
                    <a:solidFill>
                      <a:srgbClr val="000000"/>
                    </a:solidFill>
                    <a:latin typeface="inter"/>
                    <a:ea typeface="inter"/>
                    <a:cs typeface="inter"/>
                  </a:rPr>
                  <a:t>Break into N fingers: </a:t>
                </a:r>
                <a:r>
                  <a:rPr lang="en-US" sz="1200" dirty="0" err="1">
                    <a:solidFill>
                      <a:srgbClr val="000000"/>
                    </a:solidFill>
                    <a:latin typeface="inter"/>
                    <a:ea typeface="inter"/>
                    <a:cs typeface="inter"/>
                  </a:rPr>
                  <a:t>W_finger</a:t>
                </a:r>
                <a:r>
                  <a:rPr lang="en-US" sz="1200" dirty="0">
                    <a:solidFill>
                      <a:srgbClr val="000000"/>
                    </a:solidFill>
                    <a:latin typeface="inter"/>
                    <a:ea typeface="inter"/>
                    <a:cs typeface="inter"/>
                  </a:rPr>
                  <a:t> = </a:t>
                </a:r>
                <a:r>
                  <a:rPr lang="en-US" sz="1200" dirty="0" err="1">
                    <a:solidFill>
                      <a:srgbClr val="000000"/>
                    </a:solidFill>
                    <a:latin typeface="inter"/>
                    <a:ea typeface="inter"/>
                    <a:cs typeface="inter"/>
                  </a:rPr>
                  <a:t>W_new</a:t>
                </a:r>
                <a:r>
                  <a:rPr lang="en-US" sz="1200" dirty="0">
                    <a:solidFill>
                      <a:srgbClr val="000000"/>
                    </a:solidFill>
                    <a:latin typeface="inter"/>
                    <a:ea typeface="inter"/>
                    <a:cs typeface="inter"/>
                  </a:rPr>
                  <a:t>/N</a:t>
                </a:r>
                <a:endParaRPr lang="en-US" sz="12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200" dirty="0">
                    <a:solidFill>
                      <a:srgbClr val="000000"/>
                    </a:solidFill>
                    <a:latin typeface="inter"/>
                    <a:ea typeface="inter"/>
                    <a:cs typeface="inter"/>
                  </a:rPr>
                  <a:t>Example: 20 fingers × 50 </a:t>
                </a:r>
                <a:r>
                  <a:rPr lang="en-US" sz="1200" dirty="0" err="1">
                    <a:solidFill>
                      <a:srgbClr val="000000"/>
                    </a:solidFill>
                    <a:latin typeface="inter"/>
                    <a:ea typeface="inter"/>
                    <a:cs typeface="inter"/>
                  </a:rPr>
                  <a:t>μm</a:t>
                </a:r>
                <a:r>
                  <a:rPr lang="en-US" sz="1200" dirty="0">
                    <a:solidFill>
                      <a:srgbClr val="000000"/>
                    </a:solidFill>
                    <a:latin typeface="inter"/>
                    <a:ea typeface="inter"/>
                    <a:cs typeface="inter"/>
                  </a:rPr>
                  <a:t> each</a:t>
                </a:r>
                <a:endParaRPr lang="en-US" sz="12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200" dirty="0">
                    <a:solidFill>
                      <a:srgbClr val="000000"/>
                    </a:solidFill>
                    <a:latin typeface="inter"/>
                    <a:ea typeface="inter"/>
                    <a:cs typeface="inter"/>
                  </a:rPr>
                  <a:t>Benefits: Better matching, lower gate resistance</a:t>
                </a:r>
                <a:endParaRPr lang="en-US" sz="12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a:solidFill>
                      <a:srgbClr val="000000"/>
                    </a:solidFill>
                    <a:latin typeface="inter"/>
                    <a:ea typeface="inter"/>
                    <a:cs typeface="inter"/>
                  </a:rPr>
                  <a:t>Option 2: Multiple Devices in Parallel</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200" dirty="0">
                    <a:solidFill>
                      <a:srgbClr val="000000"/>
                    </a:solidFill>
                    <a:latin typeface="inter"/>
                    <a:ea typeface="inter"/>
                    <a:cs typeface="inter"/>
                  </a:rPr>
                  <a:t>Use M devices: </a:t>
                </a:r>
                <a:r>
                  <a:rPr lang="en-US" sz="1200" dirty="0" err="1">
                    <a:solidFill>
                      <a:srgbClr val="000000"/>
                    </a:solidFill>
                    <a:latin typeface="inter"/>
                    <a:ea typeface="inter"/>
                    <a:cs typeface="inter"/>
                  </a:rPr>
                  <a:t>W_each</a:t>
                </a:r>
                <a:r>
                  <a:rPr lang="en-US" sz="1200" dirty="0">
                    <a:solidFill>
                      <a:srgbClr val="000000"/>
                    </a:solidFill>
                    <a:latin typeface="inter"/>
                    <a:ea typeface="inter"/>
                    <a:cs typeface="inter"/>
                  </a:rPr>
                  <a:t> = </a:t>
                </a:r>
                <a:r>
                  <a:rPr lang="en-US" sz="1200" dirty="0" err="1">
                    <a:solidFill>
                      <a:srgbClr val="000000"/>
                    </a:solidFill>
                    <a:latin typeface="inter"/>
                    <a:ea typeface="inter"/>
                    <a:cs typeface="inter"/>
                  </a:rPr>
                  <a:t>W_new</a:t>
                </a:r>
                <a:r>
                  <a:rPr lang="en-US" sz="1200" dirty="0">
                    <a:solidFill>
                      <a:srgbClr val="000000"/>
                    </a:solidFill>
                    <a:latin typeface="inter"/>
                    <a:ea typeface="inter"/>
                    <a:cs typeface="inter"/>
                  </a:rPr>
                  <a:t>/M</a:t>
                </a:r>
                <a:endParaRPr lang="en-US" sz="12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200" dirty="0">
                    <a:solidFill>
                      <a:srgbClr val="000000"/>
                    </a:solidFill>
                    <a:latin typeface="inter"/>
                    <a:ea typeface="inter"/>
                    <a:cs typeface="inter"/>
                  </a:rPr>
                  <a:t>Example: 10 devices × 100 </a:t>
                </a:r>
                <a:r>
                  <a:rPr lang="en-US" sz="1200" dirty="0" err="1">
                    <a:solidFill>
                      <a:srgbClr val="000000"/>
                    </a:solidFill>
                    <a:latin typeface="inter"/>
                    <a:ea typeface="inter"/>
                    <a:cs typeface="inter"/>
                  </a:rPr>
                  <a:t>μm</a:t>
                </a:r>
                <a:r>
                  <a:rPr lang="en-US" sz="1200" dirty="0">
                    <a:solidFill>
                      <a:srgbClr val="000000"/>
                    </a:solidFill>
                    <a:latin typeface="inter"/>
                    <a:ea typeface="inter"/>
                    <a:cs typeface="inter"/>
                  </a:rPr>
                  <a:t> each</a:t>
                </a:r>
                <a:endParaRPr lang="en-US" sz="12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200" dirty="0">
                    <a:solidFill>
                      <a:srgbClr val="000000"/>
                    </a:solidFill>
                    <a:latin typeface="inter"/>
                    <a:ea typeface="inter"/>
                    <a:cs typeface="inter"/>
                  </a:rPr>
                  <a:t>Benefits: Modularity, easier layout</a:t>
                </a:r>
                <a:endParaRPr lang="en-US" sz="12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endParaRPr lang="en-US" sz="1400" dirty="0">
                  <a:solidFill>
                    <a:prstClr val="black"/>
                  </a:solidFill>
                </a:endParaRPr>
              </a:p>
              <a:p>
                <a:endParaRPr lang="en-US" sz="18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6658429" cy="4935903"/>
              </a:xfrm>
              <a:blipFill>
                <a:blip r:embed="rId2"/>
                <a:stretch>
                  <a:fillRect l="-1648" t="-123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7" name="Rectangle 6"/>
              <p:cNvSpPr/>
              <p:nvPr/>
            </p:nvSpPr>
            <p:spPr>
              <a:xfrm>
                <a:off x="7162800" y="1259360"/>
                <a:ext cx="6096000" cy="2322239"/>
              </a:xfrm>
              <a:prstGeom prst="rect">
                <a:avLst/>
              </a:prstGeom>
            </p:spPr>
            <p:txBody>
              <a:bodyPr>
                <a:spAutoFit/>
              </a:bodyPr>
              <a:lstStyle/>
              <a:p>
                <a:pPr lvl="0"/>
                <a:r>
                  <a:rPr lang="en-US" sz="1400" b="1" kern="0" dirty="0">
                    <a:solidFill>
                      <a:srgbClr val="000000"/>
                    </a:solidFill>
                    <a:latin typeface="inter"/>
                    <a:ea typeface="inter"/>
                    <a:cs typeface="inter"/>
                  </a:rPr>
                  <a:t>Checking Layout Sanity:</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Gate resistance:</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den>
                      </m:f>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𝑠h𝑒𝑒𝑡</m:t>
                          </m:r>
                        </m:sub>
                      </m:sSub>
                      <m:f>
                        <m:f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p>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num>
                        <m:den>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f>
                        <m:f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𝑁</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𝑓𝑖𝑛𝑔𝑒𝑟𝑠</m:t>
                              </m:r>
                            </m:sub>
                          </m:sSub>
                        </m:den>
                      </m:f>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For 1 mm device as single finger:</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den>
                      </m:f>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m:rPr>
                          <m:sty m:val="p"/>
                        </m:rP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𝑠𝑞</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(1000 </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Sup>
                            <m:sSup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num>
                        <m:den>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0.2 </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den>
                      </m:f>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=8.3 </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m:rPr>
                          <m:sty m:val="p"/>
                        </m:rP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kern="0" dirty="0">
                    <a:solidFill>
                      <a:srgbClr val="000000"/>
                    </a:solidFill>
                    <a:latin typeface="inter"/>
                    <a:ea typeface="inter"/>
                    <a:cs typeface="inter"/>
                  </a:rPr>
                  <a:t>With 20 fingers:</a:t>
                </a:r>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𝑅</m:t>
                          </m:r>
                        </m:e>
                        <m:sub>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𝐺</m:t>
                          </m:r>
                        </m:sub>
                      </m:sSub>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8.3 </m:t>
                          </m:r>
                          <m:r>
                            <a:rPr lang="en-US" sz="14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m:rPr>
                              <m:sty m:val="p"/>
                            </m:rP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num>
                        <m:den>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20</m:t>
                          </m:r>
                        </m:den>
                      </m:f>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=415 </m:t>
                      </m:r>
                      <m:r>
                        <m:rPr>
                          <m:sty m:val="p"/>
                        </m:rP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Ω</m:t>
                      </m:r>
                      <m:r>
                        <a:rPr lang="en-US" sz="14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 </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much</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better</m:t>
                      </m:r>
                      <m:r>
                        <m:rPr>
                          <m:nor/>
                        </m:rPr>
                        <a:rPr lang="en-US" sz="1400" kern="0">
                          <a:solidFill>
                            <a:srgbClr val="000000"/>
                          </a:solidFill>
                          <a:latin typeface="Georgia" panose="02040502050405020303" pitchFamily="18" charset="0"/>
                          <a:ea typeface="Calibri" panose="020F0502020204030204" pitchFamily="34" charset="0"/>
                          <a:cs typeface="Times New Roman" panose="02020603050405020304" pitchFamily="18" charset="0"/>
                        </a:rPr>
                        <m:t>!)</m:t>
                      </m:r>
                    </m:oMath>
                  </m:oMathPara>
                </a14:m>
                <a:endParaRPr lang="en-US" sz="1400"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7162800" y="1259360"/>
                <a:ext cx="6096000" cy="2322239"/>
              </a:xfrm>
              <a:prstGeom prst="rect">
                <a:avLst/>
              </a:prstGeom>
              <a:blipFill>
                <a:blip r:embed="rId3"/>
                <a:stretch>
                  <a:fillRect l="-300" t="-525"/>
                </a:stretch>
              </a:blipFill>
            </p:spPr>
            <p:txBody>
              <a:bodyPr/>
              <a:lstStyle/>
              <a:p>
                <a:r>
                  <a:rPr lang="en-US">
                    <a:noFill/>
                  </a:rPr>
                  <a:t> </a:t>
                </a:r>
              </a:p>
            </p:txBody>
          </p:sp>
        </mc:Fallback>
      </mc:AlternateContent>
    </p:spTree>
    <p:extLst>
      <p:ext uri="{BB962C8B-B14F-4D97-AF65-F5344CB8AC3E}">
        <p14:creationId xmlns:p14="http://schemas.microsoft.com/office/powerpoint/2010/main" val="216897218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3299884" y="1293486"/>
            <a:ext cx="5730875" cy="307777"/>
          </a:xfrm>
        </p:spPr>
        <p:txBody>
          <a:bodyPr/>
          <a:lstStyle/>
          <a:p>
            <a:pPr algn="ctr"/>
            <a:r>
              <a:rPr lang="en-US" b="1">
                <a:solidFill>
                  <a:srgbClr val="C00000"/>
                </a:solidFill>
                <a:latin typeface="inter"/>
                <a:ea typeface="inter"/>
                <a:cs typeface="inter"/>
              </a:rPr>
              <a:t>Complete Design Summary Table</a:t>
            </a:r>
            <a:endParaRPr lang="en-US">
              <a:solidFill>
                <a:srgbClr val="C00000"/>
              </a:solidFill>
            </a:endParaRPr>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graphicFrame>
        <p:nvGraphicFramePr>
          <p:cNvPr id="8" name="Table 7"/>
          <p:cNvGraphicFramePr>
            <a:graphicFrameLocks noGrp="1"/>
          </p:cNvGraphicFramePr>
          <p:nvPr>
            <p:extLst>
              <p:ext uri="{D42A27DB-BD31-4B8C-83A1-F6EECF244321}">
                <p14:modId xmlns:p14="http://schemas.microsoft.com/office/powerpoint/2010/main" val="3912509562"/>
              </p:ext>
            </p:extLst>
          </p:nvPr>
        </p:nvGraphicFramePr>
        <p:xfrm>
          <a:off x="2300206" y="2166905"/>
          <a:ext cx="7411060" cy="3100432"/>
        </p:xfrm>
        <a:graphic>
          <a:graphicData uri="http://schemas.openxmlformats.org/drawingml/2006/table">
            <a:tbl>
              <a:tblPr firstRow="1" firstCol="1" bandRow="1"/>
              <a:tblGrid>
                <a:gridCol w="1852765">
                  <a:extLst>
                    <a:ext uri="{9D8B030D-6E8A-4147-A177-3AD203B41FA5}">
                      <a16:colId xmlns:a16="http://schemas.microsoft.com/office/drawing/2014/main" val="2805007120"/>
                    </a:ext>
                  </a:extLst>
                </a:gridCol>
                <a:gridCol w="1852765">
                  <a:extLst>
                    <a:ext uri="{9D8B030D-6E8A-4147-A177-3AD203B41FA5}">
                      <a16:colId xmlns:a16="http://schemas.microsoft.com/office/drawing/2014/main" val="144468817"/>
                    </a:ext>
                  </a:extLst>
                </a:gridCol>
                <a:gridCol w="1852765">
                  <a:extLst>
                    <a:ext uri="{9D8B030D-6E8A-4147-A177-3AD203B41FA5}">
                      <a16:colId xmlns:a16="http://schemas.microsoft.com/office/drawing/2014/main" val="4175032591"/>
                    </a:ext>
                  </a:extLst>
                </a:gridCol>
                <a:gridCol w="1852765">
                  <a:extLst>
                    <a:ext uri="{9D8B030D-6E8A-4147-A177-3AD203B41FA5}">
                      <a16:colId xmlns:a16="http://schemas.microsoft.com/office/drawing/2014/main" val="2189479496"/>
                    </a:ext>
                  </a:extLst>
                </a:gridCol>
              </a:tblGrid>
              <a:tr h="193675">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Parameter</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Reference Device</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New Device</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Scaling Factor</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82793301"/>
                  </a:ext>
                </a:extLst>
              </a:tr>
              <a:tr h="193675">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Width (W)</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2 μm</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1000 μm</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500×</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87226259"/>
                  </a:ext>
                </a:extLst>
              </a:tr>
              <a:tr h="193675">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Length (L)</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0.2 μm</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0.2 μm</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1×</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87133838"/>
                  </a:ext>
                </a:extLst>
              </a:tr>
              <a:tr h="193675">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Drain Current (ID)</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0.4 μA</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200 μA</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500×</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78352295"/>
                  </a:ext>
                </a:extLst>
              </a:tr>
              <a:tr h="193675">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Gate Voltage (VGS)</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0.6 V</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0.6 V</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1×</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9944157"/>
                  </a:ext>
                </a:extLst>
              </a:tr>
              <a:tr h="193675">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gm/ID</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15 S/A</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dirty="0">
                          <a:solidFill>
                            <a:srgbClr val="000000"/>
                          </a:solidFill>
                          <a:effectLst/>
                          <a:latin typeface="inter"/>
                          <a:ea typeface="inter"/>
                          <a:cs typeface="inter"/>
                        </a:rPr>
                        <a:t>15 S/A</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1×</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3710840"/>
                  </a:ext>
                </a:extLst>
              </a:tr>
              <a:tr h="193675">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Transconductance (gm)</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6 μS</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3 mS</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500×</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103910975"/>
                  </a:ext>
                </a:extLst>
              </a:tr>
              <a:tr h="193675">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Inversion Region</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Moderate</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a:solidFill>
                            <a:srgbClr val="000000"/>
                          </a:solidFill>
                          <a:effectLst/>
                          <a:latin typeface="inter"/>
                          <a:ea typeface="inter"/>
                          <a:cs typeface="inter"/>
                        </a:rPr>
                        <a:t>Moderate</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nSpc>
                          <a:spcPct val="150000"/>
                        </a:lnSpc>
                        <a:spcBef>
                          <a:spcPts val="0"/>
                        </a:spcBef>
                        <a:spcAft>
                          <a:spcPts val="0"/>
                        </a:spcAft>
                      </a:pPr>
                      <a:r>
                        <a:rPr lang="en-US" sz="1400" dirty="0">
                          <a:solidFill>
                            <a:srgbClr val="000000"/>
                          </a:solidFill>
                          <a:effectLst/>
                          <a:latin typeface="inter"/>
                          <a:ea typeface="inter"/>
                          <a:cs typeface="inter"/>
                        </a:rPr>
                        <a:t>—</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6498" marR="66498" marT="33249" marB="3324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4757396"/>
                  </a:ext>
                </a:extLst>
              </a:tr>
            </a:tbl>
          </a:graphicData>
        </a:graphic>
      </p:graphicFrame>
    </p:spTree>
    <p:extLst>
      <p:ext uri="{BB962C8B-B14F-4D97-AF65-F5344CB8AC3E}">
        <p14:creationId xmlns:p14="http://schemas.microsoft.com/office/powerpoint/2010/main" val="62906324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38414" y="1564117"/>
                <a:ext cx="11347450" cy="4490012"/>
              </a:xfrm>
            </p:spPr>
            <p:txBody>
              <a:bodyPr/>
              <a:lstStyle/>
              <a:p>
                <a:r>
                  <a:rPr lang="en-US" sz="1800" b="1" dirty="0" smtClean="0">
                    <a:solidFill>
                      <a:srgbClr val="000000"/>
                    </a:solidFill>
                    <a:latin typeface="inter"/>
                    <a:ea typeface="inter"/>
                    <a:cs typeface="inter"/>
                  </a:rPr>
                  <a:t>6.1 </a:t>
                </a:r>
                <a:r>
                  <a:rPr lang="en-US" sz="1800" b="1" dirty="0">
                    <a:solidFill>
                      <a:srgbClr val="000000"/>
                    </a:solidFill>
                    <a:latin typeface="inter"/>
                    <a:ea typeface="inter"/>
                    <a:cs typeface="inter"/>
                  </a:rPr>
                  <a:t>Starting from Circuit Specifications</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Example: Design an input differential pair for an op-amp</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Given Circuit Requirements:</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Input-referred noise: &lt; 100 </a:t>
                </a:r>
                <a:r>
                  <a:rPr lang="en-US" sz="1600" dirty="0" err="1">
                    <a:solidFill>
                      <a:srgbClr val="000000"/>
                    </a:solidFill>
                    <a:latin typeface="inter"/>
                    <a:ea typeface="inter"/>
                    <a:cs typeface="inter"/>
                  </a:rPr>
                  <a:t>nV</a:t>
                </a:r>
                <a:r>
                  <a:rPr lang="en-US" sz="1600" dirty="0">
                    <a:solidFill>
                      <a:srgbClr val="000000"/>
                    </a:solidFill>
                    <a:latin typeface="inter"/>
                    <a:ea typeface="inter"/>
                    <a:cs typeface="inter"/>
                  </a:rPr>
                  <a:t>/√Hz at 1 kHz</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Bandwidth: GBW = 10 MHz</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Load capacitance: C</a:t>
                </a:r>
                <a:r>
                  <a:rPr lang="en-US" sz="1600" baseline="-25000" dirty="0">
                    <a:solidFill>
                      <a:srgbClr val="000000"/>
                    </a:solidFill>
                    <a:latin typeface="inter"/>
                    <a:ea typeface="inter"/>
                    <a:cs typeface="inter"/>
                  </a:rPr>
                  <a:t>L</a:t>
                </a:r>
                <a:r>
                  <a:rPr lang="en-US" sz="1600" dirty="0">
                    <a:solidFill>
                      <a:srgbClr val="000000"/>
                    </a:solidFill>
                    <a:latin typeface="inter"/>
                    <a:ea typeface="inter"/>
                    <a:cs typeface="inter"/>
                  </a:rPr>
                  <a:t> = 5 pF</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Power budget: </a:t>
                </a:r>
                <a:r>
                  <a:rPr lang="en-US" sz="1600" dirty="0" err="1">
                    <a:solidFill>
                      <a:srgbClr val="000000"/>
                    </a:solidFill>
                    <a:latin typeface="inter"/>
                    <a:ea typeface="inter"/>
                    <a:cs typeface="inter"/>
                  </a:rPr>
                  <a:t>I</a:t>
                </a:r>
                <a:r>
                  <a:rPr lang="en-US" sz="1600" baseline="-25000" dirty="0" err="1">
                    <a:solidFill>
                      <a:srgbClr val="000000"/>
                    </a:solidFill>
                    <a:latin typeface="inter"/>
                    <a:ea typeface="inter"/>
                    <a:cs typeface="inter"/>
                  </a:rPr>
                  <a:t>D,total</a:t>
                </a:r>
                <a:r>
                  <a:rPr lang="en-US" sz="1600" dirty="0">
                    <a:solidFill>
                      <a:srgbClr val="000000"/>
                    </a:solidFill>
                    <a:latin typeface="inter"/>
                    <a:ea typeface="inter"/>
                    <a:cs typeface="inter"/>
                  </a:rPr>
                  <a:t> &lt; 100 </a:t>
                </a:r>
                <a:r>
                  <a:rPr lang="en-US" sz="1600" dirty="0" err="1">
                    <a:solidFill>
                      <a:srgbClr val="000000"/>
                    </a:solidFill>
                    <a:latin typeface="inter"/>
                    <a:ea typeface="inter"/>
                    <a:cs typeface="inter"/>
                  </a:rPr>
                  <a:t>μA</a:t>
                </a:r>
                <a:r>
                  <a:rPr lang="en-US" sz="1600" dirty="0">
                    <a:solidFill>
                      <a:srgbClr val="000000"/>
                    </a:solidFill>
                    <a:latin typeface="inter"/>
                    <a:ea typeface="inter"/>
                    <a:cs typeface="inter"/>
                  </a:rPr>
                  <a:t> per side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Technology: 180 nm </a:t>
                </a:r>
                <a:r>
                  <a:rPr lang="en-US" sz="1600" dirty="0" smtClean="0">
                    <a:solidFill>
                      <a:srgbClr val="000000"/>
                    </a:solidFill>
                    <a:latin typeface="inter"/>
                    <a:ea typeface="inter"/>
                    <a:cs typeface="inter"/>
                  </a:rPr>
                  <a:t>CMOS</a:t>
                </a:r>
              </a:p>
              <a:p>
                <a:pPr marL="800100" lvl="1" indent="-342900">
                  <a:buFont typeface="Wingdings" panose="05000000000000000000" pitchFamily="2" charset="2"/>
                  <a:buChar char="q"/>
                  <a:tabLst>
                    <a:tab pos="571500" algn="l"/>
                  </a:tabLst>
                </a:pP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800" b="1" dirty="0">
                    <a:solidFill>
                      <a:srgbClr val="000000"/>
                    </a:solidFill>
                    <a:latin typeface="inter"/>
                    <a:ea typeface="inter"/>
                    <a:cs typeface="inter"/>
                  </a:rPr>
                  <a:t>Step 1: Determine Required </a:t>
                </a:r>
                <a:r>
                  <a:rPr lang="en-US" sz="1800" b="1" dirty="0" err="1">
                    <a:solidFill>
                      <a:srgbClr val="000000"/>
                    </a:solidFill>
                    <a:latin typeface="inter"/>
                    <a:ea typeface="inter"/>
                    <a:cs typeface="inter"/>
                  </a:rPr>
                  <a:t>Transconductance</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From bandwidth requirement: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GBW</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den>
                      </m:f>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r>
                  <a:rPr lang="en-US" sz="1800" dirty="0">
                    <a:solidFill>
                      <a:srgbClr val="000000"/>
                    </a:solidFill>
                    <a:latin typeface="inter"/>
                    <a:ea typeface="inter"/>
                    <a:cs typeface="inter"/>
                  </a:rPr>
                  <a:t>Solving for </a:t>
                </a:r>
                <a14:m>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n-US" sz="1800" dirty="0">
                    <a:solidFill>
                      <a:srgbClr val="000000"/>
                    </a:solidFill>
                    <a:latin typeface="inter"/>
                    <a:ea typeface="inter"/>
                    <a:cs typeface="inter"/>
                  </a:rPr>
                  <a:t>:</a:t>
                </a:r>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sz="1800">
                          <a:solidFill>
                            <a:srgbClr val="000000"/>
                          </a:solidFill>
                          <a:latin typeface="Georgia" panose="02040502050405020303" pitchFamily="18" charset="0"/>
                          <a:ea typeface="Calibri" panose="020F0502020204030204" pitchFamily="34" charset="0"/>
                          <a:cs typeface="Times New Roman" panose="02020603050405020304" pitchFamily="18" charset="0"/>
                        </a:rPr>
                        <m:t>GBW</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sub>
                      </m:sSub>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6</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×5×</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12</m:t>
                          </m:r>
                        </m:sup>
                      </m:sSup>
                    </m:oMath>
                  </m:oMathPara>
                </a14:m>
                <a:endParaRPr lang="en-US" sz="18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=314 </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≈300 </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oMath>
                  </m:oMathPara>
                </a14:m>
                <a:endParaRPr lang="en-US" sz="18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738414" y="1564117"/>
                <a:ext cx="11347450" cy="4490012"/>
              </a:xfrm>
              <a:blipFill>
                <a:blip r:embed="rId2"/>
                <a:stretch>
                  <a:fillRect l="-1235" t="-1766" b="-1223"/>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3108112" y="1211427"/>
            <a:ext cx="4865434" cy="369332"/>
          </a:xfrm>
          <a:prstGeom prst="rect">
            <a:avLst/>
          </a:prstGeom>
        </p:spPr>
        <p:txBody>
          <a:bodyPr wrap="none">
            <a:spAutoFit/>
          </a:bodyPr>
          <a:lstStyle/>
          <a:p>
            <a:r>
              <a:rPr lang="en-US" b="1" dirty="0">
                <a:solidFill>
                  <a:srgbClr val="000000"/>
                </a:solidFill>
                <a:latin typeface="inter"/>
                <a:ea typeface="inter"/>
                <a:cs typeface="inter"/>
              </a:rPr>
              <a:t>Part 6: Complete Design Flow for Students</a:t>
            </a:r>
            <a:endParaRPr lang="en-US" sz="1400" dirty="0">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7651106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663424" y="1021042"/>
                <a:ext cx="5730875" cy="5203732"/>
              </a:xfrm>
            </p:spPr>
            <p:txBody>
              <a:bodyPr/>
              <a:lstStyle/>
              <a:p>
                <a:pPr lvl="0"/>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800" b="1" dirty="0">
                    <a:solidFill>
                      <a:srgbClr val="000000"/>
                    </a:solidFill>
                    <a:latin typeface="inter"/>
                    <a:ea typeface="inter"/>
                    <a:cs typeface="inter"/>
                  </a:rPr>
                  <a:t>Step 2: Check Noise Requirement</a:t>
                </a:r>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800" dirty="0">
                    <a:solidFill>
                      <a:srgbClr val="000000"/>
                    </a:solidFill>
                    <a:latin typeface="inter"/>
                    <a:ea typeface="inter"/>
                    <a:cs typeface="inter"/>
                  </a:rPr>
                  <a:t>Input-referred noise (thermal only):</a:t>
                </a:r>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bar>
                        <m:barPr>
                          <m:pos m:val="top"/>
                          <m:ctrlPr>
                            <a:rPr lang="en-US" sz="1800"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barPr>
                        <m:e>
                          <m:sSubSup>
                            <m:sSub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𝑖𝑛</m:t>
                              </m:r>
                            </m:sub>
                            <m: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ba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4</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𝑘𝑇</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𝛾</m:t>
                          </m:r>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den>
                      </m:f>
                    </m:oMath>
                  </m:oMathPara>
                </a14:m>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800" dirty="0">
                    <a:solidFill>
                      <a:srgbClr val="000000"/>
                    </a:solidFill>
                    <a:latin typeface="inter"/>
                    <a:ea typeface="inter"/>
                    <a:cs typeface="inter"/>
                  </a:rPr>
                  <a:t>For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𝛾</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≈2/3</m:t>
                    </m:r>
                  </m:oMath>
                </a14:m>
                <a:r>
                  <a:rPr lang="en-US" sz="1800" dirty="0">
                    <a:solidFill>
                      <a:srgbClr val="000000"/>
                    </a:solidFill>
                    <a:latin typeface="inter"/>
                    <a:ea typeface="inter"/>
                    <a:cs typeface="inter"/>
                  </a:rPr>
                  <a:t> (long channel) and </a:t>
                </a:r>
                <a14:m>
                  <m:oMath xmlns:m="http://schemas.openxmlformats.org/officeDocument/2006/math">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=300</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oMath>
                </a14:m>
                <a:r>
                  <a:rPr lang="en-US" sz="1800" dirty="0">
                    <a:solidFill>
                      <a:srgbClr val="000000"/>
                    </a:solidFill>
                    <a:latin typeface="inter"/>
                    <a:ea typeface="inter"/>
                    <a:cs typeface="inter"/>
                  </a:rPr>
                  <a:t>:</a:t>
                </a:r>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𝑟𝑚𝑠</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4×1.38×</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23</m:t>
                                  </m:r>
                                </m:sup>
                              </m:sSup>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×300×0.67</m:t>
                              </m:r>
                            </m:num>
                            <m:den>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300×</m:t>
                              </m:r>
                              <m:sSup>
                                <m:sSup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10</m:t>
                                  </m:r>
                                </m:e>
                                <m:sup>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6</m:t>
                                  </m:r>
                                </m:sup>
                              </m:sSup>
                            </m:den>
                          </m:f>
                        </m:e>
                      </m:rad>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m:rPr>
                              <m:sty m:val="p"/>
                            </m:rP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rad>
                    </m:oMath>
                  </m:oMathPara>
                </a14:m>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𝑟𝑚𝑠</m:t>
                          </m:r>
                        </m:sub>
                      </m:sSub>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𝐻𝑧</m:t>
                          </m:r>
                        </m:e>
                      </m:rad>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𝑛𝑉</m:t>
                      </m:r>
                      <m:r>
                        <a:rPr lang="en-US" sz="18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ad>
                        <m:radPr>
                          <m:degHide m:val="on"/>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𝐻𝑧</m:t>
                          </m:r>
                        </m:e>
                      </m:rad>
                    </m:oMath>
                  </m:oMathPara>
                </a14:m>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800" dirty="0">
                    <a:solidFill>
                      <a:srgbClr val="000000"/>
                    </a:solidFill>
                    <a:latin typeface="inter"/>
                    <a:ea typeface="inter"/>
                    <a:cs typeface="inter"/>
                  </a:rPr>
                  <a:t>This is well below 100 </a:t>
                </a:r>
                <a:r>
                  <a:rPr lang="en-US" sz="1800" dirty="0" err="1">
                    <a:solidFill>
                      <a:srgbClr val="000000"/>
                    </a:solidFill>
                    <a:latin typeface="inter"/>
                    <a:ea typeface="inter"/>
                    <a:cs typeface="inter"/>
                  </a:rPr>
                  <a:t>nV</a:t>
                </a:r>
                <a:r>
                  <a:rPr lang="en-US" sz="1800" dirty="0">
                    <a:solidFill>
                      <a:srgbClr val="000000"/>
                    </a:solidFill>
                    <a:latin typeface="inter"/>
                    <a:ea typeface="inter"/>
                    <a:cs typeface="inter"/>
                  </a:rPr>
                  <a:t>/√Hz requirement, so noise is satisfied.</a:t>
                </a:r>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800" b="1" dirty="0">
                    <a:solidFill>
                      <a:srgbClr val="000000"/>
                    </a:solidFill>
                    <a:latin typeface="inter"/>
                    <a:ea typeface="inter"/>
                    <a:cs typeface="inter"/>
                  </a:rPr>
                  <a:t>Step 3: Choose </a:t>
                </a:r>
                <a14:m>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800" b="1" dirty="0">
                    <a:solidFill>
                      <a:srgbClr val="000000"/>
                    </a:solidFill>
                    <a:latin typeface="inter"/>
                    <a:ea typeface="inter"/>
                    <a:cs typeface="inter"/>
                  </a:rPr>
                  <a:t> (Operating Point)</a:t>
                </a:r>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800" dirty="0">
                    <a:solidFill>
                      <a:srgbClr val="000000"/>
                    </a:solidFill>
                    <a:latin typeface="inter"/>
                    <a:ea typeface="inter"/>
                    <a:cs typeface="inter"/>
                  </a:rPr>
                  <a:t>Considerations:</a:t>
                </a:r>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Need moderate power (not ultra-low)</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Want good matching</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Moderate inversion is good balance</a:t>
                </a:r>
                <a:endParaRPr lang="en-US" sz="16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800" b="1" dirty="0">
                    <a:solidFill>
                      <a:srgbClr val="000000"/>
                    </a:solidFill>
                    <a:latin typeface="inter"/>
                    <a:ea typeface="inter"/>
                    <a:cs typeface="inter"/>
                  </a:rPr>
                  <a:t>Choose: </a:t>
                </a:r>
                <a14:m>
                  <m:oMath xmlns:m="http://schemas.openxmlformats.org/officeDocument/2006/math">
                    <m:f>
                      <m:f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8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sz="1800" b="1" dirty="0">
                    <a:solidFill>
                      <a:srgbClr val="000000"/>
                    </a:solidFill>
                    <a:latin typeface="inter"/>
                    <a:ea typeface="inter"/>
                    <a:cs typeface="inter"/>
                  </a:rPr>
                  <a:t> = 15 </a:t>
                </a:r>
                <a:r>
                  <a:rPr lang="en-US" sz="1800" b="1" dirty="0" smtClean="0">
                    <a:solidFill>
                      <a:srgbClr val="000000"/>
                    </a:solidFill>
                    <a:latin typeface="inter"/>
                    <a:ea typeface="inter"/>
                    <a:cs typeface="inter"/>
                  </a:rPr>
                  <a:t>S/A</a:t>
                </a:r>
                <a:endParaRPr lang="en-US" sz="18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663424" y="1021042"/>
                <a:ext cx="5730875" cy="5203732"/>
              </a:xfrm>
              <a:blipFill>
                <a:blip r:embed="rId2"/>
                <a:stretch>
                  <a:fillRect l="-2553"/>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sp>
            <p:nvSpPr>
              <p:cNvPr id="7" name="Rectangle 6"/>
              <p:cNvSpPr/>
              <p:nvPr/>
            </p:nvSpPr>
            <p:spPr>
              <a:xfrm>
                <a:off x="6553200" y="1124401"/>
                <a:ext cx="5638800" cy="4986686"/>
              </a:xfrm>
              <a:prstGeom prst="rect">
                <a:avLst/>
              </a:prstGeom>
            </p:spPr>
            <p:txBody>
              <a:bodyPr wrap="square">
                <a:spAutoFit/>
              </a:bodyPr>
              <a:lstStyle/>
              <a:p>
                <a:pPr lvl="0"/>
                <a:r>
                  <a:rPr lang="en-US" b="1" kern="0" dirty="0">
                    <a:solidFill>
                      <a:srgbClr val="000000"/>
                    </a:solidFill>
                    <a:latin typeface="inter"/>
                    <a:ea typeface="inter"/>
                    <a:cs typeface="inter"/>
                  </a:rPr>
                  <a:t>Step 4: Calculate Required Current</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300 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𝑆</m:t>
                          </m:r>
                        </m:num>
                        <m:den>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15</m:t>
                          </m:r>
                        </m:den>
                      </m:f>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=20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oMath>
                  </m:oMathPara>
                </a14:m>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kern="0" dirty="0">
                    <a:solidFill>
                      <a:srgbClr val="000000"/>
                    </a:solidFill>
                    <a:latin typeface="inter"/>
                    <a:ea typeface="inter"/>
                    <a:cs typeface="inter"/>
                  </a:rPr>
                  <a:t>This is well within the 100 </a:t>
                </a:r>
                <a:r>
                  <a:rPr lang="en-US" kern="0" dirty="0" err="1">
                    <a:solidFill>
                      <a:srgbClr val="000000"/>
                    </a:solidFill>
                    <a:latin typeface="inter"/>
                    <a:ea typeface="inter"/>
                    <a:cs typeface="inter"/>
                  </a:rPr>
                  <a:t>μA</a:t>
                </a:r>
                <a:r>
                  <a:rPr lang="en-US" kern="0" dirty="0">
                    <a:solidFill>
                      <a:srgbClr val="000000"/>
                    </a:solidFill>
                    <a:latin typeface="inter"/>
                    <a:ea typeface="inter"/>
                    <a:cs typeface="inter"/>
                  </a:rPr>
                  <a:t> budget. ✓</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b="1" kern="0" dirty="0">
                    <a:solidFill>
                      <a:srgbClr val="000000"/>
                    </a:solidFill>
                    <a:latin typeface="inter"/>
                    <a:ea typeface="inter"/>
                    <a:cs typeface="inter"/>
                  </a:rPr>
                  <a:t>Step 5: Consult Reference Plots</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kern="0" dirty="0">
                    <a:solidFill>
                      <a:srgbClr val="000000"/>
                    </a:solidFill>
                    <a:latin typeface="inter"/>
                    <a:ea typeface="inter"/>
                    <a:cs typeface="inter"/>
                  </a:rPr>
                  <a:t>From your 180nm reference plots (assume you generated them):</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defRPr/>
                </a:pPr>
                <a:r>
                  <a:rPr lang="en-US" kern="0" dirty="0">
                    <a:solidFill>
                      <a:srgbClr val="000000"/>
                    </a:solidFill>
                    <a:latin typeface="inter"/>
                    <a:ea typeface="inter"/>
                    <a:cs typeface="inter"/>
                  </a:rPr>
                  <a:t>At </a:t>
                </a:r>
                <a14:m>
                  <m:oMath xmlns:m="http://schemas.openxmlformats.org/officeDocument/2006/math">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kern="0" dirty="0">
                    <a:solidFill>
                      <a:srgbClr val="000000"/>
                    </a:solidFill>
                    <a:latin typeface="inter"/>
                    <a:ea typeface="inter"/>
                    <a:cs typeface="inter"/>
                  </a:rPr>
                  <a:t> = 15, for reference device (</a:t>
                </a:r>
                <a14:m>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oMath>
                </a14:m>
                <a:r>
                  <a:rPr lang="en-US" kern="0" dirty="0">
                    <a:solidFill>
                      <a:srgbClr val="000000"/>
                    </a:solidFill>
                    <a:latin typeface="inter"/>
                    <a:ea typeface="inter"/>
                    <a:cs typeface="inter"/>
                  </a:rPr>
                  <a:t> = 2 </a:t>
                </a:r>
                <a:r>
                  <a:rPr lang="en-US" kern="0" dirty="0" err="1">
                    <a:solidFill>
                      <a:srgbClr val="000000"/>
                    </a:solidFill>
                    <a:latin typeface="inter"/>
                    <a:ea typeface="inter"/>
                    <a:cs typeface="inter"/>
                  </a:rPr>
                  <a:t>μm</a:t>
                </a:r>
                <a:r>
                  <a:rPr lang="en-US" kern="0" dirty="0">
                    <a:solidFill>
                      <a:srgbClr val="000000"/>
                    </a:solidFill>
                    <a:latin typeface="inter"/>
                    <a:ea typeface="inter"/>
                    <a:cs typeface="inter"/>
                  </a:rPr>
                  <a:t>, </a:t>
                </a:r>
                <a:r>
                  <a:rPr lang="en-US" kern="0" dirty="0" err="1" smtClean="0">
                    <a:solidFill>
                      <a:srgbClr val="000000"/>
                    </a:solidFill>
                    <a:latin typeface="inter"/>
                    <a:ea typeface="inter"/>
                    <a:cs typeface="inter"/>
                  </a:rPr>
                  <a:t>L</a:t>
                </a:r>
                <a:r>
                  <a:rPr lang="en-US" kern="0" baseline="-25000" dirty="0" err="1" smtClean="0">
                    <a:solidFill>
                      <a:srgbClr val="000000"/>
                    </a:solidFill>
                    <a:latin typeface="inter"/>
                    <a:ea typeface="inter"/>
                    <a:cs typeface="inter"/>
                  </a:rPr>
                  <a:t>ref</a:t>
                </a:r>
                <a:r>
                  <a:rPr lang="en-US" kern="0" dirty="0" smtClean="0">
                    <a:solidFill>
                      <a:srgbClr val="000000"/>
                    </a:solidFill>
                    <a:latin typeface="inter"/>
                    <a:ea typeface="inter"/>
                    <a:cs typeface="inter"/>
                  </a:rPr>
                  <a:t> </a:t>
                </a:r>
                <a:r>
                  <a:rPr lang="en-US" kern="0" dirty="0">
                    <a:solidFill>
                      <a:srgbClr val="000000"/>
                    </a:solidFill>
                    <a:latin typeface="inter"/>
                    <a:ea typeface="inter"/>
                    <a:cs typeface="inter"/>
                  </a:rPr>
                  <a:t>= 0.36 </a:t>
                </a:r>
                <a:r>
                  <a:rPr lang="en-US" kern="0" dirty="0" err="1">
                    <a:solidFill>
                      <a:srgbClr val="000000"/>
                    </a:solidFill>
                    <a:latin typeface="inter"/>
                    <a:ea typeface="inter"/>
                    <a:cs typeface="inter"/>
                  </a:rPr>
                  <a:t>μm</a:t>
                </a:r>
                <a:r>
                  <a:rPr lang="en-US" kern="0" dirty="0">
                    <a:solidFill>
                      <a:srgbClr val="000000"/>
                    </a:solidFill>
                    <a:latin typeface="inter"/>
                    <a:ea typeface="inter"/>
                    <a:cs typeface="inter"/>
                  </a:rPr>
                  <a:t>):</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defRPr/>
                </a:pPr>
                <a14:m>
                  <m:oMath xmlns:m="http://schemas.openxmlformats.org/officeDocument/2006/math">
                    <m:sSub>
                      <m:sSubPr>
                        <m:ctrlP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sz="1600"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oMath>
                </a14:m>
                <a:r>
                  <a:rPr lang="en-US" sz="1600" kern="0" dirty="0">
                    <a:solidFill>
                      <a:srgbClr val="000000"/>
                    </a:solidFill>
                    <a:latin typeface="inter"/>
                    <a:ea typeface="inter"/>
                    <a:cs typeface="inter"/>
                  </a:rPr>
                  <a:t> = 0.8 </a:t>
                </a:r>
                <a:r>
                  <a:rPr lang="en-US" sz="1600" kern="0" dirty="0" err="1">
                    <a:solidFill>
                      <a:srgbClr val="000000"/>
                    </a:solidFill>
                    <a:latin typeface="inter"/>
                    <a:ea typeface="inter"/>
                    <a:cs typeface="inter"/>
                  </a:rPr>
                  <a:t>μA</a:t>
                </a:r>
                <a:endParaRPr lang="en-US" sz="16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defRPr/>
                </a:pPr>
                <a:r>
                  <a:rPr lang="en-US" sz="1600" kern="0" dirty="0" err="1" smtClean="0">
                    <a:solidFill>
                      <a:srgbClr val="000000"/>
                    </a:solidFill>
                    <a:latin typeface="inter"/>
                    <a:ea typeface="inter"/>
                    <a:cs typeface="inter"/>
                  </a:rPr>
                  <a:t>V</a:t>
                </a:r>
                <a:r>
                  <a:rPr lang="en-US" sz="1600" kern="0" baseline="-25000" dirty="0" err="1" smtClean="0">
                    <a:solidFill>
                      <a:srgbClr val="000000"/>
                    </a:solidFill>
                    <a:latin typeface="inter"/>
                    <a:ea typeface="inter"/>
                    <a:cs typeface="inter"/>
                  </a:rPr>
                  <a:t>GS,ref</a:t>
                </a:r>
                <a:r>
                  <a:rPr lang="en-US" sz="1600" kern="0" dirty="0" smtClean="0">
                    <a:solidFill>
                      <a:srgbClr val="000000"/>
                    </a:solidFill>
                    <a:latin typeface="inter"/>
                    <a:ea typeface="inter"/>
                    <a:cs typeface="inter"/>
                  </a:rPr>
                  <a:t> </a:t>
                </a:r>
                <a:r>
                  <a:rPr lang="en-US" sz="1600" kern="0" dirty="0">
                    <a:solidFill>
                      <a:srgbClr val="000000"/>
                    </a:solidFill>
                    <a:latin typeface="inter"/>
                    <a:ea typeface="inter"/>
                    <a:cs typeface="inter"/>
                  </a:rPr>
                  <a:t>= 0.55 V</a:t>
                </a:r>
                <a:endParaRPr lang="en-US" sz="1600" kern="0" dirty="0">
                  <a:solidFill>
                    <a:sysClr val="windowText" lastClr="000000"/>
                  </a:solidFill>
                  <a:latin typeface="Georgia" panose="02040502050405020303" pitchFamily="18" charset="0"/>
                  <a:ea typeface="Calibri" panose="020F0502020204030204" pitchFamily="34" charset="0"/>
                  <a:cs typeface="Times New Roman" panose="02020603050405020304" pitchFamily="18" charset="0"/>
                </a:endParaRPr>
              </a:p>
              <a:p>
                <a:pPr lvl="0"/>
                <a:r>
                  <a:rPr lang="en-US" b="1" kern="0" dirty="0">
                    <a:solidFill>
                      <a:srgbClr val="000000"/>
                    </a:solidFill>
                    <a:latin typeface="inter"/>
                    <a:ea typeface="inter"/>
                    <a:cs typeface="inter"/>
                  </a:rPr>
                  <a:t>Step 6: Apply Cross-Multiplication</a:t>
                </a:r>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num>
                        <m:den>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𝑟𝑒𝑓</m:t>
                              </m:r>
                            </m:sub>
                          </m:sSub>
                        </m:den>
                      </m:f>
                    </m:oMath>
                  </m:oMathPara>
                </a14:m>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20 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num>
                        <m:den>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0.8 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den>
                      </m:f>
                    </m:oMath>
                  </m:oMathPara>
                </a14:m>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𝑛𝑒𝑤</m:t>
                          </m:r>
                        </m:sub>
                      </m:sSub>
                      <m:r>
                        <a:rPr lang="en-US"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=2×25=50 </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ker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US" kern="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6553200" y="1124401"/>
                <a:ext cx="5638800" cy="4986686"/>
              </a:xfrm>
              <a:prstGeom prst="rect">
                <a:avLst/>
              </a:prstGeom>
              <a:blipFill>
                <a:blip r:embed="rId3"/>
                <a:stretch>
                  <a:fillRect l="-865" t="-611" r="-1730"/>
                </a:stretch>
              </a:blipFill>
            </p:spPr>
            <p:txBody>
              <a:bodyPr/>
              <a:lstStyle/>
              <a:p>
                <a:r>
                  <a:rPr lang="en-US">
                    <a:noFill/>
                  </a:rPr>
                  <a:t> </a:t>
                </a:r>
              </a:p>
            </p:txBody>
          </p:sp>
        </mc:Fallback>
      </mc:AlternateContent>
    </p:spTree>
    <p:extLst>
      <p:ext uri="{BB962C8B-B14F-4D97-AF65-F5344CB8AC3E}">
        <p14:creationId xmlns:p14="http://schemas.microsoft.com/office/powerpoint/2010/main" val="232032684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5730875" cy="4449103"/>
              </a:xfrm>
            </p:spPr>
            <p:txBody>
              <a:bodyPr/>
              <a:lstStyle/>
              <a:p>
                <a:pPr lvl="0"/>
                <a:r>
                  <a:rPr lang="en-US" b="1" dirty="0">
                    <a:solidFill>
                      <a:srgbClr val="000000"/>
                    </a:solidFill>
                    <a:latin typeface="inter"/>
                    <a:ea typeface="inter"/>
                    <a:cs typeface="inter"/>
                  </a:rPr>
                  <a:t>Step 7: Final Device Dimensions</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borderBox>
                        <m:borderBoxPr>
                          <m:hideTop m:val="on"/>
                          <m:hideBot m:val="on"/>
                          <m:hideLeft m:val="on"/>
                          <m:hideRight m:val="on"/>
                          <m:ctrlPr>
                            <a:rPr lang="en-US"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borderBoxPr>
                        <m:e>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50 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num>
                            <m:den>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0.36 </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den>
                          </m:f>
                        </m:e>
                      </m:borderBox>
                    </m:oMath>
                  </m:oMathPara>
                </a14:m>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b="1" dirty="0">
                    <a:solidFill>
                      <a:srgbClr val="000000"/>
                    </a:solidFill>
                    <a:latin typeface="inter"/>
                    <a:ea typeface="inter"/>
                    <a:cs typeface="inter"/>
                  </a:rPr>
                  <a:t>Step 8: Layout Implementation</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dirty="0">
                    <a:solidFill>
                      <a:srgbClr val="000000"/>
                    </a:solidFill>
                    <a:latin typeface="inter"/>
                    <a:ea typeface="inter"/>
                    <a:cs typeface="inter"/>
                  </a:rPr>
                  <a:t>Use 5 fingers of 10 </a:t>
                </a:r>
                <a:r>
                  <a:rPr lang="en-US" dirty="0" err="1">
                    <a:solidFill>
                      <a:srgbClr val="000000"/>
                    </a:solidFill>
                    <a:latin typeface="inter"/>
                    <a:ea typeface="inter"/>
                    <a:cs typeface="inter"/>
                  </a:rPr>
                  <a:t>μm</a:t>
                </a:r>
                <a:r>
                  <a:rPr lang="en-US" dirty="0">
                    <a:solidFill>
                      <a:srgbClr val="000000"/>
                    </a:solidFill>
                    <a:latin typeface="inter"/>
                    <a:ea typeface="inter"/>
                    <a:cs typeface="inter"/>
                  </a:rPr>
                  <a:t> each:</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defRPr/>
                </a:pPr>
                <a:r>
                  <a:rPr lang="en-US" dirty="0" err="1" smtClean="0">
                    <a:solidFill>
                      <a:srgbClr val="000000"/>
                    </a:solidFill>
                    <a:latin typeface="inter"/>
                    <a:ea typeface="inter"/>
                    <a:cs typeface="inter"/>
                  </a:rPr>
                  <a:t>W</a:t>
                </a:r>
                <a:r>
                  <a:rPr lang="en-US" baseline="-25000" dirty="0" err="1" smtClean="0">
                    <a:solidFill>
                      <a:srgbClr val="000000"/>
                    </a:solidFill>
                    <a:latin typeface="inter"/>
                    <a:ea typeface="inter"/>
                    <a:cs typeface="inter"/>
                  </a:rPr>
                  <a:t>total</a:t>
                </a:r>
                <a:r>
                  <a:rPr lang="en-US" dirty="0" smtClean="0">
                    <a:solidFill>
                      <a:srgbClr val="000000"/>
                    </a:solidFill>
                    <a:latin typeface="inter"/>
                    <a:ea typeface="inter"/>
                    <a:cs typeface="inter"/>
                  </a:rPr>
                  <a:t> </a:t>
                </a:r>
                <a:r>
                  <a:rPr lang="en-US" dirty="0">
                    <a:solidFill>
                      <a:srgbClr val="000000"/>
                    </a:solidFill>
                    <a:latin typeface="inter"/>
                    <a:ea typeface="inter"/>
                    <a:cs typeface="inter"/>
                  </a:rPr>
                  <a:t>= 5 × 10 </a:t>
                </a:r>
                <a:r>
                  <a:rPr lang="en-US" dirty="0" err="1">
                    <a:solidFill>
                      <a:srgbClr val="000000"/>
                    </a:solidFill>
                    <a:latin typeface="inter"/>
                    <a:ea typeface="inter"/>
                    <a:cs typeface="inter"/>
                  </a:rPr>
                  <a:t>μm</a:t>
                </a:r>
                <a:r>
                  <a:rPr lang="en-US" dirty="0">
                    <a:solidFill>
                      <a:srgbClr val="000000"/>
                    </a:solidFill>
                    <a:latin typeface="inter"/>
                    <a:ea typeface="inter"/>
                    <a:cs typeface="inter"/>
                  </a:rPr>
                  <a:t> = 50 </a:t>
                </a:r>
                <a:r>
                  <a:rPr lang="en-US" dirty="0" err="1">
                    <a:solidFill>
                      <a:srgbClr val="000000"/>
                    </a:solidFill>
                    <a:latin typeface="inter"/>
                    <a:ea typeface="inter"/>
                    <a:cs typeface="inter"/>
                  </a:rPr>
                  <a:t>μm</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defRPr/>
                </a:pPr>
                <a:r>
                  <a:rPr lang="en-US" dirty="0">
                    <a:solidFill>
                      <a:srgbClr val="000000"/>
                    </a:solidFill>
                    <a:latin typeface="inter"/>
                    <a:ea typeface="inter"/>
                    <a:cs typeface="inter"/>
                  </a:rPr>
                  <a:t>L = 0.36 </a:t>
                </a:r>
                <a:r>
                  <a:rPr lang="en-US" dirty="0" err="1">
                    <a:solidFill>
                      <a:srgbClr val="000000"/>
                    </a:solidFill>
                    <a:latin typeface="inter"/>
                    <a:ea typeface="inter"/>
                    <a:cs typeface="inter"/>
                  </a:rPr>
                  <a:t>μm</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defRPr/>
                </a:pPr>
                <a:r>
                  <a:rPr lang="en-US" dirty="0">
                    <a:solidFill>
                      <a:srgbClr val="000000"/>
                    </a:solidFill>
                    <a:latin typeface="inter"/>
                    <a:ea typeface="inter"/>
                    <a:cs typeface="inter"/>
                  </a:rPr>
                  <a:t>Benefits: Lower </a:t>
                </a:r>
                <a:r>
                  <a:rPr lang="en-US" dirty="0" smtClean="0">
                    <a:solidFill>
                      <a:srgbClr val="000000"/>
                    </a:solidFill>
                    <a:latin typeface="inter"/>
                    <a:ea typeface="inter"/>
                    <a:cs typeface="inter"/>
                  </a:rPr>
                  <a:t>R</a:t>
                </a:r>
                <a:r>
                  <a:rPr lang="en-US" baseline="-25000" dirty="0" smtClean="0">
                    <a:solidFill>
                      <a:srgbClr val="000000"/>
                    </a:solidFill>
                    <a:latin typeface="inter"/>
                    <a:ea typeface="inter"/>
                    <a:cs typeface="inter"/>
                  </a:rPr>
                  <a:t>G</a:t>
                </a:r>
                <a:r>
                  <a:rPr lang="en-US" dirty="0">
                    <a:solidFill>
                      <a:srgbClr val="000000"/>
                    </a:solidFill>
                    <a:latin typeface="inter"/>
                    <a:ea typeface="inter"/>
                    <a:cs typeface="inter"/>
                  </a:rPr>
                  <a:t>, better matching</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b="1" dirty="0">
                    <a:solidFill>
                      <a:srgbClr val="000000"/>
                    </a:solidFill>
                    <a:latin typeface="inter"/>
                    <a:ea typeface="inter"/>
                    <a:cs typeface="inter"/>
                  </a:rPr>
                  <a:t>Step 9: Verification Simulations</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dirty="0">
                    <a:solidFill>
                      <a:srgbClr val="000000"/>
                    </a:solidFill>
                    <a:latin typeface="inter"/>
                    <a:ea typeface="inter"/>
                    <a:cs typeface="inter"/>
                  </a:rPr>
                  <a:t>Run corner simulations:</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defRPr/>
                </a:pPr>
                <a:r>
                  <a:rPr lang="en-US" b="1" dirty="0">
                    <a:solidFill>
                      <a:srgbClr val="000000"/>
                    </a:solidFill>
                    <a:latin typeface="inter"/>
                    <a:ea typeface="inter"/>
                    <a:cs typeface="inter"/>
                  </a:rPr>
                  <a:t>TT corner</a:t>
                </a:r>
                <a:r>
                  <a:rPr lang="en-US" dirty="0">
                    <a:solidFill>
                      <a:srgbClr val="000000"/>
                    </a:solidFill>
                    <a:latin typeface="inter"/>
                    <a:ea typeface="inter"/>
                    <a:cs typeface="inter"/>
                  </a:rPr>
                  <a:t>: Verify I</a:t>
                </a:r>
                <a:r>
                  <a:rPr lang="en-US" baseline="-25000" dirty="0">
                    <a:solidFill>
                      <a:srgbClr val="000000"/>
                    </a:solidFill>
                    <a:latin typeface="inter"/>
                    <a:ea typeface="inter"/>
                    <a:cs typeface="inter"/>
                  </a:rPr>
                  <a:t>D</a:t>
                </a:r>
                <a:r>
                  <a:rPr lang="en-US" dirty="0">
                    <a:solidFill>
                      <a:srgbClr val="000000"/>
                    </a:solidFill>
                    <a:latin typeface="inter"/>
                    <a:ea typeface="inter"/>
                    <a:cs typeface="inter"/>
                  </a:rPr>
                  <a:t> = 20 </a:t>
                </a:r>
                <a:r>
                  <a:rPr lang="en-US" dirty="0" err="1">
                    <a:solidFill>
                      <a:srgbClr val="000000"/>
                    </a:solidFill>
                    <a:latin typeface="inter"/>
                    <a:ea typeface="inter"/>
                    <a:cs typeface="inter"/>
                  </a:rPr>
                  <a:t>μA</a:t>
                </a:r>
                <a:r>
                  <a:rPr lang="en-US" dirty="0">
                    <a:solidFill>
                      <a:srgbClr val="000000"/>
                    </a:solidFill>
                    <a:latin typeface="inter"/>
                    <a:ea typeface="inter"/>
                    <a:cs typeface="inter"/>
                  </a:rPr>
                  <a:t> at V</a:t>
                </a:r>
                <a:r>
                  <a:rPr lang="en-US" baseline="-25000" dirty="0">
                    <a:solidFill>
                      <a:srgbClr val="000000"/>
                    </a:solidFill>
                    <a:latin typeface="inter"/>
                    <a:ea typeface="inter"/>
                    <a:cs typeface="inter"/>
                  </a:rPr>
                  <a:t>GS</a:t>
                </a:r>
                <a:r>
                  <a:rPr lang="en-US" dirty="0">
                    <a:solidFill>
                      <a:srgbClr val="000000"/>
                    </a:solidFill>
                    <a:latin typeface="inter"/>
                    <a:ea typeface="inter"/>
                    <a:cs typeface="inter"/>
                  </a:rPr>
                  <a:t> = 0.55 V</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defRPr/>
                </a:pPr>
                <a:r>
                  <a:rPr lang="en-US" b="1" dirty="0">
                    <a:solidFill>
                      <a:srgbClr val="000000"/>
                    </a:solidFill>
                    <a:latin typeface="inter"/>
                    <a:ea typeface="inter"/>
                    <a:cs typeface="inter"/>
                  </a:rPr>
                  <a:t>FF corner</a:t>
                </a:r>
                <a:r>
                  <a:rPr lang="en-US" dirty="0">
                    <a:solidFill>
                      <a:srgbClr val="000000"/>
                    </a:solidFill>
                    <a:latin typeface="inter"/>
                    <a:ea typeface="inter"/>
                    <a:cs typeface="inter"/>
                  </a:rPr>
                  <a:t>: Check I</a:t>
                </a:r>
                <a:r>
                  <a:rPr lang="en-US" baseline="-25000" dirty="0">
                    <a:solidFill>
                      <a:srgbClr val="000000"/>
                    </a:solidFill>
                    <a:latin typeface="inter"/>
                    <a:ea typeface="inter"/>
                    <a:cs typeface="inter"/>
                  </a:rPr>
                  <a:t>D</a:t>
                </a:r>
                <a:r>
                  <a:rPr lang="en-US" dirty="0">
                    <a:solidFill>
                      <a:srgbClr val="000000"/>
                    </a:solidFill>
                    <a:latin typeface="inter"/>
                    <a:ea typeface="inter"/>
                    <a:cs typeface="inter"/>
                  </a:rPr>
                  <a:t> doesn't exceed budget</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defRPr/>
                </a:pPr>
                <a:r>
                  <a:rPr lang="en-US" b="1" dirty="0">
                    <a:solidFill>
                      <a:srgbClr val="000000"/>
                    </a:solidFill>
                    <a:latin typeface="inter"/>
                    <a:ea typeface="inter"/>
                    <a:cs typeface="inter"/>
                  </a:rPr>
                  <a:t>SS corner</a:t>
                </a:r>
                <a:r>
                  <a:rPr lang="en-US" dirty="0">
                    <a:solidFill>
                      <a:srgbClr val="000000"/>
                    </a:solidFill>
                    <a:latin typeface="inter"/>
                    <a:ea typeface="inter"/>
                    <a:cs typeface="inter"/>
                  </a:rPr>
                  <a:t>: Verify g</a:t>
                </a:r>
                <a:r>
                  <a:rPr lang="en-US" baseline="-25000" dirty="0">
                    <a:solidFill>
                      <a:srgbClr val="000000"/>
                    </a:solidFill>
                    <a:latin typeface="inter"/>
                    <a:ea typeface="inter"/>
                    <a:cs typeface="inter"/>
                  </a:rPr>
                  <a:t>m</a:t>
                </a:r>
                <a:r>
                  <a:rPr lang="en-US" dirty="0">
                    <a:solidFill>
                      <a:srgbClr val="000000"/>
                    </a:solidFill>
                    <a:latin typeface="inter"/>
                    <a:ea typeface="inter"/>
                    <a:cs typeface="inter"/>
                  </a:rPr>
                  <a:t> still meets spec</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defRPr/>
                </a:pPr>
                <a:r>
                  <a:rPr lang="en-US" b="1" dirty="0">
                    <a:solidFill>
                      <a:srgbClr val="000000"/>
                    </a:solidFill>
                    <a:latin typeface="inter"/>
                    <a:ea typeface="inter"/>
                    <a:cs typeface="inter"/>
                  </a:rPr>
                  <a:t>Monte Carlo</a:t>
                </a:r>
                <a:r>
                  <a:rPr lang="en-US" dirty="0">
                    <a:solidFill>
                      <a:srgbClr val="000000"/>
                    </a:solidFill>
                    <a:latin typeface="inter"/>
                    <a:ea typeface="inter"/>
                    <a:cs typeface="inter"/>
                  </a:rPr>
                  <a:t>: Check σ(V</a:t>
                </a:r>
                <a:r>
                  <a:rPr lang="en-US" baseline="-25000" dirty="0">
                    <a:solidFill>
                      <a:srgbClr val="000000"/>
                    </a:solidFill>
                    <a:latin typeface="inter"/>
                    <a:ea typeface="inter"/>
                    <a:cs typeface="inter"/>
                  </a:rPr>
                  <a:t>TH</a:t>
                </a:r>
                <a:r>
                  <a:rPr lang="en-US" dirty="0">
                    <a:solidFill>
                      <a:srgbClr val="000000"/>
                    </a:solidFill>
                    <a:latin typeface="inter"/>
                    <a:ea typeface="inter"/>
                    <a:cs typeface="inter"/>
                  </a:rPr>
                  <a:t>) and matching</a:t>
                </a:r>
                <a:endParaRPr lang="en-US"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5730875" cy="4449103"/>
              </a:xfrm>
              <a:blipFill>
                <a:blip r:embed="rId2"/>
                <a:stretch>
                  <a:fillRect l="-2766" t="-178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5680753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768350" y="1555953"/>
                <a:ext cx="5730875" cy="4281237"/>
              </a:xfrm>
            </p:spPr>
            <p:txBody>
              <a:bodyPr/>
              <a:lstStyle/>
              <a:p>
                <a:r>
                  <a:rPr lang="en-US" b="1" dirty="0" smtClean="0">
                    <a:solidFill>
                      <a:srgbClr val="000000"/>
                    </a:solidFill>
                    <a:latin typeface="inter"/>
                    <a:ea typeface="inter"/>
                    <a:cs typeface="inter"/>
                  </a:rPr>
                  <a:t>Start</a:t>
                </a:r>
                <a:r>
                  <a:rPr lang="en-US" b="1" dirty="0">
                    <a:solidFill>
                      <a:srgbClr val="000000"/>
                    </a:solidFill>
                    <a:latin typeface="inter"/>
                    <a:ea typeface="inter"/>
                    <a:cs typeface="inter"/>
                  </a:rPr>
                  <a:t>:</a:t>
                </a:r>
                <a:r>
                  <a:rPr lang="en-US" dirty="0">
                    <a:solidFill>
                      <a:srgbClr val="000000"/>
                    </a:solidFill>
                    <a:latin typeface="inter"/>
                    <a:ea typeface="inter"/>
                    <a:cs typeface="inter"/>
                  </a:rPr>
                  <a:t> What is your primary constraint?</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Path 1: Power is critical (battery-operated, </a:t>
                </a:r>
                <a:r>
                  <a:rPr lang="en-US" b="1" dirty="0" err="1">
                    <a:solidFill>
                      <a:srgbClr val="000000"/>
                    </a:solidFill>
                    <a:latin typeface="inter"/>
                    <a:ea typeface="inter"/>
                    <a:cs typeface="inter"/>
                  </a:rPr>
                  <a:t>IoT</a:t>
                </a:r>
                <a:r>
                  <a:rPr lang="en-US" b="1"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Choose </a:t>
                </a:r>
                <a:r>
                  <a:rPr lang="en-US" b="1" dirty="0">
                    <a:solidFill>
                      <a:srgbClr val="000000"/>
                    </a:solidFill>
                    <a:latin typeface="inter"/>
                    <a:ea typeface="inter"/>
                    <a:cs typeface="inter"/>
                  </a:rPr>
                  <a:t>high </a:t>
                </a:r>
                <a14:m>
                  <m:oMath xmlns:m="http://schemas.openxmlformats.org/officeDocument/2006/math">
                    <m:f>
                      <m:fPr>
                        <m:ctrlP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num>
                      <m:den>
                        <m:sSub>
                          <m:sSubPr>
                            <m:ctrlP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den>
                    </m:f>
                  </m:oMath>
                </a14:m>
                <a:r>
                  <a:rPr lang="en-US" dirty="0">
                    <a:solidFill>
                      <a:srgbClr val="000000"/>
                    </a:solidFill>
                    <a:latin typeface="inter"/>
                    <a:ea typeface="inter"/>
                    <a:cs typeface="inter"/>
                  </a:rPr>
                  <a:t>: 20-25 S/A</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Region: Weak to moderate inversion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Trade-off: Lower speed, higher noise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Application: Bias circuits, references</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Path 2: Speed is critical (high-frequency amplifiers)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Choose </a:t>
                </a:r>
                <a:r>
                  <a:rPr lang="en-US" b="1" dirty="0">
                    <a:solidFill>
                      <a:srgbClr val="000000"/>
                    </a:solidFill>
                    <a:latin typeface="inter"/>
                    <a:ea typeface="inter"/>
                    <a:cs typeface="inter"/>
                  </a:rPr>
                  <a:t>low </a:t>
                </a:r>
                <a14:m>
                  <m:oMath xmlns:m="http://schemas.openxmlformats.org/officeDocument/2006/math">
                    <m:f>
                      <m:fPr>
                        <m:ctrlPr>
                          <a:rPr lang="en-US" sz="200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5-10 S/A</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Region: Strong inversion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Trade-off: Higher power, lower efficiency</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Application: Wideband amplifiers, buffers</a:t>
                </a:r>
                <a:endParaRPr lang="en-US" dirty="0">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768350" y="1555953"/>
                <a:ext cx="5730875" cy="4281237"/>
              </a:xfrm>
              <a:blipFill>
                <a:blip r:embed="rId2"/>
                <a:stretch>
                  <a:fillRect l="-2766" t="-1849" r="-85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3187736" y="1170000"/>
            <a:ext cx="4275594" cy="369332"/>
          </a:xfrm>
          <a:prstGeom prst="rect">
            <a:avLst/>
          </a:prstGeom>
        </p:spPr>
        <p:txBody>
          <a:bodyPr wrap="none">
            <a:spAutoFit/>
          </a:bodyPr>
          <a:lstStyle/>
          <a:p>
            <a:r>
              <a:rPr lang="en-US" b="1" dirty="0">
                <a:solidFill>
                  <a:srgbClr val="000000"/>
                </a:solidFill>
                <a:latin typeface="inter"/>
                <a:ea typeface="inter"/>
                <a:cs typeface="inter"/>
              </a:rPr>
              <a:t>6.2 Decision Tree for Choosing gm/ID</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Rectangle 7"/>
              <p:cNvSpPr/>
              <p:nvPr/>
            </p:nvSpPr>
            <p:spPr>
              <a:xfrm>
                <a:off x="6688667" y="1588407"/>
                <a:ext cx="6096000" cy="3482235"/>
              </a:xfrm>
              <a:prstGeom prst="rect">
                <a:avLst/>
              </a:prstGeom>
            </p:spPr>
            <p:txBody>
              <a:bodyPr>
                <a:spAutoFit/>
              </a:bodyPr>
              <a:lstStyle/>
              <a:p>
                <a:r>
                  <a:rPr lang="en-US" b="1" dirty="0">
                    <a:solidFill>
                      <a:srgbClr val="000000"/>
                    </a:solidFill>
                    <a:latin typeface="inter"/>
                    <a:ea typeface="inter"/>
                    <a:cs typeface="inter"/>
                  </a:rPr>
                  <a:t>Path 3: Balanced performance (general purpose)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Choose </a:t>
                </a:r>
                <a:r>
                  <a:rPr lang="en-US" b="1" dirty="0">
                    <a:solidFill>
                      <a:srgbClr val="000000"/>
                    </a:solidFill>
                    <a:latin typeface="inter"/>
                    <a:ea typeface="inter"/>
                    <a:cs typeface="inter"/>
                  </a:rPr>
                  <a:t>medium </a:t>
                </a:r>
                <a14:m>
                  <m:oMath xmlns:m="http://schemas.openxmlformats.org/officeDocument/2006/math">
                    <m:f>
                      <m:fPr>
                        <m:ctrlPr>
                          <a:rPr lang="en-US" sz="200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12-18 S/A</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Region: Moderate inversion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Trade-off: Good compromise</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Application: Op-amps, comparators, most analog blocks</a:t>
                </a:r>
                <a:endParaRPr lang="en-US" dirty="0">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Path 4: Noise is critical (sensor front-ends)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Choose </a:t>
                </a:r>
                <a:r>
                  <a:rPr lang="en-US" b="1" dirty="0">
                    <a:solidFill>
                      <a:srgbClr val="000000"/>
                    </a:solidFill>
                    <a:latin typeface="inter"/>
                    <a:ea typeface="inter"/>
                    <a:cs typeface="inter"/>
                  </a:rPr>
                  <a:t>medium-high </a:t>
                </a:r>
                <a14:m>
                  <m:oMath xmlns:m="http://schemas.openxmlformats.org/officeDocument/2006/math">
                    <m:f>
                      <m:fPr>
                        <m:ctrlPr>
                          <a:rPr lang="en-US" sz="2000"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2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oMath>
                </a14:m>
                <a:r>
                  <a:rPr lang="en-US" dirty="0">
                    <a:solidFill>
                      <a:srgbClr val="000000"/>
                    </a:solidFill>
                    <a:latin typeface="inter"/>
                    <a:ea typeface="inter"/>
                    <a:cs typeface="inter"/>
                  </a:rPr>
                  <a:t>: 15-20 S/A</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Maximize gm for given power</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Also increase W for better matching</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dirty="0">
                    <a:solidFill>
                      <a:srgbClr val="000000"/>
                    </a:solidFill>
                    <a:latin typeface="inter"/>
                    <a:ea typeface="inter"/>
                    <a:cs typeface="inter"/>
                  </a:rPr>
                  <a:t>Application: Instrumentation amplifiers, LNAs</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6688667" y="1588407"/>
                <a:ext cx="6096000" cy="3482235"/>
              </a:xfrm>
              <a:prstGeom prst="rect">
                <a:avLst/>
              </a:prstGeom>
              <a:blipFill>
                <a:blip r:embed="rId3"/>
                <a:stretch>
                  <a:fillRect l="-800" t="-1051" b="-1926"/>
                </a:stretch>
              </a:blipFill>
            </p:spPr>
            <p:txBody>
              <a:bodyPr/>
              <a:lstStyle/>
              <a:p>
                <a:r>
                  <a:rPr lang="en-US">
                    <a:noFill/>
                  </a:rPr>
                  <a:t> </a:t>
                </a:r>
              </a:p>
            </p:txBody>
          </p:sp>
        </mc:Fallback>
      </mc:AlternateContent>
    </p:spTree>
    <p:extLst>
      <p:ext uri="{BB962C8B-B14F-4D97-AF65-F5344CB8AC3E}">
        <p14:creationId xmlns:p14="http://schemas.microsoft.com/office/powerpoint/2010/main" val="51759331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903817" y="1191886"/>
                <a:ext cx="10602383" cy="5087547"/>
              </a:xfrm>
            </p:spPr>
            <p:txBody>
              <a:bodyPr/>
              <a:lstStyle/>
              <a:p>
                <a:pPr algn="ctr"/>
                <a:r>
                  <a:rPr lang="en-US" sz="1600" b="1" dirty="0">
                    <a:solidFill>
                      <a:srgbClr val="000000"/>
                    </a:solidFill>
                    <a:latin typeface="inter"/>
                    <a:ea typeface="inter"/>
                    <a:cs typeface="inter"/>
                  </a:rPr>
                  <a:t>Part 7: Advanced Considerations</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7.1 When Cross-Multiplication Breaks Down</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Limitation 1: Very Large Width Devices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W &gt; 200 </a:t>
                </a:r>
                <a:r>
                  <a:rPr lang="en-US" sz="1600" dirty="0" err="1">
                    <a:solidFill>
                      <a:srgbClr val="000000"/>
                    </a:solidFill>
                    <a:latin typeface="inter"/>
                    <a:ea typeface="inter"/>
                    <a:cs typeface="inter"/>
                  </a:rPr>
                  <a:t>μm</a:t>
                </a:r>
                <a:r>
                  <a:rPr lang="en-US" sz="1600" dirty="0">
                    <a:solidFill>
                      <a:srgbClr val="000000"/>
                    </a:solidFill>
                    <a:latin typeface="inter"/>
                    <a:ea typeface="inter"/>
                    <a:cs typeface="inter"/>
                  </a:rPr>
                  <a:t> in modern processes: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b="1" dirty="0">
                    <a:solidFill>
                      <a:srgbClr val="000000"/>
                    </a:solidFill>
                    <a:latin typeface="inter"/>
                    <a:ea typeface="inter"/>
                    <a:cs typeface="inter"/>
                  </a:rPr>
                  <a:t>Gate resistance</a:t>
                </a:r>
                <a:r>
                  <a:rPr lang="en-US" sz="1600" dirty="0">
                    <a:solidFill>
                      <a:srgbClr val="000000"/>
                    </a:solidFill>
                    <a:latin typeface="inter"/>
                    <a:ea typeface="inter"/>
                    <a:cs typeface="inter"/>
                  </a:rPr>
                  <a:t> becomes significant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b="1" dirty="0">
                    <a:solidFill>
                      <a:srgbClr val="000000"/>
                    </a:solidFill>
                    <a:latin typeface="inter"/>
                    <a:ea typeface="inter"/>
                    <a:cs typeface="inter"/>
                  </a:rPr>
                  <a:t>Self-heating</a:t>
                </a:r>
                <a:r>
                  <a:rPr lang="en-US" sz="1600" dirty="0">
                    <a:solidFill>
                      <a:srgbClr val="000000"/>
                    </a:solidFill>
                    <a:latin typeface="inter"/>
                    <a:ea typeface="inter"/>
                    <a:cs typeface="inter"/>
                  </a:rPr>
                  <a:t> can change operating point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b="1" dirty="0">
                    <a:solidFill>
                      <a:srgbClr val="000000"/>
                    </a:solidFill>
                    <a:latin typeface="inter"/>
                    <a:ea typeface="inter"/>
                    <a:cs typeface="inter"/>
                  </a:rPr>
                  <a:t>Layout </a:t>
                </a:r>
                <a:r>
                  <a:rPr lang="en-US" sz="1600" b="1" dirty="0" err="1">
                    <a:solidFill>
                      <a:srgbClr val="000000"/>
                    </a:solidFill>
                    <a:latin typeface="inter"/>
                    <a:ea typeface="inter"/>
                    <a:cs typeface="inter"/>
                  </a:rPr>
                  <a:t>parasitics</a:t>
                </a:r>
                <a:r>
                  <a:rPr lang="en-US" sz="1600" dirty="0">
                    <a:solidFill>
                      <a:srgbClr val="000000"/>
                    </a:solidFill>
                    <a:latin typeface="inter"/>
                    <a:ea typeface="inter"/>
                    <a:cs typeface="inter"/>
                  </a:rPr>
                  <a:t> dominate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Solution:</a:t>
                </a:r>
                <a:r>
                  <a:rPr lang="en-US" sz="1600" dirty="0">
                    <a:solidFill>
                      <a:srgbClr val="000000"/>
                    </a:solidFill>
                    <a:latin typeface="inter"/>
                    <a:ea typeface="inter"/>
                    <a:cs typeface="inter"/>
                  </a:rPr>
                  <a:t> Break into multiple parallel devices or fingers.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Limitation 2: Changing Length</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Cross-multiplication assumes </a:t>
                </a:r>
                <a:r>
                  <a:rPr lang="en-US" sz="1600" b="1" dirty="0">
                    <a:solidFill>
                      <a:srgbClr val="000000"/>
                    </a:solidFill>
                    <a:latin typeface="inter"/>
                    <a:ea typeface="inter"/>
                    <a:cs typeface="inter"/>
                  </a:rPr>
                  <a:t>L stays constant</a:t>
                </a:r>
                <a:r>
                  <a:rPr lang="en-US" sz="1600" dirty="0">
                    <a:solidFill>
                      <a:srgbClr val="000000"/>
                    </a:solidFill>
                    <a:latin typeface="inter"/>
                    <a:ea typeface="inter"/>
                    <a:cs typeface="inter"/>
                  </a:rPr>
                  <a:t>. If you need different L:</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dirty="0">
                    <a:solidFill>
                      <a:srgbClr val="000000"/>
                    </a:solidFill>
                    <a:latin typeface="inter"/>
                    <a:ea typeface="inter"/>
                    <a:cs typeface="inter"/>
                  </a:rPr>
                  <a:t>Generate new reference plots for new L</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400" dirty="0">
                    <a:solidFill>
                      <a:srgbClr val="000000"/>
                    </a:solidFill>
                    <a:latin typeface="inter"/>
                    <a:ea typeface="inter"/>
                    <a:cs typeface="inter"/>
                  </a:rPr>
                  <a:t>Cannot simply scale—L affects: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400" dirty="0">
                    <a:solidFill>
                      <a:srgbClr val="000000"/>
                    </a:solidFill>
                    <a:effectLst/>
                    <a:latin typeface="inter"/>
                    <a:ea typeface="inter"/>
                    <a:cs typeface="inter"/>
                  </a:rPr>
                  <a:t>Early voltage (VA ∝ L)</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400" dirty="0">
                    <a:solidFill>
                      <a:srgbClr val="000000"/>
                    </a:solidFill>
                    <a:effectLst/>
                    <a:latin typeface="inter"/>
                    <a:ea typeface="inter"/>
                    <a:cs typeface="inter"/>
                  </a:rPr>
                  <a:t>Velocity saturation</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400" dirty="0">
                    <a:solidFill>
                      <a:srgbClr val="000000"/>
                    </a:solidFill>
                    <a:effectLst/>
                    <a:latin typeface="inter"/>
                    <a:ea typeface="inter"/>
                    <a:cs typeface="inter"/>
                  </a:rPr>
                  <a:t>Threshold voltage (short-channel effect)</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Limitation 3: Different Temperature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Current density changes with temperature: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Mobility decreases: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e>
                      <m:sup>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3/2</m:t>
                        </m:r>
                      </m:sup>
                    </m:sSup>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Wingdings" panose="05000000000000000000" pitchFamily="2" charset="2"/>
                  <a:buChar char="q"/>
                  <a:tabLst>
                    <a:tab pos="571500" algn="l"/>
                  </a:tabLst>
                </a:pPr>
                <a:r>
                  <a:rPr lang="en-US" sz="1600" dirty="0">
                    <a:solidFill>
                      <a:srgbClr val="000000"/>
                    </a:solidFill>
                    <a:latin typeface="inter"/>
                    <a:ea typeface="inter"/>
                    <a:cs typeface="inter"/>
                  </a:rPr>
                  <a:t>Threshold changes: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𝑚𝑉</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Solution:</a:t>
                </a:r>
                <a:r>
                  <a:rPr lang="en-US" sz="1600" dirty="0">
                    <a:solidFill>
                      <a:srgbClr val="000000"/>
                    </a:solidFill>
                    <a:latin typeface="inter"/>
                    <a:ea typeface="inter"/>
                    <a:cs typeface="inter"/>
                  </a:rPr>
                  <a:t> Generate reference plots at target temperature.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903817" y="1191886"/>
                <a:ext cx="10602383" cy="5087547"/>
              </a:xfrm>
              <a:blipFill>
                <a:blip r:embed="rId2"/>
                <a:stretch>
                  <a:fillRect l="-1149" t="-1319"/>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54251016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01779" cy="4343112"/>
              </a:xfrm>
            </p:spPr>
            <p:txBody>
              <a:bodyPr/>
              <a:lstStyle/>
              <a:p>
                <a:r>
                  <a:rPr lang="en-US" b="1" dirty="0">
                    <a:solidFill>
                      <a:srgbClr val="000000"/>
                    </a:solidFill>
                    <a:latin typeface="inter"/>
                    <a:ea typeface="inter"/>
                    <a:cs typeface="inter"/>
                  </a:rPr>
                  <a:t>7.2 Matching Considerations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current mirrors and differential pairs, </a:t>
                </a:r>
                <a:r>
                  <a:rPr lang="en-US" sz="1600" b="1" dirty="0">
                    <a:solidFill>
                      <a:srgbClr val="000000"/>
                    </a:solidFill>
                    <a:latin typeface="inter"/>
                    <a:ea typeface="inter"/>
                    <a:cs typeface="inter"/>
                  </a:rPr>
                  <a:t>matching is critical</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err="1">
                    <a:solidFill>
                      <a:srgbClr val="000000"/>
                    </a:solidFill>
                    <a:latin typeface="inter"/>
                    <a:ea typeface="inter"/>
                    <a:cs typeface="inter"/>
                  </a:rPr>
                  <a:t>Pelgrom's</a:t>
                </a:r>
                <a:r>
                  <a:rPr lang="en-US" sz="1600" b="1" dirty="0">
                    <a:solidFill>
                      <a:srgbClr val="000000"/>
                    </a:solidFill>
                    <a:latin typeface="inter"/>
                    <a:ea typeface="inter"/>
                    <a:cs typeface="inter"/>
                  </a:rPr>
                  <a:t> Law:</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𝜎</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𝑉𝑇</m:t>
                              </m:r>
                            </m:sub>
                          </m:sSub>
                        </m:num>
                        <m:den>
                          <m:rad>
                            <m:radPr>
                              <m:degHide m:val="on"/>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rad>
                        </m:den>
                      </m:f>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where A_VT ≈ 5-10 </a:t>
                </a:r>
                <a:r>
                  <a:rPr lang="en-US" sz="1600" dirty="0" err="1">
                    <a:solidFill>
                      <a:srgbClr val="000000"/>
                    </a:solidFill>
                    <a:latin typeface="inter"/>
                    <a:ea typeface="inter"/>
                    <a:cs typeface="inter"/>
                  </a:rPr>
                  <a:t>mV·μm</a:t>
                </a:r>
                <a:r>
                  <a:rPr lang="en-US" sz="1600" dirty="0">
                    <a:solidFill>
                      <a:srgbClr val="000000"/>
                    </a:solidFill>
                    <a:latin typeface="inter"/>
                    <a:ea typeface="inter"/>
                    <a:cs typeface="inter"/>
                  </a:rPr>
                  <a:t> for modern processes.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Design for Matching:</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For 1 mV matching (3σ):</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3</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𝜎</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𝑚𝑉</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 ⟹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𝜎</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=0.33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𝑚𝑉</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𝑉𝑇</m:t>
                                      </m:r>
                                    </m:sub>
                                  </m:sSub>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𝜎</m:t>
                                  </m:r>
                                </m:den>
                              </m:f>
                            </m:e>
                          </m:d>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𝑚𝑉</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0.33 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𝑚𝑉</m:t>
                                  </m:r>
                                </m:den>
                              </m:f>
                            </m:e>
                          </m:d>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≈230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sSup>
                        <m:s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e>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1600" dirty="0" smtClean="0">
                  <a:latin typeface="Georgia" panose="02040502050405020303" pitchFamily="18" charset="0"/>
                  <a:ea typeface="Calibri" panose="020F0502020204030204" pitchFamily="34" charset="0"/>
                  <a:cs typeface="Times New Roman" panose="02020603050405020304" pitchFamily="18" charset="0"/>
                </a:endParaRPr>
              </a:p>
              <a:p>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If you already chose W = 50 </a:t>
                </a:r>
                <a:r>
                  <a:rPr lang="en-US" sz="1600" b="1" dirty="0" err="1">
                    <a:solidFill>
                      <a:srgbClr val="000000"/>
                    </a:solidFill>
                    <a:latin typeface="inter"/>
                    <a:ea typeface="inter"/>
                    <a:cs typeface="inter"/>
                  </a:rPr>
                  <a:t>μm</a:t>
                </a:r>
                <a:r>
                  <a:rPr lang="en-US" sz="1600" b="1" dirty="0">
                    <a:solidFill>
                      <a:srgbClr val="000000"/>
                    </a:solidFill>
                    <a:latin typeface="inter"/>
                    <a:ea typeface="inter"/>
                    <a:cs typeface="inter"/>
                  </a:rPr>
                  <a:t> from cross-multiplication: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𝑟𝑒𝑞𝑢𝑖𝑟𝑒𝑑</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230</m:t>
                          </m:r>
                        </m:num>
                        <m:den>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50</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=4.6 </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Decision:</a:t>
                </a:r>
                <a:r>
                  <a:rPr lang="en-US" sz="1600" dirty="0">
                    <a:solidFill>
                      <a:srgbClr val="000000"/>
                    </a:solidFill>
                    <a:latin typeface="inter"/>
                    <a:ea typeface="inter"/>
                    <a:cs typeface="inter"/>
                  </a:rPr>
                  <a:t> If speed allows, increase L to 4.6 </a:t>
                </a:r>
                <a:r>
                  <a:rPr lang="en-US" sz="1600" dirty="0" err="1">
                    <a:solidFill>
                      <a:srgbClr val="000000"/>
                    </a:solidFill>
                    <a:latin typeface="inter"/>
                    <a:ea typeface="inter"/>
                    <a:cs typeface="inter"/>
                  </a:rPr>
                  <a:t>μm</a:t>
                </a:r>
                <a:r>
                  <a:rPr lang="en-US" sz="1600" dirty="0">
                    <a:solidFill>
                      <a:srgbClr val="000000"/>
                    </a:solidFill>
                    <a:latin typeface="inter"/>
                    <a:ea typeface="inter"/>
                    <a:cs typeface="inter"/>
                  </a:rPr>
                  <a:t> for better matching.</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01779" cy="4343112"/>
              </a:xfrm>
              <a:blipFill>
                <a:blip r:embed="rId2"/>
                <a:stretch>
                  <a:fillRect l="-1495" t="-182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0695894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44550" y="1327353"/>
            <a:ext cx="10667093" cy="3508653"/>
          </a:xfrm>
        </p:spPr>
        <p:txBody>
          <a:bodyPr/>
          <a:lstStyle/>
          <a:p>
            <a:r>
              <a:rPr lang="en-US" b="1" dirty="0">
                <a:solidFill>
                  <a:srgbClr val="000000"/>
                </a:solidFill>
                <a:latin typeface="inter"/>
                <a:ea typeface="inter"/>
                <a:cs typeface="inter"/>
              </a:rPr>
              <a:t>7.3 Multi-Objective Optimization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dirty="0">
                <a:solidFill>
                  <a:srgbClr val="000000"/>
                </a:solidFill>
                <a:latin typeface="inter"/>
                <a:ea typeface="inter"/>
                <a:cs typeface="inter"/>
              </a:rPr>
              <a:t>Real designs involve </a:t>
            </a:r>
            <a:r>
              <a:rPr lang="en-US" sz="1600" b="1" dirty="0">
                <a:solidFill>
                  <a:srgbClr val="000000"/>
                </a:solidFill>
                <a:latin typeface="inter"/>
                <a:ea typeface="inter"/>
                <a:cs typeface="inter"/>
              </a:rPr>
              <a:t>simultaneous constraints</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Optimization Problem:</a:t>
            </a:r>
            <a:r>
              <a:rPr lang="en-US" sz="1600" dirty="0">
                <a:solidFill>
                  <a:srgbClr val="000000"/>
                </a:solidFill>
                <a:latin typeface="inter"/>
                <a:ea typeface="inter"/>
                <a:cs typeface="inter"/>
              </a:rPr>
              <a:t/>
            </a:r>
            <a:br>
              <a:rPr lang="en-US" sz="1600" dirty="0">
                <a:solidFill>
                  <a:srgbClr val="000000"/>
                </a:solidFill>
                <a:latin typeface="inter"/>
                <a:ea typeface="inter"/>
                <a:cs typeface="inter"/>
              </a:rPr>
            </a:br>
            <a:r>
              <a:rPr lang="en-US" sz="1600" dirty="0">
                <a:solidFill>
                  <a:srgbClr val="000000"/>
                </a:solidFill>
                <a:latin typeface="inter"/>
                <a:ea typeface="inter"/>
                <a:cs typeface="inter"/>
              </a:rPr>
              <a:t>Minimize power while meeting:</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latin typeface="inter"/>
                <a:ea typeface="inter"/>
                <a:cs typeface="inter"/>
              </a:rPr>
              <a:t>Noise &lt; </a:t>
            </a:r>
            <a:r>
              <a:rPr lang="en-US" sz="1600" dirty="0" err="1">
                <a:solidFill>
                  <a:srgbClr val="000000"/>
                </a:solidFill>
                <a:latin typeface="inter"/>
                <a:ea typeface="inter"/>
                <a:cs typeface="inter"/>
              </a:rPr>
              <a:t>N_spec</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latin typeface="inter"/>
                <a:ea typeface="inter"/>
                <a:cs typeface="inter"/>
              </a:rPr>
              <a:t>GBW &gt; </a:t>
            </a:r>
            <a:r>
              <a:rPr lang="en-US" sz="1600" dirty="0" err="1">
                <a:solidFill>
                  <a:srgbClr val="000000"/>
                </a:solidFill>
                <a:latin typeface="inter"/>
                <a:ea typeface="inter"/>
                <a:cs typeface="inter"/>
              </a:rPr>
              <a:t>BW_spec</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latin typeface="inter"/>
                <a:ea typeface="inter"/>
                <a:cs typeface="inter"/>
              </a:rPr>
              <a:t>Matching &lt; </a:t>
            </a:r>
            <a:r>
              <a:rPr lang="en-US" sz="1600" dirty="0" err="1">
                <a:solidFill>
                  <a:srgbClr val="000000"/>
                </a:solidFill>
                <a:latin typeface="inter"/>
                <a:ea typeface="inter"/>
                <a:cs typeface="inter"/>
              </a:rPr>
              <a:t>M_spec</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600" dirty="0">
                <a:solidFill>
                  <a:srgbClr val="000000"/>
                </a:solidFill>
                <a:latin typeface="inter"/>
                <a:ea typeface="inter"/>
                <a:cs typeface="inter"/>
              </a:rPr>
              <a:t>Area &lt; </a:t>
            </a:r>
            <a:r>
              <a:rPr lang="en-US" sz="1600" dirty="0" err="1">
                <a:solidFill>
                  <a:srgbClr val="000000"/>
                </a:solidFill>
                <a:latin typeface="inter"/>
                <a:ea typeface="inter"/>
                <a:cs typeface="inter"/>
              </a:rPr>
              <a:t>A_spec</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Procedure: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600" b="1" dirty="0">
                <a:solidFill>
                  <a:srgbClr val="000000"/>
                </a:solidFill>
                <a:latin typeface="inter"/>
                <a:ea typeface="inter"/>
                <a:cs typeface="inter"/>
              </a:rPr>
              <a:t>Map constraints to gm/ID space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600" b="1" dirty="0">
                <a:solidFill>
                  <a:srgbClr val="000000"/>
                </a:solidFill>
                <a:latin typeface="inter"/>
                <a:ea typeface="inter"/>
                <a:cs typeface="inter"/>
              </a:rPr>
              <a:t>Find feasible gm/ID region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600" b="1" dirty="0">
                <a:solidFill>
                  <a:srgbClr val="000000"/>
                </a:solidFill>
                <a:latin typeface="inter"/>
                <a:ea typeface="inter"/>
                <a:cs typeface="inter"/>
              </a:rPr>
              <a:t>Choose operating point</a:t>
            </a:r>
            <a:r>
              <a:rPr lang="en-US" sz="1600" dirty="0">
                <a:solidFill>
                  <a:srgbClr val="000000"/>
                </a:solidFill>
                <a:latin typeface="inter"/>
                <a:ea typeface="inter"/>
                <a:cs typeface="inter"/>
              </a:rPr>
              <a:t> (often middle of feasible region for robustness)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mj-lt"/>
              <a:buAutoNum type="arabicPeriod"/>
              <a:tabLst>
                <a:tab pos="571500" algn="l"/>
              </a:tabLst>
            </a:pPr>
            <a:r>
              <a:rPr lang="en-US" sz="1600" b="1" dirty="0">
                <a:solidFill>
                  <a:srgbClr val="000000"/>
                </a:solidFill>
                <a:latin typeface="inter"/>
                <a:ea typeface="inter"/>
                <a:cs typeface="inter"/>
              </a:rPr>
              <a:t>Use cross-multiplication</a:t>
            </a:r>
            <a:r>
              <a:rPr lang="en-US" sz="1600" dirty="0">
                <a:solidFill>
                  <a:srgbClr val="000000"/>
                </a:solidFill>
                <a:latin typeface="inter"/>
                <a:ea typeface="inter"/>
                <a:cs typeface="inter"/>
              </a:rPr>
              <a:t> for W</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642820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795564" y="1180396"/>
            <a:ext cx="5730875" cy="5355312"/>
          </a:xfrm>
        </p:spPr>
        <p:txBody>
          <a:bodyPr/>
          <a:lstStyle/>
          <a:p>
            <a:r>
              <a:rPr lang="en-US" sz="1600" b="1" dirty="0">
                <a:solidFill>
                  <a:srgbClr val="000000"/>
                </a:solidFill>
                <a:latin typeface="inter"/>
                <a:ea typeface="inter"/>
                <a:cs typeface="inter"/>
              </a:rPr>
              <a:t>Part 8: Summary and Design Checklist</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8.1 The Power of the Method</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r>
              <a:rPr lang="en-US" sz="1200" dirty="0">
                <a:solidFill>
                  <a:srgbClr val="000000"/>
                </a:solidFill>
                <a:latin typeface="inter"/>
                <a:ea typeface="inter"/>
                <a:cs typeface="inter"/>
              </a:rPr>
              <a:t>The gm/ID cross-multiplication methodology is powerful because:</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r>
              <a:rPr lang="en-US" sz="1200" dirty="0">
                <a:solidFill>
                  <a:srgbClr val="000000"/>
                </a:solidFill>
                <a:latin typeface="inter"/>
                <a:ea typeface="inter"/>
                <a:cs typeface="inter"/>
              </a:rPr>
              <a:t>✓ </a:t>
            </a:r>
            <a:r>
              <a:rPr lang="en-US" sz="1200" b="1" dirty="0">
                <a:solidFill>
                  <a:srgbClr val="000000"/>
                </a:solidFill>
                <a:latin typeface="inter"/>
                <a:ea typeface="inter"/>
                <a:cs typeface="inter"/>
              </a:rPr>
              <a:t>No complex equations needed</a:t>
            </a:r>
            <a:r>
              <a:rPr lang="en-US" sz="1200" dirty="0">
                <a:solidFill>
                  <a:srgbClr val="000000"/>
                </a:solidFill>
                <a:latin typeface="inter"/>
                <a:ea typeface="inter"/>
                <a:cs typeface="inter"/>
              </a:rPr>
              <a:t/>
            </a:r>
            <a:br>
              <a:rPr lang="en-US" sz="1200" dirty="0">
                <a:solidFill>
                  <a:srgbClr val="000000"/>
                </a:solidFill>
                <a:latin typeface="inter"/>
                <a:ea typeface="inter"/>
                <a:cs typeface="inter"/>
              </a:rPr>
            </a:br>
            <a:r>
              <a:rPr lang="en-US" sz="1200" dirty="0">
                <a:solidFill>
                  <a:srgbClr val="000000"/>
                </a:solidFill>
                <a:latin typeface="inter"/>
                <a:ea typeface="inter"/>
                <a:cs typeface="inter"/>
              </a:rPr>
              <a:t>✓ </a:t>
            </a:r>
            <a:r>
              <a:rPr lang="en-US" sz="1200" b="1" dirty="0">
                <a:solidFill>
                  <a:srgbClr val="000000"/>
                </a:solidFill>
                <a:latin typeface="inter"/>
                <a:ea typeface="inter"/>
                <a:cs typeface="inter"/>
              </a:rPr>
              <a:t>Captures real device physics</a:t>
            </a:r>
            <a:r>
              <a:rPr lang="en-US" sz="1200" dirty="0">
                <a:solidFill>
                  <a:srgbClr val="000000"/>
                </a:solidFill>
                <a:latin typeface="inter"/>
                <a:ea typeface="inter"/>
                <a:cs typeface="inter"/>
              </a:rPr>
              <a:t/>
            </a:r>
            <a:br>
              <a:rPr lang="en-US" sz="1200" dirty="0">
                <a:solidFill>
                  <a:srgbClr val="000000"/>
                </a:solidFill>
                <a:latin typeface="inter"/>
                <a:ea typeface="inter"/>
                <a:cs typeface="inter"/>
              </a:rPr>
            </a:br>
            <a:r>
              <a:rPr lang="en-US" sz="1200" dirty="0">
                <a:solidFill>
                  <a:srgbClr val="000000"/>
                </a:solidFill>
                <a:latin typeface="inter"/>
                <a:ea typeface="inter"/>
                <a:cs typeface="inter"/>
              </a:rPr>
              <a:t>✓ </a:t>
            </a:r>
            <a:r>
              <a:rPr lang="en-US" sz="1200" b="1" dirty="0">
                <a:solidFill>
                  <a:srgbClr val="000000"/>
                </a:solidFill>
                <a:latin typeface="inter"/>
                <a:ea typeface="inter"/>
                <a:cs typeface="inter"/>
              </a:rPr>
              <a:t>Works across all inversion regions</a:t>
            </a:r>
            <a:r>
              <a:rPr lang="en-US" sz="1200" dirty="0">
                <a:solidFill>
                  <a:srgbClr val="000000"/>
                </a:solidFill>
                <a:latin typeface="inter"/>
                <a:ea typeface="inter"/>
                <a:cs typeface="inter"/>
              </a:rPr>
              <a:t/>
            </a:r>
            <a:br>
              <a:rPr lang="en-US" sz="1200" dirty="0">
                <a:solidFill>
                  <a:srgbClr val="000000"/>
                </a:solidFill>
                <a:latin typeface="inter"/>
                <a:ea typeface="inter"/>
                <a:cs typeface="inter"/>
              </a:rPr>
            </a:br>
            <a:r>
              <a:rPr lang="en-US" sz="1200" dirty="0">
                <a:solidFill>
                  <a:srgbClr val="000000"/>
                </a:solidFill>
                <a:latin typeface="inter"/>
                <a:ea typeface="inter"/>
                <a:cs typeface="inter"/>
              </a:rPr>
              <a:t>✓ </a:t>
            </a:r>
            <a:r>
              <a:rPr lang="en-US" sz="1200" b="1" dirty="0">
                <a:solidFill>
                  <a:srgbClr val="000000"/>
                </a:solidFill>
                <a:latin typeface="inter"/>
                <a:ea typeface="inter"/>
                <a:cs typeface="inter"/>
              </a:rPr>
              <a:t>Technology portable</a:t>
            </a:r>
            <a:r>
              <a:rPr lang="en-US" sz="1200" dirty="0">
                <a:solidFill>
                  <a:srgbClr val="000000"/>
                </a:solidFill>
                <a:latin typeface="inter"/>
                <a:ea typeface="inter"/>
                <a:cs typeface="inter"/>
              </a:rPr>
              <a:t> (just generate new ref plots)</a:t>
            </a:r>
            <a:br>
              <a:rPr lang="en-US" sz="1200" dirty="0">
                <a:solidFill>
                  <a:srgbClr val="000000"/>
                </a:solidFill>
                <a:latin typeface="inter"/>
                <a:ea typeface="inter"/>
                <a:cs typeface="inter"/>
              </a:rPr>
            </a:br>
            <a:r>
              <a:rPr lang="en-US" sz="1200" dirty="0">
                <a:solidFill>
                  <a:srgbClr val="000000"/>
                </a:solidFill>
                <a:latin typeface="inter"/>
                <a:ea typeface="inter"/>
                <a:cs typeface="inter"/>
              </a:rPr>
              <a:t>✓ </a:t>
            </a:r>
            <a:r>
              <a:rPr lang="en-US" sz="1200" b="1" dirty="0">
                <a:solidFill>
                  <a:srgbClr val="000000"/>
                </a:solidFill>
                <a:latin typeface="inter"/>
                <a:ea typeface="inter"/>
                <a:cs typeface="inter"/>
              </a:rPr>
              <a:t>Fast and intuitive</a:t>
            </a:r>
            <a:r>
              <a:rPr lang="en-US" sz="1200" dirty="0">
                <a:solidFill>
                  <a:srgbClr val="000000"/>
                </a:solidFill>
                <a:latin typeface="inter"/>
                <a:ea typeface="inter"/>
                <a:cs typeface="inter"/>
              </a:rPr>
              <a:t/>
            </a:r>
            <a:br>
              <a:rPr lang="en-US" sz="1200" dirty="0">
                <a:solidFill>
                  <a:srgbClr val="000000"/>
                </a:solidFill>
                <a:latin typeface="inter"/>
                <a:ea typeface="inter"/>
                <a:cs typeface="inter"/>
              </a:rPr>
            </a:br>
            <a:r>
              <a:rPr lang="en-US" sz="1200" dirty="0">
                <a:solidFill>
                  <a:srgbClr val="000000"/>
                </a:solidFill>
                <a:latin typeface="inter"/>
                <a:ea typeface="inter"/>
                <a:cs typeface="inter"/>
              </a:rPr>
              <a:t>✓ </a:t>
            </a:r>
            <a:r>
              <a:rPr lang="en-US" sz="1200" b="1" dirty="0">
                <a:solidFill>
                  <a:srgbClr val="000000"/>
                </a:solidFill>
                <a:latin typeface="inter"/>
                <a:ea typeface="inter"/>
                <a:cs typeface="inter"/>
              </a:rPr>
              <a:t>Directly links specs to geometry</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8.2 Complete Design Checklist</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r>
              <a:rPr lang="en-US" sz="1200" b="1" dirty="0">
                <a:solidFill>
                  <a:srgbClr val="000000"/>
                </a:solidFill>
                <a:latin typeface="inter"/>
                <a:ea typeface="inter"/>
                <a:cs typeface="inter"/>
              </a:rPr>
              <a:t>Before Design:</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Generate reference plots for your technology</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Choose multiple L values (short, medium, long)</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Include corner simulations (FF, SS, FS, SF)</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Verify VDS stays in saturation</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r>
              <a:rPr lang="en-US" sz="1200" b="1" dirty="0">
                <a:solidFill>
                  <a:srgbClr val="000000"/>
                </a:solidFill>
                <a:latin typeface="inter"/>
                <a:ea typeface="inter"/>
                <a:cs typeface="inter"/>
              </a:rPr>
              <a:t>During Design:</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Identify circuit specification (gm, ID, noise, etc.)</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Choose appropriate gm/ID from plots</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Apply cross-multiplication to find W</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Check all constraints (power, area, matching)</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Decide on multi-finger layout if needed</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r>
              <a:rPr lang="en-US" sz="1200" b="1" dirty="0">
                <a:solidFill>
                  <a:srgbClr val="000000"/>
                </a:solidFill>
                <a:latin typeface="inter"/>
                <a:ea typeface="inter"/>
                <a:cs typeface="inter"/>
              </a:rPr>
              <a:t>After Design:</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Simulate full circuit with sized devices</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Run corner analysis</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Perform Monte Carlo for matching</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Extract layout </a:t>
            </a:r>
            <a:r>
              <a:rPr lang="en-US" sz="1200" dirty="0" err="1">
                <a:solidFill>
                  <a:srgbClr val="000000"/>
                </a:solidFill>
                <a:latin typeface="inter"/>
                <a:ea typeface="inter"/>
                <a:cs typeface="inter"/>
              </a:rPr>
              <a:t>parasitics</a:t>
            </a:r>
            <a:r>
              <a:rPr lang="en-US" sz="1200" dirty="0">
                <a:solidFill>
                  <a:srgbClr val="000000"/>
                </a:solidFill>
                <a:latin typeface="inter"/>
                <a:ea typeface="inter"/>
                <a:cs typeface="inter"/>
              </a:rPr>
              <a:t> and re-verify</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200" dirty="0">
                <a:solidFill>
                  <a:srgbClr val="000000"/>
                </a:solidFill>
                <a:latin typeface="inter"/>
                <a:ea typeface="inter"/>
                <a:cs typeface="inter"/>
              </a:rPr>
              <a:t>[ ] Document assumptions and margins</a:t>
            </a:r>
            <a:endParaRPr lang="en-US" sz="1200" dirty="0">
              <a:latin typeface="Georgia" panose="02040502050405020303" pitchFamily="18" charset="0"/>
              <a:ea typeface="Calibri" panose="020F0502020204030204" pitchFamily="34" charset="0"/>
              <a:cs typeface="Times New Roman" panose="02020603050405020304" pitchFamily="18" charset="0"/>
            </a:endParaRPr>
          </a:p>
          <a:p>
            <a:endParaRPr lang="en-US" sz="1200"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89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5897336" y="1166451"/>
            <a:ext cx="6096000" cy="2215991"/>
          </a:xfrm>
          <a:prstGeom prst="rect">
            <a:avLst/>
          </a:prstGeom>
        </p:spPr>
        <p:txBody>
          <a:bodyPr>
            <a:spAutoFit/>
          </a:bodyPr>
          <a:lstStyle/>
          <a:p>
            <a:r>
              <a:rPr lang="en-US" sz="1200" b="1" dirty="0">
                <a:solidFill>
                  <a:srgbClr val="000000"/>
                </a:solidFill>
                <a:latin typeface="inter"/>
                <a:ea typeface="inter"/>
                <a:cs typeface="inter"/>
              </a:rPr>
              <a:t>8.3 Common Mistakes and How to Avoid Them</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r>
              <a:rPr lang="en-US" sz="1050" b="1" dirty="0">
                <a:solidFill>
                  <a:srgbClr val="000000"/>
                </a:solidFill>
                <a:latin typeface="inter"/>
                <a:ea typeface="inter"/>
                <a:cs typeface="inter"/>
              </a:rPr>
              <a:t>Mistake 1:</a:t>
            </a:r>
            <a:r>
              <a:rPr lang="en-US" sz="1050" dirty="0">
                <a:solidFill>
                  <a:srgbClr val="000000"/>
                </a:solidFill>
                <a:latin typeface="inter"/>
                <a:ea typeface="inter"/>
                <a:cs typeface="inter"/>
              </a:rPr>
              <a:t> "I'll just use the square law to get W, then tweak in simulation"</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050" b="1" dirty="0">
                <a:solidFill>
                  <a:srgbClr val="000000"/>
                </a:solidFill>
                <a:latin typeface="inter"/>
                <a:ea typeface="inter"/>
                <a:cs typeface="inter"/>
              </a:rPr>
              <a:t>Why it fails:</a:t>
            </a:r>
            <a:r>
              <a:rPr lang="en-US" sz="1050" dirty="0">
                <a:solidFill>
                  <a:srgbClr val="000000"/>
                </a:solidFill>
                <a:latin typeface="inter"/>
                <a:ea typeface="inter"/>
                <a:cs typeface="inter"/>
              </a:rPr>
              <a:t> Can be off by 2-5× in modern processes</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050" b="1" dirty="0">
                <a:solidFill>
                  <a:srgbClr val="000000"/>
                </a:solidFill>
                <a:latin typeface="inter"/>
                <a:ea typeface="inter"/>
                <a:cs typeface="inter"/>
              </a:rPr>
              <a:t>Better approach:</a:t>
            </a:r>
            <a:r>
              <a:rPr lang="en-US" sz="1050" dirty="0">
                <a:solidFill>
                  <a:srgbClr val="000000"/>
                </a:solidFill>
                <a:latin typeface="inter"/>
                <a:ea typeface="inter"/>
                <a:cs typeface="inter"/>
              </a:rPr>
              <a:t> Use gm/ID from the start</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r>
              <a:rPr lang="en-US" sz="1050" b="1" dirty="0">
                <a:solidFill>
                  <a:srgbClr val="000000"/>
                </a:solidFill>
                <a:latin typeface="inter"/>
                <a:ea typeface="inter"/>
                <a:cs typeface="inter"/>
              </a:rPr>
              <a:t>Mistake 2:</a:t>
            </a:r>
            <a:r>
              <a:rPr lang="en-US" sz="1050" dirty="0">
                <a:solidFill>
                  <a:srgbClr val="000000"/>
                </a:solidFill>
                <a:latin typeface="inter"/>
                <a:ea typeface="inter"/>
                <a:cs typeface="inter"/>
              </a:rPr>
              <a:t> "I need different L, I'll just scale W proportionally"</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050" b="1" dirty="0">
                <a:solidFill>
                  <a:srgbClr val="000000"/>
                </a:solidFill>
                <a:latin typeface="inter"/>
                <a:ea typeface="inter"/>
                <a:cs typeface="inter"/>
              </a:rPr>
              <a:t>Why it fails:</a:t>
            </a:r>
            <a:r>
              <a:rPr lang="en-US" sz="1050" dirty="0">
                <a:solidFill>
                  <a:srgbClr val="000000"/>
                </a:solidFill>
                <a:latin typeface="inter"/>
                <a:ea typeface="inter"/>
                <a:cs typeface="inter"/>
              </a:rPr>
              <a:t> L changes current density non-linearly</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050" b="1" dirty="0">
                <a:solidFill>
                  <a:srgbClr val="000000"/>
                </a:solidFill>
                <a:latin typeface="inter"/>
                <a:ea typeface="inter"/>
                <a:cs typeface="inter"/>
              </a:rPr>
              <a:t>Better approach:</a:t>
            </a:r>
            <a:r>
              <a:rPr lang="en-US" sz="1050" dirty="0">
                <a:solidFill>
                  <a:srgbClr val="000000"/>
                </a:solidFill>
                <a:latin typeface="inter"/>
                <a:ea typeface="inter"/>
                <a:cs typeface="inter"/>
              </a:rPr>
              <a:t> Generate reference plots for each L of interest</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r>
              <a:rPr lang="en-US" sz="1050" b="1" dirty="0">
                <a:solidFill>
                  <a:srgbClr val="000000"/>
                </a:solidFill>
                <a:latin typeface="inter"/>
                <a:ea typeface="inter"/>
                <a:cs typeface="inter"/>
              </a:rPr>
              <a:t>Mistake 3:</a:t>
            </a:r>
            <a:r>
              <a:rPr lang="en-US" sz="1050" dirty="0">
                <a:solidFill>
                  <a:srgbClr val="000000"/>
                </a:solidFill>
                <a:latin typeface="inter"/>
                <a:ea typeface="inter"/>
                <a:cs typeface="inter"/>
              </a:rPr>
              <a:t> "My W came out huge (1 mm), I'll just live with it"</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050" b="1" dirty="0">
                <a:solidFill>
                  <a:srgbClr val="000000"/>
                </a:solidFill>
                <a:latin typeface="inter"/>
                <a:ea typeface="inter"/>
                <a:cs typeface="inter"/>
              </a:rPr>
              <a:t>Why it fails:</a:t>
            </a:r>
            <a:r>
              <a:rPr lang="en-US" sz="1050" dirty="0">
                <a:solidFill>
                  <a:srgbClr val="000000"/>
                </a:solidFill>
                <a:latin typeface="inter"/>
                <a:ea typeface="inter"/>
                <a:cs typeface="inter"/>
              </a:rPr>
              <a:t> </a:t>
            </a:r>
            <a:r>
              <a:rPr lang="en-US" sz="1050" dirty="0" err="1">
                <a:solidFill>
                  <a:srgbClr val="000000"/>
                </a:solidFill>
                <a:latin typeface="inter"/>
                <a:ea typeface="inter"/>
                <a:cs typeface="inter"/>
              </a:rPr>
              <a:t>Parasitics</a:t>
            </a:r>
            <a:r>
              <a:rPr lang="en-US" sz="1050" dirty="0">
                <a:solidFill>
                  <a:srgbClr val="000000"/>
                </a:solidFill>
                <a:latin typeface="inter"/>
                <a:ea typeface="inter"/>
                <a:cs typeface="inter"/>
              </a:rPr>
              <a:t>, gate resistance kill performance</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050" b="1" dirty="0">
                <a:solidFill>
                  <a:srgbClr val="000000"/>
                </a:solidFill>
                <a:latin typeface="inter"/>
                <a:ea typeface="inter"/>
                <a:cs typeface="inter"/>
              </a:rPr>
              <a:t>Better approach:</a:t>
            </a:r>
            <a:r>
              <a:rPr lang="en-US" sz="1050" dirty="0">
                <a:solidFill>
                  <a:srgbClr val="000000"/>
                </a:solidFill>
                <a:latin typeface="inter"/>
                <a:ea typeface="inter"/>
                <a:cs typeface="inter"/>
              </a:rPr>
              <a:t> Use multi-finger or parallel devices</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r>
              <a:rPr lang="en-US" sz="1050" b="1" dirty="0">
                <a:solidFill>
                  <a:srgbClr val="000000"/>
                </a:solidFill>
                <a:latin typeface="inter"/>
                <a:ea typeface="inter"/>
                <a:cs typeface="inter"/>
              </a:rPr>
              <a:t>Mistake 4:</a:t>
            </a:r>
            <a:r>
              <a:rPr lang="en-US" sz="1050" dirty="0">
                <a:solidFill>
                  <a:srgbClr val="000000"/>
                </a:solidFill>
                <a:latin typeface="inter"/>
                <a:ea typeface="inter"/>
                <a:cs typeface="inter"/>
              </a:rPr>
              <a:t> "The reference plot says ID = 1 </a:t>
            </a:r>
            <a:r>
              <a:rPr lang="en-US" sz="1050" dirty="0" err="1">
                <a:solidFill>
                  <a:srgbClr val="000000"/>
                </a:solidFill>
                <a:latin typeface="inter"/>
                <a:ea typeface="inter"/>
                <a:cs typeface="inter"/>
              </a:rPr>
              <a:t>μA</a:t>
            </a:r>
            <a:r>
              <a:rPr lang="en-US" sz="1050" dirty="0">
                <a:solidFill>
                  <a:srgbClr val="000000"/>
                </a:solidFill>
                <a:latin typeface="inter"/>
                <a:ea typeface="inter"/>
                <a:cs typeface="inter"/>
              </a:rPr>
              <a:t>, so I'll use that"</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050" b="1" dirty="0">
                <a:solidFill>
                  <a:srgbClr val="000000"/>
                </a:solidFill>
                <a:latin typeface="inter"/>
                <a:ea typeface="inter"/>
                <a:cs typeface="inter"/>
              </a:rPr>
              <a:t>Why it fails:</a:t>
            </a:r>
            <a:r>
              <a:rPr lang="en-US" sz="1050" dirty="0">
                <a:solidFill>
                  <a:srgbClr val="000000"/>
                </a:solidFill>
                <a:latin typeface="inter"/>
                <a:ea typeface="inter"/>
                <a:cs typeface="inter"/>
              </a:rPr>
              <a:t> That's for the reference device size, not your spec</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a:buFont typeface="Symbol" panose="05050102010706020507" pitchFamily="18" charset="2"/>
              <a:buChar char=""/>
              <a:tabLst>
                <a:tab pos="571500" algn="l"/>
              </a:tabLst>
            </a:pPr>
            <a:r>
              <a:rPr lang="en-US" sz="1050" b="1" dirty="0">
                <a:solidFill>
                  <a:srgbClr val="000000"/>
                </a:solidFill>
                <a:latin typeface="inter"/>
                <a:ea typeface="inter"/>
                <a:cs typeface="inter"/>
              </a:rPr>
              <a:t>Better approach:</a:t>
            </a:r>
            <a:r>
              <a:rPr lang="en-US" sz="1050" dirty="0">
                <a:solidFill>
                  <a:srgbClr val="000000"/>
                </a:solidFill>
                <a:latin typeface="inter"/>
                <a:ea typeface="inter"/>
                <a:cs typeface="inter"/>
              </a:rPr>
              <a:t> Always use cross-multiplication to scale</a:t>
            </a:r>
            <a:endParaRPr lang="en-US" sz="1050" dirty="0">
              <a:effectLst/>
              <a:latin typeface="Georgia" panose="02040502050405020303"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220497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784" y="0"/>
            <a:ext cx="10593196" cy="1057149"/>
          </a:xfrm>
        </p:spPr>
        <p:txBody>
          <a:bodyPr/>
          <a:lstStyle/>
          <a:p>
            <a:pPr marL="0" marR="0" lvl="0" indent="0" defTabSz="914400" eaLnBrk="1" fontAlgn="auto" latinLnBrk="0" hangingPunct="1">
              <a:lnSpc>
                <a:spcPct val="112000"/>
              </a:lnSpc>
              <a:spcBef>
                <a:spcPts val="785"/>
              </a:spcBef>
              <a:spcAft>
                <a:spcPts val="785"/>
              </a:spcAft>
              <a:buClrTx/>
              <a:buSzTx/>
              <a:buFontTx/>
              <a:buNone/>
              <a:tabLst/>
              <a:defRPr/>
            </a:pPr>
            <a:r>
              <a:rPr lang="en-US" sz="3200" b="1" dirty="0" smtClean="0">
                <a:solidFill>
                  <a:srgbClr val="000000"/>
                </a:solidFill>
                <a:latin typeface="inter"/>
                <a:ea typeface="inter"/>
                <a:cs typeface="inter"/>
              </a:rPr>
              <a:t>Degrees </a:t>
            </a:r>
            <a:r>
              <a:rPr lang="en-US" sz="3200" b="1" dirty="0">
                <a:solidFill>
                  <a:srgbClr val="000000"/>
                </a:solidFill>
                <a:latin typeface="inter"/>
                <a:ea typeface="inter"/>
                <a:cs typeface="inter"/>
              </a:rPr>
              <a:t>of Freedom, LUT Generation, and Design </a:t>
            </a:r>
            <a:r>
              <a:rPr lang="en-US" sz="3200" b="1" dirty="0" smtClean="0">
                <a:solidFill>
                  <a:srgbClr val="000000"/>
                </a:solidFill>
                <a:latin typeface="inter"/>
                <a:ea typeface="inter"/>
                <a:cs typeface="inter"/>
              </a:rPr>
              <a:t>Methodology</a:t>
            </a:r>
            <a:endParaRPr lang="en-US" sz="2400"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86884" y="1242686"/>
                <a:ext cx="10575722" cy="3095719"/>
              </a:xfrm>
            </p:spPr>
            <p:txBody>
              <a:bodyPr/>
              <a:lstStyle/>
              <a:p>
                <a:pPr algn="ctr">
                  <a:lnSpc>
                    <a:spcPct val="150000"/>
                  </a:lnSpc>
                  <a:spcBef>
                    <a:spcPts val="1575"/>
                  </a:spcBef>
                  <a:spcAft>
                    <a:spcPts val="525"/>
                  </a:spcAft>
                </a:pPr>
                <a:r>
                  <a:rPr lang="en-US" sz="1800" b="1" dirty="0" smtClean="0">
                    <a:solidFill>
                      <a:srgbClr val="C00000"/>
                    </a:solidFill>
                    <a:effectLst/>
                    <a:latin typeface="inter"/>
                    <a:ea typeface="inter"/>
                    <a:cs typeface="inter"/>
                  </a:rPr>
                  <a:t>Part </a:t>
                </a:r>
                <a:r>
                  <a:rPr lang="en-US" sz="1800" b="1" dirty="0">
                    <a:solidFill>
                      <a:srgbClr val="C00000"/>
                    </a:solidFill>
                    <a:effectLst/>
                    <a:latin typeface="inter"/>
                    <a:ea typeface="inter"/>
                    <a:cs typeface="inter"/>
                  </a:rPr>
                  <a:t>1: The Five Degrees of Freedom—Old vs. New Paradigm</a:t>
                </a:r>
                <a:endParaRPr lang="en-US" sz="1400"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Bef>
                    <a:spcPts val="1575"/>
                  </a:spcBef>
                  <a:spcAft>
                    <a:spcPts val="525"/>
                  </a:spcAft>
                </a:pPr>
                <a:r>
                  <a:rPr lang="en-US" sz="1800" b="1" dirty="0">
                    <a:solidFill>
                      <a:srgbClr val="000000"/>
                    </a:solidFill>
                    <a:effectLst/>
                    <a:latin typeface="inter"/>
                    <a:ea typeface="inter"/>
                    <a:cs typeface="inter"/>
                  </a:rPr>
                  <a:t>1.1 Understanding Degrees of Freedom (DOF)</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sz="1400" dirty="0">
                    <a:solidFill>
                      <a:srgbClr val="000000"/>
                    </a:solidFill>
                    <a:latin typeface="inter"/>
                    <a:ea typeface="inter"/>
                    <a:cs typeface="inter"/>
                  </a:rPr>
                  <a:t>In MOSFET design, a </a:t>
                </a:r>
                <a:r>
                  <a:rPr lang="en-US" sz="1400" b="1" dirty="0">
                    <a:solidFill>
                      <a:srgbClr val="000000"/>
                    </a:solidFill>
                    <a:latin typeface="inter"/>
                    <a:ea typeface="inter"/>
                    <a:cs typeface="inter"/>
                  </a:rPr>
                  <a:t>degree of freedom</a:t>
                </a:r>
                <a:r>
                  <a:rPr lang="en-US" sz="1400" dirty="0">
                    <a:solidFill>
                      <a:srgbClr val="000000"/>
                    </a:solidFill>
                    <a:latin typeface="inter"/>
                    <a:ea typeface="inter"/>
                    <a:cs typeface="inter"/>
                  </a:rPr>
                  <a:t> is a design parameter that you can independently adjust to influence circuit performance. Every MOSFET has five fundamental variables:</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14:m>
                  <m:oMathPara xmlns:m="http://schemas.openxmlformats.org/officeDocument/2006/math">
                    <m:oMathParaPr>
                      <m:jc m:val="centerGroup"/>
                    </m:oMathParaPr>
                    <m:oMath xmlns:m="http://schemas.openxmlformats.org/officeDocument/2006/math">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MOSFET</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400">
                          <a:solidFill>
                            <a:srgbClr val="000000"/>
                          </a:solidFill>
                          <a:latin typeface="Georgia" panose="02040502050405020303" pitchFamily="18" charset="0"/>
                          <a:ea typeface="Calibri" panose="020F0502020204030204" pitchFamily="34" charset="0"/>
                          <a:cs typeface="Times New Roman" panose="02020603050405020304" pitchFamily="18" charset="0"/>
                        </a:rPr>
                        <m:t>behavior</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𝑆𝐵</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latin typeface="Georgia" panose="02040502050405020303" pitchFamily="18" charset="0"/>
                  <a:ea typeface="Calibri" panose="020F0502020204030204" pitchFamily="34" charset="0"/>
                  <a:cs typeface="Times New Roman" panose="02020603050405020304" pitchFamily="18" charset="0"/>
                </a:endParaRPr>
              </a:p>
              <a:p>
                <a:pPr>
                  <a:lnSpc>
                    <a:spcPct val="150000"/>
                  </a:lnSpc>
                  <a:spcAft>
                    <a:spcPts val="1050"/>
                  </a:spcAft>
                </a:pPr>
                <a:r>
                  <a:rPr lang="en-US" sz="1400" dirty="0">
                    <a:solidFill>
                      <a:srgbClr val="000000"/>
                    </a:solidFill>
                    <a:latin typeface="inter"/>
                    <a:ea typeface="inter"/>
                    <a:cs typeface="inter"/>
                  </a:rPr>
                  <a:t>These five parameters completely define the transistor's operating point and behavior.</a:t>
                </a:r>
                <a:endParaRPr lang="en-US" sz="1400" dirty="0">
                  <a:latin typeface="Georgia" panose="02040502050405020303" pitchFamily="18" charset="0"/>
                  <a:ea typeface="Calibri" panose="020F0502020204030204" pitchFamily="34" charset="0"/>
                  <a:cs typeface="Times New Roman" panose="02020603050405020304" pitchFamily="18" charset="0"/>
                </a:endParaRPr>
              </a:p>
              <a:p>
                <a:endParaRPr lang="en-US" sz="14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86884" y="1242686"/>
                <a:ext cx="10575722" cy="3095719"/>
              </a:xfrm>
              <a:blipFill>
                <a:blip r:embed="rId2"/>
                <a:stretch>
                  <a:fillRect l="-132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2785325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602383" cy="4656916"/>
              </a:xfrm>
            </p:spPr>
            <p:txBody>
              <a:bodyPr/>
              <a:lstStyle/>
              <a:p>
                <a:pPr lvl="0"/>
                <a:r>
                  <a:rPr lang="en-US" sz="1800" b="1" dirty="0">
                    <a:solidFill>
                      <a:srgbClr val="000000"/>
                    </a:solidFill>
                    <a:latin typeface="inter"/>
                    <a:ea typeface="inter"/>
                    <a:cs typeface="inter"/>
                  </a:rPr>
                  <a:t>1.2 The Old-School Paradigm: Direct Parameter Specification</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a:solidFill>
                      <a:srgbClr val="000000"/>
                    </a:solidFill>
                    <a:latin typeface="inter"/>
                    <a:ea typeface="inter"/>
                    <a:cs typeface="inter"/>
                  </a:rPr>
                  <a:t>Conventional Approach:</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a:solidFill>
                      <a:srgbClr val="000000"/>
                    </a:solidFill>
                    <a:latin typeface="inter"/>
                    <a:ea typeface="inter"/>
                    <a:cs typeface="inter"/>
                  </a:rPr>
                  <a:t>Choose: </a:t>
                </a:r>
                <a:r>
                  <a:rPr lang="en-US" sz="1400" b="1" dirty="0">
                    <a:solidFill>
                      <a:srgbClr val="000000"/>
                    </a:solidFill>
                    <a:latin typeface="inter"/>
                    <a:ea typeface="inter"/>
                    <a:cs typeface="inter"/>
                  </a:rPr>
                  <a:t>W</a:t>
                </a:r>
                <a:r>
                  <a:rPr lang="en-US" sz="1400" dirty="0">
                    <a:solidFill>
                      <a:srgbClr val="000000"/>
                    </a:solidFill>
                    <a:latin typeface="inter"/>
                    <a:ea typeface="inter"/>
                    <a:cs typeface="inter"/>
                  </a:rPr>
                  <a:t> (width), </a:t>
                </a:r>
                <a:r>
                  <a:rPr lang="en-US" sz="1400" b="1" dirty="0">
                    <a:solidFill>
                      <a:srgbClr val="000000"/>
                    </a:solidFill>
                    <a:latin typeface="inter"/>
                    <a:ea typeface="inter"/>
                    <a:cs typeface="inter"/>
                  </a:rPr>
                  <a:t>L</a:t>
                </a:r>
                <a:r>
                  <a:rPr lang="en-US" sz="1400" dirty="0">
                    <a:solidFill>
                      <a:srgbClr val="000000"/>
                    </a:solidFill>
                    <a:latin typeface="inter"/>
                    <a:ea typeface="inter"/>
                    <a:cs typeface="inter"/>
                  </a:rPr>
                  <a:t> (length), </a:t>
                </a:r>
                <a:r>
                  <a:rPr lang="en-US" sz="1400" b="1" dirty="0">
                    <a:solidFill>
                      <a:srgbClr val="000000"/>
                    </a:solidFill>
                    <a:latin typeface="inter"/>
                    <a:ea typeface="inter"/>
                    <a:cs typeface="inter"/>
                  </a:rPr>
                  <a:t>VGS</a:t>
                </a:r>
                <a:r>
                  <a:rPr lang="en-US" sz="1400" dirty="0">
                    <a:solidFill>
                      <a:srgbClr val="000000"/>
                    </a:solidFill>
                    <a:latin typeface="inter"/>
                    <a:ea typeface="inter"/>
                    <a:cs typeface="inter"/>
                  </a:rPr>
                  <a:t> (gate voltage), </a:t>
                </a:r>
                <a:r>
                  <a:rPr lang="en-US" sz="1400" b="1" dirty="0">
                    <a:solidFill>
                      <a:srgbClr val="000000"/>
                    </a:solidFill>
                    <a:latin typeface="inter"/>
                    <a:ea typeface="inter"/>
                    <a:cs typeface="inter"/>
                  </a:rPr>
                  <a:t>VDS</a:t>
                </a:r>
                <a:r>
                  <a:rPr lang="en-US" sz="1400" dirty="0">
                    <a:solidFill>
                      <a:srgbClr val="000000"/>
                    </a:solidFill>
                    <a:latin typeface="inter"/>
                    <a:ea typeface="inter"/>
                    <a:cs typeface="inter"/>
                  </a:rPr>
                  <a:t> (drain voltage), </a:t>
                </a:r>
                <a:r>
                  <a:rPr lang="en-US" sz="1400" b="1" dirty="0">
                    <a:solidFill>
                      <a:srgbClr val="000000"/>
                    </a:solidFill>
                    <a:latin typeface="inter"/>
                    <a:ea typeface="inter"/>
                    <a:cs typeface="inter"/>
                  </a:rPr>
                  <a:t>VSB</a:t>
                </a:r>
                <a:r>
                  <a:rPr lang="en-US" sz="1400" dirty="0">
                    <a:solidFill>
                      <a:srgbClr val="000000"/>
                    </a:solidFill>
                    <a:latin typeface="inter"/>
                    <a:ea typeface="inter"/>
                    <a:cs typeface="inter"/>
                  </a:rPr>
                  <a:t> (body voltage)</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a:solidFill>
                      <a:srgbClr val="000000"/>
                    </a:solidFill>
                    <a:latin typeface="inter"/>
                    <a:ea typeface="inter"/>
                    <a:cs typeface="inter"/>
                  </a:rPr>
                  <a:t>Predict: ID, gm, noise, etc. using square law or basic equations</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a:solidFill>
                      <a:srgbClr val="000000"/>
                    </a:solidFill>
                    <a:latin typeface="inter"/>
                    <a:ea typeface="inter"/>
                    <a:cs typeface="inter"/>
                  </a:rPr>
                  <a:t>Problem: Square law fails in modern short-channel devices</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a:solidFill>
                      <a:srgbClr val="000000"/>
                    </a:solidFill>
                    <a:latin typeface="inter"/>
                    <a:ea typeface="inter"/>
                    <a:cs typeface="inter"/>
                  </a:rPr>
                  <a:t>Mathematical Framework:</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dirty="0">
                    <a:solidFill>
                      <a:srgbClr val="000000"/>
                    </a:solidFill>
                    <a:latin typeface="inter"/>
                    <a:ea typeface="inter"/>
                    <a:cs typeface="inter"/>
                  </a:rPr>
                  <a:t>Using square law (in strong inversion):</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14:m>
                  <m:oMathPara xmlns:m="http://schemas.openxmlformats.org/officeDocument/2006/math">
                    <m:oMathParaPr>
                      <m:jc m:val="centerGroup"/>
                    </m:oMathParaPr>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den>
                      </m:f>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sSup>
                        <m:s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𝜆</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m:oMathPara>
                </a14:m>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dirty="0">
                    <a:solidFill>
                      <a:srgbClr val="000000"/>
                    </a:solidFill>
                    <a:latin typeface="inter"/>
                    <a:ea typeface="inter"/>
                    <a:cs typeface="inter"/>
                  </a:rPr>
                  <a:t>With these five directly-set parameters, everything else is determined:</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err="1">
                    <a:solidFill>
                      <a:srgbClr val="000000"/>
                    </a:solidFill>
                    <a:latin typeface="inter"/>
                    <a:ea typeface="inter"/>
                    <a:cs typeface="inter"/>
                  </a:rPr>
                  <a:t>Transconductance</a:t>
                </a:r>
                <a:r>
                  <a:rPr lang="en-US" sz="1400" dirty="0">
                    <a:solidFill>
                      <a:srgbClr val="000000"/>
                    </a:solidFill>
                    <a:latin typeface="inter"/>
                    <a:ea typeface="inter"/>
                    <a:cs typeface="inter"/>
                  </a:rPr>
                  <a:t>: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𝜇</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𝑜𝑥</m:t>
                        </m:r>
                      </m:sub>
                    </m:sSub>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den>
                    </m:f>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𝑇𝐻</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a:solidFill>
                      <a:srgbClr val="000000"/>
                    </a:solidFill>
                    <a:latin typeface="inter"/>
                    <a:ea typeface="inter"/>
                    <a:cs typeface="inter"/>
                  </a:rPr>
                  <a:t>Noise: </a:t>
                </a:r>
                <a14:m>
                  <m:oMath xmlns:m="http://schemas.openxmlformats.org/officeDocument/2006/math">
                    <m:bar>
                      <m:barPr>
                        <m:pos m:val="top"/>
                        <m:ctrlPr>
                          <a:rPr lang="en-US" sz="1400" i="1">
                            <a:solidFill>
                              <a:prstClr val="black"/>
                            </a:solidFill>
                            <a:latin typeface="Cambria Math" panose="02040503050406030204" pitchFamily="18" charset="0"/>
                            <a:ea typeface="Calibri" panose="020F0502020204030204" pitchFamily="34" charset="0"/>
                            <a:cs typeface="Times New Roman" panose="02020603050405020304" pitchFamily="18" charset="0"/>
                          </a:rPr>
                        </m:ctrlPr>
                      </m:barPr>
                      <m:e>
                        <m:sSubSup>
                          <m:sSubSup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up>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bar>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den>
                    </m:f>
                  </m:oMath>
                </a14:m>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a:solidFill>
                      <a:srgbClr val="000000"/>
                    </a:solidFill>
                    <a:latin typeface="inter"/>
                    <a:ea typeface="inter"/>
                    <a:cs typeface="inter"/>
                  </a:rPr>
                  <a:t>Gain: </a:t>
                </a:r>
                <a14:m>
                  <m:oMath xmlns:m="http://schemas.openxmlformats.org/officeDocument/2006/math">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𝑣</m:t>
                        </m:r>
                      </m:sub>
                    </m:sSub>
                    <m:r>
                      <a:rPr lang="en-US" sz="14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sz="14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oMath>
                </a14:m>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b="1" dirty="0">
                    <a:solidFill>
                      <a:srgbClr val="000000"/>
                    </a:solidFill>
                    <a:latin typeface="inter"/>
                    <a:ea typeface="inter"/>
                    <a:cs typeface="inter"/>
                  </a:rPr>
                  <a:t>Why This Breaks Down:</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lvl="0"/>
                <a:r>
                  <a:rPr lang="en-US" sz="1400" dirty="0">
                    <a:solidFill>
                      <a:srgbClr val="000000"/>
                    </a:solidFill>
                    <a:latin typeface="inter"/>
                    <a:ea typeface="inter"/>
                    <a:cs typeface="inter"/>
                  </a:rPr>
                  <a:t>In moderate and weak inversion, the square law assumptions fail:</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a:solidFill>
                      <a:srgbClr val="000000"/>
                    </a:solidFill>
                    <a:latin typeface="inter"/>
                    <a:ea typeface="inter"/>
                    <a:cs typeface="inter"/>
                  </a:rPr>
                  <a:t>Velocity saturation effects</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a:solidFill>
                      <a:srgbClr val="000000"/>
                    </a:solidFill>
                    <a:latin typeface="inter"/>
                    <a:ea typeface="inter"/>
                    <a:cs typeface="inter"/>
                  </a:rPr>
                  <a:t>Channel length modulation becomes complex</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a:solidFill>
                      <a:srgbClr val="000000"/>
                    </a:solidFill>
                    <a:latin typeface="inter"/>
                    <a:ea typeface="inter"/>
                    <a:cs typeface="inter"/>
                  </a:rPr>
                  <a:t>Subthreshold behavior (exponential) dominates</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pPr marL="342900" marR="0" lvl="0" indent="-342900" defTabSz="914400" eaLnBrk="1" fontAlgn="auto" latinLnBrk="0" hangingPunct="1">
                  <a:buClrTx/>
                  <a:buSzTx/>
                  <a:buFont typeface="Symbol" panose="05050102010706020507" pitchFamily="18" charset="2"/>
                  <a:buChar char=""/>
                  <a:tabLst>
                    <a:tab pos="571500" algn="l"/>
                  </a:tabLst>
                  <a:defRPr/>
                </a:pPr>
                <a:r>
                  <a:rPr lang="en-US" sz="1400" dirty="0">
                    <a:solidFill>
                      <a:srgbClr val="000000"/>
                    </a:solidFill>
                    <a:latin typeface="inter"/>
                    <a:ea typeface="inter"/>
                    <a:cs typeface="inter"/>
                  </a:rPr>
                  <a:t>Short-channel effects distort the simple relationships</a:t>
                </a:r>
                <a:endParaRPr lang="en-US" sz="1400" dirty="0">
                  <a:solidFill>
                    <a:prstClr val="black"/>
                  </a:solidFill>
                  <a:latin typeface="Georgia" panose="02040502050405020303" pitchFamily="18" charset="0"/>
                  <a:ea typeface="Calibri" panose="020F0502020204030204" pitchFamily="34" charset="0"/>
                  <a:cs typeface="Times New Roman" panose="02020603050405020304" pitchFamily="18" charset="0"/>
                </a:endParaRPr>
              </a:p>
              <a:p>
                <a:endParaRPr lang="en-US"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02383" cy="4656916"/>
              </a:xfrm>
              <a:blipFill>
                <a:blip r:embed="rId2"/>
                <a:stretch>
                  <a:fillRect l="-1380" t="-1702"/>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0286565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44550" y="1327353"/>
                <a:ext cx="10462986" cy="4401205"/>
              </a:xfrm>
            </p:spPr>
            <p:txBody>
              <a:bodyPr/>
              <a:lstStyle/>
              <a:p>
                <a:pPr algn="ctr">
                  <a:spcBef>
                    <a:spcPts val="1575"/>
                  </a:spcBef>
                  <a:spcAft>
                    <a:spcPts val="525"/>
                  </a:spcAft>
                </a:pPr>
                <a:r>
                  <a:rPr lang="en-US" b="1" i="1" dirty="0" smtClean="0">
                    <a:solidFill>
                      <a:srgbClr val="C00000"/>
                    </a:solidFill>
                    <a:latin typeface="inter"/>
                    <a:ea typeface="inter"/>
                    <a:cs typeface="inter"/>
                  </a:rPr>
                  <a:t>1.3 The New Paradigm: </a:t>
                </a:r>
                <a14:m>
                  <m:oMath xmlns:m="http://schemas.openxmlformats.org/officeDocument/2006/math">
                    <m:sSub>
                      <m:sSubPr>
                        <m:ctrlP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b="1" i="1">
                            <a:solidFill>
                              <a:srgbClr val="C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b="1" i="1" dirty="0" smtClean="0">
                    <a:solidFill>
                      <a:srgbClr val="C00000"/>
                    </a:solidFill>
                    <a:latin typeface="inter"/>
                    <a:ea typeface="inter"/>
                    <a:cs typeface="inter"/>
                  </a:rPr>
                  <a:t>-Centric Design</a:t>
                </a:r>
                <a:endParaRPr lang="en-US" sz="1600" i="1" dirty="0">
                  <a:solidFill>
                    <a:srgbClr val="C00000"/>
                  </a:solidFill>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000000"/>
                    </a:solidFill>
                    <a:latin typeface="inter"/>
                    <a:ea typeface="inter"/>
                    <a:cs typeface="inter"/>
                  </a:rPr>
                  <a:t>Modern Approach:</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Choose: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6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600" dirty="0">
                    <a:solidFill>
                      <a:srgbClr val="000000"/>
                    </a:solidFill>
                    <a:latin typeface="inter"/>
                    <a:ea typeface="inter"/>
                    <a:cs typeface="inter"/>
                  </a:rPr>
                  <a:t> (efficiency), </a:t>
                </a:r>
                <a14:m>
                  <m:oMath xmlns:m="http://schemas.openxmlformats.org/officeDocument/2006/math">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𝑳</m:t>
                    </m:r>
                  </m:oMath>
                </a14:m>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length),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600" dirty="0">
                    <a:solidFill>
                      <a:srgbClr val="000000"/>
                    </a:solidFill>
                    <a:latin typeface="inter"/>
                    <a:ea typeface="inter"/>
                    <a:cs typeface="inter"/>
                  </a:rPr>
                  <a:t> (bias current),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𝑺</m:t>
                        </m:r>
                      </m:sub>
                    </m:sSub>
                  </m:oMath>
                </a14:m>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(drain voltage),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𝑺𝑩</m:t>
                        </m:r>
                      </m:sub>
                    </m:sSub>
                  </m:oMath>
                </a14:m>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(body voltage)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These are derived from </a:t>
                </a:r>
                <a:r>
                  <a:rPr lang="en-US" sz="1600" dirty="0" smtClean="0">
                    <a:solidFill>
                      <a:srgbClr val="000000"/>
                    </a:solidFill>
                    <a:latin typeface="inter"/>
                    <a:ea typeface="inter"/>
                    <a:cs typeface="inter"/>
                  </a:rPr>
                  <a:t>an analysis </a:t>
                </a:r>
                <a:r>
                  <a:rPr lang="en-US" sz="1600" dirty="0">
                    <a:solidFill>
                      <a:srgbClr val="000000"/>
                    </a:solidFill>
                    <a:latin typeface="inter"/>
                    <a:ea typeface="inter"/>
                    <a:cs typeface="inter"/>
                  </a:rPr>
                  <a:t>of </a:t>
                </a:r>
                <a:r>
                  <a:rPr lang="en-US" sz="1600" b="1" dirty="0">
                    <a:solidFill>
                      <a:srgbClr val="000000"/>
                    </a:solidFill>
                    <a:latin typeface="inter"/>
                    <a:ea typeface="inter"/>
                    <a:cs typeface="inter"/>
                  </a:rPr>
                  <a:t>what your circuit needs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Wingdings" panose="05000000000000000000" pitchFamily="2" charset="2"/>
                  <a:buChar char="q"/>
                  <a:tabLst>
                    <a:tab pos="571500" algn="l"/>
                  </a:tabLst>
                </a:pPr>
                <a:r>
                  <a:rPr lang="en-US" sz="1600" dirty="0">
                    <a:solidFill>
                      <a:srgbClr val="000000"/>
                    </a:solidFill>
                    <a:latin typeface="inter"/>
                    <a:ea typeface="inter"/>
                    <a:cs typeface="inter"/>
                  </a:rPr>
                  <a:t>Then calculate </a:t>
                </a:r>
                <a14:m>
                  <m:oMath xmlns:m="http://schemas.openxmlformats.org/officeDocument/2006/math">
                    <m:r>
                      <a:rPr lang="en-US" sz="1600" b="1" i="1">
                        <a:solidFill>
                          <a:srgbClr val="000000"/>
                        </a:solidFill>
                        <a:latin typeface="Cambria Math" panose="02040503050406030204" pitchFamily="18" charset="0"/>
                        <a:ea typeface="inter"/>
                        <a:cs typeface="inter"/>
                      </a:rPr>
                      <m:t>𝑾</m:t>
                    </m:r>
                  </m:oMath>
                </a14:m>
                <a:r>
                  <a:rPr lang="en-US" sz="1600" dirty="0">
                    <a:solidFill>
                      <a:srgbClr val="000000"/>
                    </a:solidFill>
                    <a:latin typeface="inter"/>
                    <a:ea typeface="inter"/>
                    <a:cs typeface="inter"/>
                  </a:rPr>
                  <a:t> using cross-multiplication</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000000"/>
                    </a:solidFill>
                    <a:latin typeface="inter"/>
                    <a:ea typeface="inter"/>
                    <a:cs typeface="inter"/>
                  </a:rPr>
                  <a:t>Why This Is Superior:</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a:spcAft>
                    <a:spcPts val="1050"/>
                  </a:spcAft>
                </a:pPr>
                <a:r>
                  <a:rPr lang="en-US" sz="1600" b="1" dirty="0">
                    <a:solidFill>
                      <a:srgbClr val="000000"/>
                    </a:solidFill>
                    <a:latin typeface="inter"/>
                    <a:ea typeface="inter"/>
                    <a:cs typeface="inter"/>
                  </a:rPr>
                  <a:t>Direct Connection to Specs:</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spcBef>
                    <a:spcPts val="525"/>
                  </a:spcBef>
                  <a:spcAft>
                    <a:spcPts val="525"/>
                  </a:spcAft>
                  <a:buFont typeface="+mj-lt"/>
                  <a:buAutoNum type="arabicPeriod"/>
                  <a:tabLst>
                    <a:tab pos="571500" algn="l"/>
                  </a:tabLst>
                </a:pPr>
                <a:r>
                  <a:rPr lang="en-US" sz="1600" b="1" dirty="0">
                    <a:solidFill>
                      <a:srgbClr val="000000"/>
                    </a:solidFill>
                    <a:latin typeface="inter"/>
                    <a:ea typeface="inter"/>
                    <a:cs typeface="inter"/>
                  </a:rPr>
                  <a:t>Bandwidth requirement</a:t>
                </a:r>
                <a:r>
                  <a:rPr lang="en-US" sz="1600" dirty="0">
                    <a:solidFill>
                      <a:srgbClr val="000000"/>
                    </a:solidFill>
                    <a:latin typeface="inter"/>
                    <a:ea typeface="inter"/>
                    <a:cs typeface="inter"/>
                  </a:rPr>
                  <a:t> → sets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n-US" sz="1600" dirty="0">
                    <a:solidFill>
                      <a:srgbClr val="000000"/>
                    </a:solidFill>
                    <a:latin typeface="inter"/>
                    <a:ea typeface="inter"/>
                    <a:cs typeface="inter"/>
                  </a:rPr>
                  <a:t> → combined with power budget → sets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600" dirty="0">
                    <a:solidFill>
                      <a:srgbClr val="000000"/>
                    </a:solidFill>
                    <a:latin typeface="inter"/>
                    <a:ea typeface="inter"/>
                    <a:cs typeface="inter"/>
                  </a:rPr>
                  <a:t> → gives </a:t>
                </a:r>
                <a14:m>
                  <m:oMath xmlns:m="http://schemas.openxmlformats.org/officeDocument/2006/math">
                    <m:sSub>
                      <m:sSubPr>
                        <m:ctrlP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6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endParaRPr lang="en-US" sz="1600" b="1" dirty="0" smtClean="0">
                  <a:solidFill>
                    <a:srgbClr val="000000"/>
                  </a:solidFill>
                  <a:latin typeface="inter"/>
                  <a:ea typeface="inter"/>
                  <a:cs typeface="inter"/>
                </a:endParaRPr>
              </a:p>
              <a:p>
                <a:pPr marL="800100" lvl="1" indent="-342900">
                  <a:spcBef>
                    <a:spcPts val="525"/>
                  </a:spcBef>
                  <a:spcAft>
                    <a:spcPts val="525"/>
                  </a:spcAft>
                  <a:buFont typeface="+mj-lt"/>
                  <a:buAutoNum type="arabicPeriod"/>
                  <a:tabLst>
                    <a:tab pos="571500" algn="l"/>
                  </a:tabLst>
                </a:pPr>
                <a:r>
                  <a:rPr lang="en-US" sz="1600" b="1" dirty="0" smtClean="0">
                    <a:solidFill>
                      <a:srgbClr val="000000"/>
                    </a:solidFill>
                    <a:latin typeface="inter"/>
                    <a:ea typeface="inter"/>
                    <a:cs typeface="inter"/>
                  </a:rPr>
                  <a:t>Noise </a:t>
                </a:r>
                <a:r>
                  <a:rPr lang="en-US" sz="1600" b="1" dirty="0">
                    <a:solidFill>
                      <a:srgbClr val="000000"/>
                    </a:solidFill>
                    <a:latin typeface="inter"/>
                    <a:ea typeface="inter"/>
                    <a:cs typeface="inter"/>
                  </a:rPr>
                  <a:t>requirement</a:t>
                </a:r>
                <a:r>
                  <a:rPr lang="en-US" sz="1600" dirty="0">
                    <a:solidFill>
                      <a:srgbClr val="000000"/>
                    </a:solidFill>
                    <a:latin typeface="inter"/>
                    <a:ea typeface="inter"/>
                    <a:cs typeface="inter"/>
                  </a:rPr>
                  <a:t> → sets minimum </a:t>
                </a:r>
                <a14:m>
                  <m:oMath xmlns:m="http://schemas.openxmlformats.org/officeDocument/2006/math">
                    <m:sSub>
                      <m:sSubPr>
                        <m:ctrlP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n-US" sz="1600" dirty="0">
                    <a:solidFill>
                      <a:srgbClr val="000000"/>
                    </a:solidFill>
                    <a:latin typeface="inter"/>
                    <a:ea typeface="inter"/>
                    <a:cs typeface="inter"/>
                  </a:rPr>
                  <a:t> → combined with power budget → </a:t>
                </a:r>
                <a14:m>
                  <m:oMath xmlns:m="http://schemas.openxmlformats.org/officeDocument/2006/math">
                    <m:sSub>
                      <m:sSubPr>
                        <m:ctrlP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6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endParaRPr lang="en-US" sz="1600" b="1" dirty="0" smtClean="0">
                  <a:solidFill>
                    <a:srgbClr val="000000"/>
                  </a:solidFill>
                  <a:latin typeface="inter"/>
                  <a:ea typeface="inter"/>
                  <a:cs typeface="inter"/>
                </a:endParaRPr>
              </a:p>
              <a:p>
                <a:pPr marL="800100" lvl="1" indent="-342900">
                  <a:spcBef>
                    <a:spcPts val="525"/>
                  </a:spcBef>
                  <a:spcAft>
                    <a:spcPts val="525"/>
                  </a:spcAft>
                  <a:buFont typeface="+mj-lt"/>
                  <a:buAutoNum type="arabicPeriod"/>
                  <a:tabLst>
                    <a:tab pos="571500" algn="l"/>
                  </a:tabLst>
                </a:pPr>
                <a:r>
                  <a:rPr lang="en-US" sz="1600" b="1" dirty="0" smtClean="0">
                    <a:solidFill>
                      <a:srgbClr val="000000"/>
                    </a:solidFill>
                    <a:latin typeface="inter"/>
                    <a:ea typeface="inter"/>
                    <a:cs typeface="inter"/>
                  </a:rPr>
                  <a:t>Gain </a:t>
                </a:r>
                <a:r>
                  <a:rPr lang="en-US" sz="1600" b="1" dirty="0">
                    <a:solidFill>
                      <a:srgbClr val="000000"/>
                    </a:solidFill>
                    <a:latin typeface="inter"/>
                    <a:ea typeface="inter"/>
                    <a:cs typeface="inter"/>
                  </a:rPr>
                  <a:t>requirement</a:t>
                </a:r>
                <a:r>
                  <a:rPr lang="en-US" sz="1600" dirty="0">
                    <a:solidFill>
                      <a:srgbClr val="000000"/>
                    </a:solidFill>
                    <a:latin typeface="inter"/>
                    <a:ea typeface="inter"/>
                    <a:cs typeface="inter"/>
                  </a:rPr>
                  <a:t> → sets </a:t>
                </a:r>
                <a14:m>
                  <m:oMath xmlns:m="http://schemas.openxmlformats.org/officeDocument/2006/math">
                    <m:sSub>
                      <m:sSubPr>
                        <m:ctrlP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n-US" sz="1600" b="1" dirty="0" smtClean="0">
                    <a:solidFill>
                      <a:srgbClr val="000000"/>
                    </a:solidFill>
                    <a:latin typeface="inter"/>
                    <a:ea typeface="inter"/>
                    <a:cs typeface="inter"/>
                  </a:rPr>
                  <a:t>·</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𝒓</m:t>
                        </m:r>
                      </m:e>
                      <m:sub>
                        <m: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𝟎</m:t>
                        </m:r>
                      </m:sub>
                    </m:sSub>
                  </m:oMath>
                </a14:m>
                <a:r>
                  <a:rPr lang="en-US" sz="1600" dirty="0">
                    <a:solidFill>
                      <a:srgbClr val="000000"/>
                    </a:solidFill>
                    <a:latin typeface="inter"/>
                    <a:ea typeface="inter"/>
                    <a:cs typeface="inter"/>
                  </a:rPr>
                  <a:t> → check feasibility at chosen </a:t>
                </a:r>
                <a14:m>
                  <m:oMath xmlns:m="http://schemas.openxmlformats.org/officeDocument/2006/math">
                    <m:sSub>
                      <m:sSubPr>
                        <m:ctrlPr>
                          <a:rPr lang="en-US" sz="16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6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endParaRPr lang="en-US" sz="1600" b="1" dirty="0" smtClean="0">
                  <a:solidFill>
                    <a:srgbClr val="000000"/>
                  </a:solidFill>
                  <a:latin typeface="inter"/>
                  <a:ea typeface="inter"/>
                  <a:cs typeface="inter"/>
                </a:endParaRPr>
              </a:p>
              <a:p>
                <a:pPr marL="800100" lvl="1" indent="-342900">
                  <a:spcBef>
                    <a:spcPts val="525"/>
                  </a:spcBef>
                  <a:spcAft>
                    <a:spcPts val="525"/>
                  </a:spcAft>
                  <a:buFont typeface="+mj-lt"/>
                  <a:buAutoNum type="arabicPeriod"/>
                  <a:tabLst>
                    <a:tab pos="571500" algn="l"/>
                  </a:tabLst>
                </a:pPr>
                <a:r>
                  <a:rPr lang="en-US" sz="1600" b="1" dirty="0" smtClean="0">
                    <a:solidFill>
                      <a:srgbClr val="000000"/>
                    </a:solidFill>
                    <a:latin typeface="inter"/>
                    <a:ea typeface="inter"/>
                    <a:cs typeface="inter"/>
                  </a:rPr>
                  <a:t>Matching </a:t>
                </a:r>
                <a:r>
                  <a:rPr lang="en-US" sz="1600" b="1" dirty="0">
                    <a:solidFill>
                      <a:srgbClr val="000000"/>
                    </a:solidFill>
                    <a:latin typeface="inter"/>
                    <a:ea typeface="inter"/>
                    <a:cs typeface="inter"/>
                  </a:rPr>
                  <a:t>requirement</a:t>
                </a:r>
                <a:r>
                  <a:rPr lang="en-US" sz="1600" dirty="0">
                    <a:solidFill>
                      <a:srgbClr val="000000"/>
                    </a:solidFill>
                    <a:latin typeface="inter"/>
                    <a:ea typeface="inter"/>
                    <a:cs typeface="inter"/>
                  </a:rPr>
                  <a:t> → constrains minimum </a:t>
                </a:r>
                <a14:m>
                  <m:oMath xmlns:m="http://schemas.openxmlformats.org/officeDocument/2006/math">
                    <m:r>
                      <a:rPr lang="en-US" sz="1600" b="1" i="1">
                        <a:solidFill>
                          <a:srgbClr val="000000"/>
                        </a:solidFill>
                        <a:latin typeface="Cambria Math" panose="02040503050406030204" pitchFamily="18" charset="0"/>
                        <a:ea typeface="inter"/>
                        <a:cs typeface="inter"/>
                      </a:rPr>
                      <m:t>𝑾</m:t>
                    </m:r>
                  </m:oMath>
                </a14:m>
                <a:r>
                  <a:rPr lang="en-US" sz="1600" b="1" dirty="0" smtClean="0">
                    <a:solidFill>
                      <a:srgbClr val="000000"/>
                    </a:solidFill>
                    <a:latin typeface="inter"/>
                    <a:ea typeface="inter"/>
                    <a:cs typeface="inter"/>
                  </a:rPr>
                  <a:t>·</a:t>
                </a:r>
                <a14:m>
                  <m:oMath xmlns:m="http://schemas.openxmlformats.org/officeDocument/2006/math">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𝑳</m:t>
                    </m:r>
                  </m:oMath>
                </a14:m>
                <a:r>
                  <a:rPr lang="en-US" sz="1600" dirty="0" smtClean="0">
                    <a:solidFill>
                      <a:srgbClr val="000000"/>
                    </a:solidFill>
                    <a:latin typeface="inter"/>
                    <a:ea typeface="inter"/>
                    <a:cs typeface="inter"/>
                  </a:rPr>
                  <a:t> </a:t>
                </a:r>
                <a:r>
                  <a:rPr lang="en-US" sz="1600" dirty="0">
                    <a:solidFill>
                      <a:srgbClr val="000000"/>
                    </a:solidFill>
                    <a:latin typeface="inter"/>
                    <a:ea typeface="inter"/>
                    <a:cs typeface="inter"/>
                  </a:rPr>
                  <a:t>→ with chosen </a:t>
                </a:r>
                <a14:m>
                  <m:oMath xmlns:m="http://schemas.openxmlformats.org/officeDocument/2006/math">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𝑳</m:t>
                    </m:r>
                  </m:oMath>
                </a14:m>
                <a:r>
                  <a:rPr lang="en-US" sz="1600" dirty="0">
                    <a:solidFill>
                      <a:srgbClr val="000000"/>
                    </a:solidFill>
                    <a:latin typeface="inter"/>
                    <a:ea typeface="inter"/>
                    <a:cs typeface="inter"/>
                  </a:rPr>
                  <a:t>, gives </a:t>
                </a:r>
                <a14:m>
                  <m:oMath xmlns:m="http://schemas.openxmlformats.org/officeDocument/2006/math">
                    <m:r>
                      <a:rPr lang="en-US" sz="1600" b="1" i="1" smtClean="0">
                        <a:solidFill>
                          <a:srgbClr val="000000"/>
                        </a:solidFill>
                        <a:latin typeface="Cambria Math" panose="02040503050406030204" pitchFamily="18" charset="0"/>
                        <a:ea typeface="inter"/>
                        <a:cs typeface="inter"/>
                      </a:rPr>
                      <m:t>𝑾</m:t>
                    </m:r>
                  </m:oMath>
                </a14:m>
                <a:endParaRPr lang="en-US" sz="1600" b="1" dirty="0">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462986" cy="4401205"/>
              </a:xfrm>
              <a:blipFill>
                <a:blip r:embed="rId2"/>
                <a:stretch>
                  <a:fillRect l="-1224" t="-1801"/>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16688726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28437" y="1182338"/>
            <a:ext cx="3586463" cy="405432"/>
          </a:xfrm>
        </p:spPr>
        <p:txBody>
          <a:bodyPr/>
          <a:lstStyle/>
          <a:p>
            <a:pPr>
              <a:lnSpc>
                <a:spcPct val="150000"/>
              </a:lnSpc>
              <a:spcAft>
                <a:spcPts val="1050"/>
              </a:spcAft>
            </a:pPr>
            <a:r>
              <a:rPr lang="en-US" b="1" dirty="0">
                <a:solidFill>
                  <a:srgbClr val="000000"/>
                </a:solidFill>
                <a:latin typeface="inter"/>
                <a:ea typeface="inter"/>
                <a:cs typeface="inter"/>
              </a:rPr>
              <a:t>The Complete New DOF Set</a:t>
            </a:r>
            <a:r>
              <a:rPr lang="en-US" b="1" dirty="0" smtClean="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644402843"/>
                  </p:ext>
                </p:extLst>
              </p:nvPr>
            </p:nvGraphicFramePr>
            <p:xfrm>
              <a:off x="295038" y="1810535"/>
              <a:ext cx="5058432" cy="2503608"/>
            </p:xfrm>
            <a:graphic>
              <a:graphicData uri="http://schemas.openxmlformats.org/drawingml/2006/table">
                <a:tbl>
                  <a:tblPr firstRow="1" firstCol="1" bandRow="1"/>
                  <a:tblGrid>
                    <a:gridCol w="992643">
                      <a:extLst>
                        <a:ext uri="{9D8B030D-6E8A-4147-A177-3AD203B41FA5}">
                          <a16:colId xmlns:a16="http://schemas.microsoft.com/office/drawing/2014/main" val="2131870925"/>
                        </a:ext>
                      </a:extLst>
                    </a:gridCol>
                    <a:gridCol w="1617003">
                      <a:extLst>
                        <a:ext uri="{9D8B030D-6E8A-4147-A177-3AD203B41FA5}">
                          <a16:colId xmlns:a16="http://schemas.microsoft.com/office/drawing/2014/main" val="2107117323"/>
                        </a:ext>
                      </a:extLst>
                    </a:gridCol>
                    <a:gridCol w="2448786">
                      <a:extLst>
                        <a:ext uri="{9D8B030D-6E8A-4147-A177-3AD203B41FA5}">
                          <a16:colId xmlns:a16="http://schemas.microsoft.com/office/drawing/2014/main" val="3546722242"/>
                        </a:ext>
                      </a:extLst>
                    </a:gridCol>
                  </a:tblGrid>
                  <a:tr h="179607">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New DOF</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Physical Meaning</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Why Choose It?</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029354"/>
                      </a:ext>
                    </a:extLst>
                  </a:tr>
                  <a:tr h="297546">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4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err="1">
                              <a:solidFill>
                                <a:srgbClr val="000000"/>
                              </a:solidFill>
                              <a:effectLst/>
                              <a:latin typeface="inter"/>
                              <a:ea typeface="inter"/>
                              <a:cs typeface="inter"/>
                            </a:rPr>
                            <a:t>Transconductance</a:t>
                          </a:r>
                          <a:r>
                            <a:rPr lang="en-US" sz="1400" dirty="0">
                              <a:solidFill>
                                <a:srgbClr val="000000"/>
                              </a:solidFill>
                              <a:effectLst/>
                              <a:latin typeface="inter"/>
                              <a:ea typeface="inter"/>
                              <a:cs typeface="inter"/>
                            </a:rPr>
                            <a:t> efficiency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Directly from noise/speed/power specs</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2579454"/>
                      </a:ext>
                    </a:extLst>
                  </a:tr>
                  <a:tr h="297546">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𝑳</m:t>
                                </m:r>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Channel length</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From speed vs. gain/matching tradeoff</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6280720"/>
                      </a:ext>
                    </a:extLst>
                  </a:tr>
                  <a:tr h="297546">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Bias current</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From power budget and </a:t>
                          </a:r>
                          <a14:m>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n-US" sz="1400" dirty="0">
                              <a:solidFill>
                                <a:srgbClr val="000000"/>
                              </a:solidFill>
                              <a:effectLst/>
                              <a:latin typeface="inter"/>
                              <a:ea typeface="inter"/>
                              <a:cs typeface="inter"/>
                            </a:rPr>
                            <a:t> requirement</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1675623"/>
                      </a:ext>
                    </a:extLst>
                  </a:tr>
                  <a:tr h="297546">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𝑺</m:t>
                                    </m:r>
                                  </m:sub>
                                </m:sSub>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Drain voltage</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Usually set by saturation + headroom</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2574121"/>
                      </a:ext>
                    </a:extLst>
                  </a:tr>
                  <a:tr h="179607">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𝑺𝑩</m:t>
                                    </m:r>
                                  </m:sub>
                                </m:sSub>
                              </m:oMath>
                            </m:oMathPara>
                          </a14:m>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Body voltage</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Usually 0 (tie body to source)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8335332"/>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644402843"/>
                  </p:ext>
                </p:extLst>
              </p:nvPr>
            </p:nvGraphicFramePr>
            <p:xfrm>
              <a:off x="295038" y="1810535"/>
              <a:ext cx="5058432" cy="2503608"/>
            </p:xfrm>
            <a:graphic>
              <a:graphicData uri="http://schemas.openxmlformats.org/drawingml/2006/table">
                <a:tbl>
                  <a:tblPr firstRow="1" firstCol="1" bandRow="1"/>
                  <a:tblGrid>
                    <a:gridCol w="992643">
                      <a:extLst>
                        <a:ext uri="{9D8B030D-6E8A-4147-A177-3AD203B41FA5}">
                          <a16:colId xmlns:a16="http://schemas.microsoft.com/office/drawing/2014/main" val="2131870925"/>
                        </a:ext>
                      </a:extLst>
                    </a:gridCol>
                    <a:gridCol w="1617003">
                      <a:extLst>
                        <a:ext uri="{9D8B030D-6E8A-4147-A177-3AD203B41FA5}">
                          <a16:colId xmlns:a16="http://schemas.microsoft.com/office/drawing/2014/main" val="2107117323"/>
                        </a:ext>
                      </a:extLst>
                    </a:gridCol>
                    <a:gridCol w="2448786">
                      <a:extLst>
                        <a:ext uri="{9D8B030D-6E8A-4147-A177-3AD203B41FA5}">
                          <a16:colId xmlns:a16="http://schemas.microsoft.com/office/drawing/2014/main" val="3546722242"/>
                        </a:ext>
                      </a:extLst>
                    </a:gridCol>
                  </a:tblGrid>
                  <a:tr h="275028">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New DOF</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Physical Meaning</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Why Choose It?</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8029354"/>
                      </a:ext>
                    </a:extLst>
                  </a:tr>
                  <a:tr h="488388">
                    <a:tc>
                      <a:txBody>
                        <a:bodyPr/>
                        <a:lstStyle/>
                        <a:p>
                          <a:endParaRPr lang="en-US"/>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3" t="-61250" r="-411043" b="-373750"/>
                          </a:stretch>
                        </a:blipFill>
                      </a:tcPr>
                    </a:tc>
                    <a:tc>
                      <a:txBody>
                        <a:bodyPr/>
                        <a:lstStyle/>
                        <a:p>
                          <a:pPr marL="0" marR="0" algn="ctr">
                            <a:lnSpc>
                              <a:spcPct val="100000"/>
                            </a:lnSpc>
                            <a:spcBef>
                              <a:spcPts val="0"/>
                            </a:spcBef>
                            <a:spcAft>
                              <a:spcPts val="0"/>
                            </a:spcAft>
                          </a:pPr>
                          <a:r>
                            <a:rPr lang="en-US" sz="1400" dirty="0" err="1">
                              <a:solidFill>
                                <a:srgbClr val="000000"/>
                              </a:solidFill>
                              <a:effectLst/>
                              <a:latin typeface="inter"/>
                              <a:ea typeface="inter"/>
                              <a:cs typeface="inter"/>
                            </a:rPr>
                            <a:t>Transconductance</a:t>
                          </a:r>
                          <a:r>
                            <a:rPr lang="en-US" sz="1400" dirty="0">
                              <a:solidFill>
                                <a:srgbClr val="000000"/>
                              </a:solidFill>
                              <a:effectLst/>
                              <a:latin typeface="inter"/>
                              <a:ea typeface="inter"/>
                              <a:cs typeface="inter"/>
                            </a:rPr>
                            <a:t> efficiency</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Directly from noise/speed/power specs</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2579454"/>
                      </a:ext>
                    </a:extLst>
                  </a:tr>
                  <a:tr h="488388">
                    <a:tc>
                      <a:txBody>
                        <a:bodyPr/>
                        <a:lstStyle/>
                        <a:p>
                          <a:endParaRPr lang="en-US"/>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3" t="-159259" r="-411043" b="-269136"/>
                          </a:stretch>
                        </a:blipFill>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Channel length</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From speed vs. gain/matching tradeoff</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6280720"/>
                      </a:ext>
                    </a:extLst>
                  </a:tr>
                  <a:tr h="488388">
                    <a:tc>
                      <a:txBody>
                        <a:bodyPr/>
                        <a:lstStyle/>
                        <a:p>
                          <a:endParaRPr lang="en-US"/>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3" t="-262500" r="-411043" b="-172500"/>
                          </a:stretch>
                        </a:blipFill>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Bias current</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6965" t="-262500" r="-498" b="-172500"/>
                          </a:stretch>
                        </a:blipFill>
                      </a:tcPr>
                    </a:tc>
                    <a:extLst>
                      <a:ext uri="{0D108BD9-81ED-4DB2-BD59-A6C34878D82A}">
                        <a16:rowId xmlns:a16="http://schemas.microsoft.com/office/drawing/2014/main" val="4091675623"/>
                      </a:ext>
                    </a:extLst>
                  </a:tr>
                  <a:tr h="488388">
                    <a:tc>
                      <a:txBody>
                        <a:bodyPr/>
                        <a:lstStyle/>
                        <a:p>
                          <a:endParaRPr lang="en-US"/>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3" t="-362500" r="-411043" b="-72500"/>
                          </a:stretch>
                        </a:blipFill>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Drain voltage</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Usually set by saturation + headroom</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2574121"/>
                      </a:ext>
                    </a:extLst>
                  </a:tr>
                  <a:tr h="275028">
                    <a:tc>
                      <a:txBody>
                        <a:bodyPr/>
                        <a:lstStyle/>
                        <a:p>
                          <a:endParaRPr lang="en-US"/>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613" t="-822222" r="-411043" b="-28889"/>
                          </a:stretch>
                        </a:blipFill>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Body voltage</a:t>
                          </a:r>
                          <a:endParaRPr lang="en-US" sz="160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Usually 0 (tie body to source)</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txBody>
                      <a:tcPr marL="61668" marR="61668" marT="30834" marB="3083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8335332"/>
                      </a:ext>
                    </a:extLst>
                  </a:tr>
                </a:tbl>
              </a:graphicData>
            </a:graphic>
          </p:graphicFrame>
        </mc:Fallback>
      </mc:AlternateContent>
      <p:sp>
        <p:nvSpPr>
          <p:cNvPr id="8" name="Rectangle 7"/>
          <p:cNvSpPr/>
          <p:nvPr/>
        </p:nvSpPr>
        <p:spPr>
          <a:xfrm>
            <a:off x="8520487" y="1162958"/>
            <a:ext cx="1832040" cy="376129"/>
          </a:xfrm>
          <a:prstGeom prst="rect">
            <a:avLst/>
          </a:prstGeom>
        </p:spPr>
        <p:txBody>
          <a:bodyPr wrap="none">
            <a:spAutoFit/>
          </a:bodyPr>
          <a:lstStyle/>
          <a:p>
            <a:pPr>
              <a:lnSpc>
                <a:spcPct val="150000"/>
              </a:lnSpc>
              <a:spcAft>
                <a:spcPts val="1050"/>
              </a:spcAft>
            </a:pPr>
            <a:r>
              <a:rPr lang="en-US" sz="1400" b="1" dirty="0">
                <a:solidFill>
                  <a:srgbClr val="000000"/>
                </a:solidFill>
                <a:latin typeface="inter"/>
                <a:ea typeface="inter"/>
                <a:cs typeface="inter"/>
              </a:rPr>
              <a:t>Comparative Table:</a:t>
            </a:r>
            <a:endParaRPr lang="en-US" sz="1400" dirty="0">
              <a:effectLst/>
              <a:latin typeface="Georgia" panose="02040502050405020303" pitchFamily="18"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305970432"/>
                  </p:ext>
                </p:extLst>
              </p:nvPr>
            </p:nvGraphicFramePr>
            <p:xfrm>
              <a:off x="5707951" y="1790393"/>
              <a:ext cx="6247728" cy="2452226"/>
            </p:xfrm>
            <a:graphic>
              <a:graphicData uri="http://schemas.openxmlformats.org/drawingml/2006/table">
                <a:tbl>
                  <a:tblPr firstRow="1" firstCol="1" bandRow="1"/>
                  <a:tblGrid>
                    <a:gridCol w="1611277">
                      <a:extLst>
                        <a:ext uri="{9D8B030D-6E8A-4147-A177-3AD203B41FA5}">
                          <a16:colId xmlns:a16="http://schemas.microsoft.com/office/drawing/2014/main" val="4106841365"/>
                        </a:ext>
                      </a:extLst>
                    </a:gridCol>
                    <a:gridCol w="2364550">
                      <a:extLst>
                        <a:ext uri="{9D8B030D-6E8A-4147-A177-3AD203B41FA5}">
                          <a16:colId xmlns:a16="http://schemas.microsoft.com/office/drawing/2014/main" val="298136183"/>
                        </a:ext>
                      </a:extLst>
                    </a:gridCol>
                    <a:gridCol w="2271901">
                      <a:extLst>
                        <a:ext uri="{9D8B030D-6E8A-4147-A177-3AD203B41FA5}">
                          <a16:colId xmlns:a16="http://schemas.microsoft.com/office/drawing/2014/main" val="1621194930"/>
                        </a:ext>
                      </a:extLst>
                    </a:gridCol>
                  </a:tblGrid>
                  <a:tr h="221343">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Aspect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Old (Square Law)</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New (</a:t>
                          </a:r>
                          <a14:m>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4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400" dirty="0">
                              <a:solidFill>
                                <a:srgbClr val="000000"/>
                              </a:solidFill>
                              <a:effectLst/>
                              <a:latin typeface="inter"/>
                              <a:ea typeface="inter"/>
                              <a:cs typeface="inter"/>
                            </a:rPr>
                            <a: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62273656"/>
                      </a:ext>
                    </a:extLst>
                  </a:tr>
                  <a:tr h="221343">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Starting Point</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14:m>
                            <m:oMath xmlns:m="http://schemas.openxmlformats.org/officeDocument/2006/math">
                              <m:r>
                                <a:rPr lang="en-US" sz="1400" b="1" i="1" smtClean="0">
                                  <a:solidFill>
                                    <a:srgbClr val="000000"/>
                                  </a:solidFill>
                                  <a:latin typeface="Cambria Math" panose="02040503050406030204" pitchFamily="18" charset="0"/>
                                  <a:ea typeface="inter"/>
                                  <a:cs typeface="inter"/>
                                </a:rPr>
                                <m:t>𝑾</m:t>
                              </m:r>
                            </m:oMath>
                          </a14:m>
                          <a:r>
                            <a:rPr lang="en-US" sz="1400" dirty="0">
                              <a:solidFill>
                                <a:srgbClr val="000000"/>
                              </a:solidFill>
                              <a:effectLst/>
                              <a:latin typeface="inter"/>
                              <a:ea typeface="inter"/>
                              <a:cs typeface="inter"/>
                            </a:rPr>
                            <a:t>, </a:t>
                          </a:r>
                          <a14:m>
                            <m:oMath xmlns:m="http://schemas.openxmlformats.org/officeDocument/2006/math">
                              <m: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𝑳</m:t>
                              </m:r>
                            </m:oMath>
                          </a14:m>
                          <a:r>
                            <a:rPr lang="en-US" sz="1400" dirty="0" smtClean="0">
                              <a:solidFill>
                                <a:srgbClr val="000000"/>
                              </a:solidFill>
                              <a:effectLst/>
                              <a:latin typeface="inter"/>
                              <a:ea typeface="inter"/>
                              <a:cs typeface="inter"/>
                            </a:rPr>
                            <a:t>, </a:t>
                          </a:r>
                          <a:r>
                            <a:rPr lang="en-US" sz="1400" dirty="0">
                              <a:solidFill>
                                <a:srgbClr val="000000"/>
                              </a:solidFill>
                              <a:effectLst/>
                              <a:latin typeface="inter"/>
                              <a:ea typeface="inter"/>
                              <a:cs typeface="inter"/>
                            </a:rPr>
                            <a:t>VGS</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14:m>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4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400" dirty="0">
                              <a:solidFill>
                                <a:srgbClr val="000000"/>
                              </a:solidFill>
                              <a:effectLst/>
                              <a:latin typeface="inter"/>
                              <a:ea typeface="inter"/>
                              <a:cs typeface="inter"/>
                            </a:rPr>
                            <a:t>, </a:t>
                          </a:r>
                          <a14:m>
                            <m:oMath xmlns:m="http://schemas.openxmlformats.org/officeDocument/2006/math">
                              <m: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t>𝑳</m:t>
                              </m:r>
                            </m:oMath>
                          </a14:m>
                          <a:r>
                            <a:rPr lang="en-US" sz="1400" dirty="0">
                              <a:solidFill>
                                <a:srgbClr val="000000"/>
                              </a:solidFill>
                              <a:effectLst/>
                              <a:latin typeface="inter"/>
                              <a:ea typeface="inter"/>
                              <a:cs typeface="inter"/>
                            </a:rPr>
                            <a:t>, </a:t>
                          </a:r>
                          <a14:m>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6388266"/>
                      </a:ext>
                    </a:extLst>
                  </a:tr>
                  <a:tr h="221343">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Model Used</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Closed-form equations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Reference plots/LUTs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2406082"/>
                      </a:ext>
                    </a:extLst>
                  </a:tr>
                  <a:tr h="221343">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Process Accuracy</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Poor in modern tech</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Excellent (captures real device)</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5252127"/>
                      </a:ext>
                    </a:extLst>
                  </a:tr>
                  <a:tr h="221343">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Design Intuition</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"Increase </a:t>
                          </a:r>
                          <a14:m>
                            <m:oMath xmlns:m="http://schemas.openxmlformats.org/officeDocument/2006/math">
                              <m:r>
                                <a:rPr lang="en-US" sz="1400" b="1" i="1" smtClean="0">
                                  <a:solidFill>
                                    <a:srgbClr val="000000"/>
                                  </a:solidFill>
                                  <a:latin typeface="Cambria Math" panose="02040503050406030204" pitchFamily="18" charset="0"/>
                                  <a:ea typeface="inter"/>
                                  <a:cs typeface="inter"/>
                                </a:rPr>
                                <m:t>𝑾</m:t>
                              </m:r>
                            </m:oMath>
                          </a14:m>
                          <a:r>
                            <a:rPr lang="en-US" sz="1400" dirty="0">
                              <a:solidFill>
                                <a:srgbClr val="000000"/>
                              </a:solidFill>
                              <a:effectLst/>
                              <a:latin typeface="inter"/>
                              <a:ea typeface="inter"/>
                              <a:cs typeface="inter"/>
                            </a:rPr>
                            <a:t> to get more </a:t>
                          </a:r>
                          <a14:m>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n-US" sz="1400" dirty="0">
                              <a:solidFill>
                                <a:srgbClr val="000000"/>
                              </a:solidFill>
                              <a:effectLst/>
                              <a:latin typeface="inter"/>
                              <a:ea typeface="inter"/>
                              <a:cs typeface="inter"/>
                            </a:rPr>
                            <a: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"Increase </a:t>
                          </a:r>
                          <a14:m>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400" dirty="0">
                              <a:solidFill>
                                <a:srgbClr val="000000"/>
                              </a:solidFill>
                              <a:effectLst/>
                              <a:latin typeface="inter"/>
                              <a:ea typeface="inter"/>
                              <a:cs typeface="inter"/>
                            </a:rPr>
                            <a:t> or improve </a:t>
                          </a:r>
                          <a14:m>
                            <m:oMath xmlns:m="http://schemas.openxmlformats.org/officeDocument/2006/math">
                              <m:sSub>
                                <m:sSubPr>
                                  <m:ctrlPr>
                                    <a:rPr lang="en-US" sz="1400"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4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4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400" dirty="0">
                              <a:solidFill>
                                <a:srgbClr val="000000"/>
                              </a:solidFill>
                              <a:effectLst/>
                              <a:latin typeface="inter"/>
                              <a:ea typeface="inter"/>
                              <a:cs typeface="inter"/>
                            </a:rPr>
                            <a: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5769521"/>
                      </a:ext>
                    </a:extLst>
                  </a:tr>
                  <a:tr h="221343">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Scalability</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Difficult across nodes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Easy—regenerate LUTs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0232339"/>
                      </a:ext>
                    </a:extLst>
                  </a:tr>
                  <a:tr h="221343">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Speed of Design</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Iterative simulations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Single pass (chart lookup)</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0970505"/>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305970432"/>
                  </p:ext>
                </p:extLst>
              </p:nvPr>
            </p:nvGraphicFramePr>
            <p:xfrm>
              <a:off x="5707951" y="1790393"/>
              <a:ext cx="6247728" cy="2452226"/>
            </p:xfrm>
            <a:graphic>
              <a:graphicData uri="http://schemas.openxmlformats.org/drawingml/2006/table">
                <a:tbl>
                  <a:tblPr firstRow="1" firstCol="1" bandRow="1"/>
                  <a:tblGrid>
                    <a:gridCol w="1611277">
                      <a:extLst>
                        <a:ext uri="{9D8B030D-6E8A-4147-A177-3AD203B41FA5}">
                          <a16:colId xmlns:a16="http://schemas.microsoft.com/office/drawing/2014/main" val="4106841365"/>
                        </a:ext>
                      </a:extLst>
                    </a:gridCol>
                    <a:gridCol w="2364550">
                      <a:extLst>
                        <a:ext uri="{9D8B030D-6E8A-4147-A177-3AD203B41FA5}">
                          <a16:colId xmlns:a16="http://schemas.microsoft.com/office/drawing/2014/main" val="298136183"/>
                        </a:ext>
                      </a:extLst>
                    </a:gridCol>
                    <a:gridCol w="2271901">
                      <a:extLst>
                        <a:ext uri="{9D8B030D-6E8A-4147-A177-3AD203B41FA5}">
                          <a16:colId xmlns:a16="http://schemas.microsoft.com/office/drawing/2014/main" val="1621194930"/>
                        </a:ext>
                      </a:extLst>
                    </a:gridCol>
                  </a:tblGrid>
                  <a:tr h="289358">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Aspect</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Old (Square Law)</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5335" t="-4167" r="-536" b="-764583"/>
                          </a:stretch>
                        </a:blipFill>
                      </a:tcPr>
                    </a:tc>
                    <a:extLst>
                      <a:ext uri="{0D108BD9-81ED-4DB2-BD59-A6C34878D82A}">
                        <a16:rowId xmlns:a16="http://schemas.microsoft.com/office/drawing/2014/main" val="2762273656"/>
                      </a:ext>
                    </a:extLst>
                  </a:tr>
                  <a:tr h="289358">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Starting Point</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8557" t="-106383" r="-96649" b="-680851"/>
                          </a:stretch>
                        </a:blipFill>
                      </a:tcPr>
                    </a:tc>
                    <a:tc>
                      <a:txBody>
                        <a:bodyPr/>
                        <a:lstStyle/>
                        <a:p>
                          <a:endParaRPr lang="en-US"/>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5335" t="-106383" r="-536" b="-680851"/>
                          </a:stretch>
                        </a:blipFill>
                      </a:tcPr>
                    </a:tc>
                    <a:extLst>
                      <a:ext uri="{0D108BD9-81ED-4DB2-BD59-A6C34878D82A}">
                        <a16:rowId xmlns:a16="http://schemas.microsoft.com/office/drawing/2014/main" val="736388266"/>
                      </a:ext>
                    </a:extLst>
                  </a:tr>
                  <a:tr h="289358">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Model Used</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Closed-form equations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Reference plots/LUTs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2406082"/>
                      </a:ext>
                    </a:extLst>
                  </a:tr>
                  <a:tr h="502718">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Process Accuracy</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Poor in modern tech</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Excellent (captures real device)</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5252127"/>
                      </a:ext>
                    </a:extLst>
                  </a:tr>
                  <a:tr h="502718">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Design Intuition</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8557" t="-273494" r="-96649" b="-128916"/>
                          </a:stretch>
                        </a:blipFill>
                      </a:tcPr>
                    </a:tc>
                    <a:tc>
                      <a:txBody>
                        <a:bodyPr/>
                        <a:lstStyle/>
                        <a:p>
                          <a:endParaRPr lang="en-US"/>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75335" t="-273494" r="-536" b="-128916"/>
                          </a:stretch>
                        </a:blipFill>
                      </a:tcPr>
                    </a:tc>
                    <a:extLst>
                      <a:ext uri="{0D108BD9-81ED-4DB2-BD59-A6C34878D82A}">
                        <a16:rowId xmlns:a16="http://schemas.microsoft.com/office/drawing/2014/main" val="2365769521"/>
                      </a:ext>
                    </a:extLst>
                  </a:tr>
                  <a:tr h="289358">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Scalability</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Difficult across nodes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Easy—regenerate LUTs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0232339"/>
                      </a:ext>
                    </a:extLst>
                  </a:tr>
                  <a:tr h="289358">
                    <a:tc>
                      <a:txBody>
                        <a:bodyPr/>
                        <a:lstStyle/>
                        <a:p>
                          <a:pPr marL="0" marR="0" algn="ctr">
                            <a:lnSpc>
                              <a:spcPct val="100000"/>
                            </a:lnSpc>
                            <a:spcBef>
                              <a:spcPts val="0"/>
                            </a:spcBef>
                            <a:spcAft>
                              <a:spcPts val="0"/>
                            </a:spcAft>
                          </a:pPr>
                          <a:r>
                            <a:rPr lang="en-US" sz="1400" b="1">
                              <a:solidFill>
                                <a:srgbClr val="000000"/>
                              </a:solidFill>
                              <a:effectLst/>
                              <a:latin typeface="inter"/>
                              <a:ea typeface="inter"/>
                              <a:cs typeface="inter"/>
                            </a:rPr>
                            <a:t>Speed of Design</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a:solidFill>
                                <a:srgbClr val="000000"/>
                              </a:solidFill>
                              <a:effectLst/>
                              <a:latin typeface="inter"/>
                              <a:ea typeface="inter"/>
                              <a:cs typeface="inter"/>
                            </a:rPr>
                            <a:t>Iterative simulations</a:t>
                          </a:r>
                          <a:endParaRPr lang="en-US" sz="180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r>
                            <a:rPr lang="en-US" sz="1400" dirty="0">
                              <a:solidFill>
                                <a:srgbClr val="000000"/>
                              </a:solidFill>
                              <a:effectLst/>
                              <a:latin typeface="inter"/>
                              <a:ea typeface="inter"/>
                              <a:cs typeface="inter"/>
                            </a:rPr>
                            <a:t>Single pass (chart lookup)</a:t>
                          </a:r>
                          <a:endParaRPr lang="en-US" sz="1800" dirty="0">
                            <a:effectLst/>
                            <a:latin typeface="Georgia" panose="02040502050405020303" pitchFamily="18" charset="0"/>
                            <a:ea typeface="Calibri" panose="020F0502020204030204" pitchFamily="34" charset="0"/>
                            <a:cs typeface="Times New Roman" panose="02020603050405020304" pitchFamily="18" charset="0"/>
                          </a:endParaRPr>
                        </a:p>
                      </a:txBody>
                      <a:tcPr marL="75998" marR="75998" marT="37999" marB="3799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0970505"/>
                      </a:ext>
                    </a:extLst>
                  </a:tr>
                </a:tbl>
              </a:graphicData>
            </a:graphic>
          </p:graphicFrame>
        </mc:Fallback>
      </mc:AlternateContent>
    </p:spTree>
    <p:extLst>
      <p:ext uri="{BB962C8B-B14F-4D97-AF65-F5344CB8AC3E}">
        <p14:creationId xmlns:p14="http://schemas.microsoft.com/office/powerpoint/2010/main" val="19125313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xmlns:a14="http://schemas.microsoft.com/office/drawing/2010/main">
        <mc:Choice Requires="a14">
          <p:sp>
            <p:nvSpPr>
              <p:cNvPr id="3" name="Text Placeholder 2"/>
              <p:cNvSpPr>
                <a:spLocks noGrp="1"/>
              </p:cNvSpPr>
              <p:nvPr>
                <p:ph type="body" idx="1"/>
              </p:nvPr>
            </p:nvSpPr>
            <p:spPr>
              <a:xfrm>
                <a:off x="829310" y="1144473"/>
                <a:ext cx="10513261" cy="5906169"/>
              </a:xfrm>
            </p:spPr>
            <p:txBody>
              <a:bodyPr/>
              <a:lstStyle/>
              <a:p>
                <a:pPr algn="ctr"/>
                <a:r>
                  <a:rPr lang="en-US" sz="1600" b="1" dirty="0" smtClean="0">
                    <a:solidFill>
                      <a:srgbClr val="000000"/>
                    </a:solidFill>
                    <a:latin typeface="inter"/>
                    <a:ea typeface="inter"/>
                    <a:cs typeface="inter"/>
                  </a:rPr>
                  <a:t>Part 2: The Fundamental Insight—Why We Only Need One Reference Width</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2.1 Key Point 1: Linearity with Width</a:t>
                </a:r>
                <a:endParaRPr lang="en-US" sz="12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Fundamental Principle: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lvl="1"/>
                <a:r>
                  <a:rPr lang="en-US" sz="1600" dirty="0">
                    <a:solidFill>
                      <a:srgbClr val="000000"/>
                    </a:solidFill>
                    <a:latin typeface="inter"/>
                    <a:ea typeface="inter"/>
                    <a:cs typeface="inter"/>
                  </a:rPr>
                  <a:t>If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dirty="0">
                    <a:solidFill>
                      <a:srgbClr val="000000"/>
                    </a:solidFill>
                    <a:latin typeface="inter"/>
                    <a:ea typeface="inter"/>
                    <a:cs typeface="inter"/>
                  </a:rPr>
                  <a:t> ∝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a14:m>
                <a:r>
                  <a:rPr lang="en-US" sz="1600" dirty="0">
                    <a:solidFill>
                      <a:srgbClr val="000000"/>
                    </a:solidFill>
                    <a:latin typeface="inter"/>
                    <a:ea typeface="inter"/>
                    <a:cs typeface="inter"/>
                  </a:rPr>
                  <a:t>, then </a:t>
                </a:r>
                <a:r>
                  <a:rPr lang="en-US" sz="1600" b="1" dirty="0">
                    <a:solidFill>
                      <a:srgbClr val="000000"/>
                    </a:solidFill>
                    <a:latin typeface="inter"/>
                    <a:ea typeface="inter"/>
                    <a:cs typeface="inter"/>
                  </a:rPr>
                  <a:t>anything that is linearly proportional to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600" b="1" dirty="0">
                    <a:solidFill>
                      <a:srgbClr val="000000"/>
                    </a:solidFill>
                    <a:latin typeface="inter"/>
                    <a:ea typeface="inter"/>
                    <a:cs typeface="inter"/>
                  </a:rPr>
                  <a:t> is also proportional to W</a:t>
                </a:r>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lvl="1"/>
                <a:r>
                  <a:rPr lang="en-US" sz="1600" b="1" dirty="0">
                    <a:solidFill>
                      <a:srgbClr val="000000"/>
                    </a:solidFill>
                    <a:latin typeface="inter"/>
                    <a:ea typeface="inter"/>
                    <a:cs typeface="inter"/>
                  </a:rPr>
                  <a:t>Mathematical Proof:</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lvl="1"/>
                <a:r>
                  <a:rPr lang="en-US" sz="1600" dirty="0">
                    <a:solidFill>
                      <a:srgbClr val="000000"/>
                    </a:solidFill>
                    <a:latin typeface="inter"/>
                    <a:ea typeface="inter"/>
                    <a:cs typeface="inter"/>
                  </a:rPr>
                  <a:t>For any parameter P that scales linearly with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𝑃</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𝑐</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𝑘𝑐</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lvl="1"/>
                <a:r>
                  <a:rPr lang="en-US" sz="1600" dirty="0">
                    <a:solidFill>
                      <a:srgbClr val="000000"/>
                    </a:solidFill>
                    <a:latin typeface="inter"/>
                    <a:ea typeface="inter"/>
                    <a:cs typeface="inter"/>
                  </a:rPr>
                  <a:t>where k is a constant, c is the current density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sz="1600" dirty="0">
                    <a:solidFill>
                      <a:srgbClr val="000000"/>
                    </a:solidFill>
                    <a:latin typeface="inter"/>
                    <a:ea typeface="inter"/>
                    <a:cs typeface="inter"/>
                  </a:rPr>
                  <a:t>/</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a14:m>
                <a:r>
                  <a:rPr lang="en-US" sz="1600"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lvl="1"/>
                <a:r>
                  <a:rPr lang="en-US" sz="1600" dirty="0">
                    <a:solidFill>
                      <a:srgbClr val="000000"/>
                    </a:solidFill>
                    <a:latin typeface="inter"/>
                    <a:ea typeface="inter"/>
                    <a:cs typeface="inter"/>
                  </a:rPr>
                  <a:t>Therefore:</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lvl="1"/>
                <a14:m>
                  <m:oMathPara xmlns:m="http://schemas.openxmlformats.org/officeDocument/2006/math">
                    <m:oMathParaPr>
                      <m:jc m:val="centerGroup"/>
                    </m:oMathParaPr>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𝑃</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m:oMathPara>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Which Parameters Are Proportional to </a:t>
                </a:r>
                <a14:m>
                  <m:oMath xmlns:m="http://schemas.openxmlformats.org/officeDocument/2006/math">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𝑾</m:t>
                    </m:r>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r>
                  <a:rPr lang="en-US" sz="1600" b="1" dirty="0">
                    <a:solidFill>
                      <a:srgbClr val="000000"/>
                    </a:solidFill>
                    <a:latin typeface="inter"/>
                    <a:ea typeface="inter"/>
                    <a:cs typeface="inter"/>
                  </a:rPr>
                  <a:t>Yes—Proportional to </a:t>
                </a:r>
                <a14:m>
                  <m:oMath xmlns:m="http://schemas.openxmlformats.org/officeDocument/2006/math">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𝑾</m:t>
                    </m:r>
                  </m:oMath>
                </a14:m>
                <a:r>
                  <a:rPr lang="en-US" sz="1600" b="1" dirty="0">
                    <a:solidFill>
                      <a:srgbClr val="000000"/>
                    </a:solidFill>
                    <a:latin typeface="inter"/>
                    <a:ea typeface="inter"/>
                    <a:cs typeface="inter"/>
                  </a:rPr>
                  <a:t> (and hence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600" b="1" dirty="0">
                    <a:solidFill>
                      <a:srgbClr val="000000"/>
                    </a:solidFill>
                    <a:latin typeface="inter"/>
                    <a:ea typeface="inter"/>
                    <a:cs typeface="inter"/>
                  </a:rPr>
                  <a:t>):</a:t>
                </a:r>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err="1">
                    <a:solidFill>
                      <a:srgbClr val="000000"/>
                    </a:solidFill>
                    <a:latin typeface="inter"/>
                    <a:ea typeface="inter"/>
                    <a:cs typeface="inter"/>
                  </a:rPr>
                  <a:t>Transconductance</a:t>
                </a:r>
                <a:r>
                  <a:rPr lang="en-US" sz="1600" dirty="0">
                    <a:solidFill>
                      <a:srgbClr val="000000"/>
                    </a:solidFill>
                    <a:latin typeface="inter"/>
                    <a:ea typeface="inter"/>
                    <a:cs typeface="inter"/>
                  </a:rPr>
                  <a: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𝐺𝑆</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600" dirty="0">
                    <a:solidFill>
                      <a:srgbClr val="000000"/>
                    </a:solidFill>
                    <a:effectLst/>
                    <a:latin typeface="inter"/>
                    <a:ea typeface="inter"/>
                    <a:cs typeface="inter"/>
                  </a:rPr>
                  <a:t>When you double W, you double gm</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smtClean="0">
                    <a:solidFill>
                      <a:srgbClr val="000000"/>
                    </a:solidFill>
                    <a:latin typeface="inter"/>
                    <a:ea typeface="inter"/>
                    <a:cs typeface="inter"/>
                  </a:rPr>
                  <a:t>Gate </a:t>
                </a:r>
                <a:r>
                  <a:rPr lang="en-US" sz="1600" b="1" dirty="0" err="1">
                    <a:solidFill>
                      <a:srgbClr val="000000"/>
                    </a:solidFill>
                    <a:latin typeface="inter"/>
                    <a:ea typeface="inter"/>
                    <a:cs typeface="inter"/>
                  </a:rPr>
                  <a:t>transcapacitance</a:t>
                </a:r>
                <a:r>
                  <a:rPr lang="en-US" sz="1600" dirty="0">
                    <a:solidFill>
                      <a:srgbClr val="000000"/>
                    </a:solidFill>
                    <a:latin typeface="inter"/>
                    <a:ea typeface="inter"/>
                    <a:cs typeface="inter"/>
                  </a:rPr>
                  <a: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𝑔𝑔</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m:rPr>
                            <m:nor/>
                          </m:rPr>
                          <a:rPr lang="en-US" sz="1600">
                            <a:solidFill>
                              <a:srgbClr val="000000"/>
                            </a:solidFill>
                            <a:latin typeface="Georgia" panose="02040502050405020303" pitchFamily="18" charset="0"/>
                            <a:ea typeface="Calibri" panose="020F0502020204030204" pitchFamily="34" charset="0"/>
                            <a:cs typeface="Times New Roman" panose="02020603050405020304" pitchFamily="18" charset="0"/>
                          </a:rPr>
                          <m:t>ox</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𝑊𝐿</m:t>
                    </m: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oMath>
                </a14:m>
                <a:r>
                  <a:rPr lang="en-US" sz="1600" dirty="0">
                    <a:solidFill>
                      <a:srgbClr val="000000"/>
                    </a:solidFill>
                    <a:latin typeface="inter"/>
                    <a:ea typeface="inter"/>
                    <a:cs typeface="inter"/>
                  </a:rPr>
                  <a:t> → proportional to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smtClean="0">
                    <a:solidFill>
                      <a:srgbClr val="000000"/>
                    </a:solidFill>
                    <a:latin typeface="inter"/>
                    <a:ea typeface="inter"/>
                    <a:cs typeface="inter"/>
                  </a:rPr>
                  <a:t>Source </a:t>
                </a:r>
                <a:r>
                  <a:rPr lang="en-US" sz="1600" b="1" dirty="0" err="1">
                    <a:solidFill>
                      <a:srgbClr val="000000"/>
                    </a:solidFill>
                    <a:latin typeface="inter"/>
                    <a:ea typeface="inter"/>
                    <a:cs typeface="inter"/>
                  </a:rPr>
                  <a:t>transcapacitance</a:t>
                </a:r>
                <a:r>
                  <a:rPr lang="en-US" sz="1600" dirty="0">
                    <a:solidFill>
                      <a:srgbClr val="000000"/>
                    </a:solidFill>
                    <a:latin typeface="inter"/>
                    <a:ea typeface="inter"/>
                    <a:cs typeface="inter"/>
                  </a:rPr>
                  <a: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𝑔𝑠</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𝑔𝑑</m:t>
                        </m:r>
                      </m:sub>
                    </m:sSub>
                  </m:oMath>
                </a14:m>
                <a:r>
                  <a:rPr lang="en-US" sz="1600" dirty="0">
                    <a:solidFill>
                      <a:srgbClr val="000000"/>
                    </a:solidFill>
                    <a:latin typeface="inter"/>
                    <a:ea typeface="inter"/>
                    <a:cs typeface="inter"/>
                  </a:rPr>
                  <a:t> → proportional to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smtClean="0">
                    <a:solidFill>
                      <a:srgbClr val="000000"/>
                    </a:solidFill>
                    <a:latin typeface="inter"/>
                    <a:ea typeface="inter"/>
                    <a:cs typeface="inter"/>
                  </a:rPr>
                  <a:t>Bulk and diffusion capacitances</a:t>
                </a:r>
                <a:r>
                  <a:rPr lang="en-US" sz="1600" dirty="0">
                    <a:solidFill>
                      <a:srgbClr val="000000"/>
                    </a:solidFill>
                    <a:latin typeface="inter"/>
                    <a:ea typeface="inter"/>
                    <a:cs typeface="inter"/>
                  </a:rPr>
                  <a:t>: </a:t>
                </a:r>
                <a14:m>
                  <m:oMath xmlns:m="http://schemas.openxmlformats.org/officeDocument/2006/math">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𝑠𝑏</m:t>
                        </m:r>
                      </m:sub>
                    </m:sSub>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𝑑𝑏</m:t>
                        </m:r>
                      </m:sub>
                    </m:sSub>
                  </m:oMath>
                </a14:m>
                <a:r>
                  <a:rPr lang="en-US" sz="1600" dirty="0">
                    <a:solidFill>
                      <a:srgbClr val="000000"/>
                    </a:solidFill>
                    <a:latin typeface="inter"/>
                    <a:ea typeface="inter"/>
                    <a:cs typeface="inter"/>
                  </a:rPr>
                  <a:t> → proportional to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a:solidFill>
                      <a:srgbClr val="000000"/>
                    </a:solidFill>
                    <a:latin typeface="inter"/>
                    <a:ea typeface="inter"/>
                    <a:cs typeface="inter"/>
                  </a:rPr>
                  <a:t>Thermal noise</a:t>
                </a:r>
                <a:r>
                  <a:rPr lang="en-US" sz="1600" dirty="0">
                    <a:solidFill>
                      <a:srgbClr val="000000"/>
                    </a:solidFill>
                    <a:latin typeface="inter"/>
                    <a:ea typeface="inter"/>
                    <a:cs typeface="inter"/>
                  </a:rPr>
                  <a:t>: </a:t>
                </a:r>
                <a14:m>
                  <m:oMath xmlns:m="http://schemas.openxmlformats.org/officeDocument/2006/math">
                    <m:bar>
                      <m:barPr>
                        <m:pos m:val="top"/>
                        <m:ctrlPr>
                          <a:rPr lang="en-US" sz="1600" i="1">
                            <a:latin typeface="Cambria Math" panose="02040503050406030204" pitchFamily="18" charset="0"/>
                            <a:ea typeface="Calibri" panose="020F0502020204030204" pitchFamily="34" charset="0"/>
                            <a:cs typeface="Times New Roman" panose="02020603050405020304" pitchFamily="18" charset="0"/>
                          </a:rPr>
                        </m:ctrlPr>
                      </m:barPr>
                      <m:e>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ba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4</m:t>
                        </m:r>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𝑘𝑇</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den>
                    </m:f>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600" dirty="0" smtClean="0">
                    <a:solidFill>
                      <a:srgbClr val="000000"/>
                    </a:solidFill>
                    <a:effectLst/>
                    <a:latin typeface="inter"/>
                    <a:ea typeface="inter"/>
                    <a:cs typeface="inter"/>
                  </a:rPr>
                  <a:t>For fixed bias, doubling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a14:m>
                <a:r>
                  <a:rPr lang="en-US" sz="1600" dirty="0" smtClean="0">
                    <a:solidFill>
                      <a:srgbClr val="000000"/>
                    </a:solidFill>
                    <a:effectLst/>
                    <a:latin typeface="inter"/>
                    <a:ea typeface="inter"/>
                    <a:cs typeface="inter"/>
                  </a:rPr>
                  <a:t> halves noise voltage</a:t>
                </a:r>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mj-lt"/>
                  <a:buAutoNum type="arabicPeriod"/>
                  <a:tabLst>
                    <a:tab pos="571500" algn="l"/>
                  </a:tabLst>
                </a:pPr>
                <a:r>
                  <a:rPr lang="en-US" sz="1600" b="1" dirty="0" smtClean="0">
                    <a:solidFill>
                      <a:srgbClr val="000000"/>
                    </a:solidFill>
                    <a:latin typeface="inter"/>
                    <a:ea typeface="inter"/>
                    <a:cs typeface="inter"/>
                  </a:rPr>
                  <a:t>Flicker </a:t>
                </a:r>
                <a:r>
                  <a:rPr lang="en-US" sz="1600" b="1" dirty="0">
                    <a:solidFill>
                      <a:srgbClr val="000000"/>
                    </a:solidFill>
                    <a:latin typeface="inter"/>
                    <a:ea typeface="inter"/>
                    <a:cs typeface="inter"/>
                  </a:rPr>
                  <a:t>noise</a:t>
                </a:r>
                <a:r>
                  <a:rPr lang="en-US" sz="1600" dirty="0">
                    <a:solidFill>
                      <a:srgbClr val="000000"/>
                    </a:solidFill>
                    <a:latin typeface="inter"/>
                    <a:ea typeface="inter"/>
                    <a:cs typeface="inter"/>
                  </a:rPr>
                  <a:t>: </a:t>
                </a:r>
                <a14:m>
                  <m:oMath xmlns:m="http://schemas.openxmlformats.org/officeDocument/2006/math">
                    <m:bar>
                      <m:barPr>
                        <m:pos m:val="top"/>
                        <m:ctrlPr>
                          <a:rPr lang="en-US" sz="1600" i="1">
                            <a:latin typeface="Cambria Math" panose="02040503050406030204" pitchFamily="18" charset="0"/>
                            <a:ea typeface="Calibri" panose="020F0502020204030204" pitchFamily="34" charset="0"/>
                            <a:cs typeface="Times New Roman" panose="02020603050405020304" pitchFamily="18" charset="0"/>
                          </a:rPr>
                        </m:ctrlPr>
                      </m:barPr>
                      <m:e>
                        <m:sSubSup>
                          <m:sSubSup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up>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p>
                        </m:sSubSup>
                      </m:e>
                    </m:bar>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𝐾</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sub>
                        </m:sSub>
                      </m:num>
                      <m:den>
                        <m:sSub>
                          <m:sSub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𝑜𝑥</m:t>
                            </m:r>
                          </m:sub>
                        </m:sSub>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𝑊𝐿𝑓</m:t>
                        </m:r>
                      </m:den>
                    </m:f>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6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den>
                    </m:f>
                  </m:oMath>
                </a14:m>
                <a:endParaRPr lang="en-US" sz="16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600" dirty="0" smtClean="0">
                    <a:solidFill>
                      <a:srgbClr val="000000"/>
                    </a:solidFill>
                    <a:effectLst/>
                    <a:latin typeface="inter"/>
                    <a:ea typeface="inter"/>
                    <a:cs typeface="inter"/>
                  </a:rPr>
                  <a:t>Also inversely proportional to </a:t>
                </a:r>
                <a14:m>
                  <m:oMath xmlns:m="http://schemas.openxmlformats.org/officeDocument/2006/math">
                    <m:r>
                      <a:rPr lang="en-US" sz="16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oMath>
                </a14:m>
                <a:r>
                  <a:rPr lang="en-US" sz="1600" dirty="0" smtClean="0">
                    <a:solidFill>
                      <a:srgbClr val="000000"/>
                    </a:solidFill>
                    <a:effectLst/>
                    <a:latin typeface="inter"/>
                    <a:ea typeface="inter"/>
                    <a:cs typeface="inter"/>
                  </a:rPr>
                  <a:t> (for fixed </a:t>
                </a:r>
                <a14:m>
                  <m:oMath xmlns:m="http://schemas.openxmlformats.org/officeDocument/2006/math">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𝒈</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𝒎</m:t>
                        </m:r>
                      </m:sub>
                    </m:sSub>
                    <m:r>
                      <a:rPr lang="en-US" sz="1600" b="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𝑫</m:t>
                        </m:r>
                      </m:sub>
                    </m:sSub>
                  </m:oMath>
                </a14:m>
                <a:r>
                  <a:rPr lang="en-US" sz="1600" dirty="0" smtClean="0">
                    <a:solidFill>
                      <a:srgbClr val="000000"/>
                    </a:solidFill>
                    <a:effectLst/>
                    <a:latin typeface="inter"/>
                    <a:ea typeface="inter"/>
                    <a:cs typeface="inter"/>
                  </a:rPr>
                  <a:t>, </a:t>
                </a:r>
                <a14:m>
                  <m:oMath xmlns:m="http://schemas.openxmlformats.org/officeDocument/2006/math">
                    <m:r>
                      <a:rPr lang="en-US" sz="1600"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𝑳</m:t>
                    </m:r>
                  </m:oMath>
                </a14:m>
                <a:r>
                  <a:rPr lang="en-US" sz="1600" dirty="0" smtClean="0">
                    <a:solidFill>
                      <a:srgbClr val="000000"/>
                    </a:solidFill>
                    <a:effectLst/>
                    <a:latin typeface="inter"/>
                    <a:ea typeface="inter"/>
                    <a:cs typeface="inter"/>
                  </a:rPr>
                  <a:t>)</a:t>
                </a:r>
                <a:endParaRPr lang="en-US" sz="1600" dirty="0" smtClean="0">
                  <a:effectLst/>
                  <a:latin typeface="Georgia" panose="02040502050405020303" pitchFamily="18" charset="0"/>
                  <a:ea typeface="Calibri" panose="020F0502020204030204" pitchFamily="34" charset="0"/>
                  <a:cs typeface="Times New Roman" panose="02020603050405020304" pitchFamily="18" charset="0"/>
                </a:endParaRPr>
              </a:p>
              <a:p>
                <a:endParaRPr lang="en-US" sz="1600" dirty="0"/>
              </a:p>
            </p:txBody>
          </p:sp>
        </mc:Choice>
        <mc:Fallback xmlns="">
          <p:sp>
            <p:nvSpPr>
              <p:cNvPr id="3" name="Text Placeholder 2"/>
              <p:cNvSpPr>
                <a:spLocks noGrp="1" noRot="1" noChangeAspect="1" noMove="1" noResize="1" noEditPoints="1" noAdjustHandles="1" noChangeArrowheads="1" noChangeShapeType="1" noTextEdit="1"/>
              </p:cNvSpPr>
              <p:nvPr>
                <p:ph type="body" idx="1"/>
              </p:nvPr>
            </p:nvSpPr>
            <p:spPr>
              <a:xfrm>
                <a:off x="829310" y="1144473"/>
                <a:ext cx="10513261" cy="5906169"/>
              </a:xfrm>
              <a:blipFill>
                <a:blip r:embed="rId2"/>
                <a:stretch>
                  <a:fillRect l="-1159" t="-1135"/>
                </a:stretch>
              </a:blipFill>
            </p:spPr>
            <p:txBody>
              <a:bodyPr/>
              <a:lstStyle/>
              <a:p>
                <a:r>
                  <a:rPr lang="en-US">
                    <a:noFill/>
                  </a:rPr>
                  <a:t> </a:t>
                </a:r>
              </a:p>
            </p:txBody>
          </p:sp>
        </mc:Fallback>
      </mc:AlternateContent>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8737106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17787" y="1108790"/>
                <a:ext cx="10696141" cy="5433282"/>
              </a:xfrm>
            </p:spPr>
            <p:txBody>
              <a:bodyPr/>
              <a:lstStyle/>
              <a:p>
                <a:r>
                  <a:rPr lang="en-US" sz="1050" b="1" dirty="0">
                    <a:solidFill>
                      <a:srgbClr val="000000"/>
                    </a:solidFill>
                    <a:latin typeface="inter"/>
                    <a:ea typeface="inter"/>
                    <a:cs typeface="inter"/>
                  </a:rPr>
                  <a:t>2.2 Key Point 2: Ratios Are Width-Independent</a:t>
                </a:r>
                <a:endParaRPr lang="en-US" sz="9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050" b="1" dirty="0">
                    <a:solidFill>
                      <a:srgbClr val="000000"/>
                    </a:solidFill>
                    <a:latin typeface="inter"/>
                    <a:ea typeface="inter"/>
                    <a:cs typeface="inter"/>
                  </a:rPr>
                  <a:t>The Critical Insight:</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r>
                  <a:rPr lang="en-US" sz="1050" dirty="0">
                    <a:solidFill>
                      <a:srgbClr val="000000"/>
                    </a:solidFill>
                    <a:latin typeface="inter"/>
                    <a:ea typeface="inter"/>
                    <a:cs typeface="inter"/>
                  </a:rPr>
                  <a:t>If parameter A ∝ W and parameter B ∝ W, then:</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14:m>
                  <m:oMathPara xmlns:m="http://schemas.openxmlformats.org/officeDocument/2006/math">
                    <m:oMathParaPr>
                      <m:jc m:val="centerGroup"/>
                    </m:oMathParaPr>
                    <m:oMath xmlns:m="http://schemas.openxmlformats.org/officeDocument/2006/math">
                      <m:f>
                        <m:f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num>
                        <m:den>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𝐵</m:t>
                          </m:r>
                        </m:den>
                      </m:f>
                      <m:r>
                        <a:rPr lang="en-US" sz="105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r>
                            <a:rPr lang="en-US" sz="105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𝐵</m:t>
                              </m:r>
                            </m:sub>
                          </m:sSub>
                          <m:r>
                            <a:rPr lang="en-US" sz="105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den>
                      </m:f>
                      <m:r>
                        <a:rPr lang="en-US" sz="105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num>
                        <m:den>
                          <m:sSub>
                            <m:sSubPr>
                              <m:ctrlP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e>
                            <m:sub>
                              <m:r>
                                <a:rPr lang="en-US" sz="105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𝐵</m:t>
                              </m:r>
                            </m:sub>
                          </m:sSub>
                        </m:den>
                      </m:f>
                    </m:oMath>
                  </m:oMathPara>
                </a14:m>
                <a:endParaRPr lang="en-US" sz="1050" dirty="0">
                  <a:latin typeface="Georgia" panose="02040502050405020303" pitchFamily="18" charset="0"/>
                  <a:ea typeface="Calibri" panose="020F0502020204030204" pitchFamily="34" charset="0"/>
                  <a:cs typeface="Times New Roman" panose="02020603050405020304" pitchFamily="18" charset="0"/>
                </a:endParaRPr>
              </a:p>
              <a:p>
                <a:r>
                  <a:rPr lang="en-US" sz="1050" b="1" dirty="0">
                    <a:solidFill>
                      <a:srgbClr val="000000"/>
                    </a:solidFill>
                    <a:latin typeface="inter"/>
                    <a:ea typeface="inter"/>
                    <a:cs typeface="inter"/>
                  </a:rPr>
                  <a:t>The ratio is independent of W!</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r>
                  <a:rPr lang="en-US" sz="1050" b="1" dirty="0">
                    <a:solidFill>
                      <a:srgbClr val="000000"/>
                    </a:solidFill>
                    <a:latin typeface="inter"/>
                    <a:ea typeface="inter"/>
                    <a:cs typeface="inter"/>
                  </a:rPr>
                  <a:t>Which Ratios Stay Constant?</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r>
                  <a:rPr lang="en-US" sz="1050" b="1" dirty="0">
                    <a:solidFill>
                      <a:srgbClr val="000000"/>
                    </a:solidFill>
                    <a:latin typeface="inter"/>
                    <a:ea typeface="inter"/>
                    <a:cs typeface="inter"/>
                  </a:rPr>
                  <a:t>Yes—Independent of W:</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lvl="1">
                  <a:tabLst>
                    <a:tab pos="571500" algn="l"/>
                  </a:tabLst>
                </a:pPr>
                <a:r>
                  <a:rPr lang="en-US" sz="1000" b="1" dirty="0" smtClean="0">
                    <a:solidFill>
                      <a:srgbClr val="000000"/>
                    </a:solidFill>
                    <a:latin typeface="inter"/>
                    <a:ea typeface="inter"/>
                    <a:cs typeface="inter"/>
                  </a:rPr>
                  <a:t>1). g</a:t>
                </a:r>
                <a:r>
                  <a:rPr lang="en-US" sz="1000" b="1" baseline="-25000" dirty="0" smtClean="0">
                    <a:solidFill>
                      <a:srgbClr val="000000"/>
                    </a:solidFill>
                    <a:latin typeface="inter"/>
                    <a:ea typeface="inter"/>
                    <a:cs typeface="inter"/>
                  </a:rPr>
                  <a:t>m</a:t>
                </a:r>
                <a:r>
                  <a:rPr lang="en-US" sz="1000" b="1" dirty="0" smtClean="0">
                    <a:solidFill>
                      <a:srgbClr val="000000"/>
                    </a:solidFill>
                    <a:latin typeface="inter"/>
                    <a:ea typeface="inter"/>
                    <a:cs typeface="inter"/>
                  </a:rPr>
                  <a:t>/I</a:t>
                </a:r>
                <a:r>
                  <a:rPr lang="en-US" sz="1000" b="1" baseline="-25000" dirty="0" smtClean="0">
                    <a:solidFill>
                      <a:srgbClr val="000000"/>
                    </a:solidFill>
                    <a:latin typeface="inter"/>
                    <a:ea typeface="inter"/>
                    <a:cs typeface="inter"/>
                  </a:rPr>
                  <a:t>D</a:t>
                </a:r>
                <a:r>
                  <a:rPr lang="en-US" sz="1000" b="1" dirty="0" smtClean="0">
                    <a:solidFill>
                      <a:srgbClr val="000000"/>
                    </a:solidFill>
                    <a:latin typeface="inter"/>
                    <a:ea typeface="inter"/>
                    <a:cs typeface="inter"/>
                  </a:rPr>
                  <a:t> </a:t>
                </a:r>
                <a:r>
                  <a:rPr lang="en-US" sz="1000" b="1" dirty="0">
                    <a:solidFill>
                      <a:srgbClr val="000000"/>
                    </a:solidFill>
                    <a:latin typeface="inter"/>
                    <a:ea typeface="inter"/>
                    <a:cs typeface="inter"/>
                  </a:rPr>
                  <a:t>(</a:t>
                </a:r>
                <a:r>
                  <a:rPr lang="en-US" sz="1000" b="1" dirty="0" err="1">
                    <a:solidFill>
                      <a:srgbClr val="000000"/>
                    </a:solidFill>
                    <a:latin typeface="inter"/>
                    <a:ea typeface="inter"/>
                    <a:cs typeface="inter"/>
                  </a:rPr>
                  <a:t>Transconductance</a:t>
                </a:r>
                <a:r>
                  <a:rPr lang="en-US" sz="1000" b="1" dirty="0">
                    <a:solidFill>
                      <a:srgbClr val="000000"/>
                    </a:solidFill>
                    <a:latin typeface="inter"/>
                    <a:ea typeface="inter"/>
                    <a:cs typeface="inter"/>
                  </a:rPr>
                  <a:t> efficiency):</a:t>
                </a:r>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800100" lvl="1"/>
                <a14:m>
                  <m:oMathPara xmlns:m="http://schemas.openxmlformats.org/officeDocument/2006/math">
                    <m:oMathParaPr>
                      <m:jc m:val="centerGroup"/>
                    </m:oMathParaPr>
                    <m:oMath xmlns:m="http://schemas.openxmlformats.org/officeDocument/2006/math">
                      <m:f>
                        <m:f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e>
                            <m: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sub>
                          </m:s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e>
                            <m: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sub>
                          </m:s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den>
                      </m:f>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sz="1000">
                          <a:solidFill>
                            <a:srgbClr val="000000"/>
                          </a:solidFill>
                          <a:latin typeface="Georgia" panose="02040502050405020303" pitchFamily="18" charset="0"/>
                          <a:ea typeface="Calibri" panose="020F0502020204030204" pitchFamily="34" charset="0"/>
                          <a:cs typeface="Times New Roman" panose="02020603050405020304" pitchFamily="18" charset="0"/>
                        </a:rPr>
                        <m:t>constant</m:t>
                      </m:r>
                    </m:oMath>
                  </m:oMathPara>
                </a14:m>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100" dirty="0">
                    <a:solidFill>
                      <a:srgbClr val="000000"/>
                    </a:solidFill>
                    <a:effectLst/>
                    <a:latin typeface="inter"/>
                    <a:ea typeface="inter"/>
                    <a:cs typeface="inter"/>
                  </a:rPr>
                  <a:t>Depends only on bias point (V</a:t>
                </a:r>
                <a:r>
                  <a:rPr lang="en-US" sz="1100" baseline="-25000" dirty="0">
                    <a:solidFill>
                      <a:srgbClr val="000000"/>
                    </a:solidFill>
                    <a:effectLst/>
                    <a:latin typeface="inter"/>
                    <a:ea typeface="inter"/>
                    <a:cs typeface="inter"/>
                  </a:rPr>
                  <a:t>GS</a:t>
                </a:r>
                <a:r>
                  <a:rPr lang="en-US" sz="1100" dirty="0">
                    <a:solidFill>
                      <a:srgbClr val="000000"/>
                    </a:solidFill>
                    <a:effectLst/>
                    <a:latin typeface="inter"/>
                    <a:ea typeface="inter"/>
                    <a:cs typeface="inter"/>
                  </a:rPr>
                  <a:t>, V</a:t>
                </a:r>
                <a:r>
                  <a:rPr lang="en-US" sz="1100" baseline="-25000" dirty="0">
                    <a:solidFill>
                      <a:srgbClr val="000000"/>
                    </a:solidFill>
                    <a:effectLst/>
                    <a:latin typeface="inter"/>
                    <a:ea typeface="inter"/>
                    <a:cs typeface="inter"/>
                  </a:rPr>
                  <a:t>DS</a:t>
                </a:r>
                <a:r>
                  <a:rPr lang="en-US" sz="1100" dirty="0">
                    <a:solidFill>
                      <a:srgbClr val="000000"/>
                    </a:solidFill>
                    <a:effectLst/>
                    <a:latin typeface="inter"/>
                    <a:ea typeface="inter"/>
                    <a:cs typeface="inter"/>
                  </a:rPr>
                  <a:t>, V</a:t>
                </a:r>
                <a:r>
                  <a:rPr lang="en-US" sz="1100" baseline="-25000" dirty="0">
                    <a:solidFill>
                      <a:srgbClr val="000000"/>
                    </a:solidFill>
                    <a:effectLst/>
                    <a:latin typeface="inter"/>
                    <a:ea typeface="inter"/>
                    <a:cs typeface="inter"/>
                  </a:rPr>
                  <a:t>SB</a:t>
                </a:r>
                <a:r>
                  <a:rPr lang="en-US" sz="1100" dirty="0">
                    <a:solidFill>
                      <a:srgbClr val="000000"/>
                    </a:solidFill>
                    <a:effectLst/>
                    <a:latin typeface="inter"/>
                    <a:ea typeface="inter"/>
                    <a:cs typeface="inter"/>
                  </a:rPr>
                  <a:t>, L, T)</a:t>
                </a:r>
                <a:endParaRPr lang="en-US" sz="1100" dirty="0">
                  <a:effectLst/>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100" dirty="0">
                    <a:solidFill>
                      <a:srgbClr val="000000"/>
                    </a:solidFill>
                    <a:effectLst/>
                    <a:latin typeface="inter"/>
                    <a:ea typeface="inter"/>
                    <a:cs typeface="inter"/>
                  </a:rPr>
                  <a:t>Does NOT depend on W</a:t>
                </a:r>
                <a:endParaRPr lang="en-US" sz="1100" dirty="0">
                  <a:effectLst/>
                  <a:latin typeface="Georgia" panose="02040502050405020303" pitchFamily="18" charset="0"/>
                  <a:ea typeface="Calibri" panose="020F0502020204030204" pitchFamily="34" charset="0"/>
                  <a:cs typeface="Times New Roman" panose="02020603050405020304" pitchFamily="18" charset="0"/>
                </a:endParaRPr>
              </a:p>
              <a:p>
                <a:pPr lvl="1">
                  <a:tabLst>
                    <a:tab pos="571500" algn="l"/>
                  </a:tabLst>
                </a:pPr>
                <a:r>
                  <a:rPr lang="en-US" sz="1000" b="1" dirty="0" smtClean="0">
                    <a:solidFill>
                      <a:srgbClr val="000000"/>
                    </a:solidFill>
                    <a:latin typeface="inter"/>
                    <a:ea typeface="inter"/>
                    <a:cs typeface="inter"/>
                  </a:rPr>
                  <a:t>2). </a:t>
                </a:r>
                <a:r>
                  <a:rPr lang="en-US" sz="1000" b="1" dirty="0" err="1" smtClean="0">
                    <a:solidFill>
                      <a:srgbClr val="000000"/>
                    </a:solidFill>
                    <a:latin typeface="inter"/>
                    <a:ea typeface="inter"/>
                    <a:cs typeface="inter"/>
                  </a:rPr>
                  <a:t>g</a:t>
                </a:r>
                <a:r>
                  <a:rPr lang="en-US" sz="1000" b="1" baseline="-25000" dirty="0" err="1" smtClean="0">
                    <a:solidFill>
                      <a:srgbClr val="000000"/>
                    </a:solidFill>
                    <a:latin typeface="inter"/>
                    <a:ea typeface="inter"/>
                    <a:cs typeface="inter"/>
                  </a:rPr>
                  <a:t>m</a:t>
                </a:r>
                <a:r>
                  <a:rPr lang="en-US" sz="1000" b="1" dirty="0" err="1" smtClean="0">
                    <a:solidFill>
                      <a:srgbClr val="000000"/>
                    </a:solidFill>
                    <a:latin typeface="inter"/>
                    <a:ea typeface="inter"/>
                    <a:cs typeface="inter"/>
                  </a:rPr>
                  <a:t>·r</a:t>
                </a:r>
                <a:r>
                  <a:rPr lang="en-US" sz="1000" b="1" baseline="-25000" dirty="0" err="1" smtClean="0">
                    <a:solidFill>
                      <a:srgbClr val="000000"/>
                    </a:solidFill>
                    <a:latin typeface="inter"/>
                    <a:ea typeface="inter"/>
                    <a:cs typeface="inter"/>
                  </a:rPr>
                  <a:t>o</a:t>
                </a:r>
                <a:r>
                  <a:rPr lang="en-US" sz="1000" b="1" dirty="0" smtClean="0">
                    <a:solidFill>
                      <a:srgbClr val="000000"/>
                    </a:solidFill>
                    <a:latin typeface="inter"/>
                    <a:ea typeface="inter"/>
                    <a:cs typeface="inter"/>
                  </a:rPr>
                  <a:t> </a:t>
                </a:r>
                <a:r>
                  <a:rPr lang="en-US" sz="1000" b="1" dirty="0">
                    <a:solidFill>
                      <a:srgbClr val="000000"/>
                    </a:solidFill>
                    <a:latin typeface="inter"/>
                    <a:ea typeface="inter"/>
                    <a:cs typeface="inter"/>
                  </a:rPr>
                  <a:t>(Intrinsic gain):</a:t>
                </a:r>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800100" lvl="1"/>
                <a14:m>
                  <m:oMathPara xmlns:m="http://schemas.openxmlformats.org/officeDocument/2006/math">
                    <m:oMathParaPr>
                      <m:jc m:val="centerGroup"/>
                    </m:oMathParaPr>
                    <m:oMath xmlns:m="http://schemas.openxmlformats.org/officeDocument/2006/math">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𝑜</m:t>
                          </m:r>
                        </m:sub>
                      </m:s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num>
                        <m:den>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num>
                        <m:den>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den>
                      </m:f>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oMath>
                  </m:oMathPara>
                </a14:m>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100" dirty="0">
                    <a:solidFill>
                      <a:srgbClr val="000000"/>
                    </a:solidFill>
                    <a:effectLst/>
                    <a:latin typeface="inter"/>
                    <a:ea typeface="inter"/>
                    <a:cs typeface="inter"/>
                  </a:rPr>
                  <a:t>Depends only on Early voltage, independent of W</a:t>
                </a:r>
                <a:endParaRPr lang="en-US" sz="1100" dirty="0">
                  <a:effectLst/>
                  <a:latin typeface="Georgia" panose="02040502050405020303" pitchFamily="18" charset="0"/>
                  <a:ea typeface="Calibri" panose="020F0502020204030204" pitchFamily="34" charset="0"/>
                  <a:cs typeface="Times New Roman" panose="02020603050405020304" pitchFamily="18" charset="0"/>
                </a:endParaRPr>
              </a:p>
              <a:p>
                <a:pPr lvl="1">
                  <a:tabLst>
                    <a:tab pos="571500" algn="l"/>
                  </a:tabLst>
                </a:pPr>
                <a:r>
                  <a:rPr lang="en-US" sz="1000" b="1" dirty="0" smtClean="0">
                    <a:solidFill>
                      <a:srgbClr val="000000"/>
                    </a:solidFill>
                    <a:latin typeface="inter"/>
                    <a:ea typeface="inter"/>
                    <a:cs typeface="inter"/>
                  </a:rPr>
                  <a:t>3). Early </a:t>
                </a:r>
                <a:r>
                  <a:rPr lang="en-US" sz="1000" b="1" dirty="0">
                    <a:solidFill>
                      <a:srgbClr val="000000"/>
                    </a:solidFill>
                    <a:latin typeface="inter"/>
                    <a:ea typeface="inter"/>
                    <a:cs typeface="inter"/>
                  </a:rPr>
                  <a:t>Voltage (V</a:t>
                </a:r>
                <a:r>
                  <a:rPr lang="en-US" sz="1000" b="1" baseline="-25000" dirty="0">
                    <a:solidFill>
                      <a:srgbClr val="000000"/>
                    </a:solidFill>
                    <a:latin typeface="inter"/>
                    <a:ea typeface="inter"/>
                    <a:cs typeface="inter"/>
                  </a:rPr>
                  <a:t>A</a:t>
                </a:r>
                <a:r>
                  <a:rPr lang="en-US" sz="1000" b="1" dirty="0">
                    <a:solidFill>
                      <a:srgbClr val="000000"/>
                    </a:solidFill>
                    <a:latin typeface="inter"/>
                    <a:ea typeface="inter"/>
                    <a:cs typeface="inter"/>
                  </a:rPr>
                  <a:t>):</a:t>
                </a:r>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800100" lvl="1"/>
                <a14:m>
                  <m:oMathPara xmlns:m="http://schemas.openxmlformats.org/officeDocument/2006/math">
                    <m:oMathParaPr>
                      <m:jc m:val="centerGroup"/>
                    </m:oMathParaPr>
                    <m:oMath xmlns:m="http://schemas.openxmlformats.org/officeDocument/2006/math">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𝐴</m:t>
                          </m:r>
                        </m:sub>
                      </m:s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𝐷𝑆</m:t>
                              </m:r>
                            </m:sub>
                          </m:sSub>
                        </m:num>
                        <m:den>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sz="1000">
                          <a:solidFill>
                            <a:srgbClr val="000000"/>
                          </a:solidFill>
                          <a:latin typeface="Georgia" panose="02040502050405020303" pitchFamily="18" charset="0"/>
                          <a:ea typeface="Calibri" panose="020F0502020204030204" pitchFamily="34" charset="0"/>
                          <a:cs typeface="Times New Roman" panose="02020603050405020304" pitchFamily="18" charset="0"/>
                        </a:rPr>
                        <m:t>output</m:t>
                      </m:r>
                      <m:r>
                        <m:rPr>
                          <m:nor/>
                        </m:rPr>
                        <a:rPr lang="en-US" sz="10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000">
                          <a:solidFill>
                            <a:srgbClr val="000000"/>
                          </a:solidFill>
                          <a:latin typeface="Georgia" panose="02040502050405020303" pitchFamily="18" charset="0"/>
                          <a:ea typeface="Calibri" panose="020F0502020204030204" pitchFamily="34" charset="0"/>
                          <a:cs typeface="Times New Roman" panose="02020603050405020304" pitchFamily="18" charset="0"/>
                        </a:rPr>
                        <m:t>impedance</m:t>
                      </m:r>
                      <m:r>
                        <m:rPr>
                          <m:nor/>
                        </m:rPr>
                        <a:rPr lang="en-US" sz="1000">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sz="1000">
                          <a:solidFill>
                            <a:srgbClr val="000000"/>
                          </a:solidFill>
                          <a:latin typeface="Georgia" panose="02040502050405020303" pitchFamily="18" charset="0"/>
                          <a:ea typeface="Calibri" panose="020F0502020204030204" pitchFamily="34" charset="0"/>
                          <a:cs typeface="Times New Roman" panose="02020603050405020304" pitchFamily="18" charset="0"/>
                        </a:rPr>
                        <m:t>parameter</m:t>
                      </m:r>
                    </m:oMath>
                  </m:oMathPara>
                </a14:m>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100" dirty="0">
                    <a:solidFill>
                      <a:srgbClr val="000000"/>
                    </a:solidFill>
                    <a:effectLst/>
                    <a:latin typeface="inter"/>
                    <a:ea typeface="inter"/>
                    <a:cs typeface="inter"/>
                  </a:rPr>
                  <a:t>Independent of W (depends on L, V</a:t>
                </a:r>
                <a:r>
                  <a:rPr lang="en-US" sz="1100" baseline="-25000" dirty="0">
                    <a:solidFill>
                      <a:srgbClr val="000000"/>
                    </a:solidFill>
                    <a:effectLst/>
                    <a:latin typeface="inter"/>
                    <a:ea typeface="inter"/>
                    <a:cs typeface="inter"/>
                  </a:rPr>
                  <a:t>GS</a:t>
                </a:r>
                <a:r>
                  <a:rPr lang="en-US" sz="1100" dirty="0">
                    <a:solidFill>
                      <a:srgbClr val="000000"/>
                    </a:solidFill>
                    <a:effectLst/>
                    <a:latin typeface="inter"/>
                    <a:ea typeface="inter"/>
                    <a:cs typeface="inter"/>
                  </a:rPr>
                  <a:t>, technology)</a:t>
                </a:r>
                <a:endParaRPr lang="en-US" sz="1100" dirty="0">
                  <a:effectLst/>
                  <a:latin typeface="Georgia" panose="02040502050405020303" pitchFamily="18" charset="0"/>
                  <a:ea typeface="Calibri" panose="020F0502020204030204" pitchFamily="34" charset="0"/>
                  <a:cs typeface="Times New Roman" panose="02020603050405020304" pitchFamily="18" charset="0"/>
                </a:endParaRPr>
              </a:p>
              <a:p>
                <a:pPr lvl="1">
                  <a:tabLst>
                    <a:tab pos="571500" algn="l"/>
                  </a:tabLst>
                </a:pPr>
                <a:r>
                  <a:rPr lang="en-US" sz="1000" b="1" dirty="0" smtClean="0">
                    <a:solidFill>
                      <a:srgbClr val="000000"/>
                    </a:solidFill>
                    <a:latin typeface="inter"/>
                    <a:ea typeface="inter"/>
                    <a:cs typeface="inter"/>
                  </a:rPr>
                  <a:t>4). Transit </a:t>
                </a:r>
                <a:r>
                  <a:rPr lang="en-US" sz="1000" b="1" dirty="0">
                    <a:solidFill>
                      <a:srgbClr val="000000"/>
                    </a:solidFill>
                    <a:latin typeface="inter"/>
                    <a:ea typeface="inter"/>
                    <a:cs typeface="inter"/>
                  </a:rPr>
                  <a:t>Frequency (</a:t>
                </a:r>
                <a:r>
                  <a:rPr lang="en-US" sz="1000" b="1" dirty="0" err="1">
                    <a:solidFill>
                      <a:srgbClr val="000000"/>
                    </a:solidFill>
                    <a:latin typeface="inter"/>
                    <a:ea typeface="inter"/>
                    <a:cs typeface="inter"/>
                  </a:rPr>
                  <a:t>f</a:t>
                </a:r>
                <a:r>
                  <a:rPr lang="en-US" sz="1000" b="1" baseline="-25000" dirty="0" err="1">
                    <a:solidFill>
                      <a:srgbClr val="000000"/>
                    </a:solidFill>
                    <a:latin typeface="inter"/>
                    <a:ea typeface="inter"/>
                    <a:cs typeface="inter"/>
                  </a:rPr>
                  <a:t>t</a:t>
                </a:r>
                <a:r>
                  <a:rPr lang="en-US" sz="1000" b="1" dirty="0">
                    <a:solidFill>
                      <a:srgbClr val="000000"/>
                    </a:solidFill>
                    <a:latin typeface="inter"/>
                    <a:ea typeface="inter"/>
                    <a:cs typeface="inter"/>
                  </a:rPr>
                  <a:t>):</a:t>
                </a:r>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800100" lvl="1"/>
                <a14:m>
                  <m:oMathPara xmlns:m="http://schemas.openxmlformats.org/officeDocument/2006/math">
                    <m:oMathParaPr>
                      <m:jc m:val="centerGroup"/>
                    </m:oMathParaPr>
                    <m:oMath xmlns:m="http://schemas.openxmlformats.org/officeDocument/2006/math">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𝑓</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𝑇</m:t>
                          </m:r>
                        </m:sub>
                      </m:s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num>
                        <m:den>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𝐶</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𝑔𝑔</m:t>
                              </m:r>
                            </m:sub>
                          </m:sSub>
                        </m:den>
                      </m:f>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num>
                        <m:den>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2</m:t>
                          </m:r>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𝜋</m:t>
                          </m:r>
                          <m:sSup>
                            <m:sSup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𝑘</m:t>
                              </m:r>
                            </m:e>
                            <m:sup>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up>
                          </m:sSup>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den>
                      </m:f>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sz="1000">
                          <a:solidFill>
                            <a:srgbClr val="000000"/>
                          </a:solidFill>
                          <a:latin typeface="Georgia" panose="02040502050405020303" pitchFamily="18" charset="0"/>
                          <a:ea typeface="Calibri" panose="020F0502020204030204" pitchFamily="34" charset="0"/>
                          <a:cs typeface="Times New Roman" panose="02020603050405020304" pitchFamily="18" charset="0"/>
                        </a:rPr>
                        <m:t>constant</m:t>
                      </m:r>
                    </m:oMath>
                  </m:oMathPara>
                </a14:m>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100" dirty="0">
                    <a:solidFill>
                      <a:srgbClr val="000000"/>
                    </a:solidFill>
                    <a:effectLst/>
                    <a:latin typeface="inter"/>
                    <a:ea typeface="inter"/>
                    <a:cs typeface="inter"/>
                  </a:rPr>
                  <a:t>Independent of W (both numerator and denominator scale together)</a:t>
                </a:r>
                <a:endParaRPr lang="en-US" sz="1100" dirty="0">
                  <a:effectLst/>
                  <a:latin typeface="Georgia" panose="02040502050405020303" pitchFamily="18" charset="0"/>
                  <a:ea typeface="Calibri" panose="020F0502020204030204" pitchFamily="34" charset="0"/>
                  <a:cs typeface="Times New Roman" panose="02020603050405020304" pitchFamily="18" charset="0"/>
                </a:endParaRPr>
              </a:p>
              <a:p>
                <a:pPr lvl="1">
                  <a:tabLst>
                    <a:tab pos="571500" algn="l"/>
                  </a:tabLst>
                </a:pPr>
                <a:r>
                  <a:rPr lang="en-US" sz="1000" b="1" dirty="0" smtClean="0">
                    <a:solidFill>
                      <a:srgbClr val="000000"/>
                    </a:solidFill>
                    <a:latin typeface="inter"/>
                    <a:ea typeface="inter"/>
                    <a:cs typeface="inter"/>
                  </a:rPr>
                  <a:t>5). Matching </a:t>
                </a:r>
                <a:r>
                  <a:rPr lang="en-US" sz="1000" b="1" dirty="0">
                    <a:solidFill>
                      <a:srgbClr val="000000"/>
                    </a:solidFill>
                    <a:latin typeface="inter"/>
                    <a:ea typeface="inter"/>
                    <a:cs typeface="inter"/>
                  </a:rPr>
                  <a:t>(relative):</a:t>
                </a:r>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800100" lvl="1"/>
                <a14:m>
                  <m:oMathPara xmlns:m="http://schemas.openxmlformats.org/officeDocument/2006/math">
                    <m:oMathParaPr>
                      <m:jc m:val="centerGroup"/>
                    </m:oMathParaPr>
                    <m:oMath xmlns:m="http://schemas.openxmlformats.org/officeDocument/2006/math">
                      <m:f>
                        <m:f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𝜎</m:t>
                          </m:r>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sty m:val="p"/>
                            </m:rP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Δ</m:t>
                          </m:r>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num>
                        <m:den>
                          <m:sSub>
                            <m:sSub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den>
                      </m:f>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f>
                        <m:fPr>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1</m:t>
                          </m:r>
                        </m:num>
                        <m:den>
                          <m:rad>
                            <m:radPr>
                              <m:degHide m:val="on"/>
                              <m:ctrlP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r>
                                <a:rPr lang="en-US" sz="1000">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sz="1000"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𝐿</m:t>
                              </m:r>
                            </m:e>
                          </m:rad>
                        </m:den>
                      </m:f>
                    </m:oMath>
                  </m:oMathPara>
                </a14:m>
                <a:endParaRPr lang="en-US" sz="10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sz="1100" dirty="0">
                    <a:solidFill>
                      <a:srgbClr val="000000"/>
                    </a:solidFill>
                    <a:effectLst/>
                    <a:latin typeface="inter"/>
                    <a:ea typeface="inter"/>
                    <a:cs typeface="inter"/>
                  </a:rPr>
                  <a:t>Ratio is independent of absolute W value (depends on W·L product)</a:t>
                </a:r>
                <a:endParaRPr lang="en-US" sz="1100" dirty="0">
                  <a:effectLst/>
                  <a:latin typeface="Georgia" panose="02040502050405020303" pitchFamily="18" charset="0"/>
                  <a:ea typeface="Calibri" panose="020F0502020204030204" pitchFamily="34" charset="0"/>
                  <a:cs typeface="Times New Roman" panose="02020603050405020304" pitchFamily="18" charset="0"/>
                </a:endParaRPr>
              </a:p>
              <a:p>
                <a:r>
                  <a:rPr lang="en-US" sz="1050" b="1" dirty="0">
                    <a:solidFill>
                      <a:srgbClr val="000000"/>
                    </a:solidFill>
                    <a:latin typeface="inter"/>
                    <a:ea typeface="inter"/>
                    <a:cs typeface="inter"/>
                  </a:rPr>
                  <a:t>Profound Implication:</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pPr marL="628650" lvl="1" indent="-171450">
                  <a:buFont typeface="Arial" panose="020B0604020202020204" pitchFamily="34" charset="0"/>
                  <a:buChar char="•"/>
                </a:pPr>
                <a:r>
                  <a:rPr lang="en-US" sz="850" dirty="0">
                    <a:solidFill>
                      <a:srgbClr val="000000"/>
                    </a:solidFill>
                    <a:latin typeface="inter"/>
                    <a:ea typeface="inter"/>
                    <a:cs typeface="inter"/>
                  </a:rPr>
                  <a:t>If all important performance metrics (g</a:t>
                </a:r>
                <a:r>
                  <a:rPr lang="en-US" sz="850" baseline="-25000" dirty="0">
                    <a:solidFill>
                      <a:srgbClr val="000000"/>
                    </a:solidFill>
                    <a:latin typeface="inter"/>
                    <a:ea typeface="inter"/>
                    <a:cs typeface="inter"/>
                  </a:rPr>
                  <a:t>m</a:t>
                </a:r>
                <a:r>
                  <a:rPr lang="en-US" sz="850" dirty="0">
                    <a:solidFill>
                      <a:srgbClr val="000000"/>
                    </a:solidFill>
                    <a:latin typeface="inter"/>
                    <a:ea typeface="inter"/>
                    <a:cs typeface="inter"/>
                  </a:rPr>
                  <a:t>/I</a:t>
                </a:r>
                <a:r>
                  <a:rPr lang="en-US" sz="850" baseline="-25000" dirty="0">
                    <a:solidFill>
                      <a:srgbClr val="000000"/>
                    </a:solidFill>
                    <a:latin typeface="inter"/>
                    <a:ea typeface="inter"/>
                    <a:cs typeface="inter"/>
                  </a:rPr>
                  <a:t>D</a:t>
                </a:r>
                <a:r>
                  <a:rPr lang="en-US" sz="850" dirty="0">
                    <a:solidFill>
                      <a:srgbClr val="000000"/>
                    </a:solidFill>
                    <a:latin typeface="inter"/>
                    <a:ea typeface="inter"/>
                    <a:cs typeface="inter"/>
                  </a:rPr>
                  <a:t>, gain, transit frequency, relative matching) are independent of W, then:</a:t>
                </a:r>
                <a:r>
                  <a:rPr lang="en-US" sz="850" dirty="0">
                    <a:latin typeface="Georgia" panose="02040502050405020303" pitchFamily="18" charset="0"/>
                    <a:ea typeface="Calibri" panose="020F0502020204030204" pitchFamily="34" charset="0"/>
                    <a:cs typeface="Times New Roman" panose="02020603050405020304" pitchFamily="18" charset="0"/>
                  </a:rPr>
                  <a:t> </a:t>
                </a:r>
              </a:p>
              <a:p>
                <a:pPr marL="1085850" lvl="1" indent="-171450">
                  <a:buFont typeface="Arial" panose="020B0604020202020204" pitchFamily="34" charset="0"/>
                  <a:buChar char="•"/>
                </a:pPr>
                <a:r>
                  <a:rPr lang="en-US" sz="850" dirty="0">
                    <a:solidFill>
                      <a:srgbClr val="000000"/>
                    </a:solidFill>
                    <a:latin typeface="inter"/>
                    <a:ea typeface="inter"/>
                    <a:cs typeface="inter"/>
                  </a:rPr>
                  <a:t>"We only need to characterize ONE width (</a:t>
                </a:r>
                <a:r>
                  <a:rPr lang="en-US" sz="850" dirty="0" err="1">
                    <a:solidFill>
                      <a:srgbClr val="000000"/>
                    </a:solidFill>
                    <a:latin typeface="inter"/>
                    <a:ea typeface="inter"/>
                    <a:cs typeface="inter"/>
                  </a:rPr>
                  <a:t>W</a:t>
                </a:r>
                <a:r>
                  <a:rPr lang="en-US" sz="850" baseline="-25000" dirty="0" err="1">
                    <a:solidFill>
                      <a:srgbClr val="000000"/>
                    </a:solidFill>
                    <a:latin typeface="inter"/>
                    <a:ea typeface="inter"/>
                    <a:cs typeface="inter"/>
                  </a:rPr>
                  <a:t>ref</a:t>
                </a:r>
                <a:r>
                  <a:rPr lang="en-US" sz="850" dirty="0">
                    <a:solidFill>
                      <a:srgbClr val="000000"/>
                    </a:solidFill>
                    <a:latin typeface="inter"/>
                    <a:ea typeface="inter"/>
                    <a:cs typeface="inter"/>
                  </a:rPr>
                  <a:t>)"</a:t>
                </a:r>
                <a:endParaRPr lang="en-US" sz="850" dirty="0">
                  <a:latin typeface="Georgia" panose="02040502050405020303" pitchFamily="18" charset="0"/>
                  <a:ea typeface="Calibri" panose="020F0502020204030204" pitchFamily="34" charset="0"/>
                  <a:cs typeface="Times New Roman" panose="02020603050405020304" pitchFamily="18" charset="0"/>
                </a:endParaRPr>
              </a:p>
              <a:p>
                <a:r>
                  <a:rPr lang="en-US" sz="1050" dirty="0">
                    <a:solidFill>
                      <a:srgbClr val="000000"/>
                    </a:solidFill>
                    <a:latin typeface="inter"/>
                    <a:ea typeface="inter"/>
                    <a:cs typeface="inter"/>
                  </a:rPr>
                  <a:t>All other widths can be derived through simple cross-multiplication!</a:t>
                </a:r>
                <a:endParaRPr lang="en-US" sz="1050" dirty="0">
                  <a:latin typeface="Georgia" panose="02040502050405020303" pitchFamily="18" charset="0"/>
                  <a:ea typeface="Calibri" panose="020F0502020204030204" pitchFamily="34" charset="0"/>
                  <a:cs typeface="Times New Roman" panose="02020603050405020304" pitchFamily="18" charset="0"/>
                </a:endParaRPr>
              </a:p>
              <a:p>
                <a:endParaRPr lang="en-US" sz="1050" dirty="0"/>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17787" y="1108790"/>
                <a:ext cx="10696141" cy="5433282"/>
              </a:xfrm>
              <a:blipFill>
                <a:blip r:embed="rId2"/>
                <a:stretch>
                  <a:fillRect l="-741" t="-786"/>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732333" y="6562262"/>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46893" y="6615024"/>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6135570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mc:AlternateContent xmlns:mc="http://schemas.openxmlformats.org/markup-compatibility/2006">
        <mc:Choice xmlns:a14="http://schemas.microsoft.com/office/drawing/2010/main" Requires="a14">
          <p:sp>
            <p:nvSpPr>
              <p:cNvPr id="3" name="Text Placeholder 2"/>
              <p:cNvSpPr>
                <a:spLocks noGrp="1"/>
              </p:cNvSpPr>
              <p:nvPr>
                <p:ph type="body" idx="1"/>
              </p:nvPr>
            </p:nvSpPr>
            <p:spPr>
              <a:xfrm>
                <a:off x="844550" y="1327353"/>
                <a:ext cx="10636250" cy="4054893"/>
              </a:xfrm>
            </p:spPr>
            <p:txBody>
              <a:bodyPr/>
              <a:lstStyle/>
              <a:p>
                <a:r>
                  <a:rPr lang="en-US" b="1" dirty="0" smtClean="0">
                    <a:solidFill>
                      <a:srgbClr val="000000"/>
                    </a:solidFill>
                    <a:latin typeface="inter"/>
                    <a:ea typeface="inter"/>
                    <a:cs typeface="inter"/>
                  </a:rPr>
                  <a:t>2.3 Mathematical Justification</a:t>
                </a:r>
                <a:endParaRPr lang="en-US" sz="1600" dirty="0">
                  <a:effectLst/>
                  <a:latin typeface="Georgia" panose="02040502050405020303" pitchFamily="18" charset="0"/>
                  <a:ea typeface="Calibri" panose="020F0502020204030204" pitchFamily="34" charset="0"/>
                  <a:cs typeface="Times New Roman" panose="02020603050405020304" pitchFamily="18" charset="0"/>
                </a:endParaRPr>
              </a:p>
              <a:p>
                <a:r>
                  <a:rPr lang="en-US" b="1" dirty="0">
                    <a:solidFill>
                      <a:srgbClr val="000000"/>
                    </a:solidFill>
                    <a:latin typeface="inter"/>
                    <a:ea typeface="inter"/>
                    <a:cs typeface="inter"/>
                  </a:rPr>
                  <a:t>Definition:</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0" lvl="1"/>
                <a:r>
                  <a:rPr lang="en-US" dirty="0">
                    <a:solidFill>
                      <a:srgbClr val="000000"/>
                    </a:solidFill>
                    <a:latin typeface="inter"/>
                    <a:ea typeface="inter"/>
                    <a:cs typeface="inter"/>
                  </a:rPr>
                  <a:t>For a reference device with W =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𝑒𝑓</m:t>
                    </m:r>
                  </m:oMath>
                </a14:m>
                <a:r>
                  <a:rPr lang="en-US" dirty="0" smtClean="0">
                    <a:solidFill>
                      <a:srgbClr val="000000"/>
                    </a:solidFill>
                    <a:latin typeface="inter"/>
                    <a:ea typeface="inter"/>
                    <a:cs typeface="inter"/>
                  </a:rPr>
                  <a:t> </a:t>
                </a:r>
                <a:r>
                  <a:rPr lang="en-US" dirty="0">
                    <a:solidFill>
                      <a:srgbClr val="000000"/>
                    </a:solidFill>
                    <a:latin typeface="inter"/>
                    <a:ea typeface="inter"/>
                    <a:cs typeface="inter"/>
                  </a:rPr>
                  <a:t>at bias point (</a:t>
                </a:r>
                <a:r>
                  <a:rPr lang="en-US" b="1" i="1" dirty="0">
                    <a:solidFill>
                      <a:srgbClr val="000000"/>
                    </a:solidFill>
                    <a:latin typeface="inter"/>
                    <a:ea typeface="inter"/>
                    <a:cs typeface="inter"/>
                  </a:rPr>
                  <a:t>V</a:t>
                </a:r>
                <a:r>
                  <a:rPr lang="en-US" b="1" i="1" baseline="-25000" dirty="0">
                    <a:solidFill>
                      <a:srgbClr val="000000"/>
                    </a:solidFill>
                    <a:latin typeface="inter"/>
                    <a:ea typeface="inter"/>
                    <a:cs typeface="inter"/>
                  </a:rPr>
                  <a:t>GS</a:t>
                </a:r>
                <a:r>
                  <a:rPr lang="en-US" b="1" i="1" dirty="0">
                    <a:solidFill>
                      <a:srgbClr val="000000"/>
                    </a:solidFill>
                    <a:latin typeface="inter"/>
                    <a:ea typeface="inter"/>
                    <a:cs typeface="inter"/>
                  </a:rPr>
                  <a:t>, V</a:t>
                </a:r>
                <a:r>
                  <a:rPr lang="en-US" b="1" i="1" baseline="-25000" dirty="0">
                    <a:solidFill>
                      <a:srgbClr val="000000"/>
                    </a:solidFill>
                    <a:latin typeface="inter"/>
                    <a:ea typeface="inter"/>
                    <a:cs typeface="inter"/>
                  </a:rPr>
                  <a:t>DS</a:t>
                </a:r>
                <a:r>
                  <a:rPr lang="en-US" b="1" i="1" dirty="0">
                    <a:solidFill>
                      <a:srgbClr val="000000"/>
                    </a:solidFill>
                    <a:latin typeface="inter"/>
                    <a:ea typeface="inter"/>
                    <a:cs typeface="inter"/>
                  </a:rPr>
                  <a:t>, V</a:t>
                </a:r>
                <a:r>
                  <a:rPr lang="en-US" b="1" i="1" baseline="-25000" dirty="0">
                    <a:solidFill>
                      <a:srgbClr val="000000"/>
                    </a:solidFill>
                    <a:latin typeface="inter"/>
                    <a:ea typeface="inter"/>
                    <a:cs typeface="inter"/>
                  </a:rPr>
                  <a:t>SB</a:t>
                </a:r>
                <a:r>
                  <a:rPr lang="en-US" b="1" i="1" dirty="0">
                    <a:solidFill>
                      <a:srgbClr val="000000"/>
                    </a:solidFill>
                    <a:latin typeface="inter"/>
                    <a:ea typeface="inter"/>
                    <a:cs typeface="inter"/>
                  </a:rPr>
                  <a:t>, L, T</a:t>
                </a:r>
                <a:r>
                  <a:rPr lang="en-US" dirty="0">
                    <a:solidFill>
                      <a:srgbClr val="000000"/>
                    </a:solidFill>
                    <a:latin typeface="inter"/>
                    <a:ea typeface="inter"/>
                    <a:cs typeface="inter"/>
                  </a:rPr>
                  <a:t>):</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r>
                  <a:rPr lang="en-US" dirty="0">
                    <a:solidFill>
                      <a:srgbClr val="000000"/>
                    </a:solidFill>
                    <a:latin typeface="inter"/>
                    <a:ea typeface="inter"/>
                    <a:cs typeface="inter"/>
                  </a:rPr>
                  <a:t>Current density: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𝑟</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𝑒𝑓</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r>
                  <a:rPr lang="en-US" dirty="0" err="1">
                    <a:solidFill>
                      <a:srgbClr val="000000"/>
                    </a:solidFill>
                    <a:latin typeface="inter"/>
                    <a:ea typeface="inter"/>
                    <a:cs typeface="inter"/>
                  </a:rPr>
                  <a:t>Transconductance</a:t>
                </a:r>
                <a:r>
                  <a:rPr lang="en-US" dirty="0">
                    <a:solidFill>
                      <a:srgbClr val="000000"/>
                    </a:solidFill>
                    <a:latin typeface="inter"/>
                    <a:ea typeface="inter"/>
                    <a:cs typeface="inter"/>
                  </a:rPr>
                  <a:t>: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b>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ref</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latin typeface="inter"/>
                    <a:ea typeface="inter"/>
                    <a:cs typeface="inter"/>
                  </a:rPr>
                  <a:t>: </a:t>
                </a:r>
                <a14:m>
                  <m:oMath xmlns:m="http://schemas.openxmlformats.org/officeDocument/2006/math">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e>
                      <m:sub>
                        <m:r>
                          <m:rPr>
                            <m:nor/>
                          </m:rPr>
                          <a:rPr lang="en-US" i="1">
                            <a:solidFill>
                              <a:srgbClr val="000000"/>
                            </a:solidFill>
                            <a:latin typeface="Georgia" panose="02040502050405020303" pitchFamily="18" charset="0"/>
                            <a:ea typeface="Calibri" panose="020F0502020204030204" pitchFamily="34" charset="0"/>
                            <a:cs typeface="Times New Roman" panose="02020603050405020304" pitchFamily="18" charset="0"/>
                          </a:rPr>
                          <m:t>ref</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constant</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at</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chosen</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 </m:t>
                    </m:r>
                    <m:r>
                      <m:rPr>
                        <m:nor/>
                      </m:rPr>
                      <a:rPr lang="en-US">
                        <a:solidFill>
                          <a:srgbClr val="000000"/>
                        </a:solidFill>
                        <a:latin typeface="Georgia" panose="02040502050405020303" pitchFamily="18" charset="0"/>
                        <a:ea typeface="Calibri" panose="020F0502020204030204" pitchFamily="34" charset="0"/>
                        <a:cs typeface="Times New Roman" panose="02020603050405020304" pitchFamily="18" charset="0"/>
                      </a:rPr>
                      <m:t>bias</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0" lvl="1"/>
                <a:r>
                  <a:rPr lang="en-US" b="1" dirty="0">
                    <a:solidFill>
                      <a:srgbClr val="000000"/>
                    </a:solidFill>
                    <a:latin typeface="inter"/>
                    <a:ea typeface="inter"/>
                    <a:cs typeface="inter"/>
                  </a:rPr>
                  <a:t>For a scaled device with W = </a:t>
                </a:r>
                <a14:m>
                  <m:oMath xmlns:m="http://schemas.openxmlformats.org/officeDocument/2006/math">
                    <m:sSub>
                      <m:sSubPr>
                        <m:ctrlPr>
                          <a:rPr lang="en-US" b="1"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𝑾</m:t>
                        </m:r>
                      </m:e>
                      <m:sub>
                        <m:r>
                          <a:rPr lang="en-US" b="1"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𝒏</m:t>
                        </m:r>
                      </m:sub>
                    </m:sSub>
                    <m:r>
                      <a:rPr lang="en-US" b="1" i="1" baseline="-25000">
                        <a:solidFill>
                          <a:srgbClr val="000000"/>
                        </a:solidFill>
                        <a:latin typeface="Cambria Math" panose="02040503050406030204" pitchFamily="18" charset="0"/>
                        <a:ea typeface="Calibri" panose="020F0502020204030204" pitchFamily="34" charset="0"/>
                        <a:cs typeface="Times New Roman" panose="02020603050405020304" pitchFamily="18" charset="0"/>
                      </a:rPr>
                      <m:t>𝒆𝒘</m:t>
                    </m:r>
                  </m:oMath>
                </a14:m>
                <a:r>
                  <a:rPr lang="en-US" b="1" dirty="0">
                    <a:solidFill>
                      <a:srgbClr val="000000"/>
                    </a:solidFill>
                    <a:latin typeface="inter"/>
                    <a:ea typeface="inter"/>
                    <a:cs typeface="inter"/>
                  </a:rPr>
                  <a:t> at same bias: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r>
                  <a:rPr lang="en-US" dirty="0">
                    <a:solidFill>
                      <a:srgbClr val="000000"/>
                    </a:solidFill>
                    <a:latin typeface="inter"/>
                    <a:ea typeface="inter"/>
                    <a:cs typeface="inter"/>
                  </a:rPr>
                  <a:t>Current density is </a:t>
                </a:r>
                <a:r>
                  <a:rPr lang="en-US" b="1" dirty="0">
                    <a:solidFill>
                      <a:srgbClr val="000000"/>
                    </a:solidFill>
                    <a:latin typeface="inter"/>
                    <a:ea typeface="inter"/>
                    <a:cs typeface="inter"/>
                  </a:rPr>
                  <a:t>identical</a:t>
                </a:r>
                <a:r>
                  <a:rPr lang="en-US" dirty="0">
                    <a:solidFill>
                      <a:srgbClr val="000000"/>
                    </a:solidFill>
                    <a:latin typeface="inter"/>
                    <a:ea typeface="inter"/>
                    <a:cs typeface="inter"/>
                  </a:rPr>
                  <a:t>: </a:t>
                </a:r>
                <a14:m>
                  <m:oMath xmlns:m="http://schemas.openxmlformats.org/officeDocument/2006/math">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𝑒𝑤</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r>
                  <a:rPr lang="en-US" dirty="0">
                    <a:solidFill>
                      <a:srgbClr val="000000"/>
                    </a:solidFill>
                    <a:latin typeface="inter"/>
                    <a:ea typeface="inter"/>
                    <a:cs typeface="inter"/>
                  </a:rPr>
                  <a:t>Therefore: </a:t>
                </a: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𝑗</m:t>
                    </m:r>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𝑒𝑤</m:t>
                    </m:r>
                  </m:oMath>
                </a14:m>
                <a:endParaRPr lang="en-US"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r>
                  <a:rPr lang="en-US" dirty="0">
                    <a:solidFill>
                      <a:srgbClr val="000000"/>
                    </a:solidFill>
                    <a:latin typeface="inter"/>
                    <a:ea typeface="inter"/>
                    <a:cs typeface="inter"/>
                  </a:rPr>
                  <a:t>All electrical properties:</a:t>
                </a:r>
                <a:endParaRPr lang="en-US"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r>
                      <a:rPr lang="en-US">
                        <a:solidFill>
                          <a:srgbClr val="00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𝐷</m:t>
                        </m:r>
                      </m:sub>
                    </m:sSub>
                  </m:oMath>
                </a14:m>
                <a:r>
                  <a:rPr lang="en-US" dirty="0">
                    <a:solidFill>
                      <a:srgbClr val="000000"/>
                    </a:solidFill>
                    <a:effectLst/>
                    <a:latin typeface="inter"/>
                    <a:ea typeface="inter"/>
                    <a:cs typeface="inter"/>
                  </a:rPr>
                  <a:t> = same</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14:m>
                  <m:oMath xmlns:m="http://schemas.openxmlformats.org/officeDocument/2006/math">
                    <m:sSub>
                      <m:sSubPr>
                        <m:ctrlP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n-US" dirty="0">
                    <a:solidFill>
                      <a:srgbClr val="000000"/>
                    </a:solidFill>
                    <a:effectLst/>
                    <a:latin typeface="inter"/>
                    <a:ea typeface="inter"/>
                    <a:cs typeface="inter"/>
                  </a:rPr>
                  <a:t> = </a:t>
                </a:r>
                <a14:m>
                  <m:oMath xmlns:m="http://schemas.openxmlformats.org/officeDocument/2006/math">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𝑔</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𝑚</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𝐼</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𝐷</m:t>
                        </m:r>
                      </m:sub>
                    </m:sSub>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𝑗</m:t>
                    </m:r>
                    <m:r>
                      <a:rPr lang="en-US">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i="1">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𝑛</m:t>
                        </m:r>
                      </m:sub>
                    </m:sSub>
                    <m:r>
                      <a:rPr lang="en-US" i="1" baseline="-25000">
                        <a:solidFill>
                          <a:srgbClr val="000000"/>
                        </a:solidFill>
                        <a:effectLst/>
                        <a:latin typeface="Cambria Math" panose="02040503050406030204" pitchFamily="18" charset="0"/>
                        <a:ea typeface="Calibri" panose="020F0502020204030204" pitchFamily="34" charset="0"/>
                        <a:cs typeface="Times New Roman" panose="02020603050405020304" pitchFamily="18" charset="0"/>
                      </a:rPr>
                      <m:t>𝑒𝑤</m:t>
                    </m:r>
                  </m:oMath>
                </a14:m>
                <a:r>
                  <a:rPr lang="en-US" dirty="0">
                    <a:solidFill>
                      <a:srgbClr val="000000"/>
                    </a:solidFill>
                    <a:effectLst/>
                    <a:latin typeface="inter"/>
                    <a:ea typeface="inter"/>
                    <a:cs typeface="inter"/>
                  </a:rPr>
                  <a:t> → </a:t>
                </a:r>
                <a:r>
                  <a:rPr lang="en-US" b="1" dirty="0">
                    <a:solidFill>
                      <a:srgbClr val="000000"/>
                    </a:solidFill>
                    <a:effectLst/>
                    <a:latin typeface="inter"/>
                    <a:ea typeface="inter"/>
                    <a:cs typeface="inter"/>
                  </a:rPr>
                  <a:t>proportional to </a:t>
                </a:r>
                <a14:m>
                  <m:oMath xmlns:m="http://schemas.openxmlformats.org/officeDocument/2006/math">
                    <m:sSub>
                      <m:sSub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i="1" baseline="-25000">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𝑒𝑤</m:t>
                    </m:r>
                  </m:oMath>
                </a14:m>
                <a:endParaRPr lang="en-US" baseline="-25000" dirty="0">
                  <a:latin typeface="Georgia" panose="02040502050405020303" pitchFamily="18" charset="0"/>
                  <a:ea typeface="Calibri" panose="020F0502020204030204" pitchFamily="34" charset="0"/>
                  <a:cs typeface="Times New Roman" panose="02020603050405020304" pitchFamily="18" charset="0"/>
                </a:endParaRPr>
              </a:p>
              <a:p>
                <a:pPr marL="800100" lvl="1" indent="-342900">
                  <a:buFont typeface="Symbol" panose="05050102010706020507" pitchFamily="18" charset="2"/>
                  <a:buChar char=""/>
                  <a:tabLst>
                    <a:tab pos="571500" algn="l"/>
                  </a:tabLst>
                </a:pPr>
                <a:r>
                  <a:rPr lang="en-US" dirty="0">
                    <a:solidFill>
                      <a:srgbClr val="000000"/>
                    </a:solidFill>
                    <a:effectLst/>
                    <a:latin typeface="inter"/>
                    <a:ea typeface="inter"/>
                    <a:cs typeface="inter"/>
                  </a:rPr>
                  <a:t>Noise = </a:t>
                </a:r>
                <a:r>
                  <a:rPr lang="en-US" b="1" dirty="0">
                    <a:solidFill>
                      <a:srgbClr val="000000"/>
                    </a:solidFill>
                    <a:effectLst/>
                    <a:latin typeface="inter"/>
                    <a:ea typeface="inter"/>
                    <a:cs typeface="inter"/>
                  </a:rPr>
                  <a:t>inversely proportional to </a:t>
                </a:r>
                <a14:m>
                  <m:oMath xmlns:m="http://schemas.openxmlformats.org/officeDocument/2006/math">
                    <m:sSub>
                      <m:sSubPr>
                        <m:ctrlPr>
                          <a:rPr lang="en-US" i="1" smtClean="0">
                            <a:solidFill>
                              <a:srgbClr val="00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𝑊</m:t>
                        </m:r>
                      </m:e>
                      <m:sub>
                        <m:r>
                          <a:rPr lang="en-US" i="1">
                            <a:solidFill>
                              <a:srgbClr val="000000"/>
                            </a:solidFill>
                            <a:latin typeface="Cambria Math" panose="02040503050406030204" pitchFamily="18" charset="0"/>
                            <a:ea typeface="Calibri" panose="020F0502020204030204" pitchFamily="34" charset="0"/>
                            <a:cs typeface="Times New Roman" panose="02020603050405020304" pitchFamily="18" charset="0"/>
                          </a:rPr>
                          <m:t>𝑛</m:t>
                        </m:r>
                      </m:sub>
                    </m:sSub>
                    <m:r>
                      <a:rPr lang="en-US" i="1" baseline="-25000">
                        <a:solidFill>
                          <a:srgbClr val="000000"/>
                        </a:solidFill>
                        <a:latin typeface="Cambria Math" panose="02040503050406030204" pitchFamily="18" charset="0"/>
                        <a:ea typeface="Calibri" panose="020F0502020204030204" pitchFamily="34" charset="0"/>
                        <a:cs typeface="Times New Roman" panose="02020603050405020304" pitchFamily="18" charset="0"/>
                      </a:rPr>
                      <m:t>𝑒𝑤</m:t>
                    </m:r>
                  </m:oMath>
                </a14:m>
                <a:endParaRPr lang="en-US" baseline="-25000" dirty="0">
                  <a:latin typeface="Georgia" panose="02040502050405020303" pitchFamily="18" charset="0"/>
                  <a:ea typeface="Calibri" panose="020F0502020204030204" pitchFamily="34" charset="0"/>
                  <a:cs typeface="Times New Roman" panose="02020603050405020304" pitchFamily="18" charset="0"/>
                </a:endParaRPr>
              </a:p>
              <a:p>
                <a:pPr marL="1200150" lvl="2" indent="-285750">
                  <a:buFont typeface="Courier New" panose="02070309020205020404" pitchFamily="49" charset="0"/>
                  <a:buChar char="o"/>
                  <a:tabLst>
                    <a:tab pos="914400" algn="l"/>
                  </a:tabLst>
                </a:pPr>
                <a:r>
                  <a:rPr lang="en-US" dirty="0">
                    <a:solidFill>
                      <a:srgbClr val="000000"/>
                    </a:solidFill>
                    <a:effectLst/>
                    <a:latin typeface="inter"/>
                    <a:ea typeface="inter"/>
                    <a:cs typeface="inter"/>
                  </a:rPr>
                  <a:t>Transit frequency = </a:t>
                </a:r>
                <a:r>
                  <a:rPr lang="en-US" b="1" dirty="0">
                    <a:solidFill>
                      <a:srgbClr val="000000"/>
                    </a:solidFill>
                    <a:effectLst/>
                    <a:latin typeface="inter"/>
                    <a:ea typeface="inter"/>
                    <a:cs typeface="inter"/>
                  </a:rPr>
                  <a:t>same</a:t>
                </a:r>
                <a:endParaRPr lang="en-US" dirty="0">
                  <a:effectLst/>
                  <a:latin typeface="Georgia" panose="02040502050405020303" pitchFamily="18" charset="0"/>
                  <a:ea typeface="Calibri" panose="020F0502020204030204" pitchFamily="34" charset="0"/>
                  <a:cs typeface="Times New Roman" panose="02020603050405020304" pitchFamily="18" charset="0"/>
                </a:endParaRPr>
              </a:p>
            </p:txBody>
          </p:sp>
        </mc:Choice>
        <mc:Fallback>
          <p:sp>
            <p:nvSpPr>
              <p:cNvPr id="3" name="Text Placeholder 2"/>
              <p:cNvSpPr>
                <a:spLocks noGrp="1" noRot="1" noChangeAspect="1" noMove="1" noResize="1" noEditPoints="1" noAdjustHandles="1" noChangeArrowheads="1" noChangeShapeType="1" noTextEdit="1"/>
              </p:cNvSpPr>
              <p:nvPr>
                <p:ph type="body" idx="1"/>
              </p:nvPr>
            </p:nvSpPr>
            <p:spPr>
              <a:xfrm>
                <a:off x="844550" y="1327353"/>
                <a:ext cx="10636250" cy="4054893"/>
              </a:xfrm>
              <a:blipFill>
                <a:blip r:embed="rId2"/>
                <a:stretch>
                  <a:fillRect l="-1491" t="-1955" b="-2707"/>
                </a:stretch>
              </a:blipFill>
            </p:spPr>
            <p:txBody>
              <a:bodyPr/>
              <a:lstStyle/>
              <a:p>
                <a:r>
                  <a:rPr lang="en-US">
                    <a:noFill/>
                  </a:rPr>
                  <a:t> </a:t>
                </a:r>
              </a:p>
            </p:txBody>
          </p:sp>
        </mc:Fallback>
      </mc:AlternateContent>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0552501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38681159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357121402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99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13592222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316076675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62305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31512762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32838695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24607814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28704445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4" name="Footer Placeholder 3"/>
          <p:cNvSpPr>
            <a:spLocks noGrp="1"/>
          </p:cNvSpPr>
          <p:nvPr>
            <p:ph type="ftr" sz="quarter" idx="5"/>
          </p:nvPr>
        </p:nvSpPr>
        <p:spPr>
          <a:xfrm>
            <a:off x="5455782" y="6419526"/>
            <a:ext cx="1565025" cy="24890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343154" y="6436605"/>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608679" y="6516894"/>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p:txBody>
          <a:bodyPr/>
          <a:lstStyle/>
          <a:p>
            <a:endParaRPr lang="en-US"/>
          </a:p>
        </p:txBody>
      </p:sp>
    </p:spTree>
    <p:extLst>
      <p:ext uri="{BB962C8B-B14F-4D97-AF65-F5344CB8AC3E}">
        <p14:creationId xmlns:p14="http://schemas.microsoft.com/office/powerpoint/2010/main" val="269391076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MOSFET Biasing—Operating </a:t>
            </a:r>
            <a:r>
              <a:rPr lang="en-US" dirty="0" smtClean="0">
                <a:latin typeface="fkGrotesk"/>
              </a:rPr>
              <a:t>Regions</a:t>
            </a:r>
            <a:endParaRPr lang="en-US" dirty="0"/>
          </a:p>
        </p:txBody>
      </p:sp>
      <p:sp>
        <p:nvSpPr>
          <p:cNvPr id="3" name="Text Placeholder 2"/>
          <p:cNvSpPr>
            <a:spLocks noGrp="1"/>
          </p:cNvSpPr>
          <p:nvPr>
            <p:ph type="body" idx="1"/>
          </p:nvPr>
        </p:nvSpPr>
        <p:spPr>
          <a:xfrm>
            <a:off x="599017" y="1251153"/>
            <a:ext cx="7351183" cy="3447098"/>
          </a:xfrm>
        </p:spPr>
        <p:txBody>
          <a:bodyPr/>
          <a:lstStyle/>
          <a:p>
            <a:pPr algn="ctr"/>
            <a:r>
              <a:rPr lang="en-US" b="1" dirty="0" smtClean="0">
                <a:solidFill>
                  <a:srgbClr val="C00000"/>
                </a:solidFill>
                <a:latin typeface="fkGroteskNeue"/>
              </a:rPr>
              <a:t>What I</a:t>
            </a:r>
            <a:r>
              <a:rPr lang="en-US" b="1" baseline="-25000" dirty="0" smtClean="0">
                <a:solidFill>
                  <a:srgbClr val="C00000"/>
                </a:solidFill>
                <a:latin typeface="fkGroteskNeue"/>
              </a:rPr>
              <a:t>D</a:t>
            </a:r>
            <a:r>
              <a:rPr lang="en-US" b="1" dirty="0" smtClean="0">
                <a:solidFill>
                  <a:srgbClr val="C00000"/>
                </a:solidFill>
                <a:latin typeface="fkGroteskNeue"/>
              </a:rPr>
              <a:t> v/s V</a:t>
            </a:r>
            <a:r>
              <a:rPr lang="en-US" b="1" baseline="-25000" dirty="0" smtClean="0">
                <a:solidFill>
                  <a:srgbClr val="C00000"/>
                </a:solidFill>
                <a:latin typeface="fkGroteskNeue"/>
              </a:rPr>
              <a:t>DS</a:t>
            </a:r>
            <a:r>
              <a:rPr lang="en-US" b="1" dirty="0" smtClean="0">
                <a:solidFill>
                  <a:srgbClr val="C00000"/>
                </a:solidFill>
                <a:latin typeface="fkGroteskNeue"/>
              </a:rPr>
              <a:t> curve tell us? </a:t>
            </a:r>
          </a:p>
          <a:p>
            <a:pPr algn="ctr"/>
            <a:endParaRPr lang="en-US" b="1" dirty="0">
              <a:solidFill>
                <a:srgbClr val="C00000"/>
              </a:solidFill>
              <a:latin typeface="fkGroteskNeue"/>
            </a:endParaRPr>
          </a:p>
          <a:p>
            <a:pPr marL="342900" indent="-342900" algn="just">
              <a:spcBef>
                <a:spcPts val="600"/>
              </a:spcBef>
              <a:spcAft>
                <a:spcPts val="600"/>
              </a:spcAft>
              <a:buFont typeface="Wingdings" panose="05000000000000000000" pitchFamily="2" charset="2"/>
              <a:buChar char="q"/>
            </a:pPr>
            <a:r>
              <a:rPr lang="en-US" dirty="0">
                <a:latin typeface="fkGroteskNeue"/>
              </a:rPr>
              <a:t>Plots </a:t>
            </a:r>
            <a:r>
              <a:rPr lang="en-US" i="1" dirty="0" smtClean="0">
                <a:latin typeface="KaTeX_Math"/>
              </a:rPr>
              <a:t>I</a:t>
            </a:r>
            <a:r>
              <a:rPr lang="en-US" i="1" baseline="-25000" dirty="0" smtClean="0">
                <a:latin typeface="KaTeX_Math"/>
              </a:rPr>
              <a:t>D</a:t>
            </a:r>
            <a:r>
              <a:rPr lang="en-US" dirty="0">
                <a:latin typeface="fkGroteskNeue"/>
              </a:rPr>
              <a:t> (drain current) vs. </a:t>
            </a:r>
            <a:r>
              <a:rPr lang="en-US" i="1" dirty="0" smtClean="0">
                <a:latin typeface="KaTeX_Math"/>
              </a:rPr>
              <a:t>V</a:t>
            </a:r>
            <a:r>
              <a:rPr lang="en-US" i="1" baseline="-25000" dirty="0" smtClean="0">
                <a:latin typeface="KaTeX_Math"/>
              </a:rPr>
              <a:t>DS</a:t>
            </a:r>
            <a:r>
              <a:rPr lang="en-US" dirty="0">
                <a:latin typeface="fkGroteskNeue"/>
              </a:rPr>
              <a:t> (drain-source voltage) for various fixed values of </a:t>
            </a:r>
            <a:r>
              <a:rPr lang="en-US" i="1" dirty="0" err="1" smtClean="0">
                <a:latin typeface="KaTeX_Math"/>
              </a:rPr>
              <a:t>V</a:t>
            </a:r>
            <a:r>
              <a:rPr lang="en-US" i="1" baseline="-25000" dirty="0" err="1" smtClean="0">
                <a:latin typeface="KaTeX_Math"/>
              </a:rPr>
              <a:t>ov</a:t>
            </a:r>
            <a:r>
              <a:rPr lang="en-US" dirty="0">
                <a:latin typeface="fkGroteskNeue"/>
              </a:rPr>
              <a:t> (overdrive voltage).</a:t>
            </a:r>
          </a:p>
          <a:p>
            <a:pPr marL="342900" indent="-342900" algn="just">
              <a:spcBef>
                <a:spcPts val="600"/>
              </a:spcBef>
              <a:spcAft>
                <a:spcPts val="600"/>
              </a:spcAft>
              <a:buFont typeface="Wingdings" panose="05000000000000000000" pitchFamily="2" charset="2"/>
              <a:buChar char="q"/>
            </a:pPr>
            <a:r>
              <a:rPr lang="en-US" dirty="0">
                <a:latin typeface="fkGroteskNeue"/>
              </a:rPr>
              <a:t>The plot is divided into three classical regions:</a:t>
            </a:r>
          </a:p>
          <a:p>
            <a:pPr marL="742950" lvl="1" indent="-285750" algn="just">
              <a:spcBef>
                <a:spcPts val="600"/>
              </a:spcBef>
              <a:spcAft>
                <a:spcPts val="600"/>
              </a:spcAft>
              <a:buFont typeface="Wingdings" panose="05000000000000000000" pitchFamily="2" charset="2"/>
              <a:buChar char="q"/>
            </a:pPr>
            <a:r>
              <a:rPr lang="en-US" dirty="0">
                <a:latin typeface="fkGroteskNeue"/>
              </a:rPr>
              <a:t>Cutoff Region</a:t>
            </a:r>
          </a:p>
          <a:p>
            <a:pPr marL="742950" lvl="1" indent="-285750" algn="just">
              <a:spcBef>
                <a:spcPts val="600"/>
              </a:spcBef>
              <a:spcAft>
                <a:spcPts val="600"/>
              </a:spcAft>
              <a:buFont typeface="Wingdings" panose="05000000000000000000" pitchFamily="2" charset="2"/>
              <a:buChar char="q"/>
            </a:pPr>
            <a:r>
              <a:rPr lang="en-US" dirty="0">
                <a:latin typeface="fkGroteskNeue"/>
              </a:rPr>
              <a:t>Linear (Triode) Region</a:t>
            </a:r>
          </a:p>
          <a:p>
            <a:pPr marL="742950" lvl="1" indent="-285750" algn="just">
              <a:spcBef>
                <a:spcPts val="600"/>
              </a:spcBef>
              <a:spcAft>
                <a:spcPts val="600"/>
              </a:spcAft>
              <a:buFont typeface="Wingdings" panose="05000000000000000000" pitchFamily="2" charset="2"/>
              <a:buChar char="q"/>
            </a:pPr>
            <a:r>
              <a:rPr lang="en-US" dirty="0">
                <a:latin typeface="fkGroteskNeue"/>
              </a:rPr>
              <a:t>Saturation Region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rotWithShape="1">
          <a:blip r:embed="rId2"/>
          <a:srcRect l="6897" t="3162" r="4830" b="2648"/>
          <a:stretch/>
        </p:blipFill>
        <p:spPr>
          <a:xfrm>
            <a:off x="8138159" y="1457960"/>
            <a:ext cx="3576321" cy="2971800"/>
          </a:xfrm>
          <a:prstGeom prst="rect">
            <a:avLst/>
          </a:prstGeom>
        </p:spPr>
      </p:pic>
      <p:sp>
        <p:nvSpPr>
          <p:cNvPr id="9" name="Rectangle 8"/>
          <p:cNvSpPr/>
          <p:nvPr/>
        </p:nvSpPr>
        <p:spPr>
          <a:xfrm>
            <a:off x="8746066" y="942945"/>
            <a:ext cx="2650067" cy="523220"/>
          </a:xfrm>
          <a:prstGeom prst="rect">
            <a:avLst/>
          </a:prstGeom>
        </p:spPr>
        <p:txBody>
          <a:bodyPr wrap="square">
            <a:spAutoFit/>
          </a:bodyPr>
          <a:lstStyle/>
          <a:p>
            <a:r>
              <a:rPr lang="en-US" sz="1400" b="1" i="0" u="none" strike="noStrike" baseline="0" dirty="0" smtClean="0">
                <a:solidFill>
                  <a:srgbClr val="00B050"/>
                </a:solidFill>
                <a:latin typeface="CMR10"/>
              </a:rPr>
              <a:t>In the saturation region, </a:t>
            </a:r>
            <a:r>
              <a:rPr lang="en-US" sz="1400" b="1" i="0" u="none" strike="noStrike" baseline="0" dirty="0" smtClean="0">
                <a:solidFill>
                  <a:srgbClr val="00B050"/>
                </a:solidFill>
                <a:latin typeface="CMMI10"/>
              </a:rPr>
              <a:t>I</a:t>
            </a:r>
            <a:r>
              <a:rPr lang="en-US" sz="1050" b="1" i="0" u="none" strike="noStrike" baseline="0" dirty="0" smtClean="0">
                <a:solidFill>
                  <a:srgbClr val="00B050"/>
                </a:solidFill>
                <a:latin typeface="CMMI7"/>
              </a:rPr>
              <a:t>D </a:t>
            </a:r>
            <a:r>
              <a:rPr lang="en-US" sz="1400" b="1" i="0" u="none" strike="noStrike" baseline="0" dirty="0" smtClean="0">
                <a:solidFill>
                  <a:srgbClr val="00B050"/>
                </a:solidFill>
                <a:latin typeface="CMR10"/>
              </a:rPr>
              <a:t>is primarily a</a:t>
            </a:r>
            <a:r>
              <a:rPr lang="en-US" sz="1400" b="1" i="0" u="none" strike="noStrike" dirty="0" smtClean="0">
                <a:solidFill>
                  <a:srgbClr val="00B050"/>
                </a:solidFill>
                <a:latin typeface="CMR10"/>
              </a:rPr>
              <a:t> </a:t>
            </a:r>
            <a:r>
              <a:rPr lang="en-US" sz="1400" b="1" i="0" u="none" strike="noStrike" baseline="0" dirty="0" smtClean="0">
                <a:solidFill>
                  <a:srgbClr val="00B050"/>
                </a:solidFill>
                <a:latin typeface="CMR10"/>
              </a:rPr>
              <a:t>function of </a:t>
            </a:r>
            <a:r>
              <a:rPr lang="en-US" sz="1400" b="1" i="0" u="none" strike="noStrike" baseline="0" dirty="0" err="1" smtClean="0">
                <a:solidFill>
                  <a:srgbClr val="00B050"/>
                </a:solidFill>
                <a:latin typeface="CMMI10"/>
              </a:rPr>
              <a:t>V</a:t>
            </a:r>
            <a:r>
              <a:rPr lang="en-US" sz="1050" b="1" i="0" u="none" strike="noStrike" baseline="0" dirty="0" err="1" smtClean="0">
                <a:solidFill>
                  <a:srgbClr val="00B050"/>
                </a:solidFill>
                <a:latin typeface="CMMI7"/>
              </a:rPr>
              <a:t>gs</a:t>
            </a:r>
            <a:r>
              <a:rPr lang="en-US" sz="1400" b="1" i="0" u="none" strike="noStrike" baseline="0" dirty="0" smtClean="0">
                <a:solidFill>
                  <a:srgbClr val="00B050"/>
                </a:solidFill>
                <a:latin typeface="CMR10"/>
              </a:rPr>
              <a:t>.</a:t>
            </a:r>
            <a:endParaRPr lang="en-US" sz="3200" b="1" dirty="0">
              <a:solidFill>
                <a:srgbClr val="00B050"/>
              </a:solidFill>
            </a:endParaRPr>
          </a:p>
        </p:txBody>
      </p:sp>
      <p:sp>
        <p:nvSpPr>
          <p:cNvPr id="10" name="Rectangle 9"/>
          <p:cNvSpPr/>
          <p:nvPr/>
        </p:nvSpPr>
        <p:spPr>
          <a:xfrm>
            <a:off x="279400" y="4270571"/>
            <a:ext cx="11599333" cy="1862048"/>
          </a:xfrm>
          <a:prstGeom prst="rect">
            <a:avLst/>
          </a:prstGeom>
        </p:spPr>
        <p:txBody>
          <a:bodyPr wrap="square">
            <a:spAutoFit/>
          </a:bodyPr>
          <a:lstStyle/>
          <a:p>
            <a:pPr algn="ctr"/>
            <a:r>
              <a:rPr lang="en-US" b="1" i="0" dirty="0" smtClean="0">
                <a:solidFill>
                  <a:srgbClr val="C00000"/>
                </a:solidFill>
                <a:effectLst/>
                <a:latin typeface="fkGroteskNeue"/>
              </a:rPr>
              <a:t>Cutoff Region</a:t>
            </a:r>
          </a:p>
          <a:p>
            <a:pPr algn="ctr"/>
            <a:endParaRPr lang="en-US" b="1" i="0" dirty="0" smtClean="0">
              <a:solidFill>
                <a:srgbClr val="C00000"/>
              </a:solidFill>
              <a:effectLst/>
              <a:latin typeface="fkGroteskNeue"/>
            </a:endParaRP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Condition: </a:t>
            </a:r>
            <a:r>
              <a:rPr lang="en-US" b="0" i="1" dirty="0" err="1" smtClean="0">
                <a:effectLst/>
                <a:latin typeface="KaTeX_Math"/>
              </a:rPr>
              <a:t>V</a:t>
            </a:r>
            <a:r>
              <a:rPr lang="en-US" b="0" i="1" baseline="-25000" dirty="0" err="1" smtClean="0">
                <a:effectLst/>
                <a:latin typeface="KaTeX_Math"/>
              </a:rPr>
              <a:t>ov</a:t>
            </a:r>
            <a:r>
              <a:rPr lang="en-US" b="0" i="0" dirty="0" smtClean="0">
                <a:effectLst/>
                <a:latin typeface="KaTeX_Main"/>
              </a:rPr>
              <a:t>&lt;0</a:t>
            </a:r>
            <a:r>
              <a:rPr lang="en-US" b="0" i="0" dirty="0" smtClean="0">
                <a:effectLst/>
                <a:latin typeface="fkGroteskNeue"/>
              </a:rPr>
              <a:t> (i.e., </a:t>
            </a:r>
            <a:r>
              <a:rPr lang="en-US" b="0" i="1" dirty="0" err="1" smtClean="0">
                <a:effectLst/>
                <a:latin typeface="KaTeX_Math"/>
              </a:rPr>
              <a:t>V</a:t>
            </a:r>
            <a:r>
              <a:rPr lang="en-US" b="0" i="1" baseline="-25000" dirty="0" err="1" smtClean="0">
                <a:effectLst/>
                <a:latin typeface="KaTeX_Math"/>
              </a:rPr>
              <a:t>gs</a:t>
            </a:r>
            <a:r>
              <a:rPr lang="en-US" b="0" i="0" dirty="0" smtClean="0">
                <a:effectLst/>
                <a:latin typeface="KaTeX_Main"/>
              </a:rPr>
              <a:t>&lt;</a:t>
            </a:r>
            <a:r>
              <a:rPr lang="en-US" b="0" i="1" dirty="0" smtClean="0">
                <a:effectLst/>
                <a:latin typeface="KaTeX_Math"/>
              </a:rPr>
              <a:t>V</a:t>
            </a:r>
            <a:r>
              <a:rPr lang="en-US" b="0" i="1" baseline="-25000" dirty="0" smtClean="0">
                <a:effectLst/>
                <a:latin typeface="KaTeX_Math"/>
              </a:rPr>
              <a:t>T</a:t>
            </a:r>
            <a:r>
              <a:rPr lang="en-US" b="0" i="0" dirty="0" smtClean="0">
                <a:effectLst/>
                <a:latin typeface="fkGroteskNeue"/>
              </a:rPr>
              <a:t>)</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Behavior: Transistor is OFF, no inversion layer has formed, so </a:t>
            </a:r>
            <a:r>
              <a:rPr lang="en-US" b="0" i="1" dirty="0" smtClean="0">
                <a:effectLst/>
                <a:latin typeface="KaTeX_Math"/>
              </a:rPr>
              <a:t>I</a:t>
            </a:r>
            <a:r>
              <a:rPr lang="en-US" b="0" i="1" baseline="-25000" dirty="0" smtClean="0">
                <a:effectLst/>
                <a:latin typeface="KaTeX_Math"/>
              </a:rPr>
              <a:t>D</a:t>
            </a:r>
            <a:r>
              <a:rPr lang="en-US" b="0" i="0" dirty="0" smtClean="0">
                <a:effectLst/>
                <a:latin typeface="KaTeX_Main"/>
              </a:rPr>
              <a:t>=0</a:t>
            </a:r>
            <a:r>
              <a:rPr lang="en-US" b="0" i="0" dirty="0" smtClean="0">
                <a:effectLst/>
                <a:latin typeface="fkGroteskNeue"/>
              </a:rPr>
              <a:t>.</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Intuitive point: The gate voltage isn't high enough to turn the MOSFET on—no current flows</a:t>
            </a:r>
            <a:endParaRPr lang="en-US" b="0" i="0" dirty="0">
              <a:effectLst/>
              <a:latin typeface="fkGroteskNeue"/>
            </a:endParaRPr>
          </a:p>
        </p:txBody>
      </p:sp>
    </p:spTree>
    <p:extLst>
      <p:ext uri="{BB962C8B-B14F-4D97-AF65-F5344CB8AC3E}">
        <p14:creationId xmlns:p14="http://schemas.microsoft.com/office/powerpoint/2010/main" val="352327251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592668" y="1327353"/>
            <a:ext cx="10803466" cy="4539704"/>
          </a:xfrm>
        </p:spPr>
        <p:txBody>
          <a:bodyPr/>
          <a:lstStyle/>
          <a:p>
            <a:pPr algn="ctr">
              <a:spcBef>
                <a:spcPts val="600"/>
              </a:spcBef>
              <a:spcAft>
                <a:spcPts val="600"/>
              </a:spcAft>
            </a:pPr>
            <a:r>
              <a:rPr lang="en-US" b="1" dirty="0">
                <a:solidFill>
                  <a:srgbClr val="C00000"/>
                </a:solidFill>
                <a:latin typeface="fkGroteskNeue"/>
              </a:rPr>
              <a:t>Linear (Triode) Region</a:t>
            </a:r>
          </a:p>
          <a:p>
            <a:pPr marL="342900" indent="-342900" algn="l">
              <a:spcBef>
                <a:spcPts val="600"/>
              </a:spcBef>
              <a:spcAft>
                <a:spcPts val="600"/>
              </a:spcAft>
              <a:buFont typeface="Wingdings" panose="05000000000000000000" pitchFamily="2" charset="2"/>
              <a:buChar char="q"/>
            </a:pPr>
            <a:r>
              <a:rPr lang="en-US" dirty="0">
                <a:latin typeface="fkGroteskNeue"/>
              </a:rPr>
              <a:t>Condition: </a:t>
            </a:r>
            <a:r>
              <a:rPr lang="en-US" i="1" dirty="0" smtClean="0">
                <a:latin typeface="KaTeX_Math"/>
              </a:rPr>
              <a:t>Vov</a:t>
            </a:r>
            <a:r>
              <a:rPr lang="en-US" dirty="0">
                <a:latin typeface="KaTeX_Main"/>
              </a:rPr>
              <a:t>≥0</a:t>
            </a:r>
            <a:r>
              <a:rPr lang="en-US" dirty="0">
                <a:latin typeface="fkGroteskNeue"/>
              </a:rPr>
              <a:t> and </a:t>
            </a:r>
            <a:r>
              <a:rPr lang="en-US" i="1" dirty="0" err="1" smtClean="0">
                <a:latin typeface="KaTeX_Math"/>
              </a:rPr>
              <a:t>Vds</a:t>
            </a:r>
            <a:r>
              <a:rPr lang="en-US" dirty="0" smtClean="0">
                <a:latin typeface="KaTeX_Main"/>
              </a:rPr>
              <a:t>&lt;</a:t>
            </a:r>
            <a:r>
              <a:rPr lang="en-US" i="1" dirty="0" err="1" smtClean="0">
                <a:latin typeface="KaTeX_Math"/>
              </a:rPr>
              <a:t>Vsat</a:t>
            </a:r>
            <a:r>
              <a:rPr lang="en-US" dirty="0">
                <a:latin typeface="fkGroteskNeue"/>
              </a:rPr>
              <a:t> (not fully pinched-off)</a:t>
            </a:r>
          </a:p>
          <a:p>
            <a:pPr marL="342900" indent="-342900" algn="l">
              <a:spcBef>
                <a:spcPts val="600"/>
              </a:spcBef>
              <a:spcAft>
                <a:spcPts val="600"/>
              </a:spcAft>
              <a:buFont typeface="Wingdings" panose="05000000000000000000" pitchFamily="2" charset="2"/>
              <a:buChar char="q"/>
            </a:pPr>
            <a:r>
              <a:rPr lang="en-US" dirty="0">
                <a:latin typeface="fkGroteskNeue"/>
              </a:rPr>
              <a:t>Behavior: </a:t>
            </a:r>
            <a:r>
              <a:rPr lang="en-US" dirty="0" smtClean="0">
                <a:latin typeface="fkGroteskNeue"/>
              </a:rPr>
              <a:t>The Transistor </a:t>
            </a:r>
            <a:r>
              <a:rPr lang="en-US" dirty="0">
                <a:latin typeface="fkGroteskNeue"/>
              </a:rPr>
              <a:t>acts as a voltage-controlled resistor. Current is determined </a:t>
            </a:r>
            <a:r>
              <a:rPr lang="en-US" dirty="0" smtClean="0">
                <a:latin typeface="fkGroteskNeue"/>
              </a:rPr>
              <a:t>by both</a:t>
            </a:r>
            <a:r>
              <a:rPr lang="en-US" dirty="0">
                <a:latin typeface="fkGroteskNeue"/>
              </a:rPr>
              <a:t> </a:t>
            </a:r>
            <a:r>
              <a:rPr lang="en-US" i="1" dirty="0" err="1" smtClean="0">
                <a:latin typeface="KaTeX_Math"/>
              </a:rPr>
              <a:t>Vds</a:t>
            </a:r>
            <a:r>
              <a:rPr lang="en-US" dirty="0">
                <a:latin typeface="fkGroteskNeue"/>
              </a:rPr>
              <a:t> and </a:t>
            </a:r>
            <a:r>
              <a:rPr lang="en-US" i="1" dirty="0" err="1" smtClean="0">
                <a:latin typeface="KaTeX_Math"/>
              </a:rPr>
              <a:t>Vov</a:t>
            </a:r>
            <a:r>
              <a:rPr lang="en-US" dirty="0" smtClean="0">
                <a:latin typeface="fkGroteskNeue"/>
              </a:rPr>
              <a:t>:</a:t>
            </a:r>
          </a:p>
          <a:p>
            <a:pPr marL="342900" indent="-342900" algn="l">
              <a:spcBef>
                <a:spcPts val="600"/>
              </a:spcBef>
              <a:spcAft>
                <a:spcPts val="600"/>
              </a:spcAft>
              <a:buFont typeface="Arial" panose="020B0604020202020204" pitchFamily="34" charset="0"/>
              <a:buChar char="•"/>
            </a:pPr>
            <a:endParaRPr lang="en-US" dirty="0">
              <a:latin typeface="fkGroteskNeue"/>
            </a:endParaRPr>
          </a:p>
          <a:p>
            <a:pPr lvl="1" algn="l">
              <a:spcBef>
                <a:spcPts val="600"/>
              </a:spcBef>
              <a:spcAft>
                <a:spcPts val="600"/>
              </a:spcAft>
            </a:pPr>
            <a:r>
              <a:rPr lang="en-US" sz="2000" dirty="0" smtClean="0">
                <a:latin typeface="fkGroteskNeue"/>
              </a:rPr>
              <a:t>Intuitive </a:t>
            </a:r>
            <a:r>
              <a:rPr lang="en-US" sz="2000" dirty="0">
                <a:latin typeface="fkGroteskNeue"/>
              </a:rPr>
              <a:t>point: MOSFET can pass current, but how much depends linearly on </a:t>
            </a:r>
            <a:r>
              <a:rPr lang="en-US" sz="2000" i="1" dirty="0" err="1" smtClean="0">
                <a:latin typeface="KaTeX_Math"/>
              </a:rPr>
              <a:t>Vds</a:t>
            </a:r>
            <a:r>
              <a:rPr lang="en-US" sz="2000" dirty="0">
                <a:latin typeface="fkGroteskNeue"/>
              </a:rPr>
              <a:t> for small values (hence "linear region</a:t>
            </a:r>
            <a:r>
              <a:rPr lang="en-US" sz="2000" dirty="0" smtClean="0">
                <a:latin typeface="fkGroteskNeue"/>
              </a:rPr>
              <a:t>").</a:t>
            </a: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a:latin typeface="fkGroteskNeue"/>
              </a:rPr>
              <a:t>You can also define ON-resistance</a:t>
            </a:r>
            <a:r>
              <a:rPr lang="en-US" dirty="0" smtClean="0">
                <a:latin typeface="fkGroteskNeue"/>
              </a:rPr>
              <a:t>:</a:t>
            </a:r>
          </a:p>
          <a:p>
            <a:pPr algn="l">
              <a:spcBef>
                <a:spcPts val="600"/>
              </a:spcBef>
              <a:spcAft>
                <a:spcPts val="600"/>
              </a:spcAft>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Useful </a:t>
            </a:r>
            <a:r>
              <a:rPr lang="en-US" dirty="0">
                <a:latin typeface="fkGroteskNeue"/>
              </a:rPr>
              <a:t>for switches (digital logic, switched-cap circuits)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628958" y="2716727"/>
            <a:ext cx="2953550" cy="644540"/>
          </a:xfrm>
          <a:prstGeom prst="rect">
            <a:avLst/>
          </a:prstGeom>
        </p:spPr>
      </p:pic>
      <p:pic>
        <p:nvPicPr>
          <p:cNvPr id="8" name="Picture 7"/>
          <p:cNvPicPr>
            <a:picLocks noChangeAspect="1"/>
          </p:cNvPicPr>
          <p:nvPr/>
        </p:nvPicPr>
        <p:blipFill>
          <a:blip r:embed="rId3"/>
          <a:stretch>
            <a:fillRect/>
          </a:stretch>
        </p:blipFill>
        <p:spPr>
          <a:xfrm>
            <a:off x="5244013" y="4101029"/>
            <a:ext cx="1339065" cy="665706"/>
          </a:xfrm>
          <a:prstGeom prst="rect">
            <a:avLst/>
          </a:prstGeom>
        </p:spPr>
      </p:pic>
    </p:spTree>
    <p:extLst>
      <p:ext uri="{BB962C8B-B14F-4D97-AF65-F5344CB8AC3E}">
        <p14:creationId xmlns:p14="http://schemas.microsoft.com/office/powerpoint/2010/main" val="884540460"/>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Cont..</a:t>
            </a:r>
            <a:endParaRPr lang="en-US" dirty="0"/>
          </a:p>
        </p:txBody>
      </p:sp>
      <p:sp>
        <p:nvSpPr>
          <p:cNvPr id="3" name="Text Placeholder 2"/>
          <p:cNvSpPr>
            <a:spLocks noGrp="1"/>
          </p:cNvSpPr>
          <p:nvPr>
            <p:ph type="body" idx="1"/>
          </p:nvPr>
        </p:nvSpPr>
        <p:spPr>
          <a:xfrm>
            <a:off x="836083" y="1335821"/>
            <a:ext cx="10619317" cy="3354765"/>
          </a:xfrm>
        </p:spPr>
        <p:txBody>
          <a:bodyPr/>
          <a:lstStyle/>
          <a:p>
            <a:pPr algn="ctr"/>
            <a:r>
              <a:rPr lang="en-US" b="1" dirty="0">
                <a:solidFill>
                  <a:srgbClr val="C00000"/>
                </a:solidFill>
                <a:latin typeface="fkGroteskNeue"/>
              </a:rPr>
              <a:t>Saturation </a:t>
            </a:r>
            <a:r>
              <a:rPr lang="en-US" b="1" dirty="0" smtClean="0">
                <a:solidFill>
                  <a:srgbClr val="C00000"/>
                </a:solidFill>
                <a:latin typeface="fkGroteskNeue"/>
              </a:rPr>
              <a:t>Region</a:t>
            </a:r>
          </a:p>
          <a:p>
            <a:pPr algn="just"/>
            <a:endParaRPr lang="en-US" b="1" dirty="0">
              <a:solidFill>
                <a:srgbClr val="C00000"/>
              </a:solidFill>
              <a:latin typeface="fkGroteskNeue"/>
            </a:endParaRPr>
          </a:p>
          <a:p>
            <a:pPr marL="742950" lvl="1" indent="-285750" algn="just">
              <a:spcBef>
                <a:spcPts val="600"/>
              </a:spcBef>
              <a:spcAft>
                <a:spcPts val="600"/>
              </a:spcAft>
              <a:buFont typeface="Wingdings" panose="05000000000000000000" pitchFamily="2" charset="2"/>
              <a:buChar char="q"/>
            </a:pPr>
            <a:r>
              <a:rPr lang="en-US" dirty="0">
                <a:latin typeface="fkGroteskNeue"/>
              </a:rPr>
              <a:t>Condition: </a:t>
            </a:r>
            <a:r>
              <a:rPr lang="en-US" i="1" dirty="0" smtClean="0">
                <a:latin typeface="KaTeX_Math"/>
              </a:rPr>
              <a:t>Vov</a:t>
            </a:r>
            <a:r>
              <a:rPr lang="en-US" dirty="0">
                <a:latin typeface="KaTeX_Main"/>
              </a:rPr>
              <a:t>≥0</a:t>
            </a:r>
            <a:r>
              <a:rPr lang="en-US" dirty="0">
                <a:latin typeface="fkGroteskNeue"/>
              </a:rPr>
              <a:t> and </a:t>
            </a:r>
            <a:r>
              <a:rPr lang="en-US" i="1" dirty="0" err="1" smtClean="0">
                <a:latin typeface="KaTeX_Math"/>
              </a:rPr>
              <a:t>Vds</a:t>
            </a:r>
            <a:r>
              <a:rPr lang="en-US" dirty="0" err="1">
                <a:latin typeface="KaTeX_Main"/>
              </a:rPr>
              <a:t>≥</a:t>
            </a:r>
            <a:r>
              <a:rPr lang="en-US" i="1" dirty="0" err="1">
                <a:latin typeface="KaTeX_Math"/>
              </a:rPr>
              <a:t>Vsat</a:t>
            </a:r>
            <a:endParaRPr lang="en-US" dirty="0">
              <a:latin typeface="fkGroteskNeue"/>
            </a:endParaRPr>
          </a:p>
          <a:p>
            <a:pPr marL="742950" lvl="1" indent="-285750" algn="just">
              <a:spcBef>
                <a:spcPts val="600"/>
              </a:spcBef>
              <a:spcAft>
                <a:spcPts val="600"/>
              </a:spcAft>
              <a:buFont typeface="Wingdings" panose="05000000000000000000" pitchFamily="2" charset="2"/>
              <a:buChar char="q"/>
            </a:pPr>
            <a:r>
              <a:rPr lang="en-US" dirty="0">
                <a:latin typeface="fkGroteskNeue"/>
              </a:rPr>
              <a:t>Behavior: Channel pinches off near drain, current depends only on gate voltage (not on </a:t>
            </a:r>
            <a:r>
              <a:rPr lang="en-US" i="1" dirty="0" err="1" smtClean="0">
                <a:latin typeface="KaTeX_Math"/>
              </a:rPr>
              <a:t>Vds</a:t>
            </a:r>
            <a:r>
              <a:rPr lang="en-US" dirty="0" smtClean="0">
                <a:latin typeface="fkGroteskNeue"/>
              </a:rPr>
              <a:t>):</a:t>
            </a:r>
          </a:p>
          <a:p>
            <a:pPr marL="742950" lvl="1" indent="-285750" algn="just">
              <a:spcBef>
                <a:spcPts val="600"/>
              </a:spcBef>
              <a:spcAft>
                <a:spcPts val="600"/>
              </a:spcAft>
              <a:buFont typeface="Arial" panose="020B0604020202020204" pitchFamily="34" charset="0"/>
              <a:buChar char="•"/>
            </a:pPr>
            <a:endParaRPr lang="en-US" dirty="0" smtClean="0">
              <a:latin typeface="fkGroteskNeue"/>
            </a:endParaRPr>
          </a:p>
          <a:p>
            <a:pPr lvl="1" algn="just">
              <a:spcBef>
                <a:spcPts val="600"/>
              </a:spcBef>
              <a:spcAft>
                <a:spcPts val="600"/>
              </a:spcAft>
            </a:pPr>
            <a:endParaRPr lang="en-US" dirty="0">
              <a:latin typeface="fkGroteskNeue"/>
            </a:endParaRPr>
          </a:p>
          <a:p>
            <a:pPr marL="742950" lvl="1" indent="-285750" algn="just">
              <a:spcBef>
                <a:spcPts val="600"/>
              </a:spcBef>
              <a:spcAft>
                <a:spcPts val="600"/>
              </a:spcAft>
              <a:buFont typeface="Wingdings" panose="05000000000000000000" pitchFamily="2" charset="2"/>
              <a:buChar char="q"/>
            </a:pPr>
            <a:r>
              <a:rPr lang="en-US" dirty="0" smtClean="0">
                <a:latin typeface="fkGroteskNeue"/>
              </a:rPr>
              <a:t>Intuitive </a:t>
            </a:r>
            <a:r>
              <a:rPr lang="en-US" dirty="0">
                <a:latin typeface="fkGroteskNeue"/>
              </a:rPr>
              <a:t>point: Most analog building blocks (amplifiers, active loads) operate here for predictability—the gate voltage alone sets the current.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109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442839" y="2908283"/>
            <a:ext cx="1714588" cy="635033"/>
          </a:xfrm>
          <a:prstGeom prst="rect">
            <a:avLst/>
          </a:prstGeom>
        </p:spPr>
      </p:pic>
    </p:spTree>
    <p:extLst>
      <p:ext uri="{BB962C8B-B14F-4D97-AF65-F5344CB8AC3E}">
        <p14:creationId xmlns:p14="http://schemas.microsoft.com/office/powerpoint/2010/main" val="369308917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Saturation-centric Transistor </a:t>
            </a:r>
            <a:r>
              <a:rPr lang="en-US" dirty="0" smtClean="0">
                <a:latin typeface="fkGrotesk"/>
              </a:rPr>
              <a:t>Biasing</a:t>
            </a:r>
            <a:endParaRPr lang="en-US" dirty="0"/>
          </a:p>
        </p:txBody>
      </p:sp>
      <p:sp>
        <p:nvSpPr>
          <p:cNvPr id="3" name="Text Placeholder 2"/>
          <p:cNvSpPr>
            <a:spLocks noGrp="1"/>
          </p:cNvSpPr>
          <p:nvPr>
            <p:ph type="body" idx="1"/>
          </p:nvPr>
        </p:nvSpPr>
        <p:spPr>
          <a:xfrm>
            <a:off x="734484" y="1191887"/>
            <a:ext cx="6623049" cy="2985433"/>
          </a:xfrm>
        </p:spPr>
        <p:txBody>
          <a:bodyPr/>
          <a:lstStyle/>
          <a:p>
            <a:pPr algn="ctr"/>
            <a:r>
              <a:rPr lang="en-US" b="1" dirty="0" smtClean="0">
                <a:solidFill>
                  <a:srgbClr val="C00000"/>
                </a:solidFill>
                <a:latin typeface="fkGroteskNeue"/>
              </a:rPr>
              <a:t>Motivation:</a:t>
            </a:r>
            <a:endParaRPr lang="en-US" b="1" dirty="0">
              <a:solidFill>
                <a:srgbClr val="C00000"/>
              </a:solidFill>
              <a:latin typeface="fkGroteskNeue"/>
            </a:endParaRPr>
          </a:p>
          <a:p>
            <a:pPr marL="342900" indent="-342900" algn="just">
              <a:buFont typeface="Wingdings" panose="05000000000000000000" pitchFamily="2" charset="2"/>
              <a:buChar char="q"/>
            </a:pPr>
            <a:r>
              <a:rPr lang="en-US" i="1" dirty="0" smtClean="0">
                <a:latin typeface="KaTeX_Math"/>
              </a:rPr>
              <a:t>ID</a:t>
            </a:r>
            <a:r>
              <a:rPr lang="en-US" dirty="0">
                <a:latin typeface="fkGroteskNeue"/>
              </a:rPr>
              <a:t> vs. </a:t>
            </a:r>
            <a:r>
              <a:rPr lang="en-US" i="1" dirty="0" err="1" smtClean="0">
                <a:latin typeface="KaTeX_Math"/>
              </a:rPr>
              <a:t>Vov</a:t>
            </a:r>
            <a:r>
              <a:rPr lang="en-US" dirty="0">
                <a:latin typeface="fkGroteskNeue"/>
              </a:rPr>
              <a:t> in the saturation region, emphasizing quadratic relationship and showing that the slope at any </a:t>
            </a:r>
            <a:r>
              <a:rPr lang="en-US" i="1" dirty="0" err="1" smtClean="0">
                <a:latin typeface="KaTeX_Math"/>
              </a:rPr>
              <a:t>Vov</a:t>
            </a:r>
            <a:r>
              <a:rPr lang="en-US" dirty="0">
                <a:latin typeface="fkGroteskNeue"/>
              </a:rPr>
              <a:t> is </a:t>
            </a:r>
            <a:r>
              <a:rPr lang="en-US" i="1" dirty="0" smtClean="0">
                <a:latin typeface="KaTeX_Math"/>
              </a:rPr>
              <a:t>gm</a:t>
            </a:r>
            <a:r>
              <a:rPr lang="en-US" dirty="0">
                <a:latin typeface="fkGroteskNeue"/>
              </a:rPr>
              <a:t> (</a:t>
            </a:r>
            <a:r>
              <a:rPr lang="en-US" dirty="0" err="1">
                <a:latin typeface="fkGroteskNeue"/>
              </a:rPr>
              <a:t>transconductance</a:t>
            </a:r>
            <a:r>
              <a:rPr lang="en-US" dirty="0">
                <a:latin typeface="fkGroteskNeue"/>
              </a:rPr>
              <a:t>).</a:t>
            </a:r>
          </a:p>
          <a:p>
            <a:pPr marL="342900" indent="-342900" algn="just">
              <a:buFont typeface="Wingdings" panose="05000000000000000000" pitchFamily="2" charset="2"/>
              <a:buChar char="q"/>
            </a:pPr>
            <a:r>
              <a:rPr lang="en-US" dirty="0">
                <a:latin typeface="fkGroteskNeue"/>
              </a:rPr>
              <a:t>Saturation region is crucial for analog design (except switches).</a:t>
            </a:r>
          </a:p>
          <a:p>
            <a:pPr marL="342900" indent="-342900" algn="ctr">
              <a:buFont typeface="Wingdings" panose="05000000000000000000" pitchFamily="2" charset="2"/>
              <a:buChar char="q"/>
            </a:pPr>
            <a:r>
              <a:rPr lang="en-US" b="1" dirty="0">
                <a:solidFill>
                  <a:srgbClr val="C00000"/>
                </a:solidFill>
                <a:latin typeface="fkGroteskNeue"/>
              </a:rPr>
              <a:t>As </a:t>
            </a:r>
            <a:r>
              <a:rPr lang="en-US" b="1" i="1" dirty="0" err="1" smtClean="0">
                <a:solidFill>
                  <a:srgbClr val="C00000"/>
                </a:solidFill>
                <a:latin typeface="KaTeX_Math"/>
              </a:rPr>
              <a:t>Vov</a:t>
            </a:r>
            <a:r>
              <a:rPr lang="en-US" b="1" dirty="0">
                <a:solidFill>
                  <a:srgbClr val="C00000"/>
                </a:solidFill>
                <a:latin typeface="fkGroteskNeue"/>
              </a:rPr>
              <a:t> increases:</a:t>
            </a:r>
          </a:p>
          <a:p>
            <a:pPr marL="742950" lvl="1" indent="-285750" algn="just">
              <a:buFont typeface="Wingdings" panose="05000000000000000000" pitchFamily="2" charset="2"/>
              <a:buChar char="q"/>
            </a:pPr>
            <a:r>
              <a:rPr lang="en-US" i="1" dirty="0" smtClean="0">
                <a:latin typeface="KaTeX_Math"/>
              </a:rPr>
              <a:t>ID</a:t>
            </a:r>
            <a:r>
              <a:rPr lang="en-US" dirty="0">
                <a:latin typeface="fkGroteskNeue"/>
              </a:rPr>
              <a:t> increases </a:t>
            </a:r>
            <a:r>
              <a:rPr lang="en-US" dirty="0" err="1">
                <a:latin typeface="fkGroteskNeue"/>
              </a:rPr>
              <a:t>quadratically</a:t>
            </a:r>
            <a:r>
              <a:rPr lang="en-US" dirty="0">
                <a:latin typeface="fkGroteskNeue"/>
              </a:rPr>
              <a:t>.</a:t>
            </a:r>
          </a:p>
          <a:p>
            <a:pPr marL="742950" lvl="1" indent="-285750" algn="just">
              <a:buFont typeface="Wingdings" panose="05000000000000000000" pitchFamily="2" charset="2"/>
              <a:buChar char="q"/>
            </a:pPr>
            <a:r>
              <a:rPr lang="en-US" i="1" dirty="0" smtClean="0">
                <a:latin typeface="KaTeX_Math"/>
              </a:rPr>
              <a:t>gm</a:t>
            </a:r>
            <a:r>
              <a:rPr lang="en-US" dirty="0" smtClean="0">
                <a:latin typeface="fkGroteskNeue"/>
              </a:rPr>
              <a:t>—the </a:t>
            </a:r>
            <a:r>
              <a:rPr lang="en-US" dirty="0">
                <a:latin typeface="fkGroteskNeue"/>
              </a:rPr>
              <a:t>slope—even increases with </a:t>
            </a:r>
            <a:r>
              <a:rPr lang="en-US" i="1" dirty="0" err="1" smtClean="0">
                <a:latin typeface="KaTeX_Math"/>
              </a:rPr>
              <a:t>Vov</a:t>
            </a:r>
            <a:r>
              <a:rPr lang="en-US" dirty="0">
                <a:latin typeface="fkGroteskNeue"/>
              </a:rPr>
              <a:t>, indicating a stronger, more sensitive device</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450582" y="1227598"/>
            <a:ext cx="4284218" cy="3493284"/>
          </a:xfrm>
          <a:prstGeom prst="rect">
            <a:avLst/>
          </a:prstGeom>
        </p:spPr>
      </p:pic>
      <p:sp>
        <p:nvSpPr>
          <p:cNvPr id="8" name="Rectangle 7"/>
          <p:cNvSpPr/>
          <p:nvPr/>
        </p:nvSpPr>
        <p:spPr>
          <a:xfrm>
            <a:off x="7666062" y="994490"/>
            <a:ext cx="4122988" cy="307777"/>
          </a:xfrm>
          <a:prstGeom prst="rect">
            <a:avLst/>
          </a:prstGeom>
        </p:spPr>
        <p:txBody>
          <a:bodyPr wrap="none">
            <a:spAutoFit/>
          </a:bodyPr>
          <a:lstStyle/>
          <a:p>
            <a:r>
              <a:rPr lang="en-US" sz="1400" b="1" i="0" u="none" strike="noStrike" baseline="0" dirty="0" smtClean="0">
                <a:solidFill>
                  <a:srgbClr val="00B050"/>
                </a:solidFill>
                <a:latin typeface="CMR10"/>
              </a:rPr>
              <a:t>A saturation-centric view of transistor biasing.</a:t>
            </a:r>
            <a:endParaRPr lang="en-US" sz="3200" b="1" dirty="0">
              <a:solidFill>
                <a:srgbClr val="00B050"/>
              </a:solidFill>
            </a:endParaRPr>
          </a:p>
        </p:txBody>
      </p:sp>
      <p:sp>
        <p:nvSpPr>
          <p:cNvPr id="9" name="Rectangle 8"/>
          <p:cNvSpPr/>
          <p:nvPr/>
        </p:nvSpPr>
        <p:spPr>
          <a:xfrm>
            <a:off x="601133" y="4694705"/>
            <a:ext cx="11116734" cy="1323439"/>
          </a:xfrm>
          <a:prstGeom prst="rect">
            <a:avLst/>
          </a:prstGeom>
        </p:spPr>
        <p:txBody>
          <a:bodyPr wrap="square">
            <a:spAutoFit/>
          </a:bodyPr>
          <a:lstStyle/>
          <a:p>
            <a:pPr lvl="0" algn="ctr"/>
            <a:r>
              <a:rPr lang="en-US" sz="2000" b="1" kern="0" dirty="0">
                <a:solidFill>
                  <a:srgbClr val="C00000"/>
                </a:solidFill>
                <a:latin typeface="fkGroteskNeue"/>
              </a:rPr>
              <a:t>Key Intuitive Takeaways:</a:t>
            </a:r>
          </a:p>
          <a:p>
            <a:pPr marL="800100" lvl="1" indent="-342900" algn="just">
              <a:buFont typeface="Wingdings" panose="05000000000000000000" pitchFamily="2" charset="2"/>
              <a:buChar char="q"/>
            </a:pPr>
            <a:r>
              <a:rPr lang="en-US" sz="2000" kern="0" dirty="0">
                <a:solidFill>
                  <a:prstClr val="black"/>
                </a:solidFill>
                <a:latin typeface="fkGroteskNeue"/>
              </a:rPr>
              <a:t>Biasing in saturation gives precise control over current based solely on gate voltage.</a:t>
            </a:r>
          </a:p>
          <a:p>
            <a:pPr marL="800100" lvl="1" indent="-342900" algn="just">
              <a:buFont typeface="Wingdings" panose="05000000000000000000" pitchFamily="2" charset="2"/>
              <a:buChar char="q"/>
            </a:pPr>
            <a:r>
              <a:rPr lang="en-US" sz="2000" kern="0" dirty="0">
                <a:solidFill>
                  <a:prstClr val="black"/>
                </a:solidFill>
                <a:latin typeface="fkGroteskNeue"/>
              </a:rPr>
              <a:t>Gives a direct link: choose </a:t>
            </a:r>
            <a:r>
              <a:rPr lang="en-US" sz="2000" i="1" kern="0" dirty="0" err="1">
                <a:solidFill>
                  <a:prstClr val="black"/>
                </a:solidFill>
                <a:latin typeface="KaTeX_Math"/>
              </a:rPr>
              <a:t>Vov</a:t>
            </a:r>
            <a:r>
              <a:rPr lang="en-US" sz="2000" kern="0" dirty="0">
                <a:solidFill>
                  <a:prstClr val="black"/>
                </a:solidFill>
                <a:latin typeface="fkGroteskNeue"/>
              </a:rPr>
              <a:t> via gate bias, get predictable </a:t>
            </a:r>
            <a:r>
              <a:rPr lang="en-US" sz="2000" i="1" kern="0" dirty="0">
                <a:solidFill>
                  <a:prstClr val="black"/>
                </a:solidFill>
                <a:latin typeface="KaTeX_Math"/>
              </a:rPr>
              <a:t>ID</a:t>
            </a:r>
            <a:r>
              <a:rPr lang="en-US" sz="2000" kern="0" dirty="0">
                <a:solidFill>
                  <a:prstClr val="black"/>
                </a:solidFill>
                <a:latin typeface="fkGroteskNeue"/>
              </a:rPr>
              <a:t> and </a:t>
            </a:r>
            <a:r>
              <a:rPr lang="en-US" sz="2000" i="1" kern="0" dirty="0">
                <a:solidFill>
                  <a:prstClr val="black"/>
                </a:solidFill>
                <a:latin typeface="KaTeX_Math"/>
              </a:rPr>
              <a:t>gm</a:t>
            </a:r>
            <a:r>
              <a:rPr lang="en-US" sz="2000" kern="0" dirty="0">
                <a:solidFill>
                  <a:prstClr val="black"/>
                </a:solidFill>
                <a:latin typeface="fkGroteskNeue"/>
              </a:rPr>
              <a:t>, which are the backbone of analog performance</a:t>
            </a:r>
          </a:p>
        </p:txBody>
      </p:sp>
    </p:spTree>
    <p:extLst>
      <p:ext uri="{BB962C8B-B14F-4D97-AF65-F5344CB8AC3E}">
        <p14:creationId xmlns:p14="http://schemas.microsoft.com/office/powerpoint/2010/main" val="265652661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t>Overdrive Voltage—A Fundamental </a:t>
            </a:r>
            <a:r>
              <a:rPr lang="en-US" dirty="0" smtClean="0"/>
              <a:t>Variable</a:t>
            </a:r>
            <a:endParaRPr lang="en-US" dirty="0"/>
          </a:p>
        </p:txBody>
      </p:sp>
      <p:sp>
        <p:nvSpPr>
          <p:cNvPr id="3" name="Text Placeholder 2"/>
          <p:cNvSpPr>
            <a:spLocks noGrp="1"/>
          </p:cNvSpPr>
          <p:nvPr>
            <p:ph type="body" idx="1"/>
          </p:nvPr>
        </p:nvSpPr>
        <p:spPr>
          <a:xfrm>
            <a:off x="844550" y="1327353"/>
            <a:ext cx="10610850" cy="3539430"/>
          </a:xfrm>
        </p:spPr>
        <p:txBody>
          <a:bodyPr/>
          <a:lstStyle/>
          <a:p>
            <a:pPr algn="ctr">
              <a:spcBef>
                <a:spcPts val="600"/>
              </a:spcBef>
              <a:spcAft>
                <a:spcPts val="600"/>
              </a:spcAft>
            </a:pPr>
            <a:r>
              <a:rPr lang="en-US" b="1" dirty="0" smtClean="0">
                <a:solidFill>
                  <a:srgbClr val="C00000"/>
                </a:solidFill>
                <a:latin typeface="fkGroteskNeue"/>
              </a:rPr>
              <a:t>Definition</a:t>
            </a:r>
            <a:r>
              <a:rPr lang="en-US" b="1" dirty="0">
                <a:solidFill>
                  <a:srgbClr val="C00000"/>
                </a:solidFill>
                <a:latin typeface="fkGroteskNeue"/>
              </a:rPr>
              <a:t>:</a:t>
            </a:r>
          </a:p>
          <a:p>
            <a:pPr algn="ctr">
              <a:spcBef>
                <a:spcPts val="600"/>
              </a:spcBef>
              <a:spcAft>
                <a:spcPts val="600"/>
              </a:spcAft>
            </a:pPr>
            <a:r>
              <a:rPr lang="en-US" i="1" dirty="0" err="1" smtClean="0">
                <a:latin typeface="fkGroteskNeue"/>
              </a:rPr>
              <a:t>Vov</a:t>
            </a:r>
            <a:r>
              <a:rPr lang="en-US" dirty="0" smtClean="0">
                <a:latin typeface="fkGroteskNeue"/>
              </a:rPr>
              <a:t>=</a:t>
            </a:r>
            <a:r>
              <a:rPr lang="en-US" i="1" dirty="0" err="1" smtClean="0">
                <a:latin typeface="fkGroteskNeue"/>
              </a:rPr>
              <a:t>Vgs</a:t>
            </a:r>
            <a:r>
              <a:rPr lang="en-US" dirty="0">
                <a:latin typeface="fkGroteskNeue"/>
              </a:rPr>
              <a:t>−</a:t>
            </a:r>
            <a:r>
              <a:rPr lang="en-US" i="1" dirty="0" smtClean="0">
                <a:latin typeface="fkGroteskNeue"/>
              </a:rPr>
              <a:t>VT </a:t>
            </a:r>
          </a:p>
          <a:p>
            <a:pPr marL="342900" indent="-342900" algn="just">
              <a:spcBef>
                <a:spcPts val="600"/>
              </a:spcBef>
              <a:spcAft>
                <a:spcPts val="600"/>
              </a:spcAft>
              <a:buFont typeface="Wingdings" panose="05000000000000000000" pitchFamily="2" charset="2"/>
              <a:buChar char="q"/>
            </a:pPr>
            <a:r>
              <a:rPr lang="en-US" b="1" dirty="0" smtClean="0">
                <a:solidFill>
                  <a:srgbClr val="00B050"/>
                </a:solidFill>
                <a:latin typeface="fkGroteskNeue"/>
              </a:rPr>
              <a:t>Intuitive </a:t>
            </a:r>
            <a:r>
              <a:rPr lang="en-US" b="1" dirty="0">
                <a:solidFill>
                  <a:srgbClr val="00B050"/>
                </a:solidFill>
                <a:latin typeface="fkGroteskNeue"/>
              </a:rPr>
              <a:t>meaning:</a:t>
            </a:r>
            <a:r>
              <a:rPr lang="en-US" dirty="0">
                <a:latin typeface="fkGroteskNeue"/>
              </a:rPr>
              <a:t> Measures how far above threshold the gate voltage is—i.e., how "ON" the transistor really is.</a:t>
            </a:r>
          </a:p>
          <a:p>
            <a:pPr marL="342900" indent="-342900" algn="just">
              <a:spcBef>
                <a:spcPts val="600"/>
              </a:spcBef>
              <a:spcAft>
                <a:spcPts val="600"/>
              </a:spcAft>
              <a:buFont typeface="Wingdings" panose="05000000000000000000" pitchFamily="2" charset="2"/>
              <a:buChar char="q"/>
            </a:pPr>
            <a:r>
              <a:rPr lang="en-US" dirty="0">
                <a:solidFill>
                  <a:srgbClr val="00B050"/>
                </a:solidFill>
                <a:latin typeface="fkGroteskNeue"/>
              </a:rPr>
              <a:t>Inversion:</a:t>
            </a:r>
            <a:r>
              <a:rPr lang="en-US" dirty="0">
                <a:latin typeface="fkGroteskNeue"/>
              </a:rPr>
              <a:t> Weak inversion (very small </a:t>
            </a:r>
            <a:r>
              <a:rPr lang="en-US" i="1" dirty="0" err="1" smtClean="0">
                <a:latin typeface="fkGroteskNeue"/>
              </a:rPr>
              <a:t>Vov</a:t>
            </a:r>
            <a:r>
              <a:rPr lang="en-US" dirty="0">
                <a:latin typeface="fkGroteskNeue"/>
              </a:rPr>
              <a:t>) gives subthreshold conduction (leakage, ultra-low currents); strong inversion (large </a:t>
            </a:r>
            <a:r>
              <a:rPr lang="en-US" i="1" dirty="0" err="1" smtClean="0">
                <a:latin typeface="fkGroteskNeue"/>
              </a:rPr>
              <a:t>Vov</a:t>
            </a:r>
            <a:r>
              <a:rPr lang="en-US" dirty="0">
                <a:latin typeface="fkGroteskNeue"/>
              </a:rPr>
              <a:t>) gives robust ON state.</a:t>
            </a:r>
          </a:p>
          <a:p>
            <a:pPr marL="342900" indent="-342900" algn="just">
              <a:spcBef>
                <a:spcPts val="600"/>
              </a:spcBef>
              <a:spcAft>
                <a:spcPts val="600"/>
              </a:spcAft>
              <a:buFont typeface="Wingdings" panose="05000000000000000000" pitchFamily="2" charset="2"/>
              <a:buChar char="q"/>
            </a:pPr>
            <a:r>
              <a:rPr lang="en-US" i="1" dirty="0" err="1" smtClean="0">
                <a:latin typeface="fkGroteskNeue"/>
              </a:rPr>
              <a:t>Vov</a:t>
            </a:r>
            <a:r>
              <a:rPr lang="en-US" dirty="0">
                <a:latin typeface="fkGroteskNeue"/>
              </a:rPr>
              <a:t> acts as a practical design variable: easy to work with, hides </a:t>
            </a:r>
            <a:r>
              <a:rPr lang="en-US" i="1" dirty="0" smtClean="0">
                <a:latin typeface="fkGroteskNeue"/>
              </a:rPr>
              <a:t>VT</a:t>
            </a:r>
            <a:r>
              <a:rPr lang="en-US" dirty="0">
                <a:latin typeface="fkGroteskNeue"/>
              </a:rPr>
              <a:t> variations, and maps directly to device "strength" (from weak to strong conduction).</a:t>
            </a:r>
          </a:p>
          <a:p>
            <a:pPr>
              <a:spcBef>
                <a:spcPts val="600"/>
              </a:spcBef>
              <a:spcAft>
                <a:spcPts val="600"/>
              </a:spcAft>
            </a:pP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41277492"/>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Lecture Delivery </a:t>
            </a:r>
            <a:r>
              <a:rPr lang="en-US" dirty="0" smtClean="0">
                <a:latin typeface="fkGrotesk"/>
              </a:rPr>
              <a:t>Sequence</a:t>
            </a:r>
            <a:endParaRPr lang="en-US" dirty="0"/>
          </a:p>
        </p:txBody>
      </p:sp>
      <p:sp>
        <p:nvSpPr>
          <p:cNvPr id="3" name="Text Placeholder 2"/>
          <p:cNvSpPr>
            <a:spLocks noGrp="1"/>
          </p:cNvSpPr>
          <p:nvPr>
            <p:ph type="body" idx="1"/>
          </p:nvPr>
        </p:nvSpPr>
        <p:spPr>
          <a:xfrm>
            <a:off x="628650" y="1251153"/>
            <a:ext cx="11169650" cy="4308872"/>
          </a:xfrm>
        </p:spPr>
        <p:txBody>
          <a:bodyPr/>
          <a:lstStyle/>
          <a:p>
            <a:pPr marL="457200" indent="-457200" algn="l">
              <a:buFont typeface="+mj-lt"/>
              <a:buAutoNum type="arabicPeriod"/>
            </a:pPr>
            <a:r>
              <a:rPr lang="en-US" dirty="0" smtClean="0">
                <a:latin typeface="fkGroteskNeue"/>
              </a:rPr>
              <a:t>Start </a:t>
            </a:r>
            <a:r>
              <a:rPr lang="en-US" dirty="0">
                <a:latin typeface="fkGroteskNeue"/>
              </a:rPr>
              <a:t>with cutoff, linear, and saturation regions:</a:t>
            </a:r>
            <a:br>
              <a:rPr lang="en-US" dirty="0">
                <a:latin typeface="fkGroteskNeue"/>
              </a:rPr>
            </a:br>
            <a:r>
              <a:rPr lang="en-US" dirty="0">
                <a:latin typeface="fkGroteskNeue"/>
              </a:rPr>
              <a:t>Use the region definitions and equations from Figure 6 to explain what each regime looks like physically and mathematically.</a:t>
            </a:r>
          </a:p>
          <a:p>
            <a:pPr marL="457200" indent="-457200" algn="l">
              <a:buFont typeface="+mj-lt"/>
              <a:buAutoNum type="arabicPeriod"/>
            </a:pPr>
            <a:r>
              <a:rPr lang="en-US" dirty="0">
                <a:latin typeface="fkGroteskNeue"/>
              </a:rPr>
              <a:t>Discuss why saturation is king for analog designers:</a:t>
            </a:r>
            <a:br>
              <a:rPr lang="en-US" dirty="0">
                <a:latin typeface="fkGroteskNeue"/>
              </a:rPr>
            </a:br>
            <a:r>
              <a:rPr lang="en-US" dirty="0">
                <a:latin typeface="fkGroteskNeue"/>
              </a:rPr>
              <a:t>Use Figure 7 to show how biasing in saturation provides quadratic control over current and strong </a:t>
            </a:r>
            <a:r>
              <a:rPr lang="en-US" dirty="0" err="1">
                <a:latin typeface="fkGroteskNeue"/>
              </a:rPr>
              <a:t>transconductance</a:t>
            </a:r>
            <a:r>
              <a:rPr lang="en-US" dirty="0">
                <a:latin typeface="fkGroteskNeue"/>
              </a:rPr>
              <a:t>, which is essential for gain and bandwidth.</a:t>
            </a:r>
          </a:p>
          <a:p>
            <a:pPr marL="457200" indent="-457200" algn="l">
              <a:buFont typeface="+mj-lt"/>
              <a:buAutoNum type="arabicPeriod"/>
            </a:pPr>
            <a:r>
              <a:rPr lang="en-US" dirty="0">
                <a:latin typeface="fkGroteskNeue"/>
              </a:rPr>
              <a:t>Emphasize overdrive voltage as THE intuitive variable:</a:t>
            </a:r>
            <a:br>
              <a:rPr lang="en-US" dirty="0">
                <a:latin typeface="fkGroteskNeue"/>
              </a:rPr>
            </a:br>
            <a:r>
              <a:rPr lang="en-US" dirty="0">
                <a:latin typeface="fkGroteskNeue"/>
              </a:rPr>
              <a:t>Explain </a:t>
            </a:r>
            <a:r>
              <a:rPr lang="en-US" i="1" dirty="0" err="1" smtClean="0">
                <a:latin typeface="KaTeX_Math"/>
              </a:rPr>
              <a:t>Vov</a:t>
            </a:r>
            <a:r>
              <a:rPr lang="en-US" dirty="0">
                <a:latin typeface="fkGroteskNeue"/>
              </a:rPr>
              <a:t> as the natural bridge between gate voltage, current, and small-signal performance—students can "see" how moving </a:t>
            </a:r>
            <a:r>
              <a:rPr lang="en-US" i="1" dirty="0" err="1" smtClean="0">
                <a:latin typeface="KaTeX_Math"/>
              </a:rPr>
              <a:t>Vov</a:t>
            </a:r>
            <a:r>
              <a:rPr lang="en-US" dirty="0">
                <a:latin typeface="fkGroteskNeue"/>
              </a:rPr>
              <a:t> shifts the device's operating point predictably.</a:t>
            </a:r>
          </a:p>
          <a:p>
            <a:pPr marL="457200" indent="-457200" algn="l">
              <a:buFont typeface="+mj-lt"/>
              <a:buAutoNum type="arabicPeriod"/>
            </a:pPr>
            <a:r>
              <a:rPr lang="en-US" dirty="0">
                <a:latin typeface="fkGroteskNeue"/>
              </a:rPr>
              <a:t>Link gm/ID to these concepts:</a:t>
            </a:r>
            <a:br>
              <a:rPr lang="en-US" dirty="0">
                <a:latin typeface="fkGroteskNeue"/>
              </a:rPr>
            </a:br>
            <a:r>
              <a:rPr lang="en-US" dirty="0">
                <a:latin typeface="fkGroteskNeue"/>
              </a:rPr>
              <a:t>Remind the audience that gm/ID tables or charts can be built using saturation-region theory, and that every transistor's bias choice can be rooted in understanding these simple relationships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951086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471150" cy="1538883"/>
          </a:xfrm>
        </p:spPr>
        <p:txBody>
          <a:bodyPr/>
          <a:lstStyle/>
          <a:p>
            <a:r>
              <a:rPr lang="en-US" dirty="0">
                <a:latin typeface="fkGroteskNeue"/>
              </a:rPr>
              <a:t>Summary:</a:t>
            </a:r>
            <a:r>
              <a:rPr lang="en-US" dirty="0"/>
              <a:t/>
            </a:r>
            <a:br>
              <a:rPr lang="en-US" dirty="0"/>
            </a:br>
            <a:r>
              <a:rPr lang="en-US" dirty="0">
                <a:latin typeface="fkGroteskNeue"/>
              </a:rPr>
              <a:t>By mastering the operating regions, especially the intuitive power of saturation and </a:t>
            </a:r>
            <a:r>
              <a:rPr lang="en-US" i="1" dirty="0" err="1" smtClean="0">
                <a:latin typeface="KaTeX_Math"/>
              </a:rPr>
              <a:t>Vov</a:t>
            </a:r>
            <a:r>
              <a:rPr lang="en-US" dirty="0">
                <a:latin typeface="fkGroteskNeue"/>
              </a:rPr>
              <a:t>, any designer can unlock predictable control and deep insight in MOS circuits. This is the foundation upon which gm/ID methodology is built, making low-level design robust and highly intuitive.</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173213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Why Use </a:t>
            </a:r>
            <a:r>
              <a:rPr lang="en-US" i="1" dirty="0" err="1" smtClean="0">
                <a:latin typeface="KaTeX_Math"/>
              </a:rPr>
              <a:t>Vov</a:t>
            </a:r>
            <a:r>
              <a:rPr lang="en-US" dirty="0">
                <a:latin typeface="fkGrotesk"/>
              </a:rPr>
              <a:t> in Transistor Design</a:t>
            </a:r>
            <a:r>
              <a:rPr lang="en-US" dirty="0" smtClean="0">
                <a:latin typeface="fkGrotesk"/>
              </a:rPr>
              <a:t>?</a:t>
            </a:r>
            <a:endParaRPr lang="en-US" dirty="0"/>
          </a:p>
        </p:txBody>
      </p:sp>
      <p:sp>
        <p:nvSpPr>
          <p:cNvPr id="3" name="Text Placeholder 2"/>
          <p:cNvSpPr>
            <a:spLocks noGrp="1"/>
          </p:cNvSpPr>
          <p:nvPr>
            <p:ph type="body" idx="1"/>
          </p:nvPr>
        </p:nvSpPr>
        <p:spPr>
          <a:xfrm>
            <a:off x="785282" y="1259620"/>
            <a:ext cx="10780183" cy="4847481"/>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In </a:t>
            </a:r>
            <a:r>
              <a:rPr lang="en-US" dirty="0">
                <a:latin typeface="fkGroteskNeue"/>
              </a:rPr>
              <a:t>analog design, choosing good transistor sizes and bias points is crucial—these choices directly impact gain, bandwidth, noise, and power consumption.</a:t>
            </a:r>
          </a:p>
          <a:p>
            <a:pPr marL="342900" indent="-342900" algn="just">
              <a:spcBef>
                <a:spcPts val="600"/>
              </a:spcBef>
              <a:spcAft>
                <a:spcPts val="600"/>
              </a:spcAft>
              <a:buFont typeface="Wingdings" panose="05000000000000000000" pitchFamily="2" charset="2"/>
              <a:buChar char="q"/>
            </a:pPr>
            <a:r>
              <a:rPr lang="en-US" dirty="0">
                <a:latin typeface="fkGroteskNeue"/>
              </a:rPr>
              <a:t>However, parameters like threshold voltage </a:t>
            </a:r>
            <a:r>
              <a:rPr lang="en-US" dirty="0" smtClean="0">
                <a:latin typeface="fkGroteskNeue"/>
              </a:rPr>
              <a:t>(</a:t>
            </a:r>
            <a:r>
              <a:rPr lang="en-US" i="1" dirty="0" smtClean="0">
                <a:latin typeface="KaTeX_Math"/>
              </a:rPr>
              <a:t>VT</a:t>
            </a:r>
            <a:r>
              <a:rPr lang="en-US" dirty="0">
                <a:latin typeface="fkGroteskNeue"/>
              </a:rPr>
              <a:t>), mobility, or oxide capacitance </a:t>
            </a:r>
            <a:r>
              <a:rPr lang="en-US" dirty="0" smtClean="0">
                <a:latin typeface="fkGroteskNeue"/>
              </a:rPr>
              <a:t>(</a:t>
            </a:r>
            <a:r>
              <a:rPr lang="en-US" i="1" dirty="0" smtClean="0">
                <a:latin typeface="KaTeX_Math"/>
              </a:rPr>
              <a:t>Cox</a:t>
            </a:r>
            <a:r>
              <a:rPr lang="en-US" dirty="0">
                <a:latin typeface="fkGroteskNeue"/>
              </a:rPr>
              <a:t>) are either fixed by process or hard to control directly by the designer.</a:t>
            </a:r>
          </a:p>
          <a:p>
            <a:pPr marL="342900" indent="-342900" algn="just">
              <a:spcBef>
                <a:spcPts val="600"/>
              </a:spcBef>
              <a:spcAft>
                <a:spcPts val="600"/>
              </a:spcAft>
              <a:buFont typeface="Wingdings" panose="05000000000000000000" pitchFamily="2" charset="2"/>
              <a:buChar char="q"/>
            </a:pPr>
            <a:r>
              <a:rPr lang="en-US" dirty="0">
                <a:latin typeface="fkGroteskNeue"/>
              </a:rPr>
              <a:t>The overdrive voltage </a:t>
            </a:r>
            <a:r>
              <a:rPr lang="en-US" dirty="0" smtClean="0">
                <a:latin typeface="fkGroteskNeue"/>
              </a:rPr>
              <a:t>(</a:t>
            </a:r>
            <a:r>
              <a:rPr lang="en-US" i="1" dirty="0" err="1" smtClean="0">
                <a:latin typeface="KaTeX_Math"/>
              </a:rPr>
              <a:t>Vov</a:t>
            </a:r>
            <a:r>
              <a:rPr lang="en-US" dirty="0" smtClean="0">
                <a:latin typeface="KaTeX_Main"/>
              </a:rPr>
              <a:t>=</a:t>
            </a:r>
            <a:r>
              <a:rPr lang="en-US" i="1" dirty="0" err="1" smtClean="0">
                <a:latin typeface="KaTeX_Math"/>
              </a:rPr>
              <a:t>Vgs</a:t>
            </a:r>
            <a:r>
              <a:rPr lang="en-US" dirty="0">
                <a:latin typeface="KaTeX_Main"/>
              </a:rPr>
              <a:t>−</a:t>
            </a:r>
            <a:r>
              <a:rPr lang="en-US" i="1" dirty="0">
                <a:latin typeface="KaTeX_Math"/>
              </a:rPr>
              <a:t>VT</a:t>
            </a:r>
            <a:r>
              <a:rPr lang="en-US" dirty="0">
                <a:latin typeface="fkGroteskNeue"/>
              </a:rPr>
              <a:t>) is a key variable because:</a:t>
            </a:r>
          </a:p>
          <a:p>
            <a:pPr marL="742950" lvl="1" indent="-285750" algn="just">
              <a:spcBef>
                <a:spcPts val="600"/>
              </a:spcBef>
              <a:spcAft>
                <a:spcPts val="600"/>
              </a:spcAft>
              <a:buFont typeface="Wingdings" panose="05000000000000000000" pitchFamily="2" charset="2"/>
              <a:buChar char="q"/>
            </a:pPr>
            <a:r>
              <a:rPr lang="en-US" dirty="0">
                <a:latin typeface="fkGroteskNeue"/>
              </a:rPr>
              <a:t>It tells us how strongly a MOSFET channel is "inverted" (how well it conducts).</a:t>
            </a:r>
          </a:p>
          <a:p>
            <a:pPr marL="742950" lvl="1" indent="-285750" algn="just">
              <a:spcBef>
                <a:spcPts val="600"/>
              </a:spcBef>
              <a:spcAft>
                <a:spcPts val="600"/>
              </a:spcAft>
              <a:buFont typeface="Wingdings" panose="05000000000000000000" pitchFamily="2" charset="2"/>
              <a:buChar char="q"/>
            </a:pPr>
            <a:r>
              <a:rPr lang="en-US" dirty="0">
                <a:latin typeface="fkGroteskNeue"/>
              </a:rPr>
              <a:t>It is easy to work with—it hides dependence on </a:t>
            </a:r>
            <a:r>
              <a:rPr lang="en-US" i="1" dirty="0" smtClean="0">
                <a:latin typeface="KaTeX_Math"/>
              </a:rPr>
              <a:t>VT</a:t>
            </a:r>
            <a:r>
              <a:rPr lang="en-US" dirty="0">
                <a:latin typeface="fkGroteskNeue"/>
              </a:rPr>
              <a:t> and allows focus on how "ON" the device actually is.</a:t>
            </a:r>
          </a:p>
          <a:p>
            <a:pPr marL="742950" lvl="1" indent="-285750" algn="just">
              <a:spcBef>
                <a:spcPts val="600"/>
              </a:spcBef>
              <a:spcAft>
                <a:spcPts val="600"/>
              </a:spcAft>
              <a:buFont typeface="Wingdings" panose="05000000000000000000" pitchFamily="2" charset="2"/>
              <a:buChar char="q"/>
            </a:pPr>
            <a:r>
              <a:rPr lang="en-US" dirty="0">
                <a:latin typeface="fkGroteskNeue"/>
              </a:rPr>
              <a:t>Higher </a:t>
            </a:r>
            <a:r>
              <a:rPr lang="en-US" i="1" dirty="0" err="1" smtClean="0">
                <a:latin typeface="KaTeX_Math"/>
              </a:rPr>
              <a:t>Vov</a:t>
            </a:r>
            <a:r>
              <a:rPr lang="en-US" dirty="0">
                <a:latin typeface="fkGroteskNeue"/>
              </a:rPr>
              <a:t> means stronger inversion (robust ON behavior), while lower </a:t>
            </a:r>
            <a:r>
              <a:rPr lang="en-US" i="1" dirty="0" err="1" smtClean="0">
                <a:latin typeface="KaTeX_Math"/>
              </a:rPr>
              <a:t>Vov</a:t>
            </a:r>
            <a:r>
              <a:rPr lang="en-US" dirty="0">
                <a:latin typeface="fkGroteskNeue"/>
              </a:rPr>
              <a:t> is weak inversion (subthreshold/leakage).</a:t>
            </a:r>
          </a:p>
          <a:p>
            <a:pPr marL="342900" indent="-342900" algn="just">
              <a:spcBef>
                <a:spcPts val="600"/>
              </a:spcBef>
              <a:spcAft>
                <a:spcPts val="600"/>
              </a:spcAft>
              <a:buFont typeface="Wingdings" panose="05000000000000000000" pitchFamily="2" charset="2"/>
              <a:buChar char="q"/>
            </a:pPr>
            <a:r>
              <a:rPr lang="en-US" dirty="0">
                <a:latin typeface="fkGroteskNeue"/>
              </a:rPr>
              <a:t>By treating </a:t>
            </a:r>
            <a:r>
              <a:rPr lang="en-US" i="1" dirty="0" err="1" smtClean="0">
                <a:latin typeface="KaTeX_Math"/>
              </a:rPr>
              <a:t>Vov</a:t>
            </a:r>
            <a:r>
              <a:rPr lang="en-US" dirty="0">
                <a:latin typeface="fkGroteskNeue"/>
              </a:rPr>
              <a:t> as a design "knob"—something that can be tuned—we turn a complex physics problem into a manageable engineering task.</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92444841"/>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450" y="0"/>
            <a:ext cx="10593196" cy="1046440"/>
          </a:xfrm>
        </p:spPr>
        <p:txBody>
          <a:bodyPr/>
          <a:lstStyle/>
          <a:p>
            <a:r>
              <a:rPr lang="en-US" dirty="0">
                <a:latin typeface="fkGrotesk"/>
              </a:rPr>
              <a:t>The Role of </a:t>
            </a:r>
            <a:r>
              <a:rPr lang="en-US" i="1" dirty="0" smtClean="0">
                <a:latin typeface="KaTeX_Math"/>
              </a:rPr>
              <a:t>gm</a:t>
            </a:r>
            <a:r>
              <a:rPr lang="en-US" dirty="0">
                <a:latin typeface="fkGrotesk"/>
              </a:rPr>
              <a:t>: Connecting Small-Signal Performance to </a:t>
            </a:r>
            <a:r>
              <a:rPr lang="en-US" dirty="0" smtClean="0">
                <a:latin typeface="fkGrotesk"/>
              </a:rPr>
              <a:t>Biasing</a:t>
            </a:r>
            <a:endParaRPr lang="en-US" dirty="0"/>
          </a:p>
        </p:txBody>
      </p:sp>
      <p:sp>
        <p:nvSpPr>
          <p:cNvPr id="3" name="Text Placeholder 2"/>
          <p:cNvSpPr>
            <a:spLocks noGrp="1"/>
          </p:cNvSpPr>
          <p:nvPr>
            <p:ph type="body" idx="1"/>
          </p:nvPr>
        </p:nvSpPr>
        <p:spPr>
          <a:xfrm>
            <a:off x="844550" y="1327353"/>
            <a:ext cx="10598150" cy="3924151"/>
          </a:xfrm>
        </p:spPr>
        <p:txBody>
          <a:bodyPr/>
          <a:lstStyle/>
          <a:p>
            <a:pPr marL="342900" indent="-342900" algn="l">
              <a:spcBef>
                <a:spcPts val="600"/>
              </a:spcBef>
              <a:spcAft>
                <a:spcPts val="600"/>
              </a:spcAft>
              <a:buFont typeface="Wingdings" panose="05000000000000000000" pitchFamily="2" charset="2"/>
              <a:buChar char="q"/>
            </a:pPr>
            <a:r>
              <a:rPr lang="en-US" dirty="0" err="1" smtClean="0">
                <a:latin typeface="fkGroteskNeue"/>
              </a:rPr>
              <a:t>Transconductance</a:t>
            </a:r>
            <a:r>
              <a:rPr lang="en-US" dirty="0" smtClean="0">
                <a:latin typeface="fkGroteskNeue"/>
              </a:rPr>
              <a:t> (</a:t>
            </a:r>
            <a:r>
              <a:rPr lang="en-US" i="1" dirty="0" smtClean="0">
                <a:latin typeface="KaTeX_Math"/>
              </a:rPr>
              <a:t>gm</a:t>
            </a:r>
            <a:r>
              <a:rPr lang="en-US" dirty="0">
                <a:latin typeface="fkGroteskNeue"/>
              </a:rPr>
              <a:t>) is a vital small-signal parameter—it controls the gain and speed of most analog blocks.</a:t>
            </a:r>
          </a:p>
          <a:p>
            <a:pPr marL="342900" indent="-342900" algn="l">
              <a:spcBef>
                <a:spcPts val="600"/>
              </a:spcBef>
              <a:spcAft>
                <a:spcPts val="600"/>
              </a:spcAft>
              <a:buFont typeface="Wingdings" panose="05000000000000000000" pitchFamily="2" charset="2"/>
              <a:buChar char="q"/>
            </a:pPr>
            <a:r>
              <a:rPr lang="en-US" i="1" dirty="0" smtClean="0">
                <a:latin typeface="KaTeX_Math"/>
              </a:rPr>
              <a:t>gm</a:t>
            </a:r>
            <a:r>
              <a:rPr lang="en-US" dirty="0">
                <a:latin typeface="fkGroteskNeue"/>
              </a:rPr>
              <a:t> is defined as the rate at which the drain current </a:t>
            </a:r>
            <a:r>
              <a:rPr lang="en-US" dirty="0" smtClean="0">
                <a:latin typeface="fkGroteskNeue"/>
              </a:rPr>
              <a:t>(</a:t>
            </a:r>
            <a:r>
              <a:rPr lang="en-US" i="1" dirty="0" smtClean="0">
                <a:latin typeface="KaTeX_Math"/>
              </a:rPr>
              <a:t>ID</a:t>
            </a:r>
            <a:r>
              <a:rPr lang="en-US" dirty="0">
                <a:latin typeface="fkGroteskNeue"/>
              </a:rPr>
              <a:t>) changes with gate voltage, or in our new framework, with overdrive voltage</a:t>
            </a:r>
            <a:r>
              <a:rPr lang="en-US" dirty="0" smtClean="0">
                <a:latin typeface="fkGroteskNeue"/>
              </a:rPr>
              <a:t>:</a:t>
            </a: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endParaRPr lang="en-US" dirty="0" smtClean="0">
              <a:latin typeface="fkGroteskNeue"/>
            </a:endParaRP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Intuitive </a:t>
            </a:r>
            <a:r>
              <a:rPr lang="en-US" dirty="0">
                <a:latin typeface="fkGroteskNeue"/>
              </a:rPr>
              <a:t>point: </a:t>
            </a:r>
            <a:r>
              <a:rPr lang="en-US" i="1" dirty="0" smtClean="0">
                <a:latin typeface="KaTeX_Math"/>
              </a:rPr>
              <a:t>gm</a:t>
            </a:r>
            <a:r>
              <a:rPr lang="en-US" dirty="0">
                <a:latin typeface="fkGroteskNeue"/>
              </a:rPr>
              <a:t> grows linearly with </a:t>
            </a:r>
            <a:r>
              <a:rPr lang="en-US" i="1" dirty="0" err="1" smtClean="0">
                <a:latin typeface="KaTeX_Math"/>
              </a:rPr>
              <a:t>Vov</a:t>
            </a:r>
            <a:r>
              <a:rPr lang="en-US" dirty="0">
                <a:latin typeface="fkGroteskNeue"/>
              </a:rPr>
              <a:t> (in long-channel), so by choosing a bias point, you set both DC current and small-signal gain</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708470" y="2934741"/>
            <a:ext cx="2659708" cy="828692"/>
          </a:xfrm>
          <a:prstGeom prst="rect">
            <a:avLst/>
          </a:prstGeom>
        </p:spPr>
      </p:pic>
    </p:spTree>
    <p:extLst>
      <p:ext uri="{BB962C8B-B14F-4D97-AF65-F5344CB8AC3E}">
        <p14:creationId xmlns:p14="http://schemas.microsoft.com/office/powerpoint/2010/main" val="151611585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Linking </a:t>
            </a:r>
            <a:r>
              <a:rPr lang="en-US" i="1" dirty="0" smtClean="0">
                <a:latin typeface="KaTeX_Math"/>
              </a:rPr>
              <a:t>gm</a:t>
            </a:r>
            <a:r>
              <a:rPr lang="en-US" dirty="0">
                <a:latin typeface="fkGrotesk"/>
              </a:rPr>
              <a:t>, </a:t>
            </a:r>
            <a:r>
              <a:rPr lang="en-US" i="1" dirty="0" smtClean="0">
                <a:latin typeface="KaTeX_Math"/>
              </a:rPr>
              <a:t>ID</a:t>
            </a:r>
            <a:r>
              <a:rPr lang="en-US" dirty="0">
                <a:latin typeface="fkGrotesk"/>
              </a:rPr>
              <a:t>, and gm/ID Ratio: Physical Meaning</a:t>
            </a:r>
            <a:br>
              <a:rPr lang="en-US" dirty="0">
                <a:latin typeface="fkGrotesk"/>
              </a:rPr>
            </a:br>
            <a:endParaRPr lang="en-US" dirty="0"/>
          </a:p>
        </p:txBody>
      </p:sp>
      <p:sp>
        <p:nvSpPr>
          <p:cNvPr id="3" name="Text Placeholder 2"/>
          <p:cNvSpPr>
            <a:spLocks noGrp="1"/>
          </p:cNvSpPr>
          <p:nvPr>
            <p:ph type="body" idx="1"/>
          </p:nvPr>
        </p:nvSpPr>
        <p:spPr>
          <a:xfrm>
            <a:off x="844550" y="1327353"/>
            <a:ext cx="10661650" cy="4262705"/>
          </a:xfrm>
        </p:spPr>
        <p:txBody>
          <a:bodyPr/>
          <a:lstStyle/>
          <a:p>
            <a:pPr marL="342900" indent="-342900" algn="l">
              <a:spcBef>
                <a:spcPts val="600"/>
              </a:spcBef>
              <a:spcAft>
                <a:spcPts val="600"/>
              </a:spcAft>
              <a:buFont typeface="Wingdings" panose="05000000000000000000" pitchFamily="2" charset="2"/>
              <a:buChar char="q"/>
            </a:pPr>
            <a:r>
              <a:rPr lang="en-US" dirty="0" smtClean="0">
                <a:latin typeface="fkGroteskNeue"/>
              </a:rPr>
              <a:t>When </a:t>
            </a:r>
            <a:r>
              <a:rPr lang="en-US" dirty="0">
                <a:latin typeface="fkGroteskNeue"/>
              </a:rPr>
              <a:t>you manipulate the equation for </a:t>
            </a:r>
            <a:r>
              <a:rPr lang="en-US" i="1" dirty="0" smtClean="0">
                <a:latin typeface="KaTeX_Math"/>
              </a:rPr>
              <a:t>gm</a:t>
            </a:r>
            <a:r>
              <a:rPr lang="en-US" dirty="0">
                <a:latin typeface="fkGroteskNeue"/>
              </a:rPr>
              <a:t>, you discover</a:t>
            </a:r>
            <a:r>
              <a:rPr lang="en-US" dirty="0" smtClean="0">
                <a:latin typeface="fkGroteskNeue"/>
              </a:rPr>
              <a:t>:</a:t>
            </a:r>
          </a:p>
          <a:p>
            <a:pPr marL="342900" indent="-342900" algn="l">
              <a:spcBef>
                <a:spcPts val="600"/>
              </a:spcBef>
              <a:spcAft>
                <a:spcPts val="600"/>
              </a:spcAft>
              <a:buFont typeface="Wingdings" panose="05000000000000000000" pitchFamily="2" charset="2"/>
              <a:buChar char="q"/>
            </a:pPr>
            <a:endParaRPr lang="en-US" dirty="0" smtClean="0">
              <a:latin typeface="fkGroteskNeue"/>
            </a:endParaRPr>
          </a:p>
          <a:p>
            <a:pPr marL="342900" indent="-342900" algn="l">
              <a:spcBef>
                <a:spcPts val="600"/>
              </a:spcBef>
              <a:spcAft>
                <a:spcPts val="600"/>
              </a:spcAft>
              <a:buFont typeface="Wingdings" panose="05000000000000000000" pitchFamily="2" charset="2"/>
              <a:buChar char="q"/>
            </a:pPr>
            <a:endParaRPr lang="en-US" dirty="0">
              <a:latin typeface="fkGroteskNeue"/>
            </a:endParaRPr>
          </a:p>
          <a:p>
            <a:pPr marL="342900" indent="-342900" algn="l">
              <a:spcBef>
                <a:spcPts val="600"/>
              </a:spcBef>
              <a:spcAft>
                <a:spcPts val="600"/>
              </a:spcAft>
              <a:buFont typeface="Wingdings" panose="05000000000000000000" pitchFamily="2" charset="2"/>
              <a:buChar char="q"/>
            </a:pPr>
            <a:r>
              <a:rPr lang="en-US" dirty="0" smtClean="0">
                <a:latin typeface="fkGroteskNeue"/>
              </a:rPr>
              <a:t>This </a:t>
            </a:r>
            <a:r>
              <a:rPr lang="en-US" dirty="0">
                <a:latin typeface="fkGroteskNeue"/>
              </a:rPr>
              <a:t>ratio is called </a:t>
            </a:r>
            <a:r>
              <a:rPr lang="en-US" dirty="0" err="1">
                <a:latin typeface="fkGroteskNeue"/>
              </a:rPr>
              <a:t>transconductor</a:t>
            </a:r>
            <a:r>
              <a:rPr lang="en-US" dirty="0">
                <a:latin typeface="fkGroteskNeue"/>
              </a:rPr>
              <a:t> efficiency—it tells us “How much small-signal gain do you get per unit bias current?”.</a:t>
            </a:r>
          </a:p>
          <a:p>
            <a:pPr marL="342900" indent="-342900" algn="l">
              <a:spcBef>
                <a:spcPts val="600"/>
              </a:spcBef>
              <a:spcAft>
                <a:spcPts val="600"/>
              </a:spcAft>
              <a:buFont typeface="Wingdings" panose="05000000000000000000" pitchFamily="2" charset="2"/>
              <a:buChar char="q"/>
            </a:pPr>
            <a:r>
              <a:rPr lang="en-US" dirty="0">
                <a:latin typeface="fkGroteskNeue"/>
              </a:rPr>
              <a:t>Fundamental motivation:</a:t>
            </a:r>
          </a:p>
          <a:p>
            <a:pPr marL="742950" lvl="1" indent="-285750" algn="l">
              <a:spcBef>
                <a:spcPts val="600"/>
              </a:spcBef>
              <a:spcAft>
                <a:spcPts val="600"/>
              </a:spcAft>
              <a:buFont typeface="Wingdings" panose="05000000000000000000" pitchFamily="2" charset="2"/>
              <a:buChar char="q"/>
            </a:pPr>
            <a:r>
              <a:rPr lang="en-US" dirty="0">
                <a:latin typeface="fkGroteskNeue"/>
              </a:rPr>
              <a:t>If you want more </a:t>
            </a:r>
            <a:r>
              <a:rPr lang="en-US" i="1" dirty="0" smtClean="0">
                <a:latin typeface="KaTeX_Math"/>
              </a:rPr>
              <a:t>gm</a:t>
            </a:r>
            <a:r>
              <a:rPr lang="en-US" dirty="0">
                <a:latin typeface="fkGroteskNeue"/>
              </a:rPr>
              <a:t>, you can raise current </a:t>
            </a:r>
            <a:r>
              <a:rPr lang="en-US" i="1" dirty="0" smtClean="0">
                <a:latin typeface="KaTeX_Math"/>
              </a:rPr>
              <a:t>ID</a:t>
            </a:r>
            <a:r>
              <a:rPr lang="en-US" dirty="0">
                <a:latin typeface="fkGroteskNeue"/>
              </a:rPr>
              <a:t> or overdrive </a:t>
            </a:r>
            <a:r>
              <a:rPr lang="en-US" i="1" dirty="0" err="1" smtClean="0">
                <a:latin typeface="KaTeX_Math"/>
              </a:rPr>
              <a:t>Vov</a:t>
            </a:r>
            <a:r>
              <a:rPr lang="en-US" dirty="0">
                <a:latin typeface="fkGroteskNeue"/>
              </a:rPr>
              <a:t>; but higher </a:t>
            </a:r>
            <a:r>
              <a:rPr lang="en-US" i="1" dirty="0" err="1" smtClean="0">
                <a:latin typeface="KaTeX_Math"/>
              </a:rPr>
              <a:t>Vov</a:t>
            </a:r>
            <a:r>
              <a:rPr lang="en-US" dirty="0">
                <a:latin typeface="fkGroteskNeue"/>
              </a:rPr>
              <a:t> brings diminishing efficiency.</a:t>
            </a:r>
          </a:p>
          <a:p>
            <a:pPr marL="742950" lvl="1" indent="-285750" algn="l">
              <a:spcBef>
                <a:spcPts val="600"/>
              </a:spcBef>
              <a:spcAft>
                <a:spcPts val="600"/>
              </a:spcAft>
              <a:buFont typeface="Wingdings" panose="05000000000000000000" pitchFamily="2" charset="2"/>
              <a:buChar char="q"/>
            </a:pPr>
            <a:r>
              <a:rPr lang="en-US" dirty="0">
                <a:latin typeface="fkGroteskNeue"/>
              </a:rPr>
              <a:t>By making </a:t>
            </a:r>
            <a:r>
              <a:rPr lang="en-US" i="1" dirty="0" err="1" smtClean="0">
                <a:latin typeface="KaTeX_Math"/>
              </a:rPr>
              <a:t>Vov</a:t>
            </a:r>
            <a:r>
              <a:rPr lang="en-US" dirty="0">
                <a:latin typeface="fkGroteskNeue"/>
              </a:rPr>
              <a:t> a knob, and using gm/ID charts, you have a direct, quantifiable handle on how transistor design choices trade off performance and power.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687330" y="1862650"/>
            <a:ext cx="1073205" cy="635033"/>
          </a:xfrm>
          <a:prstGeom prst="rect">
            <a:avLst/>
          </a:prstGeom>
        </p:spPr>
      </p:pic>
    </p:spTree>
    <p:extLst>
      <p:ext uri="{BB962C8B-B14F-4D97-AF65-F5344CB8AC3E}">
        <p14:creationId xmlns:p14="http://schemas.microsoft.com/office/powerpoint/2010/main" val="3268736531"/>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Stepwise </a:t>
            </a:r>
            <a:r>
              <a:rPr lang="en-US" dirty="0" smtClean="0">
                <a:latin typeface="fkGrotesk"/>
              </a:rPr>
              <a:t>Foundation</a:t>
            </a:r>
            <a:endParaRPr lang="en-US" dirty="0"/>
          </a:p>
        </p:txBody>
      </p:sp>
      <p:sp>
        <p:nvSpPr>
          <p:cNvPr id="3" name="Text Placeholder 2"/>
          <p:cNvSpPr>
            <a:spLocks noGrp="1"/>
          </p:cNvSpPr>
          <p:nvPr>
            <p:ph type="body" idx="1"/>
          </p:nvPr>
        </p:nvSpPr>
        <p:spPr>
          <a:xfrm>
            <a:off x="844550" y="1327353"/>
            <a:ext cx="10636250" cy="4231928"/>
          </a:xfrm>
        </p:spPr>
        <p:txBody>
          <a:bodyPr/>
          <a:lstStyle/>
          <a:p>
            <a:pPr marL="457200" indent="-457200" algn="l">
              <a:spcBef>
                <a:spcPts val="600"/>
              </a:spcBef>
              <a:spcAft>
                <a:spcPts val="600"/>
              </a:spcAft>
              <a:buFont typeface="Wingdings" panose="05000000000000000000" pitchFamily="2" charset="2"/>
              <a:buChar char="q"/>
            </a:pPr>
            <a:r>
              <a:rPr lang="en-US" b="1" dirty="0" smtClean="0">
                <a:solidFill>
                  <a:srgbClr val="C00000"/>
                </a:solidFill>
                <a:latin typeface="fkGroteskNeue"/>
              </a:rPr>
              <a:t>Choose</a:t>
            </a:r>
            <a:r>
              <a:rPr lang="en-US" b="1" dirty="0">
                <a:solidFill>
                  <a:srgbClr val="C00000"/>
                </a:solidFill>
                <a:latin typeface="fkGroteskNeue"/>
              </a:rPr>
              <a:t> </a:t>
            </a:r>
            <a:r>
              <a:rPr lang="en-US" b="1" i="1" dirty="0" err="1" smtClean="0">
                <a:solidFill>
                  <a:srgbClr val="C00000"/>
                </a:solidFill>
                <a:latin typeface="KaTeX_Math"/>
              </a:rPr>
              <a:t>Vov</a:t>
            </a:r>
            <a:r>
              <a:rPr lang="en-US" b="1" dirty="0">
                <a:solidFill>
                  <a:srgbClr val="C00000"/>
                </a:solidFill>
                <a:latin typeface="fkGroteskNeue"/>
              </a:rPr>
              <a:t> as bias variable:</a:t>
            </a:r>
            <a:r>
              <a:rPr lang="en-US" dirty="0">
                <a:latin typeface="fkGroteskNeue"/>
              </a:rPr>
              <a:t/>
            </a:r>
            <a:br>
              <a:rPr lang="en-US" dirty="0">
                <a:latin typeface="fkGroteskNeue"/>
              </a:rPr>
            </a:br>
            <a:r>
              <a:rPr lang="en-US" dirty="0">
                <a:latin typeface="fkGroteskNeue"/>
              </a:rPr>
              <a:t>Focus on controlling </a:t>
            </a:r>
            <a:r>
              <a:rPr lang="en-US" i="1" dirty="0" err="1" smtClean="0">
                <a:latin typeface="KaTeX_Math"/>
              </a:rPr>
              <a:t>Vov</a:t>
            </a:r>
            <a:r>
              <a:rPr lang="en-US" dirty="0">
                <a:latin typeface="fkGroteskNeue"/>
              </a:rPr>
              <a:t>, which is accessible by the gate-source voltage applied and yields predictable control over transistor operation.</a:t>
            </a:r>
          </a:p>
          <a:p>
            <a:pPr marL="457200" indent="-457200" algn="l">
              <a:spcBef>
                <a:spcPts val="600"/>
              </a:spcBef>
              <a:spcAft>
                <a:spcPts val="600"/>
              </a:spcAft>
              <a:buFont typeface="Wingdings" panose="05000000000000000000" pitchFamily="2" charset="2"/>
              <a:buChar char="q"/>
            </a:pPr>
            <a:r>
              <a:rPr lang="en-US" b="1" dirty="0">
                <a:solidFill>
                  <a:srgbClr val="C00000"/>
                </a:solidFill>
                <a:latin typeface="fkGroteskNeue"/>
              </a:rPr>
              <a:t>Recognize </a:t>
            </a:r>
            <a:r>
              <a:rPr lang="en-US" b="1" i="1" dirty="0" smtClean="0">
                <a:solidFill>
                  <a:srgbClr val="C00000"/>
                </a:solidFill>
                <a:latin typeface="KaTeX_Math"/>
              </a:rPr>
              <a:t>gm</a:t>
            </a:r>
            <a:r>
              <a:rPr lang="en-US" b="1" dirty="0">
                <a:solidFill>
                  <a:srgbClr val="C00000"/>
                </a:solidFill>
                <a:latin typeface="fkGroteskNeue"/>
              </a:rPr>
              <a:t> as the key:</a:t>
            </a:r>
            <a:r>
              <a:rPr lang="en-US" dirty="0">
                <a:latin typeface="fkGroteskNeue"/>
              </a:rPr>
              <a:t/>
            </a:r>
            <a:br>
              <a:rPr lang="en-US" dirty="0">
                <a:latin typeface="fkGroteskNeue"/>
              </a:rPr>
            </a:br>
            <a:r>
              <a:rPr lang="en-US" dirty="0">
                <a:latin typeface="fkGroteskNeue"/>
              </a:rPr>
              <a:t>Appreciate that </a:t>
            </a:r>
            <a:r>
              <a:rPr lang="en-US" i="1" dirty="0" smtClean="0">
                <a:latin typeface="KaTeX_Math"/>
              </a:rPr>
              <a:t>gm</a:t>
            </a:r>
            <a:r>
              <a:rPr lang="en-US" dirty="0">
                <a:latin typeface="fkGroteskNeue"/>
              </a:rPr>
              <a:t> is the link to amplifier gain, bandwidth, and speed.</a:t>
            </a:r>
          </a:p>
          <a:p>
            <a:pPr marL="457200" indent="-457200" algn="l">
              <a:spcBef>
                <a:spcPts val="600"/>
              </a:spcBef>
              <a:spcAft>
                <a:spcPts val="600"/>
              </a:spcAft>
              <a:buFont typeface="Wingdings" panose="05000000000000000000" pitchFamily="2" charset="2"/>
              <a:buChar char="q"/>
            </a:pPr>
            <a:r>
              <a:rPr lang="en-US" b="1" dirty="0">
                <a:solidFill>
                  <a:srgbClr val="C00000"/>
                </a:solidFill>
                <a:latin typeface="fkGroteskNeue"/>
              </a:rPr>
              <a:t>Use gm/ID charts:</a:t>
            </a:r>
            <a:r>
              <a:rPr lang="en-US" dirty="0">
                <a:latin typeface="fkGroteskNeue"/>
              </a:rPr>
              <a:t/>
            </a:r>
            <a:br>
              <a:rPr lang="en-US" dirty="0">
                <a:latin typeface="fkGroteskNeue"/>
              </a:rPr>
            </a:br>
            <a:r>
              <a:rPr lang="en-US" dirty="0">
                <a:latin typeface="fkGroteskNeue"/>
              </a:rPr>
              <a:t>Instead of guessing or trial and error, use gm/ID (</a:t>
            </a:r>
            <a:r>
              <a:rPr lang="en-US" dirty="0" err="1">
                <a:latin typeface="fkGroteskNeue"/>
              </a:rPr>
              <a:t>transconductance</a:t>
            </a:r>
            <a:r>
              <a:rPr lang="en-US" dirty="0">
                <a:latin typeface="fkGroteskNeue"/>
              </a:rPr>
              <a:t> efficiency) tables to pick the best bias for performance and power.</a:t>
            </a:r>
          </a:p>
          <a:p>
            <a:pPr marL="457200" indent="-457200" algn="l">
              <a:spcBef>
                <a:spcPts val="600"/>
              </a:spcBef>
              <a:spcAft>
                <a:spcPts val="600"/>
              </a:spcAft>
              <a:buFont typeface="Wingdings" panose="05000000000000000000" pitchFamily="2" charset="2"/>
              <a:buChar char="q"/>
            </a:pPr>
            <a:r>
              <a:rPr lang="en-US" b="1" dirty="0">
                <a:solidFill>
                  <a:srgbClr val="C00000"/>
                </a:solidFill>
                <a:latin typeface="fkGroteskNeue"/>
              </a:rPr>
              <a:t>Understand trade-offs:</a:t>
            </a:r>
            <a:r>
              <a:rPr lang="en-US" dirty="0">
                <a:latin typeface="fkGroteskNeue"/>
              </a:rPr>
              <a:t/>
            </a:r>
            <a:br>
              <a:rPr lang="en-US" dirty="0">
                <a:latin typeface="fkGroteskNeue"/>
              </a:rPr>
            </a:br>
            <a:r>
              <a:rPr lang="en-US" dirty="0">
                <a:latin typeface="fkGroteskNeue"/>
              </a:rPr>
              <a:t>Higher </a:t>
            </a:r>
            <a:r>
              <a:rPr lang="en-US" i="1" dirty="0" err="1" smtClean="0">
                <a:latin typeface="KaTeX_Math"/>
              </a:rPr>
              <a:t>Vov</a:t>
            </a:r>
            <a:r>
              <a:rPr lang="en-US" dirty="0">
                <a:latin typeface="fkGroteskNeue"/>
              </a:rPr>
              <a:t> means stronger ON, but less gm/ID efficiency, while lower </a:t>
            </a:r>
            <a:r>
              <a:rPr lang="en-US" i="1" dirty="0" err="1" smtClean="0">
                <a:latin typeface="KaTeX_Math"/>
              </a:rPr>
              <a:t>Vov</a:t>
            </a:r>
            <a:r>
              <a:rPr lang="en-US" dirty="0">
                <a:latin typeface="fkGroteskNeue"/>
              </a:rPr>
              <a:t> increases gm/ID but may lead to slower circuits or higher mismatch.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725919687"/>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for Adopting This </a:t>
            </a:r>
            <a:r>
              <a:rPr lang="en-US" dirty="0" smtClean="0">
                <a:latin typeface="fkGrotesk"/>
              </a:rPr>
              <a:t>Approach</a:t>
            </a:r>
            <a:endParaRPr lang="en-US" dirty="0"/>
          </a:p>
        </p:txBody>
      </p:sp>
      <p:sp>
        <p:nvSpPr>
          <p:cNvPr id="3" name="Text Placeholder 2"/>
          <p:cNvSpPr>
            <a:spLocks noGrp="1"/>
          </p:cNvSpPr>
          <p:nvPr>
            <p:ph type="body" idx="1"/>
          </p:nvPr>
        </p:nvSpPr>
        <p:spPr>
          <a:xfrm>
            <a:off x="844550" y="1327353"/>
            <a:ext cx="10839450" cy="2539157"/>
          </a:xfrm>
        </p:spPr>
        <p:txBody>
          <a:bodyPr/>
          <a:lstStyle/>
          <a:p>
            <a:pPr marL="342900" indent="-342900" algn="l">
              <a:spcBef>
                <a:spcPts val="600"/>
              </a:spcBef>
              <a:spcAft>
                <a:spcPts val="600"/>
              </a:spcAft>
              <a:buFont typeface="Wingdings" panose="05000000000000000000" pitchFamily="2" charset="2"/>
              <a:buChar char="q"/>
            </a:pPr>
            <a:r>
              <a:rPr lang="en-US" dirty="0" smtClean="0">
                <a:latin typeface="fkGroteskNeue"/>
              </a:rPr>
              <a:t>Converting </a:t>
            </a:r>
            <a:r>
              <a:rPr lang="en-US" dirty="0">
                <a:latin typeface="fkGroteskNeue"/>
              </a:rPr>
              <a:t>physics-centric parameters to engineering-centric “knobs” lets designers combine intuition, process independence, and mathematical rigor.</a:t>
            </a:r>
          </a:p>
          <a:p>
            <a:pPr marL="342900" indent="-342900" algn="l">
              <a:spcBef>
                <a:spcPts val="600"/>
              </a:spcBef>
              <a:spcAft>
                <a:spcPts val="600"/>
              </a:spcAft>
              <a:buFont typeface="Wingdings" panose="05000000000000000000" pitchFamily="2" charset="2"/>
              <a:buChar char="q"/>
            </a:pPr>
            <a:r>
              <a:rPr lang="en-US" dirty="0">
                <a:latin typeface="fkGroteskNeue"/>
              </a:rPr>
              <a:t>gm/ID and </a:t>
            </a:r>
            <a:r>
              <a:rPr lang="en-US" i="1" dirty="0" err="1" smtClean="0">
                <a:latin typeface="KaTeX_Math"/>
              </a:rPr>
              <a:t>Vov</a:t>
            </a:r>
            <a:r>
              <a:rPr lang="en-US" dirty="0">
                <a:latin typeface="fkGroteskNeue"/>
              </a:rPr>
              <a:t> methodologies help designers avoid “blind” simulation or poorly grounded design choices—providing a direct path from desired behavior to practical sizing and bias.</a:t>
            </a:r>
          </a:p>
          <a:p>
            <a:pPr marL="342900" indent="-342900" algn="l">
              <a:spcBef>
                <a:spcPts val="600"/>
              </a:spcBef>
              <a:spcAft>
                <a:spcPts val="600"/>
              </a:spcAft>
              <a:buFont typeface="Wingdings" panose="05000000000000000000" pitchFamily="2" charset="2"/>
              <a:buChar char="q"/>
            </a:pPr>
            <a:r>
              <a:rPr lang="en-US" dirty="0">
                <a:latin typeface="fkGroteskNeue"/>
              </a:rPr>
              <a:t>The methods are not only easy to teach and learn, but transfer well across process technologies and remain robust as devices scale.</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829733" y="3718405"/>
            <a:ext cx="10858500" cy="2169825"/>
          </a:xfrm>
          <a:prstGeom prst="rect">
            <a:avLst/>
          </a:prstGeom>
        </p:spPr>
        <p:txBody>
          <a:bodyPr wrap="square">
            <a:spAutoFit/>
          </a:bodyPr>
          <a:lstStyle/>
          <a:p>
            <a:pPr algn="ctr"/>
            <a:r>
              <a:rPr lang="en-US" sz="2000" b="1" i="0" dirty="0" smtClean="0">
                <a:solidFill>
                  <a:srgbClr val="C00000"/>
                </a:solidFill>
                <a:effectLst/>
                <a:latin typeface="fkGroteskNeue"/>
              </a:rPr>
              <a:t>Summary:</a:t>
            </a:r>
          </a:p>
          <a:p>
            <a:pPr marL="342900" indent="-342900" algn="just">
              <a:spcBef>
                <a:spcPts val="600"/>
              </a:spcBef>
              <a:spcAft>
                <a:spcPts val="600"/>
              </a:spcAft>
              <a:buFont typeface="Wingdings" panose="05000000000000000000" pitchFamily="2" charset="2"/>
              <a:buChar char="q"/>
            </a:pPr>
            <a:r>
              <a:rPr lang="en-US" sz="2000" b="0" i="0" dirty="0" smtClean="0">
                <a:effectLst/>
                <a:latin typeface="fkGroteskNeue"/>
              </a:rPr>
              <a:t>Introducing </a:t>
            </a:r>
            <a:r>
              <a:rPr lang="en-US" sz="2000" b="0" i="1" dirty="0" err="1" smtClean="0">
                <a:effectLst/>
                <a:latin typeface="KaTeX_Math"/>
              </a:rPr>
              <a:t>Vov</a:t>
            </a:r>
            <a:r>
              <a:rPr lang="en-US" sz="2000" b="0" i="0" dirty="0" smtClean="0">
                <a:effectLst/>
                <a:latin typeface="fkGroteskNeue"/>
              </a:rPr>
              <a:t> as a fundamental design variable is motivated by its intuitive “knob-like” control of MOSFET behavior, mathematical convenience, and direct link to small-signal characteristics through </a:t>
            </a:r>
            <a:r>
              <a:rPr lang="en-US" sz="2000" b="0" i="1" dirty="0" smtClean="0">
                <a:effectLst/>
                <a:latin typeface="KaTeX_Math"/>
              </a:rPr>
              <a:t>gm</a:t>
            </a:r>
            <a:r>
              <a:rPr lang="en-US" sz="2000" b="0" i="0" dirty="0" smtClean="0">
                <a:effectLst/>
                <a:latin typeface="fkGroteskNeue"/>
              </a:rPr>
              <a:t> and gm/ID. </a:t>
            </a:r>
          </a:p>
          <a:p>
            <a:pPr marL="342900" indent="-342900" algn="just">
              <a:spcBef>
                <a:spcPts val="600"/>
              </a:spcBef>
              <a:spcAft>
                <a:spcPts val="600"/>
              </a:spcAft>
              <a:buFont typeface="Wingdings" panose="05000000000000000000" pitchFamily="2" charset="2"/>
              <a:buChar char="q"/>
            </a:pPr>
            <a:r>
              <a:rPr lang="en-US" sz="2000" b="0" i="0" dirty="0" smtClean="0">
                <a:effectLst/>
                <a:latin typeface="fkGroteskNeue"/>
              </a:rPr>
              <a:t>This approach empowers designers and students to create high-performance, efficient analog circuits through simple, physically motivated choices</a:t>
            </a:r>
            <a:r>
              <a:rPr lang="en-US" b="0" i="0" dirty="0" smtClean="0">
                <a:effectLst/>
                <a:latin typeface="fkGroteskNeue"/>
              </a:rPr>
              <a:t>.</a:t>
            </a:r>
            <a:endParaRPr lang="en-US" dirty="0"/>
          </a:p>
        </p:txBody>
      </p:sp>
    </p:spTree>
    <p:extLst>
      <p:ext uri="{BB962C8B-B14F-4D97-AF65-F5344CB8AC3E}">
        <p14:creationId xmlns:p14="http://schemas.microsoft.com/office/powerpoint/2010/main" val="3874526676"/>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Systematic Steps: The Power of Constant </a:t>
            </a:r>
            <a:r>
              <a:rPr lang="en-US" i="1" dirty="0" err="1" smtClean="0">
                <a:latin typeface="KaTeX_Math"/>
              </a:rPr>
              <a:t>Vov</a:t>
            </a:r>
            <a:endParaRPr lang="en-US" dirty="0"/>
          </a:p>
        </p:txBody>
      </p:sp>
      <p:sp>
        <p:nvSpPr>
          <p:cNvPr id="3" name="Text Placeholder 2"/>
          <p:cNvSpPr>
            <a:spLocks noGrp="1"/>
          </p:cNvSpPr>
          <p:nvPr>
            <p:ph type="body" idx="1"/>
          </p:nvPr>
        </p:nvSpPr>
        <p:spPr>
          <a:xfrm>
            <a:off x="844549" y="1327353"/>
            <a:ext cx="7173383" cy="2985433"/>
          </a:xfrm>
        </p:spPr>
        <p:txBody>
          <a:bodyPr/>
          <a:lstStyle/>
          <a:p>
            <a:pPr algn="ctr">
              <a:spcBef>
                <a:spcPts val="600"/>
              </a:spcBef>
              <a:spcAft>
                <a:spcPts val="600"/>
              </a:spcAft>
            </a:pPr>
            <a:r>
              <a:rPr lang="en-US" b="1" dirty="0" smtClean="0">
                <a:solidFill>
                  <a:srgbClr val="C00000"/>
                </a:solidFill>
                <a:latin typeface="fkGrotesk"/>
              </a:rPr>
              <a:t>1</a:t>
            </a:r>
            <a:r>
              <a:rPr lang="en-US" b="1" dirty="0">
                <a:solidFill>
                  <a:srgbClr val="C00000"/>
                </a:solidFill>
                <a:latin typeface="fkGrotesk"/>
              </a:rPr>
              <a:t>.</a:t>
            </a:r>
            <a:r>
              <a:rPr lang="en-US" dirty="0">
                <a:latin typeface="fkGrotesk"/>
              </a:rPr>
              <a:t> </a:t>
            </a:r>
            <a:r>
              <a:rPr lang="en-US" b="1" dirty="0">
                <a:solidFill>
                  <a:srgbClr val="C00000"/>
                </a:solidFill>
                <a:latin typeface="fkGrotesk"/>
              </a:rPr>
              <a:t>Circuit Setup and Design Variables</a:t>
            </a:r>
          </a:p>
          <a:p>
            <a:pPr marL="342900" indent="-342900" algn="just">
              <a:spcBef>
                <a:spcPts val="600"/>
              </a:spcBef>
              <a:spcAft>
                <a:spcPts val="600"/>
              </a:spcAft>
              <a:buFont typeface="Wingdings" panose="05000000000000000000" pitchFamily="2" charset="2"/>
              <a:buChar char="q"/>
            </a:pPr>
            <a:r>
              <a:rPr lang="en-US" sz="2200" dirty="0">
                <a:latin typeface="fkGroteskNeue"/>
              </a:rPr>
              <a:t>The example features a simple common-source MOSFET </a:t>
            </a:r>
            <a:r>
              <a:rPr lang="en-US" sz="2200" dirty="0" smtClean="0">
                <a:latin typeface="fkGroteskNeue"/>
              </a:rPr>
              <a:t>amplifier , </a:t>
            </a:r>
            <a:r>
              <a:rPr lang="en-US" sz="2200" dirty="0">
                <a:latin typeface="fkGroteskNeue"/>
              </a:rPr>
              <a:t>with a drain resistor </a:t>
            </a:r>
            <a:r>
              <a:rPr lang="en-US" sz="2200" dirty="0" smtClean="0">
                <a:latin typeface="fkGroteskNeue"/>
              </a:rPr>
              <a:t>(</a:t>
            </a:r>
            <a:r>
              <a:rPr lang="en-US" sz="2200" i="1" dirty="0" smtClean="0">
                <a:latin typeface="KaTeX_Math"/>
              </a:rPr>
              <a:t>RL</a:t>
            </a:r>
            <a:r>
              <a:rPr lang="en-US" sz="2200" dirty="0" smtClean="0">
                <a:latin typeface="KaTeX_Main"/>
              </a:rPr>
              <a:t>=1</a:t>
            </a:r>
            <a:r>
              <a:rPr lang="en-US" sz="2200" i="1" dirty="0" smtClean="0">
                <a:latin typeface="KaTeX_Math"/>
              </a:rPr>
              <a:t>k</a:t>
            </a:r>
            <a:r>
              <a:rPr lang="en-US" sz="2200" dirty="0" smtClean="0">
                <a:latin typeface="KaTeX_Main"/>
              </a:rPr>
              <a:t>Ω</a:t>
            </a:r>
            <a:r>
              <a:rPr lang="en-US" sz="2200" dirty="0">
                <a:latin typeface="fkGroteskNeue"/>
              </a:rPr>
              <a:t>), some bias current </a:t>
            </a:r>
            <a:r>
              <a:rPr lang="en-US" sz="2200" dirty="0" smtClean="0">
                <a:latin typeface="fkGroteskNeue"/>
              </a:rPr>
              <a:t>(</a:t>
            </a:r>
            <a:r>
              <a:rPr lang="en-US" sz="2200" i="1" dirty="0" smtClean="0">
                <a:latin typeface="KaTeX_Math"/>
              </a:rPr>
              <a:t>ID</a:t>
            </a:r>
            <a:r>
              <a:rPr lang="en-US" sz="2200" dirty="0">
                <a:latin typeface="fkGroteskNeue"/>
              </a:rPr>
              <a:t>), and an operating point defined by </a:t>
            </a:r>
            <a:r>
              <a:rPr lang="en-US" sz="2200" i="1" dirty="0" err="1" smtClean="0">
                <a:latin typeface="KaTeX_Math"/>
              </a:rPr>
              <a:t>Vov</a:t>
            </a:r>
            <a:r>
              <a:rPr lang="en-US" sz="2200" dirty="0" smtClean="0">
                <a:latin typeface="KaTeX_Main"/>
              </a:rPr>
              <a:t>=</a:t>
            </a:r>
            <a:r>
              <a:rPr lang="en-US" sz="2200" i="1" dirty="0" err="1" smtClean="0">
                <a:latin typeface="KaTeX_Math"/>
              </a:rPr>
              <a:t>Vgs</a:t>
            </a:r>
            <a:r>
              <a:rPr lang="en-US" sz="2200" dirty="0">
                <a:latin typeface="KaTeX_Main"/>
              </a:rPr>
              <a:t>−</a:t>
            </a:r>
            <a:r>
              <a:rPr lang="en-US" sz="2200" i="1" dirty="0">
                <a:latin typeface="KaTeX_Math"/>
              </a:rPr>
              <a:t>VT</a:t>
            </a:r>
            <a:r>
              <a:rPr lang="en-US" sz="2200" dirty="0">
                <a:latin typeface="fkGroteskNeue"/>
              </a:rPr>
              <a:t>.</a:t>
            </a:r>
          </a:p>
          <a:p>
            <a:pPr marL="342900" indent="-342900" algn="just">
              <a:spcBef>
                <a:spcPts val="600"/>
              </a:spcBef>
              <a:spcAft>
                <a:spcPts val="600"/>
              </a:spcAft>
              <a:buFont typeface="Wingdings" panose="05000000000000000000" pitchFamily="2" charset="2"/>
              <a:buChar char="q"/>
            </a:pPr>
            <a:r>
              <a:rPr lang="en-US" sz="2200" dirty="0">
                <a:latin typeface="fkGroteskNeue"/>
              </a:rPr>
              <a:t>Key insight: By setting </a:t>
            </a:r>
            <a:r>
              <a:rPr lang="en-US" sz="2200" i="1" dirty="0" err="1" smtClean="0">
                <a:latin typeface="KaTeX_Math"/>
              </a:rPr>
              <a:t>Vov</a:t>
            </a:r>
            <a:r>
              <a:rPr lang="en-US" sz="2200" dirty="0">
                <a:latin typeface="fkGroteskNeue"/>
              </a:rPr>
              <a:t> (say, to </a:t>
            </a:r>
            <a:r>
              <a:rPr lang="en-US" sz="2200" dirty="0" smtClean="0">
                <a:latin typeface="KaTeX_Main"/>
              </a:rPr>
              <a:t>300</a:t>
            </a:r>
            <a:r>
              <a:rPr lang="en-US" sz="2200" i="1" dirty="0" smtClean="0">
                <a:latin typeface="KaTeX_Math"/>
              </a:rPr>
              <a:t>mV</a:t>
            </a:r>
            <a:r>
              <a:rPr lang="en-US" sz="2200" dirty="0">
                <a:latin typeface="fkGroteskNeue"/>
              </a:rPr>
              <a:t>) and specifying </a:t>
            </a:r>
            <a:r>
              <a:rPr lang="en-US" sz="2200" i="1" dirty="0" smtClean="0">
                <a:latin typeface="KaTeX_Math"/>
              </a:rPr>
              <a:t>ID</a:t>
            </a:r>
            <a:r>
              <a:rPr lang="en-US" sz="2200" dirty="0">
                <a:latin typeface="fkGroteskNeue"/>
              </a:rPr>
              <a:t> (</a:t>
            </a:r>
            <a:r>
              <a:rPr lang="en-US" sz="2200" dirty="0" smtClean="0">
                <a:latin typeface="fkGroteskNeue"/>
              </a:rPr>
              <a:t>say,</a:t>
            </a:r>
            <a:r>
              <a:rPr lang="en-US" sz="2200" dirty="0" smtClean="0">
                <a:latin typeface="KaTeX_Main"/>
              </a:rPr>
              <a:t>1</a:t>
            </a:r>
            <a:r>
              <a:rPr lang="en-US" sz="2200" i="1" dirty="0" smtClean="0">
                <a:latin typeface="KaTeX_Math"/>
              </a:rPr>
              <a:t>mA</a:t>
            </a:r>
            <a:r>
              <a:rPr lang="en-US" sz="2200" dirty="0">
                <a:latin typeface="fkGroteskNeue"/>
              </a:rPr>
              <a:t>), you lock down the device's bias point.</a:t>
            </a: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119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039042" y="1225508"/>
            <a:ext cx="3434669" cy="2546392"/>
          </a:xfrm>
          <a:prstGeom prst="rect">
            <a:avLst/>
          </a:prstGeom>
        </p:spPr>
      </p:pic>
      <p:sp>
        <p:nvSpPr>
          <p:cNvPr id="8" name="Rectangle 7"/>
          <p:cNvSpPr/>
          <p:nvPr/>
        </p:nvSpPr>
        <p:spPr>
          <a:xfrm>
            <a:off x="9722085" y="3881962"/>
            <a:ext cx="1888659" cy="307777"/>
          </a:xfrm>
          <a:prstGeom prst="rect">
            <a:avLst/>
          </a:prstGeom>
        </p:spPr>
        <p:txBody>
          <a:bodyPr wrap="none">
            <a:spAutoFit/>
          </a:bodyPr>
          <a:lstStyle/>
          <a:p>
            <a:r>
              <a:rPr lang="en-US" sz="1400" b="1" i="0" u="none" strike="noStrike" baseline="0" dirty="0" smtClean="0">
                <a:latin typeface="CMR10"/>
              </a:rPr>
              <a:t>Example CS Circuit.</a:t>
            </a:r>
            <a:endParaRPr lang="en-US" sz="3200" b="1" dirty="0"/>
          </a:p>
        </p:txBody>
      </p:sp>
    </p:spTree>
    <p:extLst>
      <p:ext uri="{BB962C8B-B14F-4D97-AF65-F5344CB8AC3E}">
        <p14:creationId xmlns:p14="http://schemas.microsoft.com/office/powerpoint/2010/main" val="380317109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768350" y="1149553"/>
            <a:ext cx="10712450" cy="2708434"/>
          </a:xfrm>
        </p:spPr>
        <p:txBody>
          <a:bodyPr/>
          <a:lstStyle/>
          <a:p>
            <a:pPr algn="ctr"/>
            <a:r>
              <a:rPr lang="en-US" b="1" dirty="0">
                <a:solidFill>
                  <a:srgbClr val="C00000"/>
                </a:solidFill>
                <a:latin typeface="fkGrotesk"/>
              </a:rPr>
              <a:t>2. Small-Signal Gain </a:t>
            </a:r>
            <a:r>
              <a:rPr lang="en-US" b="1" dirty="0" smtClean="0">
                <a:solidFill>
                  <a:srgbClr val="C00000"/>
                </a:solidFill>
                <a:latin typeface="fkGrotesk"/>
              </a:rPr>
              <a:t>Calculation</a:t>
            </a:r>
          </a:p>
          <a:p>
            <a:pPr marL="800100" lvl="1" indent="-342900">
              <a:spcBef>
                <a:spcPts val="600"/>
              </a:spcBef>
              <a:spcAft>
                <a:spcPts val="600"/>
              </a:spcAft>
              <a:buFont typeface="Wingdings" panose="05000000000000000000" pitchFamily="2" charset="2"/>
              <a:buChar char="q"/>
            </a:pPr>
            <a:r>
              <a:rPr lang="en-US" sz="2400" dirty="0" smtClean="0"/>
              <a:t>The </a:t>
            </a:r>
            <a:r>
              <a:rPr lang="en-US" sz="2400" dirty="0"/>
              <a:t>small-signal output voltage for an input signal </a:t>
            </a:r>
            <a:r>
              <a:rPr lang="en-US" sz="2400" dirty="0" smtClean="0"/>
              <a:t>(</a:t>
            </a:r>
            <a:r>
              <a:rPr lang="en-US" sz="2400" i="1" dirty="0" smtClean="0">
                <a:latin typeface="KaTeX_Math"/>
              </a:rPr>
              <a:t>v</a:t>
            </a:r>
            <a:r>
              <a:rPr lang="en-US" sz="2400" i="1" baseline="-25000" dirty="0" smtClean="0">
                <a:latin typeface="KaTeX_Math"/>
              </a:rPr>
              <a:t>in</a:t>
            </a:r>
            <a:r>
              <a:rPr lang="en-US" sz="2400" dirty="0"/>
              <a:t>) </a:t>
            </a:r>
            <a:r>
              <a:rPr lang="en-US" sz="2400" dirty="0" smtClean="0"/>
              <a:t>is:</a:t>
            </a:r>
          </a:p>
          <a:p>
            <a:pPr lvl="1" algn="ctr">
              <a:spcBef>
                <a:spcPts val="600"/>
              </a:spcBef>
              <a:spcAft>
                <a:spcPts val="600"/>
              </a:spcAft>
            </a:pPr>
            <a:r>
              <a:rPr lang="en-US" sz="2400" i="1" dirty="0" smtClean="0">
                <a:latin typeface="KaTeX_Math"/>
              </a:rPr>
              <a:t>     </a:t>
            </a:r>
            <a:r>
              <a:rPr lang="en-US" sz="2400" i="1" dirty="0" err="1" smtClean="0">
                <a:latin typeface="KaTeX_Math"/>
              </a:rPr>
              <a:t>v</a:t>
            </a:r>
            <a:r>
              <a:rPr lang="en-US" sz="2400" i="1" baseline="-25000" dirty="0" err="1" smtClean="0">
                <a:latin typeface="KaTeX_Math"/>
              </a:rPr>
              <a:t>out</a:t>
            </a:r>
            <a:r>
              <a:rPr lang="en-US" sz="2400" dirty="0" smtClean="0">
                <a:latin typeface="KaTeX_Main"/>
              </a:rPr>
              <a:t>= −</a:t>
            </a:r>
            <a:r>
              <a:rPr lang="en-US" sz="2400" i="1" dirty="0" err="1" smtClean="0">
                <a:latin typeface="KaTeX_Math"/>
              </a:rPr>
              <a:t>i</a:t>
            </a:r>
            <a:r>
              <a:rPr lang="en-US" sz="2400" i="1" baseline="-25000" dirty="0" err="1" smtClean="0">
                <a:latin typeface="KaTeX_Math"/>
              </a:rPr>
              <a:t>s</a:t>
            </a:r>
            <a:r>
              <a:rPr lang="en-US" sz="2400" dirty="0" err="1" smtClean="0">
                <a:latin typeface="KaTeX_Main"/>
              </a:rPr>
              <a:t>⋅</a:t>
            </a:r>
            <a:r>
              <a:rPr lang="en-US" sz="2400" i="1" dirty="0" err="1" smtClean="0">
                <a:latin typeface="KaTeX_Math"/>
              </a:rPr>
              <a:t>R</a:t>
            </a:r>
            <a:r>
              <a:rPr lang="en-US" sz="2400" dirty="0" smtClean="0">
                <a:latin typeface="KaTeX_Main"/>
              </a:rPr>
              <a:t>=−</a:t>
            </a:r>
            <a:r>
              <a:rPr lang="en-US" sz="2400" i="1" dirty="0" smtClean="0">
                <a:latin typeface="KaTeX_Math"/>
              </a:rPr>
              <a:t>v</a:t>
            </a:r>
            <a:r>
              <a:rPr lang="en-US" sz="2400" i="1" baseline="-25000" dirty="0" smtClean="0">
                <a:latin typeface="KaTeX_Math"/>
              </a:rPr>
              <a:t>in</a:t>
            </a:r>
            <a:r>
              <a:rPr lang="en-US" sz="2400" dirty="0" smtClean="0">
                <a:latin typeface="KaTeX_Main"/>
              </a:rPr>
              <a:t>⋅</a:t>
            </a:r>
            <a:r>
              <a:rPr lang="en-US" sz="2400" i="1" dirty="0" smtClean="0">
                <a:latin typeface="KaTeX_Math"/>
              </a:rPr>
              <a:t>g</a:t>
            </a:r>
            <a:r>
              <a:rPr lang="en-US" sz="2400" i="1" baseline="-25000" dirty="0" smtClean="0">
                <a:latin typeface="KaTeX_Math"/>
              </a:rPr>
              <a:t>m</a:t>
            </a:r>
            <a:r>
              <a:rPr lang="en-US" sz="2400" dirty="0" smtClean="0">
                <a:latin typeface="KaTeX_Main"/>
              </a:rPr>
              <a:t>⋅1</a:t>
            </a:r>
            <a:r>
              <a:rPr lang="en-US" sz="2400" i="1" dirty="0" smtClean="0">
                <a:latin typeface="KaTeX_Math"/>
              </a:rPr>
              <a:t>k</a:t>
            </a:r>
            <a:r>
              <a:rPr lang="el-GR" sz="2400" dirty="0" smtClean="0">
                <a:latin typeface="KaTeX_Main"/>
              </a:rPr>
              <a:t>Ω</a:t>
            </a:r>
            <a:endParaRPr lang="en-US" sz="2400" dirty="0" smtClean="0">
              <a:latin typeface="KaTeX_Main"/>
            </a:endParaRPr>
          </a:p>
          <a:p>
            <a:pPr lvl="1">
              <a:spcBef>
                <a:spcPts val="600"/>
              </a:spcBef>
              <a:spcAft>
                <a:spcPts val="600"/>
              </a:spcAft>
            </a:pPr>
            <a:r>
              <a:rPr lang="en-US" sz="2400" dirty="0" smtClean="0"/>
              <a:t>because </a:t>
            </a:r>
            <a:r>
              <a:rPr lang="en-US" sz="2400" dirty="0"/>
              <a:t>the current change due to </a:t>
            </a:r>
            <a:r>
              <a:rPr lang="en-US" sz="2400" i="1" dirty="0" smtClean="0">
                <a:latin typeface="KaTeX_Math"/>
              </a:rPr>
              <a:t>v</a:t>
            </a:r>
            <a:r>
              <a:rPr lang="en-US" sz="2400" i="1" baseline="-25000" dirty="0" smtClean="0">
                <a:latin typeface="KaTeX_Math"/>
              </a:rPr>
              <a:t>in</a:t>
            </a:r>
            <a:r>
              <a:rPr lang="en-US" sz="2400" dirty="0"/>
              <a:t> is amplified by </a:t>
            </a:r>
            <a:r>
              <a:rPr lang="en-US" sz="2400" i="1" dirty="0" smtClean="0">
                <a:latin typeface="KaTeX_Math"/>
              </a:rPr>
              <a:t>g</a:t>
            </a:r>
            <a:r>
              <a:rPr lang="en-US" sz="2400" i="1" baseline="-25000" dirty="0" smtClean="0">
                <a:latin typeface="KaTeX_Math"/>
              </a:rPr>
              <a:t>m</a:t>
            </a:r>
            <a:r>
              <a:rPr lang="en-US" sz="2400" dirty="0"/>
              <a:t> and flows through </a:t>
            </a:r>
            <a:r>
              <a:rPr lang="en-US" sz="2400" i="1" dirty="0" smtClean="0">
                <a:latin typeface="KaTeX_Math"/>
              </a:rPr>
              <a:t>R</a:t>
            </a:r>
            <a:r>
              <a:rPr lang="en-US" sz="2400" i="1" baseline="-25000" dirty="0" smtClean="0">
                <a:latin typeface="KaTeX_Math"/>
              </a:rPr>
              <a:t>L</a:t>
            </a:r>
            <a:r>
              <a:rPr lang="en-US" sz="2400" dirty="0"/>
              <a:t>.</a:t>
            </a:r>
          </a:p>
          <a:p>
            <a:pPr marL="800100" lvl="1" indent="-342900">
              <a:spcBef>
                <a:spcPts val="600"/>
              </a:spcBef>
              <a:spcAft>
                <a:spcPts val="600"/>
              </a:spcAft>
              <a:buFont typeface="Wingdings" panose="05000000000000000000" pitchFamily="2" charset="2"/>
              <a:buChar char="q"/>
            </a:pPr>
            <a:r>
              <a:rPr lang="en-US" sz="2400" dirty="0"/>
              <a:t>Now, calculate </a:t>
            </a:r>
            <a:r>
              <a:rPr lang="en-US" sz="2400" i="1" dirty="0" smtClean="0">
                <a:latin typeface="KaTeX_Math"/>
              </a:rPr>
              <a:t>g</a:t>
            </a:r>
            <a:r>
              <a:rPr lang="en-US" sz="2400" i="1" baseline="-25000" dirty="0" smtClean="0">
                <a:latin typeface="KaTeX_Math"/>
              </a:rPr>
              <a:t>m</a:t>
            </a:r>
            <a:r>
              <a:rPr lang="en-US" sz="2400" dirty="0"/>
              <a:t> from basic principles:</a:t>
            </a:r>
          </a:p>
          <a:p>
            <a:pPr>
              <a:buFont typeface="Arial" panose="020B0604020202020204" pitchFamily="34" charset="0"/>
              <a:buChar char="•"/>
            </a:pPr>
            <a:endParaRPr lang="en-US" dirty="0"/>
          </a:p>
        </p:txBody>
      </p:sp>
      <p:sp>
        <p:nvSpPr>
          <p:cNvPr id="4" name="Footer Placeholder 3"/>
          <p:cNvSpPr>
            <a:spLocks noGrp="1"/>
          </p:cNvSpPr>
          <p:nvPr>
            <p:ph type="ftr" sz="quarter" idx="5"/>
          </p:nvPr>
        </p:nvSpPr>
        <p:spPr>
          <a:xfrm>
            <a:off x="5396144" y="6505391"/>
            <a:ext cx="1368722" cy="2425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78527" y="6445362"/>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909756" y="3522134"/>
            <a:ext cx="6223723" cy="2640987"/>
          </a:xfrm>
          <a:prstGeom prst="rect">
            <a:avLst/>
          </a:prstGeom>
        </p:spPr>
      </p:pic>
    </p:spTree>
    <p:extLst>
      <p:ext uri="{BB962C8B-B14F-4D97-AF65-F5344CB8AC3E}">
        <p14:creationId xmlns:p14="http://schemas.microsoft.com/office/powerpoint/2010/main" val="3001996394"/>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237067" y="1327353"/>
            <a:ext cx="11472333" cy="2846933"/>
          </a:xfrm>
        </p:spPr>
        <p:txBody>
          <a:bodyPr/>
          <a:lstStyle/>
          <a:p>
            <a:pPr algn="ctr"/>
            <a:r>
              <a:rPr lang="en-US" b="1" dirty="0">
                <a:solidFill>
                  <a:srgbClr val="C00000"/>
                </a:solidFill>
                <a:latin typeface="fkGrotesk"/>
              </a:rPr>
              <a:t>3. Programming the Gain: The Designer's Knob</a:t>
            </a:r>
          </a:p>
          <a:p>
            <a:pPr marL="800100" lvl="1" indent="-342900" algn="just">
              <a:spcBef>
                <a:spcPts val="600"/>
              </a:spcBef>
              <a:buFont typeface="Wingdings" panose="05000000000000000000" pitchFamily="2" charset="2"/>
              <a:buChar char="q"/>
            </a:pPr>
            <a:r>
              <a:rPr lang="en-US" sz="2000" dirty="0">
                <a:latin typeface="fkGroteskNeue"/>
              </a:rPr>
              <a:t>Suppose greater gain is required. Simply double </a:t>
            </a:r>
            <a:r>
              <a:rPr lang="en-US" sz="2000" i="1" dirty="0" smtClean="0">
                <a:latin typeface="KaTeX_Math"/>
              </a:rPr>
              <a:t>ID</a:t>
            </a:r>
            <a:r>
              <a:rPr lang="en-US" sz="2000" dirty="0">
                <a:latin typeface="fkGroteskNeue"/>
              </a:rPr>
              <a:t> (to </a:t>
            </a:r>
            <a:r>
              <a:rPr lang="en-US" sz="2000" dirty="0" smtClean="0">
                <a:latin typeface="KaTeX_Main"/>
              </a:rPr>
              <a:t>2</a:t>
            </a:r>
            <a:r>
              <a:rPr lang="en-US" sz="2000" i="1" dirty="0" smtClean="0">
                <a:latin typeface="KaTeX_Math"/>
              </a:rPr>
              <a:t>mA</a:t>
            </a:r>
            <a:r>
              <a:rPr lang="en-US" sz="2000" dirty="0">
                <a:latin typeface="fkGroteskNeue"/>
              </a:rPr>
              <a:t>); with </a:t>
            </a:r>
            <a:r>
              <a:rPr lang="en-US" sz="2000" i="1" dirty="0" err="1" smtClean="0">
                <a:latin typeface="KaTeX_Math"/>
              </a:rPr>
              <a:t>Vov</a:t>
            </a:r>
            <a:r>
              <a:rPr lang="en-US" sz="2000" dirty="0">
                <a:latin typeface="fkGroteskNeue"/>
              </a:rPr>
              <a:t> unchanged</a:t>
            </a:r>
            <a:r>
              <a:rPr lang="en-US" sz="2000" dirty="0" smtClean="0">
                <a:latin typeface="fkGroteskNeue"/>
              </a:rPr>
              <a:t>:</a:t>
            </a:r>
          </a:p>
          <a:p>
            <a:pPr marL="800100" lvl="1" indent="-342900" algn="just">
              <a:spcBef>
                <a:spcPts val="600"/>
              </a:spcBef>
              <a:buFont typeface="Wingdings" panose="05000000000000000000" pitchFamily="2" charset="2"/>
              <a:buChar char="q"/>
            </a:pPr>
            <a:endParaRPr lang="en-US" sz="2000" dirty="0" smtClean="0">
              <a:latin typeface="fkGroteskNeue"/>
            </a:endParaRPr>
          </a:p>
          <a:p>
            <a:pPr marL="800100" lvl="1" indent="-342900" algn="just">
              <a:spcBef>
                <a:spcPts val="600"/>
              </a:spcBef>
              <a:buFont typeface="Wingdings" panose="05000000000000000000" pitchFamily="2" charset="2"/>
              <a:buChar char="q"/>
            </a:pPr>
            <a:endParaRPr lang="en-US" sz="2000" dirty="0">
              <a:latin typeface="fkGroteskNeue"/>
            </a:endParaRPr>
          </a:p>
          <a:p>
            <a:pPr lvl="1" algn="just">
              <a:spcBef>
                <a:spcPts val="600"/>
              </a:spcBef>
            </a:pPr>
            <a:endParaRPr lang="en-US" sz="2000" dirty="0">
              <a:latin typeface="fkGroteskNeue"/>
            </a:endParaRPr>
          </a:p>
          <a:p>
            <a:pPr marL="800100" lvl="1" indent="-342900" algn="just">
              <a:spcBef>
                <a:spcPts val="600"/>
              </a:spcBef>
              <a:buFont typeface="Wingdings" panose="05000000000000000000" pitchFamily="2" charset="2"/>
              <a:buChar char="q"/>
            </a:pPr>
            <a:r>
              <a:rPr lang="en-US" sz="2000" dirty="0" smtClean="0">
                <a:latin typeface="fkGroteskNeue"/>
              </a:rPr>
              <a:t>Intuitive </a:t>
            </a:r>
            <a:r>
              <a:rPr lang="en-US" sz="2000" dirty="0">
                <a:latin typeface="fkGroteskNeue"/>
              </a:rPr>
              <a:t>power: With a fixed </a:t>
            </a:r>
            <a:r>
              <a:rPr lang="en-US" sz="2000" i="1" dirty="0" err="1" smtClean="0">
                <a:latin typeface="KaTeX_Math"/>
              </a:rPr>
              <a:t>Vov</a:t>
            </a:r>
            <a:r>
              <a:rPr lang="en-US" sz="2000" dirty="0">
                <a:latin typeface="fkGroteskNeue"/>
              </a:rPr>
              <a:t>, the gain can be “programmed” by setting </a:t>
            </a:r>
            <a:r>
              <a:rPr lang="en-US" sz="2000" i="1" dirty="0" smtClean="0">
                <a:latin typeface="KaTeX_Math"/>
              </a:rPr>
              <a:t>ID</a:t>
            </a:r>
            <a:r>
              <a:rPr lang="en-US" sz="2000" dirty="0">
                <a:latin typeface="fkGroteskNeue"/>
              </a:rPr>
              <a:t>, making analog design predictable and </a:t>
            </a:r>
            <a:r>
              <a:rPr lang="en-US" sz="2000" dirty="0" err="1">
                <a:latin typeface="fkGroteskNeue"/>
              </a:rPr>
              <a:t>parameterizable</a:t>
            </a:r>
            <a:r>
              <a:rPr lang="en-US" sz="2000" dirty="0">
                <a:latin typeface="fkGroteskNeue"/>
              </a:rPr>
              <a:t>.</a:t>
            </a:r>
          </a:p>
          <a:p>
            <a:endParaRPr lang="en-US" dirty="0"/>
          </a:p>
        </p:txBody>
      </p:sp>
      <p:sp>
        <p:nvSpPr>
          <p:cNvPr id="4" name="Footer Placeholder 3"/>
          <p:cNvSpPr>
            <a:spLocks noGrp="1"/>
          </p:cNvSpPr>
          <p:nvPr>
            <p:ph type="ftr" sz="quarter" idx="5"/>
          </p:nvPr>
        </p:nvSpPr>
        <p:spPr>
          <a:xfrm>
            <a:off x="5413078" y="6632391"/>
            <a:ext cx="1334856" cy="2256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63661" y="6546961"/>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rotWithShape="1">
          <a:blip r:embed="rId2"/>
          <a:srcRect b="6812"/>
          <a:stretch/>
        </p:blipFill>
        <p:spPr>
          <a:xfrm>
            <a:off x="4198345" y="1984345"/>
            <a:ext cx="2701989" cy="1190656"/>
          </a:xfrm>
          <a:prstGeom prst="rect">
            <a:avLst/>
          </a:prstGeom>
        </p:spPr>
      </p:pic>
      <p:sp>
        <p:nvSpPr>
          <p:cNvPr id="8" name="Rectangle 7"/>
          <p:cNvSpPr/>
          <p:nvPr/>
        </p:nvSpPr>
        <p:spPr>
          <a:xfrm>
            <a:off x="143933" y="3876808"/>
            <a:ext cx="11734799" cy="2339102"/>
          </a:xfrm>
          <a:prstGeom prst="rect">
            <a:avLst/>
          </a:prstGeom>
        </p:spPr>
        <p:txBody>
          <a:bodyPr wrap="square">
            <a:spAutoFit/>
          </a:bodyPr>
          <a:lstStyle/>
          <a:p>
            <a:pPr algn="ctr"/>
            <a:r>
              <a:rPr lang="en-US" b="1" i="0" dirty="0" smtClean="0">
                <a:solidFill>
                  <a:srgbClr val="C00000"/>
                </a:solidFill>
                <a:effectLst/>
                <a:latin typeface="fkGrotesk"/>
              </a:rPr>
              <a:t>4. Physical Motivation and Caution</a:t>
            </a:r>
          </a:p>
          <a:p>
            <a:pPr marL="742950" lvl="1" indent="-285750" algn="just">
              <a:spcBef>
                <a:spcPts val="600"/>
              </a:spcBef>
              <a:buFont typeface="Wingdings" panose="05000000000000000000" pitchFamily="2" charset="2"/>
              <a:buChar char="q"/>
            </a:pPr>
            <a:r>
              <a:rPr lang="en-US" b="0" i="0" dirty="0" smtClean="0">
                <a:effectLst/>
                <a:latin typeface="fkGroteskNeue"/>
              </a:rPr>
              <a:t>Setting </a:t>
            </a:r>
            <a:r>
              <a:rPr lang="en-US" b="0" i="1" dirty="0" err="1" smtClean="0">
                <a:effectLst/>
                <a:latin typeface="KaTeX_Math"/>
              </a:rPr>
              <a:t>Vov</a:t>
            </a:r>
            <a:r>
              <a:rPr lang="en-US" b="0" i="0" dirty="0" smtClean="0">
                <a:effectLst/>
                <a:latin typeface="fkGroteskNeue"/>
              </a:rPr>
              <a:t> makes the calculations straightforward, but this seeming simplicity hides important nuances:</a:t>
            </a:r>
          </a:p>
          <a:p>
            <a:pPr marL="1200150" lvl="2" indent="-285750" algn="just">
              <a:spcBef>
                <a:spcPts val="600"/>
              </a:spcBef>
              <a:buFont typeface="Wingdings" panose="05000000000000000000" pitchFamily="2" charset="2"/>
              <a:buChar char="q"/>
            </a:pPr>
            <a:r>
              <a:rPr lang="en-US" b="0" i="0" dirty="0" smtClean="0">
                <a:effectLst/>
                <a:latin typeface="fkGroteskNeue"/>
              </a:rPr>
              <a:t>If lower </a:t>
            </a:r>
            <a:r>
              <a:rPr lang="en-US" b="0" i="1" dirty="0" err="1" smtClean="0">
                <a:effectLst/>
                <a:latin typeface="KaTeX_Math"/>
              </a:rPr>
              <a:t>Vov</a:t>
            </a:r>
            <a:r>
              <a:rPr lang="en-US" b="0" i="0" dirty="0" smtClean="0">
                <a:effectLst/>
                <a:latin typeface="fkGroteskNeue"/>
              </a:rPr>
              <a:t> gives higher gm/ID (so better </a:t>
            </a:r>
            <a:r>
              <a:rPr lang="en-US" b="0" i="0" dirty="0" err="1" smtClean="0">
                <a:effectLst/>
                <a:latin typeface="fkGroteskNeue"/>
              </a:rPr>
              <a:t>transconductance</a:t>
            </a:r>
            <a:r>
              <a:rPr lang="en-US" b="0" i="0" dirty="0" smtClean="0">
                <a:effectLst/>
                <a:latin typeface="fkGroteskNeue"/>
              </a:rPr>
              <a:t> per current), why not make </a:t>
            </a:r>
            <a:r>
              <a:rPr lang="en-US" b="0" i="1" dirty="0" err="1" smtClean="0">
                <a:effectLst/>
                <a:latin typeface="KaTeX_Math"/>
              </a:rPr>
              <a:t>Vov</a:t>
            </a:r>
            <a:r>
              <a:rPr lang="en-US" b="0" i="0" dirty="0" smtClean="0">
                <a:effectLst/>
                <a:latin typeface="fkGroteskNeue"/>
              </a:rPr>
              <a:t> as small as possible (maybe even zero)?</a:t>
            </a:r>
          </a:p>
          <a:p>
            <a:pPr marL="1200150" lvl="2" indent="-285750" algn="just">
              <a:spcBef>
                <a:spcPts val="600"/>
              </a:spcBef>
              <a:buFont typeface="Wingdings" panose="05000000000000000000" pitchFamily="2" charset="2"/>
              <a:buChar char="q"/>
            </a:pPr>
            <a:r>
              <a:rPr lang="en-US" b="0" i="0" dirty="0" smtClean="0">
                <a:effectLst/>
                <a:latin typeface="fkGroteskNeue"/>
              </a:rPr>
              <a:t>If </a:t>
            </a:r>
            <a:r>
              <a:rPr lang="en-US" b="0" i="1" dirty="0" smtClean="0">
                <a:effectLst/>
                <a:latin typeface="KaTeX_Math"/>
              </a:rPr>
              <a:t>Vov</a:t>
            </a:r>
            <a:r>
              <a:rPr lang="en-US" b="0" i="0" dirty="0" smtClean="0">
                <a:effectLst/>
                <a:latin typeface="KaTeX_Main"/>
              </a:rPr>
              <a:t>→0</a:t>
            </a:r>
            <a:r>
              <a:rPr lang="en-US" b="0" i="0" dirty="0" smtClean="0">
                <a:effectLst/>
                <a:latin typeface="fkGroteskNeue"/>
              </a:rPr>
              <a:t>, </a:t>
            </a:r>
            <a:r>
              <a:rPr lang="en-US" b="0" i="1" dirty="0" smtClean="0">
                <a:effectLst/>
                <a:latin typeface="KaTeX_Math"/>
              </a:rPr>
              <a:t>gm</a:t>
            </a:r>
            <a:r>
              <a:rPr lang="en-US" b="0" i="0" dirty="0" smtClean="0">
                <a:effectLst/>
                <a:latin typeface="KaTeX_Main"/>
              </a:rPr>
              <a:t>→∞</a:t>
            </a:r>
            <a:r>
              <a:rPr lang="en-US" b="0" i="0" dirty="0" smtClean="0">
                <a:effectLst/>
                <a:latin typeface="fkGroteskNeue"/>
              </a:rPr>
              <a:t>, implying infinite gain/efficiency—a non-physical result.</a:t>
            </a:r>
          </a:p>
          <a:p>
            <a:pPr marL="742950" lvl="1" indent="-285750" algn="just">
              <a:spcBef>
                <a:spcPts val="600"/>
              </a:spcBef>
              <a:buFont typeface="Wingdings" panose="05000000000000000000" pitchFamily="2" charset="2"/>
              <a:buChar char="q"/>
            </a:pPr>
            <a:r>
              <a:rPr lang="en-US" b="0" i="0" dirty="0" smtClean="0">
                <a:effectLst/>
                <a:latin typeface="fkGroteskNeue"/>
              </a:rPr>
              <a:t>Reality check: Extremely low </a:t>
            </a:r>
            <a:r>
              <a:rPr lang="en-US" b="0" i="1" dirty="0" err="1" smtClean="0">
                <a:effectLst/>
                <a:latin typeface="KaTeX_Math"/>
              </a:rPr>
              <a:t>Vov</a:t>
            </a:r>
            <a:r>
              <a:rPr lang="en-US" b="0" i="0" dirty="0" smtClean="0">
                <a:effectLst/>
                <a:latin typeface="fkGroteskNeue"/>
              </a:rPr>
              <a:t> puts the device in weak inversion—here the long-channel quadratic equations break down, mismatch increases, and the device slows down drastically</a:t>
            </a:r>
            <a:endParaRPr lang="en-US" b="0" i="0" dirty="0">
              <a:effectLst/>
              <a:latin typeface="fkGroteskNeue"/>
            </a:endParaRPr>
          </a:p>
        </p:txBody>
      </p:sp>
    </p:spTree>
    <p:extLst>
      <p:ext uri="{BB962C8B-B14F-4D97-AF65-F5344CB8AC3E}">
        <p14:creationId xmlns:p14="http://schemas.microsoft.com/office/powerpoint/2010/main" val="3507184359"/>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543117" cy="3616375"/>
          </a:xfrm>
        </p:spPr>
        <p:txBody>
          <a:bodyPr/>
          <a:lstStyle/>
          <a:p>
            <a:pPr algn="ctr"/>
            <a:r>
              <a:rPr lang="en-US" b="1" dirty="0">
                <a:solidFill>
                  <a:srgbClr val="C00000"/>
                </a:solidFill>
                <a:latin typeface="fkGrotesk"/>
              </a:rPr>
              <a:t>5. Transit Frequency </a:t>
            </a:r>
            <a:r>
              <a:rPr lang="en-US" b="1" dirty="0" smtClean="0">
                <a:solidFill>
                  <a:srgbClr val="C00000"/>
                </a:solidFill>
                <a:latin typeface="fkGrotesk"/>
              </a:rPr>
              <a:t>(</a:t>
            </a:r>
            <a:r>
              <a:rPr lang="en-US" b="1" i="1" dirty="0" err="1" smtClean="0">
                <a:solidFill>
                  <a:srgbClr val="C00000"/>
                </a:solidFill>
                <a:latin typeface="KaTeX_Math"/>
              </a:rPr>
              <a:t>fT</a:t>
            </a:r>
            <a:r>
              <a:rPr lang="en-US" b="1" dirty="0">
                <a:solidFill>
                  <a:srgbClr val="C00000"/>
                </a:solidFill>
                <a:latin typeface="fkGrotesk"/>
              </a:rPr>
              <a:t>)—Connecting Speed to </a:t>
            </a:r>
            <a:r>
              <a:rPr lang="en-US" b="1" i="1" dirty="0" err="1" smtClean="0">
                <a:solidFill>
                  <a:srgbClr val="C00000"/>
                </a:solidFill>
                <a:latin typeface="KaTeX_Math"/>
              </a:rPr>
              <a:t>Vov</a:t>
            </a:r>
            <a:endParaRPr lang="en-US" b="1" dirty="0">
              <a:solidFill>
                <a:srgbClr val="C00000"/>
              </a:solidFill>
              <a:latin typeface="fkGrotesk"/>
            </a:endParaRPr>
          </a:p>
          <a:p>
            <a:pPr marL="800100" lvl="1" indent="-342900" algn="just">
              <a:spcBef>
                <a:spcPts val="600"/>
              </a:spcBef>
              <a:buFont typeface="Wingdings" panose="05000000000000000000" pitchFamily="2" charset="2"/>
              <a:buChar char="q"/>
            </a:pPr>
            <a:r>
              <a:rPr lang="en-US" sz="2000" dirty="0">
                <a:latin typeface="fkGroteskNeue"/>
              </a:rPr>
              <a:t>To quantify "how fast" the MOSFET responds, use the transit </a:t>
            </a:r>
            <a:r>
              <a:rPr lang="en-US" sz="2000" dirty="0" smtClean="0">
                <a:latin typeface="fkGroteskNeue"/>
              </a:rPr>
              <a:t>frequency:</a:t>
            </a:r>
          </a:p>
          <a:p>
            <a:pPr marL="800100" lvl="1" indent="-342900" algn="just">
              <a:spcBef>
                <a:spcPts val="600"/>
              </a:spcBef>
              <a:buFont typeface="Wingdings" panose="05000000000000000000" pitchFamily="2" charset="2"/>
              <a:buChar char="q"/>
            </a:pPr>
            <a:endParaRPr lang="en-US" sz="2000" dirty="0">
              <a:latin typeface="fkGroteskNeue"/>
            </a:endParaRPr>
          </a:p>
          <a:p>
            <a:pPr marL="800100" lvl="1" indent="-342900" algn="just">
              <a:spcBef>
                <a:spcPts val="600"/>
              </a:spcBef>
              <a:buFont typeface="Wingdings" panose="05000000000000000000" pitchFamily="2" charset="2"/>
              <a:buChar char="q"/>
            </a:pPr>
            <a:endParaRPr lang="en-US" sz="2000" dirty="0" smtClean="0">
              <a:latin typeface="fkGroteskNeue"/>
            </a:endParaRPr>
          </a:p>
          <a:p>
            <a:pPr marL="800100" lvl="1" indent="-342900" algn="just">
              <a:spcBef>
                <a:spcPts val="600"/>
              </a:spcBef>
              <a:buFont typeface="Wingdings" panose="05000000000000000000" pitchFamily="2" charset="2"/>
              <a:buChar char="q"/>
            </a:pPr>
            <a:endParaRPr lang="en-US" sz="2000" dirty="0">
              <a:latin typeface="fkGroteskNeue"/>
            </a:endParaRPr>
          </a:p>
          <a:p>
            <a:pPr lvl="1" algn="just">
              <a:spcBef>
                <a:spcPts val="600"/>
              </a:spcBef>
            </a:pPr>
            <a:endParaRPr lang="en-US" sz="2000" dirty="0">
              <a:latin typeface="fkGroteskNeue"/>
            </a:endParaRPr>
          </a:p>
          <a:p>
            <a:pPr marL="800100" lvl="1" indent="-342900" algn="just">
              <a:spcBef>
                <a:spcPts val="600"/>
              </a:spcBef>
              <a:buFont typeface="Wingdings" panose="05000000000000000000" pitchFamily="2" charset="2"/>
              <a:buChar char="q"/>
            </a:pPr>
            <a:endParaRPr lang="en-US" sz="2000" dirty="0" smtClean="0">
              <a:latin typeface="fkGroteskNeue"/>
            </a:endParaRPr>
          </a:p>
          <a:p>
            <a:pPr marL="800100" lvl="1" indent="-342900" algn="just">
              <a:spcBef>
                <a:spcPts val="600"/>
              </a:spcBef>
              <a:buFont typeface="Wingdings" panose="05000000000000000000" pitchFamily="2" charset="2"/>
              <a:buChar char="q"/>
            </a:pPr>
            <a:r>
              <a:rPr lang="en-US" sz="2000" b="1" dirty="0" smtClean="0">
                <a:solidFill>
                  <a:srgbClr val="00B050"/>
                </a:solidFill>
                <a:latin typeface="fkGroteskNeue"/>
              </a:rPr>
              <a:t>Intuitive </a:t>
            </a:r>
            <a:r>
              <a:rPr lang="en-US" sz="2000" b="1" dirty="0">
                <a:solidFill>
                  <a:srgbClr val="00B050"/>
                </a:solidFill>
                <a:latin typeface="fkGroteskNeue"/>
              </a:rPr>
              <a:t>insight: </a:t>
            </a:r>
            <a:r>
              <a:rPr lang="en-US" sz="2000" dirty="0">
                <a:latin typeface="fkGroteskNeue"/>
              </a:rPr>
              <a:t>Higher </a:t>
            </a:r>
            <a:r>
              <a:rPr lang="en-US" sz="2000" i="1" dirty="0" err="1" smtClean="0">
                <a:latin typeface="KaTeX_Math"/>
              </a:rPr>
              <a:t>Vov</a:t>
            </a:r>
            <a:r>
              <a:rPr lang="en-US" sz="2000" dirty="0">
                <a:latin typeface="fkGroteskNeue"/>
              </a:rPr>
              <a:t> (stronger inversion) means faster transistors; there's a tradeoff between high gain-efficiency (low </a:t>
            </a:r>
            <a:r>
              <a:rPr lang="en-US" sz="2000" i="1" dirty="0" err="1" smtClean="0">
                <a:latin typeface="KaTeX_Math"/>
              </a:rPr>
              <a:t>Vov</a:t>
            </a:r>
            <a:r>
              <a:rPr lang="en-US" sz="2000" dirty="0">
                <a:latin typeface="fkGroteskNeue"/>
              </a:rPr>
              <a:t>) and device speed (high </a:t>
            </a:r>
            <a:r>
              <a:rPr lang="en-US" sz="2000" i="1" dirty="0" err="1" smtClean="0">
                <a:latin typeface="KaTeX_Math"/>
              </a:rPr>
              <a:t>Vov</a:t>
            </a:r>
            <a:r>
              <a:rPr lang="en-US" sz="2000" dirty="0">
                <a:latin typeface="fkGroteskNeue"/>
              </a:rPr>
              <a: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754719" y="2016074"/>
            <a:ext cx="5109607" cy="2047925"/>
          </a:xfrm>
          <a:prstGeom prst="rect">
            <a:avLst/>
          </a:prstGeom>
        </p:spPr>
      </p:pic>
    </p:spTree>
    <p:extLst>
      <p:ext uri="{BB962C8B-B14F-4D97-AF65-F5344CB8AC3E}">
        <p14:creationId xmlns:p14="http://schemas.microsoft.com/office/powerpoint/2010/main" val="2187756735"/>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Takeaways for Intuitive </a:t>
            </a:r>
            <a:r>
              <a:rPr lang="en-US" dirty="0" smtClean="0">
                <a:latin typeface="fkGrotesk"/>
              </a:rPr>
              <a:t>Design</a:t>
            </a:r>
            <a:endParaRPr lang="en-US" dirty="0"/>
          </a:p>
        </p:txBody>
      </p:sp>
      <p:sp>
        <p:nvSpPr>
          <p:cNvPr id="3" name="Text Placeholder 2"/>
          <p:cNvSpPr>
            <a:spLocks noGrp="1"/>
          </p:cNvSpPr>
          <p:nvPr>
            <p:ph type="body" idx="1"/>
          </p:nvPr>
        </p:nvSpPr>
        <p:spPr>
          <a:xfrm>
            <a:off x="844550" y="1327353"/>
            <a:ext cx="10763250" cy="2462213"/>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Constant</a:t>
            </a:r>
            <a:r>
              <a:rPr lang="en-US" dirty="0">
                <a:latin typeface="fkGroteskNeue"/>
              </a:rPr>
              <a:t> </a:t>
            </a:r>
            <a:r>
              <a:rPr lang="en-US" i="1" dirty="0" err="1" smtClean="0">
                <a:latin typeface="KaTeX_Math"/>
              </a:rPr>
              <a:t>Vov</a:t>
            </a:r>
            <a:r>
              <a:rPr lang="en-US" dirty="0">
                <a:latin typeface="fkGroteskNeue"/>
              </a:rPr>
              <a:t> gives repeatable, scalable design: Set one knob, predict the gain, speed, and bias current.</a:t>
            </a:r>
          </a:p>
          <a:p>
            <a:pPr marL="342900" indent="-342900" algn="just">
              <a:spcBef>
                <a:spcPts val="600"/>
              </a:spcBef>
              <a:spcAft>
                <a:spcPts val="600"/>
              </a:spcAft>
              <a:buFont typeface="Wingdings" panose="05000000000000000000" pitchFamily="2" charset="2"/>
              <a:buChar char="q"/>
            </a:pPr>
            <a:r>
              <a:rPr lang="en-US" b="1" dirty="0">
                <a:solidFill>
                  <a:srgbClr val="00B050"/>
                </a:solidFill>
                <a:latin typeface="fkGroteskNeue"/>
              </a:rPr>
              <a:t>gm/ID as a figure-of-merit:</a:t>
            </a:r>
            <a:r>
              <a:rPr lang="en-US" dirty="0">
                <a:latin typeface="fkGroteskNeue"/>
              </a:rPr>
              <a:t> Shows the sweet spot between efficiency (how much gain per current) and speed (how rapidly the circuit responds).</a:t>
            </a:r>
          </a:p>
          <a:p>
            <a:pPr marL="342900" indent="-342900" algn="just">
              <a:spcBef>
                <a:spcPts val="600"/>
              </a:spcBef>
              <a:spcAft>
                <a:spcPts val="600"/>
              </a:spcAft>
              <a:buFont typeface="Wingdings" panose="05000000000000000000" pitchFamily="2" charset="2"/>
              <a:buChar char="q"/>
            </a:pPr>
            <a:r>
              <a:rPr lang="en-US" b="1" dirty="0">
                <a:solidFill>
                  <a:srgbClr val="00B050"/>
                </a:solidFill>
                <a:latin typeface="fkGroteskNeue"/>
              </a:rPr>
              <a:t>Physical reality: </a:t>
            </a:r>
            <a:r>
              <a:rPr lang="en-US" dirty="0">
                <a:latin typeface="fkGroteskNeue"/>
              </a:rPr>
              <a:t>There’s no “free lunch”—making </a:t>
            </a:r>
            <a:r>
              <a:rPr lang="en-US" i="1" dirty="0" err="1" smtClean="0">
                <a:latin typeface="KaTeX_Math"/>
              </a:rPr>
              <a:t>Vov</a:t>
            </a:r>
            <a:r>
              <a:rPr lang="en-US" dirty="0">
                <a:latin typeface="fkGroteskNeue"/>
              </a:rPr>
              <a:t> too low (“infinite efficiency”) leads to slow circuits, high mismatch, instability. Raising </a:t>
            </a:r>
            <a:r>
              <a:rPr lang="en-US" i="1" dirty="0" err="1" smtClean="0">
                <a:latin typeface="KaTeX_Math"/>
              </a:rPr>
              <a:t>Vov</a:t>
            </a:r>
            <a:r>
              <a:rPr lang="en-US" dirty="0">
                <a:latin typeface="fkGroteskNeue"/>
              </a:rPr>
              <a:t> enables higher speeds (useful for fast amplifiers and RF</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13530078"/>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A Stepwise Practical Path for </a:t>
            </a:r>
            <a:r>
              <a:rPr lang="en-US" dirty="0" smtClean="0">
                <a:latin typeface="fkGrotesk"/>
              </a:rPr>
              <a:t>Students</a:t>
            </a:r>
            <a:endParaRPr lang="en-US" dirty="0"/>
          </a:p>
        </p:txBody>
      </p:sp>
      <p:sp>
        <p:nvSpPr>
          <p:cNvPr id="3" name="Text Placeholder 2"/>
          <p:cNvSpPr>
            <a:spLocks noGrp="1"/>
          </p:cNvSpPr>
          <p:nvPr>
            <p:ph type="body" idx="1"/>
          </p:nvPr>
        </p:nvSpPr>
        <p:spPr>
          <a:xfrm>
            <a:off x="844550" y="1327353"/>
            <a:ext cx="11186583" cy="2462213"/>
          </a:xfrm>
        </p:spPr>
        <p:txBody>
          <a:bodyPr/>
          <a:lstStyle/>
          <a:p>
            <a:pPr marL="457200" indent="-457200" algn="just">
              <a:spcBef>
                <a:spcPts val="600"/>
              </a:spcBef>
              <a:buFont typeface="+mj-lt"/>
              <a:buAutoNum type="arabicPeriod"/>
            </a:pPr>
            <a:r>
              <a:rPr lang="en-US" dirty="0" smtClean="0">
                <a:latin typeface="fkGroteskNeue"/>
              </a:rPr>
              <a:t>Pick</a:t>
            </a:r>
            <a:r>
              <a:rPr lang="en-US" dirty="0">
                <a:latin typeface="fkGroteskNeue"/>
              </a:rPr>
              <a:t> </a:t>
            </a:r>
            <a:r>
              <a:rPr lang="en-US" i="1" dirty="0" err="1" smtClean="0">
                <a:latin typeface="KaTeX_Math"/>
              </a:rPr>
              <a:t>Vov</a:t>
            </a:r>
            <a:r>
              <a:rPr lang="en-US" dirty="0">
                <a:latin typeface="fkGroteskNeue"/>
              </a:rPr>
              <a:t> to balance efficiency and speed (commonly 0.2–0.3 V in CMOS).</a:t>
            </a:r>
          </a:p>
          <a:p>
            <a:pPr marL="457200" indent="-457200" algn="just">
              <a:spcBef>
                <a:spcPts val="600"/>
              </a:spcBef>
              <a:buFont typeface="+mj-lt"/>
              <a:buAutoNum type="arabicPeriod"/>
            </a:pPr>
            <a:r>
              <a:rPr lang="en-US" dirty="0">
                <a:latin typeface="fkGroteskNeue"/>
              </a:rPr>
              <a:t>Calculate </a:t>
            </a:r>
            <a:r>
              <a:rPr lang="en-US" i="1" dirty="0" smtClean="0">
                <a:latin typeface="KaTeX_Math"/>
              </a:rPr>
              <a:t>ID</a:t>
            </a:r>
            <a:r>
              <a:rPr lang="en-US" dirty="0">
                <a:latin typeface="fkGroteskNeue"/>
              </a:rPr>
              <a:t> for needed gm/ID and </a:t>
            </a:r>
            <a:r>
              <a:rPr lang="en-US" dirty="0" smtClean="0">
                <a:latin typeface="fkGroteskNeue"/>
              </a:rPr>
              <a:t>gain—</a:t>
            </a:r>
            <a:r>
              <a:rPr lang="en-US" i="1" dirty="0" smtClean="0">
                <a:latin typeface="KaTeX_Math"/>
              </a:rPr>
              <a:t>ID</a:t>
            </a:r>
            <a:r>
              <a:rPr lang="en-US" dirty="0">
                <a:latin typeface="fkGroteskNeue"/>
              </a:rPr>
              <a:t> is your lever for scaling performance.</a:t>
            </a:r>
          </a:p>
          <a:p>
            <a:pPr marL="457200" indent="-457200" algn="just">
              <a:spcBef>
                <a:spcPts val="600"/>
              </a:spcBef>
              <a:buFont typeface="+mj-lt"/>
              <a:buAutoNum type="arabicPeriod"/>
            </a:pPr>
            <a:r>
              <a:rPr lang="en-US" dirty="0">
                <a:latin typeface="fkGroteskNeue"/>
              </a:rPr>
              <a:t>Use the gm/ID chart for modern cells (or long-channel formulas for intuition).</a:t>
            </a:r>
          </a:p>
          <a:p>
            <a:pPr marL="457200" indent="-457200" algn="just">
              <a:spcBef>
                <a:spcPts val="600"/>
              </a:spcBef>
              <a:buFont typeface="+mj-lt"/>
              <a:buAutoNum type="arabicPeriod"/>
            </a:pPr>
            <a:r>
              <a:rPr lang="en-US" dirty="0">
                <a:latin typeface="fkGroteskNeue"/>
              </a:rPr>
              <a:t>Check transit frequency to confirm your speed targets are met.</a:t>
            </a:r>
          </a:p>
          <a:p>
            <a:pPr marL="457200" indent="-457200" algn="just">
              <a:spcBef>
                <a:spcPts val="600"/>
              </a:spcBef>
              <a:buFont typeface="+mj-lt"/>
              <a:buAutoNum type="arabicPeriod"/>
            </a:pPr>
            <a:r>
              <a:rPr lang="en-US" dirty="0">
                <a:latin typeface="fkGroteskNeue"/>
              </a:rPr>
              <a:t>Remember physical limits: low </a:t>
            </a:r>
            <a:r>
              <a:rPr lang="en-US" i="1" dirty="0" err="1" smtClean="0">
                <a:latin typeface="KaTeX_Math"/>
              </a:rPr>
              <a:t>Vov</a:t>
            </a:r>
            <a:r>
              <a:rPr lang="en-US" dirty="0">
                <a:latin typeface="fkGroteskNeue"/>
              </a:rPr>
              <a:t> not always better; design must meet both speed and matching requirements</a:t>
            </a:r>
          </a:p>
          <a:p>
            <a:endParaRPr lang="en-US" dirty="0"/>
          </a:p>
        </p:txBody>
      </p:sp>
      <p:sp>
        <p:nvSpPr>
          <p:cNvPr id="4" name="Footer Placeholder 3"/>
          <p:cNvSpPr>
            <a:spLocks noGrp="1"/>
          </p:cNvSpPr>
          <p:nvPr>
            <p:ph type="ftr" sz="quarter" idx="5"/>
          </p:nvPr>
        </p:nvSpPr>
        <p:spPr>
          <a:xfrm>
            <a:off x="5396144" y="6590058"/>
            <a:ext cx="1360256" cy="2679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546961"/>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440267" y="3660339"/>
            <a:ext cx="11099800" cy="1985159"/>
          </a:xfrm>
          <a:prstGeom prst="rect">
            <a:avLst/>
          </a:prstGeom>
        </p:spPr>
        <p:txBody>
          <a:bodyPr wrap="square">
            <a:spAutoFit/>
          </a:bodyPr>
          <a:lstStyle/>
          <a:p>
            <a:pPr algn="ctr"/>
            <a:r>
              <a:rPr lang="en-US" b="1" i="0" dirty="0" smtClean="0">
                <a:solidFill>
                  <a:srgbClr val="C00000"/>
                </a:solidFill>
                <a:effectLst/>
                <a:latin typeface="fkGroteskNeue"/>
              </a:rPr>
              <a:t>Summary for Motivated Design:</a:t>
            </a:r>
          </a:p>
          <a:p>
            <a:pPr marL="742950" lvl="1" indent="-285750" algn="just">
              <a:spcBef>
                <a:spcPts val="600"/>
              </a:spcBef>
              <a:buFont typeface="Wingdings" panose="05000000000000000000" pitchFamily="2" charset="2"/>
              <a:buChar char="q"/>
            </a:pPr>
            <a:r>
              <a:rPr lang="en-US" b="0" i="0" dirty="0" smtClean="0">
                <a:solidFill>
                  <a:srgbClr val="00B050"/>
                </a:solidFill>
                <a:effectLst/>
                <a:latin typeface="fkGroteskNeue"/>
              </a:rPr>
              <a:t>Fixing </a:t>
            </a:r>
            <a:r>
              <a:rPr lang="en-US" b="0" i="1" dirty="0" err="1" smtClean="0">
                <a:solidFill>
                  <a:srgbClr val="00B050"/>
                </a:solidFill>
                <a:effectLst/>
                <a:latin typeface="KaTeX_Math"/>
              </a:rPr>
              <a:t>Vov</a:t>
            </a:r>
            <a:r>
              <a:rPr lang="en-US" b="0" i="0" dirty="0" smtClean="0">
                <a:solidFill>
                  <a:srgbClr val="00B050"/>
                </a:solidFill>
                <a:effectLst/>
                <a:latin typeface="fkGroteskNeue"/>
              </a:rPr>
              <a:t> makes analog CMOS design clear and direct—enabling immediate calculation of gain and bias, tunable by current. </a:t>
            </a:r>
          </a:p>
          <a:p>
            <a:pPr marL="742950" lvl="1" indent="-285750" algn="just">
              <a:spcBef>
                <a:spcPts val="600"/>
              </a:spcBef>
              <a:buFont typeface="Wingdings" panose="05000000000000000000" pitchFamily="2" charset="2"/>
              <a:buChar char="q"/>
            </a:pPr>
            <a:r>
              <a:rPr lang="en-US" b="0" i="0" dirty="0" smtClean="0">
                <a:solidFill>
                  <a:srgbClr val="00B050"/>
                </a:solidFill>
                <a:effectLst/>
                <a:latin typeface="fkGroteskNeue"/>
              </a:rPr>
              <a:t>Tuning </a:t>
            </a:r>
            <a:r>
              <a:rPr lang="en-US" b="0" i="1" dirty="0" err="1" smtClean="0">
                <a:solidFill>
                  <a:srgbClr val="00B050"/>
                </a:solidFill>
                <a:effectLst/>
                <a:latin typeface="KaTeX_Math"/>
              </a:rPr>
              <a:t>Vov</a:t>
            </a:r>
            <a:r>
              <a:rPr lang="en-US" b="0" i="0" dirty="0" smtClean="0">
                <a:solidFill>
                  <a:srgbClr val="00B050"/>
                </a:solidFill>
                <a:effectLst/>
                <a:latin typeface="fkGroteskNeue"/>
              </a:rPr>
              <a:t> sets the device's balance between efficiency and bandwidth, revealing the deep physical connection between circuit performance and fundamental MOSFET operation. </a:t>
            </a:r>
          </a:p>
          <a:p>
            <a:pPr marL="742950" lvl="1" indent="-285750" algn="just">
              <a:spcBef>
                <a:spcPts val="600"/>
              </a:spcBef>
              <a:buFont typeface="Wingdings" panose="05000000000000000000" pitchFamily="2" charset="2"/>
              <a:buChar char="q"/>
            </a:pPr>
            <a:r>
              <a:rPr lang="en-US" b="0" i="0" dirty="0" smtClean="0">
                <a:solidFill>
                  <a:srgbClr val="00B050"/>
                </a:solidFill>
                <a:effectLst/>
                <a:latin typeface="fkGroteskNeue"/>
              </a:rPr>
              <a:t>This is the core power— and subtlety— of the gm/ID (or </a:t>
            </a:r>
            <a:r>
              <a:rPr lang="en-US" b="0" i="1" dirty="0" err="1" smtClean="0">
                <a:solidFill>
                  <a:srgbClr val="00B050"/>
                </a:solidFill>
                <a:effectLst/>
                <a:latin typeface="KaTeX_Math"/>
              </a:rPr>
              <a:t>Vov</a:t>
            </a:r>
            <a:r>
              <a:rPr lang="en-US" b="0" i="0" dirty="0" smtClean="0">
                <a:solidFill>
                  <a:srgbClr val="00B050"/>
                </a:solidFill>
                <a:effectLst/>
                <a:latin typeface="fkGroteskNeue"/>
              </a:rPr>
              <a:t>) methodology</a:t>
            </a:r>
            <a:r>
              <a:rPr lang="en-US" b="0" i="0" dirty="0" smtClean="0">
                <a:effectLst/>
                <a:latin typeface="fkGroteskNeue"/>
              </a:rPr>
              <a:t>.</a:t>
            </a:r>
            <a:endParaRPr lang="en-US" dirty="0"/>
          </a:p>
        </p:txBody>
      </p:sp>
    </p:spTree>
    <p:extLst>
      <p:ext uri="{BB962C8B-B14F-4D97-AF65-F5344CB8AC3E}">
        <p14:creationId xmlns:p14="http://schemas.microsoft.com/office/powerpoint/2010/main" val="2721151309"/>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g</a:t>
            </a:r>
            <a:r>
              <a:rPr lang="en-US" baseline="-25000" dirty="0">
                <a:latin typeface="fkGrotesk"/>
              </a:rPr>
              <a:t>m</a:t>
            </a:r>
            <a:r>
              <a:rPr lang="en-US" dirty="0">
                <a:latin typeface="fkGrotesk"/>
              </a:rPr>
              <a:t>/I</a:t>
            </a:r>
            <a:r>
              <a:rPr lang="en-US" baseline="-25000" dirty="0">
                <a:latin typeface="fkGrotesk"/>
              </a:rPr>
              <a:t>D</a:t>
            </a:r>
            <a:r>
              <a:rPr lang="en-US" dirty="0">
                <a:latin typeface="fkGrotesk"/>
              </a:rPr>
              <a:t> vs. </a:t>
            </a:r>
            <a:r>
              <a:rPr lang="en-US" i="1" dirty="0" err="1" smtClean="0">
                <a:latin typeface="KaTeX_Math"/>
              </a:rPr>
              <a:t>f</a:t>
            </a:r>
            <a:r>
              <a:rPr lang="en-US" i="1" baseline="-25000" dirty="0" err="1" smtClean="0">
                <a:latin typeface="KaTeX_Math"/>
              </a:rPr>
              <a:t>T</a:t>
            </a:r>
            <a:r>
              <a:rPr lang="en-US" dirty="0">
                <a:latin typeface="fkGrotesk"/>
              </a:rPr>
              <a:t> Tradeoff—The Designer’s </a:t>
            </a:r>
            <a:r>
              <a:rPr lang="en-US" dirty="0" smtClean="0">
                <a:latin typeface="fkGrotesk"/>
              </a:rPr>
              <a:t>Dilemma</a:t>
            </a:r>
            <a:endParaRPr lang="en-US" dirty="0"/>
          </a:p>
        </p:txBody>
      </p:sp>
      <p:sp>
        <p:nvSpPr>
          <p:cNvPr id="3" name="Text Placeholder 2"/>
          <p:cNvSpPr>
            <a:spLocks noGrp="1"/>
          </p:cNvSpPr>
          <p:nvPr>
            <p:ph type="body" idx="1"/>
          </p:nvPr>
        </p:nvSpPr>
        <p:spPr>
          <a:xfrm>
            <a:off x="169334" y="3909687"/>
            <a:ext cx="12022666" cy="2569934"/>
          </a:xfrm>
        </p:spPr>
        <p:txBody>
          <a:bodyPr/>
          <a:lstStyle/>
          <a:p>
            <a:pPr marL="342900" indent="-342900" algn="ctr">
              <a:buFont typeface="Wingdings" panose="05000000000000000000" pitchFamily="2" charset="2"/>
              <a:buChar char="q"/>
            </a:pPr>
            <a:r>
              <a:rPr lang="en-US" sz="1800" b="1" dirty="0" smtClean="0">
                <a:solidFill>
                  <a:srgbClr val="C00000"/>
                </a:solidFill>
                <a:latin typeface="fkGroteskNeue"/>
              </a:rPr>
              <a:t>Critical </a:t>
            </a:r>
            <a:r>
              <a:rPr lang="en-US" sz="1800" b="1" dirty="0">
                <a:solidFill>
                  <a:srgbClr val="C00000"/>
                </a:solidFill>
                <a:latin typeface="fkGroteskNeue"/>
              </a:rPr>
              <a:t>observation: As </a:t>
            </a:r>
            <a:r>
              <a:rPr lang="en-US" sz="1800" b="1" i="1" dirty="0" err="1" smtClean="0">
                <a:solidFill>
                  <a:srgbClr val="C00000"/>
                </a:solidFill>
                <a:latin typeface="KaTeX_Math"/>
              </a:rPr>
              <a:t>Vov</a:t>
            </a:r>
            <a:r>
              <a:rPr lang="en-US" sz="1800" b="1" dirty="0">
                <a:solidFill>
                  <a:srgbClr val="C00000"/>
                </a:solidFill>
                <a:latin typeface="fkGroteskNeue"/>
              </a:rPr>
              <a:t> is decreased,</a:t>
            </a:r>
          </a:p>
          <a:p>
            <a:pPr marL="742950" lvl="1" indent="-285750" algn="l">
              <a:spcBef>
                <a:spcPts val="600"/>
              </a:spcBef>
              <a:spcAft>
                <a:spcPts val="600"/>
              </a:spcAft>
              <a:buFont typeface="Wingdings" panose="05000000000000000000" pitchFamily="2" charset="2"/>
              <a:buChar char="q"/>
            </a:pPr>
            <a:r>
              <a:rPr lang="en-US" sz="1600" b="1" dirty="0" err="1">
                <a:solidFill>
                  <a:srgbClr val="00B050"/>
                </a:solidFill>
                <a:latin typeface="fkGroteskNeue"/>
              </a:rPr>
              <a:t>Transconductance</a:t>
            </a:r>
            <a:r>
              <a:rPr lang="en-US" sz="1600" b="1" dirty="0">
                <a:solidFill>
                  <a:srgbClr val="00B050"/>
                </a:solidFill>
                <a:latin typeface="fkGroteskNeue"/>
              </a:rPr>
              <a:t> efficiency </a:t>
            </a:r>
            <a:r>
              <a:rPr lang="en-US" sz="1600" b="1" dirty="0" smtClean="0">
                <a:solidFill>
                  <a:srgbClr val="00B050"/>
                </a:solidFill>
                <a:latin typeface="fkGroteskNeue"/>
              </a:rPr>
              <a:t>(</a:t>
            </a:r>
            <a:r>
              <a:rPr lang="en-US" sz="1600" b="1" i="1" dirty="0" smtClean="0">
                <a:solidFill>
                  <a:srgbClr val="00B050"/>
                </a:solidFill>
                <a:latin typeface="KaTeX_Math"/>
              </a:rPr>
              <a:t>gm</a:t>
            </a:r>
            <a:r>
              <a:rPr lang="en-US" sz="1600" b="1" dirty="0" smtClean="0">
                <a:solidFill>
                  <a:srgbClr val="00B050"/>
                </a:solidFill>
                <a:latin typeface="KaTeX_Main"/>
              </a:rPr>
              <a:t>/</a:t>
            </a:r>
            <a:r>
              <a:rPr lang="en-US" sz="1600" b="1" i="1" dirty="0" smtClean="0">
                <a:solidFill>
                  <a:srgbClr val="00B050"/>
                </a:solidFill>
                <a:latin typeface="KaTeX_Math"/>
              </a:rPr>
              <a:t>ID</a:t>
            </a:r>
            <a:r>
              <a:rPr lang="en-US" sz="1600" b="1" dirty="0">
                <a:solidFill>
                  <a:srgbClr val="00B050"/>
                </a:solidFill>
                <a:latin typeface="fkGroteskNeue"/>
              </a:rPr>
              <a:t>) increases: </a:t>
            </a:r>
            <a:r>
              <a:rPr lang="en-US" sz="1600" dirty="0">
                <a:latin typeface="fkGroteskNeue"/>
              </a:rPr>
              <a:t>Low power for a given small-signal gain.</a:t>
            </a:r>
          </a:p>
          <a:p>
            <a:pPr marL="742950" lvl="1" indent="-285750" algn="l">
              <a:spcBef>
                <a:spcPts val="600"/>
              </a:spcBef>
              <a:spcAft>
                <a:spcPts val="600"/>
              </a:spcAft>
              <a:buFont typeface="Wingdings" panose="05000000000000000000" pitchFamily="2" charset="2"/>
              <a:buChar char="q"/>
            </a:pPr>
            <a:r>
              <a:rPr lang="en-US" sz="1600" b="1" dirty="0">
                <a:solidFill>
                  <a:srgbClr val="C00000"/>
                </a:solidFill>
                <a:latin typeface="fkGroteskNeue"/>
              </a:rPr>
              <a:t>But transit frequency </a:t>
            </a:r>
            <a:r>
              <a:rPr lang="en-US" sz="1600" b="1" dirty="0" smtClean="0">
                <a:solidFill>
                  <a:srgbClr val="C00000"/>
                </a:solidFill>
                <a:latin typeface="fkGroteskNeue"/>
              </a:rPr>
              <a:t>(</a:t>
            </a:r>
            <a:r>
              <a:rPr lang="en-US" sz="1600" b="1" i="1" dirty="0" err="1" smtClean="0">
                <a:solidFill>
                  <a:srgbClr val="C00000"/>
                </a:solidFill>
                <a:latin typeface="KaTeX_Math"/>
              </a:rPr>
              <a:t>fT</a:t>
            </a:r>
            <a:r>
              <a:rPr lang="en-US" sz="1600" b="1" dirty="0">
                <a:solidFill>
                  <a:srgbClr val="C00000"/>
                </a:solidFill>
                <a:latin typeface="fkGroteskNeue"/>
              </a:rPr>
              <a:t>) decreases: </a:t>
            </a:r>
            <a:r>
              <a:rPr lang="en-US" sz="1600" dirty="0">
                <a:latin typeface="fkGroteskNeue"/>
              </a:rPr>
              <a:t>Slower device, less bandwidth.</a:t>
            </a:r>
          </a:p>
          <a:p>
            <a:pPr marL="342900" indent="-342900" algn="ctr">
              <a:spcBef>
                <a:spcPts val="600"/>
              </a:spcBef>
              <a:spcAft>
                <a:spcPts val="600"/>
              </a:spcAft>
              <a:buFont typeface="Wingdings" panose="05000000000000000000" pitchFamily="2" charset="2"/>
              <a:buChar char="q"/>
            </a:pPr>
            <a:r>
              <a:rPr lang="en-US" sz="1800" b="1" dirty="0">
                <a:solidFill>
                  <a:srgbClr val="C00000"/>
                </a:solidFill>
                <a:latin typeface="fkGroteskNeue"/>
              </a:rPr>
              <a:t>Fundamental tradeoff</a:t>
            </a:r>
            <a:r>
              <a:rPr lang="en-US" sz="1800" b="1" dirty="0" smtClean="0">
                <a:solidFill>
                  <a:srgbClr val="C00000"/>
                </a:solidFill>
                <a:latin typeface="fkGroteskNeue"/>
              </a:rPr>
              <a:t>:</a:t>
            </a:r>
          </a:p>
          <a:p>
            <a:pPr marL="0" lvl="1" algn="ctr">
              <a:spcBef>
                <a:spcPts val="600"/>
              </a:spcBef>
              <a:spcAft>
                <a:spcPts val="600"/>
              </a:spcAft>
            </a:pPr>
            <a:r>
              <a:rPr lang="en-US" sz="1600" dirty="0">
                <a:latin typeface="fkGroteskNeue"/>
              </a:rPr>
              <a:t>You can’t simultaneously maximize </a:t>
            </a:r>
            <a:r>
              <a:rPr lang="en-US" sz="1600" i="1" dirty="0">
                <a:latin typeface="KaTeX_Math"/>
              </a:rPr>
              <a:t>gm</a:t>
            </a:r>
            <a:r>
              <a:rPr lang="en-US" sz="1600" dirty="0">
                <a:latin typeface="KaTeX_Main"/>
              </a:rPr>
              <a:t>/</a:t>
            </a:r>
            <a:r>
              <a:rPr lang="en-US" sz="1600" i="1" dirty="0">
                <a:latin typeface="KaTeX_Math"/>
              </a:rPr>
              <a:t>ID</a:t>
            </a:r>
            <a:r>
              <a:rPr lang="en-US" sz="1600" dirty="0">
                <a:latin typeface="fkGroteskNeue"/>
              </a:rPr>
              <a:t> and </a:t>
            </a:r>
            <a:r>
              <a:rPr lang="en-US" sz="1600" i="1" dirty="0" err="1">
                <a:latin typeface="KaTeX_Math"/>
              </a:rPr>
              <a:t>fT</a:t>
            </a:r>
            <a:r>
              <a:rPr lang="en-US" sz="1600" dirty="0">
                <a:latin typeface="fkGroteskNeue"/>
              </a:rPr>
              <a:t> for a single transistor by tweaking </a:t>
            </a:r>
            <a:r>
              <a:rPr lang="en-US" sz="1600" i="1" dirty="0" err="1" smtClean="0">
                <a:latin typeface="KaTeX_Math"/>
              </a:rPr>
              <a:t>Vov</a:t>
            </a:r>
            <a:r>
              <a:rPr lang="en-US" sz="1600" dirty="0">
                <a:latin typeface="fkGroteskNeue"/>
              </a:rPr>
              <a:t>; you have to choose your priority</a:t>
            </a:r>
            <a:r>
              <a:rPr lang="en-US" sz="1600" dirty="0" smtClean="0">
                <a:latin typeface="fkGroteskNeue"/>
              </a:rPr>
              <a:t>.</a:t>
            </a:r>
            <a:endParaRPr lang="en-US" sz="1600" b="1" dirty="0">
              <a:solidFill>
                <a:srgbClr val="C00000"/>
              </a:solidFill>
              <a:latin typeface="fkGroteskNeue"/>
            </a:endParaRPr>
          </a:p>
          <a:p>
            <a:pPr marL="1257300" lvl="2" indent="-342900" algn="just">
              <a:spcBef>
                <a:spcPts val="600"/>
              </a:spcBef>
              <a:spcAft>
                <a:spcPts val="600"/>
              </a:spcAft>
              <a:buFont typeface="Wingdings" panose="05000000000000000000" pitchFamily="2" charset="2"/>
              <a:buChar char="q"/>
            </a:pPr>
            <a:r>
              <a:rPr lang="en-US" sz="1400" b="1" dirty="0">
                <a:solidFill>
                  <a:srgbClr val="002060"/>
                </a:solidFill>
                <a:latin typeface="fkGroteskNeue"/>
              </a:rPr>
              <a:t>Low </a:t>
            </a:r>
            <a:r>
              <a:rPr lang="en-US" sz="1400" b="1" i="1" dirty="0" err="1" smtClean="0">
                <a:solidFill>
                  <a:srgbClr val="002060"/>
                </a:solidFill>
                <a:latin typeface="KaTeX_Math"/>
              </a:rPr>
              <a:t>Vov</a:t>
            </a:r>
            <a:r>
              <a:rPr lang="en-US" sz="1400" b="1" dirty="0">
                <a:solidFill>
                  <a:srgbClr val="002060"/>
                </a:solidFill>
                <a:latin typeface="fkGroteskNeue"/>
              </a:rPr>
              <a:t>:</a:t>
            </a:r>
            <a:r>
              <a:rPr lang="en-US" sz="1400" dirty="0">
                <a:latin typeface="fkGroteskNeue"/>
              </a:rPr>
              <a:t> High efficiency, but slow speed—good for low-power analog, biasing circuits, current mirrors.</a:t>
            </a:r>
          </a:p>
          <a:p>
            <a:pPr marL="1257300" lvl="2" indent="-342900" algn="just">
              <a:spcBef>
                <a:spcPts val="600"/>
              </a:spcBef>
              <a:spcAft>
                <a:spcPts val="600"/>
              </a:spcAft>
              <a:buFont typeface="Wingdings" panose="05000000000000000000" pitchFamily="2" charset="2"/>
              <a:buChar char="q"/>
            </a:pPr>
            <a:r>
              <a:rPr lang="en-US" sz="1400" b="1" dirty="0">
                <a:solidFill>
                  <a:srgbClr val="002060"/>
                </a:solidFill>
                <a:latin typeface="fkGroteskNeue"/>
              </a:rPr>
              <a:t>High </a:t>
            </a:r>
            <a:r>
              <a:rPr lang="en-US" sz="1400" b="1" i="1" dirty="0" err="1" smtClean="0">
                <a:solidFill>
                  <a:srgbClr val="002060"/>
                </a:solidFill>
                <a:latin typeface="KaTeX_Math"/>
              </a:rPr>
              <a:t>Vov</a:t>
            </a:r>
            <a:r>
              <a:rPr lang="en-US" sz="1400" b="1" dirty="0">
                <a:solidFill>
                  <a:srgbClr val="002060"/>
                </a:solidFill>
                <a:latin typeface="fkGroteskNeue"/>
              </a:rPr>
              <a:t>:</a:t>
            </a:r>
            <a:r>
              <a:rPr lang="en-US" sz="1400" dirty="0">
                <a:latin typeface="fkGroteskNeue"/>
              </a:rPr>
              <a:t> Fast transistors, but less efficient—ideal for speed-critical paths, RF, or high-bandwidth amplifiers</a:t>
            </a:r>
            <a:r>
              <a:rPr lang="en-US" sz="1400" dirty="0" smtClean="0">
                <a:latin typeface="fkGroteskNeue"/>
              </a:rPr>
              <a:t>.</a:t>
            </a:r>
            <a:endParaRPr lang="en-US" sz="1400" dirty="0">
              <a:latin typeface="fkGroteskNeue"/>
            </a:endParaRPr>
          </a:p>
        </p:txBody>
      </p:sp>
      <p:sp>
        <p:nvSpPr>
          <p:cNvPr id="4" name="Footer Placeholder 3"/>
          <p:cNvSpPr>
            <a:spLocks noGrp="1"/>
          </p:cNvSpPr>
          <p:nvPr>
            <p:ph type="ftr" sz="quarter" idx="5"/>
          </p:nvPr>
        </p:nvSpPr>
        <p:spPr>
          <a:xfrm>
            <a:off x="5446944" y="6590058"/>
            <a:ext cx="1427989" cy="2679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090369" y="1219130"/>
            <a:ext cx="3435527" cy="2743341"/>
          </a:xfrm>
          <a:prstGeom prst="rect">
            <a:avLst/>
          </a:prstGeom>
        </p:spPr>
      </p:pic>
      <p:sp>
        <p:nvSpPr>
          <p:cNvPr id="8" name="Rectangle 7"/>
          <p:cNvSpPr/>
          <p:nvPr/>
        </p:nvSpPr>
        <p:spPr>
          <a:xfrm>
            <a:off x="2743201" y="1014569"/>
            <a:ext cx="6722532" cy="369332"/>
          </a:xfrm>
          <a:prstGeom prst="rect">
            <a:avLst/>
          </a:prstGeom>
        </p:spPr>
        <p:txBody>
          <a:bodyPr wrap="square">
            <a:spAutoFit/>
          </a:bodyPr>
          <a:lstStyle/>
          <a:p>
            <a:r>
              <a:rPr lang="en-US" b="1" dirty="0" err="1" smtClean="0">
                <a:solidFill>
                  <a:srgbClr val="C00000"/>
                </a:solidFill>
              </a:rPr>
              <a:t>Vov</a:t>
            </a:r>
            <a:r>
              <a:rPr lang="en-US" b="1" dirty="0" smtClean="0">
                <a:solidFill>
                  <a:srgbClr val="C00000"/>
                </a:solidFill>
              </a:rPr>
              <a:t> controls the tradeoff between </a:t>
            </a:r>
            <a:r>
              <a:rPr lang="en-US" b="1" dirty="0" err="1" smtClean="0">
                <a:solidFill>
                  <a:srgbClr val="C00000"/>
                </a:solidFill>
              </a:rPr>
              <a:t>transconductor</a:t>
            </a:r>
            <a:r>
              <a:rPr lang="en-US" b="1" dirty="0">
                <a:solidFill>
                  <a:srgbClr val="C00000"/>
                </a:solidFill>
              </a:rPr>
              <a:t> </a:t>
            </a:r>
            <a:r>
              <a:rPr lang="en-US" b="1" dirty="0" smtClean="0">
                <a:solidFill>
                  <a:srgbClr val="C00000"/>
                </a:solidFill>
              </a:rPr>
              <a:t>efficiency and </a:t>
            </a:r>
            <a:r>
              <a:rPr lang="en-US" b="1" dirty="0" err="1" smtClean="0">
                <a:solidFill>
                  <a:srgbClr val="C00000"/>
                </a:solidFill>
              </a:rPr>
              <a:t>fT</a:t>
            </a:r>
            <a:r>
              <a:rPr lang="en-US" b="1" dirty="0" smtClean="0">
                <a:solidFill>
                  <a:srgbClr val="C00000"/>
                </a:solidFill>
              </a:rPr>
              <a:t> .</a:t>
            </a:r>
            <a:endParaRPr lang="en-US" b="1" dirty="0">
              <a:solidFill>
                <a:srgbClr val="C00000"/>
              </a:solidFill>
            </a:endParaRPr>
          </a:p>
        </p:txBody>
      </p:sp>
      <p:sp>
        <p:nvSpPr>
          <p:cNvPr id="10" name="Rectangle 9"/>
          <p:cNvSpPr/>
          <p:nvPr/>
        </p:nvSpPr>
        <p:spPr>
          <a:xfrm>
            <a:off x="1" y="1782002"/>
            <a:ext cx="4089399" cy="369332"/>
          </a:xfrm>
          <a:prstGeom prst="rect">
            <a:avLst/>
          </a:prstGeom>
        </p:spPr>
        <p:txBody>
          <a:bodyPr wrap="square">
            <a:spAutoFit/>
          </a:bodyPr>
          <a:lstStyle/>
          <a:p>
            <a:pPr lvl="0" algn="r"/>
            <a:r>
              <a:rPr lang="en-US" dirty="0" smtClean="0">
                <a:solidFill>
                  <a:prstClr val="black"/>
                </a:solidFill>
                <a:latin typeface="fkGroteskNeue"/>
              </a:rPr>
              <a:t>.</a:t>
            </a:r>
            <a:endParaRPr lang="en-US" dirty="0">
              <a:solidFill>
                <a:prstClr val="black"/>
              </a:solidFill>
              <a:latin typeface="fkGroteskNeue"/>
            </a:endParaRPr>
          </a:p>
        </p:txBody>
      </p:sp>
      <p:sp>
        <p:nvSpPr>
          <p:cNvPr id="11" name="Rectangle 10"/>
          <p:cNvSpPr/>
          <p:nvPr/>
        </p:nvSpPr>
        <p:spPr>
          <a:xfrm>
            <a:off x="7145867" y="1299402"/>
            <a:ext cx="5046134" cy="646331"/>
          </a:xfrm>
          <a:prstGeom prst="rect">
            <a:avLst/>
          </a:prstGeom>
        </p:spPr>
        <p:txBody>
          <a:bodyPr wrap="square">
            <a:spAutoFit/>
          </a:bodyPr>
          <a:lstStyle/>
          <a:p>
            <a:pPr algn="just"/>
            <a:r>
              <a:rPr lang="en-US" b="1" dirty="0">
                <a:solidFill>
                  <a:srgbClr val="00B050"/>
                </a:solidFill>
                <a:latin typeface="fkGroteskNeue"/>
              </a:rPr>
              <a:t>The </a:t>
            </a:r>
            <a:r>
              <a:rPr lang="en-US" b="1" dirty="0" smtClean="0">
                <a:solidFill>
                  <a:srgbClr val="00B050"/>
                </a:solidFill>
                <a:latin typeface="fkGroteskNeue"/>
              </a:rPr>
              <a:t>green curve shows</a:t>
            </a:r>
            <a:r>
              <a:rPr lang="en-US" b="1" dirty="0">
                <a:solidFill>
                  <a:srgbClr val="00B050"/>
                </a:solidFill>
                <a:latin typeface="fkGroteskNeue"/>
              </a:rPr>
              <a:t> </a:t>
            </a:r>
            <a:r>
              <a:rPr lang="en-US" b="1" i="1" dirty="0" err="1">
                <a:solidFill>
                  <a:srgbClr val="00B050"/>
                </a:solidFill>
                <a:latin typeface="KaTeX_Math"/>
              </a:rPr>
              <a:t>fT</a:t>
            </a:r>
            <a:r>
              <a:rPr lang="en-US" b="1" dirty="0">
                <a:solidFill>
                  <a:srgbClr val="00B050"/>
                </a:solidFill>
                <a:latin typeface="fkGroteskNeue"/>
              </a:rPr>
              <a:t> </a:t>
            </a:r>
            <a:r>
              <a:rPr lang="en-US" b="1" dirty="0" smtClean="0">
                <a:solidFill>
                  <a:srgbClr val="00B050"/>
                </a:solidFill>
                <a:latin typeface="fkGroteskNeue"/>
              </a:rPr>
              <a:t>(</a:t>
            </a:r>
            <a:r>
              <a:rPr lang="en-US" b="1" dirty="0">
                <a:solidFill>
                  <a:srgbClr val="00B050"/>
                </a:solidFill>
                <a:latin typeface="fkGroteskNeue"/>
              </a:rPr>
              <a:t>transistor speed) versus </a:t>
            </a:r>
            <a:r>
              <a:rPr lang="en-US" b="1" i="1" dirty="0" err="1">
                <a:solidFill>
                  <a:srgbClr val="00B050"/>
                </a:solidFill>
                <a:latin typeface="KaTeX_Math"/>
              </a:rPr>
              <a:t>Vov</a:t>
            </a:r>
            <a:r>
              <a:rPr lang="en-US" b="1" dirty="0">
                <a:solidFill>
                  <a:srgbClr val="00B050"/>
                </a:solidFill>
                <a:latin typeface="fkGroteskNeue"/>
              </a:rPr>
              <a:t> for </a:t>
            </a:r>
            <a:r>
              <a:rPr lang="en-US" b="1" dirty="0" smtClean="0">
                <a:solidFill>
                  <a:srgbClr val="00B050"/>
                </a:solidFill>
                <a:latin typeface="fkGroteskNeue"/>
              </a:rPr>
              <a:t>the </a:t>
            </a:r>
            <a:r>
              <a:rPr lang="en-US" b="1" dirty="0">
                <a:solidFill>
                  <a:srgbClr val="00B050"/>
                </a:solidFill>
                <a:latin typeface="fkGroteskNeue"/>
              </a:rPr>
              <a:t>same device</a:t>
            </a:r>
            <a:r>
              <a:rPr lang="en-US" dirty="0">
                <a:latin typeface="fkGroteskNeue"/>
              </a:rPr>
              <a:t>.</a:t>
            </a:r>
          </a:p>
        </p:txBody>
      </p:sp>
      <p:sp>
        <p:nvSpPr>
          <p:cNvPr id="12" name="Rectangle 11"/>
          <p:cNvSpPr/>
          <p:nvPr/>
        </p:nvSpPr>
        <p:spPr>
          <a:xfrm>
            <a:off x="0" y="1392534"/>
            <a:ext cx="4258733" cy="923330"/>
          </a:xfrm>
          <a:prstGeom prst="rect">
            <a:avLst/>
          </a:prstGeom>
        </p:spPr>
        <p:txBody>
          <a:bodyPr wrap="square">
            <a:spAutoFit/>
          </a:bodyPr>
          <a:lstStyle/>
          <a:p>
            <a:pPr lvl="0" algn="ctr"/>
            <a:r>
              <a:rPr lang="en-US" dirty="0">
                <a:solidFill>
                  <a:srgbClr val="0070C0"/>
                </a:solidFill>
                <a:latin typeface="fkGroteskNeue"/>
              </a:rPr>
              <a:t>The blue curve shows </a:t>
            </a:r>
            <a:r>
              <a:rPr lang="en-US" i="1" dirty="0">
                <a:solidFill>
                  <a:srgbClr val="0070C0"/>
                </a:solidFill>
                <a:latin typeface="KaTeX_Math"/>
              </a:rPr>
              <a:t>gm/ID</a:t>
            </a:r>
            <a:r>
              <a:rPr lang="en-US" dirty="0">
                <a:solidFill>
                  <a:srgbClr val="0070C0"/>
                </a:solidFill>
                <a:latin typeface="fkGroteskNeue"/>
              </a:rPr>
              <a:t> </a:t>
            </a:r>
            <a:r>
              <a:rPr lang="en-US" dirty="0" smtClean="0">
                <a:solidFill>
                  <a:srgbClr val="0070C0"/>
                </a:solidFill>
                <a:latin typeface="fkGroteskNeue"/>
              </a:rPr>
              <a:t>(</a:t>
            </a:r>
            <a:r>
              <a:rPr lang="en-US" dirty="0" err="1">
                <a:solidFill>
                  <a:srgbClr val="0070C0"/>
                </a:solidFill>
                <a:latin typeface="fkGroteskNeue"/>
              </a:rPr>
              <a:t>transconductor</a:t>
            </a:r>
            <a:r>
              <a:rPr lang="en-US" dirty="0">
                <a:solidFill>
                  <a:srgbClr val="0070C0"/>
                </a:solidFill>
                <a:latin typeface="fkGroteskNeue"/>
              </a:rPr>
              <a:t> efficiency) </a:t>
            </a:r>
            <a:r>
              <a:rPr lang="en-US" dirty="0" smtClean="0">
                <a:solidFill>
                  <a:srgbClr val="0070C0"/>
                </a:solidFill>
                <a:latin typeface="fkGroteskNeue"/>
              </a:rPr>
              <a:t>as </a:t>
            </a:r>
            <a:r>
              <a:rPr lang="en-US" dirty="0">
                <a:solidFill>
                  <a:srgbClr val="0070C0"/>
                </a:solidFill>
                <a:latin typeface="fkGroteskNeue"/>
              </a:rPr>
              <a:t>a function of overdrive voltage </a:t>
            </a:r>
            <a:r>
              <a:rPr lang="en-US" i="1" dirty="0" err="1">
                <a:solidFill>
                  <a:srgbClr val="0070C0"/>
                </a:solidFill>
                <a:latin typeface="KaTeX_Math"/>
              </a:rPr>
              <a:t>Vov</a:t>
            </a:r>
            <a:endParaRPr lang="en-US" dirty="0">
              <a:solidFill>
                <a:srgbClr val="0070C0"/>
              </a:solidFill>
            </a:endParaRPr>
          </a:p>
        </p:txBody>
      </p:sp>
      <p:sp>
        <p:nvSpPr>
          <p:cNvPr id="13" name="Rectangle 12"/>
          <p:cNvSpPr/>
          <p:nvPr/>
        </p:nvSpPr>
        <p:spPr>
          <a:xfrm>
            <a:off x="7569200" y="2354015"/>
            <a:ext cx="4504266" cy="1046440"/>
          </a:xfrm>
          <a:prstGeom prst="rect">
            <a:avLst/>
          </a:prstGeom>
        </p:spPr>
        <p:txBody>
          <a:bodyPr wrap="square">
            <a:spAutoFit/>
          </a:bodyPr>
          <a:lstStyle/>
          <a:p>
            <a:pPr lvl="0" algn="just">
              <a:spcBef>
                <a:spcPts val="600"/>
              </a:spcBef>
              <a:spcAft>
                <a:spcPts val="600"/>
              </a:spcAft>
            </a:pPr>
            <a:r>
              <a:rPr lang="en-US" sz="1400" kern="0" dirty="0">
                <a:solidFill>
                  <a:prstClr val="black"/>
                </a:solidFill>
                <a:latin typeface="fkGroteskNeue"/>
              </a:rPr>
              <a:t>The green curve shows transit frequency (</a:t>
            </a:r>
            <a:r>
              <a:rPr lang="en-US" sz="1400" i="1" kern="0" dirty="0" err="1">
                <a:solidFill>
                  <a:prstClr val="black"/>
                </a:solidFill>
                <a:latin typeface="KaTeX_Math"/>
              </a:rPr>
              <a:t>fT</a:t>
            </a:r>
            <a:r>
              <a:rPr lang="en-US" sz="1400" kern="0" dirty="0">
                <a:solidFill>
                  <a:prstClr val="black"/>
                </a:solidFill>
                <a:latin typeface="fkGroteskNeue"/>
              </a:rPr>
              <a:t>), a measure of how fast the transistor can operate.</a:t>
            </a:r>
          </a:p>
          <a:p>
            <a:pPr marL="285750" indent="-285750" algn="just">
              <a:spcBef>
                <a:spcPts val="600"/>
              </a:spcBef>
              <a:spcAft>
                <a:spcPts val="600"/>
              </a:spcAft>
              <a:buFont typeface="Wingdings" panose="05000000000000000000" pitchFamily="2" charset="2"/>
              <a:buChar char="q"/>
            </a:pPr>
            <a:r>
              <a:rPr lang="en-US" sz="1200" kern="0" dirty="0">
                <a:solidFill>
                  <a:sysClr val="windowText" lastClr="000000"/>
                </a:solidFill>
                <a:latin typeface="fkGroteskNeue"/>
              </a:rPr>
              <a:t>As </a:t>
            </a:r>
            <a:r>
              <a:rPr lang="en-US" sz="1200" i="1" kern="0" dirty="0" err="1">
                <a:solidFill>
                  <a:sysClr val="windowText" lastClr="000000"/>
                </a:solidFill>
                <a:latin typeface="KaTeX_Math"/>
              </a:rPr>
              <a:t>Vov</a:t>
            </a:r>
            <a:r>
              <a:rPr lang="en-US" sz="1200" kern="0" dirty="0">
                <a:solidFill>
                  <a:sysClr val="windowText" lastClr="000000"/>
                </a:solidFill>
                <a:latin typeface="fkGroteskNeue"/>
              </a:rPr>
              <a:t> increases, the device speed increases—crucial if your block needs high bandwidth or needs to work at RF.</a:t>
            </a:r>
          </a:p>
        </p:txBody>
      </p:sp>
      <p:sp>
        <p:nvSpPr>
          <p:cNvPr id="14" name="Rectangle 13"/>
          <p:cNvSpPr/>
          <p:nvPr/>
        </p:nvSpPr>
        <p:spPr>
          <a:xfrm>
            <a:off x="118534" y="2327126"/>
            <a:ext cx="4055533" cy="1446550"/>
          </a:xfrm>
          <a:prstGeom prst="rect">
            <a:avLst/>
          </a:prstGeom>
        </p:spPr>
        <p:txBody>
          <a:bodyPr wrap="square">
            <a:spAutoFit/>
          </a:bodyPr>
          <a:lstStyle/>
          <a:p>
            <a:pPr lvl="0" algn="just">
              <a:spcBef>
                <a:spcPts val="600"/>
              </a:spcBef>
              <a:spcAft>
                <a:spcPts val="600"/>
              </a:spcAft>
            </a:pPr>
            <a:r>
              <a:rPr lang="en-US" sz="1400" kern="0" dirty="0">
                <a:solidFill>
                  <a:prstClr val="black"/>
                </a:solidFill>
                <a:latin typeface="fkGroteskNeue"/>
              </a:rPr>
              <a:t>The blue curve represents </a:t>
            </a:r>
            <a:r>
              <a:rPr lang="en-US" sz="1400" kern="0" dirty="0" err="1">
                <a:solidFill>
                  <a:prstClr val="black"/>
                </a:solidFill>
                <a:latin typeface="fkGroteskNeue"/>
              </a:rPr>
              <a:t>transconductance</a:t>
            </a:r>
            <a:r>
              <a:rPr lang="en-US" sz="1400" kern="0" dirty="0">
                <a:solidFill>
                  <a:prstClr val="black"/>
                </a:solidFill>
                <a:latin typeface="fkGroteskNeue"/>
              </a:rPr>
              <a:t> efficiency (</a:t>
            </a:r>
            <a:r>
              <a:rPr lang="en-US" sz="1400" i="1" kern="0" dirty="0">
                <a:solidFill>
                  <a:prstClr val="black"/>
                </a:solidFill>
                <a:latin typeface="KaTeX_Math"/>
              </a:rPr>
              <a:t>g</a:t>
            </a:r>
            <a:r>
              <a:rPr lang="en-US" sz="1400" i="1" kern="0" baseline="-25000" dirty="0">
                <a:solidFill>
                  <a:prstClr val="black"/>
                </a:solidFill>
                <a:latin typeface="KaTeX_Math"/>
              </a:rPr>
              <a:t>m</a:t>
            </a:r>
            <a:r>
              <a:rPr lang="en-US" sz="1400" kern="0" dirty="0">
                <a:solidFill>
                  <a:prstClr val="black"/>
                </a:solidFill>
                <a:latin typeface="KaTeX_Main"/>
              </a:rPr>
              <a:t>/</a:t>
            </a:r>
            <a:r>
              <a:rPr lang="en-US" sz="1400" i="1" kern="0" dirty="0">
                <a:solidFill>
                  <a:prstClr val="black"/>
                </a:solidFill>
                <a:latin typeface="KaTeX_Math"/>
              </a:rPr>
              <a:t>I</a:t>
            </a:r>
            <a:r>
              <a:rPr lang="en-US" sz="1400" i="1" kern="0" baseline="-25000" dirty="0">
                <a:solidFill>
                  <a:prstClr val="black"/>
                </a:solidFill>
                <a:latin typeface="KaTeX_Math"/>
              </a:rPr>
              <a:t>D</a:t>
            </a:r>
            <a:r>
              <a:rPr lang="en-US" sz="1400" kern="0" dirty="0">
                <a:solidFill>
                  <a:prstClr val="black"/>
                </a:solidFill>
                <a:latin typeface="fkGroteskNeue"/>
              </a:rPr>
              <a:t>), showing how much small-signal gain you get per unit bias current.</a:t>
            </a:r>
          </a:p>
          <a:p>
            <a:pPr marL="285750" indent="-285750" algn="just">
              <a:spcBef>
                <a:spcPts val="600"/>
              </a:spcBef>
              <a:spcAft>
                <a:spcPts val="600"/>
              </a:spcAft>
              <a:buFont typeface="Wingdings" panose="05000000000000000000" pitchFamily="2" charset="2"/>
              <a:buChar char="q"/>
            </a:pPr>
            <a:r>
              <a:rPr lang="en-US" sz="1200" kern="0" dirty="0">
                <a:solidFill>
                  <a:sysClr val="windowText" lastClr="000000"/>
                </a:solidFill>
                <a:latin typeface="fkGroteskNeue"/>
              </a:rPr>
              <a:t>As </a:t>
            </a:r>
            <a:r>
              <a:rPr lang="en-US" sz="1200" i="1" kern="0" dirty="0" err="1">
                <a:solidFill>
                  <a:sysClr val="windowText" lastClr="000000"/>
                </a:solidFill>
                <a:latin typeface="KaTeX_Math"/>
              </a:rPr>
              <a:t>Vov</a:t>
            </a:r>
            <a:r>
              <a:rPr lang="en-US" sz="1200" kern="0" dirty="0">
                <a:solidFill>
                  <a:sysClr val="windowText" lastClr="000000"/>
                </a:solidFill>
                <a:latin typeface="fkGroteskNeue"/>
              </a:rPr>
              <a:t> (overdrive voltage) gets smaller, efficiency increases—very desirable for ultra-low power circuits, bias blocks, and precision current mirrors.</a:t>
            </a:r>
          </a:p>
        </p:txBody>
      </p:sp>
    </p:spTree>
    <p:extLst>
      <p:ext uri="{BB962C8B-B14F-4D97-AF65-F5344CB8AC3E}">
        <p14:creationId xmlns:p14="http://schemas.microsoft.com/office/powerpoint/2010/main" val="237373563"/>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gm/ID vs. </a:t>
            </a:r>
            <a:r>
              <a:rPr lang="en-US" dirty="0" err="1">
                <a:latin typeface="fkGrotesk"/>
              </a:rPr>
              <a:t>fT</a:t>
            </a:r>
            <a:r>
              <a:rPr lang="en-US" dirty="0">
                <a:latin typeface="fkGrotesk"/>
              </a:rPr>
              <a:t> Tradeoff—The Core Design </a:t>
            </a:r>
            <a:r>
              <a:rPr lang="en-US" dirty="0" smtClean="0">
                <a:latin typeface="fkGrotesk"/>
              </a:rPr>
              <a:t>Dial</a:t>
            </a:r>
            <a:endParaRPr lang="en-US" dirty="0"/>
          </a:p>
        </p:txBody>
      </p:sp>
      <p:sp>
        <p:nvSpPr>
          <p:cNvPr id="3" name="Text Placeholder 2"/>
          <p:cNvSpPr>
            <a:spLocks noGrp="1"/>
          </p:cNvSpPr>
          <p:nvPr>
            <p:ph type="body" idx="1"/>
          </p:nvPr>
        </p:nvSpPr>
        <p:spPr>
          <a:xfrm>
            <a:off x="844550" y="1327353"/>
            <a:ext cx="11093450" cy="4909036"/>
          </a:xfrm>
        </p:spPr>
        <p:txBody>
          <a:bodyPr/>
          <a:lstStyle/>
          <a:p>
            <a:pPr marL="342900" indent="-342900" algn="just">
              <a:spcBef>
                <a:spcPts val="600"/>
              </a:spcBef>
              <a:spcAft>
                <a:spcPts val="600"/>
              </a:spcAft>
              <a:buFont typeface="Wingdings" panose="05000000000000000000" pitchFamily="2" charset="2"/>
              <a:buChar char="q"/>
            </a:pPr>
            <a:r>
              <a:rPr lang="en-US" dirty="0" smtClean="0">
                <a:latin typeface="fkGroteskNeue"/>
              </a:rPr>
              <a:t>The</a:t>
            </a:r>
            <a:r>
              <a:rPr lang="en-US" dirty="0">
                <a:latin typeface="fkGroteskNeue"/>
              </a:rPr>
              <a:t> blue curve represents </a:t>
            </a:r>
            <a:r>
              <a:rPr lang="en-US" dirty="0" err="1">
                <a:latin typeface="fkGroteskNeue"/>
              </a:rPr>
              <a:t>transconductance</a:t>
            </a:r>
            <a:r>
              <a:rPr lang="en-US" dirty="0">
                <a:latin typeface="fkGroteskNeue"/>
              </a:rPr>
              <a:t> efficiency </a:t>
            </a:r>
            <a:r>
              <a:rPr lang="en-US" dirty="0" smtClean="0">
                <a:latin typeface="fkGroteskNeue"/>
              </a:rPr>
              <a:t>(</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showing how much small-signal gain you get per unit bias current.</a:t>
            </a:r>
          </a:p>
          <a:p>
            <a:pPr marL="742950" lvl="1" indent="-285750" algn="just">
              <a:spcBef>
                <a:spcPts val="600"/>
              </a:spcBef>
              <a:spcAft>
                <a:spcPts val="600"/>
              </a:spcAft>
              <a:buFont typeface="Wingdings" panose="05000000000000000000" pitchFamily="2" charset="2"/>
              <a:buChar char="q"/>
            </a:pPr>
            <a:r>
              <a:rPr lang="en-US" dirty="0">
                <a:latin typeface="fkGroteskNeue"/>
              </a:rPr>
              <a:t>As </a:t>
            </a:r>
            <a:r>
              <a:rPr lang="en-US" i="1" dirty="0" err="1" smtClean="0">
                <a:latin typeface="KaTeX_Math"/>
              </a:rPr>
              <a:t>Vov</a:t>
            </a:r>
            <a:r>
              <a:rPr lang="en-US" dirty="0">
                <a:latin typeface="fkGroteskNeue"/>
              </a:rPr>
              <a:t> (overdrive voltage) gets smaller, efficiency increases—very desirable for ultra-low power circuits, bias blocks, and precision current mirrors.</a:t>
            </a:r>
          </a:p>
          <a:p>
            <a:pPr marL="342900" indent="-342900" algn="just">
              <a:spcBef>
                <a:spcPts val="600"/>
              </a:spcBef>
              <a:spcAft>
                <a:spcPts val="600"/>
              </a:spcAft>
              <a:buFont typeface="Wingdings" panose="05000000000000000000" pitchFamily="2" charset="2"/>
              <a:buChar char="q"/>
            </a:pPr>
            <a:r>
              <a:rPr lang="en-US" dirty="0">
                <a:latin typeface="fkGroteskNeue"/>
              </a:rPr>
              <a:t>The green curve shows transit frequency </a:t>
            </a:r>
            <a:r>
              <a:rPr lang="en-US" dirty="0" smtClean="0">
                <a:latin typeface="fkGroteskNeue"/>
              </a:rPr>
              <a:t>(</a:t>
            </a:r>
            <a:r>
              <a:rPr lang="en-US" i="1" dirty="0" err="1" smtClean="0">
                <a:latin typeface="KaTeX_Math"/>
              </a:rPr>
              <a:t>fT</a:t>
            </a:r>
            <a:r>
              <a:rPr lang="en-US" dirty="0">
                <a:latin typeface="fkGroteskNeue"/>
              </a:rPr>
              <a:t>), a measure of how fast the transistor can operate.</a:t>
            </a:r>
          </a:p>
          <a:p>
            <a:pPr marL="742950" lvl="1" indent="-285750" algn="just">
              <a:spcBef>
                <a:spcPts val="600"/>
              </a:spcBef>
              <a:spcAft>
                <a:spcPts val="600"/>
              </a:spcAft>
              <a:buFont typeface="Wingdings" panose="05000000000000000000" pitchFamily="2" charset="2"/>
              <a:buChar char="q"/>
            </a:pPr>
            <a:r>
              <a:rPr lang="en-US" dirty="0">
                <a:latin typeface="fkGroteskNeue"/>
              </a:rPr>
              <a:t>As </a:t>
            </a:r>
            <a:r>
              <a:rPr lang="en-US" i="1" dirty="0" err="1" smtClean="0">
                <a:latin typeface="KaTeX_Math"/>
              </a:rPr>
              <a:t>Vov</a:t>
            </a:r>
            <a:r>
              <a:rPr lang="en-US" dirty="0">
                <a:latin typeface="fkGroteskNeue"/>
              </a:rPr>
              <a:t> increases, the device speed increases—crucial if your block needs high bandwidth or needs to work at RF.</a:t>
            </a:r>
          </a:p>
          <a:p>
            <a:pPr marL="342900" indent="-342900" algn="just">
              <a:spcBef>
                <a:spcPts val="600"/>
              </a:spcBef>
              <a:spcAft>
                <a:spcPts val="600"/>
              </a:spcAft>
              <a:buFont typeface="Wingdings" panose="05000000000000000000" pitchFamily="2" charset="2"/>
              <a:buChar char="q"/>
            </a:pPr>
            <a:r>
              <a:rPr lang="en-US" dirty="0">
                <a:latin typeface="fkGroteskNeue"/>
              </a:rPr>
              <a:t>Fundamental tradeoff:</a:t>
            </a:r>
          </a:p>
          <a:p>
            <a:pPr marL="742950" lvl="1" indent="-285750" algn="just">
              <a:spcBef>
                <a:spcPts val="600"/>
              </a:spcBef>
              <a:spcAft>
                <a:spcPts val="600"/>
              </a:spcAft>
              <a:buFont typeface="Wingdings" panose="05000000000000000000" pitchFamily="2" charset="2"/>
              <a:buChar char="q"/>
            </a:pPr>
            <a:r>
              <a:rPr lang="en-US" dirty="0">
                <a:latin typeface="fkGroteskNeue"/>
              </a:rPr>
              <a:t>You can’t simultaneously maximize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and </a:t>
            </a:r>
            <a:r>
              <a:rPr lang="en-US" i="1" dirty="0" err="1" smtClean="0">
                <a:latin typeface="KaTeX_Math"/>
              </a:rPr>
              <a:t>fT</a:t>
            </a:r>
            <a:r>
              <a:rPr lang="en-US" dirty="0">
                <a:latin typeface="fkGroteskNeue"/>
              </a:rPr>
              <a:t> for a single transistor by tweaking </a:t>
            </a:r>
            <a:r>
              <a:rPr lang="en-US" dirty="0" err="1">
                <a:latin typeface="KaTeX_Main"/>
              </a:rPr>
              <a:t>Vov</a:t>
            </a:r>
            <a:r>
              <a:rPr lang="en-US" i="1" dirty="0" err="1">
                <a:latin typeface="KaTeX_Math"/>
              </a:rPr>
              <a:t>Vov</a:t>
            </a:r>
            <a:r>
              <a:rPr lang="en-US" dirty="0">
                <a:latin typeface="fkGroteskNeue"/>
              </a:rPr>
              <a:t>; you have to choose your priority.</a:t>
            </a:r>
          </a:p>
          <a:p>
            <a:pPr marL="1200150" lvl="2" indent="-285750" algn="just">
              <a:spcBef>
                <a:spcPts val="600"/>
              </a:spcBef>
              <a:spcAft>
                <a:spcPts val="600"/>
              </a:spcAft>
              <a:buFont typeface="Wingdings" panose="05000000000000000000" pitchFamily="2" charset="2"/>
              <a:buChar char="q"/>
            </a:pPr>
            <a:r>
              <a:rPr lang="en-US" dirty="0">
                <a:latin typeface="fkGroteskNeue"/>
              </a:rPr>
              <a:t>Low </a:t>
            </a:r>
            <a:r>
              <a:rPr lang="en-US" i="1" dirty="0" err="1" smtClean="0">
                <a:latin typeface="KaTeX_Math"/>
              </a:rPr>
              <a:t>Vov</a:t>
            </a:r>
            <a:r>
              <a:rPr lang="en-US" dirty="0">
                <a:latin typeface="fkGroteskNeue"/>
              </a:rPr>
              <a:t>: high gain efficiency, low speed.</a:t>
            </a:r>
          </a:p>
          <a:p>
            <a:pPr marL="1200150" lvl="2" indent="-285750" algn="just">
              <a:spcBef>
                <a:spcPts val="600"/>
              </a:spcBef>
              <a:spcAft>
                <a:spcPts val="600"/>
              </a:spcAft>
              <a:buFont typeface="Wingdings" panose="05000000000000000000" pitchFamily="2" charset="2"/>
              <a:buChar char="q"/>
            </a:pPr>
            <a:r>
              <a:rPr lang="en-US" dirty="0">
                <a:latin typeface="fkGroteskNeue"/>
              </a:rPr>
              <a:t>High </a:t>
            </a:r>
            <a:r>
              <a:rPr lang="en-US" i="1" dirty="0" err="1" smtClean="0">
                <a:latin typeface="KaTeX_Math"/>
              </a:rPr>
              <a:t>Vov</a:t>
            </a:r>
            <a:r>
              <a:rPr lang="en-US" dirty="0">
                <a:latin typeface="fkGroteskNeue"/>
              </a:rPr>
              <a:t>: high speed, low gain efficiency.</a:t>
            </a:r>
          </a:p>
          <a:p>
            <a:pPr algn="just"/>
            <a:endParaRPr lang="en-US" dirty="0"/>
          </a:p>
        </p:txBody>
      </p:sp>
      <p:sp>
        <p:nvSpPr>
          <p:cNvPr id="4" name="Footer Placeholder 3"/>
          <p:cNvSpPr>
            <a:spLocks noGrp="1"/>
          </p:cNvSpPr>
          <p:nvPr>
            <p:ph type="ftr" sz="quarter" idx="5"/>
          </p:nvPr>
        </p:nvSpPr>
        <p:spPr>
          <a:xfrm>
            <a:off x="5446945" y="6590058"/>
            <a:ext cx="1411056" cy="267942"/>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740388"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42493638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The </a:t>
            </a:r>
            <a:r>
              <a:rPr lang="en-US" i="1" dirty="0" err="1" smtClean="0">
                <a:latin typeface="KaTeX_Math"/>
              </a:rPr>
              <a:t>Vov</a:t>
            </a:r>
            <a:r>
              <a:rPr lang="en-US" dirty="0">
                <a:latin typeface="fkGrotesk"/>
              </a:rPr>
              <a:t> “Control Knob”—Designer's </a:t>
            </a:r>
            <a:r>
              <a:rPr lang="en-US" dirty="0" smtClean="0">
                <a:latin typeface="fkGrotesk"/>
              </a:rPr>
              <a:t>Choice</a:t>
            </a:r>
            <a:endParaRPr lang="en-US" dirty="0"/>
          </a:p>
        </p:txBody>
      </p:sp>
      <p:sp>
        <p:nvSpPr>
          <p:cNvPr id="3" name="Text Placeholder 2"/>
          <p:cNvSpPr>
            <a:spLocks noGrp="1"/>
          </p:cNvSpPr>
          <p:nvPr>
            <p:ph type="body" idx="1"/>
          </p:nvPr>
        </p:nvSpPr>
        <p:spPr>
          <a:xfrm>
            <a:off x="844550" y="1327353"/>
            <a:ext cx="8451850" cy="2846933"/>
          </a:xfrm>
        </p:spPr>
        <p:txBody>
          <a:bodyPr/>
          <a:lstStyle/>
          <a:p>
            <a:pPr algn="ctr">
              <a:spcBef>
                <a:spcPts val="600"/>
              </a:spcBef>
              <a:spcAft>
                <a:spcPts val="600"/>
              </a:spcAft>
            </a:pPr>
            <a:r>
              <a:rPr lang="en-US" b="1" dirty="0" smtClean="0">
                <a:solidFill>
                  <a:srgbClr val="C00000"/>
                </a:solidFill>
                <a:latin typeface="fkGroteskNeue"/>
              </a:rPr>
              <a:t>Intuitive way to understand</a:t>
            </a:r>
            <a:endParaRPr lang="en-US" b="1" dirty="0">
              <a:solidFill>
                <a:srgbClr val="C00000"/>
              </a:solidFill>
              <a:latin typeface="fkGroteskNeue"/>
            </a:endParaRPr>
          </a:p>
          <a:p>
            <a:pPr marL="457200" indent="-457200" algn="just">
              <a:spcBef>
                <a:spcPts val="600"/>
              </a:spcBef>
              <a:spcAft>
                <a:spcPts val="600"/>
              </a:spcAft>
              <a:buFont typeface="Wingdings" panose="05000000000000000000" pitchFamily="2" charset="2"/>
              <a:buChar char="q"/>
            </a:pPr>
            <a:r>
              <a:rPr lang="en-US" dirty="0">
                <a:latin typeface="fkGroteskNeue"/>
              </a:rPr>
              <a:t>Shown as a screwdriver "knob" labeled </a:t>
            </a:r>
            <a:r>
              <a:rPr lang="en-US" i="1" dirty="0" err="1" smtClean="0">
                <a:latin typeface="KaTeX_Math"/>
              </a:rPr>
              <a:t>Vov</a:t>
            </a:r>
            <a:r>
              <a:rPr lang="en-US" dirty="0">
                <a:latin typeface="fkGroteskNeue"/>
              </a:rPr>
              <a:t>; by "turning" this knob, the designer can shift operating points between gain/efficiency </a:t>
            </a:r>
            <a:r>
              <a:rPr lang="en-US" dirty="0" smtClean="0">
                <a:latin typeface="fkGroteskNeue"/>
              </a:rPr>
              <a:t>(</a:t>
            </a:r>
            <a:r>
              <a:rPr lang="en-US" i="1" dirty="0" smtClean="0">
                <a:latin typeface="KaTeX_Math"/>
              </a:rPr>
              <a:t>gm</a:t>
            </a:r>
            <a:r>
              <a:rPr lang="en-US" dirty="0">
                <a:latin typeface="fkGroteskNeue"/>
              </a:rPr>
              <a:t>) and speed </a:t>
            </a:r>
            <a:r>
              <a:rPr lang="en-US" dirty="0" smtClean="0">
                <a:latin typeface="fkGroteskNeue"/>
              </a:rPr>
              <a:t>(</a:t>
            </a:r>
            <a:r>
              <a:rPr lang="en-US" i="1" dirty="0" err="1" smtClean="0">
                <a:latin typeface="KaTeX_Math"/>
              </a:rPr>
              <a:t>fT</a:t>
            </a:r>
            <a:r>
              <a:rPr lang="en-US" dirty="0">
                <a:latin typeface="fkGroteskNeue"/>
              </a:rPr>
              <a:t>), for a fixed bias current </a:t>
            </a:r>
            <a:r>
              <a:rPr lang="en-US" dirty="0" smtClean="0">
                <a:latin typeface="fkGroteskNeue"/>
              </a:rPr>
              <a:t>(</a:t>
            </a:r>
            <a:r>
              <a:rPr lang="en-US" i="1" dirty="0" smtClean="0">
                <a:latin typeface="KaTeX_Math"/>
              </a:rPr>
              <a:t>ID</a:t>
            </a:r>
            <a:r>
              <a:rPr lang="en-US" dirty="0">
                <a:latin typeface="fkGroteskNeue"/>
              </a:rPr>
              <a:t>).</a:t>
            </a:r>
          </a:p>
          <a:p>
            <a:pPr marL="457200" indent="-457200" algn="just">
              <a:spcBef>
                <a:spcPts val="600"/>
              </a:spcBef>
              <a:spcAft>
                <a:spcPts val="600"/>
              </a:spcAft>
              <a:buFont typeface="Wingdings" panose="05000000000000000000" pitchFamily="2" charset="2"/>
              <a:buChar char="q"/>
            </a:pPr>
            <a:r>
              <a:rPr lang="en-US" dirty="0">
                <a:latin typeface="fkGroteskNeue"/>
              </a:rPr>
              <a:t>Practical message: With a set current budget, the designer must decide—should the current be spent for maximum small-signal gain, or for maximum bandwidth/speed?</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426510" y="1406466"/>
            <a:ext cx="2533780" cy="2267067"/>
          </a:xfrm>
          <a:prstGeom prst="rect">
            <a:avLst/>
          </a:prstGeom>
        </p:spPr>
      </p:pic>
      <p:sp>
        <p:nvSpPr>
          <p:cNvPr id="8" name="Rectangle 7"/>
          <p:cNvSpPr/>
          <p:nvPr/>
        </p:nvSpPr>
        <p:spPr>
          <a:xfrm>
            <a:off x="8988763" y="1036824"/>
            <a:ext cx="2755883" cy="338554"/>
          </a:xfrm>
          <a:prstGeom prst="rect">
            <a:avLst/>
          </a:prstGeom>
        </p:spPr>
        <p:txBody>
          <a:bodyPr wrap="none">
            <a:spAutoFit/>
          </a:bodyPr>
          <a:lstStyle/>
          <a:p>
            <a:r>
              <a:rPr lang="en-US" sz="1600" b="1" i="0" u="none" strike="noStrike" baseline="0" dirty="0" smtClean="0">
                <a:solidFill>
                  <a:srgbClr val="00B050"/>
                </a:solidFill>
                <a:latin typeface="CMMI10"/>
              </a:rPr>
              <a:t> </a:t>
            </a:r>
            <a:r>
              <a:rPr lang="en-US" sz="1600" b="1" i="0" u="none" strike="noStrike" baseline="0" dirty="0" err="1" smtClean="0">
                <a:solidFill>
                  <a:srgbClr val="00B050"/>
                </a:solidFill>
                <a:latin typeface="CMMI10"/>
              </a:rPr>
              <a:t>V</a:t>
            </a:r>
            <a:r>
              <a:rPr lang="en-US" sz="1100" b="1" i="0" u="none" strike="noStrike" baseline="0" dirty="0" err="1" smtClean="0">
                <a:solidFill>
                  <a:srgbClr val="00B050"/>
                </a:solidFill>
                <a:latin typeface="CMMI7"/>
              </a:rPr>
              <a:t>ov</a:t>
            </a:r>
            <a:r>
              <a:rPr lang="en-US" sz="1100" b="1" i="0" u="none" strike="noStrike" baseline="0" dirty="0" smtClean="0">
                <a:solidFill>
                  <a:srgbClr val="00B050"/>
                </a:solidFill>
                <a:latin typeface="CMMI7"/>
              </a:rPr>
              <a:t> </a:t>
            </a:r>
            <a:r>
              <a:rPr lang="en-US" sz="1600" b="1" i="0" u="none" strike="noStrike" baseline="0" dirty="0" smtClean="0">
                <a:solidFill>
                  <a:srgbClr val="00B050"/>
                </a:solidFill>
                <a:latin typeface="CMR10"/>
              </a:rPr>
              <a:t>is like a </a:t>
            </a:r>
            <a:r>
              <a:rPr lang="en-US" sz="1600" b="1" i="0" u="none" strike="noStrike" baseline="0" dirty="0" smtClean="0">
                <a:solidFill>
                  <a:srgbClr val="00B050"/>
                </a:solidFill>
                <a:latin typeface="CMMI10"/>
              </a:rPr>
              <a:t>g</a:t>
            </a:r>
            <a:r>
              <a:rPr lang="en-US" sz="1100" b="1" i="0" u="none" strike="noStrike" baseline="0" dirty="0" smtClean="0">
                <a:solidFill>
                  <a:srgbClr val="00B050"/>
                </a:solidFill>
                <a:latin typeface="CMMI7"/>
              </a:rPr>
              <a:t>m </a:t>
            </a:r>
            <a:r>
              <a:rPr lang="en-US" sz="1600" b="1" i="0" u="none" strike="noStrike" baseline="0" dirty="0" smtClean="0">
                <a:solidFill>
                  <a:srgbClr val="00B050"/>
                </a:solidFill>
                <a:latin typeface="CMR10"/>
              </a:rPr>
              <a:t>vs. </a:t>
            </a:r>
            <a:r>
              <a:rPr lang="en-US" sz="1600" b="1" i="0" u="none" strike="noStrike" baseline="0" dirty="0" err="1" smtClean="0">
                <a:solidFill>
                  <a:srgbClr val="00B050"/>
                </a:solidFill>
                <a:latin typeface="CMMI10"/>
              </a:rPr>
              <a:t>f</a:t>
            </a:r>
            <a:r>
              <a:rPr lang="en-US" sz="1100" b="1" i="0" u="none" strike="noStrike" baseline="0" dirty="0" err="1" smtClean="0">
                <a:solidFill>
                  <a:srgbClr val="00B050"/>
                </a:solidFill>
                <a:latin typeface="CMMI7"/>
              </a:rPr>
              <a:t>T</a:t>
            </a:r>
            <a:r>
              <a:rPr lang="en-US" sz="1100" b="1" i="0" u="none" strike="noStrike" baseline="0" dirty="0" smtClean="0">
                <a:solidFill>
                  <a:srgbClr val="00B050"/>
                </a:solidFill>
                <a:latin typeface="CMMI7"/>
              </a:rPr>
              <a:t> </a:t>
            </a:r>
            <a:r>
              <a:rPr lang="en-US" sz="1600" b="1" i="0" u="none" strike="noStrike" baseline="0" dirty="0" smtClean="0">
                <a:solidFill>
                  <a:srgbClr val="00B050"/>
                </a:solidFill>
                <a:latin typeface="CMR10"/>
              </a:rPr>
              <a:t>knob.</a:t>
            </a:r>
            <a:endParaRPr lang="en-US" sz="3600" b="1" dirty="0">
              <a:solidFill>
                <a:srgbClr val="00B050"/>
              </a:solidFill>
            </a:endParaRPr>
          </a:p>
        </p:txBody>
      </p:sp>
      <p:sp>
        <p:nvSpPr>
          <p:cNvPr id="9" name="Rectangle 8"/>
          <p:cNvSpPr/>
          <p:nvPr/>
        </p:nvSpPr>
        <p:spPr>
          <a:xfrm>
            <a:off x="973667" y="4132072"/>
            <a:ext cx="10820400" cy="1862048"/>
          </a:xfrm>
          <a:prstGeom prst="rect">
            <a:avLst/>
          </a:prstGeom>
        </p:spPr>
        <p:txBody>
          <a:bodyPr wrap="square">
            <a:spAutoFit/>
          </a:bodyPr>
          <a:lstStyle/>
          <a:p>
            <a:pPr algn="ctr"/>
            <a:r>
              <a:rPr lang="en-US" b="1" i="0" dirty="0" smtClean="0">
                <a:solidFill>
                  <a:srgbClr val="C00000"/>
                </a:solidFill>
                <a:effectLst/>
                <a:latin typeface="fkGrotesk"/>
              </a:rPr>
              <a:t>The Designer’s Knob—Programmable Circuit Behavior</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Think of </a:t>
            </a:r>
            <a:r>
              <a:rPr lang="en-US" b="0" i="1" dirty="0" err="1" smtClean="0">
                <a:effectLst/>
                <a:latin typeface="KaTeX_Math"/>
              </a:rPr>
              <a:t>Vov</a:t>
            </a:r>
            <a:r>
              <a:rPr lang="en-US" b="0" i="0" dirty="0" smtClean="0">
                <a:effectLst/>
                <a:latin typeface="fkGroteskNeue"/>
              </a:rPr>
              <a:t> as a control knob (like a screwdriver).</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At a fixed drain current (</a:t>
            </a:r>
            <a:r>
              <a:rPr lang="en-US" b="0" i="1" dirty="0" smtClean="0">
                <a:effectLst/>
                <a:latin typeface="KaTeX_Math"/>
              </a:rPr>
              <a:t>ID</a:t>
            </a:r>
            <a:r>
              <a:rPr lang="en-US" b="0" i="0" dirty="0" smtClean="0">
                <a:effectLst/>
                <a:latin typeface="fkGroteskNeue"/>
              </a:rPr>
              <a:t>), you decide—do you want that current “spent” to get higher gain (</a:t>
            </a:r>
            <a:r>
              <a:rPr lang="en-US" b="0" i="1" dirty="0" smtClean="0">
                <a:effectLst/>
                <a:latin typeface="KaTeX_Math"/>
              </a:rPr>
              <a:t>gm</a:t>
            </a:r>
            <a:r>
              <a:rPr lang="en-US" b="0" i="0" dirty="0" smtClean="0">
                <a:effectLst/>
                <a:latin typeface="fkGroteskNeue"/>
              </a:rPr>
              <a:t>) or higher speed (</a:t>
            </a:r>
            <a:r>
              <a:rPr lang="en-US" b="0" i="1" dirty="0" err="1" smtClean="0">
                <a:effectLst/>
                <a:latin typeface="KaTeX_Math"/>
              </a:rPr>
              <a:t>fT</a:t>
            </a:r>
            <a:r>
              <a:rPr lang="en-US" b="0" i="0" dirty="0" smtClean="0">
                <a:effectLst/>
                <a:latin typeface="fkGroteskNeue"/>
              </a:rPr>
              <a:t>), or a balance of both?</a:t>
            </a:r>
          </a:p>
          <a:p>
            <a:pPr marL="285750" indent="-285750">
              <a:spcBef>
                <a:spcPts val="600"/>
              </a:spcBef>
              <a:spcAft>
                <a:spcPts val="600"/>
              </a:spcAft>
              <a:buFont typeface="Wingdings" panose="05000000000000000000" pitchFamily="2" charset="2"/>
              <a:buChar char="q"/>
            </a:pPr>
            <a:r>
              <a:rPr lang="en-US" b="0" i="0" dirty="0" smtClean="0">
                <a:effectLst/>
                <a:latin typeface="fkGroteskNeue"/>
              </a:rPr>
              <a:t>This knob is the engineer’s main tool for “tuning” analog building blocks to their intended application.</a:t>
            </a:r>
            <a:endParaRPr lang="en-US" b="0" i="0" dirty="0">
              <a:effectLst/>
              <a:latin typeface="fkGroteskNeue"/>
            </a:endParaRPr>
          </a:p>
        </p:txBody>
      </p:sp>
    </p:spTree>
    <p:extLst>
      <p:ext uri="{BB962C8B-B14F-4D97-AF65-F5344CB8AC3E}">
        <p14:creationId xmlns:p14="http://schemas.microsoft.com/office/powerpoint/2010/main" val="425277307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Deep Design Implications &amp; </a:t>
            </a:r>
            <a:r>
              <a:rPr lang="en-US" dirty="0" smtClean="0">
                <a:latin typeface="fkGrotesk"/>
              </a:rPr>
              <a:t>Steps</a:t>
            </a:r>
            <a:endParaRPr lang="en-US" dirty="0"/>
          </a:p>
        </p:txBody>
      </p:sp>
      <p:sp>
        <p:nvSpPr>
          <p:cNvPr id="3" name="Text Placeholder 2"/>
          <p:cNvSpPr>
            <a:spLocks noGrp="1"/>
          </p:cNvSpPr>
          <p:nvPr>
            <p:ph type="body" idx="1"/>
          </p:nvPr>
        </p:nvSpPr>
        <p:spPr>
          <a:xfrm>
            <a:off x="761999" y="1141086"/>
            <a:ext cx="10820401" cy="4616648"/>
          </a:xfrm>
        </p:spPr>
        <p:txBody>
          <a:bodyPr/>
          <a:lstStyle/>
          <a:p>
            <a:pPr algn="ctr">
              <a:spcBef>
                <a:spcPts val="600"/>
              </a:spcBef>
            </a:pPr>
            <a:r>
              <a:rPr lang="en-US" b="1" dirty="0" smtClean="0">
                <a:solidFill>
                  <a:srgbClr val="C00000"/>
                </a:solidFill>
                <a:latin typeface="fkGrotesk"/>
              </a:rPr>
              <a:t>1</a:t>
            </a:r>
            <a:r>
              <a:rPr lang="en-US" b="1" dirty="0">
                <a:solidFill>
                  <a:srgbClr val="C00000"/>
                </a:solidFill>
                <a:latin typeface="fkGrotesk"/>
              </a:rPr>
              <a:t>. Understand the Need for Tradeoff</a:t>
            </a:r>
          </a:p>
          <a:p>
            <a:pPr marL="800100" lvl="1" indent="-342900" algn="just">
              <a:spcBef>
                <a:spcPts val="600"/>
              </a:spcBef>
              <a:buFont typeface="Wingdings" panose="05000000000000000000" pitchFamily="2" charset="2"/>
              <a:buChar char="q"/>
            </a:pPr>
            <a:r>
              <a:rPr lang="en-US" sz="1600" dirty="0">
                <a:latin typeface="fkGroteskNeue"/>
              </a:rPr>
              <a:t>The same transistor cannot be made arbitrarily efficient and fast at once; the designer sets what's most important for each block in the circuit.</a:t>
            </a:r>
          </a:p>
          <a:p>
            <a:pPr algn="ctr">
              <a:spcBef>
                <a:spcPts val="600"/>
              </a:spcBef>
            </a:pPr>
            <a:r>
              <a:rPr lang="en-US" b="1" dirty="0">
                <a:solidFill>
                  <a:srgbClr val="C00000"/>
                </a:solidFill>
                <a:latin typeface="fkGrotesk"/>
              </a:rPr>
              <a:t>2. How to Apply the Knob in Practice</a:t>
            </a:r>
          </a:p>
          <a:p>
            <a:pPr marL="800100" lvl="1" indent="-342900" algn="just">
              <a:spcBef>
                <a:spcPts val="600"/>
              </a:spcBef>
              <a:buFont typeface="Wingdings" panose="05000000000000000000" pitchFamily="2" charset="2"/>
              <a:buChar char="q"/>
            </a:pPr>
            <a:r>
              <a:rPr lang="en-US" sz="1600" dirty="0">
                <a:latin typeface="fkGroteskNeue"/>
              </a:rPr>
              <a:t>Fix </a:t>
            </a:r>
            <a:r>
              <a:rPr lang="en-US" sz="1600" i="1" dirty="0" smtClean="0">
                <a:latin typeface="KaTeX_Math"/>
              </a:rPr>
              <a:t>ID</a:t>
            </a:r>
            <a:r>
              <a:rPr lang="en-US" sz="1600" dirty="0">
                <a:latin typeface="fkGroteskNeue"/>
              </a:rPr>
              <a:t> (current, set by circuit requirements).</a:t>
            </a:r>
          </a:p>
          <a:p>
            <a:pPr marL="800100" lvl="1" indent="-342900" algn="just">
              <a:spcBef>
                <a:spcPts val="600"/>
              </a:spcBef>
              <a:buFont typeface="Wingdings" panose="05000000000000000000" pitchFamily="2" charset="2"/>
              <a:buChar char="q"/>
            </a:pPr>
            <a:r>
              <a:rPr lang="en-US" sz="1600" dirty="0">
                <a:latin typeface="fkGroteskNeue"/>
              </a:rPr>
              <a:t>Use gm/ID chart or experimental data to select the right </a:t>
            </a:r>
            <a:r>
              <a:rPr lang="en-US" sz="1600" i="1" dirty="0" err="1" smtClean="0">
                <a:latin typeface="KaTeX_Math"/>
              </a:rPr>
              <a:t>Vov</a:t>
            </a:r>
            <a:r>
              <a:rPr lang="en-US" sz="1600" dirty="0">
                <a:latin typeface="fkGroteskNeue"/>
              </a:rPr>
              <a:t>:</a:t>
            </a:r>
          </a:p>
          <a:p>
            <a:pPr marL="1200150" lvl="2" indent="-285750" algn="just">
              <a:spcBef>
                <a:spcPts val="600"/>
              </a:spcBef>
              <a:buFont typeface="Wingdings" panose="05000000000000000000" pitchFamily="2" charset="2"/>
              <a:buChar char="q"/>
            </a:pPr>
            <a:r>
              <a:rPr lang="en-US" sz="1600" dirty="0">
                <a:latin typeface="fkGroteskNeue"/>
              </a:rPr>
              <a:t>For a biasing circuit: aim for high gm/ID (low </a:t>
            </a:r>
            <a:r>
              <a:rPr lang="en-US" sz="1600" i="1" dirty="0" err="1" smtClean="0">
                <a:latin typeface="KaTeX_Math"/>
              </a:rPr>
              <a:t>Vov</a:t>
            </a:r>
            <a:r>
              <a:rPr lang="en-US" sz="1600" dirty="0">
                <a:latin typeface="fkGroteskNeue"/>
              </a:rPr>
              <a:t>), accept slower devices.</a:t>
            </a:r>
          </a:p>
          <a:p>
            <a:pPr marL="1200150" lvl="2" indent="-285750" algn="just">
              <a:spcBef>
                <a:spcPts val="600"/>
              </a:spcBef>
              <a:buFont typeface="Wingdings" panose="05000000000000000000" pitchFamily="2" charset="2"/>
              <a:buChar char="q"/>
            </a:pPr>
            <a:r>
              <a:rPr lang="en-US" sz="1600" dirty="0">
                <a:latin typeface="fkGroteskNeue"/>
              </a:rPr>
              <a:t>For a high-speed stage: aim for large </a:t>
            </a:r>
            <a:r>
              <a:rPr lang="en-US" sz="1600" i="1" dirty="0" err="1" smtClean="0">
                <a:latin typeface="KaTeX_Math"/>
              </a:rPr>
              <a:t>fT</a:t>
            </a:r>
            <a:r>
              <a:rPr lang="en-US" sz="1600" dirty="0">
                <a:latin typeface="fkGroteskNeue"/>
              </a:rPr>
              <a:t> (high </a:t>
            </a:r>
            <a:r>
              <a:rPr lang="en-US" sz="1600" i="1" dirty="0" err="1" smtClean="0">
                <a:latin typeface="KaTeX_Math"/>
              </a:rPr>
              <a:t>Vov</a:t>
            </a:r>
            <a:r>
              <a:rPr lang="en-US" sz="1600" dirty="0">
                <a:latin typeface="fkGroteskNeue"/>
              </a:rPr>
              <a:t>), accept higher power.</a:t>
            </a:r>
          </a:p>
          <a:p>
            <a:pPr algn="ctr">
              <a:spcBef>
                <a:spcPts val="600"/>
              </a:spcBef>
            </a:pPr>
            <a:r>
              <a:rPr lang="en-US" b="1" dirty="0">
                <a:solidFill>
                  <a:srgbClr val="C00000"/>
                </a:solidFill>
                <a:latin typeface="fkGrotesk"/>
              </a:rPr>
              <a:t>3. Why Not Make </a:t>
            </a:r>
            <a:r>
              <a:rPr lang="en-US" b="1" i="1" dirty="0" err="1" smtClean="0">
                <a:solidFill>
                  <a:srgbClr val="C00000"/>
                </a:solidFill>
                <a:latin typeface="KaTeX_Math"/>
              </a:rPr>
              <a:t>Vov</a:t>
            </a:r>
            <a:r>
              <a:rPr lang="en-US" b="1" dirty="0">
                <a:solidFill>
                  <a:srgbClr val="C00000"/>
                </a:solidFill>
                <a:latin typeface="fkGrotesk"/>
              </a:rPr>
              <a:t> Very Small?</a:t>
            </a:r>
          </a:p>
          <a:p>
            <a:pPr marL="800100" lvl="1" indent="-342900" algn="just">
              <a:spcBef>
                <a:spcPts val="600"/>
              </a:spcBef>
              <a:buFont typeface="Wingdings" panose="05000000000000000000" pitchFamily="2" charset="2"/>
              <a:buChar char="q"/>
            </a:pPr>
            <a:r>
              <a:rPr lang="en-US" sz="1600" dirty="0">
                <a:latin typeface="fkGroteskNeue"/>
              </a:rPr>
              <a:t>If </a:t>
            </a:r>
            <a:r>
              <a:rPr lang="en-US" sz="1600" i="1" dirty="0" smtClean="0">
                <a:latin typeface="KaTeX_Math"/>
              </a:rPr>
              <a:t>Vov</a:t>
            </a:r>
            <a:r>
              <a:rPr lang="en-US" sz="1600" dirty="0">
                <a:latin typeface="KaTeX_Main"/>
              </a:rPr>
              <a:t>→0</a:t>
            </a:r>
            <a:r>
              <a:rPr lang="en-US" sz="1600" dirty="0">
                <a:latin typeface="fkGroteskNeue"/>
              </a:rPr>
              <a:t>, gain goes up but bandwidth collapses—the circuit becomes too slow for practical use, unstable or noisy.</a:t>
            </a:r>
          </a:p>
          <a:p>
            <a:pPr marL="800100" lvl="1" indent="-342900" algn="just">
              <a:spcBef>
                <a:spcPts val="600"/>
              </a:spcBef>
              <a:buFont typeface="Wingdings" panose="05000000000000000000" pitchFamily="2" charset="2"/>
              <a:buChar char="q"/>
            </a:pPr>
            <a:r>
              <a:rPr lang="en-US" sz="1600" dirty="0">
                <a:latin typeface="fkGroteskNeue"/>
              </a:rPr>
              <a:t>If </a:t>
            </a:r>
            <a:r>
              <a:rPr lang="en-US" sz="1600" i="1" dirty="0" err="1" smtClean="0">
                <a:latin typeface="KaTeX_Math"/>
              </a:rPr>
              <a:t>Vov</a:t>
            </a:r>
            <a:r>
              <a:rPr lang="en-US" sz="1600" dirty="0">
                <a:latin typeface="fkGroteskNeue"/>
              </a:rPr>
              <a:t> is too large, the device is fast but wastes power; efficiency drops.</a:t>
            </a:r>
          </a:p>
          <a:p>
            <a:pPr algn="ctr">
              <a:spcBef>
                <a:spcPts val="600"/>
              </a:spcBef>
            </a:pPr>
            <a:r>
              <a:rPr lang="en-US" b="1" dirty="0">
                <a:solidFill>
                  <a:srgbClr val="C00000"/>
                </a:solidFill>
                <a:latin typeface="fkGrotesk"/>
              </a:rPr>
              <a:t>4. Design Choice is Optimization</a:t>
            </a:r>
          </a:p>
          <a:p>
            <a:pPr marL="800100" lvl="1" indent="-342900" algn="just">
              <a:spcBef>
                <a:spcPts val="600"/>
              </a:spcBef>
              <a:buFont typeface="Wingdings" panose="05000000000000000000" pitchFamily="2" charset="2"/>
              <a:buChar char="q"/>
            </a:pPr>
            <a:r>
              <a:rPr lang="en-US" sz="1600" dirty="0">
                <a:latin typeface="fkGroteskNeue"/>
              </a:rPr>
              <a:t>The real art: find the “sweet spot” for </a:t>
            </a:r>
            <a:r>
              <a:rPr lang="en-US" sz="1600" i="1" dirty="0" err="1" smtClean="0">
                <a:latin typeface="KaTeX_Math"/>
              </a:rPr>
              <a:t>Vov</a:t>
            </a:r>
            <a:r>
              <a:rPr lang="en-US" sz="1600" dirty="0">
                <a:latin typeface="fkGroteskNeue"/>
              </a:rPr>
              <a:t> balancing gain, efficiency, mismatch, and speed, based on each block’s needs.</a:t>
            </a:r>
          </a:p>
          <a:p>
            <a:pPr marL="800100" lvl="1" indent="-342900" algn="just">
              <a:spcBef>
                <a:spcPts val="600"/>
              </a:spcBef>
              <a:buFont typeface="Wingdings" panose="05000000000000000000" pitchFamily="2" charset="2"/>
              <a:buChar char="q"/>
            </a:pPr>
            <a:r>
              <a:rPr lang="en-US" sz="1600" dirty="0">
                <a:latin typeface="fkGroteskNeue"/>
              </a:rPr>
              <a:t>This balance is not arbitrary but based on physical curves—nothing hidden, everything visible and quantifiable</a:t>
            </a:r>
            <a:r>
              <a:rPr lang="en-US" sz="1600" dirty="0" smtClean="0">
                <a:latin typeface="fkGroteskNeue"/>
              </a:rPr>
              <a:t>.</a:t>
            </a:r>
            <a:endParaRPr lang="en-US" sz="1600" dirty="0">
              <a:latin typeface="fkGroteskNeue"/>
            </a:endParaRPr>
          </a:p>
        </p:txBody>
      </p:sp>
      <p:sp>
        <p:nvSpPr>
          <p:cNvPr id="4" name="Footer Placeholder 3"/>
          <p:cNvSpPr>
            <a:spLocks noGrp="1"/>
          </p:cNvSpPr>
          <p:nvPr>
            <p:ph type="ftr" sz="quarter" idx="5"/>
          </p:nvPr>
        </p:nvSpPr>
        <p:spPr>
          <a:xfrm>
            <a:off x="5472343" y="6623924"/>
            <a:ext cx="1453389" cy="23407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00320028"/>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Why This Matters for Analog </a:t>
            </a:r>
            <a:r>
              <a:rPr lang="en-US" dirty="0" smtClean="0">
                <a:latin typeface="fkGrotesk"/>
              </a:rPr>
              <a:t>Design</a:t>
            </a:r>
            <a:endParaRPr lang="en-US" dirty="0"/>
          </a:p>
        </p:txBody>
      </p:sp>
      <p:sp>
        <p:nvSpPr>
          <p:cNvPr id="3" name="Text Placeholder 2"/>
          <p:cNvSpPr>
            <a:spLocks noGrp="1"/>
          </p:cNvSpPr>
          <p:nvPr>
            <p:ph type="body" idx="1"/>
          </p:nvPr>
        </p:nvSpPr>
        <p:spPr>
          <a:xfrm>
            <a:off x="844550" y="1327353"/>
            <a:ext cx="10678583" cy="2292935"/>
          </a:xfrm>
        </p:spPr>
        <p:txBody>
          <a:bodyPr/>
          <a:lstStyle/>
          <a:p>
            <a:pPr marL="342900" indent="-342900" algn="l">
              <a:spcBef>
                <a:spcPts val="600"/>
              </a:spcBef>
              <a:buFont typeface="Wingdings" panose="05000000000000000000" pitchFamily="2" charset="2"/>
              <a:buChar char="q"/>
            </a:pPr>
            <a:r>
              <a:rPr lang="en-US" dirty="0" smtClean="0">
                <a:latin typeface="fkGroteskNeue"/>
              </a:rPr>
              <a:t>Every </a:t>
            </a:r>
            <a:r>
              <a:rPr lang="en-US" dirty="0">
                <a:latin typeface="fkGroteskNeue"/>
              </a:rPr>
              <a:t>analog designer faces the gm/ID vs. speed tradeoff—these two properties are at the root of amplifier, filter, and bias circuit decisions.</a:t>
            </a:r>
          </a:p>
          <a:p>
            <a:pPr marL="342900" indent="-342900" algn="l">
              <a:spcBef>
                <a:spcPts val="600"/>
              </a:spcBef>
              <a:buFont typeface="Wingdings" panose="05000000000000000000" pitchFamily="2" charset="2"/>
              <a:buChar char="q"/>
            </a:pPr>
            <a:r>
              <a:rPr lang="en-US" dirty="0">
                <a:latin typeface="fkGroteskNeue"/>
              </a:rPr>
              <a:t>Intuitive understanding of this trade is empowering:</a:t>
            </a:r>
          </a:p>
          <a:p>
            <a:pPr marL="742950" lvl="1" indent="-285750" algn="l">
              <a:spcBef>
                <a:spcPts val="600"/>
              </a:spcBef>
              <a:buFont typeface="Wingdings" panose="05000000000000000000" pitchFamily="2" charset="2"/>
              <a:buChar char="q"/>
            </a:pPr>
            <a:r>
              <a:rPr lang="en-US" dirty="0">
                <a:latin typeface="fkGroteskNeue"/>
              </a:rPr>
              <a:t>Instead of trial and error, use the knob metaphor and curves to make confident, optimized decisions for every stage.</a:t>
            </a:r>
          </a:p>
          <a:p>
            <a:pPr marL="742950" lvl="1" indent="-285750" algn="l">
              <a:spcBef>
                <a:spcPts val="600"/>
              </a:spcBef>
              <a:buFont typeface="Wingdings" panose="05000000000000000000" pitchFamily="2" charset="2"/>
              <a:buChar char="q"/>
            </a:pPr>
            <a:r>
              <a:rPr lang="en-US" dirty="0">
                <a:latin typeface="fkGroteskNeue"/>
              </a:rPr>
              <a:t>This is the transition from “blind tweaking” to “informed engineering.”</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129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87400" y="3535740"/>
            <a:ext cx="10625668" cy="1985159"/>
          </a:xfrm>
          <a:prstGeom prst="rect">
            <a:avLst/>
          </a:prstGeom>
        </p:spPr>
        <p:txBody>
          <a:bodyPr wrap="square">
            <a:spAutoFit/>
          </a:bodyPr>
          <a:lstStyle/>
          <a:p>
            <a:pPr algn="ctr">
              <a:spcBef>
                <a:spcPts val="600"/>
              </a:spcBef>
            </a:pPr>
            <a:r>
              <a:rPr lang="en-US" b="1" i="0" dirty="0" smtClean="0">
                <a:solidFill>
                  <a:srgbClr val="C00000"/>
                </a:solidFill>
                <a:effectLst/>
                <a:latin typeface="fkGroteskNeue"/>
              </a:rPr>
              <a:t>Heart of the Methodology:</a:t>
            </a:r>
          </a:p>
          <a:p>
            <a:pPr marL="285750" indent="-285750" algn="just">
              <a:spcBef>
                <a:spcPts val="600"/>
              </a:spcBef>
              <a:buFont typeface="Wingdings" panose="05000000000000000000" pitchFamily="2" charset="2"/>
              <a:buChar char="q"/>
            </a:pPr>
            <a:r>
              <a:rPr lang="en-US" b="0" i="0" dirty="0" smtClean="0">
                <a:effectLst/>
                <a:latin typeface="fkGroteskNeue"/>
              </a:rPr>
              <a:t>For a fixed current, </a:t>
            </a:r>
            <a:r>
              <a:rPr lang="en-US" b="0" i="1" dirty="0" err="1" smtClean="0">
                <a:effectLst/>
                <a:latin typeface="KaTeX_Math"/>
              </a:rPr>
              <a:t>Vov</a:t>
            </a:r>
            <a:r>
              <a:rPr lang="en-US" b="0" i="0" dirty="0" smtClean="0">
                <a:effectLst/>
                <a:latin typeface="fkGroteskNeue"/>
              </a:rPr>
              <a:t> lets the designer ‘spend’ that current on either gain (gm/ID) or speed (</a:t>
            </a:r>
            <a:r>
              <a:rPr lang="en-US" b="0" i="1" dirty="0" err="1" smtClean="0">
                <a:effectLst/>
                <a:latin typeface="KaTeX_Math"/>
              </a:rPr>
              <a:t>fT</a:t>
            </a:r>
            <a:r>
              <a:rPr lang="en-US" b="0" i="0" dirty="0" smtClean="0">
                <a:effectLst/>
                <a:latin typeface="fkGroteskNeue"/>
              </a:rPr>
              <a:t>), depending on application needs. </a:t>
            </a:r>
          </a:p>
          <a:p>
            <a:pPr marL="285750" indent="-285750" algn="just">
              <a:spcBef>
                <a:spcPts val="600"/>
              </a:spcBef>
              <a:buFont typeface="Wingdings" panose="05000000000000000000" pitchFamily="2" charset="2"/>
              <a:buChar char="q"/>
            </a:pPr>
            <a:r>
              <a:rPr lang="en-US" b="0" i="0" dirty="0" smtClean="0">
                <a:effectLst/>
                <a:latin typeface="fkGroteskNeue"/>
              </a:rPr>
              <a:t>The reason you cannot set </a:t>
            </a:r>
            <a:r>
              <a:rPr lang="en-US" b="0" i="1" dirty="0" err="1" smtClean="0">
                <a:effectLst/>
                <a:latin typeface="KaTeX_Math"/>
              </a:rPr>
              <a:t>Vov</a:t>
            </a:r>
            <a:r>
              <a:rPr lang="en-US" b="0" i="0" dirty="0" smtClean="0">
                <a:effectLst/>
                <a:latin typeface="fkGroteskNeue"/>
              </a:rPr>
              <a:t> arbitrarily low is because speed—</a:t>
            </a:r>
            <a:r>
              <a:rPr lang="en-US" b="0" i="0" dirty="0" err="1" smtClean="0">
                <a:effectLst/>
                <a:latin typeface="fkGroteskNeue"/>
              </a:rPr>
              <a:t>fT</a:t>
            </a:r>
            <a:r>
              <a:rPr lang="en-US" b="0" i="0" dirty="0" smtClean="0">
                <a:effectLst/>
                <a:latin typeface="fkGroteskNeue"/>
              </a:rPr>
              <a:t>—matters. </a:t>
            </a:r>
          </a:p>
          <a:p>
            <a:pPr marL="285750" indent="-285750" algn="just">
              <a:spcBef>
                <a:spcPts val="600"/>
              </a:spcBef>
              <a:buFont typeface="Wingdings" panose="05000000000000000000" pitchFamily="2" charset="2"/>
              <a:buChar char="q"/>
            </a:pPr>
            <a:r>
              <a:rPr lang="en-US" b="0" i="0" dirty="0" smtClean="0">
                <a:effectLst/>
                <a:latin typeface="fkGroteskNeue"/>
              </a:rPr>
              <a:t>The insight shown in previous figures transforms analog design from a guessing game to a process grounded in physics and optimization.</a:t>
            </a:r>
            <a:endParaRPr lang="en-US" dirty="0"/>
          </a:p>
        </p:txBody>
      </p:sp>
    </p:spTree>
    <p:extLst>
      <p:ext uri="{BB962C8B-B14F-4D97-AF65-F5344CB8AC3E}">
        <p14:creationId xmlns:p14="http://schemas.microsoft.com/office/powerpoint/2010/main" val="3501667864"/>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latin typeface="fkGrotesk"/>
              </a:rPr>
              <a:t>Stepwise Insights</a:t>
            </a:r>
            <a:endParaRPr lang="en-US" dirty="0"/>
          </a:p>
        </p:txBody>
      </p:sp>
      <p:sp>
        <p:nvSpPr>
          <p:cNvPr id="3" name="Text Placeholder 2"/>
          <p:cNvSpPr>
            <a:spLocks noGrp="1"/>
          </p:cNvSpPr>
          <p:nvPr>
            <p:ph type="body" idx="1"/>
          </p:nvPr>
        </p:nvSpPr>
        <p:spPr>
          <a:xfrm>
            <a:off x="768350" y="1107220"/>
            <a:ext cx="11178117" cy="5386090"/>
          </a:xfrm>
        </p:spPr>
        <p:txBody>
          <a:bodyPr/>
          <a:lstStyle/>
          <a:p>
            <a:pPr algn="just">
              <a:spcBef>
                <a:spcPts val="600"/>
              </a:spcBef>
              <a:buFont typeface="+mj-lt"/>
              <a:buAutoNum type="arabicPeriod"/>
            </a:pPr>
            <a:r>
              <a:rPr lang="en-US" dirty="0">
                <a:solidFill>
                  <a:srgbClr val="C00000"/>
                </a:solidFill>
                <a:latin typeface="fkGroteskNeue"/>
              </a:rPr>
              <a:t>Set your current </a:t>
            </a:r>
            <a:r>
              <a:rPr lang="en-US" dirty="0" smtClean="0">
                <a:solidFill>
                  <a:srgbClr val="C00000"/>
                </a:solidFill>
                <a:latin typeface="fkGroteskNeue"/>
              </a:rPr>
              <a:t>(</a:t>
            </a:r>
            <a:r>
              <a:rPr lang="en-US" i="1" dirty="0" smtClean="0">
                <a:solidFill>
                  <a:srgbClr val="C00000"/>
                </a:solidFill>
                <a:latin typeface="KaTeX_Math"/>
              </a:rPr>
              <a:t>ID</a:t>
            </a:r>
            <a:r>
              <a:rPr lang="en-US" dirty="0">
                <a:solidFill>
                  <a:srgbClr val="C00000"/>
                </a:solidFill>
                <a:latin typeface="fkGroteskNeue"/>
              </a:rPr>
              <a:t>) budget for each transistor—usually dictated by system-level specs (power, bias points, etc.).</a:t>
            </a:r>
          </a:p>
          <a:p>
            <a:pPr algn="just">
              <a:spcBef>
                <a:spcPts val="600"/>
              </a:spcBef>
              <a:buFont typeface="+mj-lt"/>
              <a:buAutoNum type="arabicPeriod"/>
            </a:pPr>
            <a:r>
              <a:rPr lang="en-US" dirty="0">
                <a:solidFill>
                  <a:srgbClr val="C00000"/>
                </a:solidFill>
                <a:latin typeface="fkGroteskNeue"/>
              </a:rPr>
              <a:t>Use </a:t>
            </a:r>
            <a:r>
              <a:rPr lang="en-US" i="1" dirty="0" err="1" smtClean="0">
                <a:solidFill>
                  <a:srgbClr val="C00000"/>
                </a:solidFill>
                <a:latin typeface="KaTeX_Math"/>
              </a:rPr>
              <a:t>Vov</a:t>
            </a:r>
            <a:r>
              <a:rPr lang="en-US" dirty="0">
                <a:solidFill>
                  <a:srgbClr val="C00000"/>
                </a:solidFill>
                <a:latin typeface="fkGroteskNeue"/>
              </a:rPr>
              <a:t> as a tuning knob:</a:t>
            </a:r>
          </a:p>
          <a:p>
            <a:pPr marL="742950" lvl="1" indent="-285750" algn="just">
              <a:spcBef>
                <a:spcPts val="600"/>
              </a:spcBef>
              <a:buFont typeface="Wingdings" panose="05000000000000000000" pitchFamily="2" charset="2"/>
              <a:buChar char="q"/>
            </a:pPr>
            <a:r>
              <a:rPr lang="en-US" dirty="0">
                <a:latin typeface="fkGroteskNeue"/>
              </a:rPr>
              <a:t>For </a:t>
            </a:r>
            <a:r>
              <a:rPr lang="en-US" i="1" dirty="0">
                <a:latin typeface="fkGroteskNeue"/>
              </a:rPr>
              <a:t>low power</a:t>
            </a:r>
            <a:r>
              <a:rPr lang="en-US" dirty="0">
                <a:latin typeface="fkGroteskNeue"/>
              </a:rPr>
              <a:t>, set </a:t>
            </a:r>
            <a:r>
              <a:rPr lang="en-US" i="1" dirty="0" err="1" smtClean="0">
                <a:latin typeface="KaTeX_Math"/>
              </a:rPr>
              <a:t>Vov</a:t>
            </a:r>
            <a:r>
              <a:rPr lang="en-US" dirty="0">
                <a:latin typeface="fkGroteskNeue"/>
              </a:rPr>
              <a:t> low, maximize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minimize current for a given gain.</a:t>
            </a:r>
          </a:p>
          <a:p>
            <a:pPr marL="742950" lvl="1" indent="-285750" algn="just">
              <a:spcBef>
                <a:spcPts val="600"/>
              </a:spcBef>
              <a:buFont typeface="Wingdings" panose="05000000000000000000" pitchFamily="2" charset="2"/>
              <a:buChar char="q"/>
            </a:pPr>
            <a:r>
              <a:rPr lang="en-US" dirty="0">
                <a:latin typeface="fkGroteskNeue"/>
              </a:rPr>
              <a:t>For </a:t>
            </a:r>
            <a:r>
              <a:rPr lang="en-US" i="1" dirty="0">
                <a:latin typeface="fkGroteskNeue"/>
              </a:rPr>
              <a:t>high speed</a:t>
            </a:r>
            <a:r>
              <a:rPr lang="en-US" dirty="0">
                <a:latin typeface="fkGroteskNeue"/>
              </a:rPr>
              <a:t>, set </a:t>
            </a:r>
            <a:r>
              <a:rPr lang="en-US" i="1" dirty="0" err="1" smtClean="0">
                <a:latin typeface="KaTeX_Math"/>
              </a:rPr>
              <a:t>Vov</a:t>
            </a:r>
            <a:r>
              <a:rPr lang="en-US" dirty="0">
                <a:latin typeface="fkGroteskNeue"/>
              </a:rPr>
              <a:t> higher, maximize </a:t>
            </a:r>
            <a:r>
              <a:rPr lang="en-US" i="1" dirty="0" err="1" smtClean="0">
                <a:latin typeface="KaTeX_Math"/>
              </a:rPr>
              <a:t>fT</a:t>
            </a:r>
            <a:r>
              <a:rPr lang="en-US" dirty="0">
                <a:latin typeface="fkGroteskNeue"/>
              </a:rPr>
              <a:t>, trade off efficiency for bandwidth.</a:t>
            </a:r>
          </a:p>
          <a:p>
            <a:pPr algn="just">
              <a:spcBef>
                <a:spcPts val="600"/>
              </a:spcBef>
              <a:buFont typeface="+mj-lt"/>
              <a:buAutoNum type="arabicPeriod"/>
            </a:pPr>
            <a:r>
              <a:rPr lang="en-US" dirty="0">
                <a:solidFill>
                  <a:srgbClr val="C00000"/>
                </a:solidFill>
                <a:latin typeface="fkGroteskNeue"/>
              </a:rPr>
              <a:t>Never make </a:t>
            </a:r>
            <a:r>
              <a:rPr lang="en-US" i="1" dirty="0" err="1" smtClean="0">
                <a:solidFill>
                  <a:srgbClr val="C00000"/>
                </a:solidFill>
                <a:latin typeface="KaTeX_Math"/>
              </a:rPr>
              <a:t>Vov</a:t>
            </a:r>
            <a:r>
              <a:rPr lang="en-US" dirty="0">
                <a:solidFill>
                  <a:srgbClr val="C00000"/>
                </a:solidFill>
                <a:latin typeface="fkGroteskNeue"/>
              </a:rPr>
              <a:t> arbitrarily small!</a:t>
            </a:r>
          </a:p>
          <a:p>
            <a:pPr marL="742950" lvl="1" indent="-285750" algn="just">
              <a:spcBef>
                <a:spcPts val="600"/>
              </a:spcBef>
              <a:buFont typeface="Wingdings" panose="05000000000000000000" pitchFamily="2" charset="2"/>
              <a:buChar char="q"/>
            </a:pPr>
            <a:r>
              <a:rPr lang="en-US" dirty="0">
                <a:latin typeface="fkGroteskNeue"/>
              </a:rPr>
              <a:t>As </a:t>
            </a:r>
            <a:r>
              <a:rPr lang="en-US" dirty="0" smtClean="0">
                <a:latin typeface="fkGroteskNeue"/>
              </a:rPr>
              <a:t>we know that by lowering </a:t>
            </a:r>
            <a:r>
              <a:rPr lang="en-US" i="1" dirty="0" err="1" smtClean="0">
                <a:latin typeface="KaTeX_Math"/>
              </a:rPr>
              <a:t>Vov</a:t>
            </a:r>
            <a:r>
              <a:rPr lang="en-US" dirty="0">
                <a:latin typeface="fkGroteskNeue"/>
              </a:rPr>
              <a:t> sacrifices transistor speed—potentially making the circuit sluggish or limiting bandwidth.</a:t>
            </a:r>
          </a:p>
          <a:p>
            <a:pPr marL="742950" lvl="1" indent="-285750" algn="just">
              <a:spcBef>
                <a:spcPts val="600"/>
              </a:spcBef>
              <a:buFont typeface="Wingdings" panose="05000000000000000000" pitchFamily="2" charset="2"/>
              <a:buChar char="q"/>
            </a:pPr>
            <a:r>
              <a:rPr lang="en-US" dirty="0">
                <a:latin typeface="fkGroteskNeue"/>
              </a:rPr>
              <a:t>Physical performance is always a tradeoff: you must balance gain efficiency and speed according to actual requirements.</a:t>
            </a:r>
          </a:p>
          <a:p>
            <a:pPr algn="just">
              <a:spcBef>
                <a:spcPts val="600"/>
              </a:spcBef>
              <a:buFont typeface="+mj-lt"/>
              <a:buAutoNum type="arabicPeriod"/>
            </a:pPr>
            <a:r>
              <a:rPr lang="en-US" dirty="0">
                <a:solidFill>
                  <a:srgbClr val="C00000"/>
                </a:solidFill>
                <a:latin typeface="fkGroteskNeue"/>
              </a:rPr>
              <a:t>Use gm/ID methodology data or plots</a:t>
            </a:r>
          </a:p>
          <a:p>
            <a:pPr marL="742950" lvl="1" indent="-285750" algn="just">
              <a:spcBef>
                <a:spcPts val="600"/>
              </a:spcBef>
              <a:buFont typeface="Wingdings" panose="05000000000000000000" pitchFamily="2" charset="2"/>
              <a:buChar char="q"/>
            </a:pPr>
            <a:r>
              <a:rPr lang="en-US" dirty="0">
                <a:latin typeface="fkGroteskNeue"/>
              </a:rPr>
              <a:t>The optimum point for each design block is found by reading these curves; every modern analog designer uses them as the basis for sizing transistors and balancing trade-offs.</a:t>
            </a:r>
          </a:p>
          <a:p>
            <a:pPr algn="just">
              <a:spcBef>
                <a:spcPts val="600"/>
              </a:spcBef>
              <a:buFont typeface="+mj-lt"/>
              <a:buAutoNum type="arabicPeriod"/>
            </a:pPr>
            <a:r>
              <a:rPr lang="en-US" dirty="0">
                <a:solidFill>
                  <a:srgbClr val="C00000"/>
                </a:solidFill>
                <a:latin typeface="fkGroteskNeue"/>
              </a:rPr>
              <a:t>Make design choices, not guesses</a:t>
            </a:r>
          </a:p>
          <a:p>
            <a:pPr marL="742950" lvl="1" indent="-285750" algn="just">
              <a:spcBef>
                <a:spcPts val="600"/>
              </a:spcBef>
              <a:buFont typeface="Wingdings" panose="05000000000000000000" pitchFamily="2" charset="2"/>
              <a:buChar char="q"/>
            </a:pPr>
            <a:r>
              <a:rPr lang="en-US" dirty="0">
                <a:latin typeface="fkGroteskNeue"/>
              </a:rPr>
              <a:t>This process is clear, quantifiable, and technology-independent: each process generation gives updated curves, but the principles hold everywhere</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a:xfrm>
            <a:off x="5455411" y="6657791"/>
            <a:ext cx="1614256" cy="2002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1807601" y="6643369"/>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58133283"/>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Motivation: Unifying Analog </a:t>
            </a:r>
            <a:r>
              <a:rPr lang="en-US" dirty="0" smtClean="0">
                <a:latin typeface="fkGrotesk"/>
              </a:rPr>
              <a:t>Design</a:t>
            </a:r>
            <a:endParaRPr lang="en-US" dirty="0"/>
          </a:p>
        </p:txBody>
      </p:sp>
      <p:sp>
        <p:nvSpPr>
          <p:cNvPr id="3" name="Text Placeholder 2"/>
          <p:cNvSpPr>
            <a:spLocks noGrp="1"/>
          </p:cNvSpPr>
          <p:nvPr>
            <p:ph type="body" idx="1"/>
          </p:nvPr>
        </p:nvSpPr>
        <p:spPr>
          <a:xfrm>
            <a:off x="844550" y="1327353"/>
            <a:ext cx="10898717" cy="2308324"/>
          </a:xfrm>
        </p:spPr>
        <p:txBody>
          <a:bodyPr/>
          <a:lstStyle/>
          <a:p>
            <a:pPr marL="342900" indent="-342900" algn="just">
              <a:spcBef>
                <a:spcPts val="600"/>
              </a:spcBef>
              <a:buFont typeface="Wingdings" panose="05000000000000000000" pitchFamily="2" charset="2"/>
              <a:buChar char="q"/>
            </a:pPr>
            <a:r>
              <a:rPr lang="en-US" dirty="0" smtClean="0">
                <a:latin typeface="fkGroteskNeue"/>
              </a:rPr>
              <a:t>The </a:t>
            </a:r>
            <a:r>
              <a:rPr lang="en-US" dirty="0">
                <a:latin typeface="fkGroteskNeue"/>
              </a:rPr>
              <a:t>real “heart of the matter” is that </a:t>
            </a:r>
            <a:r>
              <a:rPr lang="en-US" i="1" dirty="0" err="1" smtClean="0">
                <a:latin typeface="KaTeX_Math"/>
              </a:rPr>
              <a:t>Vov</a:t>
            </a:r>
            <a:r>
              <a:rPr lang="en-US" dirty="0">
                <a:latin typeface="fkGroteskNeue"/>
              </a:rPr>
              <a:t> gives designers explicit control over two conflicting needs (gain efficiency and speed).</a:t>
            </a:r>
          </a:p>
          <a:p>
            <a:pPr marL="342900" indent="-342900" algn="just">
              <a:spcBef>
                <a:spcPts val="600"/>
              </a:spcBef>
              <a:buFont typeface="Wingdings" panose="05000000000000000000" pitchFamily="2" charset="2"/>
              <a:buChar char="q"/>
            </a:pPr>
            <a:r>
              <a:rPr lang="en-US" dirty="0">
                <a:latin typeface="fkGroteskNeue"/>
              </a:rPr>
              <a:t>Every decision in analog circuit design can be posed as: How much current should be spent on gain versus speed?</a:t>
            </a:r>
          </a:p>
          <a:p>
            <a:pPr marL="342900" indent="-342900" algn="just">
              <a:spcBef>
                <a:spcPts val="600"/>
              </a:spcBef>
              <a:buFont typeface="Wingdings" panose="05000000000000000000" pitchFamily="2" charset="2"/>
              <a:buChar char="q"/>
            </a:pPr>
            <a:r>
              <a:rPr lang="en-US" dirty="0">
                <a:latin typeface="fkGroteskNeue"/>
              </a:rPr>
              <a:t>Before gm/ID methodology, these trade-offs were hard to quantify; now it’s visual, systematic, and forms the backbone of modern analog and RF design flow.</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719667" y="3708738"/>
            <a:ext cx="10896600" cy="1631216"/>
          </a:xfrm>
          <a:prstGeom prst="rect">
            <a:avLst/>
          </a:prstGeom>
        </p:spPr>
        <p:txBody>
          <a:bodyPr wrap="square">
            <a:spAutoFit/>
          </a:bodyPr>
          <a:lstStyle/>
          <a:p>
            <a:pPr algn="ctr">
              <a:spcBef>
                <a:spcPts val="600"/>
              </a:spcBef>
            </a:pPr>
            <a:r>
              <a:rPr lang="en-US" b="1" i="0" dirty="0" smtClean="0">
                <a:solidFill>
                  <a:srgbClr val="C00000"/>
                </a:solidFill>
                <a:effectLst/>
                <a:latin typeface="fkGroteskNeue"/>
              </a:rPr>
              <a:t>Summary:</a:t>
            </a:r>
          </a:p>
          <a:p>
            <a:pPr marL="285750" indent="-285750" algn="just">
              <a:spcBef>
                <a:spcPts val="600"/>
              </a:spcBef>
              <a:buFont typeface="Wingdings" panose="05000000000000000000" pitchFamily="2" charset="2"/>
              <a:buChar char="q"/>
            </a:pPr>
            <a:r>
              <a:rPr lang="en-US" dirty="0" smtClean="0">
                <a:latin typeface="fkGroteskNeue"/>
              </a:rPr>
              <a:t>As of now we know </a:t>
            </a:r>
            <a:r>
              <a:rPr lang="en-US" b="0" i="0" dirty="0" smtClean="0">
                <a:effectLst/>
                <a:latin typeface="fkGroteskNeue"/>
              </a:rPr>
              <a:t>why </a:t>
            </a:r>
            <a:r>
              <a:rPr lang="en-US" b="0" i="1" dirty="0" err="1" smtClean="0">
                <a:effectLst/>
                <a:latin typeface="KaTeX_Math"/>
              </a:rPr>
              <a:t>Vov</a:t>
            </a:r>
            <a:r>
              <a:rPr lang="en-US" b="0" i="0" dirty="0" smtClean="0">
                <a:effectLst/>
                <a:latin typeface="fkGroteskNeue"/>
              </a:rPr>
              <a:t> is the most powerful 'knob' in a designer’s toolkit—</a:t>
            </a:r>
          </a:p>
          <a:p>
            <a:pPr marL="285750" indent="-285750" algn="just">
              <a:spcBef>
                <a:spcPts val="600"/>
              </a:spcBef>
              <a:buFont typeface="Wingdings" panose="05000000000000000000" pitchFamily="2" charset="2"/>
              <a:buChar char="q"/>
            </a:pPr>
            <a:r>
              <a:rPr lang="en-US" dirty="0" smtClean="0">
                <a:latin typeface="fkGroteskNeue"/>
              </a:rPr>
              <a:t>Because </a:t>
            </a:r>
            <a:r>
              <a:rPr lang="en-US" b="0" i="0" dirty="0" smtClean="0">
                <a:effectLst/>
                <a:latin typeface="fkGroteskNeue"/>
              </a:rPr>
              <a:t>it lets you program the behavior of your circuit for any given current, choosing optimal tradeoffs between efficiency and bandwidth, and making the design process fundamentally physical and transparent.</a:t>
            </a:r>
            <a:endParaRPr lang="en-US" dirty="0"/>
          </a:p>
        </p:txBody>
      </p:sp>
    </p:spTree>
    <p:extLst>
      <p:ext uri="{BB962C8B-B14F-4D97-AF65-F5344CB8AC3E}">
        <p14:creationId xmlns:p14="http://schemas.microsoft.com/office/powerpoint/2010/main" val="390869374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In-Depth Intuition </a:t>
            </a:r>
            <a:r>
              <a:rPr lang="en-US" dirty="0" smtClean="0">
                <a:latin typeface="fkGrotesk"/>
              </a:rPr>
              <a:t>on: </a:t>
            </a:r>
            <a:r>
              <a:rPr lang="en-US" dirty="0">
                <a:latin typeface="fkGrotesk"/>
              </a:rPr>
              <a:t>Using </a:t>
            </a:r>
            <a:r>
              <a:rPr lang="en-US" i="1" dirty="0" err="1" smtClean="0">
                <a:latin typeface="KaTeX_Math"/>
              </a:rPr>
              <a:t>Vov</a:t>
            </a:r>
            <a:r>
              <a:rPr lang="en-US" dirty="0">
                <a:latin typeface="fkGrotesk"/>
              </a:rPr>
              <a:t> for Design </a:t>
            </a:r>
            <a:r>
              <a:rPr lang="en-US" dirty="0" smtClean="0">
                <a:latin typeface="fkGrotesk"/>
              </a:rPr>
              <a:t>Decisions</a:t>
            </a:r>
            <a:endParaRPr lang="en-US" dirty="0"/>
          </a:p>
        </p:txBody>
      </p:sp>
      <p:sp>
        <p:nvSpPr>
          <p:cNvPr id="3" name="Text Placeholder 2"/>
          <p:cNvSpPr>
            <a:spLocks noGrp="1"/>
          </p:cNvSpPr>
          <p:nvPr>
            <p:ph type="body" idx="1"/>
          </p:nvPr>
        </p:nvSpPr>
        <p:spPr>
          <a:xfrm>
            <a:off x="184151" y="1471286"/>
            <a:ext cx="3854449" cy="3631763"/>
          </a:xfrm>
        </p:spPr>
        <p:txBody>
          <a:bodyPr/>
          <a:lstStyle/>
          <a:p>
            <a:pPr algn="just"/>
            <a:r>
              <a:rPr lang="en-US" sz="1800" dirty="0" smtClean="0"/>
              <a:t>The</a:t>
            </a:r>
            <a:r>
              <a:rPr lang="en-US" sz="1800" dirty="0"/>
              <a:t> blue curve represents the ratio </a:t>
            </a:r>
            <a:r>
              <a:rPr lang="en-US" sz="1800" i="1" dirty="0" smtClean="0">
                <a:latin typeface="KaTeX_Math"/>
              </a:rPr>
              <a:t>gm/</a:t>
            </a:r>
            <a:r>
              <a:rPr lang="en-US" sz="1800" i="1" dirty="0">
                <a:latin typeface="KaTeX_Math"/>
              </a:rPr>
              <a:t>ID</a:t>
            </a:r>
            <a:r>
              <a:rPr lang="en-US" sz="1800" dirty="0" smtClean="0"/>
              <a:t>, </a:t>
            </a:r>
            <a:r>
              <a:rPr lang="en-US" sz="1800" dirty="0"/>
              <a:t>known as </a:t>
            </a:r>
            <a:r>
              <a:rPr lang="en-US" sz="1800" dirty="0" err="1"/>
              <a:t>transconductance</a:t>
            </a:r>
            <a:r>
              <a:rPr lang="en-US" sz="1800" dirty="0"/>
              <a:t> efficiency, plotted on a log scale on the left.</a:t>
            </a:r>
          </a:p>
          <a:p>
            <a:pPr marL="285750" indent="-285750" algn="just">
              <a:buFont typeface="Wingdings" panose="05000000000000000000" pitchFamily="2" charset="2"/>
              <a:buChar char="q"/>
            </a:pPr>
            <a:r>
              <a:rPr lang="en-US" sz="1800" dirty="0"/>
              <a:t>High values mean you get more gain (</a:t>
            </a:r>
            <a:r>
              <a:rPr lang="en-US" sz="1800" dirty="0" err="1"/>
              <a:t>transconductance</a:t>
            </a:r>
            <a:r>
              <a:rPr lang="en-US" sz="1800" dirty="0"/>
              <a:t>) per unit current. This equates to higher power efficiency.</a:t>
            </a:r>
          </a:p>
          <a:p>
            <a:pPr marL="285750" indent="-285750" algn="just">
              <a:buFont typeface="Wingdings" panose="05000000000000000000" pitchFamily="2" charset="2"/>
              <a:buChar char="q"/>
            </a:pPr>
            <a:r>
              <a:rPr lang="en-US" sz="1800" dirty="0"/>
              <a:t>As </a:t>
            </a:r>
            <a:r>
              <a:rPr lang="en-US" sz="1800" i="1" dirty="0" err="1" smtClean="0">
                <a:latin typeface="KaTeX_Math"/>
              </a:rPr>
              <a:t>Vov</a:t>
            </a:r>
            <a:r>
              <a:rPr lang="en-US" sz="1800" dirty="0"/>
              <a:t> increases, efficiency decreases due to changes in device physics and increased channel inversion charge.</a:t>
            </a:r>
          </a:p>
          <a:p>
            <a:pPr marL="342900" indent="-342900" algn="just">
              <a:buFont typeface="Arial" panose="020B0604020202020204" pitchFamily="34" charset="0"/>
              <a:buChar char="•"/>
            </a:pP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070680" y="1533448"/>
            <a:ext cx="4102311" cy="2978303"/>
          </a:xfrm>
          <a:prstGeom prst="rect">
            <a:avLst/>
          </a:prstGeom>
        </p:spPr>
      </p:pic>
      <p:sp>
        <p:nvSpPr>
          <p:cNvPr id="8" name="Rectangle 7"/>
          <p:cNvSpPr/>
          <p:nvPr/>
        </p:nvSpPr>
        <p:spPr>
          <a:xfrm>
            <a:off x="4768394" y="4584356"/>
            <a:ext cx="3169457" cy="276999"/>
          </a:xfrm>
          <a:prstGeom prst="rect">
            <a:avLst/>
          </a:prstGeom>
        </p:spPr>
        <p:txBody>
          <a:bodyPr wrap="none">
            <a:spAutoFit/>
          </a:bodyPr>
          <a:lstStyle/>
          <a:p>
            <a:r>
              <a:rPr lang="en-US" sz="1200" b="1" i="0" u="none" strike="noStrike" baseline="0" dirty="0" smtClean="0">
                <a:solidFill>
                  <a:srgbClr val="00B050"/>
                </a:solidFill>
                <a:latin typeface="CMR10"/>
              </a:rPr>
              <a:t>Design example showing how to use </a:t>
            </a:r>
            <a:r>
              <a:rPr lang="en-US" sz="1200" b="1" i="0" u="none" strike="noStrike" baseline="0" dirty="0" err="1" smtClean="0">
                <a:solidFill>
                  <a:srgbClr val="00B050"/>
                </a:solidFill>
                <a:latin typeface="CMMI10"/>
              </a:rPr>
              <a:t>V</a:t>
            </a:r>
            <a:r>
              <a:rPr lang="en-US" sz="1000" b="1" i="0" u="none" strike="noStrike" baseline="0" dirty="0" err="1" smtClean="0">
                <a:solidFill>
                  <a:srgbClr val="00B050"/>
                </a:solidFill>
                <a:latin typeface="CMMI7"/>
              </a:rPr>
              <a:t>ov</a:t>
            </a:r>
            <a:endParaRPr lang="en-US" sz="2800" b="1" dirty="0">
              <a:solidFill>
                <a:srgbClr val="00B050"/>
              </a:solidFill>
            </a:endParaRPr>
          </a:p>
        </p:txBody>
      </p:sp>
      <p:sp>
        <p:nvSpPr>
          <p:cNvPr id="9" name="Rectangle 8"/>
          <p:cNvSpPr/>
          <p:nvPr/>
        </p:nvSpPr>
        <p:spPr>
          <a:xfrm>
            <a:off x="8322732" y="1431205"/>
            <a:ext cx="3869267" cy="3416320"/>
          </a:xfrm>
          <a:prstGeom prst="rect">
            <a:avLst/>
          </a:prstGeom>
        </p:spPr>
        <p:txBody>
          <a:bodyPr wrap="square">
            <a:spAutoFit/>
          </a:bodyPr>
          <a:lstStyle/>
          <a:p>
            <a:pPr algn="just"/>
            <a:r>
              <a:rPr lang="en-US" dirty="0">
                <a:latin typeface="Verdana" panose="020B0604030504040204" pitchFamily="34" charset="0"/>
                <a:ea typeface="Verdana" panose="020B0604030504040204" pitchFamily="34" charset="0"/>
              </a:rPr>
              <a:t>The green curve represents the transit frequency (</a:t>
            </a:r>
            <a:r>
              <a:rPr lang="en-US" i="1" dirty="0" err="1">
                <a:latin typeface="Verdana" panose="020B0604030504040204" pitchFamily="34" charset="0"/>
                <a:ea typeface="Verdana" panose="020B0604030504040204" pitchFamily="34" charset="0"/>
              </a:rPr>
              <a:t>fT</a:t>
            </a:r>
            <a:r>
              <a:rPr lang="en-US" dirty="0">
                <a:latin typeface="Verdana" panose="020B0604030504040204" pitchFamily="34" charset="0"/>
                <a:ea typeface="Verdana" panose="020B0604030504040204" pitchFamily="34" charset="0"/>
              </a:rPr>
              <a:t>) on the right log scale.</a:t>
            </a:r>
          </a:p>
          <a:p>
            <a:pPr marL="285750" indent="-285750" algn="just">
              <a:buFont typeface="Wingdings" panose="05000000000000000000" pitchFamily="2" charset="2"/>
              <a:buChar char="q"/>
            </a:pPr>
            <a:r>
              <a:rPr lang="en-US" i="1" dirty="0" err="1">
                <a:latin typeface="Verdana" panose="020B0604030504040204" pitchFamily="34" charset="0"/>
                <a:ea typeface="Verdana" panose="020B0604030504040204" pitchFamily="34" charset="0"/>
              </a:rPr>
              <a:t>fT</a:t>
            </a:r>
            <a:r>
              <a:rPr lang="en-US" dirty="0">
                <a:latin typeface="Verdana" panose="020B0604030504040204" pitchFamily="34" charset="0"/>
                <a:ea typeface="Verdana" panose="020B0604030504040204" pitchFamily="34" charset="0"/>
              </a:rPr>
              <a:t> indicates the maximum speed of the transistor—the higher the </a:t>
            </a:r>
            <a:r>
              <a:rPr lang="en-US" i="1" dirty="0" err="1">
                <a:latin typeface="Verdana" panose="020B0604030504040204" pitchFamily="34" charset="0"/>
                <a:ea typeface="Verdana" panose="020B0604030504040204" pitchFamily="34" charset="0"/>
              </a:rPr>
              <a:t>Vov</a:t>
            </a:r>
            <a:r>
              <a:rPr lang="en-US" dirty="0">
                <a:latin typeface="Verdana" panose="020B0604030504040204" pitchFamily="34" charset="0"/>
                <a:ea typeface="Verdana" panose="020B0604030504040204" pitchFamily="34" charset="0"/>
              </a:rPr>
              <a:t>, the higher the speed.</a:t>
            </a:r>
          </a:p>
          <a:p>
            <a:pPr marL="285750" indent="-285750" algn="just">
              <a:buFont typeface="Wingdings" panose="05000000000000000000" pitchFamily="2" charset="2"/>
              <a:buChar char="q"/>
            </a:pPr>
            <a:r>
              <a:rPr lang="en-US" dirty="0">
                <a:latin typeface="Verdana" panose="020B0604030504040204" pitchFamily="34" charset="0"/>
                <a:ea typeface="Verdana" panose="020B0604030504040204" pitchFamily="34" charset="0"/>
              </a:rPr>
              <a:t>Transistor speed improves with increasing </a:t>
            </a:r>
            <a:r>
              <a:rPr lang="en-US" i="1" dirty="0" err="1">
                <a:latin typeface="Verdana" panose="020B0604030504040204" pitchFamily="34" charset="0"/>
                <a:ea typeface="Verdana" panose="020B0604030504040204" pitchFamily="34" charset="0"/>
              </a:rPr>
              <a:t>Vov</a:t>
            </a:r>
            <a:r>
              <a:rPr lang="en-US" dirty="0">
                <a:latin typeface="Verdana" panose="020B0604030504040204" pitchFamily="34" charset="0"/>
                <a:ea typeface="Verdana" panose="020B0604030504040204" pitchFamily="34" charset="0"/>
              </a:rPr>
              <a:t> due to stronger inversion and faster charge carrier transit.</a:t>
            </a:r>
            <a:r>
              <a:rPr lang="en-US" dirty="0">
                <a:latin typeface="KaTeX_Main"/>
              </a:rPr>
              <a:t/>
            </a:r>
            <a:br>
              <a:rPr lang="en-US" dirty="0">
                <a:latin typeface="KaTeX_Main"/>
              </a:rPr>
            </a:br>
            <a:endParaRPr lang="en-US" dirty="0"/>
          </a:p>
        </p:txBody>
      </p:sp>
    </p:spTree>
    <p:extLst>
      <p:ext uri="{BB962C8B-B14F-4D97-AF65-F5344CB8AC3E}">
        <p14:creationId xmlns:p14="http://schemas.microsoft.com/office/powerpoint/2010/main" val="3043660316"/>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835260" cy="1692771"/>
          </a:xfrm>
        </p:spPr>
        <p:txBody>
          <a:bodyPr/>
          <a:lstStyle/>
          <a:p>
            <a:pPr algn="l"/>
            <a:r>
              <a:rPr lang="en-US" dirty="0">
                <a:latin typeface="fkGrotesk"/>
              </a:rPr>
              <a:t>2. Balancing the Tradeoff</a:t>
            </a:r>
          </a:p>
          <a:p>
            <a:pPr marL="800100" lvl="1" indent="-342900" algn="just">
              <a:buFont typeface="Wingdings" panose="05000000000000000000" pitchFamily="2" charset="2"/>
              <a:buChar char="q"/>
            </a:pPr>
            <a:r>
              <a:rPr lang="en-US" dirty="0">
                <a:latin typeface="fkGroteskNeue"/>
              </a:rPr>
              <a:t>The two curves show a fundamental tradeoff:</a:t>
            </a:r>
          </a:p>
          <a:p>
            <a:pPr marL="1200150" lvl="2" indent="-285750" algn="just">
              <a:buFont typeface="Wingdings" panose="05000000000000000000" pitchFamily="2" charset="2"/>
              <a:buChar char="q"/>
            </a:pPr>
            <a:r>
              <a:rPr lang="en-US" dirty="0">
                <a:latin typeface="fkGroteskNeue"/>
              </a:rPr>
              <a:t>Low </a:t>
            </a:r>
            <a:r>
              <a:rPr lang="en-US" i="1" dirty="0" err="1" smtClean="0">
                <a:latin typeface="KaTeX_Math"/>
              </a:rPr>
              <a:t>V</a:t>
            </a:r>
            <a:r>
              <a:rPr lang="en-US" i="1" baseline="-25000" dirty="0" err="1" smtClean="0">
                <a:latin typeface="KaTeX_Math"/>
              </a:rPr>
              <a:t>ov</a:t>
            </a:r>
            <a:r>
              <a:rPr lang="en-US" dirty="0">
                <a:latin typeface="fkGroteskNeue"/>
              </a:rPr>
              <a:t> gives higher </a:t>
            </a:r>
            <a:r>
              <a:rPr lang="en-US" i="1" dirty="0" smtClean="0">
                <a:latin typeface="KaTeX_Math"/>
              </a:rPr>
              <a:t>g</a:t>
            </a:r>
            <a:r>
              <a:rPr lang="en-US" i="1" baseline="-25000" dirty="0" smtClean="0">
                <a:latin typeface="KaTeX_Math"/>
              </a:rPr>
              <a:t>m</a:t>
            </a:r>
            <a:r>
              <a:rPr lang="en-US" dirty="0" smtClean="0">
                <a:latin typeface="KaTeX_Main"/>
              </a:rPr>
              <a:t>/</a:t>
            </a:r>
            <a:r>
              <a:rPr lang="en-US" i="1" dirty="0" smtClean="0">
                <a:latin typeface="KaTeX_Math"/>
              </a:rPr>
              <a:t>I</a:t>
            </a:r>
            <a:r>
              <a:rPr lang="en-US" i="1" baseline="-25000" dirty="0" smtClean="0">
                <a:latin typeface="KaTeX_Math"/>
              </a:rPr>
              <a:t>D</a:t>
            </a:r>
            <a:r>
              <a:rPr lang="en-US" dirty="0">
                <a:latin typeface="fkGroteskNeue"/>
              </a:rPr>
              <a:t> but lower </a:t>
            </a:r>
            <a:r>
              <a:rPr lang="en-US" i="1" dirty="0" err="1" smtClean="0">
                <a:latin typeface="KaTeX_Math"/>
              </a:rPr>
              <a:t>f</a:t>
            </a:r>
            <a:r>
              <a:rPr lang="en-US" i="1" baseline="-25000" dirty="0" err="1" smtClean="0">
                <a:latin typeface="KaTeX_Math"/>
              </a:rPr>
              <a:t>T</a:t>
            </a:r>
            <a:r>
              <a:rPr lang="en-US" dirty="0">
                <a:latin typeface="fkGroteskNeue"/>
              </a:rPr>
              <a:t>: Excellent for low power, but slower devices.</a:t>
            </a:r>
          </a:p>
          <a:p>
            <a:pPr marL="1200150" lvl="2" indent="-285750" algn="just">
              <a:buFont typeface="Wingdings" panose="05000000000000000000" pitchFamily="2" charset="2"/>
              <a:buChar char="q"/>
            </a:pPr>
            <a:r>
              <a:rPr lang="en-US" dirty="0">
                <a:latin typeface="fkGroteskNeue"/>
              </a:rPr>
              <a:t>High </a:t>
            </a:r>
            <a:r>
              <a:rPr lang="en-US" i="1" dirty="0" err="1" smtClean="0">
                <a:latin typeface="KaTeX_Math"/>
              </a:rPr>
              <a:t>V</a:t>
            </a:r>
            <a:r>
              <a:rPr lang="en-US" i="1" baseline="-25000" dirty="0" err="1" smtClean="0">
                <a:latin typeface="KaTeX_Math"/>
              </a:rPr>
              <a:t>ov</a:t>
            </a:r>
            <a:r>
              <a:rPr lang="en-US" dirty="0">
                <a:latin typeface="fkGroteskNeue"/>
              </a:rPr>
              <a:t> gives high </a:t>
            </a:r>
            <a:r>
              <a:rPr lang="en-US" i="1" dirty="0" err="1" smtClean="0">
                <a:latin typeface="KaTeX_Math"/>
              </a:rPr>
              <a:t>f</a:t>
            </a:r>
            <a:r>
              <a:rPr lang="en-US" i="1" baseline="-25000" dirty="0" err="1" smtClean="0">
                <a:latin typeface="KaTeX_Math"/>
              </a:rPr>
              <a:t>T</a:t>
            </a:r>
            <a:r>
              <a:rPr lang="en-US" dirty="0">
                <a:latin typeface="fkGroteskNeue"/>
              </a:rPr>
              <a:t> but low </a:t>
            </a:r>
            <a:r>
              <a:rPr lang="en-US" i="1" dirty="0" smtClean="0">
                <a:latin typeface="KaTeX_Math"/>
              </a:rPr>
              <a:t>g</a:t>
            </a:r>
            <a:r>
              <a:rPr lang="en-US" i="1" baseline="-25000" dirty="0" smtClean="0">
                <a:latin typeface="KaTeX_Math"/>
              </a:rPr>
              <a:t>m</a:t>
            </a:r>
            <a:r>
              <a:rPr lang="en-US" dirty="0" smtClean="0">
                <a:latin typeface="KaTeX_Main"/>
              </a:rPr>
              <a:t>/</a:t>
            </a:r>
            <a:r>
              <a:rPr lang="en-US" i="1" dirty="0" smtClean="0">
                <a:latin typeface="KaTeX_Math"/>
              </a:rPr>
              <a:t>I</a:t>
            </a:r>
            <a:r>
              <a:rPr lang="en-US" i="1" baseline="-25000" dirty="0" smtClean="0">
                <a:latin typeface="KaTeX_Math"/>
              </a:rPr>
              <a:t>D</a:t>
            </a:r>
            <a:r>
              <a:rPr lang="en-US" dirty="0">
                <a:latin typeface="fkGroteskNeue"/>
              </a:rPr>
              <a:t>: Good for speed, but higher power consumption.</a:t>
            </a:r>
          </a:p>
          <a:p>
            <a:pPr marL="800100" lvl="1" indent="-342900" algn="just">
              <a:buFont typeface="Wingdings" panose="05000000000000000000" pitchFamily="2" charset="2"/>
              <a:buChar char="q"/>
            </a:pPr>
            <a:r>
              <a:rPr lang="en-US" dirty="0">
                <a:latin typeface="fkGroteskNeue"/>
              </a:rPr>
              <a:t>The plot serves as a map for designers to select the operating point </a:t>
            </a:r>
            <a:r>
              <a:rPr lang="en-US" i="1" dirty="0" err="1" smtClean="0">
                <a:latin typeface="KaTeX_Math"/>
              </a:rPr>
              <a:t>V</a:t>
            </a:r>
            <a:r>
              <a:rPr lang="en-US" i="1" baseline="-25000" dirty="0" err="1" smtClean="0">
                <a:latin typeface="KaTeX_Math"/>
              </a:rPr>
              <a:t>ov</a:t>
            </a:r>
            <a:r>
              <a:rPr lang="en-US" dirty="0">
                <a:latin typeface="fkGroteskNeue"/>
              </a:rPr>
              <a:t> to meet circuit requirements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681871" y="3672908"/>
            <a:ext cx="10818829" cy="1754326"/>
          </a:xfrm>
          <a:prstGeom prst="rect">
            <a:avLst/>
          </a:prstGeom>
        </p:spPr>
        <p:txBody>
          <a:bodyPr wrap="square">
            <a:spAutoFit/>
          </a:bodyPr>
          <a:lstStyle/>
          <a:p>
            <a:r>
              <a:rPr lang="en-US" b="0" i="0" dirty="0" smtClean="0">
                <a:effectLst/>
                <a:latin typeface="fkGrotesk"/>
              </a:rPr>
              <a:t>3. Walkthrough of the Marked Steps (3, 4, 5)</a:t>
            </a:r>
          </a:p>
          <a:p>
            <a:pPr marL="742950" lvl="1" indent="-285750">
              <a:buFont typeface="Wingdings" panose="05000000000000000000" pitchFamily="2" charset="2"/>
              <a:buChar char="q"/>
            </a:pPr>
            <a:r>
              <a:rPr lang="en-US" b="0" i="0" dirty="0" smtClean="0">
                <a:effectLst/>
                <a:latin typeface="fkGroteskNeue"/>
              </a:rPr>
              <a:t>Step 3 (Upwards arrow): Indicating the required </a:t>
            </a:r>
            <a:r>
              <a:rPr lang="en-US" b="0" i="1" dirty="0" err="1" smtClean="0">
                <a:effectLst/>
                <a:latin typeface="KaTeX_Math"/>
              </a:rPr>
              <a:t>f</a:t>
            </a:r>
            <a:r>
              <a:rPr lang="en-US" b="0" i="1" baseline="-25000" dirty="0" err="1" smtClean="0">
                <a:effectLst/>
                <a:latin typeface="KaTeX_Math"/>
              </a:rPr>
              <a:t>T</a:t>
            </a:r>
            <a:r>
              <a:rPr lang="en-US" b="0" i="0" dirty="0" smtClean="0">
                <a:effectLst/>
                <a:latin typeface="fkGroteskNeue"/>
              </a:rPr>
              <a:t> for the circuit bandwidth is around 10 GHz.</a:t>
            </a:r>
          </a:p>
          <a:p>
            <a:pPr marL="742950" lvl="1" indent="-285750">
              <a:buFont typeface="Wingdings" panose="05000000000000000000" pitchFamily="2" charset="2"/>
              <a:buChar char="q"/>
            </a:pPr>
            <a:r>
              <a:rPr lang="en-US" b="0" i="0" dirty="0" smtClean="0">
                <a:effectLst/>
                <a:latin typeface="fkGroteskNeue"/>
              </a:rPr>
              <a:t>Step 4 (Rightwards arrow): From the required </a:t>
            </a:r>
            <a:r>
              <a:rPr lang="en-US" b="0" i="1" dirty="0" err="1" smtClean="0">
                <a:effectLst/>
                <a:latin typeface="KaTeX_Math"/>
              </a:rPr>
              <a:t>f</a:t>
            </a:r>
            <a:r>
              <a:rPr lang="en-US" b="0" i="1" baseline="-25000" dirty="0" err="1" smtClean="0">
                <a:effectLst/>
                <a:latin typeface="KaTeX_Math"/>
              </a:rPr>
              <a:t>T</a:t>
            </a:r>
            <a:r>
              <a:rPr lang="en-US" b="0" i="0" dirty="0" smtClean="0">
                <a:effectLst/>
                <a:latin typeface="fkGroteskNeue"/>
              </a:rPr>
              <a:t>, read across to find the minimum </a:t>
            </a:r>
            <a:r>
              <a:rPr lang="en-US" b="0" i="1" dirty="0" err="1" smtClean="0">
                <a:effectLst/>
                <a:latin typeface="KaTeX_Math"/>
              </a:rPr>
              <a:t>V</a:t>
            </a:r>
            <a:r>
              <a:rPr lang="en-US" b="0" i="1" baseline="-25000" dirty="0" err="1" smtClean="0">
                <a:effectLst/>
                <a:latin typeface="KaTeX_Math"/>
              </a:rPr>
              <a:t>ov</a:t>
            </a:r>
            <a:r>
              <a:rPr lang="en-US" b="0" i="0" dirty="0" smtClean="0">
                <a:effectLst/>
                <a:latin typeface="fkGroteskNeue"/>
              </a:rPr>
              <a:t> on the green curve to achieve that frequency, approximately 0.75 V.</a:t>
            </a:r>
          </a:p>
          <a:p>
            <a:pPr marL="742950" lvl="1" indent="-285750">
              <a:buFont typeface="Wingdings" panose="05000000000000000000" pitchFamily="2" charset="2"/>
              <a:buChar char="q"/>
            </a:pPr>
            <a:r>
              <a:rPr lang="en-US" b="0" i="0" dirty="0" smtClean="0">
                <a:effectLst/>
                <a:latin typeface="fkGroteskNeue"/>
              </a:rPr>
              <a:t>Step 5 (Downwards arrow): From this </a:t>
            </a:r>
            <a:r>
              <a:rPr lang="en-US" b="0" i="1" dirty="0" err="1" smtClean="0">
                <a:effectLst/>
                <a:latin typeface="KaTeX_Math"/>
              </a:rPr>
              <a:t>V</a:t>
            </a:r>
            <a:r>
              <a:rPr lang="en-US" b="0" i="1" baseline="-25000" dirty="0" err="1" smtClean="0">
                <a:effectLst/>
                <a:latin typeface="KaTeX_Math"/>
              </a:rPr>
              <a:t>ov</a:t>
            </a:r>
            <a:r>
              <a:rPr lang="en-US" b="0" i="0" dirty="0" smtClean="0">
                <a:effectLst/>
                <a:latin typeface="fkGroteskNeue"/>
              </a:rPr>
              <a:t>, trace down to the blue curve to find the corresponding </a:t>
            </a:r>
            <a:r>
              <a:rPr lang="en-US" b="0" i="1" dirty="0" smtClean="0">
                <a:effectLst/>
                <a:latin typeface="KaTeX_Math"/>
              </a:rPr>
              <a:t>gm</a:t>
            </a:r>
            <a:r>
              <a:rPr lang="en-US" b="0" i="0" dirty="0" smtClean="0">
                <a:effectLst/>
                <a:latin typeface="KaTeX_Main"/>
              </a:rPr>
              <a:t>/</a:t>
            </a:r>
            <a:r>
              <a:rPr lang="en-US" b="0" i="1" dirty="0" smtClean="0">
                <a:effectLst/>
                <a:latin typeface="KaTeX_Math"/>
              </a:rPr>
              <a:t>ID</a:t>
            </a:r>
            <a:r>
              <a:rPr lang="en-US" b="0" i="0" dirty="0" smtClean="0">
                <a:effectLst/>
                <a:latin typeface="fkGroteskNeue"/>
              </a:rPr>
              <a:t>, approximately 26 </a:t>
            </a:r>
            <a:r>
              <a:rPr lang="en-US" b="0" i="0" dirty="0" err="1" smtClean="0">
                <a:effectLst/>
                <a:latin typeface="fkGroteskNeue"/>
              </a:rPr>
              <a:t>mS</a:t>
            </a:r>
            <a:r>
              <a:rPr lang="en-US" b="0" i="0" dirty="0" smtClean="0">
                <a:effectLst/>
                <a:latin typeface="fkGroteskNeue"/>
              </a:rPr>
              <a:t>/mA</a:t>
            </a:r>
            <a:endParaRPr lang="en-US" b="0" i="0" dirty="0">
              <a:effectLst/>
              <a:latin typeface="fkGroteskNeue"/>
            </a:endParaRPr>
          </a:p>
        </p:txBody>
      </p:sp>
    </p:spTree>
    <p:extLst>
      <p:ext uri="{BB962C8B-B14F-4D97-AF65-F5344CB8AC3E}">
        <p14:creationId xmlns:p14="http://schemas.microsoft.com/office/powerpoint/2010/main" val="1889090366"/>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627871" cy="2677656"/>
          </a:xfrm>
        </p:spPr>
        <p:txBody>
          <a:bodyPr/>
          <a:lstStyle/>
          <a:p>
            <a:pPr algn="l"/>
            <a:r>
              <a:rPr lang="en-US" dirty="0">
                <a:latin typeface="fkGrotesk"/>
              </a:rPr>
              <a:t>4. Practical Interpretation</a:t>
            </a:r>
          </a:p>
          <a:p>
            <a:pPr marL="342900" indent="-342900" algn="l">
              <a:buFont typeface="Arial" panose="020B0604020202020204" pitchFamily="34" charset="0"/>
              <a:buChar char="•"/>
            </a:pPr>
            <a:r>
              <a:rPr lang="en-US" dirty="0">
                <a:latin typeface="fkGroteskNeue"/>
              </a:rPr>
              <a:t>Using these curves allows a designer to link system-level specs (gain and bandwidth) directly to physical design parameters </a:t>
            </a:r>
            <a:r>
              <a:rPr lang="en-US" dirty="0" smtClean="0">
                <a:latin typeface="fkGroteskNeue"/>
              </a:rPr>
              <a:t>(</a:t>
            </a:r>
            <a:r>
              <a:rPr lang="en-US" i="1" dirty="0" err="1" smtClean="0">
                <a:latin typeface="KaTeX_Math"/>
              </a:rPr>
              <a:t>Vov</a:t>
            </a:r>
            <a:r>
              <a:rPr lang="en-US" dirty="0">
                <a:latin typeface="fkGroteskNeue"/>
              </a:rPr>
              <a:t>,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a:t>
            </a:r>
            <a:r>
              <a:rPr lang="en-US" i="1" dirty="0" smtClean="0">
                <a:latin typeface="KaTeX_Math"/>
              </a:rPr>
              <a:t>ID</a:t>
            </a:r>
            <a:r>
              <a:rPr lang="en-US" dirty="0">
                <a:latin typeface="fkGroteskNeue"/>
              </a:rPr>
              <a:t>).</a:t>
            </a:r>
          </a:p>
          <a:p>
            <a:pPr marL="342900" indent="-342900" algn="l">
              <a:buFont typeface="Arial" panose="020B0604020202020204" pitchFamily="34" charset="0"/>
              <a:buChar char="•"/>
            </a:pPr>
            <a:r>
              <a:rPr lang="en-US" dirty="0">
                <a:latin typeface="fkGroteskNeue"/>
              </a:rPr>
              <a:t>For example, if a circuit needs a 500 MHz bandwidth and gain of 10 (from your previous specs), the plot tells you:</a:t>
            </a:r>
          </a:p>
          <a:p>
            <a:pPr marL="742950" lvl="1" indent="-285750" algn="l">
              <a:buFont typeface="Arial" panose="020B0604020202020204" pitchFamily="34" charset="0"/>
              <a:buChar char="•"/>
            </a:pPr>
            <a:r>
              <a:rPr lang="en-US" dirty="0">
                <a:latin typeface="fkGroteskNeue"/>
              </a:rPr>
              <a:t>You need transistor speed </a:t>
            </a:r>
            <a:r>
              <a:rPr lang="en-US" i="1" dirty="0" err="1" smtClean="0">
                <a:latin typeface="KaTeX_Math"/>
              </a:rPr>
              <a:t>fT</a:t>
            </a:r>
            <a:r>
              <a:rPr lang="en-US" dirty="0">
                <a:latin typeface="fkGroteskNeue"/>
              </a:rPr>
              <a:t> above 9 GHz.</a:t>
            </a:r>
          </a:p>
          <a:p>
            <a:pPr marL="742950" lvl="1" indent="-285750" algn="l">
              <a:buFont typeface="Arial" panose="020B0604020202020204" pitchFamily="34" charset="0"/>
              <a:buChar char="•"/>
            </a:pPr>
            <a:r>
              <a:rPr lang="en-US" dirty="0">
                <a:latin typeface="fkGroteskNeue"/>
              </a:rPr>
              <a:t>This translates to a minimum </a:t>
            </a:r>
            <a:r>
              <a:rPr lang="en-US" i="1" dirty="0" err="1" smtClean="0">
                <a:latin typeface="KaTeX_Math"/>
              </a:rPr>
              <a:t>Vov</a:t>
            </a:r>
            <a:r>
              <a:rPr lang="en-US" dirty="0">
                <a:latin typeface="fkGroteskNeue"/>
              </a:rPr>
              <a:t> (around 0.75 V) for good speed.</a:t>
            </a:r>
          </a:p>
          <a:p>
            <a:pPr marL="742950" lvl="1" indent="-285750" algn="l">
              <a:buFont typeface="Arial" panose="020B0604020202020204" pitchFamily="34" charset="0"/>
              <a:buChar char="•"/>
            </a:pPr>
            <a:r>
              <a:rPr lang="en-US" dirty="0">
                <a:latin typeface="fkGroteskNeue"/>
              </a:rPr>
              <a:t>At this </a:t>
            </a:r>
            <a:r>
              <a:rPr lang="en-US" i="1" dirty="0" err="1" smtClean="0">
                <a:latin typeface="KaTeX_Math"/>
              </a:rPr>
              <a:t>Vov</a:t>
            </a:r>
            <a:r>
              <a:rPr lang="en-US" dirty="0">
                <a:latin typeface="fkGroteskNeue"/>
              </a:rPr>
              <a:t>, you have a certain tradeoff on efficiency </a:t>
            </a:r>
            <a:r>
              <a:rPr lang="en-US" i="1" dirty="0" smtClean="0">
                <a:latin typeface="KaTeX_Math"/>
              </a:rPr>
              <a:t>m</a:t>
            </a:r>
            <a:r>
              <a:rPr lang="en-US" dirty="0" smtClean="0">
                <a:latin typeface="KaTeX_Main"/>
              </a:rPr>
              <a:t>/</a:t>
            </a:r>
            <a:r>
              <a:rPr lang="en-US" i="1" dirty="0" smtClean="0">
                <a:latin typeface="KaTeX_Math"/>
              </a:rPr>
              <a:t>ID</a:t>
            </a:r>
            <a:r>
              <a:rPr lang="en-US" dirty="0">
                <a:latin typeface="fkGroteskNeue"/>
              </a:rPr>
              <a:t>, which affects power and bias current.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908115" y="3990516"/>
            <a:ext cx="10686854" cy="1754326"/>
          </a:xfrm>
          <a:prstGeom prst="rect">
            <a:avLst/>
          </a:prstGeom>
        </p:spPr>
        <p:txBody>
          <a:bodyPr wrap="square">
            <a:spAutoFit/>
          </a:bodyPr>
          <a:lstStyle/>
          <a:p>
            <a:r>
              <a:rPr lang="en-US" b="0" i="0" dirty="0" smtClean="0">
                <a:effectLst/>
                <a:latin typeface="fkGrotesk"/>
              </a:rPr>
              <a:t>5. Intuitive Block Diagram Concept</a:t>
            </a:r>
          </a:p>
          <a:p>
            <a:pPr marL="285750" indent="-285750">
              <a:buFont typeface="Arial" panose="020B0604020202020204" pitchFamily="34" charset="0"/>
              <a:buChar char="•"/>
            </a:pPr>
            <a:r>
              <a:rPr lang="en-US" b="0" i="0" dirty="0" smtClean="0">
                <a:effectLst/>
                <a:latin typeface="fkGroteskNeue"/>
              </a:rPr>
              <a:t>Think of this graph as a design "coordination chart" that helps in making trade-offs—not guessing blindly.</a:t>
            </a:r>
          </a:p>
          <a:p>
            <a:pPr marL="285750" indent="-285750">
              <a:buFont typeface="Arial" panose="020B0604020202020204" pitchFamily="34" charset="0"/>
              <a:buChar char="•"/>
            </a:pPr>
            <a:r>
              <a:rPr lang="en-US" b="0" i="0" dirty="0" smtClean="0">
                <a:effectLst/>
                <a:latin typeface="fkGroteskNeue"/>
              </a:rPr>
              <a:t>By setting a desired </a:t>
            </a:r>
            <a:r>
              <a:rPr lang="en-US" b="0" i="1" dirty="0" err="1" smtClean="0">
                <a:effectLst/>
                <a:latin typeface="KaTeX_Math"/>
              </a:rPr>
              <a:t>Vov</a:t>
            </a:r>
            <a:r>
              <a:rPr lang="en-US" b="0" i="0" dirty="0" smtClean="0">
                <a:effectLst/>
                <a:latin typeface="fkGroteskNeue"/>
              </a:rPr>
              <a:t>:</a:t>
            </a:r>
          </a:p>
          <a:p>
            <a:pPr marL="742950" lvl="1" indent="-285750">
              <a:buFont typeface="Arial" panose="020B0604020202020204" pitchFamily="34" charset="0"/>
              <a:buChar char="•"/>
            </a:pPr>
            <a:r>
              <a:rPr lang="en-US" b="0" i="0" dirty="0" smtClean="0">
                <a:effectLst/>
                <a:latin typeface="fkGroteskNeue"/>
              </a:rPr>
              <a:t>You control how "hard" your device is driven (strong inversion).</a:t>
            </a:r>
          </a:p>
          <a:p>
            <a:pPr marL="742950" lvl="1" indent="-285750">
              <a:buFont typeface="Arial" panose="020B0604020202020204" pitchFamily="34" charset="0"/>
              <a:buChar char="•"/>
            </a:pPr>
            <a:r>
              <a:rPr lang="en-US" b="0" i="0" dirty="0" smtClean="0">
                <a:effectLst/>
                <a:latin typeface="fkGroteskNeue"/>
              </a:rPr>
              <a:t>Balance gain efficiency and speed systematically instead of trial-and-error</a:t>
            </a:r>
            <a:endParaRPr lang="en-US" b="0" i="0" dirty="0">
              <a:effectLst/>
              <a:latin typeface="fkGroteskNeue"/>
            </a:endParaRPr>
          </a:p>
        </p:txBody>
      </p:sp>
    </p:spTree>
    <p:extLst>
      <p:ext uri="{BB962C8B-B14F-4D97-AF65-F5344CB8AC3E}">
        <p14:creationId xmlns:p14="http://schemas.microsoft.com/office/powerpoint/2010/main" val="3826038291"/>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599590" cy="2154436"/>
          </a:xfrm>
        </p:spPr>
        <p:txBody>
          <a:bodyPr/>
          <a:lstStyle/>
          <a:p>
            <a:pPr algn="just"/>
            <a:r>
              <a:rPr lang="en-US" dirty="0">
                <a:latin typeface="fkGrotesk"/>
              </a:rPr>
              <a:t>6. Relating Back to Small-Signal Models</a:t>
            </a:r>
          </a:p>
          <a:p>
            <a:pPr marL="342900" indent="-342900" algn="just">
              <a:buFont typeface="Arial" panose="020B0604020202020204" pitchFamily="34" charset="0"/>
              <a:buChar char="•"/>
            </a:pPr>
            <a:r>
              <a:rPr lang="en-US" dirty="0">
                <a:latin typeface="fkGroteskNeue"/>
              </a:rPr>
              <a:t>This plot helps in constructing small-signal transistor models needed for system analysis.</a:t>
            </a:r>
          </a:p>
          <a:p>
            <a:pPr marL="342900" indent="-342900" algn="just">
              <a:buFont typeface="Arial" panose="020B0604020202020204" pitchFamily="34" charset="0"/>
              <a:buChar char="•"/>
            </a:pPr>
            <a:r>
              <a:rPr lang="en-US" dirty="0">
                <a:latin typeface="fkGroteskNeue"/>
              </a:rPr>
              <a:t>Since </a:t>
            </a:r>
            <a:r>
              <a:rPr lang="en-US" i="1" dirty="0" smtClean="0">
                <a:latin typeface="KaTeX_Math"/>
              </a:rPr>
              <a:t>gm</a:t>
            </a:r>
            <a:r>
              <a:rPr lang="en-US" dirty="0">
                <a:latin typeface="fkGroteskNeue"/>
              </a:rPr>
              <a:t> and </a:t>
            </a:r>
            <a:r>
              <a:rPr lang="en-US" i="1" dirty="0" smtClean="0">
                <a:latin typeface="KaTeX_Math"/>
              </a:rPr>
              <a:t>ID</a:t>
            </a:r>
            <a:r>
              <a:rPr lang="en-US" dirty="0">
                <a:latin typeface="fkGroteskNeue"/>
              </a:rPr>
              <a:t> can be found from </a:t>
            </a:r>
            <a:r>
              <a:rPr lang="en-US" i="1" dirty="0" err="1" smtClean="0">
                <a:latin typeface="KaTeX_Math"/>
              </a:rPr>
              <a:t>Vov</a:t>
            </a:r>
            <a:r>
              <a:rPr lang="en-US" dirty="0">
                <a:latin typeface="fkGroteskNeue"/>
              </a:rPr>
              <a:t> via this plot, you produce consistent, physics-aware parameters for compact models.</a:t>
            </a:r>
          </a:p>
          <a:p>
            <a:pPr marL="342900" indent="-342900" algn="just">
              <a:buFont typeface="Arial" panose="020B0604020202020204" pitchFamily="34" charset="0"/>
              <a:buChar char="•"/>
            </a:pPr>
            <a:r>
              <a:rPr lang="en-US" dirty="0">
                <a:latin typeface="fkGroteskNeue"/>
              </a:rPr>
              <a:t>This supports the whole analog design methodology of bridging device physics and system specs effectively.</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732496749"/>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Neue"/>
              </a:rPr>
              <a:t>In Summary:</a:t>
            </a:r>
            <a:endParaRPr lang="en-US" dirty="0"/>
          </a:p>
        </p:txBody>
      </p:sp>
      <p:sp>
        <p:nvSpPr>
          <p:cNvPr id="3" name="Text Placeholder 2"/>
          <p:cNvSpPr>
            <a:spLocks noGrp="1"/>
          </p:cNvSpPr>
          <p:nvPr>
            <p:ph type="body" idx="1"/>
          </p:nvPr>
        </p:nvSpPr>
        <p:spPr>
          <a:xfrm>
            <a:off x="844550" y="1327353"/>
            <a:ext cx="11548488" cy="6771084"/>
          </a:xfrm>
        </p:spPr>
        <p:txBody>
          <a:bodyPr/>
          <a:lstStyle/>
          <a:p>
            <a:pPr algn="l"/>
            <a:r>
              <a:rPr lang="en-US" dirty="0" smtClean="0">
                <a:latin typeface="fkGroteskNeue"/>
              </a:rPr>
              <a:t>Figure </a:t>
            </a:r>
            <a:r>
              <a:rPr lang="en-US" dirty="0">
                <a:latin typeface="fkGroteskNeue"/>
              </a:rPr>
              <a:t>11 provides a visually intuitive, physically grounded roadmap to optimize </a:t>
            </a:r>
            <a:r>
              <a:rPr lang="en-US" i="1" dirty="0" err="1" smtClean="0">
                <a:latin typeface="KaTeX_Math"/>
              </a:rPr>
              <a:t>Vov</a:t>
            </a:r>
            <a:r>
              <a:rPr lang="en-US" dirty="0">
                <a:latin typeface="fkGroteskNeue"/>
              </a:rPr>
              <a:t> as a fundamental design knob. It empowers the designer to select biasing points that solidly meet power and speed goals, bridging abstract performance metrics and transistor-level sizing in a clear, actionable manner. Using this plot is a cornerstone step in modern gm/ID-based design flows</a:t>
            </a:r>
            <a:r>
              <a:rPr lang="en-US" dirty="0" smtClean="0">
                <a:latin typeface="fkGroteskNeue"/>
              </a:rPr>
              <a:t>. Figure </a:t>
            </a:r>
            <a:r>
              <a:rPr lang="en-US" dirty="0">
                <a:latin typeface="fkGroteskNeue"/>
              </a:rPr>
              <a:t>11 shows two important transistor metrics plotted against the overdrive voltage </a:t>
            </a:r>
            <a:r>
              <a:rPr lang="en-US" i="1" dirty="0" err="1" smtClean="0">
                <a:latin typeface="KaTeX_Math"/>
              </a:rPr>
              <a:t>Vov</a:t>
            </a:r>
            <a:r>
              <a:rPr lang="en-US" dirty="0">
                <a:latin typeface="fkGroteskNeue"/>
              </a:rPr>
              <a:t>: the blue curve is the </a:t>
            </a:r>
            <a:r>
              <a:rPr lang="en-US" dirty="0" err="1">
                <a:latin typeface="fkGroteskNeue"/>
              </a:rPr>
              <a:t>transconductance</a:t>
            </a:r>
            <a:r>
              <a:rPr lang="en-US" dirty="0">
                <a:latin typeface="fkGroteskNeue"/>
              </a:rPr>
              <a:t> efficiency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and the green curve is the transit frequency </a:t>
            </a:r>
            <a:r>
              <a:rPr lang="en-US" i="1" dirty="0" err="1" smtClean="0">
                <a:latin typeface="KaTeX_Math"/>
              </a:rPr>
              <a:t>fT</a:t>
            </a:r>
            <a:r>
              <a:rPr lang="en-US" dirty="0" err="1">
                <a:latin typeface="fkGroteskNeue"/>
              </a:rPr>
              <a:t>.</a:t>
            </a:r>
            <a:r>
              <a:rPr lang="en-US" dirty="0">
                <a:latin typeface="fkGroteskNeue"/>
              </a:rPr>
              <a:t> These two quantities represent a fundamental trade-off that every analog designer must manage.</a:t>
            </a:r>
          </a:p>
          <a:p>
            <a:pPr algn="l"/>
            <a:r>
              <a:rPr lang="en-US" dirty="0">
                <a:latin typeface="fkGroteskNeue"/>
              </a:rPr>
              <a:t>At low </a:t>
            </a:r>
            <a:r>
              <a:rPr lang="en-US" i="1" dirty="0" err="1" smtClean="0">
                <a:latin typeface="KaTeX_Math"/>
              </a:rPr>
              <a:t>Vov</a:t>
            </a:r>
            <a:r>
              <a:rPr lang="en-US" dirty="0">
                <a:latin typeface="fkGroteskNeue"/>
              </a:rPr>
              <a:t>, the transistor is very power-efficient, giving high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meaning you get more </a:t>
            </a:r>
            <a:r>
              <a:rPr lang="en-US" dirty="0" err="1">
                <a:latin typeface="fkGroteskNeue"/>
              </a:rPr>
              <a:t>transconductance</a:t>
            </a:r>
            <a:r>
              <a:rPr lang="en-US" dirty="0">
                <a:latin typeface="fkGroteskNeue"/>
              </a:rPr>
              <a:t> gain per unit current. However, the transit frequency </a:t>
            </a:r>
            <a:r>
              <a:rPr lang="en-US" i="1" dirty="0" err="1" smtClean="0">
                <a:latin typeface="KaTeX_Math"/>
              </a:rPr>
              <a:t>fT</a:t>
            </a:r>
            <a:r>
              <a:rPr lang="en-US" dirty="0">
                <a:latin typeface="fkGroteskNeue"/>
              </a:rPr>
              <a:t>, which corresponds to the transistor speed, is low—resulting in slower circuits. Conversely, at high </a:t>
            </a:r>
            <a:r>
              <a:rPr lang="en-US" dirty="0" err="1" smtClean="0">
                <a:latin typeface="KaTeX_Main"/>
              </a:rPr>
              <a:t>V</a:t>
            </a:r>
            <a:r>
              <a:rPr lang="en-US" i="1" dirty="0" err="1" smtClean="0">
                <a:latin typeface="KaTeX_Math"/>
              </a:rPr>
              <a:t>Vov</a:t>
            </a:r>
            <a:r>
              <a:rPr lang="en-US" dirty="0">
                <a:latin typeface="fkGroteskNeue"/>
              </a:rPr>
              <a:t>, the device operates faster </a:t>
            </a:r>
            <a:r>
              <a:rPr lang="en-US" dirty="0" smtClean="0">
                <a:latin typeface="fkGroteskNeue"/>
              </a:rPr>
              <a:t>(</a:t>
            </a:r>
            <a:r>
              <a:rPr lang="en-US" i="1" dirty="0" err="1" smtClean="0">
                <a:latin typeface="KaTeX_Math"/>
              </a:rPr>
              <a:t>fT</a:t>
            </a:r>
            <a:r>
              <a:rPr lang="en-US" dirty="0">
                <a:latin typeface="fkGroteskNeue"/>
              </a:rPr>
              <a:t> is high), but this comes at the cost of lower </a:t>
            </a:r>
            <a:r>
              <a:rPr lang="en-US" dirty="0" err="1">
                <a:latin typeface="fkGroteskNeue"/>
              </a:rPr>
              <a:t>transconductance</a:t>
            </a:r>
            <a:r>
              <a:rPr lang="en-US" dirty="0">
                <a:latin typeface="fkGroteskNeue"/>
              </a:rPr>
              <a:t> efficiency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meaning higher power consumption to achieve the same gain.</a:t>
            </a:r>
          </a:p>
          <a:p>
            <a:pPr algn="l"/>
            <a:r>
              <a:rPr lang="en-US" dirty="0">
                <a:latin typeface="fkGroteskNeue"/>
              </a:rPr>
              <a:t>The design process indicated by the arrows in Figure 11 guides the designer to choose an appropriate </a:t>
            </a:r>
            <a:r>
              <a:rPr lang="en-US" i="1" dirty="0" err="1" smtClean="0">
                <a:latin typeface="KaTeX_Math"/>
              </a:rPr>
              <a:t>Vov</a:t>
            </a:r>
            <a:r>
              <a:rPr lang="en-US" dirty="0">
                <a:latin typeface="fkGroteskNeue"/>
              </a:rPr>
              <a:t> for the required specifications. First, from the required transistor bandwidth/cutoff frequency, you find the minimum </a:t>
            </a:r>
            <a:r>
              <a:rPr lang="en-US" i="1" dirty="0" err="1" smtClean="0">
                <a:latin typeface="KaTeX_Math"/>
              </a:rPr>
              <a:t>Vov</a:t>
            </a:r>
            <a:r>
              <a:rPr lang="en-US" dirty="0">
                <a:latin typeface="fkGroteskNeue"/>
              </a:rPr>
              <a:t> (arrow 4) that can deliver the needed speed </a:t>
            </a:r>
            <a:r>
              <a:rPr lang="en-US" dirty="0" err="1">
                <a:latin typeface="KaTeX_Main"/>
              </a:rPr>
              <a:t>fT</a:t>
            </a:r>
            <a:r>
              <a:rPr lang="en-US" i="1" dirty="0" err="1">
                <a:latin typeface="KaTeX_Math"/>
              </a:rPr>
              <a:t>fT</a:t>
            </a:r>
            <a:r>
              <a:rPr lang="en-US" dirty="0">
                <a:latin typeface="fkGroteskNeue"/>
              </a:rPr>
              <a:t> (arrow 3). Then, from this </a:t>
            </a:r>
            <a:r>
              <a:rPr lang="en-US" i="1" dirty="0" err="1" smtClean="0">
                <a:latin typeface="KaTeX_Math"/>
              </a:rPr>
              <a:t>Vov</a:t>
            </a:r>
            <a:r>
              <a:rPr lang="en-US" dirty="0">
                <a:latin typeface="fkGroteskNeue"/>
              </a:rPr>
              <a:t>, you find the corresponding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(arrow 5) and hence determine the necessary bias current </a:t>
            </a:r>
            <a:r>
              <a:rPr lang="en-US" i="1" dirty="0" smtClean="0">
                <a:latin typeface="KaTeX_Math"/>
              </a:rPr>
              <a:t>ID</a:t>
            </a:r>
            <a:r>
              <a:rPr lang="en-US" dirty="0">
                <a:latin typeface="fkGroteskNeue"/>
              </a:rPr>
              <a:t> for the desired gain.</a:t>
            </a:r>
          </a:p>
          <a:p>
            <a:pPr algn="l"/>
            <a:r>
              <a:rPr lang="en-US" dirty="0">
                <a:latin typeface="fkGroteskNeue"/>
              </a:rPr>
              <a:t>Intuitively, this figure serves as a design map linking system specifications (gain and bandwidth) to transistor operating points, emphasizing that </a:t>
            </a:r>
            <a:r>
              <a:rPr lang="en-US" i="1" dirty="0" err="1" smtClean="0">
                <a:latin typeface="KaTeX_Math"/>
              </a:rPr>
              <a:t>Vov</a:t>
            </a:r>
            <a:r>
              <a:rPr lang="en-US" dirty="0">
                <a:latin typeface="fkGroteskNeue"/>
              </a:rPr>
              <a:t> acts as a “control knob” balancing power efficiency against speed for a fixed current budget. By selecting </a:t>
            </a:r>
            <a:r>
              <a:rPr lang="en-US" i="1" dirty="0" err="1" smtClean="0">
                <a:latin typeface="KaTeX_Math"/>
              </a:rPr>
              <a:t>Vov</a:t>
            </a:r>
            <a:r>
              <a:rPr lang="en-US" dirty="0">
                <a:latin typeface="fkGroteskNeue"/>
              </a:rPr>
              <a:t> appropriately using this plot, designers can efficiently tune their circuits without guesswork and connect device physics directly to circuit performance and power trade-offs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6891186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From Specifications to Device Sizing with </a:t>
            </a:r>
            <a:r>
              <a:rPr lang="en-US" i="1" dirty="0" err="1" smtClean="0">
                <a:latin typeface="KaTeX_Math"/>
              </a:rPr>
              <a:t>Vov</a:t>
            </a:r>
            <a:endParaRPr lang="en-US" dirty="0"/>
          </a:p>
        </p:txBody>
      </p:sp>
      <p:sp>
        <p:nvSpPr>
          <p:cNvPr id="3" name="Text Placeholder 2"/>
          <p:cNvSpPr>
            <a:spLocks noGrp="1"/>
          </p:cNvSpPr>
          <p:nvPr>
            <p:ph type="body" idx="1"/>
          </p:nvPr>
        </p:nvSpPr>
        <p:spPr>
          <a:xfrm>
            <a:off x="844550" y="1327353"/>
            <a:ext cx="10214877" cy="1231106"/>
          </a:xfrm>
        </p:spPr>
        <p:txBody>
          <a:bodyPr/>
          <a:lstStyle/>
          <a:p>
            <a:pPr algn="l"/>
            <a:r>
              <a:rPr lang="en-US" dirty="0" smtClean="0">
                <a:latin typeface="fkGrotesk"/>
              </a:rPr>
              <a:t>Design </a:t>
            </a:r>
            <a:r>
              <a:rPr lang="en-US" dirty="0">
                <a:latin typeface="fkGrotesk"/>
              </a:rPr>
              <a:t>Specs</a:t>
            </a:r>
          </a:p>
          <a:p>
            <a:pPr marL="342900" indent="-342900" algn="l">
              <a:buFont typeface="Arial" panose="020B0604020202020204" pitchFamily="34" charset="0"/>
              <a:buChar char="•"/>
            </a:pPr>
            <a:r>
              <a:rPr lang="en-US" dirty="0">
                <a:latin typeface="fkGroteskNeue"/>
              </a:rPr>
              <a:t>Required small-signal voltage gain: 10.</a:t>
            </a:r>
          </a:p>
          <a:p>
            <a:pPr marL="342900" indent="-342900" algn="l">
              <a:buFont typeface="Arial" panose="020B0604020202020204" pitchFamily="34" charset="0"/>
              <a:buChar char="•"/>
            </a:pPr>
            <a:r>
              <a:rPr lang="en-US" dirty="0">
                <a:latin typeface="fkGroteskNeue"/>
              </a:rPr>
              <a:t>Required bandwidth (input pole frequency): 500 </a:t>
            </a:r>
            <a:r>
              <a:rPr lang="en-US" dirty="0" err="1">
                <a:latin typeface="fkGroteskNeue"/>
              </a:rPr>
              <a:t>MHz.</a:t>
            </a:r>
            <a:endParaRPr lang="en-US" dirty="0">
              <a:latin typeface="fkGroteskNeue"/>
            </a:endParaRPr>
          </a:p>
          <a:p>
            <a:endParaRPr lang="en-US" dirty="0"/>
          </a:p>
        </p:txBody>
      </p:sp>
      <p:sp>
        <p:nvSpPr>
          <p:cNvPr id="4" name="Footer Placeholder 3"/>
          <p:cNvSpPr>
            <a:spLocks noGrp="1"/>
          </p:cNvSpPr>
          <p:nvPr>
            <p:ph type="ftr" sz="quarter" idx="5"/>
          </p:nvPr>
        </p:nvSpPr>
        <p:spPr>
          <a:xfrm>
            <a:off x="5531610" y="6276790"/>
            <a:ext cx="1552583" cy="355015"/>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85750" y="2423254"/>
            <a:ext cx="8267649" cy="1888864"/>
          </a:xfrm>
          <a:prstGeom prst="rect">
            <a:avLst/>
          </a:prstGeom>
        </p:spPr>
      </p:pic>
      <p:pic>
        <p:nvPicPr>
          <p:cNvPr id="8" name="Picture 7"/>
          <p:cNvPicPr>
            <a:picLocks noChangeAspect="1"/>
          </p:cNvPicPr>
          <p:nvPr/>
        </p:nvPicPr>
        <p:blipFill>
          <a:blip r:embed="rId3"/>
          <a:stretch>
            <a:fillRect/>
          </a:stretch>
        </p:blipFill>
        <p:spPr>
          <a:xfrm>
            <a:off x="928407" y="4473734"/>
            <a:ext cx="7426638" cy="1878940"/>
          </a:xfrm>
          <a:prstGeom prst="rect">
            <a:avLst/>
          </a:prstGeom>
        </p:spPr>
      </p:pic>
    </p:spTree>
    <p:extLst>
      <p:ext uri="{BB962C8B-B14F-4D97-AF65-F5344CB8AC3E}">
        <p14:creationId xmlns:p14="http://schemas.microsoft.com/office/powerpoint/2010/main" val="2004224238"/>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endParaRPr lang="en-US"/>
          </a:p>
        </p:txBody>
      </p:sp>
      <p:sp>
        <p:nvSpPr>
          <p:cNvPr id="4" name="Footer Placeholder 3"/>
          <p:cNvSpPr>
            <a:spLocks noGrp="1"/>
          </p:cNvSpPr>
          <p:nvPr>
            <p:ph type="ftr" sz="quarter" idx="5"/>
          </p:nvPr>
        </p:nvSpPr>
        <p:spPr>
          <a:xfrm>
            <a:off x="5541236" y="6599237"/>
            <a:ext cx="1408204" cy="25876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102523"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32944" y="1205715"/>
            <a:ext cx="8050476" cy="2143877"/>
          </a:xfrm>
          <a:prstGeom prst="rect">
            <a:avLst/>
          </a:prstGeom>
        </p:spPr>
      </p:pic>
      <p:pic>
        <p:nvPicPr>
          <p:cNvPr id="8" name="Picture 7"/>
          <p:cNvPicPr>
            <a:picLocks noChangeAspect="1"/>
          </p:cNvPicPr>
          <p:nvPr/>
        </p:nvPicPr>
        <p:blipFill>
          <a:blip r:embed="rId3"/>
          <a:stretch>
            <a:fillRect/>
          </a:stretch>
        </p:blipFill>
        <p:spPr>
          <a:xfrm>
            <a:off x="1002551" y="3509212"/>
            <a:ext cx="7696925" cy="1341921"/>
          </a:xfrm>
          <a:prstGeom prst="rect">
            <a:avLst/>
          </a:prstGeom>
        </p:spPr>
      </p:pic>
      <p:pic>
        <p:nvPicPr>
          <p:cNvPr id="9" name="Picture 8"/>
          <p:cNvPicPr>
            <a:picLocks noChangeAspect="1"/>
          </p:cNvPicPr>
          <p:nvPr/>
        </p:nvPicPr>
        <p:blipFill>
          <a:blip r:embed="rId4"/>
          <a:stretch>
            <a:fillRect/>
          </a:stretch>
        </p:blipFill>
        <p:spPr>
          <a:xfrm>
            <a:off x="963551" y="4904675"/>
            <a:ext cx="8006030" cy="1370996"/>
          </a:xfrm>
          <a:prstGeom prst="rect">
            <a:avLst/>
          </a:prstGeom>
        </p:spPr>
      </p:pic>
    </p:spTree>
    <p:extLst>
      <p:ext uri="{BB962C8B-B14F-4D97-AF65-F5344CB8AC3E}">
        <p14:creationId xmlns:p14="http://schemas.microsoft.com/office/powerpoint/2010/main" val="7126442"/>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911927" y="3079151"/>
            <a:ext cx="11110027" cy="2769989"/>
          </a:xfrm>
        </p:spPr>
        <p:txBody>
          <a:bodyPr/>
          <a:lstStyle/>
          <a:p>
            <a:pPr algn="just"/>
            <a:r>
              <a:rPr lang="en-US" dirty="0">
                <a:latin typeface="fkGrotesk"/>
              </a:rPr>
              <a:t>Key Intuitive Insights</a:t>
            </a:r>
          </a:p>
          <a:p>
            <a:pPr marL="342900" indent="-342900" algn="just">
              <a:buFont typeface="Arial" panose="020B0604020202020204" pitchFamily="34" charset="0"/>
              <a:buChar char="•"/>
            </a:pPr>
            <a:r>
              <a:rPr lang="en-US" dirty="0">
                <a:latin typeface="fkGroteskNeue"/>
              </a:rPr>
              <a:t>Choosing </a:t>
            </a:r>
            <a:r>
              <a:rPr lang="en-US" i="1" dirty="0" err="1" smtClean="0">
                <a:latin typeface="KaTeX_Math"/>
              </a:rPr>
              <a:t>Vov</a:t>
            </a:r>
            <a:r>
              <a:rPr lang="en-US" dirty="0">
                <a:latin typeface="fkGroteskNeue"/>
              </a:rPr>
              <a:t> ties together speed and efficiency: a larger </a:t>
            </a:r>
            <a:r>
              <a:rPr lang="en-US" i="1" dirty="0" err="1" smtClean="0">
                <a:latin typeface="KaTeX_Math"/>
              </a:rPr>
              <a:t>Vov</a:t>
            </a:r>
            <a:r>
              <a:rPr lang="en-US" dirty="0">
                <a:latin typeface="fkGroteskNeue"/>
              </a:rPr>
              <a:t> is needed for high bandwidth, but that limits how efficient (gm/ID) the design can be.</a:t>
            </a:r>
          </a:p>
          <a:p>
            <a:pPr marL="342900" indent="-342900" algn="just">
              <a:buFont typeface="Arial" panose="020B0604020202020204" pitchFamily="34" charset="0"/>
              <a:buChar char="•"/>
            </a:pPr>
            <a:r>
              <a:rPr lang="en-US" dirty="0">
                <a:latin typeface="fkGroteskNeue"/>
              </a:rPr>
              <a:t>The design flow shows how to work backward from specs—gain and speed—through physically meaningful parameters, to get all sizing and bias.</a:t>
            </a:r>
          </a:p>
          <a:p>
            <a:pPr marL="342900" indent="-342900" algn="just">
              <a:buFont typeface="Arial" panose="020B0604020202020204" pitchFamily="34" charset="0"/>
              <a:buChar char="•"/>
            </a:pPr>
            <a:r>
              <a:rPr lang="en-US" dirty="0">
                <a:latin typeface="fkGroteskNeue"/>
              </a:rPr>
              <a:t>The “knob” of </a:t>
            </a:r>
            <a:r>
              <a:rPr lang="en-US" i="1" dirty="0" err="1" smtClean="0">
                <a:latin typeface="KaTeX_Math"/>
              </a:rPr>
              <a:t>Vov</a:t>
            </a:r>
            <a:r>
              <a:rPr lang="en-US" dirty="0">
                <a:latin typeface="fkGroteskNeue"/>
              </a:rPr>
              <a:t> lets the designer optimize and see the necessary compromises (power, speed, area) transparently.</a:t>
            </a:r>
          </a:p>
          <a:p>
            <a:pPr marL="342900" indent="-342900" algn="just">
              <a:buFont typeface="Arial" panose="020B0604020202020204" pitchFamily="34" charset="0"/>
              <a:buChar char="•"/>
            </a:pPr>
            <a:r>
              <a:rPr lang="en-US" dirty="0">
                <a:latin typeface="fkGroteskNeue"/>
              </a:rPr>
              <a:t>This process is vastly superior to repeated SPICE guess-and-check cycles; all the key performance tradeoffs become clear at the beginning instead of being discovered late</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139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76090" y="1295401"/>
            <a:ext cx="6207650" cy="1370797"/>
          </a:xfrm>
          <a:prstGeom prst="rect">
            <a:avLst/>
          </a:prstGeom>
        </p:spPr>
      </p:pic>
    </p:spTree>
    <p:extLst>
      <p:ext uri="{BB962C8B-B14F-4D97-AF65-F5344CB8AC3E}">
        <p14:creationId xmlns:p14="http://schemas.microsoft.com/office/powerpoint/2010/main" val="2291280822"/>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888" y="347725"/>
            <a:ext cx="10921458" cy="523220"/>
          </a:xfrm>
        </p:spPr>
        <p:txBody>
          <a:bodyPr/>
          <a:lstStyle/>
          <a:p>
            <a:r>
              <a:rPr lang="en-US" dirty="0" smtClean="0">
                <a:latin typeface="fkGroteskNeue"/>
              </a:rPr>
              <a:t>The</a:t>
            </a:r>
            <a:r>
              <a:rPr lang="en-US" dirty="0">
                <a:latin typeface="fkGroteskNeue"/>
              </a:rPr>
              <a:t> limitations of </a:t>
            </a:r>
            <a:r>
              <a:rPr lang="en-US" dirty="0" smtClean="0">
                <a:latin typeface="fkGroteskNeue"/>
              </a:rPr>
              <a:t>basic </a:t>
            </a:r>
            <a:r>
              <a:rPr lang="en-US" i="1" dirty="0" err="1" smtClean="0">
                <a:latin typeface="KaTeX_Math"/>
              </a:rPr>
              <a:t>Vov</a:t>
            </a:r>
            <a:r>
              <a:rPr lang="en-US" dirty="0" smtClean="0">
                <a:latin typeface="fkGroteskNeue"/>
              </a:rPr>
              <a:t>-based </a:t>
            </a:r>
            <a:r>
              <a:rPr lang="en-US" dirty="0">
                <a:latin typeface="fkGroteskNeue"/>
              </a:rPr>
              <a:t>(long-channel) design</a:t>
            </a:r>
            <a:endParaRPr lang="en-US" dirty="0"/>
          </a:p>
        </p:txBody>
      </p:sp>
      <p:sp>
        <p:nvSpPr>
          <p:cNvPr id="3" name="Text Placeholder 2"/>
          <p:cNvSpPr>
            <a:spLocks noGrp="1"/>
          </p:cNvSpPr>
          <p:nvPr>
            <p:ph type="body" idx="1"/>
          </p:nvPr>
        </p:nvSpPr>
        <p:spPr>
          <a:xfrm>
            <a:off x="671296" y="1182974"/>
            <a:ext cx="7404301" cy="5232202"/>
          </a:xfrm>
        </p:spPr>
        <p:txBody>
          <a:bodyPr/>
          <a:lstStyle/>
          <a:p>
            <a:pPr algn="l"/>
            <a:r>
              <a:rPr lang="en-US" dirty="0">
                <a:latin typeface="fkGrotesk"/>
              </a:rPr>
              <a:t>gm/ID vs. </a:t>
            </a:r>
            <a:r>
              <a:rPr lang="en-US" i="1" dirty="0" err="1" smtClean="0">
                <a:latin typeface="KaTeX_Math"/>
              </a:rPr>
              <a:t>Vov</a:t>
            </a:r>
            <a:r>
              <a:rPr lang="en-US" dirty="0">
                <a:latin typeface="fkGrotesk"/>
              </a:rPr>
              <a:t> — Model vs. Reality</a:t>
            </a:r>
          </a:p>
          <a:p>
            <a:pPr marL="342900" indent="-342900" algn="just">
              <a:buFont typeface="Arial" panose="020B0604020202020204" pitchFamily="34" charset="0"/>
              <a:buChar char="•"/>
            </a:pPr>
            <a:r>
              <a:rPr lang="en-US" dirty="0" smtClean="0">
                <a:latin typeface="fkGroteskNeue"/>
              </a:rPr>
              <a:t>The </a:t>
            </a:r>
            <a:r>
              <a:rPr lang="en-US" dirty="0">
                <a:latin typeface="fkGroteskNeue"/>
              </a:rPr>
              <a:t>long-channel prediction (theoretical curve) for </a:t>
            </a:r>
            <a:r>
              <a:rPr lang="en-US" dirty="0" err="1">
                <a:latin typeface="fkGroteskNeue"/>
              </a:rPr>
              <a:t>transconductance</a:t>
            </a:r>
            <a:r>
              <a:rPr lang="en-US" dirty="0">
                <a:latin typeface="fkGroteskNeue"/>
              </a:rPr>
              <a:t> efficiency </a:t>
            </a:r>
            <a:r>
              <a:rPr lang="en-US" dirty="0" smtClean="0">
                <a:latin typeface="fkGroteskNeue"/>
              </a:rPr>
              <a:t>(</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falls off sharply with increasing </a:t>
            </a:r>
            <a:r>
              <a:rPr lang="en-US" i="1" dirty="0" err="1" smtClean="0">
                <a:latin typeface="KaTeX_Math"/>
              </a:rPr>
              <a:t>Vov</a:t>
            </a:r>
            <a:r>
              <a:rPr lang="en-US" dirty="0">
                <a:latin typeface="fkGroteskNeue"/>
              </a:rPr>
              <a:t>, and diverges to infinity as </a:t>
            </a:r>
            <a:r>
              <a:rPr lang="en-US" i="1" dirty="0" err="1" smtClean="0">
                <a:latin typeface="KaTeX_Math"/>
              </a:rPr>
              <a:t>Vov</a:t>
            </a:r>
            <a:r>
              <a:rPr lang="en-US" dirty="0">
                <a:latin typeface="fkGroteskNeue"/>
              </a:rPr>
              <a:t> approaches zero.</a:t>
            </a:r>
          </a:p>
          <a:p>
            <a:pPr marL="342900" indent="-342900" algn="just">
              <a:buFont typeface="Arial" panose="020B0604020202020204" pitchFamily="34" charset="0"/>
              <a:buChar char="•"/>
            </a:pPr>
            <a:r>
              <a:rPr lang="en-US" dirty="0">
                <a:latin typeface="fkGroteskNeue"/>
              </a:rPr>
              <a:t>The simulation (real transistor in modern technology) shows that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rises through weak inversion but saturates, never becoming infinite, and deviates from theory in both the strong and weak inversion regions.</a:t>
            </a:r>
          </a:p>
          <a:p>
            <a:pPr marL="342900" indent="-342900" algn="just">
              <a:buFont typeface="Arial" panose="020B0604020202020204" pitchFamily="34" charset="0"/>
              <a:buChar char="•"/>
            </a:pPr>
            <a:r>
              <a:rPr lang="en-US" dirty="0">
                <a:latin typeface="fkGroteskNeue"/>
              </a:rPr>
              <a:t>Intuitive insight:</a:t>
            </a:r>
          </a:p>
          <a:p>
            <a:pPr marL="342900" indent="-342900" algn="just">
              <a:buFont typeface="Arial" panose="020B0604020202020204" pitchFamily="34" charset="0"/>
              <a:buChar char="•"/>
            </a:pPr>
            <a:r>
              <a:rPr lang="en-US" dirty="0">
                <a:latin typeface="fkGroteskNeue"/>
              </a:rPr>
              <a:t>Theoretical models suggest you could get “infinite efficiency” at very low </a:t>
            </a:r>
            <a:r>
              <a:rPr lang="en-US" i="1" dirty="0" err="1" smtClean="0">
                <a:latin typeface="KaTeX_Math"/>
              </a:rPr>
              <a:t>Vov</a:t>
            </a:r>
            <a:r>
              <a:rPr lang="en-US" dirty="0">
                <a:latin typeface="fkGroteskNeue"/>
              </a:rPr>
              <a:t> (sub-threshold); in practice, mismatch, short-channel effects, velocity saturation, and non-ideal device physics prevent this.</a:t>
            </a:r>
          </a:p>
          <a:p>
            <a:pPr marL="342900" indent="-342900" algn="just">
              <a:buFont typeface="Arial" panose="020B0604020202020204" pitchFamily="34" charset="0"/>
              <a:buChar char="•"/>
            </a:pPr>
            <a:r>
              <a:rPr lang="en-US" dirty="0">
                <a:latin typeface="fkGroteskNeue"/>
              </a:rPr>
              <a:t>In low-power and </a:t>
            </a:r>
            <a:r>
              <a:rPr lang="en-US" dirty="0" smtClean="0">
                <a:latin typeface="fkGroteskNeue"/>
              </a:rPr>
              <a:t>low-</a:t>
            </a:r>
            <a:r>
              <a:rPr lang="en-US" i="1" dirty="0" err="1" smtClean="0">
                <a:latin typeface="KaTeX_Math"/>
              </a:rPr>
              <a:t>Vov</a:t>
            </a:r>
            <a:r>
              <a:rPr lang="en-US" dirty="0">
                <a:latin typeface="fkGroteskNeue"/>
              </a:rPr>
              <a:t> designs, the true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is less than theoretical, and designers cannot blindly trust hand calculations for </a:t>
            </a:r>
            <a:r>
              <a:rPr lang="en-US" dirty="0" smtClean="0">
                <a:latin typeface="fkGroteskNeue"/>
              </a:rPr>
              <a:t>sizing</a:t>
            </a:r>
            <a:endParaRPr lang="en-US" dirty="0">
              <a:latin typeface="fkGroteskNeue"/>
            </a:endParaRPr>
          </a:p>
        </p:txBody>
      </p:sp>
      <p:sp>
        <p:nvSpPr>
          <p:cNvPr id="4" name="Footer Placeholder 3"/>
          <p:cNvSpPr>
            <a:spLocks noGrp="1"/>
          </p:cNvSpPr>
          <p:nvPr>
            <p:ph type="ftr" sz="quarter" idx="5"/>
          </p:nvPr>
        </p:nvSpPr>
        <p:spPr>
          <a:xfrm>
            <a:off x="5444983" y="6599237"/>
            <a:ext cx="1369703" cy="25876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450981" y="1026481"/>
            <a:ext cx="3418756" cy="3299719"/>
          </a:xfrm>
          <a:prstGeom prst="rect">
            <a:avLst/>
          </a:prstGeom>
        </p:spPr>
      </p:pic>
      <p:sp>
        <p:nvSpPr>
          <p:cNvPr id="8" name="Rectangle 7"/>
          <p:cNvSpPr/>
          <p:nvPr/>
        </p:nvSpPr>
        <p:spPr>
          <a:xfrm>
            <a:off x="8434240" y="4422421"/>
            <a:ext cx="3757760" cy="253916"/>
          </a:xfrm>
          <a:prstGeom prst="rect">
            <a:avLst/>
          </a:prstGeom>
        </p:spPr>
        <p:txBody>
          <a:bodyPr wrap="none">
            <a:spAutoFit/>
          </a:bodyPr>
          <a:lstStyle/>
          <a:p>
            <a:r>
              <a:rPr lang="en-US" sz="1050" b="1" i="0" u="none" strike="noStrike" baseline="0" dirty="0" err="1" smtClean="0">
                <a:solidFill>
                  <a:srgbClr val="00B050"/>
                </a:solidFill>
                <a:latin typeface="CMMI10"/>
              </a:rPr>
              <a:t>V</a:t>
            </a:r>
            <a:r>
              <a:rPr lang="en-US" sz="800" b="1" i="0" u="none" strike="noStrike" baseline="0" dirty="0" err="1" smtClean="0">
                <a:solidFill>
                  <a:srgbClr val="00B050"/>
                </a:solidFill>
                <a:latin typeface="CMMI7"/>
              </a:rPr>
              <a:t>ov</a:t>
            </a:r>
            <a:r>
              <a:rPr lang="en-US" sz="800" b="1" i="0" u="none" strike="noStrike" baseline="0" dirty="0" smtClean="0">
                <a:solidFill>
                  <a:srgbClr val="00B050"/>
                </a:solidFill>
                <a:latin typeface="CMMI7"/>
              </a:rPr>
              <a:t> </a:t>
            </a:r>
            <a:r>
              <a:rPr lang="en-US" sz="1050" b="1" i="0" u="none" strike="noStrike" baseline="0" dirty="0" smtClean="0">
                <a:solidFill>
                  <a:srgbClr val="00B050"/>
                </a:solidFill>
                <a:latin typeface="CMR10"/>
              </a:rPr>
              <a:t>does not predict </a:t>
            </a:r>
            <a:r>
              <a:rPr lang="en-US" sz="1050" b="1" i="0" u="none" strike="noStrike" baseline="0" dirty="0" err="1" smtClean="0">
                <a:solidFill>
                  <a:srgbClr val="00B050"/>
                </a:solidFill>
                <a:latin typeface="CMR10"/>
              </a:rPr>
              <a:t>transconductor</a:t>
            </a:r>
            <a:r>
              <a:rPr lang="en-US" sz="1050" b="1" i="0" u="none" strike="noStrike" baseline="0" dirty="0" smtClean="0">
                <a:solidFill>
                  <a:srgbClr val="00B050"/>
                </a:solidFill>
                <a:latin typeface="CMR10"/>
              </a:rPr>
              <a:t> efficiency</a:t>
            </a:r>
            <a:r>
              <a:rPr lang="en-US" sz="1050" b="1" i="0" u="none" strike="noStrike" dirty="0" smtClean="0">
                <a:solidFill>
                  <a:srgbClr val="00B050"/>
                </a:solidFill>
                <a:latin typeface="CMR10"/>
              </a:rPr>
              <a:t> very well</a:t>
            </a:r>
            <a:endParaRPr lang="en-US" sz="2000" b="1" dirty="0">
              <a:solidFill>
                <a:srgbClr val="00B050"/>
              </a:solidFill>
            </a:endParaRPr>
          </a:p>
        </p:txBody>
      </p:sp>
    </p:spTree>
    <p:extLst>
      <p:ext uri="{BB962C8B-B14F-4D97-AF65-F5344CB8AC3E}">
        <p14:creationId xmlns:p14="http://schemas.microsoft.com/office/powerpoint/2010/main" val="2268592158"/>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err="1">
                <a:latin typeface="fkGrotesk"/>
              </a:rPr>
              <a:t>fT</a:t>
            </a:r>
            <a:r>
              <a:rPr lang="en-US" dirty="0">
                <a:latin typeface="fkGrotesk"/>
              </a:rPr>
              <a:t> vs. </a:t>
            </a:r>
            <a:r>
              <a:rPr lang="en-US" dirty="0" err="1">
                <a:latin typeface="KaTeX_Main"/>
              </a:rPr>
              <a:t>Vov</a:t>
            </a:r>
            <a:r>
              <a:rPr lang="en-US" i="1" dirty="0" err="1">
                <a:latin typeface="KaTeX_Math"/>
              </a:rPr>
              <a:t>Vov</a:t>
            </a:r>
            <a:r>
              <a:rPr lang="en-US" dirty="0">
                <a:latin typeface="fkGrotesk"/>
              </a:rPr>
              <a:t> — Model vs. </a:t>
            </a:r>
            <a:r>
              <a:rPr lang="en-US" dirty="0" smtClean="0">
                <a:latin typeface="fkGrotesk"/>
              </a:rPr>
              <a:t>Reality</a:t>
            </a:r>
            <a:endParaRPr lang="en-US" dirty="0"/>
          </a:p>
        </p:txBody>
      </p:sp>
      <p:sp>
        <p:nvSpPr>
          <p:cNvPr id="3" name="Text Placeholder 2"/>
          <p:cNvSpPr>
            <a:spLocks noGrp="1"/>
          </p:cNvSpPr>
          <p:nvPr>
            <p:ph type="body" idx="1"/>
          </p:nvPr>
        </p:nvSpPr>
        <p:spPr>
          <a:xfrm>
            <a:off x="671295" y="1327353"/>
            <a:ext cx="6807534" cy="3077766"/>
          </a:xfrm>
        </p:spPr>
        <p:txBody>
          <a:bodyPr/>
          <a:lstStyle/>
          <a:p>
            <a:pPr algn="just"/>
            <a:r>
              <a:rPr lang="en-US" dirty="0" smtClean="0">
                <a:latin typeface="fkGroteskNeue"/>
              </a:rPr>
              <a:t>What </a:t>
            </a:r>
            <a:r>
              <a:rPr lang="en-US" dirty="0">
                <a:latin typeface="fkGroteskNeue"/>
              </a:rPr>
              <a:t>the figure shows:</a:t>
            </a:r>
          </a:p>
          <a:p>
            <a:pPr marL="800100" lvl="1" indent="-342900" algn="just">
              <a:buFont typeface="Arial" panose="020B0604020202020204" pitchFamily="34" charset="0"/>
              <a:buChar char="•"/>
            </a:pPr>
            <a:r>
              <a:rPr lang="en-US" sz="2000" dirty="0">
                <a:latin typeface="fkGroteskNeue"/>
              </a:rPr>
              <a:t>The theoretical (long-channel) prediction for transit frequency </a:t>
            </a:r>
            <a:r>
              <a:rPr lang="en-US" sz="2000" dirty="0" smtClean="0">
                <a:latin typeface="fkGroteskNeue"/>
              </a:rPr>
              <a:t>(</a:t>
            </a:r>
            <a:r>
              <a:rPr lang="en-US" sz="2000" i="1" dirty="0" err="1" smtClean="0">
                <a:latin typeface="KaTeX_Math"/>
              </a:rPr>
              <a:t>f</a:t>
            </a:r>
            <a:r>
              <a:rPr lang="en-US" sz="2000" i="1" baseline="-25000" dirty="0" err="1" smtClean="0">
                <a:latin typeface="KaTeX_Math"/>
              </a:rPr>
              <a:t>T</a:t>
            </a:r>
            <a:r>
              <a:rPr lang="en-US" sz="2000" dirty="0">
                <a:latin typeface="fkGroteskNeue"/>
              </a:rPr>
              <a:t>) rises endlessly and linearly with </a:t>
            </a:r>
            <a:r>
              <a:rPr lang="en-US" sz="2000" i="1" dirty="0" err="1" smtClean="0">
                <a:latin typeface="KaTeX_Math"/>
              </a:rPr>
              <a:t>V</a:t>
            </a:r>
            <a:r>
              <a:rPr lang="en-US" sz="2000" i="1" baseline="-25000" dirty="0" err="1" smtClean="0">
                <a:latin typeface="KaTeX_Math"/>
              </a:rPr>
              <a:t>ov</a:t>
            </a:r>
            <a:r>
              <a:rPr lang="en-US" sz="2000" dirty="0">
                <a:latin typeface="fkGroteskNeue"/>
              </a:rPr>
              <a:t>.</a:t>
            </a:r>
          </a:p>
          <a:p>
            <a:pPr marL="800100" lvl="1" indent="-342900" algn="just">
              <a:buFont typeface="Arial" panose="020B0604020202020204" pitchFamily="34" charset="0"/>
              <a:buChar char="•"/>
            </a:pPr>
            <a:r>
              <a:rPr lang="en-US" sz="2000" dirty="0">
                <a:latin typeface="fkGroteskNeue"/>
              </a:rPr>
              <a:t>Simulation shows that actual </a:t>
            </a:r>
            <a:r>
              <a:rPr lang="en-US" sz="2000" i="1" dirty="0" err="1" smtClean="0">
                <a:latin typeface="KaTeX_Math"/>
              </a:rPr>
              <a:t>f</a:t>
            </a:r>
            <a:r>
              <a:rPr lang="en-US" sz="2000" i="1" baseline="-25000" dirty="0" err="1" smtClean="0">
                <a:latin typeface="KaTeX_Math"/>
              </a:rPr>
              <a:t>T</a:t>
            </a:r>
            <a:r>
              <a:rPr lang="en-US" sz="2000" dirty="0">
                <a:latin typeface="fkGroteskNeue"/>
              </a:rPr>
              <a:t> </a:t>
            </a:r>
            <a:r>
              <a:rPr lang="en-US" sz="2000" i="1" dirty="0">
                <a:latin typeface="fkGroteskNeue"/>
              </a:rPr>
              <a:t>flattens out</a:t>
            </a:r>
            <a:r>
              <a:rPr lang="en-US" sz="2000" dirty="0">
                <a:latin typeface="fkGroteskNeue"/>
              </a:rPr>
              <a:t>—it does not keep increasing with </a:t>
            </a:r>
            <a:r>
              <a:rPr lang="en-US" sz="2000" i="1" dirty="0" err="1" smtClean="0">
                <a:latin typeface="KaTeX_Math"/>
              </a:rPr>
              <a:t>V</a:t>
            </a:r>
            <a:r>
              <a:rPr lang="en-US" sz="2000" i="1" baseline="-25000" dirty="0" err="1" smtClean="0">
                <a:latin typeface="KaTeX_Math"/>
              </a:rPr>
              <a:t>ov</a:t>
            </a:r>
            <a:r>
              <a:rPr lang="en-US" sz="2000" dirty="0">
                <a:latin typeface="fkGroteskNeue"/>
              </a:rPr>
              <a:t>.</a:t>
            </a:r>
          </a:p>
          <a:p>
            <a:pPr marL="800100" lvl="1" indent="-342900" algn="just">
              <a:buFont typeface="Arial" panose="020B0604020202020204" pitchFamily="34" charset="0"/>
              <a:buChar char="•"/>
            </a:pPr>
            <a:r>
              <a:rPr lang="en-US" sz="2000" dirty="0">
                <a:latin typeface="fkGroteskNeue"/>
              </a:rPr>
              <a:t>Intuitive Physical Reason:</a:t>
            </a:r>
          </a:p>
          <a:p>
            <a:pPr marL="800100" lvl="1" indent="-342900" algn="just">
              <a:buFont typeface="Arial" panose="020B0604020202020204" pitchFamily="34" charset="0"/>
              <a:buChar char="•"/>
            </a:pPr>
            <a:r>
              <a:rPr lang="en-US" sz="2000" dirty="0">
                <a:latin typeface="fkGroteskNeue"/>
              </a:rPr>
              <a:t>Carrier velocity saturates in short channels, parasitic capacitances and other technology effects limit </a:t>
            </a:r>
            <a:r>
              <a:rPr lang="en-US" sz="2000" i="1" dirty="0" err="1" smtClean="0">
                <a:latin typeface="KaTeX_Math"/>
              </a:rPr>
              <a:t>f</a:t>
            </a:r>
            <a:r>
              <a:rPr lang="en-US" sz="2000" i="1" baseline="-25000" dirty="0" err="1" smtClean="0">
                <a:latin typeface="KaTeX_Math"/>
              </a:rPr>
              <a:t>T</a:t>
            </a:r>
            <a:r>
              <a:rPr lang="en-US" sz="2000" dirty="0" err="1">
                <a:latin typeface="fkGroteskNeue"/>
              </a:rPr>
              <a:t>.</a:t>
            </a:r>
            <a:endParaRPr lang="en-US" sz="2000" dirty="0">
              <a:latin typeface="fkGroteskNeue"/>
            </a:endParaRPr>
          </a:p>
          <a:p>
            <a:pPr marL="800100" lvl="1" indent="-342900" algn="just">
              <a:buFont typeface="Arial" panose="020B0604020202020204" pitchFamily="34" charset="0"/>
              <a:buChar char="•"/>
            </a:pPr>
            <a:r>
              <a:rPr lang="en-US" sz="2000" dirty="0">
                <a:latin typeface="fkGroteskNeue"/>
              </a:rPr>
              <a:t>The designer cannot achieve arbitrarily high speeds by cranking up </a:t>
            </a:r>
            <a:r>
              <a:rPr lang="en-US" sz="2000" i="1" dirty="0" err="1" smtClean="0">
                <a:latin typeface="KaTeX_Math"/>
              </a:rPr>
              <a:t>V</a:t>
            </a:r>
            <a:r>
              <a:rPr lang="en-US" sz="2000" i="1" baseline="-25000" dirty="0" err="1" smtClean="0">
                <a:latin typeface="KaTeX_Math"/>
              </a:rPr>
              <a:t>ov</a:t>
            </a:r>
            <a:endParaRPr lang="en-US" sz="2000" baseline="-25000"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920228" y="1068340"/>
            <a:ext cx="3649340" cy="3119848"/>
          </a:xfrm>
          <a:prstGeom prst="rect">
            <a:avLst/>
          </a:prstGeom>
        </p:spPr>
      </p:pic>
      <p:sp>
        <p:nvSpPr>
          <p:cNvPr id="8" name="Rectangle 7"/>
          <p:cNvSpPr/>
          <p:nvPr/>
        </p:nvSpPr>
        <p:spPr>
          <a:xfrm>
            <a:off x="8667333" y="4172164"/>
            <a:ext cx="2922595" cy="307777"/>
          </a:xfrm>
          <a:prstGeom prst="rect">
            <a:avLst/>
          </a:prstGeom>
        </p:spPr>
        <p:txBody>
          <a:bodyPr wrap="none">
            <a:spAutoFit/>
          </a:bodyPr>
          <a:lstStyle/>
          <a:p>
            <a:r>
              <a:rPr lang="en-US" sz="1400" b="1" i="0" u="none" strike="noStrike" baseline="0" dirty="0" err="1" smtClean="0">
                <a:solidFill>
                  <a:srgbClr val="00B050"/>
                </a:solidFill>
                <a:latin typeface="CMMI10"/>
              </a:rPr>
              <a:t>V</a:t>
            </a:r>
            <a:r>
              <a:rPr lang="en-US" sz="1050" b="1" i="0" u="none" strike="noStrike" baseline="0" dirty="0" err="1" smtClean="0">
                <a:solidFill>
                  <a:srgbClr val="00B050"/>
                </a:solidFill>
                <a:latin typeface="CMMI7"/>
              </a:rPr>
              <a:t>ov</a:t>
            </a:r>
            <a:r>
              <a:rPr lang="en-US" sz="1050" b="1" i="0" u="none" strike="noStrike" baseline="0" dirty="0" smtClean="0">
                <a:solidFill>
                  <a:srgbClr val="00B050"/>
                </a:solidFill>
                <a:latin typeface="CMMI7"/>
              </a:rPr>
              <a:t> </a:t>
            </a:r>
            <a:r>
              <a:rPr lang="en-US" sz="1400" b="1" i="0" u="none" strike="noStrike" baseline="0" dirty="0" smtClean="0">
                <a:solidFill>
                  <a:srgbClr val="00B050"/>
                </a:solidFill>
                <a:latin typeface="CMR10"/>
              </a:rPr>
              <a:t>does not predict </a:t>
            </a:r>
            <a:r>
              <a:rPr lang="en-US" sz="1400" b="1" i="0" u="none" strike="noStrike" baseline="0" dirty="0" err="1" smtClean="0">
                <a:solidFill>
                  <a:srgbClr val="00B050"/>
                </a:solidFill>
                <a:latin typeface="CMMI10"/>
              </a:rPr>
              <a:t>f</a:t>
            </a:r>
            <a:r>
              <a:rPr lang="en-US" sz="1050" b="1" i="0" u="none" strike="noStrike" baseline="0" dirty="0" err="1" smtClean="0">
                <a:solidFill>
                  <a:srgbClr val="00B050"/>
                </a:solidFill>
                <a:latin typeface="CMMI7"/>
              </a:rPr>
              <a:t>T</a:t>
            </a:r>
            <a:r>
              <a:rPr lang="en-US" sz="1050" b="1" i="0" u="none" strike="noStrike" baseline="0" dirty="0" smtClean="0">
                <a:solidFill>
                  <a:srgbClr val="00B050"/>
                </a:solidFill>
                <a:latin typeface="CMMI7"/>
              </a:rPr>
              <a:t> </a:t>
            </a:r>
            <a:r>
              <a:rPr lang="en-US" sz="1400" b="1" i="0" u="none" strike="noStrike" baseline="0" dirty="0" smtClean="0">
                <a:solidFill>
                  <a:srgbClr val="00B050"/>
                </a:solidFill>
                <a:latin typeface="CMR10"/>
              </a:rPr>
              <a:t>very well.</a:t>
            </a:r>
            <a:endParaRPr lang="en-US" sz="3200" b="1" dirty="0">
              <a:solidFill>
                <a:srgbClr val="00B050"/>
              </a:solidFill>
            </a:endParaRPr>
          </a:p>
        </p:txBody>
      </p:sp>
    </p:spTree>
    <p:extLst>
      <p:ext uri="{BB962C8B-B14F-4D97-AF65-F5344CB8AC3E}">
        <p14:creationId xmlns:p14="http://schemas.microsoft.com/office/powerpoint/2010/main" val="1544394106"/>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Limitations of </a:t>
            </a:r>
            <a:r>
              <a:rPr lang="en-US" dirty="0" err="1">
                <a:latin typeface="fkGrotesk"/>
              </a:rPr>
              <a:t>Vov</a:t>
            </a:r>
            <a:r>
              <a:rPr lang="en-US" dirty="0">
                <a:latin typeface="fkGrotesk"/>
              </a:rPr>
              <a:t>-Based (Long-Channel) </a:t>
            </a:r>
            <a:r>
              <a:rPr lang="en-US" dirty="0" smtClean="0">
                <a:latin typeface="fkGrotesk"/>
              </a:rPr>
              <a:t>Design</a:t>
            </a:r>
            <a:endParaRPr lang="en-US" dirty="0"/>
          </a:p>
        </p:txBody>
      </p:sp>
      <p:sp>
        <p:nvSpPr>
          <p:cNvPr id="3" name="Text Placeholder 2"/>
          <p:cNvSpPr>
            <a:spLocks noGrp="1"/>
          </p:cNvSpPr>
          <p:nvPr>
            <p:ph type="body" idx="1"/>
          </p:nvPr>
        </p:nvSpPr>
        <p:spPr>
          <a:xfrm>
            <a:off x="844550" y="1327353"/>
            <a:ext cx="10917522" cy="4031873"/>
          </a:xfrm>
        </p:spPr>
        <p:txBody>
          <a:bodyPr/>
          <a:lstStyle/>
          <a:p>
            <a:pPr algn="l">
              <a:buFont typeface="+mj-lt"/>
              <a:buAutoNum type="arabicPeriod"/>
            </a:pPr>
            <a:r>
              <a:rPr lang="en-US" b="1" dirty="0" smtClean="0">
                <a:latin typeface="fkGroteskNeue"/>
              </a:rPr>
              <a:t>Fundamental </a:t>
            </a:r>
            <a:r>
              <a:rPr lang="en-US" b="1" dirty="0">
                <a:latin typeface="fkGroteskNeue"/>
              </a:rPr>
              <a:t>Oversimplification:</a:t>
            </a:r>
          </a:p>
          <a:p>
            <a:pPr marL="742950" lvl="1" indent="-285750" algn="l">
              <a:buFont typeface="Arial" panose="020B0604020202020204" pitchFamily="34" charset="0"/>
              <a:buChar char="•"/>
            </a:pPr>
            <a:r>
              <a:rPr lang="en-US" dirty="0">
                <a:latin typeface="fkGroteskNeue"/>
              </a:rPr>
              <a:t>Long-channel equations ignore modern device physics: short-channel effects, velocity saturation, </a:t>
            </a:r>
            <a:r>
              <a:rPr lang="en-US" dirty="0" err="1">
                <a:latin typeface="fkGroteskNeue"/>
              </a:rPr>
              <a:t>nonuniform</a:t>
            </a:r>
            <a:r>
              <a:rPr lang="en-US" dirty="0">
                <a:latin typeface="fkGroteskNeue"/>
              </a:rPr>
              <a:t> inversion, etc.</a:t>
            </a:r>
          </a:p>
          <a:p>
            <a:pPr marL="742950" lvl="1" indent="-285750" algn="l">
              <a:buFont typeface="Arial" panose="020B0604020202020204" pitchFamily="34" charset="0"/>
              <a:buChar char="•"/>
            </a:pPr>
            <a:r>
              <a:rPr lang="en-US" dirty="0">
                <a:latin typeface="fkGroteskNeue"/>
              </a:rPr>
              <a:t>Modern SPICE simulators use dozens of process parameters, not just </a:t>
            </a:r>
            <a:r>
              <a:rPr lang="en-US" i="1" dirty="0" smtClean="0">
                <a:latin typeface="KaTeX_Math"/>
              </a:rPr>
              <a:t>μ</a:t>
            </a:r>
            <a:r>
              <a:rPr lang="en-US" dirty="0">
                <a:latin typeface="fkGroteskNeue"/>
              </a:rPr>
              <a:t> and </a:t>
            </a:r>
            <a:r>
              <a:rPr lang="en-US" i="1" dirty="0" smtClean="0">
                <a:latin typeface="KaTeX_Math"/>
              </a:rPr>
              <a:t>Cox</a:t>
            </a:r>
            <a:r>
              <a:rPr lang="en-US" dirty="0">
                <a:latin typeface="fkGroteskNeue"/>
              </a:rPr>
              <a:t>.</a:t>
            </a:r>
          </a:p>
          <a:p>
            <a:pPr algn="l">
              <a:buFont typeface="+mj-lt"/>
              <a:buAutoNum type="arabicPeriod"/>
            </a:pPr>
            <a:r>
              <a:rPr lang="en-US" b="1" dirty="0">
                <a:latin typeface="fkGroteskNeue"/>
              </a:rPr>
              <a:t>Subthreshold and Weak Inversion:</a:t>
            </a:r>
          </a:p>
          <a:p>
            <a:pPr marL="742950" lvl="1" indent="-285750" algn="l">
              <a:buFont typeface="Arial" panose="020B0604020202020204" pitchFamily="34" charset="0"/>
              <a:buChar char="•"/>
            </a:pPr>
            <a:r>
              <a:rPr lang="en-US" dirty="0">
                <a:latin typeface="fkGroteskNeue"/>
              </a:rPr>
              <a:t>Long-channel model predicts that biasing below threshold is useless due to zero current. In reality, subthreshold conduction is critical for ultra-low power analog/mixed-signal design; true </a:t>
            </a:r>
            <a:r>
              <a:rPr lang="en-US" i="1" dirty="0" smtClean="0">
                <a:latin typeface="KaTeX_Math"/>
              </a:rPr>
              <a:t>gm</a:t>
            </a:r>
            <a:r>
              <a:rPr lang="en-US" dirty="0" smtClean="0">
                <a:latin typeface="KaTeX_Main"/>
              </a:rPr>
              <a:t>/</a:t>
            </a:r>
            <a:r>
              <a:rPr lang="en-US" i="1" dirty="0" smtClean="0">
                <a:latin typeface="KaTeX_Math"/>
              </a:rPr>
              <a:t>ID</a:t>
            </a:r>
            <a:r>
              <a:rPr lang="en-US" dirty="0">
                <a:latin typeface="fkGroteskNeue"/>
              </a:rPr>
              <a:t> climbs in simulation, not in theory.</a:t>
            </a:r>
          </a:p>
          <a:p>
            <a:pPr algn="l">
              <a:buFont typeface="+mj-lt"/>
              <a:buAutoNum type="arabicPeriod"/>
            </a:pPr>
            <a:r>
              <a:rPr lang="en-US" b="1" dirty="0">
                <a:latin typeface="fkGroteskNeue"/>
              </a:rPr>
              <a:t>Speed and Power Bounds:</a:t>
            </a:r>
          </a:p>
          <a:p>
            <a:pPr marL="742950" lvl="1" indent="-285750" algn="l">
              <a:buFont typeface="Arial" panose="020B0604020202020204" pitchFamily="34" charset="0"/>
              <a:buChar char="•"/>
            </a:pPr>
            <a:r>
              <a:rPr lang="en-US" dirty="0">
                <a:latin typeface="fkGroteskNeue"/>
              </a:rPr>
              <a:t>Long-channel model fails to predict that increasing </a:t>
            </a:r>
            <a:r>
              <a:rPr lang="en-US" i="1" dirty="0" err="1" smtClean="0">
                <a:latin typeface="KaTeX_Math"/>
              </a:rPr>
              <a:t>Vov</a:t>
            </a:r>
            <a:r>
              <a:rPr lang="en-US" dirty="0">
                <a:latin typeface="fkGroteskNeue"/>
              </a:rPr>
              <a:t> eventually reaches a performance ceiling.</a:t>
            </a:r>
          </a:p>
          <a:p>
            <a:pPr algn="l">
              <a:buFont typeface="+mj-lt"/>
              <a:buAutoNum type="arabicPeriod"/>
            </a:pPr>
            <a:r>
              <a:rPr lang="en-US" b="1" dirty="0">
                <a:latin typeface="fkGroteskNeue"/>
              </a:rPr>
              <a:t>Intersection Points:</a:t>
            </a:r>
          </a:p>
          <a:p>
            <a:pPr marL="742950" lvl="1" indent="-285750" algn="l">
              <a:buFont typeface="Arial" panose="020B0604020202020204" pitchFamily="34" charset="0"/>
              <a:buChar char="•"/>
            </a:pPr>
            <a:r>
              <a:rPr lang="en-US" dirty="0">
                <a:latin typeface="fkGroteskNeue"/>
              </a:rPr>
              <a:t>Where (by “chance”) the simulation and prediction match, it is only local and does not represent a reliable window for robust design decisions.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1218351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Implication for Design </a:t>
            </a:r>
            <a:r>
              <a:rPr lang="en-US" dirty="0" smtClean="0">
                <a:latin typeface="fkGrotesk"/>
              </a:rPr>
              <a:t>Flow</a:t>
            </a:r>
            <a:endParaRPr lang="en-US" dirty="0"/>
          </a:p>
        </p:txBody>
      </p:sp>
      <p:sp>
        <p:nvSpPr>
          <p:cNvPr id="3" name="Text Placeholder 2"/>
          <p:cNvSpPr>
            <a:spLocks noGrp="1"/>
          </p:cNvSpPr>
          <p:nvPr>
            <p:ph type="body" idx="1"/>
          </p:nvPr>
        </p:nvSpPr>
        <p:spPr>
          <a:xfrm>
            <a:off x="844550" y="1327353"/>
            <a:ext cx="10946397" cy="4308872"/>
          </a:xfrm>
        </p:spPr>
        <p:txBody>
          <a:bodyPr/>
          <a:lstStyle/>
          <a:p>
            <a:pPr marL="342900" indent="-342900" algn="l">
              <a:buFont typeface="Arial" panose="020B0604020202020204" pitchFamily="34" charset="0"/>
              <a:buChar char="•"/>
            </a:pPr>
            <a:r>
              <a:rPr lang="en-US" dirty="0" smtClean="0">
                <a:latin typeface="fkGroteskNeue"/>
              </a:rPr>
              <a:t>gm/ID </a:t>
            </a:r>
            <a:r>
              <a:rPr lang="en-US" dirty="0">
                <a:latin typeface="fkGroteskNeue"/>
              </a:rPr>
              <a:t>and </a:t>
            </a:r>
            <a:r>
              <a:rPr lang="en-US" i="1" dirty="0" err="1" smtClean="0">
                <a:latin typeface="KaTeX_Math"/>
              </a:rPr>
              <a:t>Vov</a:t>
            </a:r>
            <a:r>
              <a:rPr lang="en-US" dirty="0" smtClean="0">
                <a:latin typeface="fkGroteskNeue"/>
              </a:rPr>
              <a:t>-based </a:t>
            </a:r>
            <a:r>
              <a:rPr lang="en-US" dirty="0">
                <a:latin typeface="fkGroteskNeue"/>
              </a:rPr>
              <a:t>hand calculation remains a fantastic starting point, but must be “anchored” by process-aware data—charts built from simulation or measured silicon, not just equations.</a:t>
            </a:r>
          </a:p>
          <a:p>
            <a:pPr marL="342900" indent="-342900" algn="l">
              <a:buFont typeface="Arial" panose="020B0604020202020204" pitchFamily="34" charset="0"/>
              <a:buChar char="•"/>
            </a:pPr>
            <a:r>
              <a:rPr lang="en-US" dirty="0">
                <a:latin typeface="fkGroteskNeue"/>
              </a:rPr>
              <a:t>True physical device behavior—critical for precise analog design, especially in weak inversion or near process limits—demands simulation-informed models, not just simple theory</a:t>
            </a:r>
          </a:p>
          <a:p>
            <a:endParaRPr lang="en-US" dirty="0" smtClean="0"/>
          </a:p>
          <a:p>
            <a:endParaRPr lang="en-US" dirty="0"/>
          </a:p>
          <a:p>
            <a:pPr algn="l"/>
            <a:r>
              <a:rPr lang="en-US" dirty="0">
                <a:latin typeface="fkGroteskNeue"/>
              </a:rPr>
              <a:t>Summary:</a:t>
            </a:r>
            <a:r>
              <a:rPr lang="en-US" dirty="0"/>
              <a:t/>
            </a:r>
            <a:br>
              <a:rPr lang="en-US" dirty="0"/>
            </a:br>
            <a:r>
              <a:rPr lang="en-US" dirty="0">
                <a:latin typeface="fkGroteskNeue"/>
              </a:rPr>
              <a:t>Figures 12 and 13 show that while long-channel, </a:t>
            </a:r>
            <a:r>
              <a:rPr lang="en-US" i="1" dirty="0" err="1" smtClean="0">
                <a:latin typeface="KaTeX_Math"/>
              </a:rPr>
              <a:t>Vov</a:t>
            </a:r>
            <a:r>
              <a:rPr lang="en-US" dirty="0" smtClean="0">
                <a:latin typeface="fkGroteskNeue"/>
              </a:rPr>
              <a:t>-based </a:t>
            </a:r>
            <a:r>
              <a:rPr lang="en-US" dirty="0">
                <a:latin typeface="fkGroteskNeue"/>
              </a:rPr>
              <a:t>approaches give elegant physical intuition and a logical design flow, in modern processes they are not reliable for actual sizing, speed, and efficiency estimates. The analog designer must blend theoretical insight with simulation reality, using modern gm/ID charts and process-aware data for optimal results. This combination ensures accuracy for low-power blocks, speed-critical cells, and robust analog design in advanced CMOS.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997908021"/>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Why Move to gm/ID Instead of </a:t>
            </a:r>
            <a:r>
              <a:rPr lang="en-US" dirty="0" err="1">
                <a:latin typeface="fkGrotesk"/>
              </a:rPr>
              <a:t>Vov</a:t>
            </a:r>
            <a:r>
              <a:rPr lang="en-US" dirty="0" smtClean="0">
                <a:latin typeface="fkGrotesk"/>
              </a:rPr>
              <a:t>?</a:t>
            </a:r>
            <a:endParaRPr lang="en-US" dirty="0"/>
          </a:p>
        </p:txBody>
      </p:sp>
      <p:sp>
        <p:nvSpPr>
          <p:cNvPr id="3" name="Text Placeholder 2"/>
          <p:cNvSpPr>
            <a:spLocks noGrp="1"/>
          </p:cNvSpPr>
          <p:nvPr>
            <p:ph type="body" idx="1"/>
          </p:nvPr>
        </p:nvSpPr>
        <p:spPr>
          <a:xfrm>
            <a:off x="844550" y="1327353"/>
            <a:ext cx="10840519" cy="2462213"/>
          </a:xfrm>
        </p:spPr>
        <p:txBody>
          <a:bodyPr/>
          <a:lstStyle/>
          <a:p>
            <a:pPr marL="342900" indent="-342900" algn="l">
              <a:buFont typeface="Arial" panose="020B0604020202020204" pitchFamily="34" charset="0"/>
              <a:buChar char="•"/>
            </a:pPr>
            <a:r>
              <a:rPr lang="en-US" dirty="0" smtClean="0">
                <a:latin typeface="fkGroteskNeue"/>
              </a:rPr>
              <a:t>Both</a:t>
            </a:r>
            <a:r>
              <a:rPr lang="en-US" dirty="0">
                <a:latin typeface="fkGroteskNeue"/>
              </a:rPr>
              <a:t> </a:t>
            </a:r>
            <a:r>
              <a:rPr lang="en-US" i="1" dirty="0" err="1" smtClean="0">
                <a:latin typeface="KaTeX_Math"/>
              </a:rPr>
              <a:t>Vov</a:t>
            </a:r>
            <a:r>
              <a:rPr lang="en-US" dirty="0">
                <a:latin typeface="fkGroteskNeue"/>
              </a:rPr>
              <a:t> and gm/ID capture the position of the MOSFET within its operating curve; both are bias-related variables.</a:t>
            </a:r>
          </a:p>
          <a:p>
            <a:pPr marL="342900" indent="-342900" algn="l">
              <a:buFont typeface="Arial" panose="020B0604020202020204" pitchFamily="34" charset="0"/>
              <a:buChar char="•"/>
            </a:pPr>
            <a:r>
              <a:rPr lang="en-US" dirty="0">
                <a:latin typeface="fkGroteskNeue"/>
              </a:rPr>
              <a:t>But gm/ID is inherently more physical—it encapsulates how much gain (gm) is generated per unit current (ID). This is </a:t>
            </a:r>
            <a:r>
              <a:rPr lang="en-US" i="1" dirty="0" err="1">
                <a:latin typeface="fkGroteskNeue"/>
              </a:rPr>
              <a:t>transconductance</a:t>
            </a:r>
            <a:r>
              <a:rPr lang="en-US" i="1" dirty="0">
                <a:latin typeface="fkGroteskNeue"/>
              </a:rPr>
              <a:t> efficiency</a:t>
            </a:r>
            <a:r>
              <a:rPr lang="en-US" dirty="0">
                <a:latin typeface="fkGroteskNeue"/>
              </a:rPr>
              <a:t> or </a:t>
            </a:r>
            <a:r>
              <a:rPr lang="en-US" i="1" dirty="0">
                <a:latin typeface="fkGroteskNeue"/>
              </a:rPr>
              <a:t>current efficiency</a:t>
            </a:r>
            <a:r>
              <a:rPr lang="en-US" dirty="0">
                <a:latin typeface="fkGroteskNeue"/>
              </a:rPr>
              <a:t>, a direct performance metric in analog design.</a:t>
            </a:r>
          </a:p>
          <a:p>
            <a:pPr marL="342900" indent="-342900" algn="l">
              <a:buFont typeface="Arial" panose="020B0604020202020204" pitchFamily="34" charset="0"/>
              <a:buChar char="•"/>
            </a:pPr>
            <a:r>
              <a:rPr lang="en-US" dirty="0">
                <a:latin typeface="fkGroteskNeue"/>
              </a:rPr>
              <a:t>Plotting </a:t>
            </a:r>
            <a:r>
              <a:rPr lang="en-US" i="1" dirty="0" err="1" smtClean="0">
                <a:latin typeface="KaTeX_Math"/>
              </a:rPr>
              <a:t>fT</a:t>
            </a:r>
            <a:r>
              <a:rPr lang="en-US" dirty="0">
                <a:latin typeface="fkGroteskNeue"/>
              </a:rPr>
              <a:t> (speed) directly versus gm/ID (efficiency) eliminates the need for the “middleman” variable </a:t>
            </a:r>
            <a:r>
              <a:rPr lang="en-US" i="1" dirty="0" err="1" smtClean="0">
                <a:latin typeface="KaTeX_Math"/>
              </a:rPr>
              <a:t>Vov</a:t>
            </a:r>
            <a:r>
              <a:rPr lang="en-US" dirty="0">
                <a:latin typeface="fkGroteskNeue"/>
              </a:rPr>
              <a:t>.</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2348102571"/>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The Power of gm/ID as a Direct Design </a:t>
            </a:r>
            <a:r>
              <a:rPr lang="en-US" dirty="0" smtClean="0">
                <a:latin typeface="fkGrotesk"/>
              </a:rPr>
              <a:t>Variable</a:t>
            </a:r>
            <a:endParaRPr lang="en-US" dirty="0"/>
          </a:p>
        </p:txBody>
      </p:sp>
      <p:sp>
        <p:nvSpPr>
          <p:cNvPr id="3" name="Text Placeholder 2"/>
          <p:cNvSpPr>
            <a:spLocks noGrp="1"/>
          </p:cNvSpPr>
          <p:nvPr>
            <p:ph type="body" idx="1"/>
          </p:nvPr>
        </p:nvSpPr>
        <p:spPr>
          <a:xfrm>
            <a:off x="844549" y="1327353"/>
            <a:ext cx="7644933" cy="4524315"/>
          </a:xfrm>
        </p:spPr>
        <p:txBody>
          <a:bodyPr/>
          <a:lstStyle/>
          <a:p>
            <a:pPr algn="just"/>
            <a:r>
              <a:rPr lang="en-US" b="1" dirty="0">
                <a:latin typeface="fkGroteskNeue"/>
              </a:rPr>
              <a:t>What </a:t>
            </a:r>
            <a:r>
              <a:rPr lang="en-US" b="1" dirty="0" smtClean="0">
                <a:latin typeface="fkGroteskNeue"/>
              </a:rPr>
              <a:t>Figure </a:t>
            </a:r>
            <a:r>
              <a:rPr lang="en-US" b="1" dirty="0">
                <a:latin typeface="fkGroteskNeue"/>
              </a:rPr>
              <a:t>represents fundamentally:</a:t>
            </a:r>
          </a:p>
          <a:p>
            <a:pPr marL="342900" indent="-342900" algn="just">
              <a:buFont typeface="Arial" panose="020B0604020202020204" pitchFamily="34" charset="0"/>
              <a:buChar char="•"/>
            </a:pPr>
            <a:r>
              <a:rPr lang="en-US" dirty="0">
                <a:latin typeface="fkGroteskNeue"/>
              </a:rPr>
              <a:t>This plot shows </a:t>
            </a:r>
            <a:r>
              <a:rPr lang="en-US" i="1" dirty="0" err="1" smtClean="0">
                <a:latin typeface="KaTeX_Math"/>
              </a:rPr>
              <a:t>fT</a:t>
            </a:r>
            <a:r>
              <a:rPr lang="en-US" dirty="0">
                <a:latin typeface="fkGroteskNeue"/>
              </a:rPr>
              <a:t> (speed) vs. gm/ID (efficiency) as a </a:t>
            </a:r>
            <a:r>
              <a:rPr lang="en-US" b="1" dirty="0">
                <a:latin typeface="fkGroteskNeue"/>
              </a:rPr>
              <a:t>direct tradeoff line</a:t>
            </a:r>
            <a:r>
              <a:rPr lang="en-US" dirty="0">
                <a:latin typeface="fkGroteskNeue"/>
              </a:rPr>
              <a:t>—eliminating the intermediate variable </a:t>
            </a:r>
            <a:r>
              <a:rPr lang="en-US" i="1" dirty="0" err="1" smtClean="0">
                <a:latin typeface="KaTeX_Math"/>
              </a:rPr>
              <a:t>Vov</a:t>
            </a:r>
            <a:r>
              <a:rPr lang="en-US" dirty="0">
                <a:latin typeface="fkGroteskNeue"/>
              </a:rPr>
              <a:t>.</a:t>
            </a:r>
          </a:p>
          <a:p>
            <a:pPr marL="342900" indent="-342900" algn="just">
              <a:buFont typeface="Arial" panose="020B0604020202020204" pitchFamily="34" charset="0"/>
              <a:buChar char="•"/>
            </a:pPr>
            <a:r>
              <a:rPr lang="en-US" dirty="0">
                <a:latin typeface="fkGroteskNeue"/>
              </a:rPr>
              <a:t>Instead of having to translate between </a:t>
            </a:r>
            <a:r>
              <a:rPr lang="en-US" i="1" dirty="0" err="1" smtClean="0">
                <a:latin typeface="KaTeX_Math"/>
              </a:rPr>
              <a:t>Vov</a:t>
            </a:r>
            <a:r>
              <a:rPr lang="en-US" dirty="0">
                <a:latin typeface="fkGroteskNeue"/>
              </a:rPr>
              <a:t>, speed, and efficiency through multiple steps, designers can now see the fundamental constraint directly: higher efficiency means lower speed, and vice versa.</a:t>
            </a:r>
          </a:p>
          <a:p>
            <a:pPr algn="just"/>
            <a:r>
              <a:rPr lang="en-US" b="1" dirty="0">
                <a:latin typeface="fkGroteskNeue"/>
              </a:rPr>
              <a:t>Intuitive breakthrough:</a:t>
            </a:r>
          </a:p>
          <a:p>
            <a:pPr marL="342900" indent="-342900" algn="just">
              <a:buFont typeface="Arial" panose="020B0604020202020204" pitchFamily="34" charset="0"/>
              <a:buChar char="•"/>
            </a:pPr>
            <a:r>
              <a:rPr lang="en-US" b="1" dirty="0">
                <a:latin typeface="fkGroteskNeue"/>
              </a:rPr>
              <a:t>gm/ID becomes the primary design variable—it </a:t>
            </a:r>
            <a:r>
              <a:rPr lang="en-US" dirty="0">
                <a:latin typeface="fkGroteskNeue"/>
              </a:rPr>
              <a:t>encodes both the bias point and the performance tradeoffs in one number.</a:t>
            </a:r>
          </a:p>
          <a:p>
            <a:pPr marL="342900" indent="-342900" algn="just">
              <a:buFont typeface="Arial" panose="020B0604020202020204" pitchFamily="34" charset="0"/>
              <a:buChar char="•"/>
            </a:pPr>
            <a:r>
              <a:rPr lang="en-US" dirty="0">
                <a:latin typeface="fkGroteskNeue"/>
              </a:rPr>
              <a:t>By choosing a gm/ID value, you simultaneously set:</a:t>
            </a:r>
          </a:p>
          <a:p>
            <a:pPr marL="742950" lvl="1" indent="-285750" algn="just">
              <a:buFont typeface="Arial" panose="020B0604020202020204" pitchFamily="34" charset="0"/>
              <a:buChar char="•"/>
            </a:pPr>
            <a:r>
              <a:rPr lang="en-US" dirty="0">
                <a:latin typeface="fkGroteskNeue"/>
              </a:rPr>
              <a:t>Power efficiency (how much gain per current)</a:t>
            </a:r>
          </a:p>
          <a:p>
            <a:pPr marL="742950" lvl="1" indent="-285750" algn="just">
              <a:buFont typeface="Arial" panose="020B0604020202020204" pitchFamily="34" charset="0"/>
              <a:buChar char="•"/>
            </a:pPr>
            <a:r>
              <a:rPr lang="en-US" dirty="0">
                <a:latin typeface="fkGroteskNeue"/>
              </a:rPr>
              <a:t>Maximum achievable speed </a:t>
            </a:r>
            <a:r>
              <a:rPr lang="en-US" dirty="0" smtClean="0">
                <a:latin typeface="fkGroteskNeue"/>
              </a:rPr>
              <a:t>(</a:t>
            </a:r>
            <a:r>
              <a:rPr lang="en-US" i="1" dirty="0" err="1" smtClean="0">
                <a:latin typeface="KaTeX_Math"/>
              </a:rPr>
              <a:t>fT</a:t>
            </a:r>
            <a:r>
              <a:rPr lang="en-US" dirty="0">
                <a:latin typeface="fkGroteskNeue"/>
              </a:rPr>
              <a:t>)</a:t>
            </a:r>
          </a:p>
          <a:p>
            <a:pPr marL="742950" lvl="1" indent="-285750" algn="just">
              <a:buFont typeface="Arial" panose="020B0604020202020204" pitchFamily="34" charset="0"/>
              <a:buChar char="•"/>
            </a:pPr>
            <a:r>
              <a:rPr lang="en-US" dirty="0">
                <a:latin typeface="fkGroteskNeue"/>
              </a:rPr>
              <a:t>The required bias current for any desired </a:t>
            </a:r>
            <a:r>
              <a:rPr lang="en-US" dirty="0" err="1">
                <a:latin typeface="fkGroteskNeue"/>
              </a:rPr>
              <a:t>transconductance</a:t>
            </a:r>
            <a:endParaRPr lang="en-US" dirty="0">
              <a:latin typeface="fkGroteskNeue"/>
            </a:endParaRP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8691613" y="1011368"/>
            <a:ext cx="3500387" cy="3005210"/>
          </a:xfrm>
          <a:prstGeom prst="rect">
            <a:avLst/>
          </a:prstGeom>
        </p:spPr>
      </p:pic>
      <p:sp>
        <p:nvSpPr>
          <p:cNvPr id="8" name="Rectangle 7"/>
          <p:cNvSpPr/>
          <p:nvPr/>
        </p:nvSpPr>
        <p:spPr>
          <a:xfrm>
            <a:off x="8845616" y="4085594"/>
            <a:ext cx="3346383" cy="253916"/>
          </a:xfrm>
          <a:prstGeom prst="rect">
            <a:avLst/>
          </a:prstGeom>
        </p:spPr>
        <p:txBody>
          <a:bodyPr wrap="square">
            <a:spAutoFit/>
          </a:bodyPr>
          <a:lstStyle/>
          <a:p>
            <a:r>
              <a:rPr lang="en-US" sz="1050" b="1" i="0" u="none" strike="noStrike" baseline="0" dirty="0" smtClean="0">
                <a:solidFill>
                  <a:srgbClr val="00B050"/>
                </a:solidFill>
                <a:latin typeface="CMR10"/>
              </a:rPr>
              <a:t>A more direct depiction of the </a:t>
            </a:r>
            <a:r>
              <a:rPr lang="en-US" sz="1050" b="1" i="0" u="none" strike="noStrike" baseline="0" dirty="0" smtClean="0">
                <a:solidFill>
                  <a:srgbClr val="00B050"/>
                </a:solidFill>
                <a:latin typeface="CMMI10"/>
              </a:rPr>
              <a:t>g</a:t>
            </a:r>
            <a:r>
              <a:rPr lang="en-US" sz="800" b="1" i="0" u="none" strike="noStrike" baseline="0" dirty="0" smtClean="0">
                <a:solidFill>
                  <a:srgbClr val="00B050"/>
                </a:solidFill>
                <a:latin typeface="CMMI7"/>
              </a:rPr>
              <a:t>m</a:t>
            </a:r>
            <a:r>
              <a:rPr lang="en-US" sz="1050" b="1" i="0" u="none" strike="noStrike" baseline="0" dirty="0" smtClean="0">
                <a:solidFill>
                  <a:srgbClr val="00B050"/>
                </a:solidFill>
                <a:latin typeface="CMMI10"/>
              </a:rPr>
              <a:t>/I</a:t>
            </a:r>
            <a:r>
              <a:rPr lang="en-US" sz="800" b="1" i="0" u="none" strike="noStrike" baseline="0" dirty="0" smtClean="0">
                <a:solidFill>
                  <a:srgbClr val="00B050"/>
                </a:solidFill>
                <a:latin typeface="CMMI7"/>
              </a:rPr>
              <a:t>D </a:t>
            </a:r>
            <a:r>
              <a:rPr lang="en-US" sz="1050" b="1" i="0" u="none" strike="noStrike" baseline="0" dirty="0" smtClean="0">
                <a:solidFill>
                  <a:srgbClr val="00B050"/>
                </a:solidFill>
                <a:latin typeface="CMR10"/>
              </a:rPr>
              <a:t>vs.</a:t>
            </a:r>
            <a:r>
              <a:rPr lang="en-US" sz="1050" b="1" i="0" u="none" strike="noStrike" dirty="0" smtClean="0">
                <a:solidFill>
                  <a:srgbClr val="00B050"/>
                </a:solidFill>
                <a:latin typeface="CMR10"/>
              </a:rPr>
              <a:t> </a:t>
            </a:r>
            <a:r>
              <a:rPr lang="en-US" sz="1050" b="1" i="0" u="none" strike="noStrike" baseline="0" dirty="0" err="1" smtClean="0">
                <a:solidFill>
                  <a:srgbClr val="00B050"/>
                </a:solidFill>
                <a:latin typeface="CMMI10"/>
              </a:rPr>
              <a:t>f</a:t>
            </a:r>
            <a:r>
              <a:rPr lang="en-US" sz="800" b="1" i="0" u="none" strike="noStrike" baseline="0" dirty="0" err="1" smtClean="0">
                <a:solidFill>
                  <a:srgbClr val="00B050"/>
                </a:solidFill>
                <a:latin typeface="CMMI7"/>
              </a:rPr>
              <a:t>T</a:t>
            </a:r>
            <a:r>
              <a:rPr lang="en-US" sz="800" b="1" dirty="0">
                <a:solidFill>
                  <a:srgbClr val="00B050"/>
                </a:solidFill>
                <a:latin typeface="CMMI7"/>
              </a:rPr>
              <a:t> </a:t>
            </a:r>
            <a:r>
              <a:rPr lang="en-US" sz="1050" b="1" i="0" u="none" strike="noStrike" baseline="0" dirty="0" smtClean="0">
                <a:solidFill>
                  <a:srgbClr val="00B050"/>
                </a:solidFill>
                <a:latin typeface="CMR10"/>
              </a:rPr>
              <a:t>tradeoff.</a:t>
            </a:r>
            <a:endParaRPr lang="en-US" sz="2000" b="1" dirty="0">
              <a:solidFill>
                <a:srgbClr val="00B050"/>
              </a:solidFill>
            </a:endParaRPr>
          </a:p>
        </p:txBody>
      </p:sp>
    </p:spTree>
    <p:extLst>
      <p:ext uri="{BB962C8B-B14F-4D97-AF65-F5344CB8AC3E}">
        <p14:creationId xmlns:p14="http://schemas.microsoft.com/office/powerpoint/2010/main" val="4024437526"/>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latin typeface="fkGrotesk"/>
              </a:rPr>
              <a:t>Figure: </a:t>
            </a:r>
            <a:r>
              <a:rPr lang="en-US" dirty="0">
                <a:latin typeface="fkGrotesk"/>
              </a:rPr>
              <a:t>Step-by-Step Design Using </a:t>
            </a:r>
            <a:r>
              <a:rPr lang="en-US" dirty="0" smtClean="0">
                <a:latin typeface="fkGrotesk"/>
              </a:rPr>
              <a:t>gm/ID</a:t>
            </a:r>
            <a:endParaRPr lang="en-US" dirty="0"/>
          </a:p>
        </p:txBody>
      </p:sp>
      <p:sp>
        <p:nvSpPr>
          <p:cNvPr id="3" name="Text Placeholder 2"/>
          <p:cNvSpPr>
            <a:spLocks noGrp="1"/>
          </p:cNvSpPr>
          <p:nvPr>
            <p:ph type="body" idx="1"/>
          </p:nvPr>
        </p:nvSpPr>
        <p:spPr>
          <a:xfrm>
            <a:off x="844550" y="1327353"/>
            <a:ext cx="7519804" cy="4801314"/>
          </a:xfrm>
        </p:spPr>
        <p:txBody>
          <a:bodyPr/>
          <a:lstStyle/>
          <a:p>
            <a:pPr algn="just"/>
            <a:r>
              <a:rPr lang="en-US" dirty="0" smtClean="0">
                <a:latin typeface="fkGroteskNeue"/>
              </a:rPr>
              <a:t>The </a:t>
            </a:r>
            <a:r>
              <a:rPr lang="en-US" dirty="0">
                <a:latin typeface="fkGroteskNeue"/>
              </a:rPr>
              <a:t>design process shown (with arrows 3, 4, 5):</a:t>
            </a:r>
          </a:p>
          <a:p>
            <a:pPr algn="just">
              <a:buFont typeface="+mj-lt"/>
              <a:buAutoNum type="arabicPeriod"/>
            </a:pPr>
            <a:r>
              <a:rPr lang="en-US" dirty="0">
                <a:latin typeface="fkGroteskNeue"/>
              </a:rPr>
              <a:t>Set the required </a:t>
            </a:r>
            <a:r>
              <a:rPr lang="en-US" i="1" dirty="0" smtClean="0">
                <a:latin typeface="KaTeX_Math"/>
              </a:rPr>
              <a:t>gm</a:t>
            </a:r>
            <a:r>
              <a:rPr lang="en-US" dirty="0">
                <a:latin typeface="fkGroteskNeue"/>
              </a:rPr>
              <a:t> from gain spec:</a:t>
            </a:r>
          </a:p>
          <a:p>
            <a:pPr marL="742950" lvl="1" indent="-285750" algn="just">
              <a:buFont typeface="Arial" panose="020B0604020202020204" pitchFamily="34" charset="0"/>
              <a:buChar char="•"/>
            </a:pPr>
            <a:r>
              <a:rPr lang="en-US" dirty="0">
                <a:latin typeface="fkGroteskNeue"/>
              </a:rPr>
              <a:t>For voltage gain of 10 with </a:t>
            </a:r>
            <a:r>
              <a:rPr lang="en-US" dirty="0">
                <a:latin typeface="KaTeX_Main"/>
              </a:rPr>
              <a:t>RL=1k</a:t>
            </a:r>
            <a:r>
              <a:rPr lang="el-GR" dirty="0">
                <a:latin typeface="KaTeX_Main"/>
              </a:rPr>
              <a:t>Ω</a:t>
            </a:r>
            <a:r>
              <a:rPr lang="en-US" i="1" dirty="0">
                <a:latin typeface="KaTeX_Math"/>
              </a:rPr>
              <a:t>RL</a:t>
            </a:r>
            <a:r>
              <a:rPr lang="en-US" dirty="0">
                <a:latin typeface="KaTeX_Main"/>
              </a:rPr>
              <a:t>=1</a:t>
            </a:r>
            <a:r>
              <a:rPr lang="en-US" i="1" dirty="0">
                <a:latin typeface="KaTeX_Math"/>
              </a:rPr>
              <a:t>k</a:t>
            </a:r>
            <a:r>
              <a:rPr lang="el-GR" dirty="0">
                <a:latin typeface="KaTeX_Main"/>
              </a:rPr>
              <a:t>Ω</a:t>
            </a:r>
            <a:r>
              <a:rPr lang="el-GR" dirty="0">
                <a:latin typeface="fkGroteskNeue"/>
              </a:rPr>
              <a:t>: </a:t>
            </a:r>
            <a:r>
              <a:rPr lang="en-US" i="1" dirty="0" smtClean="0">
                <a:latin typeface="KaTeX_Math"/>
              </a:rPr>
              <a:t>gm</a:t>
            </a:r>
            <a:r>
              <a:rPr lang="en-US" dirty="0" smtClean="0">
                <a:latin typeface="KaTeX_Main"/>
              </a:rPr>
              <a:t>=10</a:t>
            </a:r>
            <a:r>
              <a:rPr lang="en-US" i="1" dirty="0" smtClean="0">
                <a:latin typeface="KaTeX_Math"/>
              </a:rPr>
              <a:t>mA</a:t>
            </a:r>
            <a:r>
              <a:rPr lang="en-US" dirty="0" smtClean="0">
                <a:latin typeface="KaTeX_Main"/>
              </a:rPr>
              <a:t>/</a:t>
            </a:r>
            <a:r>
              <a:rPr lang="en-US" i="1" dirty="0" smtClean="0">
                <a:latin typeface="KaTeX_Math"/>
              </a:rPr>
              <a:t>V</a:t>
            </a:r>
            <a:endParaRPr lang="en-US" dirty="0">
              <a:latin typeface="fkGroteskNeue"/>
            </a:endParaRPr>
          </a:p>
          <a:p>
            <a:pPr algn="just">
              <a:buFont typeface="+mj-lt"/>
              <a:buAutoNum type="arabicPeriod"/>
            </a:pPr>
            <a:r>
              <a:rPr lang="en-US" dirty="0">
                <a:latin typeface="fkGroteskNeue"/>
              </a:rPr>
              <a:t>Set the required </a:t>
            </a:r>
            <a:r>
              <a:rPr lang="en-US" i="1" dirty="0" err="1" smtClean="0">
                <a:latin typeface="KaTeX_Math"/>
              </a:rPr>
              <a:t>fT</a:t>
            </a:r>
            <a:r>
              <a:rPr lang="en-US" dirty="0">
                <a:latin typeface="fkGroteskNeue"/>
              </a:rPr>
              <a:t> from bandwidth spec:</a:t>
            </a:r>
          </a:p>
          <a:p>
            <a:pPr marL="742950" lvl="1" indent="-285750" algn="just">
              <a:buFont typeface="Arial" panose="020B0604020202020204" pitchFamily="34" charset="0"/>
              <a:buChar char="•"/>
            </a:pPr>
            <a:r>
              <a:rPr lang="en-US" dirty="0">
                <a:latin typeface="fkGroteskNeue"/>
              </a:rPr>
              <a:t>For 500 MHz bandwidth: </a:t>
            </a:r>
            <a:r>
              <a:rPr lang="en-US" i="1" dirty="0" err="1" smtClean="0">
                <a:latin typeface="KaTeX_Math"/>
              </a:rPr>
              <a:t>fT</a:t>
            </a:r>
            <a:r>
              <a:rPr lang="en-US" dirty="0" smtClean="0">
                <a:latin typeface="KaTeX_Main"/>
              </a:rPr>
              <a:t>=</a:t>
            </a:r>
            <a:r>
              <a:rPr lang="en-US" i="1" dirty="0" smtClean="0">
                <a:latin typeface="KaTeX_Math"/>
              </a:rPr>
              <a:t>gm/</a:t>
            </a:r>
            <a:r>
              <a:rPr lang="en-US" dirty="0" smtClean="0">
                <a:latin typeface="KaTeX_Main"/>
              </a:rPr>
              <a:t>2</a:t>
            </a:r>
            <a:r>
              <a:rPr lang="el-GR" i="1" dirty="0">
                <a:latin typeface="KaTeX_Math"/>
              </a:rPr>
              <a:t>π</a:t>
            </a:r>
            <a:r>
              <a:rPr lang="en-US" i="1" dirty="0" err="1" smtClean="0">
                <a:latin typeface="KaTeX_Math"/>
              </a:rPr>
              <a:t>Cgs</a:t>
            </a:r>
            <a:r>
              <a:rPr lang="en-US" dirty="0" smtClean="0">
                <a:latin typeface="KaTeX_Main"/>
              </a:rPr>
              <a:t>=9.4</a:t>
            </a:r>
            <a:r>
              <a:rPr lang="en-US" i="1" dirty="0" smtClean="0">
                <a:latin typeface="KaTeX_Math"/>
              </a:rPr>
              <a:t>GHz</a:t>
            </a:r>
            <a:endParaRPr lang="en-US" dirty="0">
              <a:latin typeface="fkGroteskNeue"/>
            </a:endParaRPr>
          </a:p>
          <a:p>
            <a:pPr algn="just">
              <a:buFont typeface="+mj-lt"/>
              <a:buAutoNum type="arabicPeriod"/>
            </a:pPr>
            <a:r>
              <a:rPr lang="en-US" dirty="0">
                <a:latin typeface="fkGroteskNeue"/>
              </a:rPr>
              <a:t>Read gm/ID directly from the constraint line:</a:t>
            </a:r>
          </a:p>
          <a:p>
            <a:pPr marL="742950" lvl="1" indent="-285750" algn="just">
              <a:buFont typeface="Arial" panose="020B0604020202020204" pitchFamily="34" charset="0"/>
              <a:buChar char="•"/>
            </a:pPr>
            <a:r>
              <a:rPr lang="en-US" dirty="0">
                <a:latin typeface="fkGroteskNeue"/>
              </a:rPr>
              <a:t>From </a:t>
            </a:r>
            <a:r>
              <a:rPr lang="en-US" i="1" dirty="0" err="1" smtClean="0">
                <a:latin typeface="KaTeX_Math"/>
              </a:rPr>
              <a:t>fT</a:t>
            </a:r>
            <a:r>
              <a:rPr lang="en-US" dirty="0" smtClean="0">
                <a:latin typeface="KaTeX_Main"/>
              </a:rPr>
              <a:t>=9.4</a:t>
            </a:r>
            <a:r>
              <a:rPr lang="en-US" i="1" dirty="0" smtClean="0">
                <a:latin typeface="KaTeX_Math"/>
              </a:rPr>
              <a:t>GHz</a:t>
            </a:r>
            <a:r>
              <a:rPr lang="en-US" dirty="0">
                <a:latin typeface="fkGroteskNeue"/>
              </a:rPr>
              <a:t>, trace horizontally to the line, then down to find gm/ID ≤ 17.5 </a:t>
            </a:r>
            <a:r>
              <a:rPr lang="en-US" dirty="0" err="1">
                <a:latin typeface="fkGroteskNeue"/>
              </a:rPr>
              <a:t>mS</a:t>
            </a:r>
            <a:r>
              <a:rPr lang="en-US" dirty="0">
                <a:latin typeface="fkGroteskNeue"/>
              </a:rPr>
              <a:t>/mA</a:t>
            </a:r>
          </a:p>
          <a:p>
            <a:pPr algn="just">
              <a:buFont typeface="+mj-lt"/>
              <a:buAutoNum type="arabicPeriod"/>
            </a:pPr>
            <a:r>
              <a:rPr lang="en-US" dirty="0">
                <a:latin typeface="fkGroteskNeue"/>
              </a:rPr>
              <a:t>Calculate required bias current</a:t>
            </a:r>
            <a:r>
              <a:rPr lang="en-US" dirty="0" smtClean="0">
                <a:latin typeface="fkGroteskNeue"/>
              </a:rPr>
              <a:t>:</a:t>
            </a:r>
          </a:p>
          <a:p>
            <a:pPr algn="just">
              <a:buFont typeface="+mj-lt"/>
              <a:buAutoNum type="arabicPeriod"/>
            </a:pPr>
            <a:endParaRPr lang="en-US" dirty="0">
              <a:latin typeface="fkGroteskNeue"/>
            </a:endParaRPr>
          </a:p>
          <a:p>
            <a:pPr algn="just">
              <a:buFont typeface="+mj-lt"/>
              <a:buAutoNum type="arabicPeriod"/>
            </a:pPr>
            <a:endParaRPr lang="en-US" dirty="0">
              <a:latin typeface="fkGroteskNeue"/>
            </a:endParaRPr>
          </a:p>
          <a:p>
            <a:pPr algn="just"/>
            <a:r>
              <a:rPr lang="en-US" dirty="0" smtClean="0">
                <a:latin typeface="fkGroteskNeue"/>
              </a:rPr>
              <a:t>Fundamental </a:t>
            </a:r>
            <a:r>
              <a:rPr lang="en-US" dirty="0">
                <a:latin typeface="fkGroteskNeue"/>
              </a:rPr>
              <a:t>advantage:</a:t>
            </a:r>
          </a:p>
          <a:p>
            <a:pPr marL="342900" indent="-342900" algn="just">
              <a:buFont typeface="Arial" panose="020B0604020202020204" pitchFamily="34" charset="0"/>
              <a:buChar char="•"/>
            </a:pPr>
            <a:r>
              <a:rPr lang="en-US" dirty="0">
                <a:latin typeface="fkGroteskNeue"/>
              </a:rPr>
              <a:t>No need to guess or iterate </a:t>
            </a:r>
            <a:r>
              <a:rPr lang="en-US" dirty="0" smtClean="0">
                <a:latin typeface="fkGroteskNeue"/>
              </a:rPr>
              <a:t>with </a:t>
            </a:r>
            <a:r>
              <a:rPr lang="en-US" i="1" dirty="0" err="1" smtClean="0">
                <a:latin typeface="KaTeX_Math"/>
              </a:rPr>
              <a:t>Vov</a:t>
            </a:r>
            <a:r>
              <a:rPr lang="en-US" dirty="0" smtClean="0">
                <a:latin typeface="fkGroteskNeue"/>
              </a:rPr>
              <a:t>—the </a:t>
            </a:r>
            <a:r>
              <a:rPr lang="en-US" dirty="0">
                <a:latin typeface="fkGroteskNeue"/>
              </a:rPr>
              <a:t>design path is direct and unambiguous.</a:t>
            </a:r>
          </a:p>
          <a:p>
            <a:pPr marL="342900" indent="-342900" algn="just">
              <a:buFont typeface="Arial" panose="020B0604020202020204" pitchFamily="34" charset="0"/>
              <a:buChar char="•"/>
            </a:pPr>
            <a:r>
              <a:rPr lang="en-US" dirty="0">
                <a:latin typeface="fkGroteskNeue"/>
              </a:rPr>
              <a:t>All performance tradeoffs are visible and quantifiable upfront.</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2103182" y="3919107"/>
            <a:ext cx="3439561" cy="575890"/>
          </a:xfrm>
          <a:prstGeom prst="rect">
            <a:avLst/>
          </a:prstGeom>
        </p:spPr>
      </p:pic>
      <p:pic>
        <p:nvPicPr>
          <p:cNvPr id="8" name="Picture 7"/>
          <p:cNvPicPr>
            <a:picLocks noChangeAspect="1"/>
          </p:cNvPicPr>
          <p:nvPr/>
        </p:nvPicPr>
        <p:blipFill>
          <a:blip r:embed="rId3"/>
          <a:stretch>
            <a:fillRect/>
          </a:stretch>
        </p:blipFill>
        <p:spPr>
          <a:xfrm>
            <a:off x="8532395" y="1116529"/>
            <a:ext cx="3659605" cy="3058597"/>
          </a:xfrm>
          <a:prstGeom prst="rect">
            <a:avLst/>
          </a:prstGeom>
        </p:spPr>
      </p:pic>
      <p:sp>
        <p:nvSpPr>
          <p:cNvPr id="9" name="Rectangle 8"/>
          <p:cNvSpPr/>
          <p:nvPr/>
        </p:nvSpPr>
        <p:spPr>
          <a:xfrm>
            <a:off x="9607373" y="4278041"/>
            <a:ext cx="2459328" cy="276999"/>
          </a:xfrm>
          <a:prstGeom prst="rect">
            <a:avLst/>
          </a:prstGeom>
        </p:spPr>
        <p:txBody>
          <a:bodyPr wrap="none">
            <a:spAutoFit/>
          </a:bodyPr>
          <a:lstStyle/>
          <a:p>
            <a:r>
              <a:rPr lang="en-US" sz="1200" b="1" i="0" u="none" strike="noStrike" baseline="0" dirty="0" smtClean="0">
                <a:solidFill>
                  <a:srgbClr val="00B050"/>
                </a:solidFill>
                <a:latin typeface="CMR10"/>
              </a:rPr>
              <a:t>Using </a:t>
            </a:r>
            <a:r>
              <a:rPr lang="en-US" sz="1200" b="1" i="0" u="none" strike="noStrike" baseline="0" dirty="0" smtClean="0">
                <a:solidFill>
                  <a:srgbClr val="00B050"/>
                </a:solidFill>
                <a:latin typeface="CMMI10"/>
              </a:rPr>
              <a:t>g</a:t>
            </a:r>
            <a:r>
              <a:rPr lang="en-US" sz="1000" b="1" i="0" u="none" strike="noStrike" baseline="0" dirty="0" smtClean="0">
                <a:solidFill>
                  <a:srgbClr val="00B050"/>
                </a:solidFill>
                <a:latin typeface="CMMI7"/>
              </a:rPr>
              <a:t>m</a:t>
            </a:r>
            <a:r>
              <a:rPr lang="en-US" sz="1200" b="1" i="0" u="none" strike="noStrike" baseline="0" dirty="0" smtClean="0">
                <a:solidFill>
                  <a:srgbClr val="00B050"/>
                </a:solidFill>
                <a:latin typeface="CMMI10"/>
              </a:rPr>
              <a:t>/I</a:t>
            </a:r>
            <a:r>
              <a:rPr lang="en-US" sz="1000" b="1" i="0" u="none" strike="noStrike" baseline="0" dirty="0" smtClean="0">
                <a:solidFill>
                  <a:srgbClr val="00B050"/>
                </a:solidFill>
                <a:latin typeface="CMMI7"/>
              </a:rPr>
              <a:t>D </a:t>
            </a:r>
            <a:r>
              <a:rPr lang="en-US" sz="1200" b="1" i="0" u="none" strike="noStrike" baseline="0" dirty="0" smtClean="0">
                <a:solidFill>
                  <a:srgbClr val="00B050"/>
                </a:solidFill>
                <a:latin typeface="CMR10"/>
              </a:rPr>
              <a:t>in a simple design.</a:t>
            </a:r>
            <a:endParaRPr lang="en-US" sz="2800" b="1" dirty="0">
              <a:solidFill>
                <a:srgbClr val="00B050"/>
              </a:solidFill>
            </a:endParaRPr>
          </a:p>
        </p:txBody>
      </p:sp>
    </p:spTree>
    <p:extLst>
      <p:ext uri="{BB962C8B-B14F-4D97-AF65-F5344CB8AC3E}">
        <p14:creationId xmlns:p14="http://schemas.microsoft.com/office/powerpoint/2010/main" val="3977369083"/>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Figure </a:t>
            </a:r>
            <a:r>
              <a:rPr lang="en-US" dirty="0" smtClean="0">
                <a:latin typeface="fkGrotesk"/>
              </a:rPr>
              <a:t>: </a:t>
            </a:r>
            <a:r>
              <a:rPr lang="en-US" dirty="0">
                <a:latin typeface="fkGrotesk"/>
              </a:rPr>
              <a:t>Process-Aware Design </a:t>
            </a:r>
            <a:r>
              <a:rPr lang="en-US" dirty="0" smtClean="0">
                <a:latin typeface="fkGrotesk"/>
              </a:rPr>
              <a:t>Charts</a:t>
            </a:r>
            <a:endParaRPr lang="en-US" dirty="0"/>
          </a:p>
        </p:txBody>
      </p:sp>
      <p:sp>
        <p:nvSpPr>
          <p:cNvPr id="3" name="Text Placeholder 2"/>
          <p:cNvSpPr>
            <a:spLocks noGrp="1"/>
          </p:cNvSpPr>
          <p:nvPr>
            <p:ph type="body" idx="1"/>
          </p:nvPr>
        </p:nvSpPr>
        <p:spPr>
          <a:xfrm>
            <a:off x="844550" y="1250351"/>
            <a:ext cx="6778658" cy="5232202"/>
          </a:xfrm>
        </p:spPr>
        <p:txBody>
          <a:bodyPr/>
          <a:lstStyle/>
          <a:p>
            <a:pPr algn="l"/>
            <a:r>
              <a:rPr lang="en-US" dirty="0" smtClean="0">
                <a:latin typeface="fkGroteskNeue"/>
              </a:rPr>
              <a:t>What </a:t>
            </a:r>
            <a:r>
              <a:rPr lang="en-US" dirty="0">
                <a:latin typeface="fkGroteskNeue"/>
              </a:rPr>
              <a:t>Figure </a:t>
            </a:r>
            <a:r>
              <a:rPr lang="en-US" dirty="0" smtClean="0">
                <a:latin typeface="fkGroteskNeue"/>
              </a:rPr>
              <a:t> </a:t>
            </a:r>
            <a:r>
              <a:rPr lang="en-US" dirty="0">
                <a:latin typeface="fkGroteskNeue"/>
              </a:rPr>
              <a:t>shows:</a:t>
            </a:r>
          </a:p>
          <a:p>
            <a:pPr marL="342900" indent="-342900" algn="just">
              <a:buFont typeface="Arial" panose="020B0604020202020204" pitchFamily="34" charset="0"/>
              <a:buChar char="•"/>
            </a:pPr>
            <a:r>
              <a:rPr lang="en-US" dirty="0">
                <a:latin typeface="fkGroteskNeue"/>
              </a:rPr>
              <a:t>Multiple </a:t>
            </a:r>
            <a:r>
              <a:rPr lang="en-US" i="1" dirty="0" err="1" smtClean="0">
                <a:latin typeface="KaTeX_Math"/>
              </a:rPr>
              <a:t>fT</a:t>
            </a:r>
            <a:r>
              <a:rPr lang="en-US" dirty="0">
                <a:latin typeface="fkGroteskNeue"/>
              </a:rPr>
              <a:t> vs. gm/ID curves for different channel lengths (L = 0.18μm to 0.34μm) in a 0.18μm process.</a:t>
            </a:r>
          </a:p>
          <a:p>
            <a:pPr marL="342900" indent="-342900" algn="just">
              <a:buFont typeface="Arial" panose="020B0604020202020204" pitchFamily="34" charset="0"/>
              <a:buChar char="•"/>
            </a:pPr>
            <a:r>
              <a:rPr lang="en-US" dirty="0">
                <a:latin typeface="fkGroteskNeue"/>
              </a:rPr>
              <a:t>Each curve represents the fundamental speed-efficiency tradeoff for that specific geometry.</a:t>
            </a:r>
          </a:p>
          <a:p>
            <a:pPr algn="just"/>
            <a:r>
              <a:rPr lang="en-US" dirty="0">
                <a:latin typeface="fkGroteskNeue"/>
              </a:rPr>
              <a:t>Deep insights:</a:t>
            </a:r>
          </a:p>
          <a:p>
            <a:pPr marL="457200" indent="-457200" algn="just">
              <a:buFont typeface="+mj-lt"/>
              <a:buAutoNum type="arabicPeriod"/>
            </a:pPr>
            <a:r>
              <a:rPr lang="en-US" dirty="0">
                <a:latin typeface="fkGroteskNeue"/>
              </a:rPr>
              <a:t>Channel length is a design choice: Shorter channels give higher speed but may sacrifice matching, noise, or other parameters.</a:t>
            </a:r>
          </a:p>
          <a:p>
            <a:pPr marL="457200" indent="-457200" algn="just">
              <a:buFont typeface="+mj-lt"/>
              <a:buAutoNum type="arabicPeriod"/>
            </a:pPr>
            <a:r>
              <a:rPr lang="en-US" dirty="0">
                <a:latin typeface="fkGroteskNeue"/>
              </a:rPr>
              <a:t>Process-specific reality: These curves capture real device physics—short-channel effects, velocity saturation, parasitic capacitances—that simple equations miss.</a:t>
            </a:r>
          </a:p>
          <a:p>
            <a:pPr marL="457200" indent="-457200" algn="just">
              <a:buFont typeface="+mj-lt"/>
              <a:buAutoNum type="arabicPeriod"/>
            </a:pPr>
            <a:r>
              <a:rPr lang="en-US" dirty="0">
                <a:latin typeface="fkGroteskNeue"/>
              </a:rPr>
              <a:t>Design space exploration: Designers can quickly see if their speed/efficiency targets are achievable, and if not, what geometric or process modifications are needed</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846624" y="988343"/>
            <a:ext cx="4064209" cy="3245017"/>
          </a:xfrm>
          <a:prstGeom prst="rect">
            <a:avLst/>
          </a:prstGeom>
        </p:spPr>
      </p:pic>
      <p:sp>
        <p:nvSpPr>
          <p:cNvPr id="8" name="Rectangle 7"/>
          <p:cNvSpPr/>
          <p:nvPr/>
        </p:nvSpPr>
        <p:spPr>
          <a:xfrm>
            <a:off x="8737294" y="4239540"/>
            <a:ext cx="3137397" cy="276999"/>
          </a:xfrm>
          <a:prstGeom prst="rect">
            <a:avLst/>
          </a:prstGeom>
        </p:spPr>
        <p:txBody>
          <a:bodyPr wrap="none">
            <a:spAutoFit/>
          </a:bodyPr>
          <a:lstStyle/>
          <a:p>
            <a:r>
              <a:rPr lang="en-US" sz="1200" b="1" i="0" u="none" strike="noStrike" baseline="0" dirty="0" smtClean="0">
                <a:solidFill>
                  <a:srgbClr val="00B050"/>
                </a:solidFill>
                <a:latin typeface="CMR10"/>
              </a:rPr>
              <a:t>An </a:t>
            </a:r>
            <a:r>
              <a:rPr lang="en-US" sz="1200" b="1" i="0" u="none" strike="noStrike" baseline="0" dirty="0" err="1" smtClean="0">
                <a:solidFill>
                  <a:srgbClr val="00B050"/>
                </a:solidFill>
                <a:latin typeface="CMMI10"/>
              </a:rPr>
              <a:t>f</a:t>
            </a:r>
            <a:r>
              <a:rPr lang="en-US" sz="1000" b="1" i="0" u="none" strike="noStrike" baseline="0" dirty="0" err="1" smtClean="0">
                <a:solidFill>
                  <a:srgbClr val="00B050"/>
                </a:solidFill>
                <a:latin typeface="CMMI7"/>
              </a:rPr>
              <a:t>T</a:t>
            </a:r>
            <a:r>
              <a:rPr lang="en-US" sz="1000" b="1" i="0" u="none" strike="noStrike" baseline="0" dirty="0" smtClean="0">
                <a:solidFill>
                  <a:srgbClr val="00B050"/>
                </a:solidFill>
                <a:latin typeface="CMMI7"/>
              </a:rPr>
              <a:t> </a:t>
            </a:r>
            <a:r>
              <a:rPr lang="en-US" sz="1200" b="1" i="0" u="none" strike="noStrike" baseline="0" dirty="0" smtClean="0">
                <a:solidFill>
                  <a:srgbClr val="00B050"/>
                </a:solidFill>
                <a:latin typeface="CMR10"/>
              </a:rPr>
              <a:t>design chart for a 0</a:t>
            </a:r>
            <a:r>
              <a:rPr lang="en-US" sz="1200" b="1" i="0" u="none" strike="noStrike" baseline="0" dirty="0" smtClean="0">
                <a:solidFill>
                  <a:srgbClr val="00B050"/>
                </a:solidFill>
                <a:latin typeface="CMMI10"/>
              </a:rPr>
              <a:t>.</a:t>
            </a:r>
            <a:r>
              <a:rPr lang="en-US" sz="1200" b="1" i="0" u="none" strike="noStrike" baseline="0" dirty="0" smtClean="0">
                <a:solidFill>
                  <a:srgbClr val="00B050"/>
                </a:solidFill>
                <a:latin typeface="CMR10"/>
              </a:rPr>
              <a:t>18</a:t>
            </a:r>
            <a:r>
              <a:rPr lang="en-US" sz="1200" b="1" i="0" u="none" strike="noStrike" baseline="0" dirty="0" smtClean="0">
                <a:solidFill>
                  <a:srgbClr val="00B050"/>
                </a:solidFill>
                <a:latin typeface="CMMI10"/>
              </a:rPr>
              <a:t>μm </a:t>
            </a:r>
            <a:r>
              <a:rPr lang="en-US" sz="1200" b="1" i="0" u="none" strike="noStrike" baseline="0" dirty="0" smtClean="0">
                <a:solidFill>
                  <a:srgbClr val="00B050"/>
                </a:solidFill>
                <a:latin typeface="CMR10"/>
              </a:rPr>
              <a:t>process.</a:t>
            </a:r>
            <a:endParaRPr lang="en-US" sz="2800" b="1" dirty="0">
              <a:solidFill>
                <a:srgbClr val="00B050"/>
              </a:solidFill>
            </a:endParaRPr>
          </a:p>
        </p:txBody>
      </p:sp>
    </p:spTree>
    <p:extLst>
      <p:ext uri="{BB962C8B-B14F-4D97-AF65-F5344CB8AC3E}">
        <p14:creationId xmlns:p14="http://schemas.microsoft.com/office/powerpoint/2010/main" val="932931671"/>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Introduction to gm/ID-Based Design </a:t>
            </a:r>
            <a:r>
              <a:rPr lang="en-US" dirty="0" smtClean="0">
                <a:latin typeface="fkGrotesk"/>
              </a:rPr>
              <a:t>Philosophy</a:t>
            </a:r>
            <a:endParaRPr lang="en-US" dirty="0"/>
          </a:p>
        </p:txBody>
      </p:sp>
      <p:sp>
        <p:nvSpPr>
          <p:cNvPr id="3" name="Text Placeholder 2"/>
          <p:cNvSpPr>
            <a:spLocks noGrp="1"/>
          </p:cNvSpPr>
          <p:nvPr>
            <p:ph type="body" idx="1"/>
          </p:nvPr>
        </p:nvSpPr>
        <p:spPr>
          <a:xfrm>
            <a:off x="844550" y="1327353"/>
            <a:ext cx="10715391" cy="3077766"/>
          </a:xfrm>
        </p:spPr>
        <p:txBody>
          <a:bodyPr/>
          <a:lstStyle/>
          <a:p>
            <a:pPr algn="just"/>
            <a:r>
              <a:rPr lang="en-US" dirty="0" smtClean="0">
                <a:latin typeface="fkGroteskNeue"/>
              </a:rPr>
              <a:t>Why </a:t>
            </a:r>
            <a:r>
              <a:rPr lang="en-US" dirty="0">
                <a:latin typeface="fkGroteskNeue"/>
              </a:rPr>
              <a:t>gm/ID is superior to </a:t>
            </a:r>
            <a:r>
              <a:rPr lang="en-US" i="1" dirty="0" err="1" smtClean="0">
                <a:latin typeface="KaTeX_Math"/>
              </a:rPr>
              <a:t>Vov</a:t>
            </a:r>
            <a:r>
              <a:rPr lang="en-US" dirty="0">
                <a:latin typeface="fkGroteskNeue"/>
              </a:rPr>
              <a:t>:</a:t>
            </a:r>
          </a:p>
          <a:p>
            <a:pPr marL="457200" indent="-457200" algn="just">
              <a:buFont typeface="+mj-lt"/>
              <a:buAutoNum type="arabicPeriod"/>
            </a:pPr>
            <a:r>
              <a:rPr lang="en-US" dirty="0">
                <a:latin typeface="fkGroteskNeue"/>
              </a:rPr>
              <a:t>Physical relevance: gm/ID directly relates to circuit performance—it's the gain you get per unit current, which is exactly what analog designers care about.</a:t>
            </a:r>
          </a:p>
          <a:p>
            <a:pPr marL="457200" indent="-457200" algn="just">
              <a:buFont typeface="+mj-lt"/>
              <a:buAutoNum type="arabicPeriod"/>
            </a:pPr>
            <a:r>
              <a:rPr lang="en-US" dirty="0">
                <a:latin typeface="fkGroteskNeue"/>
              </a:rPr>
              <a:t>Technology independence: While </a:t>
            </a:r>
            <a:r>
              <a:rPr lang="en-US" i="1" dirty="0" err="1" smtClean="0">
                <a:latin typeface="KaTeX_Math"/>
              </a:rPr>
              <a:t>Vov</a:t>
            </a:r>
            <a:r>
              <a:rPr lang="en-US" dirty="0">
                <a:latin typeface="fkGroteskNeue"/>
              </a:rPr>
              <a:t> calculations depend on process parameters </a:t>
            </a:r>
            <a:r>
              <a:rPr lang="en-US" dirty="0" smtClean="0">
                <a:latin typeface="fkGroteskNeue"/>
              </a:rPr>
              <a:t>(</a:t>
            </a:r>
            <a:r>
              <a:rPr lang="en-US" i="1" dirty="0" smtClean="0">
                <a:latin typeface="KaTeX_Math"/>
              </a:rPr>
              <a:t>μ</a:t>
            </a:r>
            <a:r>
              <a:rPr lang="en-US" dirty="0">
                <a:latin typeface="fkGroteskNeue"/>
              </a:rPr>
              <a:t>, </a:t>
            </a:r>
            <a:r>
              <a:rPr lang="en-US" i="1" dirty="0" smtClean="0">
                <a:latin typeface="KaTeX_Math"/>
              </a:rPr>
              <a:t>Cox</a:t>
            </a:r>
            <a:r>
              <a:rPr lang="en-US" dirty="0">
                <a:latin typeface="fkGroteskNeue"/>
              </a:rPr>
              <a:t>, </a:t>
            </a:r>
            <a:r>
              <a:rPr lang="en-US" i="1" dirty="0" smtClean="0">
                <a:latin typeface="KaTeX_Math"/>
              </a:rPr>
              <a:t>VT</a:t>
            </a:r>
            <a:r>
              <a:rPr lang="en-US" dirty="0">
                <a:latin typeface="fkGroteskNeue"/>
              </a:rPr>
              <a:t>) that may not be well-known, gm/ID can be measured or simulated directly for any process.</a:t>
            </a:r>
          </a:p>
          <a:p>
            <a:pPr marL="457200" indent="-457200" algn="just">
              <a:buFont typeface="+mj-lt"/>
              <a:buAutoNum type="arabicPeriod"/>
            </a:pPr>
            <a:r>
              <a:rPr lang="en-US" dirty="0">
                <a:latin typeface="fkGroteskNeue"/>
              </a:rPr>
              <a:t>Comprehensive optimization: One variable (gm/ID) captures the essential tradeoff between power and speed, making optimization straightforward.</a:t>
            </a:r>
          </a:p>
          <a:p>
            <a:pPr marL="457200" indent="-457200" algn="just">
              <a:buFont typeface="+mj-lt"/>
              <a:buAutoNum type="arabicPeriod"/>
            </a:pPr>
            <a:r>
              <a:rPr lang="en-US" dirty="0">
                <a:latin typeface="fkGroteskNeue"/>
              </a:rPr>
              <a:t>Subthreshold inclusion: Unlike </a:t>
            </a:r>
            <a:r>
              <a:rPr lang="en-US" i="1" dirty="0" err="1" smtClean="0">
                <a:latin typeface="KaTeX_Math"/>
              </a:rPr>
              <a:t>Vov</a:t>
            </a:r>
            <a:r>
              <a:rPr lang="en-US" dirty="0" smtClean="0">
                <a:latin typeface="fkGroteskNeue"/>
              </a:rPr>
              <a:t>-based </a:t>
            </a:r>
            <a:r>
              <a:rPr lang="en-US" dirty="0">
                <a:latin typeface="fkGroteskNeue"/>
              </a:rPr>
              <a:t>approaches that break down in weak inversion, gm/ID naturally extends to all operating regions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014067542"/>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Lecture Delivery </a:t>
            </a:r>
            <a:r>
              <a:rPr lang="en-US" dirty="0" smtClean="0">
                <a:latin typeface="fkGrotesk"/>
              </a:rPr>
              <a:t>Strategy</a:t>
            </a:r>
            <a:endParaRPr lang="en-US" dirty="0"/>
          </a:p>
        </p:txBody>
      </p:sp>
      <p:sp>
        <p:nvSpPr>
          <p:cNvPr id="3" name="Text Placeholder 2"/>
          <p:cNvSpPr>
            <a:spLocks noGrp="1"/>
          </p:cNvSpPr>
          <p:nvPr>
            <p:ph type="body" idx="1"/>
          </p:nvPr>
        </p:nvSpPr>
        <p:spPr>
          <a:xfrm>
            <a:off x="777173" y="1144473"/>
            <a:ext cx="10879021" cy="3077766"/>
          </a:xfrm>
        </p:spPr>
        <p:txBody>
          <a:bodyPr/>
          <a:lstStyle/>
          <a:p>
            <a:pPr algn="l">
              <a:buFont typeface="+mj-lt"/>
              <a:buAutoNum type="arabicPeriod"/>
            </a:pPr>
            <a:r>
              <a:rPr lang="en-US" dirty="0" smtClean="0">
                <a:latin typeface="fkGroteskNeue"/>
              </a:rPr>
              <a:t>Start </a:t>
            </a:r>
            <a:r>
              <a:rPr lang="en-US" dirty="0">
                <a:latin typeface="fkGroteskNeue"/>
              </a:rPr>
              <a:t>with the limitation: Emphasize that </a:t>
            </a:r>
            <a:r>
              <a:rPr lang="en-US" i="1" dirty="0" err="1" smtClean="0">
                <a:latin typeface="KaTeX_Math"/>
              </a:rPr>
              <a:t>Vov</a:t>
            </a:r>
            <a:r>
              <a:rPr lang="en-US" dirty="0">
                <a:latin typeface="fkGroteskNeue"/>
              </a:rPr>
              <a:t> was useful for building intuition, but real design needs process-aware data.</a:t>
            </a:r>
          </a:p>
          <a:p>
            <a:pPr algn="l">
              <a:buFont typeface="+mj-lt"/>
              <a:buAutoNum type="arabicPeriod"/>
            </a:pPr>
            <a:r>
              <a:rPr lang="en-US" dirty="0">
                <a:latin typeface="fkGroteskNeue"/>
              </a:rPr>
              <a:t>Introduce the direct approach: Show how Figure 14 eliminates the "middleman" </a:t>
            </a:r>
            <a:r>
              <a:rPr lang="en-US" dirty="0" smtClean="0">
                <a:latin typeface="fkGroteskNeue"/>
              </a:rPr>
              <a:t>(</a:t>
            </a:r>
            <a:r>
              <a:rPr lang="en-US" i="1" dirty="0" err="1" smtClean="0">
                <a:latin typeface="KaTeX_Math"/>
              </a:rPr>
              <a:t>Vov</a:t>
            </a:r>
            <a:r>
              <a:rPr lang="en-US" dirty="0">
                <a:latin typeface="fkGroteskNeue"/>
              </a:rPr>
              <a:t>) and makes the fundamental tradeoff explicit.</a:t>
            </a:r>
          </a:p>
          <a:p>
            <a:pPr algn="l">
              <a:buFont typeface="+mj-lt"/>
              <a:buAutoNum type="arabicPeriod"/>
            </a:pPr>
            <a:r>
              <a:rPr lang="en-US" dirty="0">
                <a:latin typeface="fkGroteskNeue"/>
              </a:rPr>
              <a:t>Walk through the design example: Use Figure 15 to show the streamlined, step-by-step process that leads directly from specs to sizing.</a:t>
            </a:r>
          </a:p>
          <a:p>
            <a:pPr algn="l">
              <a:buFont typeface="+mj-lt"/>
              <a:buAutoNum type="arabicPeriod"/>
            </a:pPr>
            <a:r>
              <a:rPr lang="en-US" dirty="0">
                <a:latin typeface="fkGroteskNeue"/>
              </a:rPr>
              <a:t>Show the practical implementation: Use Figure 16 to demonstrate how real design charts incorporate process variations and geometric choices.</a:t>
            </a:r>
          </a:p>
          <a:p>
            <a:pPr algn="l">
              <a:buFont typeface="+mj-lt"/>
              <a:buAutoNum type="arabicPeriod"/>
            </a:pPr>
            <a:r>
              <a:rPr lang="en-US" dirty="0">
                <a:latin typeface="fkGroteskNeue"/>
              </a:rPr>
              <a:t>Emphasize the paradigm shift: gm/ID transforms analog design from iterative guesswork to systematic </a:t>
            </a:r>
            <a:r>
              <a:rPr lang="en-US" dirty="0" smtClean="0">
                <a:latin typeface="fkGroteskNeue"/>
              </a:rPr>
              <a:t>optimization</a:t>
            </a:r>
            <a:endParaRPr lang="en-US" dirty="0">
              <a:latin typeface="fkGroteskNeue"/>
            </a:endParaRPr>
          </a:p>
        </p:txBody>
      </p:sp>
      <p:sp>
        <p:nvSpPr>
          <p:cNvPr id="4" name="Footer Placeholder 3"/>
          <p:cNvSpPr>
            <a:spLocks noGrp="1"/>
          </p:cNvSpPr>
          <p:nvPr>
            <p:ph type="ftr" sz="quarter" idx="5"/>
          </p:nvPr>
        </p:nvSpPr>
        <p:spPr>
          <a:xfrm>
            <a:off x="5502735" y="6575175"/>
            <a:ext cx="1340827" cy="210636"/>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574160" y="6468534"/>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149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693018" y="4519658"/>
            <a:ext cx="10414535" cy="1754326"/>
          </a:xfrm>
          <a:prstGeom prst="rect">
            <a:avLst/>
          </a:prstGeom>
        </p:spPr>
        <p:txBody>
          <a:bodyPr wrap="square">
            <a:spAutoFit/>
          </a:bodyPr>
          <a:lstStyle/>
          <a:p>
            <a:r>
              <a:rPr lang="en-US" b="0" i="0" dirty="0" smtClean="0">
                <a:effectLst/>
                <a:latin typeface="fkGroteskNeue"/>
              </a:rPr>
              <a:t>Summary:</a:t>
            </a:r>
            <a:r>
              <a:rPr lang="en-US" dirty="0" smtClean="0"/>
              <a:t/>
            </a:r>
            <a:br>
              <a:rPr lang="en-US" dirty="0" smtClean="0"/>
            </a:br>
            <a:r>
              <a:rPr lang="en-US" b="0" i="0" dirty="0" smtClean="0">
                <a:effectLst/>
                <a:latin typeface="fkGroteskNeue"/>
              </a:rPr>
              <a:t>The transition from </a:t>
            </a:r>
            <a:r>
              <a:rPr lang="en-US" b="0" i="1" dirty="0" err="1" smtClean="0">
                <a:effectLst/>
                <a:latin typeface="KaTeX_Math"/>
              </a:rPr>
              <a:t>Vov</a:t>
            </a:r>
            <a:r>
              <a:rPr lang="en-US" b="0" i="0" dirty="0" smtClean="0">
                <a:effectLst/>
                <a:latin typeface="fkGroteskNeue"/>
              </a:rPr>
              <a:t> to gm/ID represents a fundamental evolution in analog design methodology. While </a:t>
            </a:r>
            <a:r>
              <a:rPr lang="en-US" b="0" i="1" dirty="0" err="1" smtClean="0">
                <a:effectLst/>
                <a:latin typeface="KaTeX_Math"/>
              </a:rPr>
              <a:t>Vov</a:t>
            </a:r>
            <a:r>
              <a:rPr lang="en-US" b="0" i="0" dirty="0" smtClean="0">
                <a:effectLst/>
                <a:latin typeface="fkGroteskNeue"/>
              </a:rPr>
              <a:t> provides valuable physical intuition, gm/ID offers a direct, process-aware, and comprehensive approach that captures the essential physics while remaining practical for modern circuit design. This methodology transforms the designer's relationship with transistor-level decisions from uncertainty to confident optimization</a:t>
            </a:r>
            <a:endParaRPr lang="en-US" dirty="0"/>
          </a:p>
        </p:txBody>
      </p:sp>
    </p:spTree>
    <p:extLst>
      <p:ext uri="{BB962C8B-B14F-4D97-AF65-F5344CB8AC3E}">
        <p14:creationId xmlns:p14="http://schemas.microsoft.com/office/powerpoint/2010/main" val="3883026066"/>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The Role of </a:t>
            </a:r>
            <a:r>
              <a:rPr lang="en-US" i="1" dirty="0" err="1" smtClean="0">
                <a:latin typeface="KaTeX_Math"/>
              </a:rPr>
              <a:t>ro</a:t>
            </a:r>
            <a:r>
              <a:rPr lang="en-US" dirty="0">
                <a:latin typeface="fkGrotesk"/>
              </a:rPr>
              <a:t> and Intrinsic </a:t>
            </a:r>
            <a:r>
              <a:rPr lang="en-US" dirty="0" smtClean="0">
                <a:latin typeface="fkGrotesk"/>
              </a:rPr>
              <a:t>Gain</a:t>
            </a:r>
            <a:endParaRPr lang="en-US" dirty="0"/>
          </a:p>
        </p:txBody>
      </p:sp>
      <p:sp>
        <p:nvSpPr>
          <p:cNvPr id="3" name="Text Placeholder 2"/>
          <p:cNvSpPr>
            <a:spLocks noGrp="1"/>
          </p:cNvSpPr>
          <p:nvPr>
            <p:ph type="body" idx="1"/>
          </p:nvPr>
        </p:nvSpPr>
        <p:spPr>
          <a:xfrm>
            <a:off x="250257" y="1279227"/>
            <a:ext cx="8142971" cy="4893647"/>
          </a:xfrm>
        </p:spPr>
        <p:txBody>
          <a:bodyPr/>
          <a:lstStyle/>
          <a:p>
            <a:pPr algn="l"/>
            <a:r>
              <a:rPr lang="en-US" dirty="0" smtClean="0">
                <a:latin typeface="fkGrotesk"/>
              </a:rPr>
              <a:t> </a:t>
            </a:r>
            <a:r>
              <a:rPr lang="en-US" dirty="0">
                <a:latin typeface="fkGrotesk"/>
              </a:rPr>
              <a:t>What is </a:t>
            </a:r>
            <a:r>
              <a:rPr lang="en-US" i="1" dirty="0" err="1" smtClean="0">
                <a:latin typeface="KaTeX_Math"/>
              </a:rPr>
              <a:t>ro</a:t>
            </a:r>
            <a:r>
              <a:rPr lang="en-US" dirty="0">
                <a:latin typeface="fkGrotesk"/>
              </a:rPr>
              <a:t> and Intrinsic Gain?</a:t>
            </a:r>
          </a:p>
          <a:p>
            <a:pPr marL="342900" indent="-342900" algn="l">
              <a:buFont typeface="Arial" panose="020B0604020202020204" pitchFamily="34" charset="0"/>
              <a:buChar char="•"/>
            </a:pPr>
            <a:r>
              <a:rPr lang="en-US" dirty="0">
                <a:latin typeface="fkGroteskNeue"/>
              </a:rPr>
              <a:t>Figure 17: Shows how </a:t>
            </a:r>
            <a:r>
              <a:rPr lang="en-US" i="1" dirty="0" err="1" smtClean="0">
                <a:latin typeface="KaTeX_Math"/>
              </a:rPr>
              <a:t>ro</a:t>
            </a:r>
            <a:r>
              <a:rPr lang="en-US" dirty="0">
                <a:latin typeface="fkGroteskNeue"/>
              </a:rPr>
              <a:t> (the output resistance of a MOSFET in saturation) acts as a load in a common-source amplifier, in parallel with any explicit load </a:t>
            </a:r>
            <a:r>
              <a:rPr lang="en-US" dirty="0" smtClean="0">
                <a:latin typeface="fkGroteskNeue"/>
              </a:rPr>
              <a:t>(</a:t>
            </a:r>
            <a:r>
              <a:rPr lang="en-US" i="1" dirty="0" smtClean="0">
                <a:latin typeface="KaTeX_Math"/>
              </a:rPr>
              <a:t>RL</a:t>
            </a:r>
            <a:r>
              <a:rPr lang="en-US" dirty="0">
                <a:latin typeface="fkGroteskNeue"/>
              </a:rPr>
              <a:t>).</a:t>
            </a:r>
          </a:p>
          <a:p>
            <a:pPr marL="342900" indent="-342900" algn="l">
              <a:buFont typeface="Arial" panose="020B0604020202020204" pitchFamily="34" charset="0"/>
              <a:buChar char="•"/>
            </a:pPr>
            <a:r>
              <a:rPr lang="en-US" dirty="0">
                <a:latin typeface="fkGroteskNeue"/>
              </a:rPr>
              <a:t>Figure 18: Considers the case where </a:t>
            </a:r>
            <a:r>
              <a:rPr lang="en-US" dirty="0">
                <a:latin typeface="KaTeX_Main"/>
              </a:rPr>
              <a:t>ro</a:t>
            </a:r>
            <a:r>
              <a:rPr lang="en-US" i="1" dirty="0">
                <a:latin typeface="KaTeX_Math"/>
              </a:rPr>
              <a:t>ro</a:t>
            </a:r>
            <a:r>
              <a:rPr lang="en-US" dirty="0">
                <a:latin typeface="fkGroteskNeue"/>
              </a:rPr>
              <a:t> dominates (i.e., </a:t>
            </a:r>
            <a:r>
              <a:rPr lang="en-US" i="1" dirty="0" smtClean="0">
                <a:latin typeface="KaTeX_Math"/>
              </a:rPr>
              <a:t>RL</a:t>
            </a:r>
            <a:r>
              <a:rPr lang="en-US" dirty="0">
                <a:latin typeface="KaTeX_Main"/>
              </a:rPr>
              <a:t>→∞</a:t>
            </a:r>
            <a:r>
              <a:rPr lang="en-US" dirty="0">
                <a:latin typeface="fkGroteskNeue"/>
              </a:rPr>
              <a:t>), making intrinsic gain the limiting factor for circuit gain.</a:t>
            </a:r>
          </a:p>
          <a:p>
            <a:pPr marL="342900" indent="-342900" algn="l">
              <a:buFont typeface="Arial" panose="020B0604020202020204" pitchFamily="34" charset="0"/>
              <a:buChar char="•"/>
            </a:pPr>
            <a:r>
              <a:rPr lang="en-US" dirty="0">
                <a:latin typeface="fkGroteskNeue"/>
              </a:rPr>
              <a:t>Fundamentally: No matter how large the collector or drain resistor is, there is a ceiling to the achievable voltage gain:</a:t>
            </a:r>
          </a:p>
          <a:p>
            <a:pPr lvl="1" algn="l"/>
            <a:r>
              <a:rPr lang="en-US" dirty="0">
                <a:latin typeface="KaTeX_Main"/>
              </a:rPr>
              <a:t> </a:t>
            </a:r>
            <a:r>
              <a:rPr lang="en-US" dirty="0" smtClean="0">
                <a:latin typeface="KaTeX_Main"/>
              </a:rPr>
              <a:t>                      Intrinsic</a:t>
            </a:r>
            <a:r>
              <a:rPr lang="en-US" dirty="0">
                <a:latin typeface="KaTeX_Main"/>
              </a:rPr>
              <a:t> Gain=</a:t>
            </a:r>
            <a:r>
              <a:rPr lang="en-US" i="1" dirty="0" err="1">
                <a:latin typeface="KaTeX_Math"/>
              </a:rPr>
              <a:t>gm</a:t>
            </a:r>
            <a:r>
              <a:rPr lang="en-US" dirty="0" err="1">
                <a:latin typeface="KaTeX_Main"/>
              </a:rPr>
              <a:t>⋅</a:t>
            </a:r>
            <a:r>
              <a:rPr lang="en-US" i="1" dirty="0" err="1">
                <a:latin typeface="KaTeX_Math"/>
              </a:rPr>
              <a:t>ro</a:t>
            </a:r>
            <a:endParaRPr lang="en-US" dirty="0">
              <a:latin typeface="fkGroteskNeue"/>
            </a:endParaRPr>
          </a:p>
          <a:p>
            <a:pPr algn="l"/>
            <a:r>
              <a:rPr lang="en-US" dirty="0">
                <a:latin typeface="fkGroteskNeue"/>
              </a:rPr>
              <a:t>Why is intrinsic gain important?</a:t>
            </a:r>
          </a:p>
          <a:p>
            <a:pPr marL="342900" indent="-342900" algn="just">
              <a:buFont typeface="Arial" panose="020B0604020202020204" pitchFamily="34" charset="0"/>
              <a:buChar char="•"/>
            </a:pPr>
            <a:r>
              <a:rPr lang="en-US" dirty="0">
                <a:latin typeface="fkGroteskNeue"/>
              </a:rPr>
              <a:t>It sets a physical upper limit on the open-circuit gain achievable from any given transistor in its process, regardless of topology enhancements or bias tweaks.</a:t>
            </a:r>
          </a:p>
          <a:p>
            <a:pPr marL="342900" indent="-342900" algn="just">
              <a:buFont typeface="Arial" panose="020B0604020202020204" pitchFamily="34" charset="0"/>
              <a:buChar char="•"/>
            </a:pPr>
            <a:r>
              <a:rPr lang="en-US" dirty="0">
                <a:latin typeface="fkGroteskNeue"/>
              </a:rPr>
              <a:t>When extremely high gain is needed (e.g., &gt;100), designers must either cascade stages or use more sophisticated amplifying techniques (</a:t>
            </a:r>
            <a:r>
              <a:rPr lang="en-US" dirty="0" err="1">
                <a:latin typeface="fkGroteskNeue"/>
              </a:rPr>
              <a:t>cascode</a:t>
            </a:r>
            <a:r>
              <a:rPr lang="en-US" dirty="0">
                <a:latin typeface="fkGroteskNeue"/>
              </a:rPr>
              <a:t>, folded </a:t>
            </a:r>
            <a:r>
              <a:rPr lang="en-US" dirty="0" err="1">
                <a:latin typeface="fkGroteskNeue"/>
              </a:rPr>
              <a:t>cascode</a:t>
            </a:r>
            <a:r>
              <a:rPr lang="en-US" dirty="0">
                <a:latin typeface="fkGroteskNeue"/>
              </a:rPr>
              <a:t>, etc</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a:xfrm>
            <a:off x="10943362" y="6093148"/>
            <a:ext cx="384399" cy="214631"/>
          </a:xfrm>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053502" y="1099457"/>
            <a:ext cx="2324219" cy="2406774"/>
          </a:xfrm>
          <a:prstGeom prst="rect">
            <a:avLst/>
          </a:prstGeom>
        </p:spPr>
      </p:pic>
      <p:sp>
        <p:nvSpPr>
          <p:cNvPr id="8" name="Rectangle 7"/>
          <p:cNvSpPr/>
          <p:nvPr/>
        </p:nvSpPr>
        <p:spPr>
          <a:xfrm>
            <a:off x="9169668" y="3479203"/>
            <a:ext cx="2659781" cy="430887"/>
          </a:xfrm>
          <a:prstGeom prst="rect">
            <a:avLst/>
          </a:prstGeom>
        </p:spPr>
        <p:txBody>
          <a:bodyPr wrap="square">
            <a:spAutoFit/>
          </a:bodyPr>
          <a:lstStyle/>
          <a:p>
            <a:r>
              <a:rPr lang="en-US" sz="1100" b="1" i="0" u="none" strike="noStrike" baseline="0" dirty="0" err="1" smtClean="0">
                <a:solidFill>
                  <a:srgbClr val="00B050"/>
                </a:solidFill>
                <a:latin typeface="CMMI10"/>
              </a:rPr>
              <a:t>r</a:t>
            </a:r>
            <a:r>
              <a:rPr lang="en-US" sz="900" b="1" i="0" u="none" strike="noStrike" baseline="0" dirty="0" err="1" smtClean="0">
                <a:solidFill>
                  <a:srgbClr val="00B050"/>
                </a:solidFill>
                <a:latin typeface="CMMI7"/>
              </a:rPr>
              <a:t>o</a:t>
            </a:r>
            <a:r>
              <a:rPr lang="en-US" sz="900" b="1" i="0" u="none" strike="noStrike" baseline="0" dirty="0" smtClean="0">
                <a:solidFill>
                  <a:srgbClr val="00B050"/>
                </a:solidFill>
                <a:latin typeface="CMMI7"/>
              </a:rPr>
              <a:t> </a:t>
            </a:r>
            <a:r>
              <a:rPr lang="en-US" sz="1100" b="1" i="0" u="none" strike="noStrike" baseline="0" dirty="0" smtClean="0">
                <a:solidFill>
                  <a:srgbClr val="00B050"/>
                </a:solidFill>
                <a:latin typeface="CMR10"/>
              </a:rPr>
              <a:t>of a common-source amplifier appears</a:t>
            </a:r>
            <a:r>
              <a:rPr lang="en-US" sz="1100" b="1" i="0" u="none" strike="noStrike" dirty="0" smtClean="0">
                <a:solidFill>
                  <a:srgbClr val="00B050"/>
                </a:solidFill>
                <a:latin typeface="CMR10"/>
              </a:rPr>
              <a:t> </a:t>
            </a:r>
            <a:r>
              <a:rPr lang="en-US" sz="1100" b="1" i="0" u="none" strike="noStrike" baseline="0" dirty="0" smtClean="0">
                <a:solidFill>
                  <a:srgbClr val="00B050"/>
                </a:solidFill>
                <a:latin typeface="CMR10"/>
              </a:rPr>
              <a:t>as an additional load.</a:t>
            </a:r>
            <a:endParaRPr lang="en-US" sz="2400" b="1" dirty="0">
              <a:solidFill>
                <a:srgbClr val="00B050"/>
              </a:solidFill>
            </a:endParaRPr>
          </a:p>
        </p:txBody>
      </p:sp>
      <p:pic>
        <p:nvPicPr>
          <p:cNvPr id="9" name="Picture 8"/>
          <p:cNvPicPr>
            <a:picLocks noChangeAspect="1"/>
          </p:cNvPicPr>
          <p:nvPr/>
        </p:nvPicPr>
        <p:blipFill>
          <a:blip r:embed="rId3"/>
          <a:stretch>
            <a:fillRect/>
          </a:stretch>
        </p:blipFill>
        <p:spPr>
          <a:xfrm>
            <a:off x="8928990" y="4092713"/>
            <a:ext cx="2833081" cy="2196963"/>
          </a:xfrm>
          <a:prstGeom prst="rect">
            <a:avLst/>
          </a:prstGeom>
        </p:spPr>
      </p:pic>
      <p:sp>
        <p:nvSpPr>
          <p:cNvPr id="10" name="Rectangle 9"/>
          <p:cNvSpPr/>
          <p:nvPr/>
        </p:nvSpPr>
        <p:spPr>
          <a:xfrm>
            <a:off x="9593179" y="6280153"/>
            <a:ext cx="2505777" cy="415498"/>
          </a:xfrm>
          <a:prstGeom prst="rect">
            <a:avLst/>
          </a:prstGeom>
        </p:spPr>
        <p:txBody>
          <a:bodyPr wrap="square">
            <a:spAutoFit/>
          </a:bodyPr>
          <a:lstStyle/>
          <a:p>
            <a:r>
              <a:rPr lang="en-US" sz="1050" b="1" i="0" u="none" strike="noStrike" baseline="0" dirty="0" smtClean="0">
                <a:solidFill>
                  <a:srgbClr val="00B050"/>
                </a:solidFill>
                <a:latin typeface="CMR10"/>
              </a:rPr>
              <a:t>What is the maximum gain we can get</a:t>
            </a:r>
            <a:r>
              <a:rPr lang="en-US" sz="1050" b="1" i="0" u="none" strike="noStrike" dirty="0" smtClean="0">
                <a:solidFill>
                  <a:srgbClr val="00B050"/>
                </a:solidFill>
                <a:latin typeface="CMR10"/>
              </a:rPr>
              <a:t> </a:t>
            </a:r>
            <a:r>
              <a:rPr lang="en-US" sz="1050" b="1" i="0" u="none" strike="noStrike" baseline="0" dirty="0" smtClean="0">
                <a:solidFill>
                  <a:srgbClr val="00B050"/>
                </a:solidFill>
                <a:latin typeface="CMR10"/>
              </a:rPr>
              <a:t>from a transistor?</a:t>
            </a:r>
            <a:endParaRPr lang="en-US" sz="2000" b="1" dirty="0">
              <a:solidFill>
                <a:srgbClr val="00B050"/>
              </a:solidFill>
            </a:endParaRPr>
          </a:p>
        </p:txBody>
      </p:sp>
    </p:spTree>
    <p:extLst>
      <p:ext uri="{BB962C8B-B14F-4D97-AF65-F5344CB8AC3E}">
        <p14:creationId xmlns:p14="http://schemas.microsoft.com/office/powerpoint/2010/main" val="215037770"/>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Intrinsic Gain and Biasing </a:t>
            </a:r>
            <a:r>
              <a:rPr lang="en-US" dirty="0" smtClean="0">
                <a:latin typeface="fkGrotesk"/>
              </a:rPr>
              <a:t>Charts</a:t>
            </a:r>
            <a:endParaRPr lang="en-US" dirty="0"/>
          </a:p>
        </p:txBody>
      </p:sp>
      <p:sp>
        <p:nvSpPr>
          <p:cNvPr id="3" name="Text Placeholder 2"/>
          <p:cNvSpPr>
            <a:spLocks noGrp="1"/>
          </p:cNvSpPr>
          <p:nvPr>
            <p:ph type="body" idx="1"/>
          </p:nvPr>
        </p:nvSpPr>
        <p:spPr>
          <a:xfrm>
            <a:off x="844550" y="1327353"/>
            <a:ext cx="6942288" cy="4616648"/>
          </a:xfrm>
        </p:spPr>
        <p:txBody>
          <a:bodyPr/>
          <a:lstStyle/>
          <a:p>
            <a:pPr algn="l"/>
            <a:r>
              <a:rPr lang="en-US" dirty="0" smtClean="0">
                <a:latin typeface="fkGrotesk"/>
              </a:rPr>
              <a:t>Figure: </a:t>
            </a:r>
            <a:r>
              <a:rPr lang="en-US" dirty="0">
                <a:latin typeface="fkGrotesk"/>
              </a:rPr>
              <a:t>Intrinsic Gain Chart</a:t>
            </a:r>
          </a:p>
          <a:p>
            <a:pPr marL="800100" lvl="1" indent="-342900" algn="l">
              <a:buFont typeface="Arial" panose="020B0604020202020204" pitchFamily="34" charset="0"/>
              <a:buChar char="•"/>
            </a:pPr>
            <a:r>
              <a:rPr lang="en-US" sz="2000" dirty="0">
                <a:latin typeface="fkGroteskNeue"/>
              </a:rPr>
              <a:t>Plots intrinsic gain </a:t>
            </a:r>
            <a:r>
              <a:rPr lang="en-US" sz="2000" dirty="0" smtClean="0">
                <a:latin typeface="fkGroteskNeue"/>
              </a:rPr>
              <a:t>(</a:t>
            </a:r>
            <a:r>
              <a:rPr lang="en-US" sz="2000" i="1" dirty="0" err="1" smtClean="0">
                <a:latin typeface="KaTeX_Math"/>
              </a:rPr>
              <a:t>gmro</a:t>
            </a:r>
            <a:r>
              <a:rPr lang="en-US" sz="2000" dirty="0">
                <a:latin typeface="fkGroteskNeue"/>
              </a:rPr>
              <a:t>) as a function of gm/ID for different channel lengths (L) in a 0.18μm CMOS process.</a:t>
            </a:r>
          </a:p>
          <a:p>
            <a:pPr marL="800100" lvl="1" indent="-342900" algn="l">
              <a:buFont typeface="Arial" panose="020B0604020202020204" pitchFamily="34" charset="0"/>
              <a:buChar char="•"/>
            </a:pPr>
            <a:r>
              <a:rPr lang="en-US" sz="2000" dirty="0">
                <a:latin typeface="fkGroteskNeue"/>
              </a:rPr>
              <a:t>Key insight:</a:t>
            </a:r>
          </a:p>
          <a:p>
            <a:pPr marL="1200150" lvl="2" indent="-285750" algn="l">
              <a:buFont typeface="Arial" panose="020B0604020202020204" pitchFamily="34" charset="0"/>
              <a:buChar char="•"/>
            </a:pPr>
            <a:r>
              <a:rPr lang="en-US" sz="2000" dirty="0">
                <a:latin typeface="fkGroteskNeue"/>
              </a:rPr>
              <a:t>For a given gm/ID, increasing L increases intrinsic gain—longer channels have higher output resistance </a:t>
            </a:r>
            <a:r>
              <a:rPr lang="en-US" sz="2000" dirty="0">
                <a:latin typeface="KaTeX_Main"/>
              </a:rPr>
              <a:t>ro</a:t>
            </a:r>
            <a:r>
              <a:rPr lang="en-US" sz="2000" i="1" dirty="0">
                <a:latin typeface="KaTeX_Math"/>
              </a:rPr>
              <a:t>ro</a:t>
            </a:r>
            <a:r>
              <a:rPr lang="en-US" sz="2000" dirty="0">
                <a:latin typeface="fkGroteskNeue"/>
              </a:rPr>
              <a:t>.</a:t>
            </a:r>
          </a:p>
          <a:p>
            <a:pPr marL="1200150" lvl="2" indent="-285750" algn="l">
              <a:buFont typeface="Arial" panose="020B0604020202020204" pitchFamily="34" charset="0"/>
              <a:buChar char="•"/>
            </a:pPr>
            <a:r>
              <a:rPr lang="en-US" sz="2000" dirty="0">
                <a:latin typeface="fkGroteskNeue"/>
              </a:rPr>
              <a:t>There is a clear, simulation-based limit to achievable gain at any gm/ID and L.</a:t>
            </a:r>
          </a:p>
          <a:p>
            <a:pPr marL="800100" lvl="1" indent="-342900" algn="l">
              <a:buFont typeface="Arial" panose="020B0604020202020204" pitchFamily="34" charset="0"/>
              <a:buChar char="•"/>
            </a:pPr>
            <a:r>
              <a:rPr lang="en-US" sz="2000" dirty="0">
                <a:latin typeface="fkGroteskNeue"/>
              </a:rPr>
              <a:t>Practical use:</a:t>
            </a:r>
          </a:p>
          <a:p>
            <a:pPr marL="1200150" lvl="2" indent="-285750" algn="l">
              <a:buFont typeface="Arial" panose="020B0604020202020204" pitchFamily="34" charset="0"/>
              <a:buChar char="•"/>
            </a:pPr>
            <a:r>
              <a:rPr lang="en-US" sz="2000" dirty="0">
                <a:latin typeface="fkGroteskNeue"/>
              </a:rPr>
              <a:t>Lets you judge, at a glance, what kind of gain is realistically achievable with a chosen set of device dimensions.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8" name="Picture 7"/>
          <p:cNvPicPr>
            <a:picLocks noChangeAspect="1"/>
          </p:cNvPicPr>
          <p:nvPr/>
        </p:nvPicPr>
        <p:blipFill>
          <a:blip r:embed="rId2"/>
          <a:stretch>
            <a:fillRect/>
          </a:stretch>
        </p:blipFill>
        <p:spPr>
          <a:xfrm>
            <a:off x="7754744" y="999166"/>
            <a:ext cx="4286470" cy="3473629"/>
          </a:xfrm>
          <a:prstGeom prst="rect">
            <a:avLst/>
          </a:prstGeom>
        </p:spPr>
      </p:pic>
      <p:sp>
        <p:nvSpPr>
          <p:cNvPr id="9" name="Rectangle 8"/>
          <p:cNvSpPr/>
          <p:nvPr/>
        </p:nvSpPr>
        <p:spPr>
          <a:xfrm>
            <a:off x="8617864" y="4537923"/>
            <a:ext cx="3435556" cy="276999"/>
          </a:xfrm>
          <a:prstGeom prst="rect">
            <a:avLst/>
          </a:prstGeom>
        </p:spPr>
        <p:txBody>
          <a:bodyPr wrap="none">
            <a:spAutoFit/>
          </a:bodyPr>
          <a:lstStyle/>
          <a:p>
            <a:r>
              <a:rPr lang="en-US" sz="1200" b="1" i="0" u="none" strike="noStrike" baseline="0" dirty="0" smtClean="0">
                <a:solidFill>
                  <a:srgbClr val="00B050"/>
                </a:solidFill>
                <a:latin typeface="CMR10"/>
              </a:rPr>
              <a:t>An intrinsic gain chart for a 0</a:t>
            </a:r>
            <a:r>
              <a:rPr lang="en-US" sz="1200" b="1" i="0" u="none" strike="noStrike" baseline="0" dirty="0" smtClean="0">
                <a:solidFill>
                  <a:srgbClr val="00B050"/>
                </a:solidFill>
                <a:latin typeface="CMMI10"/>
              </a:rPr>
              <a:t>.</a:t>
            </a:r>
            <a:r>
              <a:rPr lang="en-US" sz="1200" b="1" i="0" u="none" strike="noStrike" baseline="0" dirty="0" smtClean="0">
                <a:solidFill>
                  <a:srgbClr val="00B050"/>
                </a:solidFill>
                <a:latin typeface="CMR10"/>
              </a:rPr>
              <a:t>18</a:t>
            </a:r>
            <a:r>
              <a:rPr lang="en-US" sz="1200" b="1" i="0" u="none" strike="noStrike" baseline="0" dirty="0" smtClean="0">
                <a:solidFill>
                  <a:srgbClr val="00B050"/>
                </a:solidFill>
                <a:latin typeface="CMMI10"/>
              </a:rPr>
              <a:t>μm </a:t>
            </a:r>
            <a:r>
              <a:rPr lang="en-US" sz="1200" b="1" i="0" u="none" strike="noStrike" baseline="0" dirty="0" smtClean="0">
                <a:solidFill>
                  <a:srgbClr val="00B050"/>
                </a:solidFill>
                <a:latin typeface="CMR10"/>
              </a:rPr>
              <a:t>process.</a:t>
            </a:r>
            <a:endParaRPr lang="en-US" sz="2800" b="1" dirty="0">
              <a:solidFill>
                <a:srgbClr val="00B050"/>
              </a:solidFill>
            </a:endParaRPr>
          </a:p>
        </p:txBody>
      </p:sp>
    </p:spTree>
    <p:extLst>
      <p:ext uri="{BB962C8B-B14F-4D97-AF65-F5344CB8AC3E}">
        <p14:creationId xmlns:p14="http://schemas.microsoft.com/office/powerpoint/2010/main" val="1189586792"/>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Text Placeholder 6"/>
          <p:cNvSpPr>
            <a:spLocks noGrp="1"/>
          </p:cNvSpPr>
          <p:nvPr>
            <p:ph type="body" idx="1"/>
          </p:nvPr>
        </p:nvSpPr>
        <p:spPr>
          <a:xfrm>
            <a:off x="844550" y="1327353"/>
            <a:ext cx="6345522" cy="4001095"/>
          </a:xfrm>
          <a:prstGeom prst="rect">
            <a:avLst/>
          </a:prstGeom>
        </p:spPr>
        <p:txBody>
          <a:bodyPr wrap="square">
            <a:spAutoFit/>
          </a:bodyPr>
          <a:lstStyle/>
          <a:p>
            <a:pPr lvl="0"/>
            <a:r>
              <a:rPr lang="en-US" sz="2000" kern="0" dirty="0" smtClean="0">
                <a:solidFill>
                  <a:prstClr val="black"/>
                </a:solidFill>
                <a:latin typeface="fkGrotesk"/>
              </a:rPr>
              <a:t>Figure: </a:t>
            </a:r>
            <a:r>
              <a:rPr lang="en-US" sz="2000" kern="0" dirty="0">
                <a:solidFill>
                  <a:prstClr val="black"/>
                </a:solidFill>
                <a:latin typeface="fkGrotesk"/>
              </a:rPr>
              <a:t>gm/ID Biasing (Sizing) Chart</a:t>
            </a:r>
          </a:p>
          <a:p>
            <a:pPr marL="800100" lvl="1" indent="-342900" algn="just">
              <a:buFont typeface="Arial" panose="020B0604020202020204" pitchFamily="34" charset="0"/>
              <a:buChar char="•"/>
            </a:pPr>
            <a:r>
              <a:rPr lang="en-US" sz="2000" kern="0" dirty="0">
                <a:solidFill>
                  <a:prstClr val="black"/>
                </a:solidFill>
                <a:latin typeface="fkGroteskNeue"/>
              </a:rPr>
              <a:t>Plots required W/L (actually </a:t>
            </a:r>
            <a:r>
              <a:rPr lang="en-US" sz="2000" kern="0" dirty="0">
                <a:solidFill>
                  <a:prstClr val="black"/>
                </a:solidFill>
                <a:latin typeface="KaTeX_Main"/>
              </a:rPr>
              <a:t>ID/W</a:t>
            </a:r>
            <a:r>
              <a:rPr lang="en-US" sz="2000" i="1" kern="0" dirty="0">
                <a:solidFill>
                  <a:prstClr val="black"/>
                </a:solidFill>
                <a:latin typeface="KaTeX_Math"/>
              </a:rPr>
              <a:t>ID</a:t>
            </a:r>
            <a:r>
              <a:rPr lang="en-US" sz="2000" kern="0" dirty="0">
                <a:solidFill>
                  <a:prstClr val="black"/>
                </a:solidFill>
                <a:latin typeface="KaTeX_Main"/>
              </a:rPr>
              <a:t>/</a:t>
            </a:r>
            <a:r>
              <a:rPr lang="en-US" sz="2000" i="1" kern="0" dirty="0">
                <a:solidFill>
                  <a:prstClr val="black"/>
                </a:solidFill>
                <a:latin typeface="KaTeX_Math"/>
              </a:rPr>
              <a:t>W</a:t>
            </a:r>
            <a:r>
              <a:rPr lang="en-US" sz="2000" kern="0" dirty="0">
                <a:solidFill>
                  <a:prstClr val="black"/>
                </a:solidFill>
                <a:latin typeface="fkGroteskNeue"/>
              </a:rPr>
              <a:t>, an inverse width plot) for achieving a particular gm/ID at various L.</a:t>
            </a:r>
          </a:p>
          <a:p>
            <a:pPr marL="800100" lvl="1" indent="-342900" algn="just">
              <a:buFont typeface="Arial" panose="020B0604020202020204" pitchFamily="34" charset="0"/>
              <a:buChar char="•"/>
            </a:pPr>
            <a:r>
              <a:rPr lang="en-US" sz="2000" kern="0" dirty="0">
                <a:solidFill>
                  <a:prstClr val="black"/>
                </a:solidFill>
                <a:latin typeface="fkGroteskNeue"/>
              </a:rPr>
              <a:t>Usage:</a:t>
            </a:r>
          </a:p>
          <a:p>
            <a:pPr marL="1200150" lvl="2" indent="-285750" algn="just">
              <a:buFont typeface="Arial" panose="020B0604020202020204" pitchFamily="34" charset="0"/>
              <a:buChar char="•"/>
            </a:pPr>
            <a:r>
              <a:rPr lang="en-US" sz="2000" kern="0" dirty="0">
                <a:solidFill>
                  <a:sysClr val="windowText" lastClr="000000"/>
                </a:solidFill>
                <a:latin typeface="fkGroteskNeue"/>
              </a:rPr>
              <a:t>Once a designer has set all performance targets (gain, bandwidth, matching), the last variable to select is width (</a:t>
            </a:r>
            <a:r>
              <a:rPr lang="en-US" sz="2000" kern="0" dirty="0">
                <a:solidFill>
                  <a:sysClr val="windowText" lastClr="000000"/>
                </a:solidFill>
                <a:latin typeface="KaTeX_Main"/>
              </a:rPr>
              <a:t>W</a:t>
            </a:r>
            <a:r>
              <a:rPr lang="en-US" sz="2000" i="1" kern="0" dirty="0">
                <a:solidFill>
                  <a:sysClr val="windowText" lastClr="000000"/>
                </a:solidFill>
                <a:latin typeface="KaTeX_Math"/>
              </a:rPr>
              <a:t>W</a:t>
            </a:r>
            <a:r>
              <a:rPr lang="en-US" sz="2000" kern="0" dirty="0">
                <a:solidFill>
                  <a:sysClr val="windowText" lastClr="000000"/>
                </a:solidFill>
                <a:latin typeface="fkGroteskNeue"/>
              </a:rPr>
              <a:t>).</a:t>
            </a:r>
          </a:p>
          <a:p>
            <a:pPr marL="1200150" lvl="2" indent="-285750" algn="just">
              <a:buFont typeface="Arial" panose="020B0604020202020204" pitchFamily="34" charset="0"/>
              <a:buChar char="•"/>
            </a:pPr>
            <a:r>
              <a:rPr lang="en-US" sz="2000" kern="0" dirty="0">
                <a:solidFill>
                  <a:sysClr val="windowText" lastClr="000000"/>
                </a:solidFill>
                <a:latin typeface="fkGroteskNeue"/>
              </a:rPr>
              <a:t>Pick gm/ID to match your design goal.</a:t>
            </a:r>
          </a:p>
          <a:p>
            <a:pPr marL="1200150" lvl="2" indent="-285750" algn="just">
              <a:buFont typeface="Arial" panose="020B0604020202020204" pitchFamily="34" charset="0"/>
              <a:buChar char="•"/>
            </a:pPr>
            <a:r>
              <a:rPr lang="en-US" sz="2000" kern="0" dirty="0">
                <a:solidFill>
                  <a:sysClr val="windowText" lastClr="000000"/>
                </a:solidFill>
                <a:latin typeface="fkGroteskNeue"/>
              </a:rPr>
              <a:t>Choose L to meet intrinsic gain and speed constraints.</a:t>
            </a:r>
          </a:p>
          <a:p>
            <a:pPr marL="1200150" lvl="2" indent="-285750" algn="just">
              <a:buFont typeface="Arial" panose="020B0604020202020204" pitchFamily="34" charset="0"/>
              <a:buChar char="•"/>
            </a:pPr>
            <a:r>
              <a:rPr lang="en-US" sz="2000" kern="0" dirty="0">
                <a:solidFill>
                  <a:sysClr val="windowText" lastClr="000000"/>
                </a:solidFill>
                <a:latin typeface="fkGroteskNeue"/>
              </a:rPr>
              <a:t>Use the chart to look up the W needed for your bias point and current.</a:t>
            </a:r>
          </a:p>
        </p:txBody>
      </p:sp>
      <p:pic>
        <p:nvPicPr>
          <p:cNvPr id="8" name="Picture 7"/>
          <p:cNvPicPr>
            <a:picLocks noChangeAspect="1"/>
          </p:cNvPicPr>
          <p:nvPr/>
        </p:nvPicPr>
        <p:blipFill>
          <a:blip r:embed="rId2"/>
          <a:stretch>
            <a:fillRect/>
          </a:stretch>
        </p:blipFill>
        <p:spPr>
          <a:xfrm>
            <a:off x="7461014" y="1045696"/>
            <a:ext cx="4426185" cy="3550911"/>
          </a:xfrm>
          <a:prstGeom prst="rect">
            <a:avLst/>
          </a:prstGeom>
        </p:spPr>
      </p:pic>
      <p:sp>
        <p:nvSpPr>
          <p:cNvPr id="9" name="Rectangle 8"/>
          <p:cNvSpPr/>
          <p:nvPr/>
        </p:nvSpPr>
        <p:spPr>
          <a:xfrm>
            <a:off x="8575210" y="4788181"/>
            <a:ext cx="2915285" cy="276999"/>
          </a:xfrm>
          <a:prstGeom prst="rect">
            <a:avLst/>
          </a:prstGeom>
        </p:spPr>
        <p:txBody>
          <a:bodyPr wrap="none">
            <a:spAutoFit/>
          </a:bodyPr>
          <a:lstStyle/>
          <a:p>
            <a:r>
              <a:rPr lang="en-US" sz="1200" b="1" i="0" u="none" strike="noStrike" baseline="0" dirty="0" smtClean="0">
                <a:solidFill>
                  <a:srgbClr val="00B050"/>
                </a:solidFill>
                <a:latin typeface="CMR10"/>
              </a:rPr>
              <a:t>A biasing chart for a 0</a:t>
            </a:r>
            <a:r>
              <a:rPr lang="en-US" sz="1200" b="1" i="0" u="none" strike="noStrike" baseline="0" dirty="0" smtClean="0">
                <a:solidFill>
                  <a:srgbClr val="00B050"/>
                </a:solidFill>
                <a:latin typeface="CMMI10"/>
              </a:rPr>
              <a:t>.</a:t>
            </a:r>
            <a:r>
              <a:rPr lang="en-US" sz="1200" b="1" i="0" u="none" strike="noStrike" baseline="0" dirty="0" smtClean="0">
                <a:solidFill>
                  <a:srgbClr val="00B050"/>
                </a:solidFill>
                <a:latin typeface="CMR10"/>
              </a:rPr>
              <a:t>18</a:t>
            </a:r>
            <a:r>
              <a:rPr lang="en-US" sz="1200" b="1" i="0" u="none" strike="noStrike" baseline="0" dirty="0" smtClean="0">
                <a:solidFill>
                  <a:srgbClr val="00B050"/>
                </a:solidFill>
                <a:latin typeface="CMMI10"/>
              </a:rPr>
              <a:t>μm </a:t>
            </a:r>
            <a:r>
              <a:rPr lang="en-US" sz="1200" b="1" i="0" u="none" strike="noStrike" baseline="0" dirty="0" smtClean="0">
                <a:solidFill>
                  <a:srgbClr val="00B050"/>
                </a:solidFill>
                <a:latin typeface="CMR10"/>
              </a:rPr>
              <a:t>process.</a:t>
            </a:r>
            <a:endParaRPr lang="en-US" sz="2800" b="1" dirty="0">
              <a:solidFill>
                <a:srgbClr val="00B050"/>
              </a:solidFill>
            </a:endParaRPr>
          </a:p>
        </p:txBody>
      </p:sp>
    </p:spTree>
    <p:extLst>
      <p:ext uri="{BB962C8B-B14F-4D97-AF65-F5344CB8AC3E}">
        <p14:creationId xmlns:p14="http://schemas.microsoft.com/office/powerpoint/2010/main" val="2320579589"/>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Putting it All Together: Design </a:t>
            </a:r>
            <a:r>
              <a:rPr lang="en-US" dirty="0" smtClean="0">
                <a:latin typeface="fkGrotesk"/>
              </a:rPr>
              <a:t>Insights</a:t>
            </a:r>
            <a:endParaRPr lang="en-US" dirty="0"/>
          </a:p>
        </p:txBody>
      </p:sp>
      <p:sp>
        <p:nvSpPr>
          <p:cNvPr id="3" name="Text Placeholder 2"/>
          <p:cNvSpPr>
            <a:spLocks noGrp="1"/>
          </p:cNvSpPr>
          <p:nvPr>
            <p:ph type="body" idx="1"/>
          </p:nvPr>
        </p:nvSpPr>
        <p:spPr>
          <a:xfrm>
            <a:off x="844550" y="1327353"/>
            <a:ext cx="11196654" cy="4832092"/>
          </a:xfrm>
        </p:spPr>
        <p:txBody>
          <a:bodyPr/>
          <a:lstStyle/>
          <a:p>
            <a:pPr algn="just"/>
            <a:r>
              <a:rPr lang="en-US" dirty="0" smtClean="0">
                <a:latin typeface="fkGrotesk"/>
              </a:rPr>
              <a:t>1</a:t>
            </a:r>
            <a:r>
              <a:rPr lang="en-US" dirty="0">
                <a:latin typeface="fkGrotesk"/>
              </a:rPr>
              <a:t>. Design Workflow with Design Charts</a:t>
            </a:r>
          </a:p>
          <a:p>
            <a:pPr marL="800100" lvl="1" indent="-342900" algn="just">
              <a:buFont typeface="Arial" panose="020B0604020202020204" pitchFamily="34" charset="0"/>
              <a:buChar char="•"/>
            </a:pPr>
            <a:r>
              <a:rPr lang="en-US" dirty="0">
                <a:latin typeface="fkGroteskNeue"/>
              </a:rPr>
              <a:t>Use Figures 16 and 19 (</a:t>
            </a:r>
            <a:r>
              <a:rPr lang="en-US" dirty="0" err="1">
                <a:latin typeface="fkGroteskNeue"/>
              </a:rPr>
              <a:t>fT</a:t>
            </a:r>
            <a:r>
              <a:rPr lang="en-US" dirty="0">
                <a:latin typeface="fkGroteskNeue"/>
              </a:rPr>
              <a:t> and intrinsic gain charts) to pick L and gm/ID that satisfy gain, speed, and efficiency specs.</a:t>
            </a:r>
          </a:p>
          <a:p>
            <a:pPr marL="800100" lvl="1" indent="-342900" algn="just">
              <a:buFont typeface="Arial" panose="020B0604020202020204" pitchFamily="34" charset="0"/>
              <a:buChar char="•"/>
            </a:pPr>
            <a:r>
              <a:rPr lang="en-US" dirty="0">
                <a:latin typeface="fkGroteskNeue"/>
              </a:rPr>
              <a:t>Apply Figure 20 to determine device sizing (W for each bias current).</a:t>
            </a:r>
          </a:p>
          <a:p>
            <a:pPr algn="just"/>
            <a:r>
              <a:rPr lang="en-US" dirty="0">
                <a:latin typeface="fkGrotesk"/>
              </a:rPr>
              <a:t>2. Making Tradeoffs Transparent</a:t>
            </a:r>
          </a:p>
          <a:p>
            <a:pPr marL="800100" lvl="1" indent="-342900" algn="just">
              <a:buFont typeface="Arial" panose="020B0604020202020204" pitchFamily="34" charset="0"/>
              <a:buChar char="•"/>
            </a:pPr>
            <a:r>
              <a:rPr lang="en-US" dirty="0">
                <a:latin typeface="fkGroteskNeue"/>
              </a:rPr>
              <a:t>The charts quickly reveal if a single transistor can achieve a required gain. E.g., for a gain of 50, choose a reasonably long L (say, 0.28μm) for headroom; for a gain of 100, it’s clear a single stage may not suffice, suggesting the need for </a:t>
            </a:r>
            <a:r>
              <a:rPr lang="en-US" dirty="0" err="1">
                <a:latin typeface="fkGroteskNeue"/>
              </a:rPr>
              <a:t>cascoding</a:t>
            </a:r>
            <a:r>
              <a:rPr lang="en-US" dirty="0">
                <a:latin typeface="fkGroteskNeue"/>
              </a:rPr>
              <a:t> or multistage solutions.</a:t>
            </a:r>
          </a:p>
          <a:p>
            <a:pPr marL="800100" lvl="1" indent="-342900" algn="just">
              <a:buFont typeface="Arial" panose="020B0604020202020204" pitchFamily="34" charset="0"/>
              <a:buChar char="•"/>
            </a:pPr>
            <a:r>
              <a:rPr lang="en-US" dirty="0">
                <a:latin typeface="fkGroteskNeue"/>
              </a:rPr>
              <a:t>No more wasted time tweaking or blindly simulating; these charts provide immediate feasibility feedback.</a:t>
            </a:r>
          </a:p>
          <a:p>
            <a:pPr algn="just"/>
            <a:r>
              <a:rPr lang="en-US" dirty="0">
                <a:latin typeface="fkGrotesk"/>
              </a:rPr>
              <a:t>3. Physical Limits Are Apparent</a:t>
            </a:r>
          </a:p>
          <a:p>
            <a:pPr marL="800100" lvl="1" indent="-342900" algn="just">
              <a:buFont typeface="Arial" panose="020B0604020202020204" pitchFamily="34" charset="0"/>
              <a:buChar char="•"/>
            </a:pPr>
            <a:r>
              <a:rPr lang="en-US" dirty="0">
                <a:latin typeface="fkGroteskNeue"/>
              </a:rPr>
              <a:t>Intrinsic gain charts clearly show that gain is not open-ended but process-limited.</a:t>
            </a:r>
          </a:p>
          <a:p>
            <a:pPr marL="800100" lvl="1" indent="-342900" algn="just">
              <a:buFont typeface="Arial" panose="020B0604020202020204" pitchFamily="34" charset="0"/>
              <a:buChar char="•"/>
            </a:pPr>
            <a:r>
              <a:rPr lang="en-US" dirty="0">
                <a:latin typeface="fkGroteskNeue"/>
              </a:rPr>
              <a:t>Biasing charts show the practical interplay of W, L, I_D, and gm/ID, rooted in measured/simulated device physics, not just analytic formulae.</a:t>
            </a:r>
          </a:p>
          <a:p>
            <a:pPr algn="just"/>
            <a:r>
              <a:rPr lang="en-US" dirty="0">
                <a:latin typeface="fkGrotesk"/>
              </a:rPr>
              <a:t>4. Design Confidence</a:t>
            </a:r>
          </a:p>
          <a:p>
            <a:pPr marL="800100" lvl="1" indent="-342900" algn="just">
              <a:buFont typeface="Arial" panose="020B0604020202020204" pitchFamily="34" charset="0"/>
              <a:buChar char="•"/>
            </a:pPr>
            <a:r>
              <a:rPr lang="en-US" dirty="0">
                <a:latin typeface="fkGroteskNeue"/>
              </a:rPr>
              <a:t>Because these are simulation-calibrated charts, designers can trust they reflect actual process behavior, including short-channel effects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031625622"/>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1046440"/>
          </a:xfrm>
        </p:spPr>
        <p:txBody>
          <a:bodyPr/>
          <a:lstStyle/>
          <a:p>
            <a:r>
              <a:rPr lang="en-US" dirty="0">
                <a:latin typeface="fkGrotesk"/>
              </a:rPr>
              <a:t>Final Steps—Sizing Using gm/ID</a:t>
            </a:r>
            <a:br>
              <a:rPr lang="en-US" dirty="0">
                <a:latin typeface="fkGrotesk"/>
              </a:rPr>
            </a:br>
            <a:endParaRPr lang="en-US" dirty="0"/>
          </a:p>
        </p:txBody>
      </p:sp>
      <p:sp>
        <p:nvSpPr>
          <p:cNvPr id="3" name="Text Placeholder 2"/>
          <p:cNvSpPr>
            <a:spLocks noGrp="1"/>
          </p:cNvSpPr>
          <p:nvPr>
            <p:ph type="body" idx="1"/>
          </p:nvPr>
        </p:nvSpPr>
        <p:spPr>
          <a:xfrm>
            <a:off x="844550" y="1327353"/>
            <a:ext cx="10455509" cy="1200329"/>
          </a:xfrm>
        </p:spPr>
        <p:txBody>
          <a:bodyPr/>
          <a:lstStyle/>
          <a:p>
            <a:pPr algn="l">
              <a:buFont typeface="+mj-lt"/>
              <a:buAutoNum type="arabicPeriod"/>
            </a:pPr>
            <a:r>
              <a:rPr lang="en-US" dirty="0" smtClean="0">
                <a:latin typeface="fkGroteskNeue"/>
              </a:rPr>
              <a:t>Decide </a:t>
            </a:r>
            <a:r>
              <a:rPr lang="en-US" dirty="0">
                <a:latin typeface="fkGroteskNeue"/>
              </a:rPr>
              <a:t>on L and gm/ID using gain and speed charts.</a:t>
            </a:r>
          </a:p>
          <a:p>
            <a:pPr algn="l">
              <a:buFont typeface="+mj-lt"/>
              <a:buAutoNum type="arabicPeriod"/>
            </a:pPr>
            <a:r>
              <a:rPr lang="en-US" dirty="0">
                <a:latin typeface="fkGroteskNeue"/>
              </a:rPr>
              <a:t>Determine minimum W per device from the biasing chart.</a:t>
            </a:r>
          </a:p>
          <a:p>
            <a:pPr marL="742950" lvl="1" indent="-285750" algn="l">
              <a:buFont typeface="Arial" panose="020B0604020202020204" pitchFamily="34" charset="0"/>
              <a:buChar char="•"/>
            </a:pPr>
            <a:r>
              <a:rPr lang="en-US" dirty="0">
                <a:latin typeface="fkGroteskNeue"/>
              </a:rPr>
              <a:t>All other variables (L, gm/ID, and I_D) are already fixed by system/circuit specs.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693019" y="3295116"/>
            <a:ext cx="10404909" cy="1477328"/>
          </a:xfrm>
          <a:prstGeom prst="rect">
            <a:avLst/>
          </a:prstGeom>
        </p:spPr>
        <p:txBody>
          <a:bodyPr wrap="square">
            <a:spAutoFit/>
          </a:bodyPr>
          <a:lstStyle/>
          <a:p>
            <a:r>
              <a:rPr lang="en-US" b="0" i="0" dirty="0" smtClean="0">
                <a:effectLst/>
                <a:latin typeface="fkGroteskNeue"/>
              </a:rPr>
              <a:t>Conclusion:</a:t>
            </a:r>
            <a:r>
              <a:rPr lang="en-US" dirty="0" smtClean="0"/>
              <a:t/>
            </a:r>
            <a:br>
              <a:rPr lang="en-US" dirty="0" smtClean="0"/>
            </a:br>
            <a:r>
              <a:rPr lang="en-US" b="0" i="0" dirty="0" smtClean="0">
                <a:effectLst/>
                <a:latin typeface="fkGroteskNeue"/>
              </a:rPr>
              <a:t>These figures and charts show that the gm/ID method is a powerful, fundamental design tool, unifying small-signal performance, gain ceilings, and fabrication-anchored device constraints. This enables systematic, simulation-anchored analog synthesis where every sizing and biasing choice is visible, predictable, and optimal for technology limits.</a:t>
            </a:r>
            <a:endParaRPr lang="en-US" dirty="0"/>
          </a:p>
        </p:txBody>
      </p:sp>
    </p:spTree>
    <p:extLst>
      <p:ext uri="{BB962C8B-B14F-4D97-AF65-F5344CB8AC3E}">
        <p14:creationId xmlns:p14="http://schemas.microsoft.com/office/powerpoint/2010/main" val="1987650241"/>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49" y="347725"/>
            <a:ext cx="11183553" cy="523220"/>
          </a:xfrm>
        </p:spPr>
        <p:txBody>
          <a:bodyPr/>
          <a:lstStyle/>
          <a:p>
            <a:pPr algn="just"/>
            <a:r>
              <a:rPr lang="en-US" dirty="0"/>
              <a:t>Parallel Scaling and gm/ID Method </a:t>
            </a:r>
            <a:r>
              <a:rPr lang="en-US" dirty="0" smtClean="0"/>
              <a:t>Fundamentals</a:t>
            </a:r>
            <a:endParaRPr lang="en-US" dirty="0"/>
          </a:p>
        </p:txBody>
      </p:sp>
      <p:sp>
        <p:nvSpPr>
          <p:cNvPr id="3" name="Text Placeholder 2"/>
          <p:cNvSpPr>
            <a:spLocks noGrp="1"/>
          </p:cNvSpPr>
          <p:nvPr>
            <p:ph type="body" idx="1"/>
          </p:nvPr>
        </p:nvSpPr>
        <p:spPr>
          <a:xfrm>
            <a:off x="844549" y="1327353"/>
            <a:ext cx="6672782" cy="3385542"/>
          </a:xfrm>
        </p:spPr>
        <p:txBody>
          <a:bodyPr/>
          <a:lstStyle/>
          <a:p>
            <a:r>
              <a:rPr lang="en-US" dirty="0" smtClean="0"/>
              <a:t>Circuit </a:t>
            </a:r>
            <a:r>
              <a:rPr lang="en-US" dirty="0"/>
              <a:t>Progression: a → b → c</a:t>
            </a:r>
          </a:p>
          <a:p>
            <a:pPr marL="342900" indent="-342900">
              <a:buFont typeface="Arial" panose="020B0604020202020204" pitchFamily="34" charset="0"/>
              <a:buChar char="•"/>
            </a:pPr>
            <a:r>
              <a:rPr lang="en-US" dirty="0"/>
              <a:t>Figure </a:t>
            </a:r>
            <a:r>
              <a:rPr lang="en-US" dirty="0" smtClean="0"/>
              <a:t>a</a:t>
            </a:r>
            <a:r>
              <a:rPr lang="en-US" dirty="0"/>
              <a:t>: Shows a single MOS transistor with width W and current </a:t>
            </a:r>
            <a:r>
              <a:rPr lang="en-US" i="1" dirty="0" smtClean="0"/>
              <a:t>ID</a:t>
            </a:r>
            <a:r>
              <a:rPr lang="en-US" dirty="0"/>
              <a:t>, defined by chosen bias.</a:t>
            </a:r>
          </a:p>
          <a:p>
            <a:pPr marL="342900" indent="-342900">
              <a:buFont typeface="Arial" panose="020B0604020202020204" pitchFamily="34" charset="0"/>
              <a:buChar char="•"/>
            </a:pPr>
            <a:r>
              <a:rPr lang="en-US" dirty="0"/>
              <a:t>Figure </a:t>
            </a:r>
            <a:r>
              <a:rPr lang="en-US" dirty="0" smtClean="0"/>
              <a:t>b</a:t>
            </a:r>
            <a:r>
              <a:rPr lang="en-US" dirty="0"/>
              <a:t>: Two identical transistors, each W wide, biased with the same gate-source voltage—currents and gm both double, but so does total capacitance </a:t>
            </a:r>
            <a:r>
              <a:rPr lang="en-US" dirty="0" smtClean="0"/>
              <a:t>(</a:t>
            </a:r>
            <a:r>
              <a:rPr lang="en-US" i="1" dirty="0" err="1" smtClean="0"/>
              <a:t>Cgs</a:t>
            </a:r>
            <a:r>
              <a:rPr lang="en-US" dirty="0"/>
              <a:t>), output resistance halves, etc.</a:t>
            </a:r>
          </a:p>
          <a:p>
            <a:pPr marL="342900" indent="-342900">
              <a:buFont typeface="Arial" panose="020B0604020202020204" pitchFamily="34" charset="0"/>
              <a:buChar char="•"/>
            </a:pPr>
            <a:r>
              <a:rPr lang="en-US" dirty="0"/>
              <a:t>Figure </a:t>
            </a:r>
            <a:r>
              <a:rPr lang="en-US" dirty="0" smtClean="0"/>
              <a:t>c</a:t>
            </a:r>
            <a:r>
              <a:rPr lang="en-US" dirty="0"/>
              <a:t>: One transistor with doubled width (2W), biased identically; current and gm again double, as do capacitance and conductive path.</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43849" y="1237948"/>
            <a:ext cx="4100161" cy="1630379"/>
          </a:xfrm>
          <a:prstGeom prst="rect">
            <a:avLst/>
          </a:prstGeom>
        </p:spPr>
      </p:pic>
      <p:sp>
        <p:nvSpPr>
          <p:cNvPr id="8" name="Rectangle 7"/>
          <p:cNvSpPr/>
          <p:nvPr/>
        </p:nvSpPr>
        <p:spPr>
          <a:xfrm>
            <a:off x="8033887" y="2824683"/>
            <a:ext cx="3834062" cy="523220"/>
          </a:xfrm>
          <a:prstGeom prst="rect">
            <a:avLst/>
          </a:prstGeom>
        </p:spPr>
        <p:txBody>
          <a:bodyPr wrap="square">
            <a:spAutoFit/>
          </a:bodyPr>
          <a:lstStyle/>
          <a:p>
            <a:r>
              <a:rPr lang="en-US" sz="1400" b="1" i="0" u="none" strike="noStrike" baseline="0" dirty="0" smtClean="0">
                <a:solidFill>
                  <a:srgbClr val="00B050"/>
                </a:solidFill>
                <a:latin typeface="CMR10"/>
              </a:rPr>
              <a:t>A progression of transistor circuits that</a:t>
            </a:r>
          </a:p>
          <a:p>
            <a:r>
              <a:rPr lang="en-US" sz="1400" b="1" i="0" u="none" strike="noStrike" baseline="0" dirty="0" smtClean="0">
                <a:solidFill>
                  <a:srgbClr val="00B050"/>
                </a:solidFill>
                <a:latin typeface="CMR10"/>
              </a:rPr>
              <a:t>all have the same value of </a:t>
            </a:r>
            <a:r>
              <a:rPr lang="en-US" sz="1400" b="1" i="0" u="none" strike="noStrike" baseline="0" dirty="0" smtClean="0">
                <a:solidFill>
                  <a:srgbClr val="00B050"/>
                </a:solidFill>
                <a:latin typeface="CMMI10"/>
              </a:rPr>
              <a:t>g</a:t>
            </a:r>
            <a:r>
              <a:rPr lang="en-US" sz="1050" b="1" i="0" u="none" strike="noStrike" baseline="0" dirty="0" smtClean="0">
                <a:solidFill>
                  <a:srgbClr val="00B050"/>
                </a:solidFill>
                <a:latin typeface="CMMI7"/>
              </a:rPr>
              <a:t>m</a:t>
            </a:r>
            <a:r>
              <a:rPr lang="en-US" sz="1400" b="1" i="0" u="none" strike="noStrike" baseline="0" dirty="0" smtClean="0">
                <a:solidFill>
                  <a:srgbClr val="00B050"/>
                </a:solidFill>
                <a:latin typeface="CMMI10"/>
              </a:rPr>
              <a:t>/I</a:t>
            </a:r>
            <a:r>
              <a:rPr lang="en-US" sz="1050" b="1" i="0" u="none" strike="noStrike" baseline="0" dirty="0" smtClean="0">
                <a:solidFill>
                  <a:srgbClr val="00B050"/>
                </a:solidFill>
                <a:latin typeface="CMMI7"/>
              </a:rPr>
              <a:t>D </a:t>
            </a:r>
            <a:r>
              <a:rPr lang="en-US" sz="1400" b="1" i="0" u="none" strike="noStrike" baseline="0" dirty="0" smtClean="0">
                <a:solidFill>
                  <a:srgbClr val="00B050"/>
                </a:solidFill>
                <a:latin typeface="CMR10"/>
              </a:rPr>
              <a:t>and </a:t>
            </a:r>
            <a:r>
              <a:rPr lang="en-US" sz="1400" b="1" i="0" u="none" strike="noStrike" baseline="0" dirty="0" err="1" smtClean="0">
                <a:solidFill>
                  <a:srgbClr val="00B050"/>
                </a:solidFill>
                <a:latin typeface="CMMI10"/>
              </a:rPr>
              <a:t>f</a:t>
            </a:r>
            <a:r>
              <a:rPr lang="en-US" sz="1050" b="1" i="0" u="none" strike="noStrike" baseline="0" dirty="0" err="1" smtClean="0">
                <a:solidFill>
                  <a:srgbClr val="00B050"/>
                </a:solidFill>
                <a:latin typeface="CMMI7"/>
              </a:rPr>
              <a:t>T</a:t>
            </a:r>
            <a:r>
              <a:rPr lang="en-US" sz="1050" b="1" i="0" u="none" strike="noStrike" baseline="0" dirty="0" smtClean="0">
                <a:solidFill>
                  <a:srgbClr val="00B050"/>
                </a:solidFill>
                <a:latin typeface="CMMI7"/>
              </a:rPr>
              <a:t> </a:t>
            </a:r>
            <a:r>
              <a:rPr lang="en-US" sz="1400" b="1" i="0" u="none" strike="noStrike" baseline="0" dirty="0" smtClean="0">
                <a:solidFill>
                  <a:srgbClr val="00B050"/>
                </a:solidFill>
                <a:latin typeface="CMR10"/>
              </a:rPr>
              <a:t>.</a:t>
            </a:r>
            <a:endParaRPr lang="en-US" sz="3200" b="1" dirty="0">
              <a:solidFill>
                <a:srgbClr val="00B050"/>
              </a:solidFill>
            </a:endParaRPr>
          </a:p>
        </p:txBody>
      </p:sp>
    </p:spTree>
    <p:extLst>
      <p:ext uri="{BB962C8B-B14F-4D97-AF65-F5344CB8AC3E}">
        <p14:creationId xmlns:p14="http://schemas.microsoft.com/office/powerpoint/2010/main" val="3456583159"/>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Key Physical </a:t>
            </a:r>
            <a:r>
              <a:rPr lang="en-US" dirty="0" smtClean="0">
                <a:latin typeface="fkGrotesk"/>
              </a:rPr>
              <a:t>Invariance</a:t>
            </a:r>
            <a:endParaRPr lang="en-US" dirty="0"/>
          </a:p>
        </p:txBody>
      </p:sp>
      <p:sp>
        <p:nvSpPr>
          <p:cNvPr id="3" name="Text Placeholder 2"/>
          <p:cNvSpPr>
            <a:spLocks noGrp="1"/>
          </p:cNvSpPr>
          <p:nvPr>
            <p:ph type="body" idx="1"/>
          </p:nvPr>
        </p:nvSpPr>
        <p:spPr>
          <a:xfrm>
            <a:off x="844550" y="1327353"/>
            <a:ext cx="6268519" cy="3816429"/>
          </a:xfrm>
        </p:spPr>
        <p:txBody>
          <a:bodyPr/>
          <a:lstStyle/>
          <a:p>
            <a:pPr marL="342900" indent="-342900" algn="l">
              <a:buFont typeface="Arial" panose="020B0604020202020204" pitchFamily="34" charset="0"/>
              <a:buChar char="•"/>
            </a:pPr>
            <a:r>
              <a:rPr lang="en-US" dirty="0" smtClean="0">
                <a:latin typeface="fkGroteskNeue"/>
              </a:rPr>
              <a:t>When </a:t>
            </a:r>
            <a:r>
              <a:rPr lang="en-US" dirty="0">
                <a:latin typeface="fkGroteskNeue"/>
              </a:rPr>
              <a:t>scaling the number (or width) of transistors in parallel:</a:t>
            </a:r>
          </a:p>
          <a:p>
            <a:pPr marL="742950" lvl="1" indent="-285750" algn="l">
              <a:buFont typeface="Arial" panose="020B0604020202020204" pitchFamily="34" charset="0"/>
              <a:buChar char="•"/>
            </a:pPr>
            <a:r>
              <a:rPr lang="en-US" dirty="0">
                <a:latin typeface="fkGroteskNeue"/>
              </a:rPr>
              <a:t>Current </a:t>
            </a:r>
            <a:r>
              <a:rPr lang="en-US" dirty="0" smtClean="0">
                <a:latin typeface="fkGroteskNeue"/>
              </a:rPr>
              <a:t>(</a:t>
            </a:r>
            <a:r>
              <a:rPr lang="en-US" i="1" dirty="0" smtClean="0">
                <a:latin typeface="KaTeX_Math"/>
              </a:rPr>
              <a:t>ID</a:t>
            </a:r>
            <a:r>
              <a:rPr lang="en-US" dirty="0">
                <a:latin typeface="fkGroteskNeue"/>
              </a:rPr>
              <a:t>), gm, and </a:t>
            </a:r>
            <a:r>
              <a:rPr lang="en-US" i="1" dirty="0" err="1" smtClean="0">
                <a:latin typeface="KaTeX_Math"/>
              </a:rPr>
              <a:t>Cgs</a:t>
            </a:r>
            <a:r>
              <a:rPr lang="en-US" dirty="0">
                <a:latin typeface="fkGroteskNeue"/>
              </a:rPr>
              <a:t> all scale proportionally.</a:t>
            </a:r>
          </a:p>
          <a:p>
            <a:pPr marL="742950" lvl="1" indent="-285750" algn="l">
              <a:buFont typeface="Arial" panose="020B0604020202020204" pitchFamily="34" charset="0"/>
              <a:buChar char="•"/>
            </a:pPr>
            <a:r>
              <a:rPr lang="en-US" dirty="0">
                <a:latin typeface="fkGroteskNeue"/>
              </a:rPr>
              <a:t>Critical ratios stay unchanged:</a:t>
            </a:r>
          </a:p>
          <a:p>
            <a:pPr marL="1200150" lvl="2" indent="-285750" algn="l">
              <a:buFont typeface="Arial" panose="020B0604020202020204" pitchFamily="34" charset="0"/>
              <a:buChar char="•"/>
            </a:pPr>
            <a:r>
              <a:rPr lang="en-US" dirty="0">
                <a:latin typeface="fkGroteskNeue"/>
              </a:rPr>
              <a:t>gm/ID (</a:t>
            </a:r>
            <a:r>
              <a:rPr lang="en-US" dirty="0" err="1">
                <a:latin typeface="fkGroteskNeue"/>
              </a:rPr>
              <a:t>transconductance</a:t>
            </a:r>
            <a:r>
              <a:rPr lang="en-US" dirty="0">
                <a:latin typeface="fkGroteskNeue"/>
              </a:rPr>
              <a:t> efficiency)</a:t>
            </a:r>
          </a:p>
          <a:p>
            <a:pPr marL="1200150" lvl="2" indent="-285750" algn="l">
              <a:buFont typeface="Arial" panose="020B0604020202020204" pitchFamily="34" charset="0"/>
              <a:buChar char="•"/>
            </a:pPr>
            <a:r>
              <a:rPr lang="en-US" dirty="0" smtClean="0">
                <a:latin typeface="fkGroteskNeue"/>
              </a:rPr>
              <a:t>gm/</a:t>
            </a:r>
            <a:r>
              <a:rPr lang="en-US" i="1" dirty="0" err="1" smtClean="0">
                <a:latin typeface="KaTeX_Math"/>
              </a:rPr>
              <a:t>Cgs</a:t>
            </a:r>
            <a:r>
              <a:rPr lang="en-US" dirty="0">
                <a:latin typeface="fkGroteskNeue"/>
              </a:rPr>
              <a:t> (sets </a:t>
            </a:r>
            <a:r>
              <a:rPr lang="en-US" i="1" dirty="0" err="1" smtClean="0">
                <a:latin typeface="KaTeX_Math"/>
              </a:rPr>
              <a:t>fT</a:t>
            </a:r>
            <a:r>
              <a:rPr lang="en-US" dirty="0">
                <a:latin typeface="fkGroteskNeue"/>
              </a:rPr>
              <a:t>)</a:t>
            </a:r>
          </a:p>
          <a:p>
            <a:pPr marL="1200150" lvl="2" indent="-285750" algn="l">
              <a:buFont typeface="Arial" panose="020B0604020202020204" pitchFamily="34" charset="0"/>
              <a:buChar char="•"/>
            </a:pPr>
            <a:r>
              <a:rPr lang="en-US" dirty="0" smtClean="0">
                <a:latin typeface="fkGroteskNeue"/>
              </a:rPr>
              <a:t>gm/</a:t>
            </a:r>
            <a:r>
              <a:rPr lang="en-US" i="1" dirty="0" err="1" smtClean="0">
                <a:latin typeface="KaTeX_Math"/>
              </a:rPr>
              <a:t>ro</a:t>
            </a:r>
            <a:r>
              <a:rPr lang="en-US" dirty="0">
                <a:latin typeface="fkGroteskNeue"/>
              </a:rPr>
              <a:t> (sets intrinsic gain with proper length scaling)</a:t>
            </a:r>
          </a:p>
          <a:p>
            <a:pPr marL="342900" indent="-342900" algn="just">
              <a:buFont typeface="Arial" panose="020B0604020202020204" pitchFamily="34" charset="0"/>
              <a:buChar char="•"/>
            </a:pPr>
            <a:r>
              <a:rPr lang="en-US" b="1" dirty="0">
                <a:solidFill>
                  <a:srgbClr val="FF0000"/>
                </a:solidFill>
                <a:latin typeface="fkGroteskNeue"/>
              </a:rPr>
              <a:t>No matter how the device is built (multiple fingers, parallel elements, or single wide transistor), these ratios are constant for a given bias and geometry.</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543849" y="1237948"/>
            <a:ext cx="4100161" cy="1630379"/>
          </a:xfrm>
          <a:prstGeom prst="rect">
            <a:avLst/>
          </a:prstGeom>
        </p:spPr>
      </p:pic>
      <p:sp>
        <p:nvSpPr>
          <p:cNvPr id="8" name="Rectangle 7"/>
          <p:cNvSpPr/>
          <p:nvPr/>
        </p:nvSpPr>
        <p:spPr>
          <a:xfrm>
            <a:off x="8033887" y="2824683"/>
            <a:ext cx="3834062" cy="523220"/>
          </a:xfrm>
          <a:prstGeom prst="rect">
            <a:avLst/>
          </a:prstGeom>
        </p:spPr>
        <p:txBody>
          <a:bodyPr wrap="square">
            <a:spAutoFit/>
          </a:bodyPr>
          <a:lstStyle/>
          <a:p>
            <a:r>
              <a:rPr lang="en-US" sz="1400" b="1" i="0" u="none" strike="noStrike" baseline="0" dirty="0" smtClean="0">
                <a:solidFill>
                  <a:srgbClr val="00B050"/>
                </a:solidFill>
                <a:latin typeface="CMR10"/>
              </a:rPr>
              <a:t>A progression of transistor circuits that</a:t>
            </a:r>
          </a:p>
          <a:p>
            <a:r>
              <a:rPr lang="en-US" sz="1400" b="1" i="0" u="none" strike="noStrike" baseline="0" dirty="0" smtClean="0">
                <a:solidFill>
                  <a:srgbClr val="00B050"/>
                </a:solidFill>
                <a:latin typeface="CMR10"/>
              </a:rPr>
              <a:t>all have the same value of </a:t>
            </a:r>
            <a:r>
              <a:rPr lang="en-US" sz="1400" b="1" i="0" u="none" strike="noStrike" baseline="0" dirty="0" smtClean="0">
                <a:solidFill>
                  <a:srgbClr val="00B050"/>
                </a:solidFill>
                <a:latin typeface="CMMI10"/>
              </a:rPr>
              <a:t>g</a:t>
            </a:r>
            <a:r>
              <a:rPr lang="en-US" sz="1050" b="1" i="0" u="none" strike="noStrike" baseline="0" dirty="0" smtClean="0">
                <a:solidFill>
                  <a:srgbClr val="00B050"/>
                </a:solidFill>
                <a:latin typeface="CMMI7"/>
              </a:rPr>
              <a:t>m</a:t>
            </a:r>
            <a:r>
              <a:rPr lang="en-US" sz="1400" b="1" i="0" u="none" strike="noStrike" baseline="0" dirty="0" smtClean="0">
                <a:solidFill>
                  <a:srgbClr val="00B050"/>
                </a:solidFill>
                <a:latin typeface="CMMI10"/>
              </a:rPr>
              <a:t>/I</a:t>
            </a:r>
            <a:r>
              <a:rPr lang="en-US" sz="1050" b="1" i="0" u="none" strike="noStrike" baseline="0" dirty="0" smtClean="0">
                <a:solidFill>
                  <a:srgbClr val="00B050"/>
                </a:solidFill>
                <a:latin typeface="CMMI7"/>
              </a:rPr>
              <a:t>D </a:t>
            </a:r>
            <a:r>
              <a:rPr lang="en-US" sz="1400" b="1" i="0" u="none" strike="noStrike" baseline="0" dirty="0" smtClean="0">
                <a:solidFill>
                  <a:srgbClr val="00B050"/>
                </a:solidFill>
                <a:latin typeface="CMR10"/>
              </a:rPr>
              <a:t>and </a:t>
            </a:r>
            <a:r>
              <a:rPr lang="en-US" sz="1400" b="1" i="0" u="none" strike="noStrike" baseline="0" dirty="0" err="1" smtClean="0">
                <a:solidFill>
                  <a:srgbClr val="00B050"/>
                </a:solidFill>
                <a:latin typeface="CMMI10"/>
              </a:rPr>
              <a:t>f</a:t>
            </a:r>
            <a:r>
              <a:rPr lang="en-US" sz="1050" b="1" i="0" u="none" strike="noStrike" baseline="0" dirty="0" err="1" smtClean="0">
                <a:solidFill>
                  <a:srgbClr val="00B050"/>
                </a:solidFill>
                <a:latin typeface="CMMI7"/>
              </a:rPr>
              <a:t>T</a:t>
            </a:r>
            <a:r>
              <a:rPr lang="en-US" sz="1050" b="1" i="0" u="none" strike="noStrike" baseline="0" dirty="0" smtClean="0">
                <a:solidFill>
                  <a:srgbClr val="00B050"/>
                </a:solidFill>
                <a:latin typeface="CMMI7"/>
              </a:rPr>
              <a:t> </a:t>
            </a:r>
            <a:r>
              <a:rPr lang="en-US" sz="1400" b="1" i="0" u="none" strike="noStrike" baseline="0" dirty="0" smtClean="0">
                <a:solidFill>
                  <a:srgbClr val="00B050"/>
                </a:solidFill>
                <a:latin typeface="CMR10"/>
              </a:rPr>
              <a:t>.</a:t>
            </a:r>
            <a:endParaRPr lang="en-US" sz="3200" b="1" dirty="0">
              <a:solidFill>
                <a:srgbClr val="00B050"/>
              </a:solidFill>
            </a:endParaRPr>
          </a:p>
        </p:txBody>
      </p:sp>
    </p:spTree>
    <p:extLst>
      <p:ext uri="{BB962C8B-B14F-4D97-AF65-F5344CB8AC3E}">
        <p14:creationId xmlns:p14="http://schemas.microsoft.com/office/powerpoint/2010/main" val="2700441337"/>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Deeper Intuitive Magic of </a:t>
            </a:r>
            <a:r>
              <a:rPr lang="en-US" dirty="0" smtClean="0">
                <a:latin typeface="fkGrotesk"/>
              </a:rPr>
              <a:t>gm/ID</a:t>
            </a:r>
            <a:endParaRPr lang="en-US" dirty="0"/>
          </a:p>
        </p:txBody>
      </p:sp>
      <p:sp>
        <p:nvSpPr>
          <p:cNvPr id="3" name="Text Placeholder 2"/>
          <p:cNvSpPr>
            <a:spLocks noGrp="1"/>
          </p:cNvSpPr>
          <p:nvPr>
            <p:ph type="body" idx="1"/>
          </p:nvPr>
        </p:nvSpPr>
        <p:spPr>
          <a:xfrm>
            <a:off x="844550" y="1327353"/>
            <a:ext cx="10628764" cy="3693319"/>
          </a:xfrm>
        </p:spPr>
        <p:txBody>
          <a:bodyPr/>
          <a:lstStyle/>
          <a:p>
            <a:pPr marL="342900" indent="-342900" algn="just">
              <a:buFont typeface="Arial" panose="020B0604020202020204" pitchFamily="34" charset="0"/>
              <a:buChar char="•"/>
            </a:pPr>
            <a:r>
              <a:rPr lang="en-US" dirty="0" smtClean="0">
                <a:latin typeface="fkGroteskNeue"/>
              </a:rPr>
              <a:t>Ratio-based </a:t>
            </a:r>
            <a:r>
              <a:rPr lang="en-US" dirty="0">
                <a:latin typeface="fkGroteskNeue"/>
              </a:rPr>
              <a:t>design means universality:</a:t>
            </a:r>
          </a:p>
          <a:p>
            <a:pPr marL="742950" lvl="1" indent="-285750" algn="just">
              <a:buFont typeface="Arial" panose="020B0604020202020204" pitchFamily="34" charset="0"/>
              <a:buChar char="•"/>
            </a:pPr>
            <a:r>
              <a:rPr lang="en-US" dirty="0">
                <a:latin typeface="fkGroteskNeue"/>
              </a:rPr>
              <a:t>For any integer or fractional scaling of W, as long as all device currents, gm, and capacitances scale together, all critical figures of merit—efficiency, bandwidth, gain—are preserved.</a:t>
            </a:r>
          </a:p>
          <a:p>
            <a:pPr marL="742950" lvl="1" indent="-285750" algn="just">
              <a:buFont typeface="Arial" panose="020B0604020202020204" pitchFamily="34" charset="0"/>
              <a:buChar char="•"/>
            </a:pPr>
            <a:r>
              <a:rPr lang="en-US" dirty="0">
                <a:latin typeface="fkGroteskNeue"/>
              </a:rPr>
              <a:t>The design outcome depends only on the bias point and channel length, not on the physical implementation (number of fingers, parallel elements, total width).</a:t>
            </a:r>
          </a:p>
          <a:p>
            <a:pPr marL="742950" lvl="1" indent="-285750" algn="just">
              <a:buFont typeface="Arial" panose="020B0604020202020204" pitchFamily="34" charset="0"/>
              <a:buChar char="•"/>
            </a:pPr>
            <a:r>
              <a:rPr lang="en-US" dirty="0">
                <a:latin typeface="fkGroteskNeue"/>
              </a:rPr>
              <a:t>Width-independence: Designers only need to characterize one "unit" cell and then use linear scaling for layout/implementation.</a:t>
            </a:r>
          </a:p>
          <a:p>
            <a:pPr marL="342900" indent="-342900" algn="just">
              <a:buFont typeface="Arial" panose="020B0604020202020204" pitchFamily="34" charset="0"/>
              <a:buChar char="•"/>
            </a:pPr>
            <a:r>
              <a:rPr lang="en-US" dirty="0">
                <a:latin typeface="fkGroteskNeue"/>
              </a:rPr>
              <a:t>gm/ID charts as design core:</a:t>
            </a:r>
          </a:p>
          <a:p>
            <a:pPr marL="742950" lvl="1" indent="-285750" algn="just">
              <a:buFont typeface="Arial" panose="020B0604020202020204" pitchFamily="34" charset="0"/>
              <a:buChar char="•"/>
            </a:pPr>
            <a:r>
              <a:rPr lang="en-US" dirty="0">
                <a:latin typeface="fkGroteskNeue"/>
              </a:rPr>
              <a:t>Once relationships between gm, ID, </a:t>
            </a:r>
            <a:r>
              <a:rPr lang="en-US" dirty="0" err="1">
                <a:latin typeface="fkGroteskNeue"/>
              </a:rPr>
              <a:t>Cgs</a:t>
            </a:r>
            <a:r>
              <a:rPr lang="en-US" dirty="0">
                <a:latin typeface="fkGroteskNeue"/>
              </a:rPr>
              <a:t>, and </a:t>
            </a:r>
            <a:r>
              <a:rPr lang="en-US" dirty="0" err="1">
                <a:latin typeface="fkGroteskNeue"/>
              </a:rPr>
              <a:t>r_o</a:t>
            </a:r>
            <a:r>
              <a:rPr lang="en-US" dirty="0">
                <a:latin typeface="fkGroteskNeue"/>
              </a:rPr>
              <a:t> for a unit device are measured or simulated, any width W yields the same ratios.</a:t>
            </a:r>
          </a:p>
          <a:p>
            <a:pPr marL="742950" lvl="1" indent="-285750" algn="just">
              <a:buFont typeface="Arial" panose="020B0604020202020204" pitchFamily="34" charset="0"/>
              <a:buChar char="•"/>
            </a:pPr>
            <a:r>
              <a:rPr lang="en-US" dirty="0">
                <a:latin typeface="fkGroteskNeue"/>
              </a:rPr>
              <a:t>This ratio invariance is why gm/ID-based sizing becomes practical and highly convenient for analog synthesis—everything boils down to selecting width after system-level choices are made.</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899109606"/>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Design Practicality and </a:t>
            </a:r>
            <a:r>
              <a:rPr lang="en-US" dirty="0" smtClean="0">
                <a:latin typeface="fkGrotesk"/>
              </a:rPr>
              <a:t>Accuracy</a:t>
            </a:r>
            <a:endParaRPr lang="en-US" dirty="0"/>
          </a:p>
        </p:txBody>
      </p:sp>
      <p:sp>
        <p:nvSpPr>
          <p:cNvPr id="3" name="Text Placeholder 2"/>
          <p:cNvSpPr>
            <a:spLocks noGrp="1"/>
          </p:cNvSpPr>
          <p:nvPr>
            <p:ph type="body" idx="1"/>
          </p:nvPr>
        </p:nvSpPr>
        <p:spPr>
          <a:xfrm>
            <a:off x="786798" y="1182974"/>
            <a:ext cx="10802018" cy="2092881"/>
          </a:xfrm>
        </p:spPr>
        <p:txBody>
          <a:bodyPr/>
          <a:lstStyle/>
          <a:p>
            <a:pPr marL="342900" indent="-342900" algn="l">
              <a:buFont typeface="Arial" panose="020B0604020202020204" pitchFamily="34" charset="0"/>
              <a:buChar char="•"/>
            </a:pPr>
            <a:r>
              <a:rPr lang="en-US" dirty="0" smtClean="0">
                <a:latin typeface="fkGroteskNeue"/>
              </a:rPr>
              <a:t>Physical </a:t>
            </a:r>
            <a:r>
              <a:rPr lang="en-US" dirty="0">
                <a:latin typeface="fkGroteskNeue"/>
              </a:rPr>
              <a:t>scaling is precise but not perfect:</a:t>
            </a:r>
          </a:p>
          <a:p>
            <a:pPr marL="742950" lvl="1" indent="-285750" algn="l">
              <a:buFont typeface="Arial" panose="020B0604020202020204" pitchFamily="34" charset="0"/>
              <a:buChar char="•"/>
            </a:pPr>
            <a:r>
              <a:rPr lang="en-US" dirty="0">
                <a:latin typeface="fkGroteskNeue"/>
              </a:rPr>
              <a:t>In real silicon, device mismatch and second-order effects cause minor deviations (within 10–20%); final tweaks are made via simulation.</a:t>
            </a:r>
          </a:p>
          <a:p>
            <a:pPr marL="342900" indent="-342900" algn="l">
              <a:buFont typeface="Arial" panose="020B0604020202020204" pitchFamily="34" charset="0"/>
              <a:buChar char="•"/>
            </a:pPr>
            <a:r>
              <a:rPr lang="en-US" dirty="0">
                <a:latin typeface="fkGroteskNeue"/>
              </a:rPr>
              <a:t>Ratios hold across all widths, but other properties (like </a:t>
            </a:r>
            <a:r>
              <a:rPr lang="en-US" dirty="0">
                <a:latin typeface="KaTeX_Main"/>
              </a:rPr>
              <a:t>ro</a:t>
            </a:r>
            <a:r>
              <a:rPr lang="en-US" i="1" dirty="0">
                <a:latin typeface="KaTeX_Math"/>
              </a:rPr>
              <a:t>ro</a:t>
            </a:r>
            <a:r>
              <a:rPr lang="en-US" dirty="0">
                <a:latin typeface="fkGroteskNeue"/>
              </a:rPr>
              <a:t>) require care if bias voltages approach limits (e.g., </a:t>
            </a:r>
            <a:r>
              <a:rPr lang="en-US" i="1" dirty="0" err="1" smtClean="0">
                <a:latin typeface="KaTeX_Math"/>
              </a:rPr>
              <a:t>VDSsat</a:t>
            </a:r>
            <a:r>
              <a:rPr lang="en-US" dirty="0">
                <a:latin typeface="fkGroteskNeue"/>
              </a:rPr>
              <a:t>).</a:t>
            </a:r>
          </a:p>
          <a:p>
            <a:pPr marL="342900" indent="-342900" algn="l">
              <a:buFont typeface="Arial" panose="020B0604020202020204" pitchFamily="34" charset="0"/>
              <a:buChar char="•"/>
            </a:pPr>
            <a:r>
              <a:rPr lang="en-US" dirty="0">
                <a:latin typeface="fkGroteskNeue"/>
              </a:rPr>
              <a:t>Result: The method gives extremely close initial designs, needing little correction once detailed </a:t>
            </a:r>
            <a:r>
              <a:rPr lang="en-US" dirty="0" err="1">
                <a:latin typeface="fkGroteskNeue"/>
              </a:rPr>
              <a:t>parasitics</a:t>
            </a:r>
            <a:r>
              <a:rPr lang="en-US" dirty="0">
                <a:latin typeface="fkGroteskNeue"/>
              </a:rPr>
              <a:t>, layout effects, or mismatch are simulated</a:t>
            </a:r>
            <a:r>
              <a:rPr lang="en-US" dirty="0" smtClean="0">
                <a:latin typeface="fkGroteskNeue"/>
              </a:rPr>
              <a:t>.</a:t>
            </a:r>
            <a:endParaRPr lang="en-US" dirty="0">
              <a:latin typeface="fkGroteskNeue"/>
            </a:endParaRPr>
          </a:p>
        </p:txBody>
      </p:sp>
      <p:sp>
        <p:nvSpPr>
          <p:cNvPr id="7" name="Rectangle 6"/>
          <p:cNvSpPr/>
          <p:nvPr/>
        </p:nvSpPr>
        <p:spPr>
          <a:xfrm>
            <a:off x="693019" y="3318634"/>
            <a:ext cx="10761043" cy="2031325"/>
          </a:xfrm>
          <a:prstGeom prst="rect">
            <a:avLst/>
          </a:prstGeom>
        </p:spPr>
        <p:txBody>
          <a:bodyPr wrap="square">
            <a:spAutoFit/>
          </a:bodyPr>
          <a:lstStyle/>
          <a:p>
            <a:r>
              <a:rPr lang="en-US" b="1" i="0" dirty="0" smtClean="0">
                <a:effectLst/>
                <a:latin typeface="fkGrotesk"/>
              </a:rPr>
              <a:t>Deep Teaching Takeaway</a:t>
            </a:r>
          </a:p>
          <a:p>
            <a:pPr marL="285750" indent="-285750">
              <a:buFont typeface="Arial" panose="020B0604020202020204" pitchFamily="34" charset="0"/>
              <a:buChar char="•"/>
            </a:pPr>
            <a:r>
              <a:rPr lang="en-US" b="0" i="0" dirty="0" smtClean="0">
                <a:effectLst/>
                <a:latin typeface="fkGroteskNeue"/>
              </a:rPr>
              <a:t>gm/ID method is fundamentally about physical ratios:</a:t>
            </a:r>
          </a:p>
          <a:p>
            <a:pPr marL="742950" lvl="1" indent="-285750">
              <a:buFont typeface="Arial" panose="020B0604020202020204" pitchFamily="34" charset="0"/>
              <a:buChar char="•"/>
            </a:pPr>
            <a:r>
              <a:rPr lang="en-US" b="0" i="0" dirty="0" smtClean="0">
                <a:effectLst/>
                <a:latin typeface="fkGroteskNeue"/>
              </a:rPr>
              <a:t>The “magic” is that analog performance depends on ratios, not absolute device sizes.</a:t>
            </a:r>
          </a:p>
          <a:p>
            <a:pPr marL="742950" lvl="1" indent="-285750">
              <a:buFont typeface="Arial" panose="020B0604020202020204" pitchFamily="34" charset="0"/>
              <a:buChar char="•"/>
            </a:pPr>
            <a:r>
              <a:rPr lang="en-US" b="0" i="0" dirty="0" smtClean="0">
                <a:effectLst/>
                <a:latin typeface="fkGroteskNeue"/>
              </a:rPr>
              <a:t>By focusing on gm/ID and its associated charts, analog designers can synthesize circuits that are predictable, scalable, and robust to layout changes.</a:t>
            </a:r>
          </a:p>
          <a:p>
            <a:pPr marL="742950" lvl="1" indent="-285750">
              <a:buFont typeface="Arial" panose="020B0604020202020204" pitchFamily="34" charset="0"/>
              <a:buChar char="•"/>
            </a:pPr>
            <a:r>
              <a:rPr lang="en-US" b="0" i="0" dirty="0" smtClean="0">
                <a:effectLst/>
                <a:latin typeface="fkGroteskNeue"/>
              </a:rPr>
              <a:t>Intuitive understanding: Scaling devices for higher current or gain is simply a matter of multiplying W; all other properties follow linearly, so critical performance metrics stay locked.</a:t>
            </a:r>
            <a:endParaRPr lang="en-US" b="0" i="0" dirty="0">
              <a:effectLst/>
              <a:latin typeface="fkGroteskNeue"/>
            </a:endParaRPr>
          </a:p>
        </p:txBody>
      </p:sp>
      <p:sp>
        <p:nvSpPr>
          <p:cNvPr id="8" name="Rectangle 7"/>
          <p:cNvSpPr/>
          <p:nvPr/>
        </p:nvSpPr>
        <p:spPr>
          <a:xfrm>
            <a:off x="680184" y="5374172"/>
            <a:ext cx="11511815" cy="1477328"/>
          </a:xfrm>
          <a:prstGeom prst="rect">
            <a:avLst/>
          </a:prstGeom>
        </p:spPr>
        <p:txBody>
          <a:bodyPr wrap="square">
            <a:spAutoFit/>
          </a:bodyPr>
          <a:lstStyle/>
          <a:p>
            <a:r>
              <a:rPr lang="en-US" b="1" i="0" dirty="0" smtClean="0">
                <a:effectLst/>
                <a:latin typeface="fkGroteskNeue"/>
              </a:rPr>
              <a:t>Summary:</a:t>
            </a:r>
            <a:r>
              <a:rPr lang="en-US" dirty="0" smtClean="0"/>
              <a:t/>
            </a:r>
            <a:br>
              <a:rPr lang="en-US" dirty="0" smtClean="0"/>
            </a:br>
            <a:r>
              <a:rPr lang="en-US" b="0" i="0" dirty="0" smtClean="0">
                <a:effectLst/>
                <a:latin typeface="fkGroteskNeue"/>
              </a:rPr>
              <a:t>Figure 21 and its accompanying principles show that the gm/ID methodology owes its power to the invariance of critical ratios when scaling device width and number. This universality means analog circuit synthesis can be reduced to simple rules based on bias and geometry, maximizing convenience and predictability—making this method the backbone of modern CMOS analog design.</a:t>
            </a:r>
            <a:endParaRPr lang="en-US" dirty="0"/>
          </a:p>
        </p:txBody>
      </p:sp>
    </p:spTree>
    <p:extLst>
      <p:ext uri="{BB962C8B-B14F-4D97-AF65-F5344CB8AC3E}">
        <p14:creationId xmlns:p14="http://schemas.microsoft.com/office/powerpoint/2010/main" val="3302429972"/>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 How to Build Design </a:t>
            </a:r>
            <a:r>
              <a:rPr lang="en-US" dirty="0" smtClean="0">
                <a:latin typeface="fkGrotesk"/>
              </a:rPr>
              <a:t>Charts</a:t>
            </a:r>
            <a:endParaRPr lang="en-US" dirty="0"/>
          </a:p>
        </p:txBody>
      </p:sp>
      <p:sp>
        <p:nvSpPr>
          <p:cNvPr id="3" name="Text Placeholder 2"/>
          <p:cNvSpPr>
            <a:spLocks noGrp="1"/>
          </p:cNvSpPr>
          <p:nvPr>
            <p:ph type="body" idx="1"/>
          </p:nvPr>
        </p:nvSpPr>
        <p:spPr>
          <a:xfrm>
            <a:off x="844550" y="1327353"/>
            <a:ext cx="6384023" cy="3939540"/>
          </a:xfrm>
        </p:spPr>
        <p:txBody>
          <a:bodyPr/>
          <a:lstStyle/>
          <a:p>
            <a:pPr marL="342900" indent="-342900" algn="just">
              <a:buFont typeface="Arial" panose="020B0604020202020204" pitchFamily="34" charset="0"/>
              <a:buChar char="•"/>
            </a:pPr>
            <a:r>
              <a:rPr lang="en-US" dirty="0" smtClean="0">
                <a:latin typeface="fkGroteskNeue"/>
              </a:rPr>
              <a:t>Figure</a:t>
            </a:r>
            <a:r>
              <a:rPr lang="en-US" dirty="0">
                <a:latin typeface="fkGroteskNeue"/>
              </a:rPr>
              <a:t> illustrates the essential workflow:</a:t>
            </a:r>
          </a:p>
          <a:p>
            <a:pPr marL="742950" lvl="1" indent="-285750" algn="just">
              <a:buFont typeface="Arial" panose="020B0604020202020204" pitchFamily="34" charset="0"/>
              <a:buChar char="•"/>
            </a:pPr>
            <a:r>
              <a:rPr lang="en-US" dirty="0">
                <a:latin typeface="fkGroteskNeue"/>
              </a:rPr>
              <a:t>SPICE Inputs: Choose W, L, device parameters, channel length. Sweep gate voltage to explore bias points.</a:t>
            </a:r>
          </a:p>
          <a:p>
            <a:pPr marL="742950" lvl="1" indent="-285750" algn="just">
              <a:buFont typeface="Arial" panose="020B0604020202020204" pitchFamily="34" charset="0"/>
              <a:buChar char="•"/>
            </a:pPr>
            <a:r>
              <a:rPr lang="en-US" dirty="0">
                <a:latin typeface="fkGroteskNeue"/>
              </a:rPr>
              <a:t>SPICE Simulation: For each bias point, SPICE outputs gm/ID, </a:t>
            </a:r>
            <a:r>
              <a:rPr lang="en-US" dirty="0" err="1">
                <a:latin typeface="fkGroteskNeue"/>
              </a:rPr>
              <a:t>fT</a:t>
            </a:r>
            <a:r>
              <a:rPr lang="en-US" dirty="0">
                <a:latin typeface="fkGroteskNeue"/>
              </a:rPr>
              <a:t>, </a:t>
            </a:r>
            <a:r>
              <a:rPr lang="en-US" dirty="0" err="1">
                <a:latin typeface="fkGroteskNeue"/>
              </a:rPr>
              <a:t>gm·ro</a:t>
            </a:r>
            <a:r>
              <a:rPr lang="en-US" dirty="0">
                <a:latin typeface="fkGroteskNeue"/>
              </a:rPr>
              <a:t>, and other small-signal parameters.</a:t>
            </a:r>
          </a:p>
          <a:p>
            <a:pPr marL="742950" lvl="1" indent="-285750" algn="just">
              <a:buFont typeface="Arial" panose="020B0604020202020204" pitchFamily="34" charset="0"/>
              <a:buChar char="•"/>
            </a:pPr>
            <a:r>
              <a:rPr lang="en-US" dirty="0">
                <a:latin typeface="fkGroteskNeue"/>
              </a:rPr>
              <a:t>Plotting and Analysis: Data is processed (e.g., using </a:t>
            </a:r>
            <a:r>
              <a:rPr lang="en-US" dirty="0" err="1">
                <a:latin typeface="fkGroteskNeue"/>
              </a:rPr>
              <a:t>Matlab</a:t>
            </a:r>
            <a:r>
              <a:rPr lang="en-US" dirty="0">
                <a:latin typeface="fkGroteskNeue"/>
              </a:rPr>
              <a:t>) to generate charts—like those seen earlier (</a:t>
            </a:r>
            <a:r>
              <a:rPr lang="en-US" dirty="0" err="1">
                <a:latin typeface="fkGroteskNeue"/>
              </a:rPr>
              <a:t>fT</a:t>
            </a:r>
            <a:r>
              <a:rPr lang="en-US" dirty="0">
                <a:latin typeface="fkGroteskNeue"/>
              </a:rPr>
              <a:t> vs. gm/ID, intrinsic gain vs. gm/ID, etc.)—for different channel lengths.</a:t>
            </a:r>
          </a:p>
          <a:p>
            <a:pPr marL="342900" indent="-342900" algn="just">
              <a:buFont typeface="Arial" panose="020B0604020202020204" pitchFamily="34" charset="0"/>
              <a:buChar char="•"/>
            </a:pPr>
            <a:r>
              <a:rPr lang="en-US" dirty="0">
                <a:latin typeface="fkGroteskNeue"/>
              </a:rPr>
              <a:t>Key insight:</a:t>
            </a:r>
          </a:p>
          <a:p>
            <a:pPr marL="742950" lvl="1" indent="-285750" algn="just">
              <a:buFont typeface="Arial" panose="020B0604020202020204" pitchFamily="34" charset="0"/>
              <a:buChar char="•"/>
            </a:pPr>
            <a:r>
              <a:rPr lang="en-US" dirty="0">
                <a:latin typeface="fkGroteskNeue"/>
              </a:rPr>
              <a:t>This process grounds all design decisions in physical measurements or simulations from real technology, not idealized equations</a:t>
            </a:r>
            <a:r>
              <a:rPr lang="en-US" dirty="0" smtClean="0">
                <a:latin typeface="fkGroteskNeue"/>
              </a:rPr>
              <a:t>.</a:t>
            </a:r>
            <a:endParaRPr lang="en-US" dirty="0">
              <a:latin typeface="fkGroteskNeue"/>
            </a:endParaRPr>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159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7422514" y="1198186"/>
            <a:ext cx="4402419" cy="2526791"/>
          </a:xfrm>
          <a:prstGeom prst="rect">
            <a:avLst/>
          </a:prstGeom>
        </p:spPr>
      </p:pic>
      <p:sp>
        <p:nvSpPr>
          <p:cNvPr id="8" name="Rectangle 7"/>
          <p:cNvSpPr/>
          <p:nvPr/>
        </p:nvSpPr>
        <p:spPr>
          <a:xfrm>
            <a:off x="8682589" y="3777527"/>
            <a:ext cx="2975495" cy="307777"/>
          </a:xfrm>
          <a:prstGeom prst="rect">
            <a:avLst/>
          </a:prstGeom>
        </p:spPr>
        <p:txBody>
          <a:bodyPr wrap="none">
            <a:spAutoFit/>
          </a:bodyPr>
          <a:lstStyle/>
          <a:p>
            <a:r>
              <a:rPr lang="en-US" sz="1400" b="1" i="0" u="none" strike="noStrike" baseline="0" dirty="0" smtClean="0">
                <a:solidFill>
                  <a:srgbClr val="00B050"/>
                </a:solidFill>
                <a:latin typeface="CMR10"/>
              </a:rPr>
              <a:t>Method of making design charts.</a:t>
            </a:r>
            <a:endParaRPr lang="en-US" sz="3200" b="1" dirty="0">
              <a:solidFill>
                <a:srgbClr val="00B050"/>
              </a:solidFill>
            </a:endParaRPr>
          </a:p>
        </p:txBody>
      </p:sp>
    </p:spTree>
    <p:extLst>
      <p:ext uri="{BB962C8B-B14F-4D97-AF65-F5344CB8AC3E}">
        <p14:creationId xmlns:p14="http://schemas.microsoft.com/office/powerpoint/2010/main" val="2626930955"/>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How gm/ID Design Charts Are Made</a:t>
            </a:r>
            <a:endParaRPr lang="en-US" dirty="0"/>
          </a:p>
        </p:txBody>
      </p:sp>
      <p:sp>
        <p:nvSpPr>
          <p:cNvPr id="3" name="Text Placeholder 2"/>
          <p:cNvSpPr>
            <a:spLocks noGrp="1"/>
          </p:cNvSpPr>
          <p:nvPr>
            <p:ph type="body" idx="1"/>
          </p:nvPr>
        </p:nvSpPr>
        <p:spPr>
          <a:xfrm>
            <a:off x="844550" y="1327353"/>
            <a:ext cx="7118350" cy="5539978"/>
          </a:xfrm>
        </p:spPr>
        <p:txBody>
          <a:bodyPr/>
          <a:lstStyle/>
          <a:p>
            <a:pPr marL="342900" indent="-342900" algn="l">
              <a:buFont typeface="Arial" panose="020B0604020202020204" pitchFamily="34" charset="0"/>
              <a:buChar char="•"/>
            </a:pPr>
            <a:r>
              <a:rPr lang="en-US" dirty="0" smtClean="0">
                <a:latin typeface="fkGroteskNeue"/>
              </a:rPr>
              <a:t>Designers </a:t>
            </a:r>
            <a:r>
              <a:rPr lang="en-US" dirty="0">
                <a:latin typeface="fkGroteskNeue"/>
              </a:rPr>
              <a:t>start by characterizing a transistor in the target process:</a:t>
            </a:r>
          </a:p>
          <a:p>
            <a:pPr marL="742950" lvl="1" indent="-285750" algn="l">
              <a:buFont typeface="Arial" panose="020B0604020202020204" pitchFamily="34" charset="0"/>
              <a:buChar char="•"/>
            </a:pPr>
            <a:r>
              <a:rPr lang="en-US" dirty="0">
                <a:latin typeface="fkGroteskNeue"/>
              </a:rPr>
              <a:t>Select channel length (L) and width (W).</a:t>
            </a:r>
          </a:p>
          <a:p>
            <a:pPr marL="742950" lvl="1" indent="-285750" algn="l">
              <a:buFont typeface="Arial" panose="020B0604020202020204" pitchFamily="34" charset="0"/>
              <a:buChar char="•"/>
            </a:pPr>
            <a:r>
              <a:rPr lang="en-US" dirty="0">
                <a:latin typeface="fkGroteskNeue"/>
              </a:rPr>
              <a:t>Sweep gate voltage and record current, gm, capacitances, </a:t>
            </a:r>
            <a:r>
              <a:rPr lang="en-US" dirty="0" err="1">
                <a:latin typeface="fkGroteskNeue"/>
              </a:rPr>
              <a:t>ro</a:t>
            </a:r>
            <a:r>
              <a:rPr lang="en-US" dirty="0">
                <a:latin typeface="fkGroteskNeue"/>
              </a:rPr>
              <a:t> from SPICE outputs.</a:t>
            </a:r>
          </a:p>
          <a:p>
            <a:pPr marL="342900" indent="-342900" algn="l">
              <a:buFont typeface="Arial" panose="020B0604020202020204" pitchFamily="34" charset="0"/>
              <a:buChar char="•"/>
            </a:pPr>
            <a:r>
              <a:rPr lang="en-US" dirty="0">
                <a:latin typeface="fkGroteskNeue"/>
              </a:rPr>
              <a:t>These raw data, processed using scripts or </a:t>
            </a:r>
            <a:r>
              <a:rPr lang="en-US" dirty="0" err="1">
                <a:latin typeface="fkGroteskNeue"/>
              </a:rPr>
              <a:t>Matlab</a:t>
            </a:r>
            <a:r>
              <a:rPr lang="en-US" dirty="0">
                <a:latin typeface="fkGroteskNeue"/>
              </a:rPr>
              <a:t>, yield curves:</a:t>
            </a:r>
          </a:p>
          <a:p>
            <a:pPr marL="742950" lvl="1" indent="-285750" algn="l">
              <a:buFont typeface="Arial" panose="020B0604020202020204" pitchFamily="34" charset="0"/>
              <a:buChar char="•"/>
            </a:pPr>
            <a:r>
              <a:rPr lang="en-US" dirty="0">
                <a:latin typeface="fkGroteskNeue"/>
              </a:rPr>
              <a:t>gm/ID vs. bias</a:t>
            </a:r>
          </a:p>
          <a:p>
            <a:pPr marL="742950" lvl="1" indent="-285750" algn="l">
              <a:buFont typeface="Arial" panose="020B0604020202020204" pitchFamily="34" charset="0"/>
              <a:buChar char="•"/>
            </a:pPr>
            <a:r>
              <a:rPr lang="en-US" dirty="0" err="1">
                <a:latin typeface="fkGroteskNeue"/>
              </a:rPr>
              <a:t>fT</a:t>
            </a:r>
            <a:r>
              <a:rPr lang="en-US" dirty="0">
                <a:latin typeface="fkGroteskNeue"/>
              </a:rPr>
              <a:t> vs. gm/ID</a:t>
            </a:r>
          </a:p>
          <a:p>
            <a:pPr marL="742950" lvl="1" indent="-285750" algn="l">
              <a:buFont typeface="Arial" panose="020B0604020202020204" pitchFamily="34" charset="0"/>
              <a:buChar char="•"/>
            </a:pPr>
            <a:r>
              <a:rPr lang="en-US" dirty="0">
                <a:latin typeface="fkGroteskNeue"/>
              </a:rPr>
              <a:t>Intrinsic gain vs. gm/ID</a:t>
            </a:r>
          </a:p>
          <a:p>
            <a:pPr marL="742950" lvl="1" indent="-285750" algn="l">
              <a:buFont typeface="Arial" panose="020B0604020202020204" pitchFamily="34" charset="0"/>
              <a:buChar char="•"/>
            </a:pPr>
            <a:r>
              <a:rPr lang="en-US" dirty="0">
                <a:latin typeface="fkGroteskNeue"/>
              </a:rPr>
              <a:t>Required W for any bias</a:t>
            </a:r>
          </a:p>
          <a:p>
            <a:pPr marL="342900" indent="-342900" algn="l">
              <a:buFont typeface="Arial" panose="020B0604020202020204" pitchFamily="34" charset="0"/>
              <a:buChar char="•"/>
            </a:pPr>
            <a:r>
              <a:rPr lang="en-US" dirty="0">
                <a:latin typeface="fkGroteskNeue"/>
              </a:rPr>
              <a:t>The process is repeated for various L values, providing "lookup tables" for sizing and biasing decisions.</a:t>
            </a:r>
          </a:p>
          <a:p>
            <a:pPr marL="342900" indent="-342900" algn="l">
              <a:buFont typeface="Arial" panose="020B0604020202020204" pitchFamily="34" charset="0"/>
              <a:buChar char="•"/>
            </a:pPr>
            <a:r>
              <a:rPr lang="en-US" dirty="0">
                <a:latin typeface="fkGroteskNeue"/>
              </a:rPr>
              <a:t>Fundamental value:</a:t>
            </a:r>
          </a:p>
          <a:p>
            <a:pPr marL="742950" lvl="1" indent="-285750" algn="l">
              <a:buFont typeface="Arial" panose="020B0604020202020204" pitchFamily="34" charset="0"/>
              <a:buChar char="•"/>
            </a:pPr>
            <a:r>
              <a:rPr lang="en-US" dirty="0">
                <a:latin typeface="fkGroteskNeue"/>
              </a:rPr>
              <a:t>Charts reflect measured (or simulated) transistor physics—capturing short-channel effects, real matching, and non-idealities.</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7329848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Problem Specification—Design </a:t>
            </a:r>
            <a:r>
              <a:rPr lang="en-US" dirty="0" smtClean="0">
                <a:latin typeface="fkGrotesk"/>
              </a:rPr>
              <a:t>Requirements</a:t>
            </a:r>
            <a:endParaRPr lang="en-US" dirty="0"/>
          </a:p>
        </p:txBody>
      </p:sp>
      <p:sp>
        <p:nvSpPr>
          <p:cNvPr id="3" name="Text Placeholder 2"/>
          <p:cNvSpPr>
            <a:spLocks noGrp="1"/>
          </p:cNvSpPr>
          <p:nvPr>
            <p:ph type="body" idx="1"/>
          </p:nvPr>
        </p:nvSpPr>
        <p:spPr>
          <a:xfrm>
            <a:off x="844550" y="1327353"/>
            <a:ext cx="10927147" cy="3539430"/>
          </a:xfrm>
        </p:spPr>
        <p:txBody>
          <a:bodyPr/>
          <a:lstStyle/>
          <a:p>
            <a:pPr algn="just"/>
            <a:r>
              <a:rPr lang="en-US" dirty="0" smtClean="0">
                <a:latin typeface="fkGroteskNeue"/>
              </a:rPr>
              <a:t>Typical </a:t>
            </a:r>
            <a:r>
              <a:rPr lang="en-US" dirty="0">
                <a:latin typeface="fkGroteskNeue"/>
              </a:rPr>
              <a:t>example task:</a:t>
            </a:r>
          </a:p>
          <a:p>
            <a:pPr marL="800100" lvl="1" indent="-342900" algn="just">
              <a:buFont typeface="Arial" panose="020B0604020202020204" pitchFamily="34" charset="0"/>
              <a:buChar char="•"/>
            </a:pPr>
            <a:r>
              <a:rPr lang="en-US" dirty="0">
                <a:latin typeface="fkGroteskNeue"/>
              </a:rPr>
              <a:t>Design a differential amplifier for a 0.18μm CMOS process, satisfying:</a:t>
            </a:r>
          </a:p>
          <a:p>
            <a:pPr marL="1200150" lvl="2" indent="-285750" algn="just">
              <a:buFont typeface="Arial" panose="020B0604020202020204" pitchFamily="34" charset="0"/>
              <a:buChar char="•"/>
            </a:pPr>
            <a:r>
              <a:rPr lang="en-US" dirty="0">
                <a:latin typeface="fkGroteskNeue"/>
              </a:rPr>
              <a:t>Gain ≈ 10: Achieve sufficient voltage amplification.</a:t>
            </a:r>
          </a:p>
          <a:p>
            <a:pPr marL="1200150" lvl="2" indent="-285750" algn="just">
              <a:buFont typeface="Arial" panose="020B0604020202020204" pitchFamily="34" charset="0"/>
              <a:buChar char="•"/>
            </a:pPr>
            <a:r>
              <a:rPr lang="en-US" dirty="0">
                <a:latin typeface="fkGroteskNeue"/>
              </a:rPr>
              <a:t>Bandwidth ≈ 200 MHz: Meet speed requirement for signal fidelity.</a:t>
            </a:r>
          </a:p>
          <a:p>
            <a:pPr marL="1200150" lvl="2" indent="-285750" algn="just">
              <a:buFont typeface="Arial" panose="020B0604020202020204" pitchFamily="34" charset="0"/>
              <a:buChar char="•"/>
            </a:pPr>
            <a:r>
              <a:rPr lang="en-US" dirty="0">
                <a:latin typeface="fkGroteskNeue"/>
              </a:rPr>
              <a:t>Drive a 1pF load: Realistic capacitive load at output.</a:t>
            </a:r>
          </a:p>
          <a:p>
            <a:pPr marL="1200150" lvl="2" indent="-285750" algn="just">
              <a:buFont typeface="Arial" panose="020B0604020202020204" pitchFamily="34" charset="0"/>
              <a:buChar char="•"/>
            </a:pPr>
            <a:r>
              <a:rPr lang="en-US" dirty="0">
                <a:latin typeface="fkGroteskNeue"/>
              </a:rPr>
              <a:t>Drive from a 3kΩ source: Input impedance and matching constraint.</a:t>
            </a:r>
          </a:p>
          <a:p>
            <a:pPr marL="1200150" lvl="2" indent="-285750" algn="just">
              <a:buFont typeface="Arial" panose="020B0604020202020204" pitchFamily="34" charset="0"/>
              <a:buChar char="•"/>
            </a:pPr>
            <a:r>
              <a:rPr lang="en-US" dirty="0">
                <a:latin typeface="fkGroteskNeue"/>
              </a:rPr>
              <a:t>Lowest possible power: Minimize quiescent current for efficiency.</a:t>
            </a:r>
          </a:p>
          <a:p>
            <a:pPr algn="just"/>
            <a:r>
              <a:rPr lang="en-US" dirty="0">
                <a:latin typeface="fkGroteskNeue"/>
              </a:rPr>
              <a:t>Fundamental principle:</a:t>
            </a:r>
          </a:p>
          <a:p>
            <a:pPr marL="800100" lvl="1" indent="-342900" algn="just">
              <a:buFont typeface="Arial" panose="020B0604020202020204" pitchFamily="34" charset="0"/>
              <a:buChar char="•"/>
            </a:pPr>
            <a:r>
              <a:rPr lang="en-US" dirty="0">
                <a:latin typeface="fkGroteskNeue"/>
              </a:rPr>
              <a:t>Every design problem is defined by a set of functional specifications, often including gain, bandwidth, load conditions, and power. The gm/ID method allows designers to start from these high-level needs.</a:t>
            </a:r>
          </a:p>
          <a:p>
            <a:pPr algn="just"/>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574124639"/>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Design Example </a:t>
            </a:r>
            <a:r>
              <a:rPr lang="en-US" dirty="0" smtClean="0">
                <a:latin typeface="fkGrotesk"/>
              </a:rPr>
              <a:t>Workflow</a:t>
            </a:r>
            <a:endParaRPr lang="en-US" dirty="0"/>
          </a:p>
        </p:txBody>
      </p:sp>
      <p:sp>
        <p:nvSpPr>
          <p:cNvPr id="3" name="Text Placeholder 2"/>
          <p:cNvSpPr>
            <a:spLocks noGrp="1"/>
          </p:cNvSpPr>
          <p:nvPr>
            <p:ph type="body" idx="1"/>
          </p:nvPr>
        </p:nvSpPr>
        <p:spPr>
          <a:xfrm>
            <a:off x="101600" y="1071801"/>
            <a:ext cx="12065000" cy="5478423"/>
          </a:xfrm>
        </p:spPr>
        <p:txBody>
          <a:bodyPr/>
          <a:lstStyle/>
          <a:p>
            <a:pPr algn="l"/>
            <a:r>
              <a:rPr lang="en-US" dirty="0" smtClean="0">
                <a:latin typeface="fkGrotesk"/>
              </a:rPr>
              <a:t>Problem </a:t>
            </a:r>
            <a:r>
              <a:rPr lang="en-US" dirty="0">
                <a:latin typeface="fkGrotesk"/>
              </a:rPr>
              <a:t>Description</a:t>
            </a:r>
          </a:p>
          <a:p>
            <a:pPr algn="l">
              <a:buFont typeface="Arial" panose="020B0604020202020204" pitchFamily="34" charset="0"/>
              <a:buChar char="•"/>
            </a:pPr>
            <a:r>
              <a:rPr lang="en-US" dirty="0">
                <a:latin typeface="fkGroteskNeue"/>
              </a:rPr>
              <a:t>Design a differential amplifier in a 0.18μm process with:</a:t>
            </a:r>
          </a:p>
          <a:p>
            <a:pPr marL="742950" lvl="1" indent="-285750" algn="l">
              <a:buFont typeface="Arial" panose="020B0604020202020204" pitchFamily="34" charset="0"/>
              <a:buChar char="•"/>
            </a:pPr>
            <a:r>
              <a:rPr lang="en-US" dirty="0">
                <a:latin typeface="fkGroteskNeue"/>
              </a:rPr>
              <a:t>Gain ≈ 10</a:t>
            </a:r>
          </a:p>
          <a:p>
            <a:pPr marL="742950" lvl="1" indent="-285750" algn="l">
              <a:buFont typeface="Arial" panose="020B0604020202020204" pitchFamily="34" charset="0"/>
              <a:buChar char="•"/>
            </a:pPr>
            <a:r>
              <a:rPr lang="en-US" dirty="0">
                <a:latin typeface="fkGroteskNeue"/>
              </a:rPr>
              <a:t>Bandwidth ≈ 200 MHz</a:t>
            </a:r>
          </a:p>
          <a:p>
            <a:pPr marL="742950" lvl="1" indent="-285750" algn="l">
              <a:buFont typeface="Arial" panose="020B0604020202020204" pitchFamily="34" charset="0"/>
              <a:buChar char="•"/>
            </a:pPr>
            <a:r>
              <a:rPr lang="en-US" dirty="0">
                <a:latin typeface="fkGroteskNeue"/>
              </a:rPr>
              <a:t>Load ≈ 1pF</a:t>
            </a:r>
          </a:p>
          <a:p>
            <a:pPr marL="742950" lvl="1" indent="-285750" algn="l">
              <a:buFont typeface="Arial" panose="020B0604020202020204" pitchFamily="34" charset="0"/>
              <a:buChar char="•"/>
            </a:pPr>
            <a:r>
              <a:rPr lang="en-US" dirty="0">
                <a:latin typeface="fkGroteskNeue"/>
              </a:rPr>
              <a:t>Source ≈ 3kΩ</a:t>
            </a:r>
          </a:p>
          <a:p>
            <a:pPr marL="742950" lvl="1" indent="-285750" algn="l">
              <a:buFont typeface="Arial" panose="020B0604020202020204" pitchFamily="34" charset="0"/>
              <a:buChar char="•"/>
            </a:pPr>
            <a:r>
              <a:rPr lang="en-US" dirty="0">
                <a:latin typeface="fkGroteskNeue"/>
              </a:rPr>
              <a:t>Lowest possible power</a:t>
            </a:r>
          </a:p>
          <a:p>
            <a:pPr algn="l"/>
            <a:r>
              <a:rPr lang="en-US" dirty="0">
                <a:latin typeface="fkGrotesk"/>
              </a:rPr>
              <a:t>Stepwise Design Flow</a:t>
            </a:r>
          </a:p>
          <a:p>
            <a:pPr algn="l">
              <a:buFont typeface="+mj-lt"/>
              <a:buAutoNum type="arabicPeriod"/>
            </a:pPr>
            <a:r>
              <a:rPr lang="en-US" dirty="0">
                <a:latin typeface="fkGroteskNeue"/>
              </a:rPr>
              <a:t>Characterize Technology:</a:t>
            </a:r>
          </a:p>
          <a:p>
            <a:pPr marL="742950" lvl="1" indent="-285750" algn="l">
              <a:buFont typeface="+mj-lt"/>
              <a:buAutoNum type="arabicPeriod"/>
            </a:pPr>
            <a:r>
              <a:rPr lang="en-US" dirty="0">
                <a:latin typeface="fkGroteskNeue"/>
              </a:rPr>
              <a:t>Run SPICE sweeps for W, L; collect data for gm, gm/ID, </a:t>
            </a:r>
            <a:r>
              <a:rPr lang="en-US" dirty="0" err="1">
                <a:latin typeface="fkGroteskNeue"/>
              </a:rPr>
              <a:t>fT</a:t>
            </a:r>
            <a:r>
              <a:rPr lang="en-US" dirty="0">
                <a:latin typeface="fkGroteskNeue"/>
              </a:rPr>
              <a:t>, </a:t>
            </a:r>
            <a:r>
              <a:rPr lang="en-US" dirty="0" err="1">
                <a:latin typeface="fkGroteskNeue"/>
              </a:rPr>
              <a:t>ro</a:t>
            </a:r>
            <a:r>
              <a:rPr lang="en-US" dirty="0">
                <a:latin typeface="fkGroteskNeue"/>
              </a:rPr>
              <a:t>, </a:t>
            </a:r>
            <a:r>
              <a:rPr lang="en-US" dirty="0" err="1">
                <a:latin typeface="fkGroteskNeue"/>
              </a:rPr>
              <a:t>Cgs</a:t>
            </a:r>
            <a:r>
              <a:rPr lang="en-US" dirty="0">
                <a:latin typeface="fkGroteskNeue"/>
              </a:rPr>
              <a:t>.</a:t>
            </a:r>
          </a:p>
          <a:p>
            <a:pPr marL="742950" lvl="1" indent="-285750" algn="l">
              <a:buFont typeface="+mj-lt"/>
              <a:buAutoNum type="arabicPeriod"/>
            </a:pPr>
            <a:r>
              <a:rPr lang="en-US" dirty="0">
                <a:latin typeface="fkGroteskNeue"/>
              </a:rPr>
              <a:t>Create process-specific design charts.</a:t>
            </a:r>
          </a:p>
          <a:p>
            <a:pPr algn="l">
              <a:buFont typeface="+mj-lt"/>
              <a:buAutoNum type="arabicPeriod"/>
            </a:pPr>
            <a:r>
              <a:rPr lang="en-US" dirty="0">
                <a:latin typeface="fkGroteskNeue"/>
              </a:rPr>
              <a:t>Pick gm/ID and L from charts based on design goals:</a:t>
            </a:r>
          </a:p>
          <a:p>
            <a:pPr marL="742950" lvl="1" indent="-285750" algn="l">
              <a:buFont typeface="+mj-lt"/>
              <a:buAutoNum type="arabicPeriod"/>
            </a:pPr>
            <a:r>
              <a:rPr lang="en-US" dirty="0">
                <a:latin typeface="fkGroteskNeue"/>
              </a:rPr>
              <a:t>Gain and speed requirements map to minimum intrinsic gain and </a:t>
            </a:r>
            <a:r>
              <a:rPr lang="en-US" dirty="0" err="1">
                <a:latin typeface="fkGroteskNeue"/>
              </a:rPr>
              <a:t>fT.</a:t>
            </a:r>
            <a:endParaRPr lang="en-US" dirty="0">
              <a:latin typeface="fkGroteskNeue"/>
            </a:endParaRPr>
          </a:p>
          <a:p>
            <a:pPr marL="742950" lvl="1" indent="-285750" algn="l">
              <a:buFont typeface="+mj-lt"/>
              <a:buAutoNum type="arabicPeriod"/>
            </a:pPr>
            <a:r>
              <a:rPr lang="en-US" dirty="0">
                <a:latin typeface="fkGroteskNeue"/>
              </a:rPr>
              <a:t>gm/ID chosen for optimal speed/efficiency tradeoff, L chosen for stability and gain.</a:t>
            </a:r>
          </a:p>
          <a:p>
            <a:pPr algn="l">
              <a:buFont typeface="+mj-lt"/>
              <a:buAutoNum type="arabicPeriod"/>
            </a:pPr>
            <a:r>
              <a:rPr lang="en-US" dirty="0">
                <a:latin typeface="fkGroteskNeue"/>
              </a:rPr>
              <a:t>Determine bias current and W:</a:t>
            </a:r>
          </a:p>
          <a:p>
            <a:pPr marL="742950" lvl="1" indent="-285750" algn="l">
              <a:buFont typeface="+mj-lt"/>
              <a:buAutoNum type="arabicPeriod"/>
            </a:pPr>
            <a:r>
              <a:rPr lang="en-US" dirty="0">
                <a:latin typeface="fkGroteskNeue"/>
              </a:rPr>
              <a:t>Refer to biasing chart (W for required gm/ID, L, I_D).</a:t>
            </a:r>
          </a:p>
          <a:p>
            <a:pPr marL="742950" lvl="1" indent="-285750" algn="l">
              <a:buFont typeface="+mj-lt"/>
              <a:buAutoNum type="arabicPeriod"/>
            </a:pPr>
            <a:r>
              <a:rPr lang="en-US" dirty="0">
                <a:latin typeface="fkGroteskNeue"/>
              </a:rPr>
              <a:t>Use pre-generated charts to pull all sizing info—no repeated trial-and-error SPICE runs.</a:t>
            </a:r>
          </a:p>
          <a:p>
            <a:pPr algn="l">
              <a:buFont typeface="+mj-lt"/>
              <a:buAutoNum type="arabicPeriod"/>
            </a:pPr>
            <a:r>
              <a:rPr lang="en-US" dirty="0">
                <a:latin typeface="fkGroteskNeue"/>
              </a:rPr>
              <a:t>Final sizing and validation:</a:t>
            </a:r>
          </a:p>
          <a:p>
            <a:pPr marL="742950" lvl="1" indent="-285750" algn="l">
              <a:buFont typeface="+mj-lt"/>
              <a:buAutoNum type="arabicPeriod"/>
            </a:pPr>
            <a:r>
              <a:rPr lang="en-US" dirty="0">
                <a:latin typeface="fkGroteskNeue"/>
              </a:rPr>
              <a:t>Use the charts for all intermediate decisions; only minor tweaks at SPICE verification stage</a:t>
            </a:r>
            <a:r>
              <a:rPr lang="en-US" dirty="0" smtClean="0">
                <a:latin typeface="fkGroteskNeue"/>
              </a:rPr>
              <a:t>.</a:t>
            </a:r>
            <a:endParaRPr lang="en-US" dirty="0">
              <a:latin typeface="fkGroteskNeue"/>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883399079"/>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Why This Is </a:t>
            </a:r>
            <a:r>
              <a:rPr lang="en-US" dirty="0" smtClean="0">
                <a:latin typeface="fkGrotesk"/>
              </a:rPr>
              <a:t>Powerful</a:t>
            </a:r>
            <a:endParaRPr lang="en-US" dirty="0"/>
          </a:p>
        </p:txBody>
      </p:sp>
      <p:sp>
        <p:nvSpPr>
          <p:cNvPr id="3" name="Text Placeholder 2"/>
          <p:cNvSpPr>
            <a:spLocks noGrp="1"/>
          </p:cNvSpPr>
          <p:nvPr>
            <p:ph type="body" idx="1"/>
          </p:nvPr>
        </p:nvSpPr>
        <p:spPr>
          <a:xfrm>
            <a:off x="844550" y="1327353"/>
            <a:ext cx="10979150" cy="2154436"/>
          </a:xfrm>
        </p:spPr>
        <p:txBody>
          <a:bodyPr/>
          <a:lstStyle/>
          <a:p>
            <a:pPr marL="342900" indent="-342900" algn="l">
              <a:buFont typeface="Arial" panose="020B0604020202020204" pitchFamily="34" charset="0"/>
              <a:buChar char="•"/>
            </a:pPr>
            <a:r>
              <a:rPr lang="en-US" dirty="0" smtClean="0">
                <a:latin typeface="fkGroteskNeue"/>
              </a:rPr>
              <a:t>The </a:t>
            </a:r>
            <a:r>
              <a:rPr lang="en-US" dirty="0">
                <a:latin typeface="fkGroteskNeue"/>
              </a:rPr>
              <a:t>methodology transforms ambiguous sizing problems into a systematic search guided by actual process data.</a:t>
            </a:r>
          </a:p>
          <a:p>
            <a:pPr marL="342900" indent="-342900" algn="l">
              <a:buFont typeface="Arial" panose="020B0604020202020204" pitchFamily="34" charset="0"/>
              <a:buChar char="•"/>
            </a:pPr>
            <a:r>
              <a:rPr lang="en-US" dirty="0">
                <a:latin typeface="fkGroteskNeue"/>
              </a:rPr>
              <a:t>Designers make confident, architecture-level choices “top-down”, then use gm/ID charts to lock down device-level details.</a:t>
            </a:r>
          </a:p>
          <a:p>
            <a:pPr marL="342900" indent="-342900" algn="l">
              <a:buFont typeface="Arial" panose="020B0604020202020204" pitchFamily="34" charset="0"/>
              <a:buChar char="•"/>
            </a:pPr>
            <a:r>
              <a:rPr lang="en-US" dirty="0">
                <a:latin typeface="fkGroteskNeue"/>
              </a:rPr>
              <a:t>This approach yields highly accurate, efficient, and process-aware analog circuits—even for challenging specs—while minimizing wasted simulation cycles and guesswork.</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409156940"/>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Technology Characterization Using </a:t>
            </a:r>
            <a:r>
              <a:rPr lang="en-US" dirty="0" smtClean="0">
                <a:latin typeface="fkGrotesk"/>
              </a:rPr>
              <a:t>Simulation</a:t>
            </a:r>
            <a:endParaRPr lang="en-US" dirty="0"/>
          </a:p>
        </p:txBody>
      </p:sp>
      <p:sp>
        <p:nvSpPr>
          <p:cNvPr id="3" name="Text Placeholder 2"/>
          <p:cNvSpPr>
            <a:spLocks noGrp="1"/>
          </p:cNvSpPr>
          <p:nvPr>
            <p:ph type="body" idx="1"/>
          </p:nvPr>
        </p:nvSpPr>
        <p:spPr>
          <a:xfrm>
            <a:off x="680920" y="1240725"/>
            <a:ext cx="11071526" cy="2862322"/>
          </a:xfrm>
        </p:spPr>
        <p:txBody>
          <a:bodyPr/>
          <a:lstStyle/>
          <a:p>
            <a:pPr marL="342900" indent="-342900" algn="l">
              <a:buFont typeface="Arial" panose="020B0604020202020204" pitchFamily="34" charset="0"/>
              <a:buChar char="•"/>
            </a:pPr>
            <a:r>
              <a:rPr lang="en-US" dirty="0" smtClean="0">
                <a:latin typeface="fkGroteskNeue"/>
              </a:rPr>
              <a:t>Step </a:t>
            </a:r>
            <a:r>
              <a:rPr lang="en-US" dirty="0">
                <a:latin typeface="fkGroteskNeue"/>
              </a:rPr>
              <a:t>1: "Characterize the process"</a:t>
            </a:r>
          </a:p>
          <a:p>
            <a:pPr marL="742950" lvl="1" indent="-285750" algn="l">
              <a:buFont typeface="Arial" panose="020B0604020202020204" pitchFamily="34" charset="0"/>
              <a:buChar char="•"/>
            </a:pPr>
            <a:r>
              <a:rPr lang="en-US" dirty="0">
                <a:latin typeface="fkGroteskNeue"/>
              </a:rPr>
              <a:t>Sweep gate voltage for several channel lengths.</a:t>
            </a:r>
          </a:p>
          <a:p>
            <a:pPr marL="742950" lvl="1" indent="-285750" algn="l">
              <a:buFont typeface="Arial" panose="020B0604020202020204" pitchFamily="34" charset="0"/>
              <a:buChar char="•"/>
            </a:pPr>
            <a:r>
              <a:rPr lang="en-US" dirty="0">
                <a:latin typeface="fkGroteskNeue"/>
              </a:rPr>
              <a:t>Probe gm, </a:t>
            </a:r>
            <a:r>
              <a:rPr lang="en-US" dirty="0" err="1">
                <a:latin typeface="fkGroteskNeue"/>
              </a:rPr>
              <a:t>fT</a:t>
            </a:r>
            <a:r>
              <a:rPr lang="en-US" dirty="0">
                <a:latin typeface="fkGroteskNeue"/>
              </a:rPr>
              <a:t>, gm/ID, </a:t>
            </a:r>
            <a:r>
              <a:rPr lang="en-US" dirty="0" err="1">
                <a:latin typeface="fkGroteskNeue"/>
              </a:rPr>
              <a:t>gm·ro</a:t>
            </a:r>
            <a:r>
              <a:rPr lang="en-US" dirty="0">
                <a:latin typeface="fkGroteskNeue"/>
              </a:rPr>
              <a:t>, </a:t>
            </a:r>
            <a:r>
              <a:rPr lang="en-US" dirty="0" err="1">
                <a:latin typeface="fkGroteskNeue"/>
              </a:rPr>
              <a:t>Cgs</a:t>
            </a:r>
            <a:r>
              <a:rPr lang="en-US" dirty="0">
                <a:latin typeface="fkGroteskNeue"/>
              </a:rPr>
              <a:t> for each point.</a:t>
            </a:r>
          </a:p>
          <a:p>
            <a:pPr marL="742950" lvl="1" indent="-285750" algn="l">
              <a:buFont typeface="Arial" panose="020B0604020202020204" pitchFamily="34" charset="0"/>
              <a:buChar char="•"/>
            </a:pPr>
            <a:r>
              <a:rPr lang="en-US" dirty="0">
                <a:latin typeface="fkGroteskNeue"/>
              </a:rPr>
              <a:t>Use small </a:t>
            </a:r>
            <a:r>
              <a:rPr lang="en-US" dirty="0" err="1">
                <a:latin typeface="fkGroteskNeue"/>
              </a:rPr>
              <a:t>testbenches</a:t>
            </a:r>
            <a:r>
              <a:rPr lang="en-US" dirty="0">
                <a:latin typeface="fkGroteskNeue"/>
              </a:rPr>
              <a:t> in SPICE (provided probe commands automate the measurement).</a:t>
            </a:r>
          </a:p>
          <a:p>
            <a:pPr marL="342900" indent="-342900" algn="l">
              <a:buFont typeface="Arial" panose="020B0604020202020204" pitchFamily="34" charset="0"/>
              <a:buChar char="•"/>
            </a:pPr>
            <a:r>
              <a:rPr lang="en-US" dirty="0">
                <a:latin typeface="fkGroteskNeue"/>
              </a:rPr>
              <a:t>Step 2: Compile results into technology charts</a:t>
            </a:r>
          </a:p>
          <a:p>
            <a:pPr marL="742950" lvl="1" indent="-285750" algn="l">
              <a:buFont typeface="Arial" panose="020B0604020202020204" pitchFamily="34" charset="0"/>
              <a:buChar char="•"/>
            </a:pPr>
            <a:r>
              <a:rPr lang="en-US" dirty="0">
                <a:latin typeface="fkGroteskNeue"/>
              </a:rPr>
              <a:t>Utilize </a:t>
            </a:r>
            <a:r>
              <a:rPr lang="en-US" dirty="0" err="1">
                <a:latin typeface="fkGroteskNeue"/>
              </a:rPr>
              <a:t>Matlab</a:t>
            </a:r>
            <a:r>
              <a:rPr lang="en-US" dirty="0">
                <a:latin typeface="fkGroteskNeue"/>
              </a:rPr>
              <a:t> or equivalent plotting tools to read the data and generate curves like those in Figs. 16, 19, and 20.</a:t>
            </a:r>
          </a:p>
          <a:p>
            <a:pPr marL="742950" lvl="1" indent="-285750" algn="l">
              <a:buFont typeface="Arial" panose="020B0604020202020204" pitchFamily="34" charset="0"/>
              <a:buChar char="•"/>
            </a:pPr>
            <a:r>
              <a:rPr lang="en-US" dirty="0">
                <a:latin typeface="fkGroteskNeue"/>
              </a:rPr>
              <a:t>Refer to these charts for every later design decision: picking gm/ID, L, estimating gain, bandwidth, and final sizing.</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164</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914399" y="3654372"/>
            <a:ext cx="3550775" cy="3114248"/>
          </a:xfrm>
          <a:prstGeom prst="rect">
            <a:avLst/>
          </a:prstGeom>
        </p:spPr>
      </p:pic>
      <p:pic>
        <p:nvPicPr>
          <p:cNvPr id="10" name="Picture 9"/>
          <p:cNvPicPr>
            <a:picLocks noChangeAspect="1"/>
          </p:cNvPicPr>
          <p:nvPr/>
        </p:nvPicPr>
        <p:blipFill>
          <a:blip r:embed="rId3"/>
          <a:stretch>
            <a:fillRect/>
          </a:stretch>
        </p:blipFill>
        <p:spPr>
          <a:xfrm>
            <a:off x="4543873" y="3724997"/>
            <a:ext cx="3494885" cy="3133003"/>
          </a:xfrm>
          <a:prstGeom prst="rect">
            <a:avLst/>
          </a:prstGeom>
        </p:spPr>
      </p:pic>
      <p:pic>
        <p:nvPicPr>
          <p:cNvPr id="11" name="Picture 10"/>
          <p:cNvPicPr>
            <a:picLocks noChangeAspect="1"/>
          </p:cNvPicPr>
          <p:nvPr/>
        </p:nvPicPr>
        <p:blipFill>
          <a:blip r:embed="rId4"/>
          <a:stretch>
            <a:fillRect/>
          </a:stretch>
        </p:blipFill>
        <p:spPr>
          <a:xfrm>
            <a:off x="8407400" y="3484454"/>
            <a:ext cx="3683000" cy="3373546"/>
          </a:xfrm>
          <a:prstGeom prst="rect">
            <a:avLst/>
          </a:prstGeom>
        </p:spPr>
      </p:pic>
    </p:spTree>
    <p:extLst>
      <p:ext uri="{BB962C8B-B14F-4D97-AF65-F5344CB8AC3E}">
        <p14:creationId xmlns:p14="http://schemas.microsoft.com/office/powerpoint/2010/main" val="1227688794"/>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1156950" cy="3447098"/>
          </a:xfrm>
        </p:spPr>
        <p:txBody>
          <a:bodyPr/>
          <a:lstStyle/>
          <a:p>
            <a:pPr algn="l"/>
            <a:r>
              <a:rPr lang="en-US" dirty="0">
                <a:latin typeface="fkGroteskNeue"/>
              </a:rPr>
              <a:t>Key insight:</a:t>
            </a:r>
          </a:p>
          <a:p>
            <a:pPr marL="800100" lvl="1" indent="-342900" algn="l">
              <a:buFont typeface="Arial" panose="020B0604020202020204" pitchFamily="34" charset="0"/>
              <a:buChar char="•"/>
            </a:pPr>
            <a:r>
              <a:rPr lang="en-US" dirty="0">
                <a:latin typeface="fkGroteskNeue"/>
              </a:rPr>
              <a:t>This process ensures designs are based on actual device physics, including all second-order effects present in the foundry SPICE deck.</a:t>
            </a:r>
          </a:p>
          <a:p>
            <a:pPr marL="800100" lvl="1" indent="-342900" algn="l">
              <a:buFont typeface="Arial" panose="020B0604020202020204" pitchFamily="34" charset="0"/>
              <a:buChar char="•"/>
            </a:pPr>
            <a:r>
              <a:rPr lang="en-US" dirty="0">
                <a:latin typeface="fkGroteskNeue"/>
              </a:rPr>
              <a:t>The charts become a "lookup table" referenced throughout the synthesis process, minimizing guesswork.</a:t>
            </a:r>
          </a:p>
          <a:p>
            <a:pPr algn="l"/>
            <a:r>
              <a:rPr lang="en-US" dirty="0">
                <a:latin typeface="fkGrotesk"/>
              </a:rPr>
              <a:t>Why This Matters</a:t>
            </a:r>
          </a:p>
          <a:p>
            <a:pPr algn="l">
              <a:buFont typeface="Arial" panose="020B0604020202020204" pitchFamily="34" charset="0"/>
              <a:buChar char="•"/>
            </a:pPr>
            <a:r>
              <a:rPr lang="en-US" dirty="0">
                <a:latin typeface="fkGroteskNeue"/>
              </a:rPr>
              <a:t>With these charts, the analog designer can directly answer, with confidence:</a:t>
            </a:r>
          </a:p>
          <a:p>
            <a:pPr marL="1200150" lvl="2" indent="-285750" algn="l">
              <a:buFont typeface="Arial" panose="020B0604020202020204" pitchFamily="34" charset="0"/>
              <a:buChar char="•"/>
            </a:pPr>
            <a:r>
              <a:rPr lang="en-US" dirty="0">
                <a:latin typeface="fkGroteskNeue"/>
              </a:rPr>
              <a:t>What is the minimum channel length and gm/ID needed for the target gain?</a:t>
            </a:r>
          </a:p>
          <a:p>
            <a:pPr marL="1200150" lvl="2" indent="-285750" algn="l">
              <a:buFont typeface="Arial" panose="020B0604020202020204" pitchFamily="34" charset="0"/>
              <a:buChar char="•"/>
            </a:pPr>
            <a:r>
              <a:rPr lang="en-US" dirty="0">
                <a:latin typeface="fkGroteskNeue"/>
              </a:rPr>
              <a:t>Is the desired gain possible within process limits?</a:t>
            </a:r>
          </a:p>
          <a:p>
            <a:pPr marL="1200150" lvl="2" indent="-285750" algn="l">
              <a:buFont typeface="Arial" panose="020B0604020202020204" pitchFamily="34" charset="0"/>
              <a:buChar char="•"/>
            </a:pPr>
            <a:r>
              <a:rPr lang="en-US" dirty="0">
                <a:latin typeface="fkGroteskNeue"/>
              </a:rPr>
              <a:t>What bias current and device width are needed for the chosen operating point?</a:t>
            </a:r>
          </a:p>
          <a:p>
            <a:pPr marL="800100" lvl="1" indent="-342900" algn="l">
              <a:buFont typeface="Arial" panose="020B0604020202020204" pitchFamily="34" charset="0"/>
              <a:buChar char="•"/>
            </a:pPr>
            <a:r>
              <a:rPr lang="en-US" dirty="0">
                <a:latin typeface="fkGroteskNeue"/>
              </a:rPr>
              <a:t>All computation is grounded in empirical or simulation data, not theoretical approximations.</a:t>
            </a:r>
          </a:p>
          <a:p>
            <a:endParaRPr lang="en-US" dirty="0"/>
          </a:p>
        </p:txBody>
      </p:sp>
      <p:sp>
        <p:nvSpPr>
          <p:cNvPr id="4" name="Footer Placeholder 3"/>
          <p:cNvSpPr>
            <a:spLocks noGrp="1"/>
          </p:cNvSpPr>
          <p:nvPr>
            <p:ph type="ftr" sz="quarter" idx="5"/>
          </p:nvPr>
        </p:nvSpPr>
        <p:spPr>
          <a:xfrm>
            <a:off x="5506210" y="6594291"/>
            <a:ext cx="2037589" cy="2637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0" y="6646417"/>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165</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
        <p:nvSpPr>
          <p:cNvPr id="7" name="Rectangle 6"/>
          <p:cNvSpPr/>
          <p:nvPr/>
        </p:nvSpPr>
        <p:spPr>
          <a:xfrm>
            <a:off x="431800" y="4564440"/>
            <a:ext cx="11226800" cy="1754326"/>
          </a:xfrm>
          <a:prstGeom prst="rect">
            <a:avLst/>
          </a:prstGeom>
        </p:spPr>
        <p:txBody>
          <a:bodyPr wrap="square">
            <a:spAutoFit/>
          </a:bodyPr>
          <a:lstStyle/>
          <a:p>
            <a:r>
              <a:rPr lang="en-US" b="0" i="0" dirty="0" smtClean="0">
                <a:effectLst/>
                <a:latin typeface="fkGroteskNeue"/>
              </a:rPr>
              <a:t>In summary:</a:t>
            </a:r>
            <a:r>
              <a:rPr lang="en-US" dirty="0" smtClean="0"/>
              <a:t/>
            </a:r>
            <a:br>
              <a:rPr lang="en-US" dirty="0" smtClean="0"/>
            </a:br>
            <a:r>
              <a:rPr lang="en-US" b="0" i="0" dirty="0" smtClean="0">
                <a:effectLst/>
                <a:latin typeface="fkGroteskNeue"/>
              </a:rPr>
              <a:t>The gm/ID design methodology begins by constructing detailed technology characterization charts from SPICE simulation. These charts translate system requirements into device-level choices, guiding designers through optimized and physically accurate sizing and biasing. This process forms the foundation for precise, robust analog designs in modern </a:t>
            </a:r>
            <a:r>
              <a:rPr lang="en-US" b="0" i="0" dirty="0" err="1" smtClean="0">
                <a:effectLst/>
                <a:latin typeface="fkGroteskNeue"/>
              </a:rPr>
              <a:t>CMOS.Here</a:t>
            </a:r>
            <a:r>
              <a:rPr lang="en-US" b="0" i="0" dirty="0" smtClean="0">
                <a:effectLst/>
                <a:latin typeface="fkGroteskNeue"/>
              </a:rPr>
              <a:t> is a detailed, intuitive explanation connecting the creation of gm/ID-based design charts to the practical top-to-bottom design flow for analog CMOS amplifiers.</a:t>
            </a:r>
            <a:endParaRPr lang="en-US" dirty="0"/>
          </a:p>
        </p:txBody>
      </p:sp>
    </p:spTree>
    <p:extLst>
      <p:ext uri="{BB962C8B-B14F-4D97-AF65-F5344CB8AC3E}">
        <p14:creationId xmlns:p14="http://schemas.microsoft.com/office/powerpoint/2010/main" val="1833843999"/>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smtClean="0"/>
              <a:t>Design Steps</a:t>
            </a:r>
            <a:endParaRPr lang="en-US" dirty="0"/>
          </a:p>
        </p:txBody>
      </p:sp>
      <p:sp>
        <p:nvSpPr>
          <p:cNvPr id="3" name="Text Placeholder 2"/>
          <p:cNvSpPr>
            <a:spLocks noGrp="1"/>
          </p:cNvSpPr>
          <p:nvPr>
            <p:ph type="body" idx="1"/>
          </p:nvPr>
        </p:nvSpPr>
        <p:spPr>
          <a:xfrm>
            <a:off x="844550" y="1327353"/>
            <a:ext cx="6559550" cy="4924425"/>
          </a:xfrm>
        </p:spPr>
        <p:txBody>
          <a:bodyPr/>
          <a:lstStyle/>
          <a:p>
            <a:pPr algn="l"/>
            <a:r>
              <a:rPr lang="en-US" dirty="0">
                <a:latin typeface="fkGrotesk"/>
              </a:rPr>
              <a:t>Step 1: Choose the Topology</a:t>
            </a:r>
          </a:p>
          <a:p>
            <a:pPr marL="800100" lvl="1" indent="-342900" algn="just">
              <a:buFont typeface="Arial" panose="020B0604020202020204" pitchFamily="34" charset="0"/>
              <a:buChar char="•"/>
            </a:pPr>
            <a:r>
              <a:rPr lang="en-US" sz="2000" dirty="0" smtClean="0">
                <a:latin typeface="fkGroteskNeue"/>
              </a:rPr>
              <a:t>Figure</a:t>
            </a:r>
            <a:r>
              <a:rPr lang="en-US" sz="2000" dirty="0">
                <a:latin typeface="fkGroteskNeue"/>
              </a:rPr>
              <a:t> displays a classic differential amplifier with resistive loads and a 1pF output load capacitor.</a:t>
            </a:r>
          </a:p>
          <a:p>
            <a:pPr marL="800100" lvl="1" indent="-342900" algn="just">
              <a:buFont typeface="Arial" panose="020B0604020202020204" pitchFamily="34" charset="0"/>
              <a:buChar char="•"/>
            </a:pPr>
            <a:r>
              <a:rPr lang="en-US" sz="2000" dirty="0">
                <a:latin typeface="fkGroteskNeue"/>
              </a:rPr>
              <a:t>The design begins by determining if this topology can achieve the required gain (~10) and speed (~200 MHz).</a:t>
            </a:r>
          </a:p>
          <a:p>
            <a:pPr marL="800100" lvl="1" indent="-342900" algn="just">
              <a:buFont typeface="Arial" panose="020B0604020202020204" pitchFamily="34" charset="0"/>
              <a:buChar char="•"/>
            </a:pPr>
            <a:r>
              <a:rPr lang="en-US" sz="2000" dirty="0">
                <a:latin typeface="fkGroteskNeue"/>
              </a:rPr>
              <a:t>Using intrinsic gain charts (such as Fig. 19), the designer recognizes the need to avoid minimum channel length for better intrinsic gain, settling on </a:t>
            </a:r>
            <a:r>
              <a:rPr lang="en-US" sz="2000" dirty="0">
                <a:latin typeface="KaTeX_Main"/>
              </a:rPr>
              <a:t>L=0.22μm</a:t>
            </a:r>
            <a:r>
              <a:rPr lang="en-US" sz="2000" i="1" dirty="0">
                <a:latin typeface="KaTeX_Math"/>
              </a:rPr>
              <a:t>L</a:t>
            </a:r>
            <a:r>
              <a:rPr lang="en-US" sz="2000" dirty="0">
                <a:latin typeface="KaTeX_Main"/>
              </a:rPr>
              <a:t>=0.22</a:t>
            </a:r>
            <a:r>
              <a:rPr lang="en-US" sz="2000" i="1" dirty="0">
                <a:latin typeface="KaTeX_Math"/>
              </a:rPr>
              <a:t>μm</a:t>
            </a:r>
            <a:r>
              <a:rPr lang="en-US" sz="2000" dirty="0">
                <a:latin typeface="fkGroteskNeue"/>
              </a:rPr>
              <a:t>.</a:t>
            </a:r>
          </a:p>
          <a:p>
            <a:pPr marL="800100" lvl="1" indent="-342900" algn="just">
              <a:buFont typeface="Arial" panose="020B0604020202020204" pitchFamily="34" charset="0"/>
              <a:buChar char="•"/>
            </a:pPr>
            <a:r>
              <a:rPr lang="en-US" sz="2000" dirty="0">
                <a:latin typeface="fkGroteskNeue"/>
              </a:rPr>
              <a:t>Set L and calculate R:</a:t>
            </a:r>
          </a:p>
          <a:p>
            <a:pPr marL="1200150" lvl="2" indent="-285750" algn="just">
              <a:buFont typeface="Arial" panose="020B0604020202020204" pitchFamily="34" charset="0"/>
              <a:buChar char="•"/>
            </a:pPr>
            <a:r>
              <a:rPr lang="en-US" sz="2000" dirty="0">
                <a:latin typeface="fkGroteskNeue"/>
              </a:rPr>
              <a:t>Restrict L for gain headroom; with chosen L, set R to create the maximum allowable dominant pole:</a:t>
            </a:r>
          </a:p>
          <a:p>
            <a:endParaRPr lang="en-US" dirty="0" smtClean="0"/>
          </a:p>
          <a:p>
            <a:endParaRPr lang="en-US" dirty="0"/>
          </a:p>
        </p:txBody>
      </p:sp>
      <p:sp>
        <p:nvSpPr>
          <p:cNvPr id="4" name="Footer Placeholder 3"/>
          <p:cNvSpPr>
            <a:spLocks noGrp="1"/>
          </p:cNvSpPr>
          <p:nvPr>
            <p:ph type="ftr" sz="quarter" idx="5"/>
          </p:nvPr>
        </p:nvSpPr>
        <p:spPr>
          <a:xfrm>
            <a:off x="5544310" y="6657791"/>
            <a:ext cx="1402589" cy="200209"/>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AAMD BITs </a:t>
            </a:r>
            <a:r>
              <a:rPr kumimoji="0" lang="en-US" sz="1200" b="0" i="0" u="none" strike="noStrike" kern="0" cap="none" spc="0" normalizeH="0" baseline="0" noProof="0" dirty="0" err="1" smtClean="0">
                <a:ln>
                  <a:noFill/>
                </a:ln>
                <a:solidFill>
                  <a:prstClr val="black"/>
                </a:solidFill>
                <a:effectLst/>
                <a:uLnTx/>
                <a:uFillTx/>
                <a:latin typeface="Verdana"/>
                <a:ea typeface="+mn-ea"/>
              </a:rPr>
              <a:t>Pilani</a:t>
            </a:r>
            <a:r>
              <a:rPr kumimoji="0" lang="en-US" sz="1200" b="0" i="0" u="none" strike="noStrike" kern="0" cap="none" spc="0" normalizeH="0" baseline="0" noProof="0" dirty="0" smtClean="0">
                <a:ln>
                  <a:noFill/>
                </a:ln>
                <a:solidFill>
                  <a:prstClr val="black"/>
                </a:solidFill>
                <a:effectLst/>
                <a:uLnTx/>
                <a:uFillTx/>
                <a:latin typeface="Verdana"/>
                <a:ea typeface="+mn-ea"/>
              </a:rPr>
              <a:t>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a:xfrm>
            <a:off x="256794" y="6504628"/>
            <a:ext cx="1085214" cy="211583"/>
          </a:xfrm>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dirty="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166</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10" name="Picture 9"/>
          <p:cNvPicPr>
            <a:picLocks noChangeAspect="1"/>
          </p:cNvPicPr>
          <p:nvPr/>
        </p:nvPicPr>
        <p:blipFill>
          <a:blip r:embed="rId2"/>
          <a:stretch>
            <a:fillRect/>
          </a:stretch>
        </p:blipFill>
        <p:spPr>
          <a:xfrm>
            <a:off x="2711383" y="5746736"/>
            <a:ext cx="2578233" cy="520727"/>
          </a:xfrm>
          <a:prstGeom prst="rect">
            <a:avLst/>
          </a:prstGeom>
        </p:spPr>
      </p:pic>
      <p:pic>
        <p:nvPicPr>
          <p:cNvPr id="11" name="Picture 10"/>
          <p:cNvPicPr>
            <a:picLocks noChangeAspect="1"/>
          </p:cNvPicPr>
          <p:nvPr/>
        </p:nvPicPr>
        <p:blipFill>
          <a:blip r:embed="rId3"/>
          <a:stretch>
            <a:fillRect/>
          </a:stretch>
        </p:blipFill>
        <p:spPr>
          <a:xfrm>
            <a:off x="7781856" y="1184234"/>
            <a:ext cx="3826098" cy="2244766"/>
          </a:xfrm>
          <a:prstGeom prst="rect">
            <a:avLst/>
          </a:prstGeom>
        </p:spPr>
      </p:pic>
      <p:sp>
        <p:nvSpPr>
          <p:cNvPr id="12" name="Rectangle 11"/>
          <p:cNvSpPr/>
          <p:nvPr/>
        </p:nvSpPr>
        <p:spPr>
          <a:xfrm>
            <a:off x="8103539" y="3534490"/>
            <a:ext cx="4349268" cy="338554"/>
          </a:xfrm>
          <a:prstGeom prst="rect">
            <a:avLst/>
          </a:prstGeom>
        </p:spPr>
        <p:txBody>
          <a:bodyPr wrap="none">
            <a:spAutoFit/>
          </a:bodyPr>
          <a:lstStyle/>
          <a:p>
            <a:r>
              <a:rPr lang="en-US" sz="1600" b="1" i="0" u="none" strike="noStrike" baseline="0" dirty="0" smtClean="0">
                <a:solidFill>
                  <a:srgbClr val="00B050"/>
                </a:solidFill>
                <a:latin typeface="CMR10"/>
              </a:rPr>
              <a:t>Potential topology for our design example.</a:t>
            </a:r>
            <a:endParaRPr lang="en-US" sz="3600" b="1" dirty="0">
              <a:solidFill>
                <a:srgbClr val="00B050"/>
              </a:solidFill>
            </a:endParaRPr>
          </a:p>
        </p:txBody>
      </p:sp>
    </p:spTree>
    <p:extLst>
      <p:ext uri="{BB962C8B-B14F-4D97-AF65-F5344CB8AC3E}">
        <p14:creationId xmlns:p14="http://schemas.microsoft.com/office/powerpoint/2010/main" val="1314619751"/>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496550" cy="3108543"/>
          </a:xfrm>
        </p:spPr>
        <p:txBody>
          <a:bodyPr/>
          <a:lstStyle/>
          <a:p>
            <a:pPr algn="l"/>
            <a:r>
              <a:rPr lang="en-US" dirty="0">
                <a:latin typeface="fkGrotesk"/>
              </a:rPr>
              <a:t>Step 2: Calculate </a:t>
            </a:r>
            <a:r>
              <a:rPr lang="en-US" dirty="0" err="1">
                <a:latin typeface="fkGrotesk"/>
              </a:rPr>
              <a:t>Transconductance</a:t>
            </a:r>
            <a:r>
              <a:rPr lang="en-US" dirty="0">
                <a:latin typeface="fkGrotesk"/>
              </a:rPr>
              <a:t> and Capacitance</a:t>
            </a:r>
          </a:p>
          <a:p>
            <a:pPr marL="742950" lvl="1" indent="-285750" algn="l">
              <a:buFont typeface="Arial" panose="020B0604020202020204" pitchFamily="34" charset="0"/>
              <a:buChar char="•"/>
            </a:pPr>
            <a:r>
              <a:rPr lang="en-US" dirty="0">
                <a:latin typeface="fkGroteskNeue"/>
              </a:rPr>
              <a:t>To achieve a voltage gain of 10</a:t>
            </a:r>
            <a:r>
              <a:rPr lang="en-US" dirty="0" smtClean="0">
                <a:latin typeface="fkGroteskNeue"/>
              </a:rPr>
              <a:t>:</a:t>
            </a:r>
          </a:p>
          <a:p>
            <a:pPr marL="742950" lvl="1" indent="-285750" algn="l">
              <a:buFont typeface="Arial" panose="020B0604020202020204" pitchFamily="34" charset="0"/>
              <a:buChar char="•"/>
            </a:pPr>
            <a:endParaRPr lang="en-US" dirty="0" smtClean="0">
              <a:latin typeface="fkGroteskNeue"/>
            </a:endParaRPr>
          </a:p>
          <a:p>
            <a:pPr marL="742950" lvl="1" indent="-285750" algn="l">
              <a:buFont typeface="Arial" panose="020B0604020202020204" pitchFamily="34" charset="0"/>
              <a:buChar char="•"/>
            </a:pPr>
            <a:endParaRPr lang="en-US" dirty="0">
              <a:latin typeface="fkGroteskNeue"/>
            </a:endParaRPr>
          </a:p>
          <a:p>
            <a:pPr marL="742950" lvl="1" indent="-285750" algn="l">
              <a:buFont typeface="Arial" panose="020B0604020202020204" pitchFamily="34" charset="0"/>
              <a:buChar char="•"/>
            </a:pPr>
            <a:endParaRPr lang="en-US" dirty="0" smtClean="0">
              <a:latin typeface="KaTeX_Main"/>
            </a:endParaRPr>
          </a:p>
          <a:p>
            <a:pPr marL="742950" lvl="1" indent="-285750" algn="l">
              <a:buFont typeface="Arial" panose="020B0604020202020204" pitchFamily="34" charset="0"/>
              <a:buChar char="•"/>
            </a:pPr>
            <a:r>
              <a:rPr lang="en-US" dirty="0" smtClean="0">
                <a:latin typeface="fkGroteskNeue"/>
              </a:rPr>
              <a:t>Consider </a:t>
            </a:r>
            <a:r>
              <a:rPr lang="en-US" dirty="0">
                <a:latin typeface="fkGroteskNeue"/>
              </a:rPr>
              <a:t>the impact of real-world bandwidth—it’s not only set by the dominant pole; every resistor plus total input capacitance creates high-frequency poles.</a:t>
            </a:r>
          </a:p>
          <a:p>
            <a:pPr marL="1200150" lvl="2" indent="-285750" algn="l">
              <a:buFont typeface="Arial" panose="020B0604020202020204" pitchFamily="34" charset="0"/>
              <a:buChar char="•"/>
            </a:pPr>
            <a:r>
              <a:rPr lang="en-US" dirty="0">
                <a:latin typeface="fkGroteskNeue"/>
              </a:rPr>
              <a:t>To avoid peaking, push the secondary pole out by estimating total gate capacitance at a much higher frequency (e.g., 2 GHz):</a:t>
            </a:r>
          </a:p>
          <a:p>
            <a:pPr marL="742950" lvl="1" indent="-285750" algn="l">
              <a:buFont typeface="Arial" panose="020B0604020202020204" pitchFamily="34" charset="0"/>
              <a:buChar char="•"/>
            </a:pPr>
            <a:endParaRPr lang="en-US" dirty="0" smtClean="0">
              <a:latin typeface="KaTeX_Main"/>
            </a:endParaRP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167</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4006801" y="1898634"/>
            <a:ext cx="2051099" cy="646991"/>
          </a:xfrm>
          <a:prstGeom prst="rect">
            <a:avLst/>
          </a:prstGeom>
        </p:spPr>
      </p:pic>
      <p:pic>
        <p:nvPicPr>
          <p:cNvPr id="8" name="Picture 7"/>
          <p:cNvPicPr>
            <a:picLocks noChangeAspect="1"/>
          </p:cNvPicPr>
          <p:nvPr/>
        </p:nvPicPr>
        <p:blipFill>
          <a:blip r:embed="rId3"/>
          <a:stretch>
            <a:fillRect/>
          </a:stretch>
        </p:blipFill>
        <p:spPr>
          <a:xfrm>
            <a:off x="3933746" y="3924286"/>
            <a:ext cx="4255037" cy="749314"/>
          </a:xfrm>
          <a:prstGeom prst="rect">
            <a:avLst/>
          </a:prstGeom>
        </p:spPr>
      </p:pic>
    </p:spTree>
    <p:extLst>
      <p:ext uri="{BB962C8B-B14F-4D97-AF65-F5344CB8AC3E}">
        <p14:creationId xmlns:p14="http://schemas.microsoft.com/office/powerpoint/2010/main" val="2352830433"/>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217150" cy="3939540"/>
          </a:xfrm>
        </p:spPr>
        <p:txBody>
          <a:bodyPr/>
          <a:lstStyle/>
          <a:p>
            <a:pPr algn="l"/>
            <a:r>
              <a:rPr lang="en-US" dirty="0">
                <a:latin typeface="fkGrotesk"/>
              </a:rPr>
              <a:t>Step 3: Bandwidth-Driven Sizing with gm/ID</a:t>
            </a:r>
          </a:p>
          <a:p>
            <a:pPr marL="800100" lvl="1" indent="-342900" algn="l">
              <a:buFont typeface="Arial" panose="020B0604020202020204" pitchFamily="34" charset="0"/>
              <a:buChar char="•"/>
            </a:pPr>
            <a:r>
              <a:rPr lang="en-US" sz="2400" dirty="0">
                <a:latin typeface="fkGroteskNeue"/>
              </a:rPr>
              <a:t>Now, knowing L and </a:t>
            </a:r>
            <a:r>
              <a:rPr lang="en-US" sz="2400" i="1" dirty="0" err="1" smtClean="0">
                <a:latin typeface="KaTeX_Math"/>
              </a:rPr>
              <a:t>Cgs</a:t>
            </a:r>
            <a:r>
              <a:rPr lang="en-US" sz="2400" dirty="0">
                <a:latin typeface="fkGroteskNeue"/>
              </a:rPr>
              <a:t>, use the transit frequency</a:t>
            </a:r>
            <a:r>
              <a:rPr lang="en-US" sz="2400" dirty="0" smtClean="0">
                <a:latin typeface="fkGroteskNeue"/>
              </a:rPr>
              <a:t>:</a:t>
            </a:r>
          </a:p>
          <a:p>
            <a:pPr marL="800100" lvl="1" indent="-342900" algn="l">
              <a:buFont typeface="Arial" panose="020B0604020202020204" pitchFamily="34" charset="0"/>
              <a:buChar char="•"/>
            </a:pPr>
            <a:endParaRPr lang="en-US" sz="2400" dirty="0" smtClean="0">
              <a:latin typeface="fkGroteskNeue"/>
            </a:endParaRPr>
          </a:p>
          <a:p>
            <a:pPr marL="800100" lvl="1" indent="-342900" algn="l">
              <a:buFont typeface="Arial" panose="020B0604020202020204" pitchFamily="34" charset="0"/>
              <a:buChar char="•"/>
            </a:pPr>
            <a:endParaRPr lang="en-US" sz="2400" dirty="0">
              <a:latin typeface="fkGroteskNeue"/>
            </a:endParaRPr>
          </a:p>
          <a:p>
            <a:pPr marL="800100" lvl="1" indent="-342900" algn="l">
              <a:buFont typeface="Arial" panose="020B0604020202020204" pitchFamily="34" charset="0"/>
              <a:buChar char="•"/>
            </a:pPr>
            <a:endParaRPr lang="en-US" sz="2400" dirty="0">
              <a:latin typeface="fkGroteskNeue"/>
            </a:endParaRPr>
          </a:p>
          <a:p>
            <a:pPr marL="800100" lvl="1" indent="-342900" algn="l">
              <a:buFont typeface="Arial" panose="020B0604020202020204" pitchFamily="34" charset="0"/>
              <a:buChar char="•"/>
            </a:pPr>
            <a:r>
              <a:rPr lang="en-US" sz="2400" dirty="0" smtClean="0">
                <a:latin typeface="fkGroteskNeue"/>
              </a:rPr>
              <a:t>Using </a:t>
            </a:r>
            <a:r>
              <a:rPr lang="en-US" sz="2400" dirty="0">
                <a:latin typeface="fkGroteskNeue"/>
              </a:rPr>
              <a:t>the previously created (or process-calibrated) </a:t>
            </a:r>
            <a:r>
              <a:rPr lang="en-US" sz="2400" i="1" dirty="0" err="1" smtClean="0">
                <a:latin typeface="KaTeX_Math"/>
              </a:rPr>
              <a:t>fT</a:t>
            </a:r>
            <a:r>
              <a:rPr lang="en-US" sz="2400" dirty="0" smtClean="0">
                <a:latin typeface="fkGroteskNeue"/>
              </a:rPr>
              <a:t>-vs-gm/ID </a:t>
            </a:r>
            <a:r>
              <a:rPr lang="en-US" sz="2400" dirty="0">
                <a:latin typeface="fkGroteskNeue"/>
              </a:rPr>
              <a:t>chart, locate the required</a:t>
            </a:r>
            <a:r>
              <a:rPr lang="en-US" sz="2400" dirty="0" smtClean="0">
                <a:latin typeface="fkGroteskNeue"/>
              </a:rPr>
              <a:t>:</a:t>
            </a:r>
          </a:p>
          <a:p>
            <a:pPr marL="800100" lvl="1" indent="-342900" algn="l">
              <a:buFont typeface="Arial" panose="020B0604020202020204" pitchFamily="34" charset="0"/>
              <a:buChar char="•"/>
            </a:pPr>
            <a:endParaRPr lang="en-US" sz="2400" dirty="0">
              <a:latin typeface="fkGroteskNeue"/>
            </a:endParaRPr>
          </a:p>
          <a:p>
            <a:pPr marL="800100" lvl="1" indent="-342900" algn="l">
              <a:buFont typeface="Arial" panose="020B0604020202020204" pitchFamily="34" charset="0"/>
              <a:buChar char="•"/>
            </a:pPr>
            <a:endParaRPr lang="en-US" sz="2400" dirty="0">
              <a:latin typeface="fkGroteskNeue"/>
            </a:endParaRPr>
          </a:p>
          <a:p>
            <a:pPr marL="800100" lvl="1" indent="-342900" algn="l">
              <a:buFont typeface="Arial" panose="020B0604020202020204" pitchFamily="34" charset="0"/>
              <a:buChar char="•"/>
            </a:pPr>
            <a:r>
              <a:rPr lang="en-US" sz="2400" dirty="0" smtClean="0">
                <a:latin typeface="fkGroteskNeue"/>
              </a:rPr>
              <a:t>This </a:t>
            </a:r>
            <a:r>
              <a:rPr lang="en-US" sz="2400" dirty="0">
                <a:latin typeface="fkGroteskNeue"/>
              </a:rPr>
              <a:t>value sets the device’s bias regime (efficiency/speed trade-off)</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168</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851185" y="2085958"/>
            <a:ext cx="4164856" cy="784242"/>
          </a:xfrm>
          <a:prstGeom prst="rect">
            <a:avLst/>
          </a:prstGeom>
        </p:spPr>
      </p:pic>
      <p:pic>
        <p:nvPicPr>
          <p:cNvPr id="8" name="Picture 7"/>
          <p:cNvPicPr>
            <a:picLocks noChangeAspect="1"/>
          </p:cNvPicPr>
          <p:nvPr/>
        </p:nvPicPr>
        <p:blipFill>
          <a:blip r:embed="rId3"/>
          <a:stretch>
            <a:fillRect/>
          </a:stretch>
        </p:blipFill>
        <p:spPr>
          <a:xfrm>
            <a:off x="4956123" y="5099038"/>
            <a:ext cx="2636743" cy="552461"/>
          </a:xfrm>
          <a:prstGeom prst="rect">
            <a:avLst/>
          </a:prstGeom>
        </p:spPr>
      </p:pic>
    </p:spTree>
    <p:extLst>
      <p:ext uri="{BB962C8B-B14F-4D97-AF65-F5344CB8AC3E}">
        <p14:creationId xmlns:p14="http://schemas.microsoft.com/office/powerpoint/2010/main" val="3770304784"/>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9963150" cy="3662541"/>
          </a:xfrm>
        </p:spPr>
        <p:txBody>
          <a:bodyPr/>
          <a:lstStyle/>
          <a:p>
            <a:pPr algn="l"/>
            <a:r>
              <a:rPr lang="en-US" dirty="0">
                <a:latin typeface="fkGrotesk"/>
              </a:rPr>
              <a:t>Step 4: Calculate Bias Current and Width</a:t>
            </a:r>
          </a:p>
          <a:p>
            <a:pPr marL="342900" indent="-342900" algn="l">
              <a:buFont typeface="Arial" panose="020B0604020202020204" pitchFamily="34" charset="0"/>
              <a:buChar char="•"/>
            </a:pPr>
            <a:r>
              <a:rPr lang="en-US" dirty="0">
                <a:latin typeface="fkGroteskNeue"/>
              </a:rPr>
              <a:t>For </a:t>
            </a:r>
            <a:r>
              <a:rPr lang="en-US" i="1" dirty="0" smtClean="0">
                <a:latin typeface="KaTeX_Math"/>
              </a:rPr>
              <a:t>gm</a:t>
            </a:r>
            <a:r>
              <a:rPr lang="en-US" dirty="0" smtClean="0">
                <a:latin typeface="KaTeX_Main"/>
              </a:rPr>
              <a:t>=12.5</a:t>
            </a:r>
            <a:r>
              <a:rPr lang="en-US" dirty="0">
                <a:latin typeface="KaTeX_Main"/>
              </a:rPr>
              <a:t> </a:t>
            </a:r>
            <a:r>
              <a:rPr lang="en-US" dirty="0" err="1">
                <a:latin typeface="KaTeX_Main"/>
              </a:rPr>
              <a:t>mS</a:t>
            </a:r>
            <a:r>
              <a:rPr lang="en-US" dirty="0">
                <a:latin typeface="fkGroteskNeue"/>
              </a:rPr>
              <a:t> and </a:t>
            </a:r>
            <a:r>
              <a:rPr lang="en-US" i="1" dirty="0" smtClean="0">
                <a:latin typeface="KaTeX_Math"/>
              </a:rPr>
              <a:t>gm</a:t>
            </a:r>
            <a:r>
              <a:rPr lang="en-US" dirty="0" smtClean="0">
                <a:latin typeface="KaTeX_Main"/>
              </a:rPr>
              <a:t>/</a:t>
            </a:r>
            <a:r>
              <a:rPr lang="en-US" i="1" dirty="0" smtClean="0">
                <a:latin typeface="KaTeX_Math"/>
              </a:rPr>
              <a:t>ID</a:t>
            </a:r>
            <a:r>
              <a:rPr lang="en-US" dirty="0" smtClean="0">
                <a:latin typeface="KaTeX_Main"/>
              </a:rPr>
              <a:t>=16.5</a:t>
            </a:r>
            <a:r>
              <a:rPr lang="en-US" dirty="0">
                <a:latin typeface="KaTeX_Main"/>
              </a:rPr>
              <a:t> </a:t>
            </a:r>
            <a:r>
              <a:rPr lang="en-US" dirty="0" err="1">
                <a:latin typeface="KaTeX_Main"/>
              </a:rPr>
              <a:t>mS</a:t>
            </a:r>
            <a:r>
              <a:rPr lang="en-US" dirty="0">
                <a:latin typeface="KaTeX_Main"/>
              </a:rPr>
              <a:t>/mA</a:t>
            </a:r>
            <a:r>
              <a:rPr lang="en-US" dirty="0" smtClean="0">
                <a:latin typeface="fkGroteskNeue"/>
              </a:rPr>
              <a:t>:</a:t>
            </a:r>
          </a:p>
          <a:p>
            <a:pPr marL="342900" indent="-342900" algn="l">
              <a:buFont typeface="Arial" panose="020B0604020202020204" pitchFamily="34" charset="0"/>
              <a:buChar char="•"/>
            </a:pPr>
            <a:endParaRPr lang="en-US" dirty="0" smtClean="0">
              <a:latin typeface="fkGroteskNeue"/>
            </a:endParaRP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r>
              <a:rPr lang="en-US" dirty="0" smtClean="0">
                <a:latin typeface="fkGroteskNeue"/>
              </a:rPr>
              <a:t>Use </a:t>
            </a:r>
            <a:r>
              <a:rPr lang="en-US" dirty="0">
                <a:latin typeface="fkGroteskNeue"/>
              </a:rPr>
              <a:t>technology's biasing chart to determine the required width at this gm/ID and current</a:t>
            </a:r>
            <a:r>
              <a:rPr lang="en-US" dirty="0" smtClean="0">
                <a:latin typeface="fkGroteskNeue"/>
              </a:rPr>
              <a:t>:</a:t>
            </a:r>
          </a:p>
          <a:p>
            <a:pPr marL="342900" indent="-342900" algn="l">
              <a:buFont typeface="Arial" panose="020B0604020202020204" pitchFamily="34" charset="0"/>
              <a:buChar char="•"/>
            </a:pPr>
            <a:endParaRPr lang="en-US" dirty="0">
              <a:latin typeface="fkGroteskNeue"/>
            </a:endParaRPr>
          </a:p>
          <a:p>
            <a:pPr marL="342900" indent="-342900" algn="l">
              <a:buFont typeface="Arial" panose="020B0604020202020204" pitchFamily="34" charset="0"/>
              <a:buChar char="•"/>
            </a:pPr>
            <a:endParaRPr lang="en-US" dirty="0" smtClean="0">
              <a:latin typeface="fkGroteskNeue"/>
            </a:endParaRPr>
          </a:p>
          <a:p>
            <a:pPr marL="342900" indent="-342900" algn="l">
              <a:buFont typeface="Arial" panose="020B0604020202020204" pitchFamily="34" charset="0"/>
              <a:buChar char="•"/>
            </a:pPr>
            <a:endParaRPr lang="en-US" dirty="0">
              <a:latin typeface="fkGroteskNeue"/>
            </a:endParaRPr>
          </a:p>
          <a:p>
            <a:pPr marL="742950" lvl="1" indent="-285750" algn="l">
              <a:buFont typeface="Arial" panose="020B0604020202020204" pitchFamily="34" charset="0"/>
              <a:buChar char="•"/>
            </a:pPr>
            <a:r>
              <a:rPr lang="en-US" dirty="0" smtClean="0">
                <a:latin typeface="fkGroteskNeue"/>
              </a:rPr>
              <a:t>The </a:t>
            </a:r>
            <a:r>
              <a:rPr lang="en-US" dirty="0">
                <a:latin typeface="fkGroteskNeue"/>
              </a:rPr>
              <a:t>value </a:t>
            </a:r>
            <a:r>
              <a:rPr lang="en-US" dirty="0">
                <a:latin typeface="KaTeX_Main"/>
              </a:rPr>
              <a:t>6.5 </a:t>
            </a:r>
            <a:r>
              <a:rPr lang="el-GR" dirty="0">
                <a:latin typeface="KaTeX_Main"/>
              </a:rPr>
              <a:t>μ</a:t>
            </a:r>
            <a:r>
              <a:rPr lang="en-US" dirty="0">
                <a:latin typeface="KaTeX_Main"/>
              </a:rPr>
              <a:t>A/</a:t>
            </a:r>
            <a:r>
              <a:rPr lang="el-GR" dirty="0">
                <a:latin typeface="KaTeX_Main"/>
              </a:rPr>
              <a:t>μ</a:t>
            </a:r>
            <a:r>
              <a:rPr lang="en-US" dirty="0">
                <a:latin typeface="KaTeX_Main"/>
              </a:rPr>
              <a:t>m6.5 </a:t>
            </a:r>
            <a:r>
              <a:rPr lang="el-GR" i="1" dirty="0">
                <a:latin typeface="KaTeX_Math"/>
              </a:rPr>
              <a:t>μ</a:t>
            </a:r>
            <a:r>
              <a:rPr lang="en-US" dirty="0">
                <a:latin typeface="KaTeX_Main"/>
              </a:rPr>
              <a:t>A/</a:t>
            </a:r>
            <a:r>
              <a:rPr lang="el-GR" i="1" dirty="0">
                <a:latin typeface="KaTeX_Math"/>
              </a:rPr>
              <a:t>μ</a:t>
            </a:r>
            <a:r>
              <a:rPr lang="en-US" dirty="0">
                <a:latin typeface="KaTeX_Main"/>
              </a:rPr>
              <a:t>m</a:t>
            </a:r>
            <a:r>
              <a:rPr lang="en-US" dirty="0">
                <a:latin typeface="fkGroteskNeue"/>
              </a:rPr>
              <a:t> is read off the biasing chart for gm/ID = 16.5.</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169</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pic>
        <p:nvPicPr>
          <p:cNvPr id="7" name="Picture 6"/>
          <p:cNvPicPr>
            <a:picLocks noChangeAspect="1"/>
          </p:cNvPicPr>
          <p:nvPr/>
        </p:nvPicPr>
        <p:blipFill>
          <a:blip r:embed="rId2"/>
          <a:stretch>
            <a:fillRect/>
          </a:stretch>
        </p:blipFill>
        <p:spPr>
          <a:xfrm>
            <a:off x="3863926" y="2085959"/>
            <a:ext cx="2079673" cy="697924"/>
          </a:xfrm>
          <a:prstGeom prst="rect">
            <a:avLst/>
          </a:prstGeom>
        </p:spPr>
      </p:pic>
      <p:pic>
        <p:nvPicPr>
          <p:cNvPr id="8" name="Picture 7"/>
          <p:cNvPicPr>
            <a:picLocks noChangeAspect="1"/>
          </p:cNvPicPr>
          <p:nvPr/>
        </p:nvPicPr>
        <p:blipFill>
          <a:blip r:embed="rId3"/>
          <a:stretch>
            <a:fillRect/>
          </a:stretch>
        </p:blipFill>
        <p:spPr>
          <a:xfrm>
            <a:off x="3987732" y="3346433"/>
            <a:ext cx="2939447" cy="727727"/>
          </a:xfrm>
          <a:prstGeom prst="rect">
            <a:avLst/>
          </a:prstGeom>
        </p:spPr>
      </p:pic>
    </p:spTree>
    <p:extLst>
      <p:ext uri="{BB962C8B-B14F-4D97-AF65-F5344CB8AC3E}">
        <p14:creationId xmlns:p14="http://schemas.microsoft.com/office/powerpoint/2010/main" val="831650533"/>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335640" cy="3970318"/>
          </a:xfrm>
        </p:spPr>
        <p:txBody>
          <a:bodyPr/>
          <a:lstStyle/>
          <a:p>
            <a:pPr algn="l"/>
            <a:r>
              <a:rPr lang="en-US" dirty="0">
                <a:latin typeface="fkGrotesk"/>
              </a:rPr>
              <a:t>Step 5: Finalize the Design and Validate Performance</a:t>
            </a:r>
          </a:p>
          <a:p>
            <a:pPr marL="800100" lvl="1" indent="-342900" algn="l">
              <a:buFont typeface="Arial" panose="020B0604020202020204" pitchFamily="34" charset="0"/>
              <a:buChar char="•"/>
            </a:pPr>
            <a:r>
              <a:rPr lang="en-US" sz="2000" dirty="0">
                <a:latin typeface="fkGroteskNeue"/>
              </a:rPr>
              <a:t>The design, shown in Figure 24, consists of balanced differential input, calculated width, length, and load settings.</a:t>
            </a:r>
          </a:p>
          <a:p>
            <a:pPr marL="800100" lvl="1" indent="-342900" algn="l">
              <a:buFont typeface="Arial" panose="020B0604020202020204" pitchFamily="34" charset="0"/>
              <a:buChar char="•"/>
            </a:pPr>
            <a:r>
              <a:rPr lang="en-US" sz="2000" dirty="0">
                <a:latin typeface="fkGroteskNeue"/>
              </a:rPr>
              <a:t>Simulate to confirm gain and bandwidth.</a:t>
            </a:r>
          </a:p>
          <a:p>
            <a:pPr marL="1200150" lvl="2" indent="-285750" algn="l">
              <a:buFont typeface="Arial" panose="020B0604020202020204" pitchFamily="34" charset="0"/>
              <a:buChar char="•"/>
            </a:pPr>
            <a:r>
              <a:rPr lang="en-US" sz="2000" dirty="0">
                <a:latin typeface="fkGroteskNeue"/>
              </a:rPr>
              <a:t>Measured gain: ~8.5 (vs. 10 requested)</a:t>
            </a:r>
          </a:p>
          <a:p>
            <a:pPr marL="1200150" lvl="2" indent="-285750" algn="l">
              <a:buFont typeface="Arial" panose="020B0604020202020204" pitchFamily="34" charset="0"/>
              <a:buChar char="•"/>
            </a:pPr>
            <a:r>
              <a:rPr lang="en-US" sz="2000" dirty="0">
                <a:latin typeface="fkGroteskNeue"/>
              </a:rPr>
              <a:t>Measured bandwidth: &lt;200 MHz</a:t>
            </a:r>
          </a:p>
          <a:p>
            <a:pPr marL="800100" lvl="1" indent="-342900" algn="l">
              <a:buFont typeface="Arial" panose="020B0604020202020204" pitchFamily="34" charset="0"/>
              <a:buChar char="•"/>
            </a:pPr>
            <a:r>
              <a:rPr lang="en-US" sz="2000" dirty="0">
                <a:latin typeface="fkGroteskNeue"/>
              </a:rPr>
              <a:t>Discrepancies are due to:</a:t>
            </a:r>
          </a:p>
          <a:p>
            <a:pPr marL="1200150" lvl="2" indent="-285750" algn="l">
              <a:buFont typeface="Arial" panose="020B0604020202020204" pitchFamily="34" charset="0"/>
              <a:buChar char="•"/>
            </a:pPr>
            <a:r>
              <a:rPr lang="en-US" sz="2000" dirty="0">
                <a:latin typeface="fkGroteskNeue"/>
              </a:rPr>
              <a:t>Not accounting for </a:t>
            </a:r>
            <a:r>
              <a:rPr lang="en-US" sz="2000" dirty="0" err="1">
                <a:latin typeface="fkGroteskNeue"/>
              </a:rPr>
              <a:t>ro</a:t>
            </a:r>
            <a:r>
              <a:rPr lang="en-US" sz="2000" dirty="0">
                <a:latin typeface="fkGroteskNeue"/>
              </a:rPr>
              <a:t> in hand calculations (output resistance reduces actual gain).</a:t>
            </a:r>
          </a:p>
          <a:p>
            <a:pPr marL="1200150" lvl="2" indent="-285750" algn="l">
              <a:buFont typeface="Arial" panose="020B0604020202020204" pitchFamily="34" charset="0"/>
              <a:buChar char="•"/>
            </a:pPr>
            <a:r>
              <a:rPr lang="en-US" sz="2000" dirty="0">
                <a:latin typeface="fkGroteskNeue"/>
              </a:rPr>
              <a:t>Additional output “pole” from capacitance at the drain compresses real bandwidth versus simple estimation.</a:t>
            </a:r>
          </a:p>
          <a:p>
            <a:pPr marL="800100" lvl="1" indent="-342900" algn="l">
              <a:buFont typeface="Arial" panose="020B0604020202020204" pitchFamily="34" charset="0"/>
              <a:buChar char="•"/>
            </a:pPr>
            <a:r>
              <a:rPr lang="en-US" sz="2000" dirty="0">
                <a:latin typeface="fkGroteskNeue"/>
              </a:rPr>
              <a:t>Fine-tuning based on these results may be done to bring the circuit exactly on spec</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170</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1852095395"/>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a:xfrm>
            <a:off x="844550" y="1327353"/>
            <a:ext cx="10279079" cy="2092881"/>
          </a:xfrm>
        </p:spPr>
        <p:txBody>
          <a:bodyPr/>
          <a:lstStyle/>
          <a:p>
            <a:pPr algn="l"/>
            <a:r>
              <a:rPr lang="en-US" dirty="0">
                <a:latin typeface="fkGrotesk"/>
              </a:rPr>
              <a:t>Confirming gm/ID Method Accuracy</a:t>
            </a:r>
          </a:p>
          <a:p>
            <a:pPr marL="342900" indent="-342900" algn="l">
              <a:buFont typeface="Arial" panose="020B0604020202020204" pitchFamily="34" charset="0"/>
              <a:buChar char="•"/>
            </a:pPr>
            <a:r>
              <a:rPr lang="en-US" dirty="0">
                <a:latin typeface="fkGroteskNeue"/>
              </a:rPr>
              <a:t>Simulation shows predicted </a:t>
            </a:r>
            <a:r>
              <a:rPr lang="en-US" i="1" dirty="0" smtClean="0">
                <a:latin typeface="KaTeX_Math"/>
              </a:rPr>
              <a:t>gm</a:t>
            </a:r>
            <a:r>
              <a:rPr lang="en-US" dirty="0">
                <a:latin typeface="fkGroteskNeue"/>
              </a:rPr>
              <a:t> and </a:t>
            </a:r>
            <a:r>
              <a:rPr lang="en-US" i="1" dirty="0" err="1" smtClean="0">
                <a:latin typeface="KaTeX_Math"/>
              </a:rPr>
              <a:t>Cgs</a:t>
            </a:r>
            <a:r>
              <a:rPr lang="en-US" dirty="0">
                <a:latin typeface="fkGroteskNeue"/>
              </a:rPr>
              <a:t> closely match computed targets:</a:t>
            </a:r>
          </a:p>
          <a:p>
            <a:pPr marL="742950" lvl="1" indent="-285750" algn="l">
              <a:buFont typeface="Arial" panose="020B0604020202020204" pitchFamily="34" charset="0"/>
              <a:buChar char="•"/>
            </a:pPr>
            <a:r>
              <a:rPr lang="en-US" i="1" dirty="0" smtClean="0">
                <a:latin typeface="KaTeX_Math"/>
              </a:rPr>
              <a:t>gm</a:t>
            </a:r>
            <a:r>
              <a:rPr lang="en-US" dirty="0">
                <a:latin typeface="fkGroteskNeue"/>
              </a:rPr>
              <a:t> measured: 12.6378 </a:t>
            </a:r>
            <a:r>
              <a:rPr lang="en-US" dirty="0" err="1">
                <a:latin typeface="fkGroteskNeue"/>
              </a:rPr>
              <a:t>mS</a:t>
            </a:r>
            <a:r>
              <a:rPr lang="en-US" dirty="0">
                <a:latin typeface="fkGroteskNeue"/>
              </a:rPr>
              <a:t> (target: 12.5 </a:t>
            </a:r>
            <a:r>
              <a:rPr lang="en-US" dirty="0" err="1">
                <a:latin typeface="fkGroteskNeue"/>
              </a:rPr>
              <a:t>mS</a:t>
            </a:r>
            <a:r>
              <a:rPr lang="en-US" dirty="0">
                <a:latin typeface="fkGroteskNeue"/>
              </a:rPr>
              <a:t>)</a:t>
            </a:r>
          </a:p>
          <a:p>
            <a:pPr marL="742950" lvl="1" indent="-285750" algn="l">
              <a:buFont typeface="Arial" panose="020B0604020202020204" pitchFamily="34" charset="0"/>
              <a:buChar char="•"/>
            </a:pPr>
            <a:r>
              <a:rPr lang="en-US" i="1" dirty="0" err="1" smtClean="0">
                <a:latin typeface="KaTeX_Math"/>
              </a:rPr>
              <a:t>Cgs</a:t>
            </a:r>
            <a:r>
              <a:rPr lang="en-US" dirty="0">
                <a:latin typeface="fkGroteskNeue"/>
              </a:rPr>
              <a:t> measured: 264.2388 </a:t>
            </a:r>
            <a:r>
              <a:rPr lang="en-US" dirty="0" err="1">
                <a:latin typeface="fkGroteskNeue"/>
              </a:rPr>
              <a:t>fF</a:t>
            </a:r>
            <a:r>
              <a:rPr lang="en-US" dirty="0">
                <a:latin typeface="fkGroteskNeue"/>
              </a:rPr>
              <a:t> (target: 265 </a:t>
            </a:r>
            <a:r>
              <a:rPr lang="en-US" dirty="0" err="1">
                <a:latin typeface="fkGroteskNeue"/>
              </a:rPr>
              <a:t>fF</a:t>
            </a:r>
            <a:r>
              <a:rPr lang="en-US" dirty="0">
                <a:latin typeface="fkGroteskNeue"/>
              </a:rPr>
              <a:t>)</a:t>
            </a:r>
          </a:p>
          <a:p>
            <a:pPr marL="342900" indent="-342900" algn="l">
              <a:buFont typeface="Arial" panose="020B0604020202020204" pitchFamily="34" charset="0"/>
              <a:buChar char="•"/>
            </a:pPr>
            <a:r>
              <a:rPr lang="en-US" dirty="0">
                <a:latin typeface="fkGroteskNeue"/>
              </a:rPr>
              <a:t>gm/ID did not miss the target; physical simplifications in the design model account for any residual error.</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171</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954971002"/>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dirty="0">
                <a:latin typeface="fkGrotesk"/>
              </a:rPr>
              <a:t>Design Takeaways and Final </a:t>
            </a:r>
            <a:r>
              <a:rPr lang="en-US" dirty="0" smtClean="0">
                <a:latin typeface="fkGrotesk"/>
              </a:rPr>
              <a:t>Thoughts</a:t>
            </a:r>
            <a:endParaRPr lang="en-US" dirty="0"/>
          </a:p>
        </p:txBody>
      </p:sp>
      <p:sp>
        <p:nvSpPr>
          <p:cNvPr id="3" name="Text Placeholder 2"/>
          <p:cNvSpPr>
            <a:spLocks noGrp="1"/>
          </p:cNvSpPr>
          <p:nvPr>
            <p:ph type="body" idx="1"/>
          </p:nvPr>
        </p:nvSpPr>
        <p:spPr>
          <a:xfrm>
            <a:off x="844550" y="1327353"/>
            <a:ext cx="11099211" cy="2769989"/>
          </a:xfrm>
        </p:spPr>
        <p:txBody>
          <a:bodyPr/>
          <a:lstStyle/>
          <a:p>
            <a:pPr marL="457200" indent="-457200" algn="l">
              <a:buFont typeface="+mj-lt"/>
              <a:buAutoNum type="arabicPeriod"/>
            </a:pPr>
            <a:r>
              <a:rPr lang="en-US" dirty="0" smtClean="0">
                <a:latin typeface="fkGroteskNeue"/>
              </a:rPr>
              <a:t>gm/ID-based </a:t>
            </a:r>
            <a:r>
              <a:rPr lang="en-US" dirty="0">
                <a:latin typeface="fkGroteskNeue"/>
              </a:rPr>
              <a:t>methodology precisely links specs (gain, bandwidth, power) to device sizing and biasing using process-calibrated charts.</a:t>
            </a:r>
          </a:p>
          <a:p>
            <a:pPr marL="457200" indent="-457200" algn="l">
              <a:buFont typeface="+mj-lt"/>
              <a:buAutoNum type="arabicPeriod"/>
            </a:pPr>
            <a:r>
              <a:rPr lang="en-US" dirty="0">
                <a:latin typeface="fkGroteskNeue"/>
              </a:rPr>
              <a:t>Remaining errors are from intuition-level simplifications (neglecting </a:t>
            </a:r>
            <a:r>
              <a:rPr lang="en-US" dirty="0" err="1">
                <a:latin typeface="fkGroteskNeue"/>
              </a:rPr>
              <a:t>ro</a:t>
            </a:r>
            <a:r>
              <a:rPr lang="en-US" dirty="0">
                <a:latin typeface="fkGroteskNeue"/>
              </a:rPr>
              <a:t>, </a:t>
            </a:r>
            <a:r>
              <a:rPr lang="en-US" dirty="0" err="1">
                <a:latin typeface="fkGroteskNeue"/>
              </a:rPr>
              <a:t>cascode</a:t>
            </a:r>
            <a:r>
              <a:rPr lang="en-US" dirty="0">
                <a:latin typeface="fkGroteskNeue"/>
              </a:rPr>
              <a:t> effects, extra load capacitance) and can be corrected in iterative refinements.</a:t>
            </a:r>
          </a:p>
          <a:p>
            <a:pPr marL="457200" indent="-457200" algn="l">
              <a:buFont typeface="+mj-lt"/>
              <a:buAutoNum type="arabicPeriod"/>
            </a:pPr>
            <a:r>
              <a:rPr lang="en-US" dirty="0">
                <a:latin typeface="fkGroteskNeue"/>
              </a:rPr>
              <a:t>This methodology streamlines design, minimizes brute-force simulation, and illuminates all physical tradeoffs up-front, leaving just small margins for post-layout tweaks.</a:t>
            </a:r>
          </a:p>
          <a:p>
            <a:pPr marL="457200" indent="-457200" algn="l">
              <a:buFont typeface="+mj-lt"/>
              <a:buAutoNum type="arabicPeriod"/>
            </a:pPr>
            <a:r>
              <a:rPr lang="en-US" dirty="0">
                <a:latin typeface="fkGroteskNeue"/>
              </a:rPr>
              <a:t>All steps—from specs, through gm/ID, to W, L, and performance—are traceable, transparent, and supported by real device data, making the process robust and highly educational.</a:t>
            </a:r>
          </a:p>
          <a:p>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172</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942840906"/>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150" y="347725"/>
            <a:ext cx="10593196" cy="523220"/>
          </a:xfrm>
        </p:spPr>
        <p:txBody>
          <a:bodyPr/>
          <a:lstStyle/>
          <a:p>
            <a:r>
              <a:rPr lang="en-US">
                <a:latin typeface="fkGroteskNeue"/>
              </a:rPr>
              <a:t>Conclusion:</a:t>
            </a:r>
            <a:endParaRPr lang="en-US" dirty="0"/>
          </a:p>
        </p:txBody>
      </p:sp>
      <p:sp>
        <p:nvSpPr>
          <p:cNvPr id="3" name="Text Placeholder 2"/>
          <p:cNvSpPr>
            <a:spLocks noGrp="1"/>
          </p:cNvSpPr>
          <p:nvPr>
            <p:ph type="body" idx="1"/>
          </p:nvPr>
        </p:nvSpPr>
        <p:spPr>
          <a:xfrm>
            <a:off x="844550" y="1327353"/>
            <a:ext cx="10486469" cy="2154436"/>
          </a:xfrm>
        </p:spPr>
        <p:txBody>
          <a:bodyPr/>
          <a:lstStyle/>
          <a:p>
            <a:pPr algn="just"/>
            <a:r>
              <a:rPr lang="en-US" dirty="0"/>
              <a:t/>
            </a:r>
            <a:br>
              <a:rPr lang="en-US" dirty="0"/>
            </a:br>
            <a:r>
              <a:rPr lang="en-US" dirty="0">
                <a:latin typeface="fkGroteskNeue"/>
              </a:rPr>
              <a:t>The complete gm/ID design paradigm, illustrated through this example, proves that carefully constructed charts allow direct specification-driven decisions, yielding circuits that not only approach the desired specs but do so with full insight into all tradeoffs and physical limitations. This is the foundation of modern, efficient analog CMOS design</a:t>
            </a:r>
            <a:r>
              <a:rPr lang="en-US" dirty="0" smtClean="0">
                <a:latin typeface="fkGroteskNeue"/>
              </a:rPr>
              <a:t>. Here </a:t>
            </a:r>
            <a:r>
              <a:rPr lang="en-US" dirty="0">
                <a:latin typeface="fkGroteskNeue"/>
              </a:rPr>
              <a:t>is a step-by-step, intuition-rich summary of the full gm/ID-based amplifier design flow, as depicted in Figures 23–25, including all major calculations, practical steps, and interpretive remarks</a:t>
            </a:r>
            <a:endParaRPr lang="en-US" dirty="0"/>
          </a:p>
        </p:txBody>
      </p:sp>
      <p:sp>
        <p:nvSpPr>
          <p:cNvPr id="4" name="Footer Placeholder 3"/>
          <p:cNvSpPr>
            <a:spLocks noGrp="1"/>
          </p:cNvSpPr>
          <p:nvPr>
            <p:ph type="ftr" sz="quarter" idx="5"/>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AAMD BITs Pilani </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5" name="Date Placeholder 4"/>
          <p:cNvSpPr>
            <a:spLocks noGrp="1"/>
          </p:cNvSpPr>
          <p:nvPr>
            <p:ph type="dt" sz="half" idx="6"/>
          </p:nvPr>
        </p:nvSpPr>
        <p:spPr/>
        <p:txBody>
          <a:bodyPr/>
          <a:lstStyle/>
          <a:p>
            <a:pPr marL="12700" marR="0" lvl="0" indent="0" algn="l" defTabSz="914400" rtl="0" eaLnBrk="1" fontAlgn="auto" latinLnBrk="0" hangingPunct="1">
              <a:lnSpc>
                <a:spcPct val="100000"/>
              </a:lnSpc>
              <a:spcBef>
                <a:spcPts val="105"/>
              </a:spcBef>
              <a:spcAft>
                <a:spcPts val="0"/>
              </a:spcAft>
              <a:buClrTx/>
              <a:buSzTx/>
              <a:buFontTx/>
              <a:buNone/>
              <a:tabLst/>
              <a:defRPr/>
            </a:pPr>
            <a:r>
              <a:rPr kumimoji="0" lang="en-US" sz="1200" b="0" i="0" u="none" strike="noStrike" kern="0" cap="none" spc="0" normalizeH="0" baseline="0" noProof="0" smtClean="0">
                <a:ln>
                  <a:noFill/>
                </a:ln>
                <a:solidFill>
                  <a:prstClr val="black"/>
                </a:solidFill>
                <a:effectLst/>
                <a:uLnTx/>
                <a:uFillTx/>
                <a:latin typeface="Verdana"/>
                <a:ea typeface="+mn-ea"/>
              </a:rPr>
              <a:t>Neeraj Mishra</a:t>
            </a:r>
            <a:endParaRPr kumimoji="0" lang="en-US" sz="1200" b="0" i="0" u="none" strike="noStrike" kern="0" cap="none" spc="-10" normalizeH="0" baseline="0" noProof="0" dirty="0">
              <a:ln>
                <a:noFill/>
              </a:ln>
              <a:solidFill>
                <a:prstClr val="black"/>
              </a:solidFill>
              <a:effectLst/>
              <a:uLnTx/>
              <a:uFillTx/>
              <a:latin typeface="Verdana"/>
              <a:ea typeface="+mn-ea"/>
            </a:endParaRPr>
          </a:p>
        </p:txBody>
      </p:sp>
      <p:sp>
        <p:nvSpPr>
          <p:cNvPr id="6" name="Slide Number Placeholder 5"/>
          <p:cNvSpPr>
            <a:spLocks noGrp="1"/>
          </p:cNvSpPr>
          <p:nvPr>
            <p:ph type="sldNum" sz="quarter" idx="7"/>
          </p:nvPr>
        </p:nvSpPr>
        <p:spPr/>
        <p:txBody>
          <a:bodyPr/>
          <a:lstStyle/>
          <a:p>
            <a:pPr marL="134620" marR="0" lvl="0" indent="0" algn="l" defTabSz="914400" rtl="0" eaLnBrk="1" fontAlgn="auto" latinLnBrk="0" hangingPunct="1">
              <a:lnSpc>
                <a:spcPct val="100000"/>
              </a:lnSpc>
              <a:spcBef>
                <a:spcPts val="135"/>
              </a:spcBef>
              <a:spcAft>
                <a:spcPts val="0"/>
              </a:spcAft>
              <a:buClrTx/>
              <a:buSzTx/>
              <a:buFontTx/>
              <a:buNone/>
              <a:tabLst/>
              <a:defRPr/>
            </a:pPr>
            <a:fld id="{81D60167-4931-47E6-BA6A-407CBD079E47}" type="slidenum">
              <a:rPr kumimoji="0" lang="en-US" sz="1200" b="0" i="0" u="none" strike="noStrike" kern="0" cap="none" spc="-50" normalizeH="0" baseline="0" noProof="0" smtClean="0">
                <a:ln>
                  <a:noFill/>
                </a:ln>
                <a:solidFill>
                  <a:prstClr val="black"/>
                </a:solidFill>
                <a:effectLst/>
                <a:uLnTx/>
                <a:uFillTx/>
                <a:latin typeface="Verdana"/>
                <a:ea typeface="+mn-ea"/>
              </a:rPr>
              <a:pPr marL="134620" marR="0" lvl="0" indent="0" algn="l" defTabSz="914400" rtl="0" eaLnBrk="1" fontAlgn="auto" latinLnBrk="0" hangingPunct="1">
                <a:lnSpc>
                  <a:spcPct val="100000"/>
                </a:lnSpc>
                <a:spcBef>
                  <a:spcPts val="135"/>
                </a:spcBef>
                <a:spcAft>
                  <a:spcPts val="0"/>
                </a:spcAft>
                <a:buClrTx/>
                <a:buSzTx/>
                <a:buFontTx/>
                <a:buNone/>
                <a:tabLst/>
                <a:defRPr/>
              </a:pPr>
              <a:t>173</a:t>
            </a:fld>
            <a:endParaRPr kumimoji="0" lang="en-US" sz="1200" b="0" i="0" u="none" strike="noStrike" kern="0" cap="none" spc="-50" normalizeH="0" baseline="0" noProof="0" dirty="0">
              <a:ln>
                <a:noFill/>
              </a:ln>
              <a:solidFill>
                <a:prstClr val="black"/>
              </a:solidFill>
              <a:effectLst/>
              <a:uLnTx/>
              <a:uFillTx/>
              <a:latin typeface="Verdana"/>
              <a:ea typeface="+mn-ea"/>
            </a:endParaRPr>
          </a:p>
        </p:txBody>
      </p:sp>
    </p:spTree>
    <p:extLst>
      <p:ext uri="{BB962C8B-B14F-4D97-AF65-F5344CB8AC3E}">
        <p14:creationId xmlns:p14="http://schemas.microsoft.com/office/powerpoint/2010/main" val="3540886639"/>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21133</TotalTime>
  <Words>7230</Words>
  <Application>Microsoft Office PowerPoint</Application>
  <PresentationFormat>Widescreen</PresentationFormat>
  <Paragraphs>2245</Paragraphs>
  <Slides>173</Slides>
  <Notes>0</Notes>
  <HiddenSlides>5</HiddenSlides>
  <MMClips>0</MMClips>
  <ScaleCrop>false</ScaleCrop>
  <HeadingPairs>
    <vt:vector size="6" baseType="variant">
      <vt:variant>
        <vt:lpstr>Fonts Used</vt:lpstr>
      </vt:variant>
      <vt:variant>
        <vt:i4>19</vt:i4>
      </vt:variant>
      <vt:variant>
        <vt:lpstr>Theme</vt:lpstr>
      </vt:variant>
      <vt:variant>
        <vt:i4>2</vt:i4>
      </vt:variant>
      <vt:variant>
        <vt:lpstr>Slide Titles</vt:lpstr>
      </vt:variant>
      <vt:variant>
        <vt:i4>173</vt:i4>
      </vt:variant>
    </vt:vector>
  </HeadingPairs>
  <TitlesOfParts>
    <vt:vector size="194" baseType="lpstr">
      <vt:lpstr>Arial</vt:lpstr>
      <vt:lpstr>Calibri</vt:lpstr>
      <vt:lpstr>Calibri Light</vt:lpstr>
      <vt:lpstr>Cambria Math</vt:lpstr>
      <vt:lpstr>CMMI10</vt:lpstr>
      <vt:lpstr>CMMI7</vt:lpstr>
      <vt:lpstr>CMR10</vt:lpstr>
      <vt:lpstr>Courier New</vt:lpstr>
      <vt:lpstr>fkGrotesk</vt:lpstr>
      <vt:lpstr>fkGroteskNeue</vt:lpstr>
      <vt:lpstr>Georgia</vt:lpstr>
      <vt:lpstr>ibm plex mono</vt:lpstr>
      <vt:lpstr>inter</vt:lpstr>
      <vt:lpstr>KaTeX_Main</vt:lpstr>
      <vt:lpstr>KaTeX_Math</vt:lpstr>
      <vt:lpstr>Symbol</vt:lpstr>
      <vt:lpstr>Times New Roman</vt:lpstr>
      <vt:lpstr>Verdana</vt:lpstr>
      <vt:lpstr>Wingdings</vt:lpstr>
      <vt:lpstr>1_Office Theme</vt:lpstr>
      <vt:lpstr>2_Office Theme</vt:lpstr>
      <vt:lpstr>PowerPoint Presentation</vt:lpstr>
      <vt:lpstr>Core Idea of g_m/I_D  Methodology</vt:lpstr>
      <vt:lpstr>Levels of Abstraction in Analog Design</vt:lpstr>
      <vt:lpstr>Why g_m/I_D  Matters at the Transistor Level</vt:lpstr>
      <vt:lpstr>Intuitive Takeaway for a Lecture </vt:lpstr>
      <vt:lpstr>MOS Transistor—From Physical to Small-Signal Model</vt:lpstr>
      <vt:lpstr>Where g_m/I_D  Fits in the Abstraction Hierarchy</vt:lpstr>
      <vt:lpstr> g_m/I_D  vs Vov-Based Design—Which is Better?</vt:lpstr>
      <vt:lpstr>Stepwise Flow—From Hand Calculations to Simulation</vt:lpstr>
      <vt:lpstr>Inner Loop: Hand Calculations</vt:lpstr>
      <vt:lpstr>Outer Loop: Simulation and Tuning</vt:lpstr>
      <vt:lpstr>MOSFET Biasing—Operating Regions</vt:lpstr>
      <vt:lpstr>Cont..</vt:lpstr>
      <vt:lpstr>Cont..</vt:lpstr>
      <vt:lpstr>Saturation-centric Transistor Biasing</vt:lpstr>
      <vt:lpstr>Overdrive Voltage—A Fundamental Variable</vt:lpstr>
      <vt:lpstr>Motivation: Why Use Vov in Transistor Design?</vt:lpstr>
      <vt:lpstr>The Role of gm: Connecting Small-Signal Performance to Biasing</vt:lpstr>
      <vt:lpstr>Linking gm, ID, and g_m/I_D  Ratio: Physical Meaning</vt:lpstr>
      <vt:lpstr>Why Do We Talk About g_m/I_D  in Analog Design?</vt:lpstr>
      <vt:lpstr>Transistor Efficiency – The g_m/I_D  Concept</vt:lpstr>
      <vt:lpstr>Why Does gm Control Speed? (The Bandwidth Analogy)</vt:lpstr>
      <vt:lpstr>gm and Noise (Clarity vs. Strength Analogy)</vt:lpstr>
      <vt:lpstr>Takeaways for Design</vt:lpstr>
      <vt:lpstr>The Classic MOSFET Model — Making the Channel</vt:lpstr>
      <vt:lpstr>Visualizing the Model (Graphs)</vt:lpstr>
      <vt:lpstr>Deriving and Using g_m/I_D  (Efficiency)</vt:lpstr>
      <vt:lpstr>Big Picture Design Takeaways</vt:lpstr>
      <vt:lpstr>What Does g_m/I_D  Really Show Us?</vt:lpstr>
      <vt:lpstr>Real Devices – Long vs Short Channel</vt:lpstr>
      <vt:lpstr>Cont..</vt:lpstr>
      <vt:lpstr>PowerPoint Presentation</vt:lpstr>
      <vt:lpstr>g_m/I_D  Regions, Circuit Implications, and Efficiency Zones</vt:lpstr>
      <vt:lpstr>Why Your Bias Choice Matters</vt:lpstr>
      <vt:lpstr>Cont.</vt:lpstr>
      <vt:lpstr>g_m/I_D  Regions—Mapping Bias to Efficiency</vt:lpstr>
      <vt:lpstr>The Subthreshold (Weak Inversion) Regime</vt:lpstr>
      <vt:lpstr>Cont..</vt:lpstr>
      <vt:lpstr>Summary Tabel</vt:lpstr>
      <vt:lpstr>MOSFET in Subthreshold: Fundamental Physics What does “subthreshold” mean?</vt:lpstr>
      <vt:lpstr>Cont..</vt:lpstr>
      <vt:lpstr>g_m/I_D  in Weak Inversion/Subthreshold</vt:lpstr>
      <vt:lpstr>Additional Insights</vt:lpstr>
      <vt:lpstr>Cont.</vt:lpstr>
      <vt:lpstr>Overview: Moderate Inversion in MOSFETs</vt:lpstr>
      <vt:lpstr>Moderate Inversion in MOSFETs deep Dive</vt:lpstr>
      <vt:lpstr>Practical Design Takeaways</vt:lpstr>
      <vt:lpstr>Table of g_m/I_D  Regimes:</vt:lpstr>
      <vt:lpstr>Discussion</vt:lpstr>
      <vt:lpstr>PowerPoint Presentation</vt:lpstr>
      <vt:lpstr>The Five MOSFET Design Variables</vt:lpstr>
      <vt:lpstr> V_SB (Source-to-Body Voltage)—Body Effect and Its Minimized Role</vt:lpstr>
      <vt:lpstr>The Effect of V_SB (Body Effect) on Threshold Voltage</vt:lpstr>
      <vt:lpstr>V_DS (Drain-to-Source Voltage)—Early Effect, Gain, and Headroom</vt:lpstr>
      <vt:lpstr>Example 2: Output Resistance via Early Effect</vt:lpstr>
      <vt:lpstr>V_GS (Gate-to-Source Voltage)—The 'Control Knob' (but really, I_D)</vt:lpstr>
      <vt:lpstr>Setting ID (via gm/ID) for Required Noise/Speed</vt:lpstr>
      <vt:lpstr>L (Length)—Speed, Gain, Matching, and Noise</vt:lpstr>
      <vt:lpstr>Calculating W from g_m/I_D  Table (LUT approach)</vt:lpstr>
      <vt:lpstr>W (Width)—The True Sizing Variable (But the Most Interdependent)</vt:lpstr>
      <vt:lpstr>Classic Sizing Flow (Square Law, for Intuition)</vt:lpstr>
      <vt:lpstr>Design Variables and Their Power</vt:lpstr>
      <vt:lpstr>Modern Sizing Methodology</vt:lpstr>
      <vt:lpstr>Sizing Flow Comparison</vt:lpstr>
      <vt:lpstr>Transistor-Level Design Steps—How Beginners Should Approach Netlist Construction</vt:lpstr>
      <vt:lpstr>Key Intuitive Takeaways</vt:lpstr>
      <vt:lpstr>g_m/I_D -Based Device Sizing Using Reference Plots and Cross-Multiplication</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Degrees of Freedom, LUT Generation, and Design Methodology</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Cont..</vt:lpstr>
      <vt:lpstr>MOSFET Biasing—Operating Regions</vt:lpstr>
      <vt:lpstr>Cont..</vt:lpstr>
      <vt:lpstr>Cont..</vt:lpstr>
      <vt:lpstr>Saturation-centric Transistor Biasing</vt:lpstr>
      <vt:lpstr>Overdrive Voltage—A Fundamental Variable</vt:lpstr>
      <vt:lpstr>Lecture Delivery Sequence</vt:lpstr>
      <vt:lpstr>PowerPoint Presentation</vt:lpstr>
      <vt:lpstr>Motivation: Why Use Vov in Transistor Design?</vt:lpstr>
      <vt:lpstr>The Role of gm: Connecting Small-Signal Performance to Biasing</vt:lpstr>
      <vt:lpstr>Linking gm, ID, and gm/ID Ratio: Physical Meaning </vt:lpstr>
      <vt:lpstr>Stepwise Foundation</vt:lpstr>
      <vt:lpstr>Motivation for Adopting This Approach</vt:lpstr>
      <vt:lpstr>Systematic Steps: The Power of Constant Vov</vt:lpstr>
      <vt:lpstr>PowerPoint Presentation</vt:lpstr>
      <vt:lpstr>PowerPoint Presentation</vt:lpstr>
      <vt:lpstr>PowerPoint Presentation</vt:lpstr>
      <vt:lpstr>Key Takeaways for Intuitive Design</vt:lpstr>
      <vt:lpstr>A Stepwise Practical Path for Students</vt:lpstr>
      <vt:lpstr>gm/ID vs. fT Tradeoff—The Designer’s Dilemma</vt:lpstr>
      <vt:lpstr>gm/ID vs. fT Tradeoff—The Core Design Dial</vt:lpstr>
      <vt:lpstr>The Vov “Control Knob”—Designer's Choice</vt:lpstr>
      <vt:lpstr>Deep Design Implications &amp; Steps</vt:lpstr>
      <vt:lpstr>Motivation: Why This Matters for Analog Design</vt:lpstr>
      <vt:lpstr>Stepwise Insights</vt:lpstr>
      <vt:lpstr>Motivation: Unifying Analog Design</vt:lpstr>
      <vt:lpstr>In-Depth Intuition on: Using Vov for Design Decisions</vt:lpstr>
      <vt:lpstr>PowerPoint Presentation</vt:lpstr>
      <vt:lpstr>PowerPoint Presentation</vt:lpstr>
      <vt:lpstr>PowerPoint Presentation</vt:lpstr>
      <vt:lpstr>In Summary:</vt:lpstr>
      <vt:lpstr>From Specifications to Device Sizing with Vov</vt:lpstr>
      <vt:lpstr>PowerPoint Presentation</vt:lpstr>
      <vt:lpstr>PowerPoint Presentation</vt:lpstr>
      <vt:lpstr>The limitations of basic Vov-based (long-channel) design</vt:lpstr>
      <vt:lpstr>fT vs. VovVov — Model vs. Reality</vt:lpstr>
      <vt:lpstr>Limitations of Vov-Based (Long-Channel) Design</vt:lpstr>
      <vt:lpstr>Implication for Design Flow</vt:lpstr>
      <vt:lpstr>Why Move to gm/ID Instead of Vov?</vt:lpstr>
      <vt:lpstr>The Power of gm/ID as a Direct Design Variable</vt:lpstr>
      <vt:lpstr>Figure: Step-by-Step Design Using gm/ID</vt:lpstr>
      <vt:lpstr>Figure : Process-Aware Design Charts</vt:lpstr>
      <vt:lpstr>Introduction to gm/ID-Based Design Philosophy</vt:lpstr>
      <vt:lpstr>Lecture Delivery Strategy</vt:lpstr>
      <vt:lpstr>The Role of ro and Intrinsic Gain</vt:lpstr>
      <vt:lpstr>Intrinsic Gain and Biasing Charts</vt:lpstr>
      <vt:lpstr>PowerPoint Presentation</vt:lpstr>
      <vt:lpstr>Putting it All Together: Design Insights</vt:lpstr>
      <vt:lpstr>Final Steps—Sizing Using gm/ID </vt:lpstr>
      <vt:lpstr>Parallel Scaling and gm/ID Method Fundamentals</vt:lpstr>
      <vt:lpstr>Key Physical Invariance</vt:lpstr>
      <vt:lpstr>Deeper Intuitive Magic of gm/ID</vt:lpstr>
      <vt:lpstr>Design Practicality and Accuracy</vt:lpstr>
      <vt:lpstr> How to Build Design Charts</vt:lpstr>
      <vt:lpstr>How gm/ID Design Charts Are Made</vt:lpstr>
      <vt:lpstr>Problem Specification—Design Requirements</vt:lpstr>
      <vt:lpstr>Design Example Workflow</vt:lpstr>
      <vt:lpstr>Why This Is Powerful</vt:lpstr>
      <vt:lpstr>Technology Characterization Using Simulation</vt:lpstr>
      <vt:lpstr>PowerPoint Presentation</vt:lpstr>
      <vt:lpstr>Design Steps</vt:lpstr>
      <vt:lpstr>PowerPoint Presentation</vt:lpstr>
      <vt:lpstr>PowerPoint Presentation</vt:lpstr>
      <vt:lpstr>PowerPoint Presentation</vt:lpstr>
      <vt:lpstr>PowerPoint Presentation</vt:lpstr>
      <vt:lpstr>PowerPoint Presentation</vt:lpstr>
      <vt:lpstr>Design Takeaways and Final Thoughts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Neeraj Mishra</dc:creator>
  <cp:lastModifiedBy>Neeraj Mishra</cp:lastModifiedBy>
  <cp:revision>119</cp:revision>
  <dcterms:created xsi:type="dcterms:W3CDTF">2025-10-02T08:33:54Z</dcterms:created>
  <dcterms:modified xsi:type="dcterms:W3CDTF">2025-11-03T06:21:03Z</dcterms:modified>
</cp:coreProperties>
</file>