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60" r:id="rId4"/>
    <p:sldId id="258" r:id="rId5"/>
    <p:sldId id="259" r:id="rId6"/>
    <p:sldId id="268" r:id="rId7"/>
    <p:sldId id="261" r:id="rId8"/>
    <p:sldId id="269" r:id="rId9"/>
    <p:sldId id="270" r:id="rId10"/>
    <p:sldId id="262" r:id="rId11"/>
    <p:sldId id="271" r:id="rId12"/>
    <p:sldId id="272" r:id="rId13"/>
    <p:sldId id="263" r:id="rId14"/>
    <p:sldId id="273" r:id="rId15"/>
    <p:sldId id="274" r:id="rId16"/>
    <p:sldId id="264" r:id="rId17"/>
    <p:sldId id="275" r:id="rId18"/>
    <p:sldId id="265" r:id="rId19"/>
    <p:sldId id="276" r:id="rId20"/>
    <p:sldId id="277" r:id="rId21"/>
    <p:sldId id="266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D32E57-F83F-27E9-1486-91617C1D2AE6}" v="267" dt="2025-07-07T07:54:52.156"/>
    <p1510:client id="{3BF13C6B-B271-962C-5907-949F92A7F94C}" v="351" dt="2025-07-07T19:10:21.382"/>
    <p1510:client id="{9DB94550-3AAC-D97E-9FB3-A2B76D37FFF3}" v="3822" dt="2025-07-07T18:53:12.975"/>
    <p1510:client id="{A8BAD805-8686-F234-16BF-BA0D2967BCB9}" v="1631" dt="2025-07-06T14:31:57.919"/>
    <p1510:client id="{CA0F40D7-29AC-7715-21B5-DFC9DF9BDF1E}" v="1405" dt="2025-07-05T20:13:55.7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23875-7841-4EF4-AD0F-CE4565A726D5}" type="datetimeFigureOut">
              <a:t>7/14/2025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A2459-426C-4331-9210-B3DFA14C7CF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PDF tells us how often different noise values are likely to happen.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WHY PDF ???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It is a property of noise that can be computed in time-domain. </a:t>
            </a:r>
          </a:p>
          <a:p>
            <a:pPr marL="171450" indent="-171450">
              <a:buFont typeface="Calibri"/>
              <a:buChar char="-"/>
            </a:pPr>
            <a:r>
              <a:rPr lang="en-US"/>
              <a:t>For a standard normal distribution: About </a:t>
            </a:r>
            <a:r>
              <a:rPr lang="en-US" b="1"/>
              <a:t>99.994%</a:t>
            </a:r>
            <a:r>
              <a:rPr lang="en-US"/>
              <a:t> lie within </a:t>
            </a:r>
            <a:r>
              <a:rPr lang="en-US" b="1"/>
              <a:t>±4σ.</a:t>
            </a:r>
            <a:endParaRPr lang="en-US" b="1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When modeling noise (like thermal noise or flicker noise), if it's Gaussian: </a:t>
            </a:r>
          </a:p>
          <a:p>
            <a:pPr lvl="1" indent="-171450">
              <a:buFont typeface="Courier New"/>
              <a:buChar char="o"/>
            </a:pPr>
            <a:r>
              <a:rPr lang="en-US" b="1"/>
              <a:t>±4σ bounds</a:t>
            </a:r>
            <a:r>
              <a:rPr lang="en-US"/>
              <a:t> act as a </a:t>
            </a:r>
            <a:r>
              <a:rPr lang="en-US" b="1"/>
              <a:t>practical limit</a:t>
            </a:r>
            <a:r>
              <a:rPr lang="en-US"/>
              <a:t> for expected noise amplitude.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9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 panose="020F0502020204030204"/>
                <a:cs typeface="Calibri" panose="020F0502020204030204"/>
              </a:rPr>
              <a:t>Why FT gives a messy chart if signal is NOISE. ?? </a:t>
            </a:r>
          </a:p>
          <a:p>
            <a:pPr marL="285750" indent="-285750">
              <a:buFont typeface="Calibri"/>
              <a:buChar char="-"/>
            </a:pPr>
            <a:r>
              <a:rPr lang="en-US" dirty="0"/>
              <a:t>The FT is a math tool used to convert a signal from the time to the frequency domain.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/>
              <a:t>For pure sine wave or a square wave, the FT gives us </a:t>
            </a:r>
            <a:r>
              <a:rPr lang="en-US" b="1" dirty="0"/>
              <a:t>frequencies that are present</a:t>
            </a:r>
            <a:r>
              <a:rPr lang="en-US" dirty="0"/>
              <a:t> in the signal. It also tells us how much amplitude each frequency component has (clear energy chart). 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 dirty="0"/>
              <a:t>It Create a </a:t>
            </a:r>
            <a:r>
              <a:rPr lang="en-US" b="1" dirty="0"/>
              <a:t>clear frequency-domain plot</a:t>
            </a:r>
            <a:r>
              <a:rPr lang="en-US" dirty="0"/>
              <a:t> showing spikes at specific frequencies.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r>
              <a:rPr lang="en-US" b="1" dirty="0">
                <a:ea typeface="Calibri"/>
                <a:cs typeface="Calibri"/>
              </a:rPr>
              <a:t>PSD – power density function </a:t>
            </a:r>
          </a:p>
          <a:p>
            <a:r>
              <a:rPr lang="en-US" dirty="0">
                <a:ea typeface="Calibri"/>
                <a:cs typeface="Calibri"/>
              </a:rPr>
              <a:t>-In practice : </a:t>
            </a:r>
            <a:r>
              <a:rPr lang="en-US" dirty="0"/>
              <a:t>For high frequencies it’s hard to make a 1-Hz-wide filter.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/>
              <a:t>-So we use a wider filter, like 1 MHz, and </a:t>
            </a:r>
            <a:r>
              <a:rPr lang="en-US" b="1" dirty="0"/>
              <a:t>divide the power by 10^6</a:t>
            </a:r>
            <a:r>
              <a:rPr lang="en-US" dirty="0"/>
              <a:t> to estimate how much power would be in just 1 Hz. </a:t>
            </a:r>
            <a:endParaRPr lang="en-US" dirty="0">
              <a:ea typeface="Calibri"/>
              <a:cs typeface="Calibri"/>
            </a:endParaRPr>
          </a:p>
          <a:p>
            <a:endParaRPr lang="en-US" b="1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0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>
                <a:ea typeface="Calibri"/>
                <a:cs typeface="+mn-lt"/>
              </a:rPr>
              <a:t>How does thermal Ek produce noise ? </a:t>
            </a:r>
            <a:br>
              <a:rPr lang="en-US" dirty="0">
                <a:ea typeface="Calibri"/>
                <a:cs typeface="+mn-lt"/>
              </a:rPr>
            </a:br>
            <a:r>
              <a:rPr lang="en-US" dirty="0">
                <a:solidFill>
                  <a:srgbClr val="010409"/>
                </a:solidFill>
              </a:rPr>
              <a:t>- Because thermal energy causes electrons to move randomly, creating small voltage fluctuations.</a:t>
            </a:r>
            <a:endParaRPr lang="en-US" i="1" dirty="0">
              <a:solidFill>
                <a:srgbClr val="010409"/>
              </a:solidFill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Why</a:t>
            </a:r>
            <a:r>
              <a:rPr lang="en-US" dirty="0">
                <a:solidFill>
                  <a:srgbClr val="010409"/>
                </a:solidFill>
              </a:rPr>
              <a:t> is the PSD in V²/Hz instead of W/Hz?</a:t>
            </a:r>
            <a:br>
              <a:rPr lang="en-US" dirty="0">
                <a:cs typeface="+mn-lt"/>
              </a:rPr>
            </a:br>
            <a:r>
              <a:rPr lang="en-US" dirty="0">
                <a:solidFill>
                  <a:srgbClr val="010409"/>
                </a:solidFill>
              </a:rPr>
              <a:t>Because it represents voltage noise power, not actual energy power. It's the mean square voltage per Hz.</a:t>
            </a:r>
            <a:endParaRPr lang="en-US">
              <a:solidFill>
                <a:srgbClr val="010409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FF0000"/>
                </a:solidFill>
              </a:rPr>
              <a:t>Voltage noise power refers to the random fluctuations in voltage that occur due to various noise sources within a circuit. Actual energy power is : consumed energy.</a:t>
            </a:r>
            <a:endParaRPr lang="en-US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3. </a:t>
            </a:r>
            <a:r>
              <a:rPr lang="en-US" dirty="0">
                <a:solidFill>
                  <a:srgbClr val="010409"/>
                </a:solidFill>
              </a:rPr>
              <a:t>Smaller resistors produce </a:t>
            </a:r>
            <a:r>
              <a:rPr lang="en-US" b="1" dirty="0">
                <a:solidFill>
                  <a:srgbClr val="010409"/>
                </a:solidFill>
              </a:rPr>
              <a:t>less thermal noise : 4kTR</a:t>
            </a:r>
          </a:p>
          <a:p>
            <a:endParaRPr lang="en-US" b="1" dirty="0">
              <a:solidFill>
                <a:srgbClr val="010409"/>
              </a:solidFill>
              <a:ea typeface="Calibri"/>
              <a:cs typeface="Calibri"/>
            </a:endParaRPr>
          </a:p>
          <a:p>
            <a:r>
              <a:rPr lang="en-US" b="1" dirty="0">
                <a:solidFill>
                  <a:srgbClr val="010409"/>
                </a:solidFill>
                <a:ea typeface="Calibri"/>
                <a:cs typeface="Calibri"/>
              </a:rPr>
              <a:t>4. Ideally, capacitors and inductors do not produce noise, but they help to shape the </a:t>
            </a:r>
            <a:r>
              <a:rPr lang="en-US" b="1" dirty="0">
                <a:solidFill>
                  <a:srgbClr val="010409"/>
                </a:solidFill>
              </a:rPr>
              <a:t>noise spectrum. </a:t>
            </a:r>
            <a:endParaRPr lang="en-US" b="1" dirty="0">
              <a:solidFill>
                <a:srgbClr val="010409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b="1" dirty="0">
                <a:solidFill>
                  <a:srgbClr val="010409"/>
                </a:solidFill>
              </a:rPr>
              <a:t>5. Capacitors</a:t>
            </a:r>
            <a:r>
              <a:rPr lang="en-US" dirty="0">
                <a:solidFill>
                  <a:srgbClr val="010409"/>
                </a:solidFill>
              </a:rPr>
              <a:t> and </a:t>
            </a:r>
            <a:r>
              <a:rPr lang="en-US" b="1" dirty="0">
                <a:solidFill>
                  <a:srgbClr val="010409"/>
                </a:solidFill>
              </a:rPr>
              <a:t>inductors</a:t>
            </a:r>
            <a:r>
              <a:rPr lang="en-US" dirty="0">
                <a:solidFill>
                  <a:srgbClr val="010409"/>
                </a:solidFill>
              </a:rPr>
              <a:t> </a:t>
            </a:r>
            <a:r>
              <a:rPr lang="en-US" b="1" dirty="0">
                <a:solidFill>
                  <a:srgbClr val="010409"/>
                </a:solidFill>
              </a:rPr>
              <a:t>store energy</a:t>
            </a:r>
            <a:r>
              <a:rPr lang="en-US" dirty="0">
                <a:solidFill>
                  <a:srgbClr val="010409"/>
                </a:solidFill>
              </a:rPr>
              <a:t>, not dissipate it. Since they don’t lose energy as heat, they don’t generate thermal noise on their own.</a:t>
            </a:r>
          </a:p>
          <a:p>
            <a:endParaRPr lang="en-US" dirty="0">
              <a:solidFill>
                <a:srgbClr val="010409"/>
              </a:solidFill>
              <a:ea typeface="Calibri"/>
              <a:cs typeface="Calibri"/>
            </a:endParaRPr>
          </a:p>
          <a:p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Note : practical capacitors and inductors have some resistance which may lead to thermal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294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>
                <a:ea typeface="Calibri"/>
                <a:cs typeface="Calibri"/>
              </a:rPr>
              <a:t>Why is the </a:t>
            </a:r>
            <a:r>
              <a:rPr lang="en-US" err="1">
                <a:ea typeface="Calibri"/>
                <a:cs typeface="Calibri"/>
              </a:rPr>
              <a:t>Vn</a:t>
            </a:r>
            <a:r>
              <a:rPr lang="en-US" dirty="0">
                <a:ea typeface="Calibri"/>
                <a:cs typeface="Calibri"/>
              </a:rPr>
              <a:t> connected to the gate ?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 indent="-228600">
              <a:buFont typeface="Courier New"/>
              <a:buChar char="o"/>
            </a:pPr>
            <a:r>
              <a:rPr lang="en-US" dirty="0"/>
              <a:t>Because flicker noise starts near the gate, where tiny defects randomly change the voltage. </a:t>
            </a:r>
            <a:endParaRPr lang="en-US" dirty="0"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en-US" dirty="0">
                <a:ea typeface="Calibri"/>
                <a:cs typeface="Calibri"/>
              </a:rPr>
              <a:t>What happens to flicker noise in higher frequencies?</a:t>
            </a:r>
          </a:p>
          <a:p>
            <a:pPr lvl="1" indent="-228600">
              <a:buFont typeface="Courier New"/>
              <a:buChar char="o"/>
            </a:pPr>
            <a:r>
              <a:rPr lang="en-US" dirty="0">
                <a:ea typeface="Calibri"/>
                <a:cs typeface="Calibri"/>
              </a:rPr>
              <a:t>It simply decreases. </a:t>
            </a:r>
          </a:p>
          <a:p>
            <a:pPr marL="228600" indent="-228600">
              <a:buAutoNum type="arabicPeriod"/>
            </a:pPr>
            <a:r>
              <a:rPr lang="en-US" dirty="0"/>
              <a:t>Why does flicker noise depend on 1/f and device area (W·L *Cox)?</a:t>
            </a:r>
            <a:r>
              <a:rPr lang="en-US" dirty="0">
                <a:ea typeface="Calibri" panose="020F0502020204030204"/>
                <a:cs typeface="Calibri" panose="020F0502020204030204"/>
              </a:rPr>
              <a:t>  </a:t>
            </a:r>
          </a:p>
          <a:p>
            <a:pPr lvl="1" indent="-228600">
              <a:buFont typeface="Courier New"/>
              <a:buChar char="o"/>
            </a:pPr>
            <a:r>
              <a:rPr lang="en-US" dirty="0">
                <a:ea typeface="Calibri" panose="020F0502020204030204"/>
                <a:cs typeface="Calibri" panose="020F0502020204030204"/>
              </a:rPr>
              <a:t>Noise is inversely related to frequency and the device area</a:t>
            </a:r>
          </a:p>
          <a:p>
            <a:pPr lvl="1" indent="-228600">
              <a:buFont typeface="Courier New"/>
              <a:buChar char="o"/>
            </a:pPr>
            <a:r>
              <a:rPr lang="en-US">
                <a:ea typeface="Calibri" panose="020F0502020204030204"/>
                <a:cs typeface="Calibri" panose="020F0502020204030204"/>
              </a:rPr>
              <a:t>Noise is less in devices with bigger areas</a:t>
            </a:r>
          </a:p>
          <a:p>
            <a:pPr indent="-228600">
              <a:buAutoNum type="arabicPeriod"/>
            </a:pPr>
            <a:r>
              <a:rPr lang="en-US" dirty="0"/>
              <a:t> </a:t>
            </a:r>
            <a:r>
              <a:rPr lang="en-US" dirty="0">
                <a:solidFill>
                  <a:schemeClr val="accent2"/>
                </a:solidFill>
              </a:rPr>
              <a:t>Why thermal noise is more pronounced in the saturation region ??</a:t>
            </a:r>
            <a:endParaRPr lang="en-US" dirty="0">
              <a:solidFill>
                <a:schemeClr val="accent2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- MOSFETS with Shorter channels and higher electric fields make electrons move faster and more chaotically.</a:t>
            </a: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- This extra movement (caused by heat) creates more noise in the current.</a:t>
            </a:r>
          </a:p>
          <a:p>
            <a:pPr lvl="2" indent="-228600">
              <a:buFont typeface="Courier New"/>
              <a:buChar char="o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r>
              <a:rPr lang="en-US" i="1" dirty="0">
                <a:solidFill>
                  <a:srgbClr val="FF0000"/>
                </a:solidFill>
                <a:ea typeface="Calibri"/>
                <a:cs typeface="Calibri"/>
              </a:rPr>
              <a:t>FUN FACT : </a:t>
            </a:r>
            <a:r>
              <a:rPr lang="en-US" i="1" dirty="0">
                <a:solidFill>
                  <a:srgbClr val="FF0000"/>
                </a:solidFill>
              </a:rPr>
              <a:t>PMOS has less flicker noise because holes are less affected by gate oxide traps than electrons.</a:t>
            </a:r>
            <a:br>
              <a:rPr lang="en-US" i="1" dirty="0">
                <a:cs typeface="+mn-lt"/>
              </a:rPr>
            </a:br>
            <a:r>
              <a:rPr lang="en-US" i="1" dirty="0">
                <a:solidFill>
                  <a:srgbClr val="FF0000"/>
                </a:solidFill>
              </a:rPr>
              <a:t> So, when flicker noise is a problem ; PMOS is preferred for critical low-noise paths.</a:t>
            </a:r>
          </a:p>
          <a:p>
            <a:endParaRPr lang="en-US" i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976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</a:t>
            </a:r>
            <a:r>
              <a:rPr lang="en-US" b="1" dirty="0"/>
              <a:t>Why do we use |H(f)|² instead of just |H(f)|?</a:t>
            </a:r>
            <a:endParaRPr lang="en-US" dirty="0"/>
          </a:p>
          <a:p>
            <a:r>
              <a:rPr lang="en-US" dirty="0"/>
              <a:t>Because noise power (V²) depends on the square of the voltage gain, not just the gain itself.</a:t>
            </a:r>
            <a:endParaRPr lang="en-US" b="1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2. </a:t>
            </a:r>
            <a:r>
              <a:rPr lang="en-US" b="1" dirty="0"/>
              <a:t>If noise is random, how can we predict its effect at the output?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We can't predict each noise value, but we can predict its </a:t>
            </a:r>
            <a:r>
              <a:rPr lang="en-US" b="1" dirty="0"/>
              <a:t>average power</a:t>
            </a:r>
            <a:r>
              <a:rPr lang="en-US" dirty="0"/>
              <a:t> across frequencies using </a:t>
            </a:r>
            <a:r>
              <a:rPr lang="en-US" b="1" dirty="0"/>
              <a:t>power spectral density</a:t>
            </a:r>
            <a:r>
              <a:rPr lang="en-US" dirty="0"/>
              <a:t> and the </a:t>
            </a:r>
            <a:r>
              <a:rPr lang="en-US" b="1" dirty="0"/>
              <a:t>circuit’s transfer function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705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Every Frequency component contributes to its time-domain fluctuations.</a:t>
            </a:r>
            <a:endParaRPr lang="en-US" b="1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HOW ???????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Noise in time domain = random fluctuations.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Those fluctuations come from many frequency components.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Each frequency band (from low to high) contributes a part of the total noise power.</a:t>
            </a:r>
            <a:endParaRPr lang="en-US" b="1" dirty="0"/>
          </a:p>
          <a:p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And </a:t>
            </a:r>
            <a:r>
              <a:rPr lang="en-US" b="1" dirty="0"/>
              <a:t>Parseval’s theorem guarantees</a:t>
            </a:r>
            <a:r>
              <a:rPr lang="en-US" dirty="0"/>
              <a:t> that the total contribution (energy or power) </a:t>
            </a:r>
            <a:r>
              <a:rPr lang="en-US" b="1" dirty="0"/>
              <a:t>adds up equally</a:t>
            </a:r>
            <a:r>
              <a:rPr lang="en-US" dirty="0"/>
              <a:t> in both domains.</a:t>
            </a:r>
          </a:p>
          <a:p>
            <a:pPr marL="171450" indent="-171450">
              <a:buFont typeface="Arial"/>
              <a:buChar char="•"/>
            </a:pPr>
            <a:r>
              <a:rPr lang="en-US" i="1" dirty="0">
                <a:solidFill>
                  <a:srgbClr val="FF0000"/>
                </a:solidFill>
              </a:rPr>
              <a:t>If you remove some frequency components (like in filtering),</a:t>
            </a:r>
            <a:br>
              <a:rPr lang="en-US" i="1" dirty="0">
                <a:solidFill>
                  <a:srgbClr val="FF0000"/>
                </a:solidFill>
                <a:cs typeface="+mn-lt"/>
              </a:rPr>
            </a:br>
            <a:r>
              <a:rPr lang="en-US" i="1" dirty="0">
                <a:solidFill>
                  <a:srgbClr val="FF0000"/>
                </a:solidFill>
              </a:rPr>
              <a:t> -  You’ll see less noise fluctuation in time.</a:t>
            </a:r>
            <a:br>
              <a:rPr lang="en-US" i="1" dirty="0">
                <a:solidFill>
                  <a:srgbClr val="FF0000"/>
                </a:solidFill>
                <a:cs typeface="+mn-lt"/>
              </a:rPr>
            </a:br>
            <a:r>
              <a:rPr lang="en-US" i="1" dirty="0">
                <a:solidFill>
                  <a:srgbClr val="FF0000"/>
                </a:solidFill>
              </a:rPr>
              <a:t> -  Because those frequencies no longer contribute energy to the signal.</a:t>
            </a:r>
            <a:endParaRPr lang="en-US" b="1" i="1" dirty="0">
              <a:solidFill>
                <a:srgbClr val="FF0000"/>
              </a:solidFill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11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t= 1/f = 1/1Khz  = 1ms.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010409"/>
                </a:solidFill>
              </a:rPr>
              <a:t> </a:t>
            </a:r>
            <a:r>
              <a:rPr lang="en-US" b="1" dirty="0">
                <a:solidFill>
                  <a:srgbClr val="010409"/>
                </a:solidFill>
              </a:rPr>
              <a:t>What happens if we use too few frequency slices to model noise?</a:t>
            </a:r>
            <a:br>
              <a:rPr lang="en-US" b="1" dirty="0">
                <a:cs typeface="+mn-lt"/>
              </a:rPr>
            </a:br>
            <a:r>
              <a:rPr lang="en-US" dirty="0">
                <a:solidFill>
                  <a:srgbClr val="010409"/>
                </a:solidFill>
              </a:rPr>
              <a:t>     = The model won’t capture the random nature of noise over longer timescales.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And if we increase the no. Of slices, we get a more accurate noise model. </a:t>
            </a:r>
          </a:p>
          <a:p>
            <a:br>
              <a:rPr lang="en-US" dirty="0"/>
            </a:b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256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/>
              <a:t>ω0   is called as the "carrier" frequency. (ideal) WHY ?</a:t>
            </a:r>
            <a:endParaRPr lang="en-US" b="1">
              <a:ea typeface="Calibri" panose="020F0502020204030204"/>
              <a:cs typeface="Calibri" panose="020F0502020204030204"/>
            </a:endParaRPr>
          </a:p>
          <a:p>
            <a:r>
              <a:rPr lang="en-US" dirty="0"/>
              <a:t>The actual output wobbles around ω0 due to noise, but ω0 is still the central reference.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It carries the actual output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1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 dirty="0">
                <a:ea typeface="Calibri"/>
                <a:cs typeface="Calibri"/>
              </a:rPr>
              <a:t>Why does the excess phase oscillate? </a:t>
            </a:r>
          </a:p>
          <a:p>
            <a:r>
              <a:rPr lang="en-US" dirty="0">
                <a:ea typeface="Calibri"/>
                <a:cs typeface="Calibri"/>
              </a:rPr>
              <a:t> - {</a:t>
            </a:r>
            <a:r>
              <a:rPr lang="en-US" dirty="0" err="1">
                <a:ea typeface="Calibri"/>
                <a:cs typeface="Calibri"/>
              </a:rPr>
              <a:t>Kvco</a:t>
            </a:r>
            <a:r>
              <a:rPr lang="en-US" dirty="0">
                <a:ea typeface="Calibri"/>
                <a:cs typeface="Calibri"/>
              </a:rPr>
              <a:t>/</a:t>
            </a:r>
            <a:r>
              <a:rPr lang="en-US" dirty="0" err="1">
                <a:ea typeface="Calibri"/>
                <a:cs typeface="Calibri"/>
              </a:rPr>
              <a:t>wm</a:t>
            </a:r>
            <a:r>
              <a:rPr lang="en-US" dirty="0">
                <a:ea typeface="Calibri"/>
                <a:cs typeface="Calibri"/>
              </a:rPr>
              <a:t>} sin (</a:t>
            </a:r>
            <a:r>
              <a:rPr lang="en-US" dirty="0" err="1">
                <a:ea typeface="Calibri"/>
                <a:cs typeface="Calibri"/>
              </a:rPr>
              <a:t>wmt</a:t>
            </a:r>
            <a:r>
              <a:rPr lang="en-US" dirty="0">
                <a:ea typeface="Calibri"/>
                <a:cs typeface="Calibri"/>
              </a:rPr>
              <a:t>) is the excess phase : it oscillates as Sine wave</a:t>
            </a:r>
          </a:p>
          <a:p>
            <a:r>
              <a:rPr lang="en-US" dirty="0">
                <a:ea typeface="Calibri"/>
                <a:cs typeface="Calibri"/>
              </a:rPr>
              <a:t> - with an amplitude </a:t>
            </a:r>
            <a:r>
              <a:rPr lang="en-US" dirty="0"/>
              <a:t>{</a:t>
            </a:r>
            <a:r>
              <a:rPr lang="en-US" err="1"/>
              <a:t>Kvco</a:t>
            </a:r>
            <a:r>
              <a:rPr lang="en-US" dirty="0"/>
              <a:t>/</a:t>
            </a:r>
            <a:r>
              <a:rPr lang="en-US" err="1"/>
              <a:t>wm</a:t>
            </a:r>
            <a:r>
              <a:rPr lang="en-US" dirty="0"/>
              <a:t>}</a:t>
            </a:r>
          </a:p>
          <a:p>
            <a:r>
              <a:rPr lang="en-US" b="1" dirty="0">
                <a:ea typeface="Calibri"/>
                <a:cs typeface="Calibri"/>
              </a:rPr>
              <a:t>2. What does the observation mean ? </a:t>
            </a:r>
            <a:r>
              <a:rPr lang="en-US" dirty="0">
                <a:ea typeface="Calibri"/>
                <a:cs typeface="Calibri"/>
              </a:rPr>
              <a:t> </a:t>
            </a:r>
          </a:p>
          <a:p>
            <a:r>
              <a:rPr lang="en-US" dirty="0">
                <a:ea typeface="Calibri"/>
                <a:cs typeface="Calibri"/>
              </a:rPr>
              <a:t> - The max and the min amplitude / deviation of the </a:t>
            </a:r>
            <a:r>
              <a:rPr lang="en-US" dirty="0" err="1">
                <a:ea typeface="Calibri"/>
                <a:cs typeface="Calibri"/>
              </a:rPr>
              <a:t>Phi_total</a:t>
            </a:r>
            <a:r>
              <a:rPr lang="en-US" dirty="0">
                <a:ea typeface="Calibri"/>
                <a:cs typeface="Calibri"/>
              </a:rPr>
              <a:t> (t) from the ideal w*t line is due to the period motion of the excess phase.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2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Eye diagram is a diagram which shows the deviation of Clock cycles from their ideal cycles all in one picture.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59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 dirty="0">
                <a:solidFill>
                  <a:srgbClr val="010409"/>
                </a:solidFill>
              </a:rPr>
              <a:t>Measuring Phase noise:</a:t>
            </a:r>
            <a:endParaRPr lang="en-US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dirty="0">
                <a:solidFill>
                  <a:srgbClr val="010409"/>
                </a:solidFill>
              </a:rPr>
              <a:t>Phase noise isn’t the same at all frequencies—it changes as you move away from the main signal frequency (f₀). To measure and compare phase noise, we use a standard method:</a:t>
            </a:r>
          </a:p>
          <a:p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  - When we select the offset; we measure noise power using power spectrum density at    that freq.</a:t>
            </a:r>
          </a:p>
          <a:p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  - By Comparing we mean </a:t>
            </a:r>
            <a:r>
              <a:rPr lang="en-US" dirty="0" err="1">
                <a:solidFill>
                  <a:srgbClr val="010409"/>
                </a:solidFill>
                <a:ea typeface="Calibri"/>
                <a:cs typeface="Calibri"/>
              </a:rPr>
              <a:t>Normalising</a:t>
            </a:r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 the noise power. </a:t>
            </a:r>
          </a:p>
          <a:p>
            <a:r>
              <a:rPr lang="en-US" dirty="0">
                <a:solidFill>
                  <a:srgbClr val="010409"/>
                </a:solidFill>
                <a:ea typeface="Calibri"/>
                <a:cs typeface="Calibri"/>
              </a:rPr>
              <a:t>2. </a:t>
            </a:r>
            <a:r>
              <a:rPr lang="en-US" b="1" dirty="0">
                <a:solidFill>
                  <a:srgbClr val="010409"/>
                </a:solidFill>
                <a:ea typeface="Calibri"/>
                <a:cs typeface="Calibri"/>
              </a:rPr>
              <a:t> What do you mean by </a:t>
            </a:r>
            <a:r>
              <a:rPr lang="en-US" b="1" dirty="0" err="1">
                <a:solidFill>
                  <a:srgbClr val="010409"/>
                </a:solidFill>
                <a:ea typeface="Calibri"/>
                <a:cs typeface="Calibri"/>
              </a:rPr>
              <a:t>normalising</a:t>
            </a:r>
            <a:r>
              <a:rPr lang="en-US" b="1" dirty="0">
                <a:solidFill>
                  <a:srgbClr val="010409"/>
                </a:solidFill>
                <a:ea typeface="Calibri"/>
                <a:cs typeface="Calibri"/>
              </a:rPr>
              <a:t> the noise power? </a:t>
            </a:r>
          </a:p>
          <a:p>
            <a:r>
              <a:rPr lang="en-US" dirty="0">
                <a:solidFill>
                  <a:srgbClr val="010409"/>
                </a:solidFill>
              </a:rPr>
              <a:t>the normalized output noise spectrum is just the phase noise spectrum centered at f0 instead of 0.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7041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WHY RMS??</a:t>
            </a:r>
          </a:p>
          <a:p>
            <a:r>
              <a:rPr lang="en-US" dirty="0">
                <a:ea typeface="Calibri"/>
                <a:cs typeface="Calibri"/>
              </a:rPr>
              <a:t>For accurate </a:t>
            </a:r>
            <a:r>
              <a:rPr lang="en-US" dirty="0" err="1">
                <a:ea typeface="Calibri"/>
                <a:cs typeface="Calibri"/>
              </a:rPr>
              <a:t>comparision</a:t>
            </a:r>
            <a:r>
              <a:rPr lang="en-US" dirty="0">
                <a:ea typeface="Calibri"/>
                <a:cs typeface="Calibri"/>
              </a:rPr>
              <a:t> of Jitter vs Phase noise; </a:t>
            </a:r>
            <a:endParaRPr lang="en-US" dirty="0"/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We have to use random Jitter as phase noise is also strictly due to randomness of the noise.</a:t>
            </a:r>
          </a:p>
          <a:p>
            <a:pPr marL="171450" indent="-17145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While Comparing random jitter and phase noise, we use RMS jitter instead of the Peak-to-peak Jitter value as reason mentioned above.</a:t>
            </a:r>
          </a:p>
          <a:p>
            <a:r>
              <a:rPr lang="en-US" b="1" dirty="0">
                <a:ea typeface="Calibri"/>
                <a:cs typeface="Calibri"/>
              </a:rPr>
              <a:t>HOW TO CALCULATE RMS??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Jitter is a time-domain deviation from ideal points.</a:t>
            </a:r>
          </a:p>
          <a:p>
            <a:pPr marL="171450" indent="-171450">
              <a:buFont typeface="Calibri"/>
              <a:buChar char="-"/>
            </a:pPr>
            <a:r>
              <a:rPr lang="en-US" dirty="0">
                <a:ea typeface="Calibri"/>
                <a:cs typeface="Calibri"/>
              </a:rPr>
              <a:t>It is considered as a random signal.</a:t>
            </a:r>
          </a:p>
          <a:p>
            <a:pPr marL="171450" indent="-171450">
              <a:buFont typeface="Calibri"/>
              <a:buChar char="-"/>
            </a:pPr>
            <a:r>
              <a:rPr lang="en-US" b="1"/>
              <a:t>Random jitter</a:t>
            </a:r>
            <a:r>
              <a:rPr lang="en-US" dirty="0"/>
              <a:t> can have positive or negative shifts.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 dirty="0"/>
              <a:t>Squaring removes the sign.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 dirty="0"/>
              <a:t>Averaging gives the </a:t>
            </a:r>
            <a:r>
              <a:rPr lang="en-US" b="1" dirty="0"/>
              <a:t>mean squared deviation</a:t>
            </a:r>
            <a:r>
              <a:rPr lang="en-US" dirty="0"/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/>
              <a:t>Taking the square root brings it back to </a:t>
            </a:r>
            <a:r>
              <a:rPr lang="en-US" b="1"/>
              <a:t>units of time</a:t>
            </a:r>
            <a:r>
              <a:rPr lang="en-US"/>
              <a:t> (like </a:t>
            </a:r>
            <a:r>
              <a:rPr lang="en-US" err="1"/>
              <a:t>ps</a:t>
            </a:r>
            <a:r>
              <a:rPr lang="en-US"/>
              <a:t> or ns).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endParaRPr lang="en-US" dirty="0">
              <a:ea typeface="Calibri"/>
              <a:cs typeface="Calibri"/>
            </a:endParaRPr>
          </a:p>
          <a:p>
            <a:endParaRPr lang="en-US" b="1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37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Stand-alone </a:t>
            </a:r>
            <a:r>
              <a:rPr lang="en-US" b="1" dirty="0" err="1">
                <a:ea typeface="Calibri"/>
                <a:cs typeface="Calibri"/>
              </a:rPr>
              <a:t>Osc</a:t>
            </a:r>
            <a:r>
              <a:rPr lang="en-US" b="1" dirty="0">
                <a:ea typeface="Calibri"/>
                <a:cs typeface="Calibri"/>
              </a:rPr>
              <a:t> : </a:t>
            </a:r>
            <a:r>
              <a:rPr lang="en-US" dirty="0"/>
              <a:t>a free-running circuit that generates a periodic signal without any external reference.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When is </a:t>
            </a:r>
            <a:r>
              <a:rPr lang="en-US" b="1" dirty="0"/>
              <a:t>jitter considered bounded</a:t>
            </a:r>
            <a:r>
              <a:rPr lang="en-US" dirty="0"/>
              <a:t>?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Jitter is bounded when it does not grow indefinitely over time and stays within a predictable range.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Cycle-to-cycle Jitter: causes by High-</a:t>
            </a:r>
            <a:r>
              <a:rPr lang="en-US" dirty="0" err="1">
                <a:ea typeface="Calibri"/>
                <a:cs typeface="Calibri"/>
              </a:rPr>
              <a:t>freq</a:t>
            </a:r>
            <a:r>
              <a:rPr lang="en-US" dirty="0">
                <a:ea typeface="Calibri"/>
                <a:cs typeface="Calibri"/>
              </a:rPr>
              <a:t>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261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b="1" dirty="0">
                <a:ea typeface="Calibri"/>
                <a:cs typeface="Calibri"/>
              </a:rPr>
              <a:t>High-pass filtering effect</a:t>
            </a:r>
            <a:r>
              <a:rPr lang="en-US" dirty="0">
                <a:ea typeface="Calibri"/>
                <a:cs typeface="Calibri"/>
              </a:rPr>
              <a:t> : Observing Jitter for a cycle ; Low-</a:t>
            </a:r>
            <a:r>
              <a:rPr lang="en-US" dirty="0" err="1">
                <a:ea typeface="Calibri"/>
                <a:cs typeface="Calibri"/>
              </a:rPr>
              <a:t>freq</a:t>
            </a:r>
            <a:r>
              <a:rPr lang="en-US" dirty="0">
                <a:ea typeface="Calibri"/>
                <a:cs typeface="Calibri"/>
              </a:rPr>
              <a:t> noise don’t change over this time period; Only high-</a:t>
            </a:r>
            <a:r>
              <a:rPr lang="en-US" dirty="0" err="1">
                <a:ea typeface="Calibri"/>
                <a:cs typeface="Calibri"/>
              </a:rPr>
              <a:t>freq</a:t>
            </a:r>
            <a:r>
              <a:rPr lang="en-US" dirty="0">
                <a:ea typeface="Calibri"/>
                <a:cs typeface="Calibri"/>
              </a:rPr>
              <a:t> noise allowed.</a:t>
            </a:r>
          </a:p>
          <a:p>
            <a:pPr marL="171450" indent="-1714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>
                <a:ea typeface="Calibri"/>
                <a:cs typeface="Calibri"/>
              </a:rPr>
              <a:t>Period jitter is also caused by High-</a:t>
            </a:r>
            <a:r>
              <a:rPr lang="en-US" dirty="0" err="1">
                <a:ea typeface="Calibri"/>
                <a:cs typeface="Calibri"/>
              </a:rPr>
              <a:t>freq</a:t>
            </a:r>
            <a:r>
              <a:rPr lang="en-US" dirty="0">
                <a:ea typeface="Calibri"/>
                <a:cs typeface="Calibri"/>
              </a:rPr>
              <a:t> noise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748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ea typeface="Calibri"/>
                <a:cs typeface="Calibri"/>
              </a:rPr>
              <a:t>Why </a:t>
            </a:r>
            <a:r>
              <a:rPr lang="en-US" b="1" dirty="0" err="1"/>
              <a:t>doesnt</a:t>
            </a:r>
            <a:r>
              <a:rPr lang="en-US" b="1" dirty="0"/>
              <a:t> apply for deterministic jitter? </a:t>
            </a:r>
          </a:p>
          <a:p>
            <a:pPr marL="171450" indent="-171450">
              <a:buFont typeface="Calibri"/>
              <a:buChar char="-"/>
            </a:pPr>
            <a:r>
              <a:rPr lang="en-US" dirty="0"/>
              <a:t>Because deterministic jitter is not random — it's correlated across all oscillators.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012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1" dirty="0">
                <a:solidFill>
                  <a:srgbClr val="010409"/>
                </a:solidFill>
              </a:rPr>
              <a:t>What is supply sensitivity (KDD)?</a:t>
            </a:r>
            <a:br>
              <a:rPr lang="en-US" b="1" dirty="0">
                <a:cs typeface="+mn-lt"/>
              </a:rPr>
            </a:br>
            <a:r>
              <a:rPr lang="en-US" dirty="0">
                <a:solidFill>
                  <a:srgbClr val="010409"/>
                </a:solidFill>
              </a:rPr>
              <a:t>- It’s how much the phase shift changes for a given change in supply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53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ea typeface="Calibri"/>
                <a:cs typeface="Calibri"/>
              </a:rPr>
              <a:t>Note :</a:t>
            </a:r>
            <a:r>
              <a:rPr lang="en-US" i="1" dirty="0">
                <a:ea typeface="Calibri"/>
                <a:cs typeface="Calibri"/>
              </a:rPr>
              <a:t> </a:t>
            </a:r>
            <a:r>
              <a:rPr lang="en-US" i="1" dirty="0"/>
              <a:t>VDD supply noise in delay lines causes momentary phase shifts,</a:t>
            </a:r>
            <a:br>
              <a:rPr lang="en-US" i="1" dirty="0">
                <a:cs typeface="+mn-lt"/>
              </a:rPr>
            </a:br>
            <a:r>
              <a:rPr lang="en-US" i="1" dirty="0"/>
              <a:t> but in ring oscillators, it causes frequency drift, which accumulates into much larger phase noise over time.</a:t>
            </a:r>
          </a:p>
          <a:p>
            <a:pPr marL="171450" indent="-171450">
              <a:buFont typeface="Arial"/>
              <a:buChar char="•"/>
            </a:pPr>
            <a:r>
              <a:rPr lang="en-US" i="1" dirty="0">
                <a:ea typeface="Calibri"/>
                <a:cs typeface="Calibri"/>
              </a:rPr>
              <a:t>There's no </a:t>
            </a:r>
            <a:r>
              <a:rPr lang="en-US" i="1" dirty="0" err="1">
                <a:ea typeface="Calibri"/>
                <a:cs typeface="Calibri"/>
              </a:rPr>
              <a:t>osc</a:t>
            </a:r>
            <a:r>
              <a:rPr lang="en-US" i="1" dirty="0">
                <a:ea typeface="Calibri"/>
                <a:cs typeface="Calibri"/>
              </a:rPr>
              <a:t> </a:t>
            </a:r>
            <a:r>
              <a:rPr lang="en-US" i="1" dirty="0" err="1">
                <a:ea typeface="Calibri"/>
                <a:cs typeface="Calibri"/>
              </a:rPr>
              <a:t>freq</a:t>
            </a:r>
            <a:r>
              <a:rPr lang="en-US" i="1" dirty="0">
                <a:ea typeface="Calibri"/>
                <a:cs typeface="Calibri"/>
              </a:rPr>
              <a:t> in delay lines as they don’t oscillate</a:t>
            </a:r>
          </a:p>
          <a:p>
            <a:pPr marL="171450" indent="-171450">
              <a:buFont typeface="Arial"/>
              <a:buChar char="•"/>
            </a:pPr>
            <a:r>
              <a:rPr lang="en-US" i="1" dirty="0">
                <a:ea typeface="Calibri"/>
                <a:cs typeface="Calibri"/>
              </a:rPr>
              <a:t>Ring </a:t>
            </a:r>
            <a:r>
              <a:rPr lang="en-US" i="1" dirty="0" err="1">
                <a:ea typeface="Calibri"/>
                <a:cs typeface="Calibri"/>
              </a:rPr>
              <a:t>osc</a:t>
            </a:r>
            <a:r>
              <a:rPr lang="en-US" i="1" dirty="0">
                <a:ea typeface="Calibri"/>
                <a:cs typeface="Calibri"/>
              </a:rPr>
              <a:t> face </a:t>
            </a:r>
            <a:r>
              <a:rPr lang="en-US" i="1" dirty="0" err="1">
                <a:ea typeface="Calibri"/>
                <a:cs typeface="Calibri"/>
              </a:rPr>
              <a:t>freq</a:t>
            </a:r>
            <a:r>
              <a:rPr lang="en-US" i="1" dirty="0">
                <a:ea typeface="Calibri"/>
                <a:cs typeface="Calibri"/>
              </a:rPr>
              <a:t> shifts =&gt; greater phase shifts in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823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>
                <a:ea typeface="Calibri"/>
                <a:cs typeface="Calibri"/>
              </a:rPr>
              <a:t>For N-cascaded inverters :</a:t>
            </a:r>
          </a:p>
          <a:p>
            <a:pPr>
              <a:buFont typeface="Arial"/>
              <a:buChar char="•"/>
            </a:pPr>
            <a:r>
              <a:rPr lang="en-US" dirty="0"/>
              <a:t>    In a ring oscillator with N stages (inverters), each stage adds its own noise.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Since phase noise adds linearly, the total phase noise increases in proportion to N.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RMS jitter from </a:t>
            </a:r>
            <a:r>
              <a:rPr lang="en-US" b="1" dirty="0"/>
              <a:t>independent noise sources</a:t>
            </a:r>
            <a:r>
              <a:rPr lang="en-US" dirty="0"/>
              <a:t> adds like </a:t>
            </a:r>
            <a:r>
              <a:rPr lang="en-US" b="1" dirty="0"/>
              <a:t>random variables</a:t>
            </a:r>
            <a:r>
              <a:rPr lang="en-US" dirty="0"/>
              <a:t>, not linearly.</a:t>
            </a:r>
          </a:p>
          <a:p>
            <a:pPr marL="171450" indent="-171450">
              <a:buFont typeface="Arial"/>
              <a:buChar char="•"/>
            </a:pPr>
            <a:r>
              <a:rPr lang="en-US" dirty="0"/>
              <a:t>like adding N uncorrelated noise signals :  </a:t>
            </a:r>
            <a:r>
              <a:rPr lang="en-US" b="1" dirty="0"/>
              <a:t>power adds</a:t>
            </a:r>
            <a:r>
              <a:rPr lang="en-US" dirty="0"/>
              <a:t>, but </a:t>
            </a:r>
            <a:r>
              <a:rPr lang="en-US" b="1" dirty="0"/>
              <a:t>amplitude (RMS) adds as √N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DA2459-426C-4331-9210-B3DFA14C7CF1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023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Introduction to Jitter and Phase Noise</a:t>
            </a:r>
            <a:endParaRPr lang="en-US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/>
              <a:t>Presented by Deepa Kulkarni</a:t>
            </a:r>
          </a:p>
          <a:p>
            <a:r>
              <a:rPr lang="en-US" b="1"/>
              <a:t>Guided by : Neeraj Mishra, BITS Pilani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5753-9FD0-1296-B7C1-C6ADF7014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0000"/>
                </a:solidFill>
                <a:ea typeface="+mj-lt"/>
                <a:cs typeface="+mj-lt"/>
              </a:rPr>
              <a:t>Presentation Topics 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CCDA5-611E-C3F9-D157-BF529B90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596"/>
            <a:ext cx="10515600" cy="503779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Introduction to the main topics discussed</a:t>
            </a:r>
          </a:p>
          <a:p>
            <a:pPr marL="514350" indent="-514350">
              <a:buAutoNum type="arabicPeriod"/>
            </a:pPr>
            <a:r>
              <a:rPr lang="en-US" dirty="0"/>
              <a:t>Motivation for the chapter</a:t>
            </a:r>
          </a:p>
          <a:p>
            <a:pPr marL="514350" indent="-514350">
              <a:buAutoNum type="arabicPeriod"/>
            </a:pPr>
            <a:r>
              <a:rPr lang="en-US" dirty="0"/>
              <a:t>Noise &amp; Its types</a:t>
            </a:r>
          </a:p>
          <a:p>
            <a:pPr marL="514350" indent="-514350">
              <a:buAutoNum type="arabicPeriod"/>
            </a:pPr>
            <a:r>
              <a:rPr lang="en-US" dirty="0"/>
              <a:t>Device Noise and Propagation</a:t>
            </a:r>
          </a:p>
          <a:p>
            <a:pPr marL="514350" indent="-514350">
              <a:buAutoNum type="arabicPeriod"/>
            </a:pPr>
            <a:r>
              <a:rPr lang="en-US" dirty="0"/>
              <a:t>Power and Spectral Density </a:t>
            </a:r>
          </a:p>
          <a:p>
            <a:pPr marL="514350" indent="-514350">
              <a:buAutoNum type="arabicPeriod"/>
            </a:pPr>
            <a:r>
              <a:rPr lang="en-US" dirty="0"/>
              <a:t>Jitter &amp; Phase Noise : definition and types</a:t>
            </a:r>
          </a:p>
          <a:p>
            <a:pPr marL="514350" indent="-514350">
              <a:buAutoNum type="arabicPeriod"/>
            </a:pPr>
            <a:r>
              <a:rPr lang="en-US" dirty="0"/>
              <a:t>Jitter vs Phase noise</a:t>
            </a:r>
          </a:p>
          <a:p>
            <a:pPr marL="514350" indent="-514350">
              <a:buAutoNum type="arabicPeriod"/>
            </a:pPr>
            <a:r>
              <a:rPr lang="en-US" dirty="0"/>
              <a:t>Types of Jitter </a:t>
            </a:r>
          </a:p>
          <a:p>
            <a:pPr marL="514350" indent="-514350">
              <a:buAutoNum type="arabicPeriod"/>
            </a:pPr>
            <a:r>
              <a:rPr lang="en-US" dirty="0"/>
              <a:t>Trade-offs in Design</a:t>
            </a:r>
          </a:p>
          <a:p>
            <a:pPr marL="514350" indent="-514350">
              <a:buAutoNum type="arabicPeriod"/>
            </a:pPr>
            <a:r>
              <a:rPr lang="en-US" dirty="0"/>
              <a:t>Basic Phase noise mechanisms. 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Effect of Jitter &amp; PN on Performance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46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A753D-B7ED-57EF-CBA7-42E345B65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611"/>
            <a:ext cx="10515600" cy="48744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In the Last chapter, we understood that phase noise and power are inversely related.  Balancing between the two is very important. 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 design of PLL deal with jitter and phase noise. 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That’s why this chapter focuses on jitter and phase noise before diving into the detailed design of ring and LC oscillators.</a:t>
            </a:r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C149D-26B8-626D-12B4-A4431B974BEF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b="1">
                <a:ea typeface="+mj-lt"/>
                <a:cs typeface="+mj-lt"/>
              </a:rPr>
            </a:br>
            <a:r>
              <a:rPr lang="en-US" sz="4800" b="1">
                <a:solidFill>
                  <a:srgbClr val="000000"/>
                </a:solidFill>
                <a:ea typeface="+mj-lt"/>
                <a:cs typeface="+mj-lt"/>
              </a:rPr>
              <a:t>Motivation</a:t>
            </a:r>
            <a:r>
              <a:rPr lang="en-US" b="1">
                <a:solidFill>
                  <a:srgbClr val="000000"/>
                </a:solidFill>
                <a:ea typeface="+mj-lt"/>
                <a:cs typeface="+mj-lt"/>
              </a:rPr>
              <a:t> – Why is this chapter Important ?</a:t>
            </a:r>
            <a:endParaRPr lang="en-US" b="1">
              <a:solidFill>
                <a:srgbClr val="000000"/>
              </a:solidFill>
            </a:endParaRP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590216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jitter&#10;&#10;AI-generated content may be incorrect.">
            <a:extLst>
              <a:ext uri="{FF2B5EF4-FFF2-40B4-BE49-F238E27FC236}">
                <a16:creationId xmlns:a16="http://schemas.microsoft.com/office/drawing/2014/main" id="{4B7556D1-860E-F53E-E37C-874C740F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46" b="16216"/>
          <a:stretch>
            <a:fillRect/>
          </a:stretch>
        </p:blipFill>
        <p:spPr>
          <a:xfrm>
            <a:off x="8049601" y="2220408"/>
            <a:ext cx="3350151" cy="17833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61EE3C-D9F2-EC3C-074E-AC4B90F4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Intro to Jitter and Phase Noise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A552-9548-234A-580B-B74A89E8C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Jitter</a:t>
            </a:r>
            <a:r>
              <a:rPr lang="en-US">
                <a:ea typeface="+mn-lt"/>
                <a:cs typeface="+mn-lt"/>
              </a:rPr>
              <a:t> happens when the expected zero-crossing of the signal is shifted slightly from where it should be.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 is a </a:t>
            </a:r>
            <a:r>
              <a:rPr lang="en-US" u="sng"/>
              <a:t>Time-Domain Phenomenon</a:t>
            </a:r>
            <a:r>
              <a:rPr lang="en-US"/>
              <a:t>.!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r>
              <a:rPr lang="en-US" b="1"/>
              <a:t>Phase Noise </a:t>
            </a:r>
            <a:r>
              <a:rPr lang="en-US"/>
              <a:t>is the random fluctuations in the phase (or zero crossings) of an oscillator o/p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It is a </a:t>
            </a:r>
            <a:r>
              <a:rPr lang="en-US" u="sng"/>
              <a:t>Frequency-Domain Phenomenon</a:t>
            </a:r>
            <a:r>
              <a:rPr lang="en-US"/>
              <a:t>..!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We will dive into detailed comparison later in the presentation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DF566-6C94-EB58-A1B2-DDCE2A5C7708}"/>
              </a:ext>
            </a:extLst>
          </p:cNvPr>
          <p:cNvSpPr txBox="1"/>
          <p:nvPr/>
        </p:nvSpPr>
        <p:spPr>
          <a:xfrm>
            <a:off x="834572" y="1269999"/>
            <a:ext cx="10520436" cy="571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15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A748E-F65B-35F3-74D9-FA016745A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403"/>
            <a:ext cx="10515600" cy="45065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rgbClr val="010409"/>
                </a:solidFill>
                <a:ea typeface="+mn-lt"/>
                <a:cs typeface="+mn-lt"/>
              </a:rPr>
              <a:t>Noise is random</a:t>
            </a: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:</a:t>
            </a:r>
            <a:endParaRPr lang="en-US" sz="2400"/>
          </a:p>
          <a:p>
            <a:pPr marL="0" indent="0">
              <a:buNone/>
            </a:pP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-  Its value at any instant (in time) can’t be predicted.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Examples: traffic sounds, people talking in a restaurant, river flow.</a:t>
            </a:r>
            <a:endParaRPr lang="en-US" sz="2400"/>
          </a:p>
          <a:p>
            <a:pPr marL="0" indent="0">
              <a:buNone/>
            </a:pPr>
            <a:endParaRPr lang="en-US" sz="2400">
              <a:solidFill>
                <a:srgbClr val="010409"/>
              </a:solidFill>
              <a:ea typeface="+mn-lt"/>
              <a:cs typeface="+mn-lt"/>
            </a:endParaRPr>
          </a:p>
          <a:p>
            <a:r>
              <a:rPr lang="en-US" sz="2400" b="1">
                <a:solidFill>
                  <a:srgbClr val="010409"/>
                </a:solidFill>
                <a:ea typeface="+mn-lt"/>
                <a:cs typeface="+mn-lt"/>
              </a:rPr>
              <a:t>Time Domain View : </a:t>
            </a:r>
          </a:p>
          <a:p>
            <a:pPr marL="0" indent="0">
              <a:buNone/>
            </a:pP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-  The </a:t>
            </a:r>
            <a:r>
              <a:rPr lang="en-US" sz="2400" b="1" u="sng">
                <a:solidFill>
                  <a:srgbClr val="010409"/>
                </a:solidFill>
                <a:ea typeface="+mn-lt"/>
                <a:cs typeface="+mn-lt"/>
              </a:rPr>
              <a:t>probability density function (PDF)</a:t>
            </a: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 tells us how often different noise values (or noise amplitudes) can happen. </a:t>
            </a:r>
            <a:endParaRPr lang="en-US" sz="2400" b="1">
              <a:solidFill>
                <a:srgbClr val="010409"/>
              </a:solidFill>
            </a:endParaRPr>
          </a:p>
          <a:p>
            <a:pPr marL="0" indent="0">
              <a:buNone/>
            </a:pP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-  if the noise is generated by many sources independently, we expect its PDF to be a Gaussian distribution. (bell-shaped) </a:t>
            </a:r>
          </a:p>
          <a:p>
            <a:pPr marL="0" indent="0">
              <a:buNone/>
            </a:pPr>
            <a:r>
              <a:rPr lang="en-US" sz="2400">
                <a:solidFill>
                  <a:srgbClr val="010409"/>
                </a:solidFill>
              </a:rPr>
              <a:t>- </a:t>
            </a: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curve is  centered at the mean (μ), and its spread is determined by the </a:t>
            </a:r>
            <a:r>
              <a:rPr lang="en-US" sz="2400" b="1">
                <a:solidFill>
                  <a:srgbClr val="010409"/>
                </a:solidFill>
                <a:ea typeface="+mn-lt"/>
                <a:cs typeface="+mn-lt"/>
              </a:rPr>
              <a:t>standard deviation (σ)            </a:t>
            </a:r>
            <a:r>
              <a:rPr lang="en-US" sz="2400">
                <a:solidFill>
                  <a:srgbClr val="010409"/>
                </a:solidFill>
                <a:ea typeface="+mn-lt"/>
                <a:cs typeface="+mn-lt"/>
              </a:rPr>
              <a:t>-</a:t>
            </a:r>
            <a:r>
              <a:rPr lang="en-US" sz="2400">
                <a:solidFill>
                  <a:srgbClr val="010409"/>
                </a:solidFill>
              </a:rPr>
              <a:t>  Peak value (or amplitude) rarely exceeds </a:t>
            </a:r>
            <a:r>
              <a:rPr lang="en-US" sz="2400" b="1">
                <a:solidFill>
                  <a:srgbClr val="010409"/>
                </a:solidFill>
                <a:ea typeface="+mn-lt"/>
                <a:cs typeface="+mn-lt"/>
              </a:rPr>
              <a:t>±4σ </a:t>
            </a:r>
          </a:p>
          <a:p>
            <a:pPr marL="0" indent="0">
              <a:buNone/>
            </a:pPr>
            <a:endParaRPr lang="en-US" sz="2400">
              <a:solidFill>
                <a:srgbClr val="010409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F59BC3-787D-FBB7-E7F3-7575AF7A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+mj-lt"/>
                <a:cs typeface="+mj-lt"/>
              </a:rPr>
              <a:t> </a:t>
            </a:r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Noise: Concepts &amp; Types</a:t>
            </a:r>
            <a:endParaRPr lang="en-US">
              <a:ea typeface="+mj-lt"/>
              <a:cs typeface="+mj-lt"/>
            </a:endParaRPr>
          </a:p>
          <a:p>
            <a:endParaRPr lang="en-US" b="1"/>
          </a:p>
        </p:txBody>
      </p:sp>
      <p:pic>
        <p:nvPicPr>
          <p:cNvPr id="2" name="Picture 1" descr="A black line with a white background&#10;&#10;AI-generated content may be incorrect.">
            <a:extLst>
              <a:ext uri="{FF2B5EF4-FFF2-40B4-BE49-F238E27FC236}">
                <a16:creationId xmlns:a16="http://schemas.microsoft.com/office/drawing/2014/main" id="{1383B4DE-FEE4-3F7B-2E29-199710792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63" y="1176674"/>
            <a:ext cx="1489654" cy="7636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F352DB47-8BE3-7A71-816A-22C952186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947" y="618452"/>
            <a:ext cx="3208027" cy="15991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813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0C6AA-8808-1A9D-22B2-3384C9F78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4795"/>
            <a:ext cx="10515600" cy="609099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solidFill>
                  <a:srgbClr val="010409"/>
                </a:solidFill>
              </a:rPr>
              <a:t>Frequency Domain View</a:t>
            </a:r>
            <a:r>
              <a:rPr lang="en-US" sz="2400" dirty="0">
                <a:solidFill>
                  <a:srgbClr val="010409"/>
                </a:solidFill>
              </a:rPr>
              <a:t>: 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- Generally, noise is studied in Frequency-domain. 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- Since Noise is Random and is spread across the </a:t>
            </a:r>
            <a:r>
              <a:rPr lang="en-US" sz="2400" err="1">
                <a:solidFill>
                  <a:srgbClr val="010409"/>
                </a:solidFill>
              </a:rPr>
              <a:t>freq</a:t>
            </a:r>
            <a:r>
              <a:rPr lang="en-US" sz="2400" dirty="0">
                <a:solidFill>
                  <a:srgbClr val="010409"/>
                </a:solidFill>
              </a:rPr>
              <a:t>-range ,  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   Fourier Transform of the signal will not result in a clean Frequency chart.  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How is this solved ??</a:t>
            </a:r>
            <a:r>
              <a:rPr lang="en-US" sz="2400" dirty="0">
                <a:solidFill>
                  <a:srgbClr val="010409"/>
                </a:solidFill>
              </a:rPr>
              <a:t> 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-  We analyze noise using its </a:t>
            </a:r>
            <a:r>
              <a:rPr lang="en-US" sz="2400" b="1" i="1" u="sng" dirty="0">
                <a:solidFill>
                  <a:srgbClr val="010409"/>
                </a:solidFill>
              </a:rPr>
              <a:t>power spectral density</a:t>
            </a:r>
            <a:r>
              <a:rPr lang="en-US" sz="2400" b="1" u="sng" dirty="0">
                <a:solidFill>
                  <a:srgbClr val="010409"/>
                </a:solidFill>
              </a:rPr>
              <a:t> (spectrum).</a:t>
            </a:r>
            <a:endParaRPr lang="en-US" sz="2400" b="1" u="sng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-  This shows how much power (energy) the noise has at each </a:t>
            </a:r>
            <a:endParaRPr lang="en-US" sz="240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</a:rPr>
              <a:t>     frequency.</a:t>
            </a:r>
            <a:endParaRPr lang="en-US" sz="24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010409"/>
                </a:solidFill>
              </a:rPr>
              <a:t>Example : </a:t>
            </a: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Voice contains frequencies from 20 Hz to 20 kHz. </a:t>
            </a:r>
            <a:endParaRPr lang="en-US" sz="2400" dirty="0">
              <a:solidFill>
                <a:srgbClr val="010409"/>
              </a:solidFill>
            </a:endParaRPr>
          </a:p>
          <a:p>
            <a:pPr lvl="1">
              <a:buFont typeface="Courier New"/>
              <a:buChar char="o"/>
            </a:pPr>
            <a:r>
              <a:rPr lang="en-US" dirty="0">
                <a:solidFill>
                  <a:srgbClr val="010409"/>
                </a:solidFill>
              </a:rPr>
              <a:t>A microphone captures the sound.</a:t>
            </a:r>
            <a:endParaRPr lang="en-US" b="1" dirty="0">
              <a:solidFill>
                <a:srgbClr val="010409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10409"/>
                </a:solidFill>
              </a:rPr>
              <a:t>A </a:t>
            </a:r>
            <a:r>
              <a:rPr lang="en-US" u="sng" dirty="0">
                <a:solidFill>
                  <a:srgbClr val="010409"/>
                </a:solidFill>
              </a:rPr>
              <a:t>band-pass filter</a:t>
            </a:r>
            <a:r>
              <a:rPr lang="en-US" dirty="0">
                <a:solidFill>
                  <a:srgbClr val="010409"/>
                </a:solidFill>
              </a:rPr>
              <a:t> lets only 1 Hz around a chosen frequency pass.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10409"/>
                </a:solidFill>
              </a:rPr>
              <a:t>A power meter measures the signal's power.</a:t>
            </a:r>
            <a:endParaRPr lang="en-US">
              <a:solidFill>
                <a:srgbClr val="000000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10409"/>
                </a:solidFill>
              </a:rPr>
              <a:t>Sweeping the filter from 20 Hz to 20 kHz gives the </a:t>
            </a:r>
            <a:r>
              <a:rPr lang="en-US" b="1" u="sng" dirty="0">
                <a:solidFill>
                  <a:srgbClr val="010409"/>
                </a:solidFill>
              </a:rPr>
              <a:t>voice spectrum</a:t>
            </a:r>
            <a:r>
              <a:rPr lang="en-US" dirty="0">
                <a:solidFill>
                  <a:srgbClr val="010409"/>
                </a:solidFill>
              </a:rPr>
              <a:t>, S(f).</a:t>
            </a:r>
            <a:endParaRPr lang="en-US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010409"/>
              </a:solidFill>
            </a:endParaRPr>
          </a:p>
        </p:txBody>
      </p:sp>
      <p:pic>
        <p:nvPicPr>
          <p:cNvPr id="4" name="Picture 3" descr="A diagram of a function&#10;&#10;AI-generated content may be incorrect.">
            <a:extLst>
              <a:ext uri="{FF2B5EF4-FFF2-40B4-BE49-F238E27FC236}">
                <a16:creationId xmlns:a16="http://schemas.microsoft.com/office/drawing/2014/main" id="{7ED3B2E9-D549-2235-3EC3-4C2FDA16B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0353" y="3432594"/>
            <a:ext cx="2528798" cy="1495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band pass filter&#10;&#10;AI-generated content may be incorrect.">
            <a:extLst>
              <a:ext uri="{FF2B5EF4-FFF2-40B4-BE49-F238E27FC236}">
                <a16:creationId xmlns:a16="http://schemas.microsoft.com/office/drawing/2014/main" id="{F3DFDA60-439C-9420-68E4-E1B39BAF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777" y="220828"/>
            <a:ext cx="2535388" cy="14981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184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3C96-78E7-E7BB-12F3-12A4132D1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Device Noise </a:t>
            </a:r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C40FE-886D-32C2-0F17-2A2F258F9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05"/>
            <a:ext cx="10515600" cy="46225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In CMOS, noise mainly comes from resistors (thermal) and MOSFETs : thermal &amp; flicker (1/f). 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Resistors </a:t>
            </a:r>
          </a:p>
          <a:p>
            <a:r>
              <a:rPr lang="en-US" sz="2400" dirty="0">
                <a:ea typeface="+mn-lt"/>
                <a:cs typeface="+mn-lt"/>
              </a:rPr>
              <a:t>Convert thermal energy into voltage across it.</a:t>
            </a:r>
          </a:p>
          <a:p>
            <a:r>
              <a:rPr lang="en-US" sz="2400" dirty="0">
                <a:ea typeface="+mn-lt"/>
                <a:cs typeface="+mn-lt"/>
              </a:rPr>
              <a:t>Spectrum of the voltage is given by : </a:t>
            </a:r>
            <a:r>
              <a:rPr lang="en-US" sz="2400" b="1" dirty="0">
                <a:ea typeface="+mn-lt"/>
                <a:cs typeface="+mn-lt"/>
              </a:rPr>
              <a:t>S(f) = 4kTR V²/Hz</a:t>
            </a:r>
          </a:p>
          <a:p>
            <a:r>
              <a:rPr lang="en-US" sz="2400" dirty="0">
                <a:ea typeface="+mn-lt"/>
                <a:cs typeface="+mn-lt"/>
              </a:rPr>
              <a:t>The noise is modeled as a</a:t>
            </a:r>
            <a:r>
              <a:rPr lang="en-US" sz="2400" u="sng" dirty="0">
                <a:ea typeface="+mn-lt"/>
                <a:cs typeface="+mn-lt"/>
              </a:rPr>
              <a:t> voltage source in series</a:t>
            </a:r>
            <a:r>
              <a:rPr lang="en-US" sz="2400" dirty="0">
                <a:ea typeface="+mn-lt"/>
                <a:cs typeface="+mn-lt"/>
              </a:rPr>
              <a:t> with the resistor.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Also called the “</a:t>
            </a:r>
            <a:r>
              <a:rPr lang="en-US" sz="2400" b="1" dirty="0">
                <a:ea typeface="+mn-lt"/>
                <a:cs typeface="+mn-lt"/>
              </a:rPr>
              <a:t>white noise</a:t>
            </a:r>
            <a:r>
              <a:rPr lang="en-US" sz="2400" dirty="0">
                <a:ea typeface="+mn-lt"/>
                <a:cs typeface="+mn-lt"/>
              </a:rPr>
              <a:t>” as it carries equal power at all frequencies.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Sometimes modeled as a </a:t>
            </a:r>
            <a:r>
              <a:rPr lang="en-US" sz="2400" u="sng" dirty="0">
                <a:ea typeface="+mn-lt"/>
                <a:cs typeface="+mn-lt"/>
              </a:rPr>
              <a:t>parallel current source</a:t>
            </a:r>
            <a:r>
              <a:rPr lang="en-US" sz="2400" dirty="0">
                <a:ea typeface="+mn-lt"/>
                <a:cs typeface="+mn-lt"/>
              </a:rPr>
              <a:t>: </a:t>
            </a:r>
            <a:r>
              <a:rPr lang="en-US" sz="2400" b="1" dirty="0">
                <a:ea typeface="+mn-lt"/>
                <a:cs typeface="+mn-lt"/>
              </a:rPr>
              <a:t>S(f) = 4 k ( T/R ) A²/Hz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Why you can't write </a:t>
            </a:r>
            <a:r>
              <a:rPr lang="en-US" sz="2400" b="1" err="1">
                <a:solidFill>
                  <a:srgbClr val="FF0000"/>
                </a:solidFill>
                <a:ea typeface="+mn-lt"/>
                <a:cs typeface="+mn-lt"/>
              </a:rPr>
              <a:t>Vn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 = √(4kTR).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4kTR tells us how much </a:t>
            </a:r>
            <a:r>
              <a:rPr lang="en-US" sz="2400" b="1" dirty="0">
                <a:ea typeface="+mn-lt"/>
                <a:cs typeface="+mn-lt"/>
              </a:rPr>
              <a:t>noise power</a:t>
            </a:r>
            <a:r>
              <a:rPr lang="en-US" sz="2400" dirty="0">
                <a:ea typeface="+mn-lt"/>
                <a:cs typeface="+mn-lt"/>
              </a:rPr>
              <a:t> (in volts²) is present in </a:t>
            </a:r>
            <a:r>
              <a:rPr lang="en-US" sz="2400" b="1" dirty="0">
                <a:ea typeface="+mn-lt"/>
                <a:cs typeface="+mn-lt"/>
              </a:rPr>
              <a:t>each 1 Hz</a:t>
            </a:r>
            <a:r>
              <a:rPr lang="en-US" sz="2400" dirty="0">
                <a:ea typeface="+mn-lt"/>
                <a:cs typeface="+mn-lt"/>
              </a:rPr>
              <a:t> slice of frequency. It doesn’t give actual power. </a:t>
            </a:r>
          </a:p>
          <a:p>
            <a:endParaRPr lang="en-US" sz="2400" dirty="0"/>
          </a:p>
        </p:txBody>
      </p:sp>
      <p:pic>
        <p:nvPicPr>
          <p:cNvPr id="4" name="Picture 3" descr="A diagram of a graph and a diagram of a graph&#10;&#10;AI-generated content may be incorrect.">
            <a:extLst>
              <a:ext uri="{FF2B5EF4-FFF2-40B4-BE49-F238E27FC236}">
                <a16:creationId xmlns:a16="http://schemas.microsoft.com/office/drawing/2014/main" id="{D5939BF2-C904-8252-2A5F-A1F5187AA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897" y="160822"/>
            <a:ext cx="3662927" cy="13972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0CAD1A05-02B8-FFB4-D7D2-547A05509E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377" r="869" b="-1000"/>
          <a:stretch>
            <a:fillRect/>
          </a:stretch>
        </p:blipFill>
        <p:spPr>
          <a:xfrm>
            <a:off x="10475597" y="3162501"/>
            <a:ext cx="1235742" cy="9567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68012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4837-00AB-7EE8-6258-D04D6F1B7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032"/>
            <a:ext cx="10515600" cy="626753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MOSFET : </a:t>
            </a:r>
          </a:p>
          <a:p>
            <a:pPr marL="0" indent="0">
              <a:buNone/>
            </a:pPr>
            <a:r>
              <a:rPr lang="en-US" sz="2400" b="1" dirty="0"/>
              <a:t>1.  Flicker noise (1/f) </a:t>
            </a:r>
          </a:p>
          <a:p>
            <a:r>
              <a:rPr lang="en-US" sz="2400" dirty="0">
                <a:ea typeface="+mn-lt"/>
                <a:cs typeface="+mn-lt"/>
              </a:rPr>
              <a:t>A type of voltage noise that affects MOSFETs at </a:t>
            </a:r>
            <a:r>
              <a:rPr lang="en-US" sz="2400" u="sng" dirty="0">
                <a:ea typeface="+mn-lt"/>
                <a:cs typeface="+mn-lt"/>
              </a:rPr>
              <a:t>low frequencies</a:t>
            </a:r>
          </a:p>
          <a:p>
            <a:r>
              <a:rPr lang="en-US" sz="2400" dirty="0">
                <a:ea typeface="+mn-lt"/>
                <a:cs typeface="+mn-lt"/>
              </a:rPr>
              <a:t>Modeled as </a:t>
            </a:r>
            <a:r>
              <a:rPr lang="en-US" sz="2400" u="sng" dirty="0">
                <a:ea typeface="+mn-lt"/>
                <a:cs typeface="+mn-lt"/>
              </a:rPr>
              <a:t>Voltage source in series with the gate.</a:t>
            </a:r>
            <a:endParaRPr lang="en-US" sz="2400" b="1" u="sng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Spectrum of the voltage 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S(1/f)(f) = K / (W*L*Cox*f) V²/Hz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K is a process-dependent parameter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2.  Thermal noise </a:t>
            </a:r>
          </a:p>
          <a:p>
            <a:r>
              <a:rPr lang="en-US" sz="2400" dirty="0">
                <a:ea typeface="+mn-lt"/>
                <a:cs typeface="+mn-lt"/>
              </a:rPr>
              <a:t>The thermal noise of MOSFETs in the </a:t>
            </a:r>
            <a:r>
              <a:rPr lang="en-US" sz="2400" u="sng" dirty="0">
                <a:ea typeface="+mn-lt"/>
                <a:cs typeface="+mn-lt"/>
              </a:rPr>
              <a:t>saturation region.</a:t>
            </a:r>
            <a:endParaRPr lang="en-US" sz="2400" u="sng" dirty="0"/>
          </a:p>
          <a:p>
            <a:r>
              <a:rPr lang="en-US" sz="2400" dirty="0">
                <a:ea typeface="+mn-lt"/>
                <a:cs typeface="+mn-lt"/>
              </a:rPr>
              <a:t>Modeled as a </a:t>
            </a:r>
            <a:r>
              <a:rPr lang="en-US" sz="2400" u="sng" dirty="0">
                <a:ea typeface="+mn-lt"/>
                <a:cs typeface="+mn-lt"/>
              </a:rPr>
              <a:t>Current source parallel with drain and source terminals.</a:t>
            </a:r>
            <a:endParaRPr lang="en-US" sz="2400" u="sng" dirty="0"/>
          </a:p>
          <a:p>
            <a:r>
              <a:rPr lang="en-US" sz="2400" dirty="0"/>
              <a:t>Spectrum of the voltage : 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S(f) = 4kTγgm A²/Hz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>
                <a:solidFill>
                  <a:srgbClr val="000000"/>
                </a:solidFill>
                <a:ea typeface="+mn-lt"/>
                <a:cs typeface="+mn-lt"/>
              </a:rPr>
              <a:t>γ  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: Excess noise coefficient (≈ 2/3 to 1) </a:t>
            </a:r>
            <a:endParaRPr lang="en-US" b="1" dirty="0">
              <a:solidFill>
                <a:srgbClr val="000000"/>
              </a:solidFill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Higher γ = more thermal noise.. Compared to ideal model </a:t>
            </a:r>
          </a:p>
          <a:p>
            <a:pPr marL="457200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457200" lvl="1" indent="0">
              <a:buNone/>
            </a:pPr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788715-58AA-D0D4-D613-B2C70CB8EC75}"/>
              </a:ext>
            </a:extLst>
          </p:cNvPr>
          <p:cNvGrpSpPr/>
          <p:nvPr/>
        </p:nvGrpSpPr>
        <p:grpSpPr>
          <a:xfrm>
            <a:off x="8816762" y="1619574"/>
            <a:ext cx="2988266" cy="2707710"/>
            <a:chOff x="8426721" y="1709980"/>
            <a:chExt cx="3336978" cy="2942983"/>
          </a:xfrm>
        </p:grpSpPr>
        <p:pic>
          <p:nvPicPr>
            <p:cNvPr id="4" name="Picture 3" descr="A diagram of a log scale&#10;&#10;AI-generated content may be incorrect.">
              <a:extLst>
                <a:ext uri="{FF2B5EF4-FFF2-40B4-BE49-F238E27FC236}">
                  <a16:creationId xmlns:a16="http://schemas.microsoft.com/office/drawing/2014/main" id="{014A53C6-D3E3-2F27-0361-9DA69E864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26721" y="1709980"/>
              <a:ext cx="3336978" cy="1449091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pic>
          <p:nvPicPr>
            <p:cNvPr id="5" name="Picture 4" descr="A diagram of a mathematical equation&#10;&#10;AI-generated content may be incorrect.">
              <a:extLst>
                <a:ext uri="{FF2B5EF4-FFF2-40B4-BE49-F238E27FC236}">
                  <a16:creationId xmlns:a16="http://schemas.microsoft.com/office/drawing/2014/main" id="{9BD4ECFF-4B0E-D8F9-A46D-387AAC2FA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29625" y="3233738"/>
              <a:ext cx="3333750" cy="1419225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08084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6B77-0CBA-33C4-A1FF-8A045BEA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Propagation of Noise </a:t>
            </a:r>
            <a:endParaRPr lang="en-US" dirty="0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89E13-9007-D649-C8A6-177F68F9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375"/>
            <a:ext cx="10515600" cy="48275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Q. How does Noise generated at the source affect the output ?</a:t>
            </a:r>
          </a:p>
          <a:p>
            <a:pPr marL="457200" indent="-457200"/>
            <a:r>
              <a:rPr lang="en-US" sz="2400" b="1" i="1" dirty="0">
                <a:ea typeface="+mn-lt"/>
                <a:cs typeface="+mn-lt"/>
              </a:rPr>
              <a:t>Steps to Find out the propagation of noise :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>
              <a:ea typeface="+mn-lt"/>
              <a:cs typeface="+mn-lt"/>
            </a:endParaRPr>
          </a:p>
          <a:p>
            <a:pPr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Find Transfer Function : </a:t>
            </a:r>
          </a:p>
          <a:p>
            <a:pPr marL="1371600" lvl="2" indent="-685800">
              <a:buFont typeface="Courier New" panose="020B06040202020202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get H(s) from V</a:t>
            </a:r>
            <a:r>
              <a:rPr lang="en-US" dirty="0">
                <a:ea typeface="+mn-lt"/>
                <a:cs typeface="+mn-lt"/>
              </a:rPr>
              <a:t>n1</a:t>
            </a:r>
            <a:r>
              <a:rPr lang="en-US" sz="2400" dirty="0">
                <a:ea typeface="+mn-lt"/>
                <a:cs typeface="+mn-lt"/>
              </a:rPr>
              <a:t> to </a:t>
            </a:r>
            <a:r>
              <a:rPr lang="en-US" sz="2400" err="1">
                <a:ea typeface="+mn-lt"/>
                <a:cs typeface="+mn-lt"/>
              </a:rPr>
              <a:t>V</a:t>
            </a:r>
            <a:r>
              <a:rPr lang="en-US" err="1">
                <a:ea typeface="+mn-lt"/>
                <a:cs typeface="+mn-lt"/>
              </a:rPr>
              <a:t>n,out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pPr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Frequency Domain : </a:t>
            </a:r>
          </a:p>
          <a:p>
            <a:pPr marL="1028700" lvl="2" indent="-342900">
              <a:buFont typeface="Courier New" panose="020B06040202020202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       put s=</a:t>
            </a:r>
            <a:r>
              <a:rPr lang="en-US" sz="2400" err="1">
                <a:ea typeface="+mn-lt"/>
                <a:cs typeface="+mn-lt"/>
              </a:rPr>
              <a:t>jw</a:t>
            </a:r>
            <a:r>
              <a:rPr lang="en-US" sz="2400" dirty="0">
                <a:ea typeface="+mn-lt"/>
                <a:cs typeface="+mn-lt"/>
              </a:rPr>
              <a:t> ; get H(f) ; Magnitude |H(f)|^2.</a:t>
            </a:r>
          </a:p>
          <a:p>
            <a:pPr lvl="1" indent="-457200">
              <a:buAutoNum type="arabicPeriod"/>
            </a:pPr>
            <a:r>
              <a:rPr lang="en-US" dirty="0">
                <a:ea typeface="+mn-lt"/>
                <a:cs typeface="+mn-lt"/>
              </a:rPr>
              <a:t>Get Output Noise Spectrum : </a:t>
            </a:r>
          </a:p>
          <a:p>
            <a:pPr marL="1028700" lvl="2" indent="-342900">
              <a:buFont typeface="Courier New" panose="020B0604020202020204" pitchFamily="34" charset="0"/>
              <a:buChar char="o"/>
            </a:pPr>
            <a:r>
              <a:rPr lang="en-US" sz="2400" dirty="0">
                <a:ea typeface="+mn-lt"/>
                <a:cs typeface="+mn-lt"/>
              </a:rPr>
              <a:t>       </a:t>
            </a:r>
            <a:r>
              <a:rPr lang="en-US" sz="2400" dirty="0" err="1">
                <a:ea typeface="+mn-lt"/>
                <a:cs typeface="+mn-lt"/>
              </a:rPr>
              <a:t>S</a:t>
            </a:r>
            <a:r>
              <a:rPr lang="en-US" dirty="0" err="1">
                <a:ea typeface="+mn-lt"/>
                <a:cs typeface="+mn-lt"/>
              </a:rPr>
              <a:t>n,out</a:t>
            </a:r>
            <a:r>
              <a:rPr lang="en-US" sz="2400" dirty="0">
                <a:ea typeface="+mn-lt"/>
                <a:cs typeface="+mn-lt"/>
              </a:rPr>
              <a:t>(f)=S</a:t>
            </a:r>
            <a:r>
              <a:rPr lang="en-US" dirty="0">
                <a:ea typeface="+mn-lt"/>
                <a:cs typeface="+mn-lt"/>
              </a:rPr>
              <a:t>n1</a:t>
            </a:r>
            <a:r>
              <a:rPr lang="en-US" sz="2400" dirty="0">
                <a:ea typeface="+mn-lt"/>
                <a:cs typeface="+mn-lt"/>
              </a:rPr>
              <a:t>(f) * |H(f)|^2</a:t>
            </a:r>
          </a:p>
          <a:p>
            <a:pPr indent="-457200"/>
            <a:endParaRPr lang="en-US" sz="2400" dirty="0">
              <a:ea typeface="+mn-lt"/>
              <a:cs typeface="+mn-lt"/>
            </a:endParaRPr>
          </a:p>
          <a:p>
            <a:pPr indent="-457200"/>
            <a:r>
              <a:rPr lang="en-US" sz="2400" dirty="0">
                <a:ea typeface="+mn-lt"/>
                <a:cs typeface="+mn-lt"/>
              </a:rPr>
              <a:t>S</a:t>
            </a:r>
            <a:r>
              <a:rPr lang="en-US" sz="2000" dirty="0">
                <a:ea typeface="+mn-lt"/>
                <a:cs typeface="+mn-lt"/>
              </a:rPr>
              <a:t>n1</a:t>
            </a:r>
            <a:r>
              <a:rPr lang="en-US" sz="2400" dirty="0">
                <a:ea typeface="+mn-lt"/>
                <a:cs typeface="+mn-lt"/>
              </a:rPr>
              <a:t>(f) denotes the spectrum of V</a:t>
            </a:r>
            <a:r>
              <a:rPr lang="en-US" sz="2000" dirty="0">
                <a:ea typeface="+mn-lt"/>
                <a:cs typeface="+mn-lt"/>
              </a:rPr>
              <a:t>n1 </a:t>
            </a:r>
          </a:p>
          <a:p>
            <a:pPr indent="-457200"/>
            <a:r>
              <a:rPr lang="en-US" sz="2400" dirty="0">
                <a:ea typeface="+mn-lt"/>
                <a:cs typeface="+mn-lt"/>
              </a:rPr>
              <a:t>|H(f)|^2 shaped the noise signal </a:t>
            </a:r>
          </a:p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Example : If Sn1(f) is white and H(s) a low-pass filter. </a:t>
            </a:r>
          </a:p>
          <a:p>
            <a:pPr marL="457200" lvl="1" indent="0">
              <a:buNone/>
            </a:pPr>
            <a:br>
              <a:rPr lang="en-US" dirty="0"/>
            </a:br>
            <a:endParaRPr lang="en-US"/>
          </a:p>
          <a:p>
            <a:pPr marL="571500" lvl="1" indent="-342900">
              <a:buAutoNum type="arabicPeriod"/>
            </a:pPr>
            <a:endParaRPr lang="en-US" dirty="0">
              <a:ea typeface="+mn-lt"/>
              <a:cs typeface="+mn-lt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AFF61C-6E3C-462A-727A-AFE44461FD16}"/>
              </a:ext>
            </a:extLst>
          </p:cNvPr>
          <p:cNvGrpSpPr/>
          <p:nvPr/>
        </p:nvGrpSpPr>
        <p:grpSpPr>
          <a:xfrm>
            <a:off x="7445349" y="3168650"/>
            <a:ext cx="3906334" cy="1248947"/>
            <a:chOff x="6309909" y="332317"/>
            <a:chExt cx="5105275" cy="1357805"/>
          </a:xfrm>
        </p:grpSpPr>
        <p:pic>
          <p:nvPicPr>
            <p:cNvPr id="4" name="Picture 3" descr="A diagram of a diagram&#10;&#10;AI-generated content may be incorrect.">
              <a:extLst>
                <a:ext uri="{FF2B5EF4-FFF2-40B4-BE49-F238E27FC236}">
                  <a16:creationId xmlns:a16="http://schemas.microsoft.com/office/drawing/2014/main" id="{90D0591E-1796-E8B7-94CB-687EE53C7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9909" y="337572"/>
              <a:ext cx="5048250" cy="1352550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8C9DB8-CC3C-5CE0-480D-3D3C5A020C89}"/>
                </a:ext>
              </a:extLst>
            </p:cNvPr>
            <p:cNvSpPr txBox="1"/>
            <p:nvPr/>
          </p:nvSpPr>
          <p:spPr>
            <a:xfrm>
              <a:off x="10193715" y="332317"/>
              <a:ext cx="1221469" cy="42879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1600" err="1">
                  <a:solidFill>
                    <a:srgbClr val="010409"/>
                  </a:solidFill>
                </a:rPr>
                <a:t>S</a:t>
              </a:r>
              <a:r>
                <a:rPr lang="en-US" sz="1200" err="1">
                  <a:solidFill>
                    <a:srgbClr val="010409"/>
                  </a:solidFill>
                </a:rPr>
                <a:t>n,out</a:t>
              </a:r>
              <a:r>
                <a:rPr lang="en-US" sz="1600" dirty="0">
                  <a:solidFill>
                    <a:srgbClr val="010409"/>
                  </a:solidFill>
                </a:rPr>
                <a:t>(f)</a:t>
              </a:r>
              <a:endParaRPr lang="en-US" sz="1600"/>
            </a:p>
          </p:txBody>
        </p:sp>
      </p:grpSp>
    </p:spTree>
    <p:extLst>
      <p:ext uri="{BB962C8B-B14F-4D97-AF65-F5344CB8AC3E}">
        <p14:creationId xmlns:p14="http://schemas.microsoft.com/office/powerpoint/2010/main" val="1881309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09839-6A37-451D-A7FE-92F5BCC9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Power &amp; Spectral Density</a:t>
            </a:r>
            <a:endParaRPr lang="en-US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A270-2A3B-39FE-FA7B-E51B2CBC2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0211"/>
            <a:ext cx="11083871" cy="50020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Average Power of Noise</a:t>
            </a:r>
            <a:endParaRPr lang="en-US" sz="2400" b="1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400" dirty="0">
                <a:ea typeface="+mn-lt"/>
                <a:cs typeface="+mn-lt"/>
              </a:rPr>
              <a:t>  For a </a:t>
            </a:r>
            <a:r>
              <a:rPr lang="en-US" sz="2400" u="sng" dirty="0">
                <a:ea typeface="+mn-lt"/>
                <a:cs typeface="+mn-lt"/>
              </a:rPr>
              <a:t>random signal, x2(t)</a:t>
            </a:r>
            <a:r>
              <a:rPr lang="en-US" sz="2400" dirty="0">
                <a:ea typeface="+mn-lt"/>
                <a:cs typeface="+mn-lt"/>
              </a:rPr>
              <a:t>, we define the average power as :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Integrate its squared value over the time.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 denotes the period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The average power can also be obtained from the spectrum of the signal.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>
              <a:buFont typeface="Courier New,monospace" panose="020B0604020202020204" pitchFamily="34" charset="0"/>
              <a:buChar char="o"/>
            </a:pPr>
            <a:r>
              <a:rPr lang="en-US" dirty="0"/>
              <a:t>Integrate its value over the </a:t>
            </a:r>
            <a:r>
              <a:rPr lang="en-US" err="1"/>
              <a:t>freq</a:t>
            </a:r>
            <a:r>
              <a:rPr lang="en-US" dirty="0"/>
              <a:t> range.</a:t>
            </a:r>
          </a:p>
          <a:p>
            <a:pPr marL="914400" lvl="1" indent="-457200">
              <a:buFont typeface="Courier New" panose="020B0604020202020204" pitchFamily="34" charset="0"/>
              <a:buChar char="o"/>
            </a:pPr>
            <a:endParaRPr lang="en-US" dirty="0"/>
          </a:p>
          <a:p>
            <a:pPr marL="0" indent="0">
              <a:buNone/>
            </a:pPr>
            <a:endParaRPr lang="en-US" sz="2400" u="sng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u="sng" dirty="0">
                <a:solidFill>
                  <a:srgbClr val="FF0000"/>
                </a:solidFill>
              </a:rPr>
              <a:t>Parseval's theorem : </a:t>
            </a:r>
            <a:r>
              <a:rPr lang="en-US" sz="2400" u="sng" dirty="0"/>
              <a:t>Total average power = Area under the Spectral Density Curve.</a:t>
            </a:r>
            <a:endParaRPr lang="en-US" sz="2400" dirty="0"/>
          </a:p>
          <a:p>
            <a:pPr algn="ctr">
              <a:buNone/>
            </a:pPr>
            <a:r>
              <a:rPr lang="en-US" sz="2400" i="1" dirty="0">
                <a:ea typeface="+mn-lt"/>
                <a:cs typeface="+mn-lt"/>
              </a:rPr>
              <a:t>If a frequency has power in the spectrum, it shows up as part of the random waveform in time.</a:t>
            </a:r>
          </a:p>
          <a:p>
            <a:pPr marL="0" indent="0">
              <a:buNone/>
            </a:pPr>
            <a:endParaRPr lang="en-US" sz="2400" dirty="0"/>
          </a:p>
          <a:p>
            <a:pPr>
              <a:buAutoNum type="arabicPeriod"/>
            </a:pPr>
            <a:endParaRPr lang="en-US" sz="2400" dirty="0"/>
          </a:p>
        </p:txBody>
      </p:sp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89856985-ECC8-FF68-15E3-EC98B352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309" y="3915987"/>
            <a:ext cx="2371725" cy="771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01A989-7047-BE99-152A-F4E7AA778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3899" y="2491354"/>
            <a:ext cx="3563964" cy="7000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7163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C36D-6D82-4265-ADB0-1289F81CE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863"/>
            <a:ext cx="10980549" cy="61078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Approximation of Noise Spectrum </a:t>
            </a:r>
          </a:p>
          <a:p>
            <a:pPr marL="0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Noise with any spectrum can be approximated by breaking it into many narrow frequency bands(called silvers /slices) . 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Each band is represented as an impulse, which corresponds to a sinusoid in the time domain.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 So, the noise is modeled as the sum of many sinusoids at different frequencies.</a:t>
            </a:r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 But this is only for short 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period of times </a:t>
            </a: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that match the bandwidth of each frequency slice.</a:t>
            </a:r>
          </a:p>
          <a:p>
            <a:r>
              <a:rPr lang="en-US" sz="2400" b="1" dirty="0">
                <a:ea typeface="+mn-lt"/>
                <a:cs typeface="+mn-lt"/>
              </a:rPr>
              <a:t>EXAMPLE</a:t>
            </a:r>
            <a:r>
              <a:rPr lang="en-US" sz="2400" dirty="0">
                <a:ea typeface="+mn-lt"/>
                <a:cs typeface="+mn-lt"/>
              </a:rPr>
              <a:t>:  If each slice is 1 kHz wide (in </a:t>
            </a:r>
            <a:r>
              <a:rPr lang="en-US" sz="2400" dirty="0" err="1">
                <a:ea typeface="+mn-lt"/>
                <a:cs typeface="+mn-lt"/>
              </a:rPr>
              <a:t>freq</a:t>
            </a:r>
            <a:r>
              <a:rPr lang="en-US" sz="2400" dirty="0">
                <a:ea typeface="+mn-lt"/>
                <a:cs typeface="+mn-lt"/>
              </a:rPr>
              <a:t> domain), the sinusoid model is only accurate for about 1 millisecond</a:t>
            </a:r>
          </a:p>
          <a:p>
            <a:r>
              <a:rPr lang="en-US" sz="2400" dirty="0">
                <a:ea typeface="+mn-lt"/>
                <a:cs typeface="+mn-lt"/>
              </a:rPr>
              <a:t> Beyond that, the sum of sinusoids</a:t>
            </a:r>
            <a:r>
              <a:rPr lang="en-US" sz="2400" u="sng" dirty="0">
                <a:ea typeface="+mn-lt"/>
                <a:cs typeface="+mn-lt"/>
              </a:rPr>
              <a:t> can't fully capture the randomness.</a:t>
            </a:r>
            <a:endParaRPr lang="en-US" u="sng"/>
          </a:p>
          <a:p>
            <a:r>
              <a:rPr lang="en-US" sz="2400" dirty="0">
                <a:ea typeface="+mn-lt"/>
                <a:cs typeface="+mn-lt"/>
              </a:rPr>
              <a:t>To model noise accurately over longer times, we use narrower slices.</a:t>
            </a:r>
            <a:endParaRPr lang="en-US" dirty="0"/>
          </a:p>
        </p:txBody>
      </p:sp>
      <p:pic>
        <p:nvPicPr>
          <p:cNvPr id="2" name="Picture 1" descr="A diagram of a graph&#10;&#10;AI-generated content may be incorrect.">
            <a:extLst>
              <a:ext uri="{FF2B5EF4-FFF2-40B4-BE49-F238E27FC236}">
                <a16:creationId xmlns:a16="http://schemas.microsoft.com/office/drawing/2014/main" id="{3BC5413A-E9EE-9063-93C0-0E3D22438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580" y="510152"/>
            <a:ext cx="5808672" cy="11985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6599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399AA-8426-7D72-86AF-BC6F2A8E2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8270"/>
            <a:ext cx="10515600" cy="56686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Accumulation of Noise with Time</a:t>
            </a:r>
          </a:p>
          <a:p>
            <a:r>
              <a:rPr lang="en-US" sz="2400" dirty="0">
                <a:ea typeface="+mn-lt"/>
                <a:cs typeface="+mn-lt"/>
              </a:rPr>
              <a:t>When looking at noise over a short "</a:t>
            </a:r>
            <a:r>
              <a:rPr lang="en-US" sz="2400" u="sng" dirty="0">
                <a:ea typeface="+mn-lt"/>
                <a:cs typeface="+mn-lt"/>
              </a:rPr>
              <a:t>observation window</a:t>
            </a:r>
            <a:r>
              <a:rPr lang="en-US" sz="2400" dirty="0">
                <a:ea typeface="+mn-lt"/>
                <a:cs typeface="+mn-lt"/>
              </a:rPr>
              <a:t>” of  </a:t>
            </a:r>
            <a:r>
              <a:rPr lang="en-US" sz="2400" b="1" dirty="0">
                <a:ea typeface="+mn-lt"/>
                <a:cs typeface="+mn-lt"/>
              </a:rPr>
              <a:t>[0 to ta] </a:t>
            </a:r>
            <a:r>
              <a:rPr lang="en-US" sz="2400" dirty="0">
                <a:ea typeface="+mn-lt"/>
                <a:cs typeface="+mn-lt"/>
              </a:rPr>
              <a:t>, 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Only the fast-changing  (high-frequency : </a:t>
            </a:r>
            <a:r>
              <a:rPr lang="en-US" dirty="0" err="1">
                <a:ea typeface="+mn-lt"/>
                <a:cs typeface="+mn-lt"/>
              </a:rPr>
              <a:t>fN</a:t>
            </a:r>
            <a:r>
              <a:rPr lang="en-US" dirty="0">
                <a:ea typeface="+mn-lt"/>
                <a:cs typeface="+mn-lt"/>
              </a:rPr>
              <a:t>) noise components matter. </a:t>
            </a:r>
            <a:endParaRPr lang="en-US"/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Slow noise (low-frequency: f1 ) doesn’t change much during that window, so it affects the signal less.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endParaRPr lang="en-US" dirty="0"/>
          </a:p>
          <a:p>
            <a:pPr marL="2286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2286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2286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228600" lvl="1" indent="0">
              <a:buNone/>
            </a:pPr>
            <a:r>
              <a:rPr lang="en-US" b="1" dirty="0">
                <a:ea typeface="+mn-lt"/>
                <a:cs typeface="+mn-lt"/>
              </a:rPr>
              <a:t>Observing noise for tₐ seconds</a:t>
            </a:r>
            <a:r>
              <a:rPr lang="en-US" dirty="0">
                <a:ea typeface="+mn-lt"/>
                <a:cs typeface="+mn-lt"/>
              </a:rPr>
              <a:t> is like applying a </a:t>
            </a:r>
            <a:r>
              <a:rPr lang="en-US" b="1" dirty="0">
                <a:ea typeface="+mn-lt"/>
                <a:cs typeface="+mn-lt"/>
              </a:rPr>
              <a:t>high-pass filter</a:t>
            </a:r>
            <a:r>
              <a:rPr lang="en-US" dirty="0">
                <a:ea typeface="+mn-lt"/>
                <a:cs typeface="+mn-lt"/>
              </a:rPr>
              <a:t> that blocks very slow noise variations and lets through only high-</a:t>
            </a:r>
            <a:r>
              <a:rPr lang="en-US" dirty="0" err="1">
                <a:ea typeface="+mn-lt"/>
                <a:cs typeface="+mn-lt"/>
              </a:rPr>
              <a:t>freq</a:t>
            </a:r>
            <a:r>
              <a:rPr lang="en-US" dirty="0">
                <a:ea typeface="+mn-lt"/>
                <a:cs typeface="+mn-lt"/>
              </a:rPr>
              <a:t> noise. </a:t>
            </a:r>
            <a:endParaRPr lang="en-US" dirty="0"/>
          </a:p>
        </p:txBody>
      </p:sp>
      <p:pic>
        <p:nvPicPr>
          <p:cNvPr id="2" name="Picture 1" descr="A diagram of a function&#10;&#10;AI-generated content may be incorrect.">
            <a:extLst>
              <a:ext uri="{FF2B5EF4-FFF2-40B4-BE49-F238E27FC236}">
                <a16:creationId xmlns:a16="http://schemas.microsoft.com/office/drawing/2014/main" id="{66BA80CE-7135-B6DE-46BB-F4DEF161C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141" y="2336449"/>
            <a:ext cx="5052125" cy="15522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891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0FEF4-766B-A214-A0AF-F068127F3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Basic Jitter and Phase Noise Intro</a:t>
            </a:r>
            <a:endParaRPr lang="en-US" dirty="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72E6-7F5A-119B-7732-83109D0AC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59"/>
            <a:ext cx="10877227" cy="50229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A perfect oscillator has fixed timing, but real ones have </a:t>
            </a:r>
            <a:r>
              <a:rPr lang="en-US" sz="2400" b="1" dirty="0">
                <a:ea typeface="+mn-lt"/>
                <a:cs typeface="+mn-lt"/>
              </a:rPr>
              <a:t>noise</a:t>
            </a:r>
            <a:r>
              <a:rPr lang="en-US" sz="2400" dirty="0">
                <a:ea typeface="+mn-lt"/>
                <a:cs typeface="+mn-lt"/>
              </a:rPr>
              <a:t> that causes </a:t>
            </a:r>
            <a:r>
              <a:rPr lang="en-US" sz="2400" b="1" dirty="0">
                <a:ea typeface="+mn-lt"/>
                <a:cs typeface="+mn-lt"/>
              </a:rPr>
              <a:t>random shifts in phase </a:t>
            </a:r>
            <a:r>
              <a:rPr lang="en-US" sz="2400" dirty="0">
                <a:ea typeface="+mn-lt"/>
                <a:cs typeface="+mn-lt"/>
              </a:rPr>
              <a:t>called </a:t>
            </a:r>
            <a:r>
              <a:rPr lang="en-US" sz="2400" b="1" dirty="0">
                <a:ea typeface="+mn-lt"/>
                <a:cs typeface="+mn-lt"/>
              </a:rPr>
              <a:t>jitter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b="1" dirty="0">
                <a:ea typeface="+mn-lt"/>
                <a:cs typeface="+mn-lt"/>
              </a:rPr>
              <a:t>phase noise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We model this as: 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ea typeface="+mn-lt"/>
                <a:cs typeface="+mn-lt"/>
              </a:rPr>
              <a:t>V</a:t>
            </a:r>
            <a:r>
              <a:rPr lang="en-US" sz="2000" b="1" dirty="0" err="1">
                <a:solidFill>
                  <a:srgbClr val="FF0000"/>
                </a:solidFill>
                <a:ea typeface="+mn-lt"/>
                <a:cs typeface="+mn-lt"/>
              </a:rPr>
              <a:t>out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 (t)=V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0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 * cos(ω</a:t>
            </a:r>
            <a:r>
              <a:rPr lang="en-US" sz="2000" b="1" dirty="0">
                <a:solidFill>
                  <a:srgbClr val="FF0000"/>
                </a:solidFill>
                <a:ea typeface="+mn-lt"/>
                <a:cs typeface="+mn-lt"/>
              </a:rPr>
              <a:t>0* 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t + </a:t>
            </a:r>
            <a:r>
              <a:rPr lang="en-US" sz="2400" b="1" dirty="0" err="1">
                <a:solidFill>
                  <a:srgbClr val="FF0000"/>
                </a:solidFill>
                <a:ea typeface="+mn-lt"/>
                <a:cs typeface="+mn-lt"/>
              </a:rPr>
              <a:t>ϕ</a:t>
            </a:r>
            <a:r>
              <a:rPr lang="en-US" sz="2000" b="1" dirty="0" err="1">
                <a:solidFill>
                  <a:srgbClr val="FF0000"/>
                </a:solidFill>
                <a:ea typeface="+mn-lt"/>
                <a:cs typeface="+mn-lt"/>
              </a:rPr>
              <a:t>n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(t))</a:t>
            </a:r>
            <a:endParaRPr lang="en-US" b="1">
              <a:solidFill>
                <a:srgbClr val="FF0000"/>
              </a:solidFill>
            </a:endParaRP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where </a:t>
            </a:r>
            <a:r>
              <a:rPr lang="en-US" dirty="0" err="1">
                <a:ea typeface="+mn-lt"/>
                <a:cs typeface="+mn-lt"/>
              </a:rPr>
              <a:t>ϕn</a:t>
            </a:r>
            <a:r>
              <a:rPr lang="en-US" dirty="0">
                <a:ea typeface="+mn-lt"/>
                <a:cs typeface="+mn-lt"/>
              </a:rPr>
              <a:t>(t) is the excess phase (noise induced) 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ω0   is called as the "carrier" frequency. (ideal) </a:t>
            </a:r>
          </a:p>
          <a:p>
            <a:r>
              <a:rPr lang="en-US" sz="2400" b="1" dirty="0">
                <a:ea typeface="+mn-lt"/>
                <a:cs typeface="+mn-lt"/>
              </a:rPr>
              <a:t>EXAMPLE: 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Plot </a:t>
            </a:r>
            <a:r>
              <a:rPr lang="en-US" sz="2400" dirty="0" err="1">
                <a:ea typeface="+mn-lt"/>
                <a:cs typeface="+mn-lt"/>
              </a:rPr>
              <a:t>V</a:t>
            </a:r>
            <a:r>
              <a:rPr lang="en-US" sz="2000" dirty="0" err="1">
                <a:ea typeface="+mn-lt"/>
                <a:cs typeface="+mn-lt"/>
              </a:rPr>
              <a:t>out</a:t>
            </a:r>
            <a:r>
              <a:rPr lang="en-US" sz="2400" dirty="0">
                <a:ea typeface="+mn-lt"/>
                <a:cs typeface="+mn-lt"/>
              </a:rPr>
              <a:t> (t)=V</a:t>
            </a:r>
            <a:r>
              <a:rPr lang="en-US" sz="2000" dirty="0">
                <a:ea typeface="+mn-lt"/>
                <a:cs typeface="+mn-lt"/>
              </a:rPr>
              <a:t>0</a:t>
            </a:r>
            <a:r>
              <a:rPr lang="en-US" sz="2400" dirty="0">
                <a:ea typeface="+mn-lt"/>
                <a:cs typeface="+mn-lt"/>
              </a:rPr>
              <a:t> * cos(ω</a:t>
            </a:r>
            <a:r>
              <a:rPr lang="en-US" sz="2000" dirty="0">
                <a:ea typeface="+mn-lt"/>
                <a:cs typeface="+mn-lt"/>
              </a:rPr>
              <a:t>0* </a:t>
            </a:r>
            <a:r>
              <a:rPr lang="en-US" sz="2400" dirty="0">
                <a:ea typeface="+mn-lt"/>
                <a:cs typeface="+mn-lt"/>
              </a:rPr>
              <a:t>t + </a:t>
            </a:r>
            <a:r>
              <a:rPr lang="en-US" sz="2400" dirty="0" err="1">
                <a:ea typeface="+mn-lt"/>
                <a:cs typeface="+mn-lt"/>
              </a:rPr>
              <a:t>ϕ</a:t>
            </a:r>
            <a:r>
              <a:rPr lang="en-US" sz="2000" dirty="0" err="1">
                <a:ea typeface="+mn-lt"/>
                <a:cs typeface="+mn-lt"/>
              </a:rPr>
              <a:t>n</a:t>
            </a:r>
            <a:r>
              <a:rPr lang="en-US" sz="2400" dirty="0">
                <a:ea typeface="+mn-lt"/>
                <a:cs typeface="+mn-lt"/>
              </a:rPr>
              <a:t>(t)) if </a:t>
            </a:r>
            <a:r>
              <a:rPr lang="en-US" sz="2400" dirty="0" err="1">
                <a:ea typeface="+mn-lt"/>
                <a:cs typeface="+mn-lt"/>
              </a:rPr>
              <a:t>ϕ</a:t>
            </a:r>
            <a:r>
              <a:rPr lang="en-US" sz="2000" dirty="0" err="1">
                <a:ea typeface="+mn-lt"/>
                <a:cs typeface="+mn-lt"/>
              </a:rPr>
              <a:t>n</a:t>
            </a:r>
            <a:r>
              <a:rPr lang="en-US" sz="2400" dirty="0">
                <a:ea typeface="+mn-lt"/>
                <a:cs typeface="+mn-lt"/>
              </a:rPr>
              <a:t>(t)&lt;&lt;1rad.</a:t>
            </a:r>
            <a:endParaRPr lang="en-US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Total phase is the entire argument inside the cos()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Excess phase is the phase in addition to the w*t term. </a:t>
            </a:r>
            <a:endParaRPr lang="en-US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Since </a:t>
            </a:r>
            <a:r>
              <a:rPr lang="en-US" dirty="0" err="1">
                <a:ea typeface="+mn-lt"/>
                <a:cs typeface="+mn-lt"/>
              </a:rPr>
              <a:t>phi_n</a:t>
            </a:r>
            <a:r>
              <a:rPr lang="en-US" dirty="0">
                <a:ea typeface="+mn-lt"/>
                <a:cs typeface="+mn-lt"/>
              </a:rPr>
              <a:t>(t) is way lesser than 1, it causes mild disturbances in the straight-line waveform of w*t</a:t>
            </a:r>
          </a:p>
          <a:p>
            <a:endParaRPr lang="en-US" sz="2400" b="1" dirty="0">
              <a:ea typeface="+mn-lt"/>
              <a:cs typeface="+mn-lt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E407508A-112C-AAC5-A76F-ECD1BC7E6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204" y="2070289"/>
            <a:ext cx="3432950" cy="27099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447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F707-B7F6-EFDE-B7A4-782E7E97E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Jitter :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B3EAA-BA5B-C03C-4C67-240FE55CE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914"/>
            <a:ext cx="10515600" cy="50302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As discussed before Jitter is deviation of zero-crossings of a periodic signal from its ideal points. And it is a Time-domain phenomenon. </a:t>
            </a:r>
          </a:p>
          <a:p>
            <a:r>
              <a:rPr lang="en-US" sz="2400" b="1" dirty="0"/>
              <a:t>Example : Can VCO's exhibit Jitter ?? 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Input : </a:t>
            </a:r>
            <a:r>
              <a:rPr lang="en-US" dirty="0" err="1"/>
              <a:t>V</a:t>
            </a:r>
            <a:r>
              <a:rPr lang="en-US" sz="1800" dirty="0" err="1"/>
              <a:t>cont</a:t>
            </a:r>
            <a:r>
              <a:rPr lang="en-US" dirty="0"/>
              <a:t> (t) = </a:t>
            </a:r>
            <a:r>
              <a:rPr lang="en-US" dirty="0" err="1"/>
              <a:t>V</a:t>
            </a:r>
            <a:r>
              <a:rPr lang="en-US" sz="1800" dirty="0" err="1"/>
              <a:t>m</a:t>
            </a:r>
            <a:r>
              <a:rPr lang="en-US" dirty="0" err="1"/>
              <a:t>cos</a:t>
            </a:r>
            <a:r>
              <a:rPr lang="en-US" dirty="0"/>
              <a:t>(</a:t>
            </a:r>
            <a:r>
              <a:rPr lang="en-US" dirty="0" err="1"/>
              <a:t>w</a:t>
            </a:r>
            <a:r>
              <a:rPr lang="en-US" sz="1800" dirty="0" err="1"/>
              <a:t>m</a:t>
            </a:r>
            <a:r>
              <a:rPr lang="en-US" sz="1800" dirty="0"/>
              <a:t>*</a:t>
            </a:r>
            <a:r>
              <a:rPr lang="en-US" dirty="0"/>
              <a:t>t) 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dirty="0"/>
              <a:t>Output </a:t>
            </a:r>
            <a:r>
              <a:rPr lang="en-US" dirty="0" err="1"/>
              <a:t>V</a:t>
            </a:r>
            <a:r>
              <a:rPr lang="en-US" sz="1800" dirty="0" err="1"/>
              <a:t>out</a:t>
            </a:r>
            <a:r>
              <a:rPr lang="en-US" dirty="0"/>
              <a:t>(t)</a:t>
            </a:r>
          </a:p>
          <a:p>
            <a:pPr marL="800100" lvl="1" indent="-342900">
              <a:buFont typeface="Courier New" panose="020B0604020202020204" pitchFamily="34" charset="0"/>
              <a:buChar char="o"/>
            </a:pPr>
            <a:endParaRPr lang="en-US" dirty="0"/>
          </a:p>
          <a:p>
            <a:pPr marL="800100" lvl="1" indent="-342900">
              <a:buFont typeface="Courier New" panose="020B0604020202020204" pitchFamily="34" charset="0"/>
              <a:buChar char="o"/>
            </a:pPr>
            <a:r>
              <a:rPr lang="en-US" b="1" i="1" dirty="0"/>
              <a:t>Observation : </a:t>
            </a:r>
            <a:r>
              <a:rPr lang="en-US" i="1" dirty="0">
                <a:ea typeface="+mn-lt"/>
                <a:cs typeface="+mn-lt"/>
              </a:rPr>
              <a:t>The maximum departure of the zero crossings from their ideal points in time occurs when the excess phase reaches a maximum or minimum.</a:t>
            </a:r>
          </a:p>
          <a:p>
            <a:pPr marL="342900" indent="-342900"/>
            <a:r>
              <a:rPr lang="en-US" sz="2400" b="1" dirty="0">
                <a:ea typeface="+mn-lt"/>
                <a:cs typeface="+mn-lt"/>
              </a:rPr>
              <a:t>Deterministic jitter : </a:t>
            </a:r>
            <a:r>
              <a:rPr lang="en-US" sz="2400" dirty="0">
                <a:ea typeface="+mn-lt"/>
                <a:cs typeface="+mn-lt"/>
              </a:rPr>
              <a:t>Arises if the </a:t>
            </a:r>
            <a:r>
              <a:rPr lang="en-US" sz="2400" dirty="0" err="1">
                <a:ea typeface="+mn-lt"/>
                <a:cs typeface="+mn-lt"/>
              </a:rPr>
              <a:t>osc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freq</a:t>
            </a:r>
            <a:r>
              <a:rPr lang="en-US" sz="2400" dirty="0">
                <a:ea typeface="+mn-lt"/>
                <a:cs typeface="+mn-lt"/>
              </a:rPr>
              <a:t> (w) is periodically disturbed. 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Peak to Peak Jitter = (2*</a:t>
            </a:r>
            <a:r>
              <a:rPr lang="en-US" sz="2400" dirty="0" err="1">
                <a:ea typeface="+mn-lt"/>
                <a:cs typeface="+mn-lt"/>
              </a:rPr>
              <a:t>K</a:t>
            </a:r>
            <a:r>
              <a:rPr lang="en-US" sz="1800" dirty="0" err="1">
                <a:ea typeface="+mn-lt"/>
                <a:cs typeface="+mn-lt"/>
              </a:rPr>
              <a:t>vco</a:t>
            </a:r>
            <a:r>
              <a:rPr lang="en-US" sz="2400" dirty="0">
                <a:ea typeface="+mn-lt"/>
                <a:cs typeface="+mn-lt"/>
              </a:rPr>
              <a:t>*</a:t>
            </a:r>
            <a:r>
              <a:rPr lang="en-US" sz="2400" dirty="0" err="1">
                <a:ea typeface="+mn-lt"/>
                <a:cs typeface="+mn-lt"/>
              </a:rPr>
              <a:t>V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)/</a:t>
            </a:r>
            <a:r>
              <a:rPr lang="en-US" sz="2400" dirty="0" err="1">
                <a:ea typeface="+mn-lt"/>
                <a:cs typeface="+mn-lt"/>
              </a:rPr>
              <a:t>w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 radians = (2*</a:t>
            </a:r>
            <a:r>
              <a:rPr lang="en-US" sz="2400" dirty="0" err="1">
                <a:ea typeface="+mn-lt"/>
                <a:cs typeface="+mn-lt"/>
              </a:rPr>
              <a:t>K</a:t>
            </a:r>
            <a:r>
              <a:rPr lang="en-US" sz="1800" dirty="0" err="1">
                <a:ea typeface="+mn-lt"/>
                <a:cs typeface="+mn-lt"/>
              </a:rPr>
              <a:t>vco</a:t>
            </a:r>
            <a:r>
              <a:rPr lang="en-US" sz="2400" dirty="0">
                <a:ea typeface="+mn-lt"/>
                <a:cs typeface="+mn-lt"/>
              </a:rPr>
              <a:t>*</a:t>
            </a:r>
            <a:r>
              <a:rPr lang="en-US" sz="2400" dirty="0" err="1">
                <a:ea typeface="+mn-lt"/>
                <a:cs typeface="+mn-lt"/>
              </a:rPr>
              <a:t>V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)/(</a:t>
            </a:r>
            <a:r>
              <a:rPr lang="en-US" sz="2400" dirty="0" err="1">
                <a:ea typeface="+mn-lt"/>
                <a:cs typeface="+mn-lt"/>
              </a:rPr>
              <a:t>w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*w</a:t>
            </a:r>
            <a:r>
              <a:rPr lang="en-US" sz="1800" dirty="0">
                <a:ea typeface="+mn-lt"/>
                <a:cs typeface="+mn-lt"/>
              </a:rPr>
              <a:t>0</a:t>
            </a:r>
            <a:r>
              <a:rPr lang="en-US" sz="2400" dirty="0">
                <a:ea typeface="+mn-lt"/>
                <a:cs typeface="+mn-lt"/>
              </a:rPr>
              <a:t>) sec</a:t>
            </a:r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{Note : if we increase </a:t>
            </a:r>
            <a:r>
              <a:rPr lang="en-US" sz="2400" dirty="0" err="1">
                <a:ea typeface="+mn-lt"/>
                <a:cs typeface="+mn-lt"/>
              </a:rPr>
              <a:t>wm</a:t>
            </a:r>
            <a:r>
              <a:rPr lang="en-US" sz="2400" dirty="0">
                <a:ea typeface="+mn-lt"/>
                <a:cs typeface="+mn-lt"/>
              </a:rPr>
              <a:t> ; we reduce the Jitter}</a:t>
            </a:r>
          </a:p>
        </p:txBody>
      </p:sp>
      <p:pic>
        <p:nvPicPr>
          <p:cNvPr id="4" name="Picture 3" descr="A red line between black letters&#10;&#10;AI-generated content may be incorrect.">
            <a:extLst>
              <a:ext uri="{FF2B5EF4-FFF2-40B4-BE49-F238E27FC236}">
                <a16:creationId xmlns:a16="http://schemas.microsoft.com/office/drawing/2014/main" id="{0DD356BA-CE81-C308-4A86-4B69D0819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428" y="3105150"/>
            <a:ext cx="3238500" cy="6477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E75EA315-A55C-C88F-39EA-20D2719D8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066" y="2287615"/>
            <a:ext cx="4095751" cy="14691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6605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6D49E-E8EE-F3F0-EC43-94997A51A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6609"/>
            <a:ext cx="10515600" cy="57203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010409"/>
                </a:solidFill>
              </a:rPr>
              <a:t>V</a:t>
            </a:r>
            <a:r>
              <a:rPr lang="en-US" sz="2400" b="1" dirty="0">
                <a:solidFill>
                  <a:srgbClr val="010409"/>
                </a:solidFill>
              </a:rPr>
              <a:t>isualizing and Measuring Jitter: The Eye Diagram</a:t>
            </a:r>
            <a:endParaRPr lang="en-US" sz="2400" dirty="0"/>
          </a:p>
          <a:p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Take multiple cycles of the “jittery” clock signal and stack them on top of each other.</a:t>
            </a:r>
            <a:endParaRPr lang="en-US" sz="2400" dirty="0">
              <a:solidFill>
                <a:srgbClr val="010409"/>
              </a:solidFill>
            </a:endParaRPr>
          </a:p>
          <a:p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This is done by using an ideal clock as a reference and overlaying each measured cycle.</a:t>
            </a:r>
            <a:endParaRPr lang="en-US" sz="2400" dirty="0">
              <a:solidFill>
                <a:srgbClr val="010409"/>
              </a:solidFill>
            </a:endParaRPr>
          </a:p>
          <a:p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The wider the eye opening, the less jitter; a smaller opening means more jitter.</a:t>
            </a:r>
            <a:endParaRPr lang="en-US" sz="2400" dirty="0">
              <a:solidFill>
                <a:srgbClr val="010409"/>
              </a:solidFill>
            </a:endParaRPr>
          </a:p>
          <a:p>
            <a:r>
              <a:rPr lang="en-US" sz="2400" i="1" u="sng" dirty="0">
                <a:solidFill>
                  <a:srgbClr val="010409"/>
                </a:solidFill>
                <a:ea typeface="+mn-lt"/>
                <a:cs typeface="+mn-lt"/>
              </a:rPr>
              <a:t>An eye diagram is a powerful way to see timing jitter, but frequency analysis is needed to know if the noise is random/deterministic. </a:t>
            </a:r>
          </a:p>
          <a:p>
            <a:endParaRPr lang="en-US" sz="2400" dirty="0">
              <a:solidFill>
                <a:srgbClr val="010409"/>
              </a:solidFill>
            </a:endParaRP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b="1" dirty="0"/>
              <a:t>Jitter types : Random and Periodic fluctuations in the signal</a:t>
            </a:r>
            <a:endParaRPr lang="en-US" b="1" dirty="0"/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DF233CEC-DB2A-4F8A-D053-02880C53F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138" y="1330245"/>
            <a:ext cx="1333500" cy="11525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29706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6BB78-CFB7-6684-EE5F-4A9BF594D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Phase Noise: Definition &amp; Spectra</a:t>
            </a:r>
            <a:endParaRPr lang="en-US">
              <a:ea typeface="+mj-lt"/>
              <a:cs typeface="+mj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5B0E5-23B4-0DDA-E39D-86CAADC50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2744"/>
            <a:ext cx="10993464" cy="50229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Phase noise : </a:t>
            </a:r>
            <a:r>
              <a:rPr lang="en-US" sz="2400" dirty="0"/>
              <a:t>Random fluctuations in the phase of an </a:t>
            </a:r>
            <a:r>
              <a:rPr lang="en-US" sz="2400" dirty="0" err="1"/>
              <a:t>osc</a:t>
            </a:r>
            <a:r>
              <a:rPr lang="en-US" sz="2400" dirty="0"/>
              <a:t> output. </a:t>
            </a:r>
            <a:endParaRPr lang="en-US" dirty="0"/>
          </a:p>
          <a:p>
            <a:r>
              <a:rPr lang="en-US" sz="2400" dirty="0"/>
              <a:t>It is </a:t>
            </a:r>
            <a:r>
              <a:rPr lang="en-US" sz="2400" err="1"/>
              <a:t>analysed</a:t>
            </a:r>
            <a:r>
              <a:rPr lang="en-US" sz="2400" dirty="0"/>
              <a:t> in </a:t>
            </a:r>
            <a:r>
              <a:rPr lang="en-US" sz="2400" err="1"/>
              <a:t>freq</a:t>
            </a:r>
            <a:r>
              <a:rPr lang="en-US" sz="2400" dirty="0"/>
              <a:t> domain only. </a:t>
            </a:r>
            <a:endParaRPr lang="en-US"/>
          </a:p>
          <a:p>
            <a:r>
              <a:rPr lang="en-US" sz="2400" u="sng" err="1"/>
              <a:t>V</a:t>
            </a:r>
            <a:r>
              <a:rPr lang="en-US" sz="2000" u="sng" err="1"/>
              <a:t>out</a:t>
            </a:r>
            <a:r>
              <a:rPr lang="en-US" sz="2400" u="sng" dirty="0"/>
              <a:t> (t)=V</a:t>
            </a:r>
            <a:r>
              <a:rPr lang="en-US" sz="2000" u="sng" dirty="0"/>
              <a:t>0</a:t>
            </a:r>
            <a:r>
              <a:rPr lang="en-US" sz="2400" u="sng" dirty="0"/>
              <a:t> * cos(ω</a:t>
            </a:r>
            <a:r>
              <a:rPr lang="en-US" sz="2000" u="sng" dirty="0"/>
              <a:t>0* </a:t>
            </a:r>
            <a:r>
              <a:rPr lang="en-US" sz="2400" u="sng" dirty="0"/>
              <a:t>t + </a:t>
            </a:r>
            <a:r>
              <a:rPr lang="en-US" sz="2400" u="sng" err="1"/>
              <a:t>ϕ</a:t>
            </a:r>
            <a:r>
              <a:rPr lang="en-US" sz="2000" u="sng" err="1"/>
              <a:t>n</a:t>
            </a:r>
            <a:r>
              <a:rPr lang="en-US" sz="2400" u="sng" dirty="0"/>
              <a:t>(t))  where </a:t>
            </a:r>
            <a:r>
              <a:rPr lang="en-US" sz="2400" u="sng" err="1"/>
              <a:t>ϕ</a:t>
            </a:r>
            <a:r>
              <a:rPr lang="en-US" sz="2000" u="sng" err="1"/>
              <a:t>n</a:t>
            </a:r>
            <a:r>
              <a:rPr lang="en-US" sz="2400" u="sng" dirty="0"/>
              <a:t>(t) is called as Phase noise.</a:t>
            </a:r>
          </a:p>
          <a:p>
            <a:pPr marL="0" indent="0">
              <a:buNone/>
            </a:pPr>
            <a:r>
              <a:rPr lang="en-US" sz="2400" b="1" dirty="0"/>
              <a:t>Effect on Spectrum </a:t>
            </a:r>
          </a:p>
          <a:p>
            <a:r>
              <a:rPr lang="en-US" sz="2400" dirty="0">
                <a:ea typeface="+mn-lt"/>
                <a:cs typeface="+mn-lt"/>
              </a:rPr>
              <a:t>Ideal case : The spectrum is just a single spike (impulse) at the carrier frequency (f₀).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Phase noise spreads the energy, so the spectrum is no longer just at f₀, but is “broadened” around it. {</a:t>
            </a:r>
            <a:r>
              <a:rPr lang="en-US" sz="2400" i="1" dirty="0">
                <a:ea typeface="+mn-lt"/>
                <a:cs typeface="+mn-lt"/>
              </a:rPr>
              <a:t>Why ? frequency randomly jumps around f₀ due to noise}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dirty="0"/>
              <a:t> </a:t>
            </a:r>
          </a:p>
        </p:txBody>
      </p:sp>
      <p:pic>
        <p:nvPicPr>
          <p:cNvPr id="4" name="Picture 3" descr="A diagram of a waveform&#10;&#10;AI-generated content may be incorrect.">
            <a:extLst>
              <a:ext uri="{FF2B5EF4-FFF2-40B4-BE49-F238E27FC236}">
                <a16:creationId xmlns:a16="http://schemas.microsoft.com/office/drawing/2014/main" id="{E795BE25-D642-095A-1943-4B874E19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154" y="5095873"/>
            <a:ext cx="4001577" cy="12528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93307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038E6-BCF2-9CBE-8FE3-39606FE21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032"/>
            <a:ext cx="10515600" cy="6259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Relationship b/w Phase Noise Spectrum and Output Spectrum</a:t>
            </a:r>
          </a:p>
          <a:p>
            <a:pPr marL="0" indent="0" algn="ctr">
              <a:buNone/>
            </a:pPr>
            <a:r>
              <a:rPr lang="en-US" sz="2400" dirty="0">
                <a:ea typeface="+mn-lt"/>
                <a:cs typeface="+mn-lt"/>
              </a:rPr>
              <a:t> </a:t>
            </a:r>
            <a:r>
              <a:rPr lang="en-US" sz="2400" err="1">
                <a:solidFill>
                  <a:srgbClr val="FF0000"/>
                </a:solidFill>
                <a:ea typeface="+mn-lt"/>
                <a:cs typeface="+mn-lt"/>
              </a:rPr>
              <a:t>Vout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(t) = V0 cos[ω0t + </a:t>
            </a:r>
            <a:r>
              <a:rPr lang="en-US" sz="2400" err="1">
                <a:solidFill>
                  <a:srgbClr val="FF0000"/>
                </a:solidFill>
                <a:ea typeface="+mn-lt"/>
                <a:cs typeface="+mn-lt"/>
              </a:rPr>
              <a:t>φn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(t)]  ≈ V0 cos ω0t − V0φn(t)sinω0t.</a:t>
            </a:r>
            <a:endParaRPr lang="en-US">
              <a:solidFill>
                <a:srgbClr val="FF0000"/>
              </a:solidFill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Assume </a:t>
            </a:r>
            <a:r>
              <a:rPr lang="en-US" sz="2400" err="1">
                <a:solidFill>
                  <a:srgbClr val="FF0000"/>
                </a:solidFill>
                <a:ea typeface="+mn-lt"/>
                <a:cs typeface="+mn-lt"/>
              </a:rPr>
              <a:t>φn</a:t>
            </a:r>
            <a:r>
              <a:rPr lang="en-US" sz="2400" dirty="0">
                <a:solidFill>
                  <a:srgbClr val="FF0000"/>
                </a:solidFill>
                <a:ea typeface="+mn-lt"/>
                <a:cs typeface="+mn-lt"/>
              </a:rPr>
              <a:t>(t) &lt;&lt;1 rad </a:t>
            </a:r>
            <a:endParaRPr lang="en-US" sz="2400">
              <a:solidFill>
                <a:srgbClr val="FF0000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/>
              <a:t>Carrier ω0 is responsible for the shift of </a:t>
            </a:r>
            <a:r>
              <a:rPr lang="en-US" sz="2400" err="1"/>
              <a:t>ϕ</a:t>
            </a:r>
            <a:r>
              <a:rPr lang="en-US" sz="2000" err="1"/>
              <a:t>n</a:t>
            </a:r>
            <a:r>
              <a:rPr lang="en-US" sz="2400" dirty="0"/>
              <a:t>(t) spectrum from 0 to f0 in the output voltage spectrum.</a:t>
            </a:r>
          </a:p>
          <a:p>
            <a:pPr marL="457200" indent="-457200">
              <a:buAutoNum type="arabicPeriod"/>
            </a:pPr>
            <a:r>
              <a:rPr lang="en-US" sz="2400" dirty="0"/>
              <a:t>Farther you go from f0, less likely you are to see large deviations. </a:t>
            </a:r>
          </a:p>
          <a:p>
            <a:pPr lvl="1"/>
            <a:r>
              <a:rPr lang="en-US" dirty="0"/>
              <a:t>Spectrum Tappers off.</a:t>
            </a:r>
          </a:p>
          <a:p>
            <a:pPr marL="0" indent="0">
              <a:buNone/>
            </a:pPr>
            <a:r>
              <a:rPr lang="en-US" sz="2400" b="1" dirty="0"/>
              <a:t>How do we measure Phase noise ?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Pick a frequency offset ; (100kHz away from f0).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2.   Measure the noise power in a very narrow range (1 Hz wide) at that offset.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3.   Compare this noise power to the main signal’s power (the carrier power).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4.   Express the result in </a:t>
            </a:r>
            <a:r>
              <a:rPr lang="en-US" sz="2400" err="1">
                <a:solidFill>
                  <a:srgbClr val="010409"/>
                </a:solidFill>
                <a:ea typeface="+mn-lt"/>
                <a:cs typeface="+mn-lt"/>
              </a:rPr>
              <a:t>dBc</a:t>
            </a:r>
            <a:r>
              <a:rPr lang="en-US" sz="2400" dirty="0">
                <a:solidFill>
                  <a:srgbClr val="010409"/>
                </a:solidFill>
                <a:ea typeface="+mn-lt"/>
                <a:cs typeface="+mn-lt"/>
              </a:rPr>
              <a:t>/Hz (decibels relative to the carrier, per Hertz of bandwidth).</a:t>
            </a:r>
          </a:p>
          <a:p>
            <a:pPr marL="0" indent="0">
              <a:buNone/>
            </a:pPr>
            <a:endParaRPr lang="en-US" sz="2400" dirty="0">
              <a:solidFill>
                <a:srgbClr val="010409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solidFill>
                <a:srgbClr val="010409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2400" dirty="0">
              <a:solidFill>
                <a:srgbClr val="010409"/>
              </a:solidFill>
              <a:ea typeface="+mn-lt"/>
              <a:cs typeface="+mn-lt"/>
            </a:endParaRPr>
          </a:p>
          <a:p>
            <a:pPr marL="457200" indent="-457200">
              <a:buAutoNum type="arabicPeriod"/>
            </a:pPr>
            <a:endParaRPr lang="en-US" sz="2400" dirty="0">
              <a:solidFill>
                <a:srgbClr val="010409"/>
              </a:solidFill>
              <a:ea typeface="+mn-lt"/>
              <a:cs typeface="+mn-lt"/>
            </a:endParaRPr>
          </a:p>
        </p:txBody>
      </p:sp>
      <p:pic>
        <p:nvPicPr>
          <p:cNvPr id="4" name="Picture 3" descr="A diagram of a voltage&#10;&#10;AI-generated content may be incorrect.">
            <a:extLst>
              <a:ext uri="{FF2B5EF4-FFF2-40B4-BE49-F238E27FC236}">
                <a16:creationId xmlns:a16="http://schemas.microsoft.com/office/drawing/2014/main" id="{C1F0C14E-5ADF-1DCA-79D3-FCD07BD88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1240" y="3071256"/>
            <a:ext cx="2995789" cy="11330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7022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5C4C-C701-1F9D-85B9-07435D476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>
                <a:ea typeface="+mj-lt"/>
                <a:cs typeface="+mj-lt"/>
              </a:rPr>
            </a:br>
            <a:r>
              <a:rPr lang="en-US" b="1">
                <a:ea typeface="+mj-lt"/>
                <a:cs typeface="+mj-lt"/>
              </a:rPr>
              <a:t>Jitter vs. Phase Noise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177BC-EBB2-A880-B52F-1B788B35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914"/>
            <a:ext cx="10915972" cy="50358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For </a:t>
            </a:r>
            <a:r>
              <a:rPr lang="en-US" sz="2400" b="1" dirty="0">
                <a:ea typeface="+mn-lt"/>
                <a:cs typeface="+mn-lt"/>
              </a:rPr>
              <a:t>deterministic Jitter </a:t>
            </a:r>
            <a:r>
              <a:rPr lang="en-US" sz="2400" dirty="0">
                <a:ea typeface="+mn-lt"/>
                <a:cs typeface="+mn-lt"/>
              </a:rPr>
              <a:t>, we use peak-to-peak jitter i.e., (2*</a:t>
            </a:r>
            <a:r>
              <a:rPr lang="en-US" sz="2400" dirty="0" err="1">
                <a:ea typeface="+mn-lt"/>
                <a:cs typeface="+mn-lt"/>
              </a:rPr>
              <a:t>K</a:t>
            </a:r>
            <a:r>
              <a:rPr lang="en-US" sz="1800" dirty="0" err="1">
                <a:ea typeface="+mn-lt"/>
                <a:cs typeface="+mn-lt"/>
              </a:rPr>
              <a:t>vco</a:t>
            </a:r>
            <a:r>
              <a:rPr lang="en-US" sz="2400" dirty="0">
                <a:ea typeface="+mn-lt"/>
                <a:cs typeface="+mn-lt"/>
              </a:rPr>
              <a:t>*</a:t>
            </a:r>
            <a:r>
              <a:rPr lang="en-US" sz="2400" dirty="0" err="1">
                <a:ea typeface="+mn-lt"/>
                <a:cs typeface="+mn-lt"/>
              </a:rPr>
              <a:t>V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)/</a:t>
            </a:r>
            <a:r>
              <a:rPr lang="en-US" sz="2400" dirty="0" err="1">
                <a:ea typeface="+mn-lt"/>
                <a:cs typeface="+mn-lt"/>
              </a:rPr>
              <a:t>w</a:t>
            </a:r>
            <a:r>
              <a:rPr lang="en-US" sz="1800" dirty="0" err="1">
                <a:ea typeface="+mn-lt"/>
                <a:cs typeface="+mn-lt"/>
              </a:rPr>
              <a:t>m</a:t>
            </a:r>
            <a:r>
              <a:rPr lang="en-US" sz="2400" dirty="0">
                <a:ea typeface="+mn-lt"/>
                <a:cs typeface="+mn-lt"/>
              </a:rPr>
              <a:t> radians.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This is </a:t>
            </a:r>
            <a:r>
              <a:rPr lang="en-US" u="sng" dirty="0">
                <a:ea typeface="+mn-lt"/>
                <a:cs typeface="+mn-lt"/>
              </a:rPr>
              <a:t>4 times the normalized Sideband Magnitude</a:t>
            </a:r>
            <a:r>
              <a:rPr lang="en-US" dirty="0">
                <a:ea typeface="+mn-lt"/>
                <a:cs typeface="+mn-lt"/>
              </a:rPr>
              <a:t> (as discussed before).</a:t>
            </a:r>
          </a:p>
          <a:p>
            <a:r>
              <a:rPr lang="en-US" sz="2400" dirty="0">
                <a:ea typeface="+mn-lt"/>
                <a:cs typeface="+mn-lt"/>
              </a:rPr>
              <a:t>For </a:t>
            </a:r>
            <a:r>
              <a:rPr lang="en-US" sz="2400" b="1" dirty="0">
                <a:ea typeface="+mn-lt"/>
                <a:cs typeface="+mn-lt"/>
              </a:rPr>
              <a:t>random jitter,</a:t>
            </a:r>
            <a:r>
              <a:rPr lang="en-US" sz="2400" dirty="0">
                <a:ea typeface="+mn-lt"/>
                <a:cs typeface="+mn-lt"/>
              </a:rPr>
              <a:t> we use RMS value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Peak-to-peak jitter only makes sense for repetitive, bounded patterns, but random jitter can, in theory, be infinitely large.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RMS jitter gives a statistical measure of the average size of timing variations, making it practical for real systems. </a:t>
            </a:r>
          </a:p>
          <a:p>
            <a:pPr marL="0" indent="0">
              <a:buNone/>
            </a:pPr>
            <a:r>
              <a:rPr lang="en-US" sz="2400" b="1" dirty="0"/>
              <a:t>Calculate RMS Jitter: </a:t>
            </a:r>
            <a:r>
              <a:rPr lang="en-US" sz="2400" b="1" dirty="0">
                <a:ea typeface="+mn-lt"/>
                <a:cs typeface="+mn-lt"/>
              </a:rPr>
              <a:t> </a:t>
            </a:r>
            <a:endParaRPr lang="en-US" b="1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RMS Jitter = the square root of the area under the phase noise spectrum.</a:t>
            </a:r>
          </a:p>
          <a:p>
            <a:pPr marL="3657600" lvl="8" indent="0">
              <a:buNone/>
            </a:pP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               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A1C41-2E21-6034-E410-06F920C98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977" y="5101603"/>
            <a:ext cx="2722034" cy="7736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9EB0A05-7072-4A69-AA1C-5A5DCFC2B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047" y="5146645"/>
            <a:ext cx="2225075" cy="7485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1FE47-95BA-3AFB-4457-D952723E5256}"/>
              </a:ext>
            </a:extLst>
          </p:cNvPr>
          <p:cNvSpPr txBox="1"/>
          <p:nvPr/>
        </p:nvSpPr>
        <p:spPr>
          <a:xfrm>
            <a:off x="5702060" y="5888967"/>
            <a:ext cx="607874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 Parseval’s theorem that the average power is equal to the area under the spectrum:</a:t>
            </a:r>
          </a:p>
        </p:txBody>
      </p:sp>
    </p:spTree>
    <p:extLst>
      <p:ext uri="{BB962C8B-B14F-4D97-AF65-F5344CB8AC3E}">
        <p14:creationId xmlns:p14="http://schemas.microsoft.com/office/powerpoint/2010/main" val="41152727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21DE-0B7C-61B7-600A-E846A0C22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Jitter : In detail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F04A-E9B0-DC26-1ECE-C4359E75F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030"/>
            <a:ext cx="10877227" cy="53338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Deterministic Jitter : </a:t>
            </a:r>
            <a:endParaRPr lang="en-US" sz="2400" dirty="0"/>
          </a:p>
          <a:p>
            <a:pPr lvl="1"/>
            <a:r>
              <a:rPr lang="en-US" dirty="0">
                <a:solidFill>
                  <a:srgbClr val="010409"/>
                </a:solidFill>
              </a:rPr>
              <a:t>Caused by predictable, periodic effects. (Due to Periodic Modulation)</a:t>
            </a:r>
            <a:endParaRPr lang="en-US" dirty="0"/>
          </a:p>
          <a:p>
            <a:pPr lvl="1"/>
            <a:r>
              <a:rPr lang="en-US" dirty="0">
                <a:solidFill>
                  <a:srgbClr val="010409"/>
                </a:solidFill>
              </a:rPr>
              <a:t>Seen as sidebands in the frequency spectrum.</a:t>
            </a:r>
            <a:endParaRPr lang="en-US"/>
          </a:p>
          <a:p>
            <a:pPr lvl="1"/>
            <a:r>
              <a:rPr lang="en-US" dirty="0">
                <a:solidFill>
                  <a:srgbClr val="010409"/>
                </a:solidFill>
              </a:rPr>
              <a:t>Bounded ( has peak-to-peak value )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b="1" dirty="0"/>
              <a:t>Absolute Jitter :</a:t>
            </a:r>
            <a:endParaRPr lang="en-US" sz="2400" dirty="0"/>
          </a:p>
          <a:p>
            <a:pPr lvl="1"/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Caused by </a:t>
            </a:r>
            <a:r>
              <a:rPr lang="en-US" b="1" dirty="0">
                <a:solidFill>
                  <a:srgbClr val="010409"/>
                </a:solidFill>
                <a:ea typeface="+mn-lt"/>
                <a:cs typeface="+mn-lt"/>
              </a:rPr>
              <a:t>low-frequency noise</a:t>
            </a:r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 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lvl="1"/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No external reference, so error </a:t>
            </a:r>
            <a:r>
              <a:rPr lang="en-US" b="1" dirty="0">
                <a:solidFill>
                  <a:srgbClr val="010409"/>
                </a:solidFill>
                <a:ea typeface="+mn-lt"/>
                <a:cs typeface="+mn-lt"/>
              </a:rPr>
              <a:t>accumulates over time</a:t>
            </a:r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 Grows </a:t>
            </a:r>
            <a:r>
              <a:rPr lang="en-US" b="1" dirty="0">
                <a:solidFill>
                  <a:srgbClr val="010409"/>
                </a:solidFill>
                <a:ea typeface="+mn-lt"/>
                <a:cs typeface="+mn-lt"/>
              </a:rPr>
              <a:t>without limit</a:t>
            </a:r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 — </a:t>
            </a:r>
            <a:r>
              <a:rPr lang="en-US" b="1" dirty="0">
                <a:solidFill>
                  <a:srgbClr val="010409"/>
                </a:solidFill>
                <a:ea typeface="+mn-lt"/>
                <a:cs typeface="+mn-lt"/>
              </a:rPr>
              <a:t>unbounded</a:t>
            </a:r>
            <a:r>
              <a:rPr lang="en-US" dirty="0">
                <a:solidFill>
                  <a:srgbClr val="010409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 marL="514350" indent="-514350">
              <a:buAutoNum type="arabicPeriod"/>
            </a:pPr>
            <a:r>
              <a:rPr lang="en-US" sz="2400" b="1" dirty="0"/>
              <a:t>Cycle-to-Cycle Jitter : </a:t>
            </a:r>
            <a:endParaRPr lang="en-US" sz="2400" dirty="0"/>
          </a:p>
          <a:p>
            <a:pPr lvl="1"/>
            <a:r>
              <a:rPr lang="en-US" dirty="0"/>
              <a:t>Measures the period changes from one cycle to the next : </a:t>
            </a:r>
            <a:r>
              <a:rPr lang="en-US" b="1" dirty="0" err="1"/>
              <a:t>Jcc</a:t>
            </a:r>
            <a:r>
              <a:rPr lang="en-US" b="1" dirty="0"/>
              <a:t>=Tk−Tk−1. </a:t>
            </a:r>
            <a:endParaRPr lang="en-US" dirty="0"/>
          </a:p>
          <a:p>
            <a:pPr lvl="1"/>
            <a:r>
              <a:rPr lang="en-US" dirty="0"/>
              <a:t>Bound and Measurable</a:t>
            </a:r>
            <a:endParaRPr lang="en-US"/>
          </a:p>
          <a:p>
            <a:pPr lvl="1"/>
            <a:r>
              <a:rPr lang="en-US" dirty="0"/>
              <a:t>For many Cycles , rms value of </a:t>
            </a:r>
            <a:r>
              <a:rPr lang="en-US" dirty="0" err="1"/>
              <a:t>Jcc</a:t>
            </a:r>
            <a:r>
              <a:rPr lang="en-US" dirty="0"/>
              <a:t> :  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b="1" dirty="0"/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F917B594-9137-7800-7B0A-B393BA5D9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0807" y="754095"/>
            <a:ext cx="1171575" cy="10858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black line with a dotted line&#10;&#10;AI-generated content may be incorrect.">
            <a:extLst>
              <a:ext uri="{FF2B5EF4-FFF2-40B4-BE49-F238E27FC236}">
                <a16:creationId xmlns:a16="http://schemas.microsoft.com/office/drawing/2014/main" id="{5BA97ED5-8C62-905A-0183-C1A49299C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4674" y="2892695"/>
            <a:ext cx="1732112" cy="10831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797853-50FC-45B2-6F23-39B747DED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0026" y="5718415"/>
            <a:ext cx="3278398" cy="8313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99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BEF77-B0CB-76A2-F91F-413F732D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4550"/>
            <a:ext cx="10915972" cy="62627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Only high-frequency noise affects this, so it remains small and bounded.</a:t>
            </a:r>
            <a:endParaRPr lang="en-US" sz="2400" dirty="0"/>
          </a:p>
          <a:p>
            <a:pPr marL="0" indent="0">
              <a:buNone/>
            </a:pPr>
            <a:r>
              <a:rPr lang="en-US" sz="2400" b="1" u="sng" dirty="0"/>
              <a:t>Example :  </a:t>
            </a:r>
            <a:r>
              <a:rPr lang="en-US" sz="2400" u="sng" dirty="0"/>
              <a:t>White noise Induced Phase noise </a:t>
            </a:r>
            <a:r>
              <a:rPr lang="en-US" sz="2400" u="sng" err="1">
                <a:ea typeface="+mn-lt"/>
                <a:cs typeface="+mn-lt"/>
              </a:rPr>
              <a:t>S</a:t>
            </a:r>
            <a:r>
              <a:rPr lang="en-US" sz="2000" u="sng" err="1">
                <a:ea typeface="+mn-lt"/>
                <a:cs typeface="+mn-lt"/>
              </a:rPr>
              <a:t>φn</a:t>
            </a:r>
            <a:r>
              <a:rPr lang="en-US" sz="2400" u="sng" dirty="0">
                <a:ea typeface="+mn-lt"/>
                <a:cs typeface="+mn-lt"/>
              </a:rPr>
              <a:t>(f) :</a:t>
            </a:r>
            <a:r>
              <a:rPr lang="en-US" sz="2400" dirty="0">
                <a:ea typeface="+mn-lt"/>
                <a:cs typeface="+mn-lt"/>
              </a:rPr>
              <a:t>  </a:t>
            </a:r>
          </a:p>
          <a:p>
            <a:pPr marL="342900" indent="-342900"/>
            <a:r>
              <a:rPr lang="en-US" sz="2400" dirty="0">
                <a:ea typeface="+mn-lt"/>
                <a:cs typeface="+mn-lt"/>
              </a:rPr>
              <a:t>Assume </a:t>
            </a:r>
            <a:r>
              <a:rPr lang="en-US" sz="2400" dirty="0" err="1">
                <a:ea typeface="+mn-lt"/>
                <a:cs typeface="+mn-lt"/>
              </a:rPr>
              <a:t>Sφn</a:t>
            </a:r>
            <a:r>
              <a:rPr lang="en-US" sz="2400" dirty="0">
                <a:ea typeface="+mn-lt"/>
                <a:cs typeface="+mn-lt"/>
              </a:rPr>
              <a:t>(f) = alpha/f^2 ;  Power declines as |f| increases.</a:t>
            </a:r>
            <a:endParaRPr lang="en-US" sz="2400" b="1" dirty="0"/>
          </a:p>
          <a:p>
            <a:pPr marL="342900" indent="-342900"/>
            <a:r>
              <a:rPr lang="en-US" sz="2400" dirty="0"/>
              <a:t>If this phase noise affect a 1GHz o/p of Oscillator, only the higher frequency components will affect the output.</a:t>
            </a:r>
          </a:p>
          <a:p>
            <a:pPr marL="342900" indent="-342900"/>
            <a:r>
              <a:rPr lang="en-US" sz="2400" dirty="0"/>
              <a:t>So, the white noise induced phase noise is (w0 is </a:t>
            </a:r>
            <a:r>
              <a:rPr lang="en-US" sz="2400" dirty="0" err="1"/>
              <a:t>osc</a:t>
            </a:r>
            <a:r>
              <a:rPr lang="en-US" sz="2400" dirty="0"/>
              <a:t> </a:t>
            </a:r>
            <a:r>
              <a:rPr lang="en-US" sz="2400" dirty="0" err="1"/>
              <a:t>freq</a:t>
            </a:r>
            <a:r>
              <a:rPr lang="en-US" sz="2400" dirty="0"/>
              <a:t>) :   </a:t>
            </a:r>
          </a:p>
          <a:p>
            <a:pPr marL="342900" indent="-342900"/>
            <a:r>
              <a:rPr lang="en-US" sz="2400" dirty="0"/>
              <a:t>We simplify the equation to                               and finally to this : 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4. Period Jitter (also called Cycle jitter): </a:t>
            </a:r>
            <a:endParaRPr lang="en-US" dirty="0"/>
          </a:p>
          <a:p>
            <a:pPr marL="1085850" lvl="1" indent="-342900"/>
            <a:r>
              <a:rPr lang="en-US" dirty="0"/>
              <a:t>Random departures of the period from its the average value, </a:t>
            </a:r>
            <a:r>
              <a:rPr lang="en-US" dirty="0" err="1"/>
              <a:t>T</a:t>
            </a:r>
            <a:r>
              <a:rPr lang="en-US" sz="2000" dirty="0" err="1"/>
              <a:t>avg</a:t>
            </a:r>
            <a:r>
              <a:rPr lang="en-US" dirty="0"/>
              <a:t>.</a:t>
            </a:r>
          </a:p>
          <a:p>
            <a:pPr marL="1085850" lvl="1" indent="-342900"/>
            <a:r>
              <a:rPr lang="en-US" b="1" dirty="0">
                <a:ea typeface="+mn-lt"/>
                <a:cs typeface="+mn-lt"/>
              </a:rPr>
              <a:t>Jc = </a:t>
            </a:r>
            <a:r>
              <a:rPr lang="en-US" b="1" dirty="0" err="1">
                <a:ea typeface="+mn-lt"/>
                <a:cs typeface="+mn-lt"/>
              </a:rPr>
              <a:t>Jcc</a:t>
            </a:r>
            <a:r>
              <a:rPr lang="en-US" b="1" dirty="0">
                <a:ea typeface="+mn-lt"/>
                <a:cs typeface="+mn-lt"/>
              </a:rPr>
              <a:t>/ √ 2</a:t>
            </a:r>
            <a:r>
              <a:rPr lang="en-US" dirty="0">
                <a:ea typeface="+mn-lt"/>
                <a:cs typeface="+mn-lt"/>
              </a:rPr>
              <a:t> for white-noise-induced jitter. Here,</a:t>
            </a:r>
          </a:p>
          <a:p>
            <a:pPr marL="1085850" lvl="1" indent="-342900"/>
            <a:r>
              <a:rPr lang="en-US" dirty="0">
                <a:ea typeface="+mn-lt"/>
                <a:cs typeface="+mn-lt"/>
              </a:rPr>
              <a:t>Bounded</a:t>
            </a:r>
          </a:p>
          <a:p>
            <a:pPr marL="742950" lvl="1" indent="0">
              <a:buNone/>
            </a:pPr>
            <a:r>
              <a:rPr lang="en-US" dirty="0">
                <a:ea typeface="+mn-lt"/>
                <a:cs typeface="+mn-lt"/>
              </a:rPr>
              <a:t>   </a:t>
            </a:r>
          </a:p>
          <a:p>
            <a:pPr marL="742950" lvl="1" indent="0">
              <a:buNone/>
            </a:pPr>
            <a:endParaRPr lang="en-US" dirty="0"/>
          </a:p>
        </p:txBody>
      </p:sp>
      <p:pic>
        <p:nvPicPr>
          <p:cNvPr id="4" name="Picture 3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D08F4537-28E8-FCFB-D5A8-207CCE52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584" y="5197725"/>
            <a:ext cx="3070924" cy="9667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function&#10;&#10;AI-generated content may be incorrect.">
            <a:extLst>
              <a:ext uri="{FF2B5EF4-FFF2-40B4-BE49-F238E27FC236}">
                <a16:creationId xmlns:a16="http://schemas.microsoft.com/office/drawing/2014/main" id="{911E4C7D-608E-35F2-A989-575D179D6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322" y="773401"/>
            <a:ext cx="1071673" cy="9410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Picture 5" descr="A mathematical equation with numbers and a line&#10;&#10;AI-generated content may be incorrect.">
            <a:extLst>
              <a:ext uri="{FF2B5EF4-FFF2-40B4-BE49-F238E27FC236}">
                <a16:creationId xmlns:a16="http://schemas.microsoft.com/office/drawing/2014/main" id="{A1059886-C2BF-3FAD-15DF-38281844C0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4707" y="2251766"/>
            <a:ext cx="2455832" cy="6579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9BF2C70B-C9D7-1807-6D42-9576B63CFE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5541" y="3023829"/>
            <a:ext cx="1639558" cy="79596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84A6603-50D8-6F74-5617-D70A5316D0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0907" y="3215497"/>
            <a:ext cx="1797169" cy="8151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787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BF5A-56A2-B486-01BD-5BDF0B11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489770" cy="1325563"/>
          </a:xfrm>
        </p:spPr>
        <p:txBody>
          <a:bodyPr/>
          <a:lstStyle/>
          <a:p>
            <a:br>
              <a:rPr lang="en-US" b="1" dirty="0">
                <a:ea typeface="+mj-lt"/>
                <a:cs typeface="+mj-lt"/>
              </a:rPr>
            </a:br>
            <a:r>
              <a:rPr lang="en-US" b="1" dirty="0">
                <a:ea typeface="+mj-lt"/>
                <a:cs typeface="+mj-lt"/>
              </a:rPr>
              <a:t>Trade-Offs b/w Phase noise and Power</a:t>
            </a:r>
            <a:endParaRPr lang="en-US" dirty="0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D302-9ACF-596A-773C-0EA944E11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5" y="1464000"/>
            <a:ext cx="10489985" cy="51955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Power and phase noise are Inversely related.</a:t>
            </a:r>
            <a:endParaRPr lang="en-US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EXAMPLE:</a:t>
            </a:r>
            <a:r>
              <a:rPr lang="en-US" sz="2400" dirty="0"/>
              <a:t> Add N-identical oscillators to an Adder. </a:t>
            </a:r>
            <a:endParaRPr lang="en-US" dirty="0"/>
          </a:p>
          <a:p>
            <a:r>
              <a:rPr lang="en-US" sz="2400" dirty="0"/>
              <a:t>Output of 1-osc: </a:t>
            </a:r>
            <a:r>
              <a:rPr lang="en-US" sz="2400" b="1" i="1" dirty="0" err="1">
                <a:ea typeface="+mn-lt"/>
                <a:cs typeface="+mn-lt"/>
              </a:rPr>
              <a:t>Vout</a:t>
            </a:r>
            <a:r>
              <a:rPr lang="en-US" sz="2400" b="1" i="1" dirty="0">
                <a:ea typeface="+mn-lt"/>
                <a:cs typeface="+mn-lt"/>
              </a:rPr>
              <a:t>(t) = V0 cos ω1t − V0φn1 sinω1t</a:t>
            </a:r>
            <a:r>
              <a:rPr lang="en-US" sz="2400" dirty="0">
                <a:ea typeface="+mn-lt"/>
                <a:cs typeface="+mn-lt"/>
              </a:rPr>
              <a:t> </a:t>
            </a:r>
            <a:endParaRPr lang="en-US" sz="2400" dirty="0"/>
          </a:p>
          <a:p>
            <a:r>
              <a:rPr lang="en-US" sz="2400" dirty="0"/>
              <a:t>Output of N-</a:t>
            </a:r>
            <a:r>
              <a:rPr lang="en-US" sz="2400" dirty="0" err="1"/>
              <a:t>osc</a:t>
            </a:r>
            <a:r>
              <a:rPr lang="en-US" sz="2400" dirty="0"/>
              <a:t> : </a:t>
            </a:r>
            <a:r>
              <a:rPr lang="en-US" sz="2400" b="1" dirty="0" err="1">
                <a:ea typeface="+mn-lt"/>
                <a:cs typeface="+mn-lt"/>
              </a:rPr>
              <a:t>Vout</a:t>
            </a:r>
            <a:r>
              <a:rPr lang="en-US" sz="2400" b="1" dirty="0">
                <a:ea typeface="+mn-lt"/>
                <a:cs typeface="+mn-lt"/>
              </a:rPr>
              <a:t> (t) = N*(V0 cos ω1t) − V0(φn1 + · · · + </a:t>
            </a:r>
            <a:r>
              <a:rPr lang="en-US" sz="2400" b="1" dirty="0" err="1">
                <a:ea typeface="+mn-lt"/>
                <a:cs typeface="+mn-lt"/>
              </a:rPr>
              <a:t>φnN</a:t>
            </a:r>
            <a:r>
              <a:rPr lang="en-US" sz="2400" b="1" dirty="0">
                <a:ea typeface="+mn-lt"/>
                <a:cs typeface="+mn-lt"/>
              </a:rPr>
              <a:t> )sin ω1t.</a:t>
            </a:r>
          </a:p>
          <a:p>
            <a:r>
              <a:rPr lang="en-US" sz="2400" dirty="0">
                <a:ea typeface="+mn-lt"/>
                <a:cs typeface="+mn-lt"/>
              </a:rPr>
              <a:t>The normalized phase noise is equal to </a:t>
            </a:r>
            <a:r>
              <a:rPr lang="en-US" sz="2400" b="1" dirty="0">
                <a:ea typeface="+mn-lt"/>
                <a:cs typeface="+mn-lt"/>
              </a:rPr>
              <a:t>(φn1 + · · · + </a:t>
            </a:r>
            <a:r>
              <a:rPr lang="en-US" sz="2400" b="1" err="1">
                <a:ea typeface="+mn-lt"/>
                <a:cs typeface="+mn-lt"/>
              </a:rPr>
              <a:t>φnN</a:t>
            </a:r>
            <a:r>
              <a:rPr lang="en-US" sz="2400" b="1" dirty="0">
                <a:ea typeface="+mn-lt"/>
                <a:cs typeface="+mn-lt"/>
              </a:rPr>
              <a:t> )/N</a:t>
            </a:r>
            <a:r>
              <a:rPr lang="en-US" sz="2400" dirty="0">
                <a:ea typeface="+mn-lt"/>
                <a:cs typeface="+mn-lt"/>
              </a:rPr>
              <a:t> and exhibits a spectrum given by : </a:t>
            </a:r>
            <a:r>
              <a:rPr lang="en-US" sz="2400" b="1" err="1">
                <a:ea typeface="+mn-lt"/>
                <a:cs typeface="+mn-lt"/>
              </a:rPr>
              <a:t>Sφ</a:t>
            </a:r>
            <a:r>
              <a:rPr lang="en-US" sz="2400" b="1" dirty="0">
                <a:ea typeface="+mn-lt"/>
                <a:cs typeface="+mn-lt"/>
              </a:rPr>
              <a:t>(f) = Sφn1 + · · · + </a:t>
            </a:r>
            <a:r>
              <a:rPr lang="en-US" sz="2400" b="1" err="1">
                <a:ea typeface="+mn-lt"/>
                <a:cs typeface="+mn-lt"/>
              </a:rPr>
              <a:t>SφN</a:t>
            </a:r>
            <a:r>
              <a:rPr lang="en-US" sz="2400" b="1" dirty="0">
                <a:ea typeface="+mn-lt"/>
                <a:cs typeface="+mn-lt"/>
              </a:rPr>
              <a:t> / N^2 </a:t>
            </a:r>
          </a:p>
          <a:p>
            <a:endParaRPr lang="en-US" sz="2400" b="1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N-</a:t>
            </a:r>
            <a:r>
              <a:rPr lang="en-US" sz="2400" err="1">
                <a:ea typeface="+mn-lt"/>
                <a:cs typeface="+mn-lt"/>
              </a:rPr>
              <a:t>osc</a:t>
            </a:r>
            <a:r>
              <a:rPr lang="en-US" sz="2400" dirty="0">
                <a:ea typeface="+mn-lt"/>
                <a:cs typeface="+mn-lt"/>
              </a:rPr>
              <a:t> phase noise spectra are equal and uncorrelated; </a:t>
            </a:r>
            <a:r>
              <a:rPr lang="en-US" sz="2400" dirty="0">
                <a:solidFill>
                  <a:srgbClr val="000000"/>
                </a:solidFill>
                <a:ea typeface="+mn-lt"/>
                <a:cs typeface="+mn-lt"/>
              </a:rPr>
              <a:t> </a:t>
            </a:r>
            <a:r>
              <a:rPr lang="en-US" sz="2400" b="1" err="1">
                <a:solidFill>
                  <a:srgbClr val="FF0000"/>
                </a:solidFill>
                <a:ea typeface="+mn-lt"/>
                <a:cs typeface="+mn-lt"/>
              </a:rPr>
              <a:t>Sφ</a:t>
            </a:r>
            <a:r>
              <a:rPr lang="en-US" sz="2400" b="1" dirty="0">
                <a:solidFill>
                  <a:srgbClr val="FF0000"/>
                </a:solidFill>
                <a:ea typeface="+mn-lt"/>
                <a:cs typeface="+mn-lt"/>
              </a:rPr>
              <a:t>(f)=Sφn1/ N</a:t>
            </a:r>
            <a:r>
              <a:rPr lang="en-US" sz="2400" b="1" dirty="0">
                <a:ea typeface="+mn-lt"/>
                <a:cs typeface="+mn-lt"/>
              </a:rPr>
              <a:t> </a:t>
            </a:r>
          </a:p>
          <a:p>
            <a:pPr lvl="1">
              <a:buFont typeface="Wingdings" panose="020B0604020202020204" pitchFamily="34" charset="0"/>
              <a:buChar char="ü"/>
            </a:pPr>
            <a:r>
              <a:rPr lang="en-US" u="sng" dirty="0"/>
              <a:t>Phase noise is reduced by N times But power increases by N^2 times</a:t>
            </a:r>
          </a:p>
          <a:p>
            <a:pPr marL="342900" indent="-342900">
              <a:buFont typeface="Arial"/>
            </a:pPr>
            <a:r>
              <a:rPr lang="en-US" sz="2400" dirty="0"/>
              <a:t>This method doesn't apply for deterministic jitter.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 descr="A diagram of electrical components&#10;&#10;AI-generated content may be incorrect.">
            <a:extLst>
              <a:ext uri="{FF2B5EF4-FFF2-40B4-BE49-F238E27FC236}">
                <a16:creationId xmlns:a16="http://schemas.microsoft.com/office/drawing/2014/main" id="{8A97C4EA-02CC-8105-94E7-4AA4F106A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49" y="1686947"/>
            <a:ext cx="2968746" cy="12091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5449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4260-BB51-781B-D418-AED0A0A7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Basic Phase Noise 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88AC-4B91-9EAD-08E2-8FB906D5A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253"/>
            <a:ext cx="10748074" cy="5139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Phase noise vs frequency noise</a:t>
            </a:r>
            <a:endParaRPr lang="en-US"/>
          </a:p>
          <a:p>
            <a:pPr marL="457200" lvl="1" indent="0">
              <a:buNone/>
            </a:pPr>
            <a:r>
              <a:rPr lang="en-US" b="1" u="sng" dirty="0"/>
              <a:t>a) Delay Line (chain of inverters) :</a:t>
            </a:r>
          </a:p>
          <a:p>
            <a:pPr marL="1028700" lvl="2" indent="-342900"/>
            <a:r>
              <a:rPr lang="en-US" sz="2400" dirty="0"/>
              <a:t>Delay of the chain of inverters depends on the supply voltage </a:t>
            </a:r>
            <a:r>
              <a:rPr lang="en-US" sz="2400" dirty="0" err="1"/>
              <a:t>Vdd</a:t>
            </a:r>
            <a:r>
              <a:rPr lang="en-US" sz="2400" dirty="0"/>
              <a:t>.</a:t>
            </a:r>
          </a:p>
          <a:p>
            <a:pPr marL="1028700" lvl="2" indent="-342900"/>
            <a:r>
              <a:rPr lang="en-US" sz="2400" dirty="0">
                <a:ea typeface="+mn-lt"/>
                <a:cs typeface="+mn-lt"/>
              </a:rPr>
              <a:t>ΔV change in VDD creates </a:t>
            </a:r>
            <a:r>
              <a:rPr lang="en-US" sz="2400" dirty="0" err="1">
                <a:ea typeface="+mn-lt"/>
                <a:cs typeface="+mn-lt"/>
              </a:rPr>
              <a:t>Δt</a:t>
            </a:r>
            <a:r>
              <a:rPr lang="en-US" sz="1800" dirty="0" err="1">
                <a:ea typeface="+mn-lt"/>
                <a:cs typeface="+mn-lt"/>
              </a:rPr>
              <a:t>D</a:t>
            </a:r>
            <a:r>
              <a:rPr lang="en-US" sz="2400" dirty="0">
                <a:ea typeface="+mn-lt"/>
                <a:cs typeface="+mn-lt"/>
              </a:rPr>
              <a:t> in the line’s delay and </a:t>
            </a:r>
            <a:r>
              <a:rPr lang="en-US" sz="2400" dirty="0" err="1">
                <a:ea typeface="+mn-lt"/>
                <a:cs typeface="+mn-lt"/>
              </a:rPr>
              <a:t>Δφ</a:t>
            </a:r>
            <a:r>
              <a:rPr lang="en-US" sz="2400" dirty="0">
                <a:ea typeface="+mn-lt"/>
                <a:cs typeface="+mn-lt"/>
              </a:rPr>
              <a:t> phase shift.</a:t>
            </a:r>
            <a:endParaRPr lang="en-US" sz="2400" dirty="0"/>
          </a:p>
          <a:p>
            <a:pPr marL="1028700" lvl="2" indent="-342900"/>
            <a:r>
              <a:rPr lang="en-US" sz="2400" dirty="0"/>
              <a:t>Supply noise is </a:t>
            </a:r>
            <a:r>
              <a:rPr lang="en-US" sz="2400" dirty="0" err="1"/>
              <a:t>Vn</a:t>
            </a:r>
            <a:r>
              <a:rPr lang="en-US" sz="2400" dirty="0"/>
              <a:t>, the output of the delay line is expressed as : </a:t>
            </a:r>
          </a:p>
          <a:p>
            <a:pPr lvl="3" indent="-342900">
              <a:buFont typeface="Calibri" panose="020B0604020202020204" pitchFamily="34" charset="0"/>
              <a:buChar char="-"/>
            </a:pPr>
            <a:r>
              <a:rPr lang="en-US" sz="2200" b="1" dirty="0" err="1">
                <a:ea typeface="+mn-lt"/>
                <a:cs typeface="+mn-lt"/>
              </a:rPr>
              <a:t>Vout</a:t>
            </a:r>
            <a:r>
              <a:rPr lang="en-US" sz="2200" b="1" dirty="0">
                <a:ea typeface="+mn-lt"/>
                <a:cs typeface="+mn-lt"/>
              </a:rPr>
              <a:t> = {VDD/2} + {VDD/2} * cos(</a:t>
            </a:r>
            <a:r>
              <a:rPr lang="en-US" sz="2200" b="1" dirty="0" err="1">
                <a:ea typeface="+mn-lt"/>
                <a:cs typeface="+mn-lt"/>
              </a:rPr>
              <a:t>ω</a:t>
            </a:r>
            <a:r>
              <a:rPr lang="en-US" b="1" dirty="0" err="1">
                <a:ea typeface="+mn-lt"/>
                <a:cs typeface="+mn-lt"/>
              </a:rPr>
              <a:t>in</a:t>
            </a:r>
            <a:r>
              <a:rPr lang="en-US" sz="2200" b="1" dirty="0" err="1">
                <a:ea typeface="+mn-lt"/>
                <a:cs typeface="+mn-lt"/>
              </a:rPr>
              <a:t>t</a:t>
            </a:r>
            <a:r>
              <a:rPr lang="en-US" sz="2200" b="1" dirty="0">
                <a:ea typeface="+mn-lt"/>
                <a:cs typeface="+mn-lt"/>
              </a:rPr>
              <a:t> + φ0 + KDD*</a:t>
            </a:r>
            <a:r>
              <a:rPr lang="en-US" sz="2200" b="1" dirty="0" err="1">
                <a:ea typeface="+mn-lt"/>
                <a:cs typeface="+mn-lt"/>
              </a:rPr>
              <a:t>Vn</a:t>
            </a:r>
            <a:r>
              <a:rPr lang="en-US" sz="2200" b="1" dirty="0">
                <a:ea typeface="+mn-lt"/>
                <a:cs typeface="+mn-lt"/>
              </a:rPr>
              <a:t>)</a:t>
            </a:r>
            <a:endParaRPr lang="en-US" sz="2200" b="1"/>
          </a:p>
          <a:p>
            <a:pPr lvl="3" indent="-342900">
              <a:buFont typeface="Calibri" panose="020B0604020202020204" pitchFamily="34" charset="0"/>
              <a:buChar char="-"/>
            </a:pPr>
            <a:r>
              <a:rPr lang="en-US" sz="2200" dirty="0"/>
              <a:t>Phase shift due to Supply noise is : (KDD* </a:t>
            </a:r>
            <a:r>
              <a:rPr lang="en-US" sz="2200" dirty="0" err="1"/>
              <a:t>Vn</a:t>
            </a:r>
            <a:r>
              <a:rPr lang="en-US" sz="2200" dirty="0"/>
              <a:t>) </a:t>
            </a:r>
          </a:p>
          <a:p>
            <a:pPr marL="457200" lvl="1" indent="0" algn="ctr">
              <a:buNone/>
            </a:pPr>
            <a:endParaRPr lang="en-US" dirty="0"/>
          </a:p>
          <a:p>
            <a:pPr marL="457200" lvl="1" indent="0" algn="ctr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 </a:t>
            </a:r>
          </a:p>
        </p:txBody>
      </p:sp>
      <p:pic>
        <p:nvPicPr>
          <p:cNvPr id="4" name="Picture 3" descr="Diagram of a diagram of a circuit&#10;&#10;AI-generated content may be incorrect.">
            <a:extLst>
              <a:ext uri="{FF2B5EF4-FFF2-40B4-BE49-F238E27FC236}">
                <a16:creationId xmlns:a16="http://schemas.microsoft.com/office/drawing/2014/main" id="{B0A82760-63C0-5F07-B130-D586029FB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611" y="4377278"/>
            <a:ext cx="4580614" cy="19116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37C6B9-4AF1-B4A2-9F54-3B6A83936850}"/>
              </a:ext>
            </a:extLst>
          </p:cNvPr>
          <p:cNvSpPr txBox="1"/>
          <p:nvPr/>
        </p:nvSpPr>
        <p:spPr>
          <a:xfrm>
            <a:off x="5918200" y="4586652"/>
            <a:ext cx="5956300" cy="16989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spAutoFit/>
          </a:bodyPr>
          <a:lstStyle/>
          <a:p>
            <a:pPr marL="800100" lvl="1" indent="-342900">
              <a:lnSpc>
                <a:spcPct val="9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dirty="0"/>
              <a:t>Since, phase shift </a:t>
            </a:r>
            <a:r>
              <a:rPr lang="en-US" sz="2400" err="1"/>
              <a:t>Kdd</a:t>
            </a:r>
            <a:r>
              <a:rPr lang="en-US" sz="2400" dirty="0"/>
              <a:t>*</a:t>
            </a:r>
            <a:r>
              <a:rPr lang="en-US" sz="2400" err="1"/>
              <a:t>Vn</a:t>
            </a:r>
            <a:r>
              <a:rPr lang="en-US" sz="2400" dirty="0"/>
              <a:t> is linear, white supply noise directly changes the output phase resulting in the white phase noise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316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381D0-E08A-2B23-3E32-BD0426FBD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1185"/>
            <a:ext cx="10851396" cy="601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u="sng" dirty="0"/>
              <a:t>b) Ring Oscillators: </a:t>
            </a:r>
          </a:p>
          <a:p>
            <a:pPr lvl="1"/>
            <a:r>
              <a:rPr lang="en-US" dirty="0"/>
              <a:t>VDD in ring Oscillators affect both frequency and phase.</a:t>
            </a:r>
          </a:p>
          <a:p>
            <a:pPr lvl="1"/>
            <a:r>
              <a:rPr lang="en-US" dirty="0"/>
              <a:t>Higher VDD = Higher Oscillation frequency.</a:t>
            </a:r>
          </a:p>
          <a:p>
            <a:pPr lvl="1"/>
            <a:r>
              <a:rPr lang="en-US" b="1" dirty="0"/>
              <a:t>white supply noise translates to white frequency noise </a:t>
            </a:r>
          </a:p>
          <a:p>
            <a:pPr lvl="1"/>
            <a:r>
              <a:rPr lang="en-US" dirty="0">
                <a:ea typeface="+mn-lt"/>
                <a:cs typeface="+mn-lt"/>
              </a:rPr>
              <a:t>Gain from </a:t>
            </a:r>
            <a:r>
              <a:rPr lang="en-US" dirty="0" err="1">
                <a:ea typeface="+mn-lt"/>
                <a:cs typeface="+mn-lt"/>
              </a:rPr>
              <a:t>Vdd</a:t>
            </a:r>
            <a:r>
              <a:rPr lang="en-US" dirty="0">
                <a:ea typeface="+mn-lt"/>
                <a:cs typeface="+mn-lt"/>
              </a:rPr>
              <a:t> is  KDD = ∂</a:t>
            </a:r>
            <a:r>
              <a:rPr lang="en-US" dirty="0" err="1">
                <a:ea typeface="+mn-lt"/>
                <a:cs typeface="+mn-lt"/>
              </a:rPr>
              <a:t>ωout</a:t>
            </a:r>
            <a:r>
              <a:rPr lang="en-US" dirty="0">
                <a:ea typeface="+mn-lt"/>
                <a:cs typeface="+mn-lt"/>
              </a:rPr>
              <a:t>/∂VDD ; </a:t>
            </a:r>
          </a:p>
          <a:p>
            <a:pPr lvl="1"/>
            <a:r>
              <a:rPr lang="en-US" dirty="0"/>
              <a:t>The oscillator output is : </a:t>
            </a:r>
          </a:p>
          <a:p>
            <a:pPr marL="457200" lvl="1" indent="0" algn="ctr">
              <a:buNone/>
            </a:pPr>
            <a:endParaRPr lang="en-US" b="1" i="1" dirty="0"/>
          </a:p>
          <a:p>
            <a:pPr marL="0" indent="-514350" algn="ctr">
              <a:buNone/>
            </a:pPr>
            <a:r>
              <a:rPr lang="en-US" sz="2400" b="1" i="1" dirty="0"/>
              <a:t>If length of delay line made infinite ; will its</a:t>
            </a:r>
            <a:r>
              <a:rPr lang="en-US" sz="2400" b="1" i="1" dirty="0">
                <a:ea typeface="+mn-lt"/>
                <a:cs typeface="+mn-lt"/>
              </a:rPr>
              <a:t> phase noise match that of a ring oscillator. ???</a:t>
            </a:r>
            <a:endParaRPr lang="en-US" sz="2400" b="1" i="1">
              <a:ea typeface="+mn-lt"/>
              <a:cs typeface="+mn-lt"/>
            </a:endParaRPr>
          </a:p>
          <a:p>
            <a:pPr marL="457200" lvl="1" indent="-514350"/>
            <a:r>
              <a:rPr lang="en-US" dirty="0">
                <a:ea typeface="+mn-lt"/>
                <a:cs typeface="+mn-lt"/>
              </a:rPr>
              <a:t>In a delay line, the phase noise is added linearly since supply noise directly affects phase noise.</a:t>
            </a:r>
          </a:p>
          <a:p>
            <a:pPr marL="457200" lvl="1" indent="-514350"/>
            <a:r>
              <a:rPr lang="en-US" dirty="0">
                <a:ea typeface="+mn-lt"/>
                <a:cs typeface="+mn-lt"/>
              </a:rPr>
              <a:t>In ring oscillators, noise changes the oscillation frequency, which then accumulates over time into phase noise. </a:t>
            </a:r>
          </a:p>
          <a:p>
            <a:pPr marL="457200" lvl="1" indent="-514350"/>
            <a:r>
              <a:rPr lang="en-US" dirty="0">
                <a:ea typeface="+mn-lt"/>
                <a:cs typeface="+mn-lt"/>
              </a:rPr>
              <a:t>The assumption misses the integration effect in oscillators.</a:t>
            </a:r>
          </a:p>
        </p:txBody>
      </p:sp>
      <p:pic>
        <p:nvPicPr>
          <p:cNvPr id="4" name="Picture 3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C9F036AF-3E5F-693B-DD0F-B3FDC08DF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398" y="2533489"/>
            <a:ext cx="420052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21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B8C64-B247-8D4F-6EDC-AFA01FCBE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804" y="380409"/>
            <a:ext cx="11011619" cy="63690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2.  Ring oscillators : Jitter &amp; Phase noise</a:t>
            </a:r>
            <a:endParaRPr lang="en-US" sz="2400" dirty="0"/>
          </a:p>
          <a:p>
            <a:pPr marL="800100" lvl="1" indent="-342900"/>
            <a:r>
              <a:rPr lang="en-US" dirty="0"/>
              <a:t>Input rises from 0 to VDD.</a:t>
            </a:r>
          </a:p>
          <a:p>
            <a:pPr marL="800100" lvl="1" indent="-342900"/>
            <a:r>
              <a:rPr lang="en-US" dirty="0"/>
              <a:t>M1 : turns on and discharges through C</a:t>
            </a:r>
            <a:r>
              <a:rPr lang="en-US" sz="1600" dirty="0"/>
              <a:t>L. {</a:t>
            </a:r>
            <a:r>
              <a:rPr lang="en-US" dirty="0" err="1"/>
              <a:t>Vdd</a:t>
            </a:r>
            <a:r>
              <a:rPr lang="en-US" dirty="0"/>
              <a:t> to 0}</a:t>
            </a:r>
          </a:p>
          <a:p>
            <a:pPr marL="800100" lvl="1" indent="-342900"/>
            <a:r>
              <a:rPr lang="en-US" dirty="0"/>
              <a:t>I</a:t>
            </a:r>
            <a:r>
              <a:rPr lang="en-US" sz="1600" dirty="0"/>
              <a:t>n</a:t>
            </a:r>
            <a:r>
              <a:rPr lang="en-US" dirty="0"/>
              <a:t> : Noise from M1: flows through C</a:t>
            </a:r>
            <a:r>
              <a:rPr lang="en-US" sz="1600" dirty="0"/>
              <a:t>L </a:t>
            </a:r>
            <a:r>
              <a:rPr lang="en-US" dirty="0"/>
              <a:t>Causing Jitter </a:t>
            </a:r>
            <a:r>
              <a:rPr lang="en-US" err="1">
                <a:ea typeface="+mn-lt"/>
                <a:cs typeface="+mn-lt"/>
              </a:rPr>
              <a:t>Δt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800100" lvl="1" indent="-342900"/>
            <a:r>
              <a:rPr lang="en-US" u="sng" dirty="0"/>
              <a:t>White current noise = white phase noise for Inverter. </a:t>
            </a:r>
          </a:p>
          <a:p>
            <a:r>
              <a:rPr lang="en-US" sz="2400" dirty="0"/>
              <a:t>For N-cascaded Inverters: </a:t>
            </a:r>
          </a:p>
          <a:p>
            <a:pPr lvl="1"/>
            <a:r>
              <a:rPr lang="en-US" dirty="0"/>
              <a:t>Phase noise rises by N factor</a:t>
            </a:r>
          </a:p>
          <a:p>
            <a:pPr lvl="1"/>
            <a:r>
              <a:rPr lang="en-US" dirty="0"/>
              <a:t>RMS jitter by root(N) factor</a:t>
            </a:r>
          </a:p>
          <a:p>
            <a:pPr>
              <a:buNone/>
            </a:pPr>
            <a:r>
              <a:rPr lang="en-US" sz="2400" b="1" dirty="0"/>
              <a:t>3.   LC Oscillators : Jitter &amp; Phase noise</a:t>
            </a:r>
          </a:p>
          <a:p>
            <a:pPr lvl="1"/>
            <a:r>
              <a:rPr lang="en-US" b="1" dirty="0">
                <a:ea typeface="+mn-lt"/>
                <a:cs typeface="+mn-lt"/>
              </a:rPr>
              <a:t>In1</a:t>
            </a:r>
            <a:r>
              <a:rPr lang="en-US" dirty="0">
                <a:ea typeface="+mn-lt"/>
                <a:cs typeface="+mn-lt"/>
              </a:rPr>
              <a:t> (thermal noise from M1)</a:t>
            </a:r>
          </a:p>
          <a:p>
            <a:pPr lvl="1"/>
            <a:r>
              <a:rPr lang="en-US" dirty="0">
                <a:ea typeface="+mn-lt"/>
                <a:cs typeface="+mn-lt"/>
              </a:rPr>
              <a:t>injects jitter into the LC tank, but only when </a:t>
            </a:r>
            <a:r>
              <a:rPr lang="en-US" b="1" dirty="0">
                <a:ea typeface="+mn-lt"/>
                <a:cs typeface="+mn-lt"/>
              </a:rPr>
              <a:t>M1 is ON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lvl="1"/>
            <a:r>
              <a:rPr lang="en-US" dirty="0">
                <a:ea typeface="+mn-lt"/>
                <a:cs typeface="+mn-lt"/>
              </a:rPr>
              <a:t>When </a:t>
            </a:r>
            <a:r>
              <a:rPr lang="en-US" b="1" dirty="0">
                <a:ea typeface="+mn-lt"/>
                <a:cs typeface="+mn-lt"/>
              </a:rPr>
              <a:t>M2 is OFF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ISS blocks In1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</a:rPr>
              <a:t>So, noise reaches the tank </a:t>
            </a:r>
            <a:r>
              <a:rPr lang="en-US" b="1" dirty="0">
                <a:ea typeface="+mn-lt"/>
                <a:cs typeface="+mn-lt"/>
              </a:rPr>
              <a:t>only during part of the cycle</a:t>
            </a:r>
            <a:r>
              <a:rPr lang="en-US" dirty="0">
                <a:ea typeface="+mn-lt"/>
                <a:cs typeface="+mn-lt"/>
              </a:rPr>
              <a:t>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Thus, its effect on phase is </a:t>
            </a:r>
            <a:r>
              <a:rPr lang="en-US" b="1" dirty="0">
                <a:ea typeface="+mn-lt"/>
                <a:cs typeface="+mn-lt"/>
              </a:rPr>
              <a:t>time-dependent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b="1" dirty="0">
              <a:ea typeface="+mn-lt"/>
              <a:cs typeface="+mn-lt"/>
            </a:endParaRPr>
          </a:p>
          <a:p>
            <a:pPr lvl="1"/>
            <a:endParaRPr lang="en-US" b="1" dirty="0">
              <a:ea typeface="+mn-lt"/>
              <a:cs typeface="+mn-lt"/>
            </a:endParaRPr>
          </a:p>
        </p:txBody>
      </p:sp>
      <p:pic>
        <p:nvPicPr>
          <p:cNvPr id="4" name="Picture 3" descr="A diagram of a voltage&#10;&#10;AI-generated content may be incorrect.">
            <a:extLst>
              <a:ext uri="{FF2B5EF4-FFF2-40B4-BE49-F238E27FC236}">
                <a16:creationId xmlns:a16="http://schemas.microsoft.com/office/drawing/2014/main" id="{8F890FA3-CD7C-7EC0-0E5C-ABE72F604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279" y="2487792"/>
            <a:ext cx="2948617" cy="10792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743BF68B-4717-6115-F646-ABA21F9FA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8497" y="380443"/>
            <a:ext cx="2371725" cy="14763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 descr="A diagram of a circuit&#10;&#10;AI-generated content may be incorrect.">
            <a:extLst>
              <a:ext uri="{FF2B5EF4-FFF2-40B4-BE49-F238E27FC236}">
                <a16:creationId xmlns:a16="http://schemas.microsoft.com/office/drawing/2014/main" id="{74AB8638-2003-F845-7A9C-2F2361C5C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4128" y="3881797"/>
            <a:ext cx="2152650" cy="225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532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451B6-EAD9-22CD-1EAD-9A15D875C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 of Jitter &amp; PN on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8A54E-3145-4FEA-5517-3E719E84A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684"/>
            <a:ext cx="10990052" cy="505582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ea typeface="+mn-lt"/>
                <a:cs typeface="+mn-lt"/>
              </a:rPr>
              <a:t>Jitter 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Affects data sampling, especially in high-speed links (e.g., processor to  memory).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Ideal clock samples correctly; jittered clock may cause logic errors or metastability.</a:t>
            </a:r>
            <a:endParaRPr lang="en-US" sz="240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Safe limit: Clock jitter must be less than half the data period.</a:t>
            </a:r>
            <a:endParaRPr lang="en-US" sz="2400"/>
          </a:p>
          <a:p>
            <a:pPr marL="0" indent="0">
              <a:buNone/>
            </a:pPr>
            <a:r>
              <a:rPr lang="en-US" sz="2400" b="1" dirty="0"/>
              <a:t>Phase noise</a:t>
            </a:r>
            <a:endParaRPr lang="en-US" sz="2400" b="1"/>
          </a:p>
          <a:p>
            <a:r>
              <a:rPr lang="en-US" sz="2400" dirty="0">
                <a:ea typeface="+mn-lt"/>
                <a:cs typeface="+mn-lt"/>
              </a:rPr>
              <a:t>Interferes with Nearby Channels : Noise spreads out → affects weaker signals on adjacent frequencies.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Corrupts Modulated Signal : Adds random phase error → causes symbol decoding issues (e.g., in </a:t>
            </a:r>
            <a:r>
              <a:rPr lang="en-US" sz="2400" err="1">
                <a:ea typeface="+mn-lt"/>
                <a:cs typeface="+mn-lt"/>
              </a:rPr>
              <a:t>WiFi</a:t>
            </a:r>
            <a:r>
              <a:rPr lang="en-US" sz="2400" dirty="0">
                <a:ea typeface="+mn-lt"/>
                <a:cs typeface="+mn-lt"/>
              </a:rPr>
              <a:t>).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Reciprocal Mixing in RX: Strong nearby signals leak into desired signal due to phase noise.</a:t>
            </a:r>
            <a:endParaRPr lang="en-US" sz="2400"/>
          </a:p>
          <a:p>
            <a:endParaRPr lang="en-US" sz="2400" dirty="0"/>
          </a:p>
          <a:p>
            <a:endParaRPr lang="en-US" sz="2400" dirty="0"/>
          </a:p>
          <a:p>
            <a:pPr marL="514350" indent="-51435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6621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25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Introduction to Jitter and Phase Noise</vt:lpstr>
      <vt:lpstr>Presentation Topics </vt:lpstr>
      <vt:lpstr>PowerPoint Presentation</vt:lpstr>
      <vt:lpstr>Intro to Jitter and Phase Noise</vt:lpstr>
      <vt:lpstr>  Noise: Concepts &amp; Types </vt:lpstr>
      <vt:lpstr>PowerPoint Presentation</vt:lpstr>
      <vt:lpstr> Device Noise  </vt:lpstr>
      <vt:lpstr>PowerPoint Presentation</vt:lpstr>
      <vt:lpstr> Propagation of Noise  </vt:lpstr>
      <vt:lpstr> Power &amp; Spectral Density </vt:lpstr>
      <vt:lpstr>PowerPoint Presentation</vt:lpstr>
      <vt:lpstr>PowerPoint Presentation</vt:lpstr>
      <vt:lpstr> Basic Jitter and Phase Noise Intro </vt:lpstr>
      <vt:lpstr>Jitter : Definition</vt:lpstr>
      <vt:lpstr>PowerPoint Presentation</vt:lpstr>
      <vt:lpstr> Phase Noise: Definition &amp; Spectra </vt:lpstr>
      <vt:lpstr>PowerPoint Presentation</vt:lpstr>
      <vt:lpstr> Jitter vs. Phase Noise </vt:lpstr>
      <vt:lpstr>Types of Jitter : In detail </vt:lpstr>
      <vt:lpstr>PowerPoint Presentation</vt:lpstr>
      <vt:lpstr> Trade-Offs b/w Phase noise and Power </vt:lpstr>
      <vt:lpstr>Basic Phase Noise Mechanisms</vt:lpstr>
      <vt:lpstr>PowerPoint Presentation</vt:lpstr>
      <vt:lpstr>PowerPoint Presentation</vt:lpstr>
      <vt:lpstr>Effect of Jitter &amp; PN on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2377</cp:revision>
  <dcterms:created xsi:type="dcterms:W3CDTF">2025-07-04T09:07:41Z</dcterms:created>
  <dcterms:modified xsi:type="dcterms:W3CDTF">2025-07-14T20:03:45Z</dcterms:modified>
</cp:coreProperties>
</file>