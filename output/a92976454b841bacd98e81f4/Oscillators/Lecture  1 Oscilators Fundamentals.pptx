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6">
  <p:sldMasterIdLst>
    <p:sldMasterId id="2147483660" r:id="rId1"/>
    <p:sldMasterId id="2147483672" r:id="rId2"/>
  </p:sldMasterIdLst>
  <p:sldIdLst>
    <p:sldId id="257" r:id="rId3"/>
    <p:sldId id="258" r:id="rId4"/>
    <p:sldId id="259" r:id="rId5"/>
    <p:sldId id="260" r:id="rId6"/>
    <p:sldId id="371" r:id="rId7"/>
    <p:sldId id="372" r:id="rId8"/>
    <p:sldId id="373" r:id="rId9"/>
    <p:sldId id="261" r:id="rId10"/>
    <p:sldId id="262" r:id="rId11"/>
    <p:sldId id="263" r:id="rId12"/>
    <p:sldId id="264" r:id="rId13"/>
    <p:sldId id="265" r:id="rId14"/>
    <p:sldId id="266" r:id="rId15"/>
    <p:sldId id="267" r:id="rId16"/>
    <p:sldId id="268" r:id="rId17"/>
    <p:sldId id="374" r:id="rId18"/>
    <p:sldId id="375" r:id="rId19"/>
    <p:sldId id="376" r:id="rId20"/>
    <p:sldId id="377" r:id="rId21"/>
    <p:sldId id="378" r:id="rId22"/>
    <p:sldId id="269" r:id="rId23"/>
    <p:sldId id="379" r:id="rId24"/>
    <p:sldId id="270" r:id="rId25"/>
    <p:sldId id="380" r:id="rId26"/>
    <p:sldId id="381" r:id="rId27"/>
    <p:sldId id="271" r:id="rId28"/>
    <p:sldId id="382" r:id="rId29"/>
    <p:sldId id="272" r:id="rId30"/>
    <p:sldId id="383" r:id="rId31"/>
    <p:sldId id="384" r:id="rId32"/>
    <p:sldId id="273" r:id="rId33"/>
    <p:sldId id="274" r:id="rId34"/>
    <p:sldId id="275" r:id="rId35"/>
    <p:sldId id="276" r:id="rId36"/>
    <p:sldId id="385" r:id="rId37"/>
    <p:sldId id="277" r:id="rId38"/>
    <p:sldId id="386" r:id="rId39"/>
    <p:sldId id="387" r:id="rId40"/>
    <p:sldId id="278" r:id="rId41"/>
    <p:sldId id="279" r:id="rId42"/>
    <p:sldId id="280" r:id="rId43"/>
    <p:sldId id="281" r:id="rId44"/>
    <p:sldId id="390" r:id="rId45"/>
    <p:sldId id="282" r:id="rId46"/>
    <p:sldId id="388" r:id="rId47"/>
    <p:sldId id="389" r:id="rId48"/>
    <p:sldId id="283" r:id="rId49"/>
    <p:sldId id="284" r:id="rId50"/>
    <p:sldId id="285" r:id="rId51"/>
    <p:sldId id="286" r:id="rId52"/>
    <p:sldId id="365" r:id="rId53"/>
    <p:sldId id="287" r:id="rId54"/>
    <p:sldId id="288" r:id="rId55"/>
    <p:sldId id="289" r:id="rId56"/>
    <p:sldId id="290" r:id="rId57"/>
    <p:sldId id="291" r:id="rId58"/>
    <p:sldId id="292" r:id="rId59"/>
    <p:sldId id="293" r:id="rId60"/>
    <p:sldId id="294" r:id="rId61"/>
    <p:sldId id="295" r:id="rId62"/>
    <p:sldId id="296" r:id="rId63"/>
    <p:sldId id="297" r:id="rId64"/>
    <p:sldId id="298" r:id="rId65"/>
    <p:sldId id="299" r:id="rId66"/>
    <p:sldId id="300" r:id="rId67"/>
    <p:sldId id="301" r:id="rId68"/>
    <p:sldId id="302" r:id="rId69"/>
    <p:sldId id="303" r:id="rId70"/>
    <p:sldId id="304" r:id="rId71"/>
    <p:sldId id="305" r:id="rId72"/>
    <p:sldId id="306" r:id="rId73"/>
    <p:sldId id="307" r:id="rId74"/>
    <p:sldId id="308" r:id="rId75"/>
    <p:sldId id="309" r:id="rId76"/>
    <p:sldId id="366" r:id="rId77"/>
    <p:sldId id="310" r:id="rId78"/>
    <p:sldId id="311" r:id="rId79"/>
    <p:sldId id="312" r:id="rId80"/>
    <p:sldId id="313" r:id="rId81"/>
    <p:sldId id="314" r:id="rId82"/>
    <p:sldId id="315" r:id="rId83"/>
    <p:sldId id="316" r:id="rId84"/>
    <p:sldId id="317" r:id="rId85"/>
    <p:sldId id="367" r:id="rId86"/>
    <p:sldId id="318" r:id="rId87"/>
    <p:sldId id="319" r:id="rId88"/>
    <p:sldId id="320" r:id="rId89"/>
    <p:sldId id="321" r:id="rId90"/>
    <p:sldId id="322" r:id="rId91"/>
    <p:sldId id="324" r:id="rId92"/>
    <p:sldId id="326" r:id="rId93"/>
    <p:sldId id="327" r:id="rId94"/>
    <p:sldId id="323" r:id="rId95"/>
    <p:sldId id="368" r:id="rId96"/>
    <p:sldId id="369" r:id="rId97"/>
    <p:sldId id="370" r:id="rId98"/>
    <p:sldId id="325" r:id="rId99"/>
    <p:sldId id="328" r:id="rId100"/>
    <p:sldId id="329" r:id="rId101"/>
    <p:sldId id="330" r:id="rId102"/>
    <p:sldId id="331" r:id="rId103"/>
    <p:sldId id="334" r:id="rId104"/>
    <p:sldId id="332" r:id="rId105"/>
    <p:sldId id="335" r:id="rId106"/>
    <p:sldId id="336" r:id="rId107"/>
    <p:sldId id="337" r:id="rId108"/>
    <p:sldId id="338" r:id="rId109"/>
    <p:sldId id="339" r:id="rId110"/>
    <p:sldId id="340" r:id="rId111"/>
    <p:sldId id="341" r:id="rId112"/>
    <p:sldId id="342" r:id="rId113"/>
    <p:sldId id="343" r:id="rId114"/>
    <p:sldId id="344" r:id="rId115"/>
    <p:sldId id="345" r:id="rId116"/>
    <p:sldId id="346" r:id="rId117"/>
    <p:sldId id="347" r:id="rId118"/>
    <p:sldId id="348" r:id="rId119"/>
    <p:sldId id="349" r:id="rId120"/>
    <p:sldId id="350" r:id="rId121"/>
    <p:sldId id="351" r:id="rId122"/>
    <p:sldId id="354" r:id="rId123"/>
    <p:sldId id="352" r:id="rId124"/>
    <p:sldId id="355" r:id="rId125"/>
    <p:sldId id="353" r:id="rId126"/>
    <p:sldId id="356" r:id="rId127"/>
    <p:sldId id="357" r:id="rId128"/>
    <p:sldId id="358" r:id="rId129"/>
    <p:sldId id="359" r:id="rId130"/>
    <p:sldId id="360" r:id="rId131"/>
    <p:sldId id="361" r:id="rId132"/>
    <p:sldId id="362" r:id="rId133"/>
    <p:sldId id="363" r:id="rId134"/>
    <p:sldId id="364" r:id="rId1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00D7D62-5430-46D1-9143-3CF816FB597A}">
          <p14:sldIdLst>
            <p14:sldId id="257"/>
            <p14:sldId id="258"/>
            <p14:sldId id="259"/>
            <p14:sldId id="260"/>
            <p14:sldId id="371"/>
            <p14:sldId id="372"/>
            <p14:sldId id="373"/>
            <p14:sldId id="261"/>
            <p14:sldId id="262"/>
            <p14:sldId id="263"/>
            <p14:sldId id="264"/>
            <p14:sldId id="265"/>
            <p14:sldId id="266"/>
            <p14:sldId id="267"/>
            <p14:sldId id="268"/>
            <p14:sldId id="374"/>
            <p14:sldId id="375"/>
            <p14:sldId id="376"/>
            <p14:sldId id="377"/>
            <p14:sldId id="378"/>
            <p14:sldId id="269"/>
            <p14:sldId id="379"/>
            <p14:sldId id="270"/>
            <p14:sldId id="380"/>
            <p14:sldId id="381"/>
            <p14:sldId id="271"/>
            <p14:sldId id="382"/>
            <p14:sldId id="272"/>
            <p14:sldId id="383"/>
            <p14:sldId id="384"/>
            <p14:sldId id="273"/>
            <p14:sldId id="274"/>
            <p14:sldId id="275"/>
            <p14:sldId id="276"/>
            <p14:sldId id="385"/>
            <p14:sldId id="277"/>
            <p14:sldId id="386"/>
            <p14:sldId id="387"/>
            <p14:sldId id="278"/>
            <p14:sldId id="279"/>
            <p14:sldId id="280"/>
            <p14:sldId id="281"/>
            <p14:sldId id="390"/>
            <p14:sldId id="282"/>
            <p14:sldId id="388"/>
            <p14:sldId id="389"/>
            <p14:sldId id="283"/>
            <p14:sldId id="284"/>
            <p14:sldId id="285"/>
            <p14:sldId id="286"/>
            <p14:sldId id="365"/>
            <p14:sldId id="287"/>
            <p14:sldId id="288"/>
            <p14:sldId id="289"/>
            <p14:sldId id="290"/>
            <p14:sldId id="291"/>
            <p14:sldId id="292"/>
            <p14:sldId id="293"/>
            <p14:sldId id="294"/>
            <p14:sldId id="295"/>
            <p14:sldId id="296"/>
            <p14:sldId id="297"/>
            <p14:sldId id="298"/>
            <p14:sldId id="299"/>
            <p14:sldId id="300"/>
            <p14:sldId id="301"/>
            <p14:sldId id="302"/>
          </p14:sldIdLst>
        </p14:section>
        <p14:section name="LC Oscillator basics" id="{4A7099C2-CFE2-41FD-9C5F-A0DF37B652C7}">
          <p14:sldIdLst>
            <p14:sldId id="303"/>
            <p14:sldId id="304"/>
            <p14:sldId id="305"/>
            <p14:sldId id="306"/>
            <p14:sldId id="307"/>
            <p14:sldId id="308"/>
            <p14:sldId id="309"/>
            <p14:sldId id="366"/>
            <p14:sldId id="310"/>
            <p14:sldId id="311"/>
            <p14:sldId id="312"/>
            <p14:sldId id="313"/>
            <p14:sldId id="314"/>
            <p14:sldId id="315"/>
            <p14:sldId id="316"/>
            <p14:sldId id="317"/>
            <p14:sldId id="367"/>
            <p14:sldId id="318"/>
            <p14:sldId id="319"/>
            <p14:sldId id="320"/>
            <p14:sldId id="321"/>
            <p14:sldId id="322"/>
            <p14:sldId id="324"/>
            <p14:sldId id="326"/>
            <p14:sldId id="327"/>
            <p14:sldId id="323"/>
            <p14:sldId id="368"/>
            <p14:sldId id="369"/>
            <p14:sldId id="370"/>
            <p14:sldId id="325"/>
            <p14:sldId id="328"/>
            <p14:sldId id="329"/>
            <p14:sldId id="330"/>
            <p14:sldId id="331"/>
            <p14:sldId id="334"/>
            <p14:sldId id="332"/>
            <p14:sldId id="335"/>
            <p14:sldId id="336"/>
            <p14:sldId id="337"/>
            <p14:sldId id="338"/>
            <p14:sldId id="339"/>
            <p14:sldId id="340"/>
            <p14:sldId id="341"/>
            <p14:sldId id="342"/>
            <p14:sldId id="343"/>
            <p14:sldId id="344"/>
            <p14:sldId id="345"/>
            <p14:sldId id="346"/>
            <p14:sldId id="347"/>
            <p14:sldId id="348"/>
            <p14:sldId id="349"/>
            <p14:sldId id="350"/>
            <p14:sldId id="351"/>
            <p14:sldId id="354"/>
            <p14:sldId id="352"/>
            <p14:sldId id="355"/>
            <p14:sldId id="353"/>
            <p14:sldId id="356"/>
            <p14:sldId id="357"/>
            <p14:sldId id="358"/>
            <p14:sldId id="359"/>
            <p14:sldId id="360"/>
            <p14:sldId id="361"/>
            <p14:sldId id="362"/>
            <p14:sldId id="363"/>
            <p14:sldId id="3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p:scale>
          <a:sx n="66" d="100"/>
          <a:sy n="66" d="100"/>
        </p:scale>
        <p:origin x="3780" y="2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theme" Target="theme/theme1.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tableStyles" Target="tableStyles.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presProps" Target="pres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84820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45208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17189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97207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907518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3021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7223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15611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3271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44632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752092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400" b="0" i="0">
                <a:solidFill>
                  <a:schemeClr val="tx1"/>
                </a:solidFill>
                <a:latin typeface="Verdana"/>
                <a:cs typeface="Verdan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000"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5" name="Holder 5"/>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6" name="Holder 6"/>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42270914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0" i="0">
                <a:solidFill>
                  <a:schemeClr val="tx1"/>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5" name="Holder 5"/>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6" name="Holder 6"/>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8163185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0" i="0">
                <a:solidFill>
                  <a:schemeClr val="tx1"/>
                </a:solidFill>
                <a:latin typeface="Verdana"/>
                <a:cs typeface="Verdan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6" name="Holder 6"/>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7" name="Holder 7"/>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1722754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0" i="0">
                <a:solidFill>
                  <a:schemeClr val="tx1"/>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4" name="Holder 4"/>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5" name="Holder 5"/>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6881195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3" name="Holder 3"/>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4" name="Holder 4"/>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692702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12659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13054" y="984503"/>
            <a:ext cx="10609580" cy="114300"/>
          </a:xfrm>
          <a:custGeom>
            <a:avLst/>
            <a:gdLst/>
            <a:ahLst/>
            <a:cxnLst/>
            <a:rect l="l" t="t" r="r" b="b"/>
            <a:pathLst>
              <a:path w="10609580" h="114300">
                <a:moveTo>
                  <a:pt x="10609326" y="0"/>
                </a:moveTo>
                <a:lnTo>
                  <a:pt x="0" y="0"/>
                </a:lnTo>
                <a:lnTo>
                  <a:pt x="0" y="4572"/>
                </a:lnTo>
                <a:lnTo>
                  <a:pt x="0" y="9144"/>
                </a:lnTo>
                <a:lnTo>
                  <a:pt x="0" y="114300"/>
                </a:lnTo>
                <a:lnTo>
                  <a:pt x="6206490" y="114300"/>
                </a:lnTo>
                <a:lnTo>
                  <a:pt x="6206490" y="9144"/>
                </a:lnTo>
                <a:lnTo>
                  <a:pt x="10609326" y="9144"/>
                </a:lnTo>
                <a:lnTo>
                  <a:pt x="10609326" y="0"/>
                </a:lnTo>
                <a:close/>
              </a:path>
            </a:pathLst>
          </a:custGeom>
          <a:solidFill>
            <a:srgbClr val="CB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7" name="bg object 17"/>
          <p:cNvSpPr/>
          <p:nvPr/>
        </p:nvSpPr>
        <p:spPr>
          <a:xfrm>
            <a:off x="813053" y="6169914"/>
            <a:ext cx="10565130" cy="3175"/>
          </a:xfrm>
          <a:custGeom>
            <a:avLst/>
            <a:gdLst/>
            <a:ahLst/>
            <a:cxnLst/>
            <a:rect l="l" t="t" r="r" b="b"/>
            <a:pathLst>
              <a:path w="10565130" h="3175">
                <a:moveTo>
                  <a:pt x="10565130" y="3048"/>
                </a:moveTo>
                <a:lnTo>
                  <a:pt x="10565130" y="0"/>
                </a:lnTo>
                <a:lnTo>
                  <a:pt x="0" y="0"/>
                </a:lnTo>
                <a:lnTo>
                  <a:pt x="0" y="3048"/>
                </a:lnTo>
                <a:lnTo>
                  <a:pt x="10565130" y="3048"/>
                </a:lnTo>
                <a:close/>
              </a:path>
            </a:pathLst>
          </a:custGeom>
          <a:solidFill>
            <a:srgbClr val="CB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2" name="Holder 2"/>
          <p:cNvSpPr>
            <a:spLocks noGrp="1"/>
          </p:cNvSpPr>
          <p:nvPr>
            <p:ph type="title"/>
          </p:nvPr>
        </p:nvSpPr>
        <p:spPr>
          <a:xfrm>
            <a:off x="819150" y="347725"/>
            <a:ext cx="10593196" cy="572389"/>
          </a:xfrm>
          <a:prstGeom prst="rect">
            <a:avLst/>
          </a:prstGeom>
        </p:spPr>
        <p:txBody>
          <a:bodyPr wrap="square" lIns="0" tIns="0" rIns="0" bIns="0">
            <a:spAutoFit/>
          </a:bodyPr>
          <a:lstStyle>
            <a:lvl1pPr>
              <a:defRPr sz="3400" b="0" i="0">
                <a:solidFill>
                  <a:schemeClr val="tx1"/>
                </a:solidFill>
                <a:latin typeface="Verdana"/>
                <a:cs typeface="Verdana"/>
              </a:defRPr>
            </a:lvl1pPr>
          </a:lstStyle>
          <a:p>
            <a:endParaRPr/>
          </a:p>
        </p:txBody>
      </p:sp>
      <p:sp>
        <p:nvSpPr>
          <p:cNvPr id="3" name="Holder 3"/>
          <p:cNvSpPr>
            <a:spLocks noGrp="1"/>
          </p:cNvSpPr>
          <p:nvPr>
            <p:ph type="body" idx="1"/>
          </p:nvPr>
        </p:nvSpPr>
        <p:spPr>
          <a:xfrm>
            <a:off x="844550" y="1327353"/>
            <a:ext cx="5730875" cy="1549400"/>
          </a:xfrm>
          <a:prstGeom prst="rect">
            <a:avLst/>
          </a:prstGeom>
        </p:spPr>
        <p:txBody>
          <a:bodyPr wrap="square" lIns="0" tIns="0" rIns="0" bIns="0">
            <a:spAutoFit/>
          </a:bodyPr>
          <a:lstStyle>
            <a:lvl1pPr>
              <a:defRPr sz="2000" b="0" i="0">
                <a:solidFill>
                  <a:schemeClr val="tx1"/>
                </a:solidFill>
                <a:latin typeface="Verdana"/>
                <a:cs typeface="Verdana"/>
              </a:defRPr>
            </a:lvl1pPr>
          </a:lstStyle>
          <a:p>
            <a:endParaRPr/>
          </a:p>
        </p:txBody>
      </p:sp>
      <p:sp>
        <p:nvSpPr>
          <p:cNvPr id="4" name="Holder 4"/>
          <p:cNvSpPr>
            <a:spLocks noGrp="1"/>
          </p:cNvSpPr>
          <p:nvPr>
            <p:ph type="ftr" sz="quarter" idx="5"/>
          </p:nvPr>
        </p:nvSpPr>
        <p:spPr>
          <a:xfrm>
            <a:off x="5531611" y="6276791"/>
            <a:ext cx="1130300" cy="210820"/>
          </a:xfrm>
          <a:prstGeom prst="rect">
            <a:avLst/>
          </a:prstGeom>
        </p:spPr>
        <p:txBody>
          <a:bodyPr wrap="square" lIns="0" tIns="0" rIns="0" bIns="0">
            <a:spAutoFit/>
          </a:bodyPr>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5" name="Holder 5"/>
          <p:cNvSpPr>
            <a:spLocks noGrp="1"/>
          </p:cNvSpPr>
          <p:nvPr>
            <p:ph type="dt" sz="half" idx="6"/>
          </p:nvPr>
        </p:nvSpPr>
        <p:spPr>
          <a:xfrm>
            <a:off x="891794" y="6276028"/>
            <a:ext cx="1085214" cy="211583"/>
          </a:xfrm>
          <a:prstGeom prst="rect">
            <a:avLst/>
          </a:prstGeom>
        </p:spPr>
        <p:txBody>
          <a:bodyPr wrap="square" lIns="0" tIns="0" rIns="0" bIns="0">
            <a:spAutoFit/>
          </a:bodyPr>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6" name="Holder 6"/>
          <p:cNvSpPr>
            <a:spLocks noGrp="1"/>
          </p:cNvSpPr>
          <p:nvPr>
            <p:ph type="sldNum" sz="quarter" idx="7"/>
          </p:nvPr>
        </p:nvSpPr>
        <p:spPr>
          <a:xfrm>
            <a:off x="10952988" y="6276028"/>
            <a:ext cx="384399" cy="214631"/>
          </a:xfrm>
          <a:prstGeom prst="rect">
            <a:avLst/>
          </a:prstGeom>
        </p:spPr>
        <p:txBody>
          <a:bodyPr wrap="square" lIns="0" tIns="0" rIns="0" bIns="0">
            <a:spAutoFit/>
          </a:bodyPr>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60421225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Lst>
  <p:hf hdr="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png"/><Relationship Id="rId1" Type="http://schemas.openxmlformats.org/officeDocument/2006/relationships/slideLayout" Target="../slideLayouts/slideLayout13.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3.xml"/><Relationship Id="rId4" Type="http://schemas.openxmlformats.org/officeDocument/2006/relationships/image" Target="../media/image4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3.xml"/><Relationship Id="rId4" Type="http://schemas.openxmlformats.org/officeDocument/2006/relationships/image" Target="../media/image50.png"/></Relationships>
</file>

<file path=ppt/slides/_rels/slide4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3.xml"/><Relationship Id="rId4" Type="http://schemas.openxmlformats.org/officeDocument/2006/relationships/image" Target="../media/image53.png"/></Relationships>
</file>

<file path=ppt/slides/_rels/slide4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13.xml"/><Relationship Id="rId5" Type="http://schemas.openxmlformats.org/officeDocument/2006/relationships/image" Target="../media/image89.png"/><Relationship Id="rId4" Type="http://schemas.openxmlformats.org/officeDocument/2006/relationships/image" Target="../media/image88.png"/></Relationships>
</file>

<file path=ppt/slides/_rels/slide85.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9.png"/><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3.png"/><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0.png"/><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1" y="1030287"/>
            <a:ext cx="6443133" cy="5790663"/>
          </a:xfrm>
          <a:prstGeom prst="rect">
            <a:avLst/>
          </a:prstGeom>
        </p:spPr>
      </p:pic>
      <p:sp>
        <p:nvSpPr>
          <p:cNvPr id="4" name="object 2"/>
          <p:cNvSpPr txBox="1"/>
          <p:nvPr/>
        </p:nvSpPr>
        <p:spPr>
          <a:xfrm>
            <a:off x="2169075" y="953173"/>
            <a:ext cx="8444910" cy="5793894"/>
          </a:xfrm>
          <a:prstGeom prst="rect">
            <a:avLst/>
          </a:prstGeom>
        </p:spPr>
        <p:txBody>
          <a:bodyPr vert="horz" wrap="square" lIns="0" tIns="1270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smtClean="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smtClean="0">
                <a:ln>
                  <a:noFill/>
                </a:ln>
                <a:solidFill>
                  <a:srgbClr val="000000"/>
                </a:solidFill>
                <a:effectLst/>
                <a:uLnTx/>
                <a:uFillTx/>
                <a:latin typeface="Calibri" panose="020F0502020204030204"/>
                <a:ea typeface="+mn-ea"/>
                <a:cs typeface="+mn-cs"/>
              </a:rPr>
              <a:t> </a:t>
            </a:r>
            <a:r>
              <a:rPr kumimoji="0" lang="en-US" sz="3600" b="0" i="0" u="none" strike="noStrike" kern="1200" cap="none" spc="0" normalizeH="0" baseline="0" noProof="0" dirty="0" smtClean="0">
                <a:ln>
                  <a:noFill/>
                </a:ln>
                <a:solidFill>
                  <a:srgbClr val="EEB500"/>
                </a:solidFill>
                <a:effectLst/>
                <a:uLnTx/>
                <a:uFillTx/>
                <a:latin typeface="Calibri" panose="020F0502020204030204"/>
                <a:ea typeface="+mn-ea"/>
                <a:cs typeface="+mn-cs"/>
              </a:rPr>
              <a:t>Advance Analog and Mixed Signal Design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smtClean="0">
                <a:ln>
                  <a:noFill/>
                </a:ln>
                <a:solidFill>
                  <a:srgbClr val="000000"/>
                </a:solidFill>
                <a:effectLst/>
                <a:uLnTx/>
                <a:uFillTx/>
                <a:latin typeface="Calibri" panose="020F0502020204030204"/>
                <a:ea typeface="+mn-ea"/>
                <a:cs typeface="+mn-cs"/>
              </a:rPr>
              <a:t> </a:t>
            </a:r>
            <a:endParaRPr kumimoji="0" sz="3600" b="0" i="0" u="none" strike="noStrike" kern="0" cap="none" spc="0" normalizeH="0" baseline="0" noProof="0" dirty="0" smtClean="0">
              <a:ln>
                <a:noFill/>
              </a:ln>
              <a:solidFill>
                <a:sysClr val="windowText" lastClr="000000"/>
              </a:solidFill>
              <a:effectLst/>
              <a:uLnTx/>
              <a:uFillTx/>
              <a:latin typeface="Calibri Light"/>
              <a:ea typeface="+mn-ea"/>
              <a:cs typeface="Calibri Light"/>
            </a:endParaRPr>
          </a:p>
          <a:p>
            <a:pPr marL="1928495" marR="1921510" lvl="0" indent="-1270" algn="ctr" defTabSz="914400" rtl="0" eaLnBrk="1" fontAlgn="auto" latinLnBrk="0" hangingPunct="1">
              <a:lnSpc>
                <a:spcPts val="3890"/>
              </a:lnSpc>
              <a:spcBef>
                <a:spcPts val="5"/>
              </a:spcBef>
              <a:spcAft>
                <a:spcPts val="0"/>
              </a:spcAft>
              <a:buClrTx/>
              <a:buSzTx/>
              <a:buFontTx/>
              <a:buNone/>
              <a:tabLst/>
              <a:defRPr/>
            </a:pPr>
            <a:r>
              <a:rPr kumimoji="0" sz="3600" b="1" i="0" u="none" strike="noStrike" kern="0" cap="none" spc="-25" normalizeH="0" baseline="0" noProof="0" dirty="0" smtClean="0">
                <a:ln>
                  <a:noFill/>
                </a:ln>
                <a:solidFill>
                  <a:srgbClr val="8AA7DA"/>
                </a:solidFill>
                <a:effectLst/>
                <a:uLnTx/>
                <a:uFillTx/>
                <a:latin typeface="Calibri Light"/>
                <a:ea typeface="+mn-ea"/>
                <a:cs typeface="Calibri Light"/>
              </a:rPr>
              <a:t>Lecture</a:t>
            </a:r>
            <a:r>
              <a:rPr kumimoji="0" sz="3600" b="1" i="0" u="none" strike="noStrike" kern="0" cap="none" spc="-165" normalizeH="0" baseline="0" noProof="0" dirty="0" smtClean="0">
                <a:ln>
                  <a:noFill/>
                </a:ln>
                <a:solidFill>
                  <a:srgbClr val="8AA7DA"/>
                </a:solidFill>
                <a:effectLst/>
                <a:uLnTx/>
                <a:uFillTx/>
                <a:latin typeface="Calibri Light"/>
                <a:ea typeface="+mn-ea"/>
                <a:cs typeface="Calibri Light"/>
              </a:rPr>
              <a:t> </a:t>
            </a:r>
            <a:r>
              <a:rPr kumimoji="0" sz="3600" b="1" i="0" u="none" strike="noStrike" kern="0" cap="none" spc="-25" normalizeH="0" baseline="0" noProof="0" dirty="0" smtClean="0">
                <a:ln>
                  <a:noFill/>
                </a:ln>
                <a:solidFill>
                  <a:srgbClr val="8AA7DA"/>
                </a:solidFill>
                <a:effectLst/>
                <a:uLnTx/>
                <a:uFillTx/>
                <a:latin typeface="Calibri Light"/>
                <a:ea typeface="+mn-ea"/>
                <a:cs typeface="Calibri Light"/>
              </a:rPr>
              <a:t> </a:t>
            </a:r>
            <a:r>
              <a:rPr kumimoji="0" lang="en-US" sz="3600" b="1" i="0" u="none" strike="noStrike" kern="0" cap="none" spc="-25" normalizeH="0" baseline="0" noProof="0" dirty="0" smtClean="0">
                <a:ln>
                  <a:noFill/>
                </a:ln>
                <a:solidFill>
                  <a:srgbClr val="8AA7DA"/>
                </a:solidFill>
                <a:effectLst/>
                <a:uLnTx/>
                <a:uFillTx/>
                <a:latin typeface="Calibri Light"/>
                <a:ea typeface="+mn-ea"/>
                <a:cs typeface="Calibri Light"/>
              </a:rPr>
              <a:t>1</a:t>
            </a:r>
          </a:p>
          <a:p>
            <a:pPr marL="1928495" marR="1921510" lvl="0" indent="-1270" algn="ctr" defTabSz="914400" rtl="0" eaLnBrk="1" fontAlgn="auto" latinLnBrk="0" hangingPunct="1">
              <a:lnSpc>
                <a:spcPts val="3890"/>
              </a:lnSpc>
              <a:spcBef>
                <a:spcPts val="5"/>
              </a:spcBef>
              <a:spcAft>
                <a:spcPts val="0"/>
              </a:spcAft>
              <a:buClrTx/>
              <a:buSzTx/>
              <a:buFontTx/>
              <a:buNone/>
              <a:tabLst/>
              <a:defRPr/>
            </a:pPr>
            <a:endParaRPr kumimoji="0" lang="en-US" sz="3600" b="1" i="0" u="none" strike="noStrike" kern="0" cap="none" spc="-25" normalizeH="0" baseline="0" noProof="0" dirty="0" smtClean="0">
              <a:ln>
                <a:noFill/>
              </a:ln>
              <a:solidFill>
                <a:srgbClr val="8AA7DA"/>
              </a:solidFill>
              <a:effectLst/>
              <a:uLnTx/>
              <a:uFillTx/>
              <a:latin typeface="Calibri Light"/>
              <a:ea typeface="+mn-ea"/>
              <a:cs typeface="Calibri Light"/>
            </a:endParaRPr>
          </a:p>
          <a:p>
            <a:pPr marL="1928495" marR="1921510" lvl="0" indent="-1270" algn="ctr" defTabSz="914400" rtl="0" eaLnBrk="1" fontAlgn="auto" latinLnBrk="0" hangingPunct="1">
              <a:lnSpc>
                <a:spcPts val="3890"/>
              </a:lnSpc>
              <a:spcBef>
                <a:spcPts val="5"/>
              </a:spcBef>
              <a:spcAft>
                <a:spcPts val="0"/>
              </a:spcAft>
              <a:buClrTx/>
              <a:buSzTx/>
              <a:buFontTx/>
              <a:buNone/>
              <a:tabLst/>
              <a:defRPr/>
            </a:pPr>
            <a:r>
              <a:rPr kumimoji="0" lang="en-US" sz="3600" b="0" i="0" u="none" strike="noStrike" kern="1200" cap="none" spc="-10" normalizeH="0" baseline="0" noProof="0" dirty="0" smtClean="0">
                <a:ln>
                  <a:noFill/>
                </a:ln>
                <a:solidFill>
                  <a:srgbClr val="FFC000">
                    <a:lumMod val="50000"/>
                  </a:srgbClr>
                </a:solidFill>
                <a:effectLst/>
                <a:uLnTx/>
                <a:uFillTx/>
                <a:latin typeface="Calibri" panose="020F0502020204030204"/>
                <a:ea typeface="+mn-ea"/>
                <a:cs typeface="+mn-cs"/>
              </a:rPr>
              <a:t>Oscillator Fundamental</a:t>
            </a:r>
            <a:endParaRPr kumimoji="0" lang="en-US" sz="3600" b="0" i="0" u="none" strike="noStrike" kern="1200" cap="none" spc="-10" normalizeH="0" baseline="0" noProof="0" dirty="0">
              <a:ln>
                <a:noFill/>
              </a:ln>
              <a:solidFill>
                <a:srgbClr val="FFC000">
                  <a:lumMod val="50000"/>
                </a:srgbClr>
              </a:solidFill>
              <a:effectLst/>
              <a:uLnTx/>
              <a:uFillTx/>
              <a:latin typeface="Calibri" panose="020F0502020204030204"/>
              <a:ea typeface="+mn-ea"/>
              <a:cs typeface="+mn-cs"/>
            </a:endParaRPr>
          </a:p>
          <a:p>
            <a:pPr marL="1928495" marR="1921510" lvl="0" indent="-1270" algn="ctr" defTabSz="914400" rtl="0" eaLnBrk="1" fontAlgn="auto" latinLnBrk="0" hangingPunct="1">
              <a:lnSpc>
                <a:spcPts val="3890"/>
              </a:lnSpc>
              <a:spcBef>
                <a:spcPts val="5"/>
              </a:spcBef>
              <a:spcAft>
                <a:spcPts val="0"/>
              </a:spcAft>
              <a:buClrTx/>
              <a:buSzTx/>
              <a:buFontTx/>
              <a:buNone/>
              <a:tabLst/>
              <a:defRPr/>
            </a:pPr>
            <a:endParaRPr kumimoji="0" lang="en-US" sz="3600" b="0" i="0" u="none" strike="noStrike" kern="1200" cap="none" spc="-10" normalizeH="0" baseline="0" noProof="0" dirty="0" smtClean="0">
              <a:ln>
                <a:noFill/>
              </a:ln>
              <a:solidFill>
                <a:srgbClr val="FFC000">
                  <a:lumMod val="50000"/>
                </a:srgbClr>
              </a:solidFill>
              <a:effectLst/>
              <a:uLnTx/>
              <a:uFillTx/>
              <a:latin typeface="Calibri" panose="020F0502020204030204"/>
              <a:ea typeface="+mn-ea"/>
              <a:cs typeface="+mn-cs"/>
            </a:endParaRPr>
          </a:p>
          <a:p>
            <a:pPr marL="1928495" marR="1921510" lvl="0" indent="-1270" algn="ctr" defTabSz="914400" rtl="0" eaLnBrk="1" fontAlgn="auto" latinLnBrk="0" hangingPunct="1">
              <a:lnSpc>
                <a:spcPts val="3890"/>
              </a:lnSpc>
              <a:spcBef>
                <a:spcPts val="5"/>
              </a:spcBef>
              <a:spcAft>
                <a:spcPts val="0"/>
              </a:spcAft>
              <a:buClrTx/>
              <a:buSzTx/>
              <a:buFontTx/>
              <a:buNone/>
              <a:tabLst/>
              <a:defRPr/>
            </a:pPr>
            <a:r>
              <a:rPr kumimoji="0" lang="en-US" sz="2800" b="0" i="1" u="none" strike="noStrike" kern="0" cap="none" spc="0" normalizeH="0" baseline="0" noProof="0" dirty="0" smtClean="0">
                <a:ln>
                  <a:noFill/>
                </a:ln>
                <a:solidFill>
                  <a:prstClr val="black"/>
                </a:solidFill>
                <a:effectLst/>
                <a:uLnTx/>
                <a:uFillTx/>
                <a:latin typeface="Arial"/>
                <a:ea typeface="+mn-ea"/>
                <a:cs typeface="Arial"/>
              </a:rPr>
              <a:t> </a:t>
            </a:r>
            <a:r>
              <a:rPr kumimoji="0" sz="3200" b="1" i="0" u="none" strike="noStrike" kern="0" cap="none" spc="0" normalizeH="0" baseline="0" noProof="0" dirty="0" smtClean="0">
                <a:ln>
                  <a:noFill/>
                </a:ln>
                <a:solidFill>
                  <a:srgbClr val="00B050"/>
                </a:solidFill>
                <a:effectLst/>
                <a:uLnTx/>
                <a:uFillTx/>
                <a:latin typeface="Calibri Light"/>
                <a:ea typeface="+mn-ea"/>
                <a:cs typeface="Calibri Light"/>
              </a:rPr>
              <a:t>Dr.</a:t>
            </a:r>
            <a:r>
              <a:rPr kumimoji="0" sz="3200" b="1" i="0" u="none" strike="noStrike" kern="0" cap="none" spc="-75" normalizeH="0" baseline="0" noProof="0" dirty="0" smtClean="0">
                <a:ln>
                  <a:noFill/>
                </a:ln>
                <a:solidFill>
                  <a:srgbClr val="00B050"/>
                </a:solidFill>
                <a:effectLst/>
                <a:uLnTx/>
                <a:uFillTx/>
                <a:latin typeface="Calibri Light"/>
                <a:ea typeface="+mn-ea"/>
                <a:cs typeface="Calibri Light"/>
              </a:rPr>
              <a:t> </a:t>
            </a:r>
            <a:r>
              <a:rPr kumimoji="0" lang="en-US" sz="3200" b="1" i="0" u="none" strike="noStrike" kern="0" cap="none" spc="-30" normalizeH="0" baseline="0" noProof="0" dirty="0" smtClean="0">
                <a:ln>
                  <a:noFill/>
                </a:ln>
                <a:solidFill>
                  <a:srgbClr val="00B050"/>
                </a:solidFill>
                <a:effectLst/>
                <a:uLnTx/>
                <a:uFillTx/>
                <a:latin typeface="Calibri Light"/>
                <a:ea typeface="+mn-ea"/>
                <a:cs typeface="Calibri Light"/>
              </a:rPr>
              <a:t>Neeraj Mishra</a:t>
            </a:r>
            <a:endParaRPr kumimoji="0" sz="3200" b="1" i="0" u="none" strike="noStrike" kern="0" cap="none" spc="0" normalizeH="0" baseline="0" noProof="0" dirty="0" smtClean="0">
              <a:ln>
                <a:noFill/>
              </a:ln>
              <a:solidFill>
                <a:srgbClr val="00B050"/>
              </a:solidFill>
              <a:effectLst/>
              <a:uLnTx/>
              <a:uFillTx/>
              <a:latin typeface="Calibri Light"/>
              <a:ea typeface="+mn-ea"/>
              <a:cs typeface="Calibri Light"/>
            </a:endParaRPr>
          </a:p>
          <a:p>
            <a:pPr marL="0" marR="0" lvl="0" indent="0" algn="ctr" defTabSz="914400" rtl="0" eaLnBrk="1" fontAlgn="auto" latinLnBrk="0" hangingPunct="1">
              <a:lnSpc>
                <a:spcPct val="100000"/>
              </a:lnSpc>
              <a:spcBef>
                <a:spcPts val="1135"/>
              </a:spcBef>
              <a:spcAft>
                <a:spcPts val="0"/>
              </a:spcAft>
              <a:buClrTx/>
              <a:buSzTx/>
              <a:buFontTx/>
              <a:buNone/>
              <a:tabLst/>
              <a:defRPr/>
            </a:pPr>
            <a:r>
              <a:rPr kumimoji="0" lang="en-US" sz="2400" b="0" i="0" u="none" strike="noStrike" kern="0" cap="none" spc="-10" normalizeH="0" baseline="0" noProof="0" dirty="0" smtClean="0">
                <a:ln>
                  <a:noFill/>
                </a:ln>
                <a:solidFill>
                  <a:srgbClr val="FF0000"/>
                </a:solidFill>
                <a:effectLst/>
                <a:uLnTx/>
                <a:uFillTx/>
                <a:latin typeface="Calibri Light"/>
                <a:ea typeface="+mn-ea"/>
                <a:cs typeface="Calibri Light"/>
              </a:rPr>
              <a:t>High Performance Electronics Lab</a:t>
            </a:r>
            <a:endParaRPr kumimoji="0" sz="2400" b="0" i="0" u="none" strike="noStrike" kern="0" cap="none" spc="0" normalizeH="0" baseline="0" noProof="0" dirty="0">
              <a:ln>
                <a:noFill/>
              </a:ln>
              <a:solidFill>
                <a:srgbClr val="FF0000"/>
              </a:solidFill>
              <a:effectLst/>
              <a:uLnTx/>
              <a:uFillTx/>
              <a:latin typeface="Calibri Light"/>
              <a:ea typeface="+mn-ea"/>
              <a:cs typeface="Calibri Ligh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smtClean="0">
                <a:ln>
                  <a:noFill/>
                </a:ln>
                <a:solidFill>
                  <a:srgbClr val="FF0000"/>
                </a:solidFill>
                <a:effectLst/>
                <a:uLnTx/>
                <a:uFillTx/>
                <a:latin typeface="Calibri Light"/>
                <a:ea typeface="+mn-ea"/>
                <a:cs typeface="Calibri Light"/>
              </a:rPr>
              <a:t>Electrical &amp; </a:t>
            </a:r>
            <a:r>
              <a:rPr kumimoji="0" sz="2400" b="0" i="0" u="none" strike="noStrike" kern="0" cap="none" spc="0" normalizeH="0" baseline="0" noProof="0" dirty="0" smtClean="0">
                <a:ln>
                  <a:noFill/>
                </a:ln>
                <a:solidFill>
                  <a:srgbClr val="FF0000"/>
                </a:solidFill>
                <a:effectLst/>
                <a:uLnTx/>
                <a:uFillTx/>
                <a:latin typeface="Calibri Light"/>
                <a:ea typeface="+mn-ea"/>
                <a:cs typeface="Calibri Light"/>
              </a:rPr>
              <a:t>Electronic</a:t>
            </a:r>
            <a:r>
              <a:rPr kumimoji="0" lang="en-US" sz="2400" b="0" i="0" u="none" strike="noStrike" kern="0" cap="none" spc="0" normalizeH="0" baseline="0" noProof="0" dirty="0" smtClean="0">
                <a:ln>
                  <a:noFill/>
                </a:ln>
                <a:solidFill>
                  <a:srgbClr val="FF0000"/>
                </a:solidFill>
                <a:effectLst/>
                <a:uLnTx/>
                <a:uFillTx/>
                <a:latin typeface="Calibri Light"/>
                <a:ea typeface="+mn-ea"/>
                <a:cs typeface="Calibri Light"/>
              </a:rPr>
              <a:t>s</a:t>
            </a:r>
            <a:r>
              <a:rPr kumimoji="0" sz="2400" b="0" i="0" u="none" strike="noStrike" kern="0" cap="none" spc="-40" normalizeH="0" baseline="0" noProof="0" dirty="0" smtClean="0">
                <a:ln>
                  <a:noFill/>
                </a:ln>
                <a:solidFill>
                  <a:srgbClr val="FF0000"/>
                </a:solidFill>
                <a:effectLst/>
                <a:uLnTx/>
                <a:uFillTx/>
                <a:latin typeface="Calibri Light"/>
                <a:ea typeface="+mn-ea"/>
                <a:cs typeface="Calibri Light"/>
              </a:rPr>
              <a:t> </a:t>
            </a:r>
            <a:r>
              <a:rPr kumimoji="0" sz="2400" b="0" i="0" u="none" strike="noStrike" kern="0" cap="none" spc="0" normalizeH="0" baseline="0" noProof="0" dirty="0">
                <a:ln>
                  <a:noFill/>
                </a:ln>
                <a:solidFill>
                  <a:srgbClr val="FF0000"/>
                </a:solidFill>
                <a:effectLst/>
                <a:uLnTx/>
                <a:uFillTx/>
                <a:latin typeface="Calibri Light"/>
                <a:ea typeface="+mn-ea"/>
                <a:cs typeface="Calibri Light"/>
              </a:rPr>
              <a:t>Eng.</a:t>
            </a:r>
            <a:r>
              <a:rPr kumimoji="0" sz="2400" b="0" i="0" u="none" strike="noStrike" kern="0" cap="none" spc="-55" normalizeH="0" baseline="0" noProof="0" dirty="0">
                <a:ln>
                  <a:noFill/>
                </a:ln>
                <a:solidFill>
                  <a:srgbClr val="FF0000"/>
                </a:solidFill>
                <a:effectLst/>
                <a:uLnTx/>
                <a:uFillTx/>
                <a:latin typeface="Calibri Light"/>
                <a:ea typeface="+mn-ea"/>
                <a:cs typeface="Calibri Light"/>
              </a:rPr>
              <a:t> </a:t>
            </a:r>
            <a:r>
              <a:rPr kumimoji="0" sz="2400" b="0" i="0" u="none" strike="noStrike" kern="0" cap="none" spc="-10" normalizeH="0" baseline="0" noProof="0" dirty="0">
                <a:ln>
                  <a:noFill/>
                </a:ln>
                <a:solidFill>
                  <a:srgbClr val="FF0000"/>
                </a:solidFill>
                <a:effectLst/>
                <a:uLnTx/>
                <a:uFillTx/>
                <a:latin typeface="Calibri Light"/>
                <a:ea typeface="+mn-ea"/>
                <a:cs typeface="Calibri Light"/>
              </a:rPr>
              <a:t>Dept.</a:t>
            </a:r>
            <a:endParaRPr kumimoji="0" sz="2400" b="0" i="0" u="none" strike="noStrike" kern="0" cap="none" spc="0" normalizeH="0" baseline="0" noProof="0" dirty="0">
              <a:ln>
                <a:noFill/>
              </a:ln>
              <a:solidFill>
                <a:srgbClr val="FF0000"/>
              </a:solidFill>
              <a:effectLst/>
              <a:uLnTx/>
              <a:uFillTx/>
              <a:latin typeface="Calibri Light"/>
              <a:ea typeface="+mn-ea"/>
              <a:cs typeface="Calibri Light"/>
            </a:endParaRPr>
          </a:p>
          <a:p>
            <a:pPr marL="1697355" marR="169418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10" normalizeH="0" baseline="0" noProof="0" dirty="0" smtClean="0">
                <a:ln>
                  <a:noFill/>
                </a:ln>
                <a:solidFill>
                  <a:srgbClr val="FF0000"/>
                </a:solidFill>
                <a:effectLst/>
                <a:uLnTx/>
                <a:uFillTx/>
                <a:latin typeface="Calibri Light"/>
                <a:ea typeface="+mn-ea"/>
                <a:cs typeface="Calibri Light"/>
              </a:rPr>
              <a:t>Birla Institute of Technology &amp; Science </a:t>
            </a:r>
            <a:r>
              <a:rPr kumimoji="0" lang="en-US" sz="2400" b="0" i="0" u="none" strike="noStrike" kern="0" cap="none" spc="-10" normalizeH="0" baseline="0" noProof="0" dirty="0" err="1" smtClean="0">
                <a:ln>
                  <a:noFill/>
                </a:ln>
                <a:solidFill>
                  <a:srgbClr val="FF0000"/>
                </a:solidFill>
                <a:effectLst/>
                <a:uLnTx/>
                <a:uFillTx/>
                <a:latin typeface="Calibri Light"/>
                <a:ea typeface="+mn-ea"/>
                <a:cs typeface="Calibri Light"/>
              </a:rPr>
              <a:t>Pilani</a:t>
            </a:r>
            <a:r>
              <a:rPr kumimoji="0" lang="en-US" sz="2400" b="0" i="0" u="none" strike="noStrike" kern="0" cap="none" spc="-10" normalizeH="0" baseline="0" noProof="0" dirty="0" smtClean="0">
                <a:ln>
                  <a:noFill/>
                </a:ln>
                <a:solidFill>
                  <a:srgbClr val="FF0000"/>
                </a:solidFill>
                <a:effectLst/>
                <a:uLnTx/>
                <a:uFillTx/>
                <a:latin typeface="Calibri Light"/>
                <a:ea typeface="+mn-ea"/>
                <a:cs typeface="Calibri Light"/>
              </a:rPr>
              <a:t>, </a:t>
            </a:r>
            <a:r>
              <a:rPr kumimoji="0" lang="en-US" sz="2400" b="0" i="0" u="none" strike="noStrike" kern="0" cap="none" spc="-10" normalizeH="0" baseline="0" noProof="0" dirty="0" err="1" smtClean="0">
                <a:ln>
                  <a:noFill/>
                </a:ln>
                <a:solidFill>
                  <a:srgbClr val="FF0000"/>
                </a:solidFill>
                <a:effectLst/>
                <a:uLnTx/>
                <a:uFillTx/>
                <a:latin typeface="Calibri Light"/>
                <a:ea typeface="+mn-ea"/>
                <a:cs typeface="Calibri Light"/>
              </a:rPr>
              <a:t>Pilani</a:t>
            </a:r>
            <a:r>
              <a:rPr kumimoji="0" lang="en-US" sz="2400" b="0" i="0" u="none" strike="noStrike" kern="0" cap="none" spc="-10" normalizeH="0" baseline="0" noProof="0" dirty="0" smtClean="0">
                <a:ln>
                  <a:noFill/>
                </a:ln>
                <a:solidFill>
                  <a:srgbClr val="FF0000"/>
                </a:solidFill>
                <a:effectLst/>
                <a:uLnTx/>
                <a:uFillTx/>
                <a:latin typeface="Calibri Light"/>
                <a:ea typeface="+mn-ea"/>
                <a:cs typeface="Calibri Light"/>
              </a:rPr>
              <a:t> Campus</a:t>
            </a:r>
            <a:endParaRPr kumimoji="0" sz="2400" b="0" i="0" u="none" strike="noStrike" kern="0" cap="none" spc="0" normalizeH="0" baseline="0" noProof="0" dirty="0">
              <a:ln>
                <a:noFill/>
              </a:ln>
              <a:solidFill>
                <a:srgbClr val="FF0000"/>
              </a:solidFill>
              <a:effectLst/>
              <a:uLnTx/>
              <a:uFillTx/>
              <a:latin typeface="Calibri Light"/>
              <a:ea typeface="+mn-ea"/>
              <a:cs typeface="Calibri Light"/>
            </a:endParaRPr>
          </a:p>
        </p:txBody>
      </p:sp>
      <p:sp>
        <p:nvSpPr>
          <p:cNvPr id="5" name="object 3"/>
          <p:cNvSpPr/>
          <p:nvPr/>
        </p:nvSpPr>
        <p:spPr>
          <a:xfrm>
            <a:off x="10667" y="995172"/>
            <a:ext cx="12171045" cy="91440"/>
          </a:xfrm>
          <a:custGeom>
            <a:avLst/>
            <a:gdLst/>
            <a:ahLst/>
            <a:cxnLst/>
            <a:rect l="l" t="t" r="r" b="b"/>
            <a:pathLst>
              <a:path w="12171045" h="91440">
                <a:moveTo>
                  <a:pt x="12170664" y="0"/>
                </a:moveTo>
                <a:lnTo>
                  <a:pt x="0" y="0"/>
                </a:lnTo>
                <a:lnTo>
                  <a:pt x="0" y="91439"/>
                </a:lnTo>
                <a:lnTo>
                  <a:pt x="12170664" y="91439"/>
                </a:lnTo>
                <a:lnTo>
                  <a:pt x="12170664" y="0"/>
                </a:lnTo>
                <a:close/>
              </a:path>
            </a:pathLst>
          </a:custGeom>
          <a:solidFill>
            <a:srgbClr val="EEB5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latin typeface="Calibri" panose="020F0502020204030204"/>
              <a:ea typeface="+mn-ea"/>
              <a:cs typeface="+mn-cs"/>
            </a:endParaRPr>
          </a:p>
        </p:txBody>
      </p:sp>
      <p:sp>
        <p:nvSpPr>
          <p:cNvPr id="6" name="object 4"/>
          <p:cNvSpPr/>
          <p:nvPr/>
        </p:nvSpPr>
        <p:spPr>
          <a:xfrm>
            <a:off x="10667" y="2235707"/>
            <a:ext cx="12171045" cy="91440"/>
          </a:xfrm>
          <a:custGeom>
            <a:avLst/>
            <a:gdLst/>
            <a:ahLst/>
            <a:cxnLst/>
            <a:rect l="l" t="t" r="r" b="b"/>
            <a:pathLst>
              <a:path w="12171045" h="91439">
                <a:moveTo>
                  <a:pt x="12170664" y="0"/>
                </a:moveTo>
                <a:lnTo>
                  <a:pt x="0" y="0"/>
                </a:lnTo>
                <a:lnTo>
                  <a:pt x="0" y="91439"/>
                </a:lnTo>
                <a:lnTo>
                  <a:pt x="12170664" y="91439"/>
                </a:lnTo>
                <a:lnTo>
                  <a:pt x="12170664" y="0"/>
                </a:lnTo>
                <a:close/>
              </a:path>
            </a:pathLst>
          </a:custGeom>
          <a:solidFill>
            <a:srgbClr val="91BCE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latin typeface="Calibri" panose="020F0502020204030204"/>
              <a:ea typeface="+mn-ea"/>
              <a:cs typeface="+mn-cs"/>
            </a:endParaRPr>
          </a:p>
        </p:txBody>
      </p:sp>
      <p:sp>
        <p:nvSpPr>
          <p:cNvPr id="7" name="object 5"/>
          <p:cNvSpPr/>
          <p:nvPr/>
        </p:nvSpPr>
        <p:spPr>
          <a:xfrm>
            <a:off x="20955" y="4283977"/>
            <a:ext cx="12171045" cy="91440"/>
          </a:xfrm>
          <a:custGeom>
            <a:avLst/>
            <a:gdLst/>
            <a:ahLst/>
            <a:cxnLst/>
            <a:rect l="l" t="t" r="r" b="b"/>
            <a:pathLst>
              <a:path w="12171045" h="91439">
                <a:moveTo>
                  <a:pt x="12170664" y="0"/>
                </a:moveTo>
                <a:lnTo>
                  <a:pt x="0" y="0"/>
                </a:lnTo>
                <a:lnTo>
                  <a:pt x="0" y="91439"/>
                </a:lnTo>
                <a:lnTo>
                  <a:pt x="12170664" y="91439"/>
                </a:lnTo>
                <a:lnTo>
                  <a:pt x="12170664" y="0"/>
                </a:lnTo>
                <a:close/>
              </a:path>
            </a:pathLst>
          </a:custGeom>
          <a:solidFill>
            <a:srgbClr val="FF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latin typeface="Calibri" panose="020F0502020204030204"/>
              <a:ea typeface="+mn-ea"/>
              <a:cs typeface="+mn-cs"/>
            </a:endParaRPr>
          </a:p>
        </p:txBody>
      </p:sp>
      <p:pic>
        <p:nvPicPr>
          <p:cNvPr id="10" name="Picture 9"/>
          <p:cNvPicPr>
            <a:picLocks noChangeAspect="1"/>
          </p:cNvPicPr>
          <p:nvPr/>
        </p:nvPicPr>
        <p:blipFill>
          <a:blip r:embed="rId3"/>
          <a:stretch>
            <a:fillRect/>
          </a:stretch>
        </p:blipFill>
        <p:spPr>
          <a:xfrm>
            <a:off x="97196" y="87966"/>
            <a:ext cx="3093560" cy="802320"/>
          </a:xfrm>
          <a:prstGeom prst="rect">
            <a:avLst/>
          </a:prstGeom>
        </p:spPr>
      </p:pic>
      <p:pic>
        <p:nvPicPr>
          <p:cNvPr id="11" name="Picture 10"/>
          <p:cNvPicPr>
            <a:picLocks noChangeAspect="1"/>
          </p:cNvPicPr>
          <p:nvPr/>
        </p:nvPicPr>
        <p:blipFill>
          <a:blip r:embed="rId4"/>
          <a:stretch>
            <a:fillRect/>
          </a:stretch>
        </p:blipFill>
        <p:spPr>
          <a:xfrm>
            <a:off x="9078410" y="5828120"/>
            <a:ext cx="3113590" cy="1029880"/>
          </a:xfrm>
          <a:prstGeom prst="rect">
            <a:avLst/>
          </a:prstGeom>
        </p:spPr>
      </p:pic>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pic>
        <p:nvPicPr>
          <p:cNvPr id="12" name="Picture 11"/>
          <p:cNvPicPr>
            <a:picLocks noChangeAspect="1"/>
          </p:cNvPicPr>
          <p:nvPr/>
        </p:nvPicPr>
        <p:blipFill>
          <a:blip r:embed="rId5">
            <a:grayscl/>
            <a:extLst>
              <a:ext uri="{BEBA8EAE-BF5A-486C-A8C5-ECC9F3942E4B}">
                <a14:imgProps xmlns:a14="http://schemas.microsoft.com/office/drawing/2010/main">
                  <a14:imgLayer r:embed="rId6">
                    <a14:imgEffect>
                      <a14:colorTemperature colorTemp="7200"/>
                    </a14:imgEffect>
                    <a14:imgEffect>
                      <a14:brightnessContrast bright="40000" contrast="40000"/>
                    </a14:imgEffect>
                  </a14:imgLayer>
                </a14:imgProps>
              </a:ext>
            </a:extLst>
          </a:blip>
          <a:stretch>
            <a:fillRect/>
          </a:stretch>
        </p:blipFill>
        <p:spPr>
          <a:xfrm>
            <a:off x="9982200" y="0"/>
            <a:ext cx="2209800" cy="1657350"/>
          </a:xfrm>
          <a:prstGeom prst="rect">
            <a:avLst/>
          </a:prstGeom>
        </p:spPr>
      </p:pic>
    </p:spTree>
    <p:extLst>
      <p:ext uri="{BB962C8B-B14F-4D97-AF65-F5344CB8AC3E}">
        <p14:creationId xmlns:p14="http://schemas.microsoft.com/office/powerpoint/2010/main" val="42893432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Oscillator Essentials for PLL</a:t>
            </a:r>
          </a:p>
        </p:txBody>
      </p:sp>
      <p:sp>
        <p:nvSpPr>
          <p:cNvPr id="3" name="Text Placeholder 2"/>
          <p:cNvSpPr>
            <a:spLocks noGrp="1"/>
          </p:cNvSpPr>
          <p:nvPr>
            <p:ph type="body" idx="1"/>
          </p:nvPr>
        </p:nvSpPr>
        <p:spPr>
          <a:xfrm>
            <a:off x="844550" y="1327353"/>
            <a:ext cx="10627871" cy="2154436"/>
          </a:xfrm>
        </p:spPr>
        <p:txBody>
          <a:bodyPr/>
          <a:lstStyle/>
          <a:p>
            <a:pPr algn="just"/>
            <a:r>
              <a:rPr lang="en-US" dirty="0"/>
              <a:t>The oscillator is the heartbeat of every PLL, and </a:t>
            </a:r>
            <a:endParaRPr lang="en-US" dirty="0" smtClean="0"/>
          </a:p>
          <a:p>
            <a:pPr marL="342900" indent="-342900" algn="just">
              <a:buFont typeface="Arial" panose="020B0604020202020204" pitchFamily="34" charset="0"/>
              <a:buChar char="•"/>
            </a:pPr>
            <a:r>
              <a:rPr lang="en-US" dirty="0"/>
              <a:t>I</a:t>
            </a:r>
            <a:r>
              <a:rPr lang="en-US" dirty="0" smtClean="0"/>
              <a:t>ts </a:t>
            </a:r>
            <a:r>
              <a:rPr lang="en-US" dirty="0"/>
              <a:t>principles provide the backbone for understanding complex timing and frequency control systems. </a:t>
            </a:r>
            <a:endParaRPr lang="en-US" dirty="0" smtClean="0"/>
          </a:p>
          <a:p>
            <a:pPr marL="342900" indent="-342900" algn="just">
              <a:buFont typeface="Arial" panose="020B0604020202020204" pitchFamily="34" charset="0"/>
              <a:buChar char="•"/>
            </a:pPr>
            <a:r>
              <a:rPr lang="en-US" dirty="0" smtClean="0"/>
              <a:t>The </a:t>
            </a:r>
            <a:r>
              <a:rPr lang="en-US" dirty="0"/>
              <a:t>pendulum analogy introduces the idea of oscillation as a cycle of energy conversion—potential to kinetic and back—highlighting the natural tendency of oscillatory systems to maintain regular, predictable cycles unless disrupted by losses (e.g., friction, air resistance).</a:t>
            </a: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r="3988"/>
          <a:stretch/>
        </p:blipFill>
        <p:spPr>
          <a:xfrm>
            <a:off x="3561376" y="3645942"/>
            <a:ext cx="4610856" cy="1882016"/>
          </a:xfrm>
          <a:prstGeom prst="rect">
            <a:avLst/>
          </a:prstGeom>
        </p:spPr>
      </p:pic>
    </p:spTree>
    <p:extLst>
      <p:ext uri="{BB962C8B-B14F-4D97-AF65-F5344CB8AC3E}">
        <p14:creationId xmlns:p14="http://schemas.microsoft.com/office/powerpoint/2010/main" val="343605113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Oscillator </a:t>
            </a:r>
            <a:r>
              <a:rPr lang="en-US" dirty="0" smtClean="0"/>
              <a:t>Essentials</a:t>
            </a:r>
            <a:endParaRPr lang="en-US" dirty="0"/>
          </a:p>
        </p:txBody>
      </p:sp>
      <p:sp>
        <p:nvSpPr>
          <p:cNvPr id="3" name="Text Placeholder 2"/>
          <p:cNvSpPr>
            <a:spLocks noGrp="1"/>
          </p:cNvSpPr>
          <p:nvPr>
            <p:ph type="body" idx="1"/>
          </p:nvPr>
        </p:nvSpPr>
        <p:spPr>
          <a:xfrm>
            <a:off x="844549" y="1327353"/>
            <a:ext cx="10834653" cy="3077766"/>
          </a:xfrm>
        </p:spPr>
        <p:txBody>
          <a:bodyPr/>
          <a:lstStyle/>
          <a:p>
            <a:pPr marL="342900" indent="-342900" algn="just">
              <a:buFont typeface="Wingdings" panose="05000000000000000000" pitchFamily="2" charset="2"/>
              <a:buChar char="q"/>
            </a:pPr>
            <a:r>
              <a:rPr lang="en-US" dirty="0">
                <a:latin typeface="fkGroteskNeue"/>
              </a:rPr>
              <a:t>Oscillation arises from </a:t>
            </a:r>
            <a:r>
              <a:rPr lang="en-US" b="1" dirty="0">
                <a:latin typeface="fkGroteskNeue"/>
              </a:rPr>
              <a:t>energy balance and feedback</a:t>
            </a:r>
            <a:r>
              <a:rPr lang="en-US" dirty="0">
                <a:latin typeface="fkGroteskNeue"/>
              </a:rPr>
              <a:t>: Initial energy (displacement or charge) starts oscillation; kinetic and potential forms alternate.</a:t>
            </a:r>
          </a:p>
          <a:p>
            <a:pPr marL="342900" indent="-342900" algn="just">
              <a:buFont typeface="Wingdings" panose="05000000000000000000" pitchFamily="2" charset="2"/>
              <a:buChar char="q"/>
            </a:pPr>
            <a:r>
              <a:rPr lang="en-US" dirty="0">
                <a:latin typeface="fkGroteskNeue"/>
              </a:rPr>
              <a:t>Real systems lose energy due to imperfections—without feedback, oscillation fades. In PLLs, electronic “feedback” circuits sustain oscillation and control frequency.</a:t>
            </a:r>
          </a:p>
          <a:p>
            <a:pPr marL="342900" indent="-342900" algn="just">
              <a:buFont typeface="Wingdings" panose="05000000000000000000" pitchFamily="2" charset="2"/>
              <a:buChar char="q"/>
            </a:pPr>
            <a:r>
              <a:rPr lang="en-US" b="1" dirty="0">
                <a:latin typeface="fkGroteskNeue"/>
              </a:rPr>
              <a:t>Critical takeaway</a:t>
            </a:r>
            <a:r>
              <a:rPr lang="en-US" dirty="0">
                <a:latin typeface="fkGroteskNeue"/>
              </a:rPr>
              <a:t>: The period (frequency) of oscillation is set by system properties (e.g., in electronics, by inductance and capacitance, in mechanics by pendulum length). This fundamental independence from amplitude forms the foundation for stable timing in PLLs.</a:t>
            </a:r>
          </a:p>
          <a:p>
            <a:pPr marL="342900" indent="-342900" algn="just">
              <a:buFont typeface="Wingdings" panose="05000000000000000000" pitchFamily="2" charset="2"/>
              <a:buChar char="q"/>
            </a:pPr>
            <a:r>
              <a:rPr lang="en-US" dirty="0">
                <a:latin typeface="fkGroteskNeue"/>
              </a:rPr>
              <a:t>In “lossless” systems, introducing energy at just the right frequency makes oscillations grow without bound, showcasing resonant amplification—a key concept in both analog oscillators and PLL loop dynamics</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4238077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Pendulum and Electronic Oscillators for </a:t>
            </a:r>
            <a:r>
              <a:rPr lang="en-US" dirty="0" smtClean="0"/>
              <a:t>PLLs</a:t>
            </a:r>
            <a:endParaRPr lang="en-US" dirty="0"/>
          </a:p>
        </p:txBody>
      </p:sp>
      <p:sp>
        <p:nvSpPr>
          <p:cNvPr id="3" name="Text Placeholder 2"/>
          <p:cNvSpPr>
            <a:spLocks noGrp="1"/>
          </p:cNvSpPr>
          <p:nvPr>
            <p:ph type="body" idx="1"/>
          </p:nvPr>
        </p:nvSpPr>
        <p:spPr>
          <a:xfrm>
            <a:off x="844550" y="1327353"/>
            <a:ext cx="6542212" cy="4616648"/>
          </a:xfrm>
        </p:spPr>
        <p:txBody>
          <a:bodyPr/>
          <a:lstStyle/>
          <a:p>
            <a:pPr marL="342900" indent="-342900" algn="just">
              <a:buFont typeface="Arial" panose="020B0604020202020204" pitchFamily="34" charset="0"/>
              <a:buChar char="•"/>
            </a:pPr>
            <a:r>
              <a:rPr lang="en-US" dirty="0"/>
              <a:t>A pendulum swings back and forth by continuously converting between </a:t>
            </a:r>
            <a:r>
              <a:rPr lang="en-US" b="1" i="1" dirty="0">
                <a:solidFill>
                  <a:srgbClr val="FF0000"/>
                </a:solidFill>
              </a:rPr>
              <a:t>potential energy</a:t>
            </a:r>
            <a:r>
              <a:rPr lang="en-US" b="1" dirty="0">
                <a:solidFill>
                  <a:srgbClr val="FF0000"/>
                </a:solidFill>
              </a:rPr>
              <a:t> (highest at the endpoints) and </a:t>
            </a:r>
            <a:r>
              <a:rPr lang="en-US" b="1" i="1" dirty="0">
                <a:solidFill>
                  <a:srgbClr val="FF0000"/>
                </a:solidFill>
              </a:rPr>
              <a:t>kinetic energy</a:t>
            </a:r>
            <a:r>
              <a:rPr lang="en-US" b="1" dirty="0">
                <a:solidFill>
                  <a:srgbClr val="FF0000"/>
                </a:solidFill>
              </a:rPr>
              <a:t> (highest at the center)</a:t>
            </a:r>
            <a:r>
              <a:rPr lang="en-US" dirty="0"/>
              <a:t>. </a:t>
            </a:r>
            <a:endParaRPr lang="en-US" dirty="0" smtClean="0"/>
          </a:p>
          <a:p>
            <a:pPr marL="342900" indent="-342900" algn="just">
              <a:buFont typeface="Arial" panose="020B0604020202020204" pitchFamily="34" charset="0"/>
              <a:buChar char="•"/>
            </a:pPr>
            <a:r>
              <a:rPr lang="en-US" dirty="0" smtClean="0"/>
              <a:t>This </a:t>
            </a:r>
            <a:r>
              <a:rPr lang="en-US" dirty="0"/>
              <a:t>cycle of energy transfer is called simple harmonic motion. </a:t>
            </a:r>
            <a:endParaRPr lang="en-US" dirty="0" smtClean="0"/>
          </a:p>
          <a:p>
            <a:pPr marL="342900" indent="-342900" algn="just">
              <a:buFont typeface="Arial" panose="020B0604020202020204" pitchFamily="34" charset="0"/>
              <a:buChar char="•"/>
            </a:pPr>
            <a:r>
              <a:rPr lang="en-US" dirty="0" smtClean="0"/>
              <a:t>In </a:t>
            </a:r>
            <a:r>
              <a:rPr lang="en-US" dirty="0"/>
              <a:t>electronics, an LC circuit (inductor-capacitor) also shuttles energy, but between </a:t>
            </a:r>
            <a:r>
              <a:rPr lang="en-US" i="1" dirty="0"/>
              <a:t>magnetic energy</a:t>
            </a:r>
            <a:r>
              <a:rPr lang="en-US" dirty="0"/>
              <a:t> (inductor) and </a:t>
            </a:r>
            <a:r>
              <a:rPr lang="en-US" i="1" dirty="0"/>
              <a:t>electric energy</a:t>
            </a:r>
            <a:r>
              <a:rPr lang="en-US" dirty="0"/>
              <a:t> (capacitor) as current and voltage oscillate. </a:t>
            </a:r>
            <a:endParaRPr lang="en-US" dirty="0" smtClean="0"/>
          </a:p>
          <a:p>
            <a:pPr marL="342900" indent="-342900" algn="just">
              <a:buFont typeface="Arial" panose="020B0604020202020204" pitchFamily="34" charset="0"/>
              <a:buChar char="•"/>
            </a:pPr>
            <a:r>
              <a:rPr lang="en-US" dirty="0" smtClean="0"/>
              <a:t>Mathematically</a:t>
            </a:r>
            <a:r>
              <a:rPr lang="en-US" dirty="0"/>
              <a:t>, both systems are governed by similar second-order differential equations. So, understanding a pendulum's movements helps students grasp energy exchange in oscillators.</a:t>
            </a: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r="3988"/>
          <a:stretch/>
        </p:blipFill>
        <p:spPr>
          <a:xfrm>
            <a:off x="7491029" y="1616558"/>
            <a:ext cx="4610856" cy="1882016"/>
          </a:xfrm>
          <a:prstGeom prst="rect">
            <a:avLst/>
          </a:prstGeom>
        </p:spPr>
      </p:pic>
      <p:sp>
        <p:nvSpPr>
          <p:cNvPr id="8" name="Rectangle 7"/>
          <p:cNvSpPr/>
          <p:nvPr/>
        </p:nvSpPr>
        <p:spPr>
          <a:xfrm>
            <a:off x="7531685" y="3638784"/>
            <a:ext cx="4660315" cy="369332"/>
          </a:xfrm>
          <a:prstGeom prst="rect">
            <a:avLst/>
          </a:prstGeom>
        </p:spPr>
        <p:txBody>
          <a:bodyPr wrap="none">
            <a:spAutoFit/>
          </a:bodyPr>
          <a:lstStyle/>
          <a:p>
            <a:r>
              <a:rPr lang="en-US" dirty="0">
                <a:solidFill>
                  <a:srgbClr val="231F20"/>
                </a:solidFill>
                <a:latin typeface="T3Font_76"/>
              </a:rPr>
              <a:t>A pendulum acting as an oscillatory system.</a:t>
            </a:r>
            <a:endParaRPr lang="en-US" dirty="0"/>
          </a:p>
        </p:txBody>
      </p:sp>
    </p:spTree>
    <p:extLst>
      <p:ext uri="{BB962C8B-B14F-4D97-AF65-F5344CB8AC3E}">
        <p14:creationId xmlns:p14="http://schemas.microsoft.com/office/powerpoint/2010/main" val="15160481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Physical Setup and Energy </a:t>
            </a:r>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971753"/>
                <a:ext cx="5730875" cy="4999830"/>
              </a:xfrm>
            </p:spPr>
            <p:txBody>
              <a:bodyPr/>
              <a:lstStyle/>
              <a:p>
                <a:pPr algn="ctr">
                  <a:spcBef>
                    <a:spcPts val="1575"/>
                  </a:spcBef>
                  <a:spcAft>
                    <a:spcPts val="525"/>
                  </a:spcAft>
                </a:pP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r>
                  <a:rPr lang="en-US" sz="1800" b="1" dirty="0">
                    <a:solidFill>
                      <a:srgbClr val="000000"/>
                    </a:solidFill>
                    <a:latin typeface="inter"/>
                    <a:ea typeface="inter"/>
                    <a:cs typeface="inter"/>
                  </a:rPr>
                  <a:t>Position 1 (Left Extreme):</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800" dirty="0">
                    <a:solidFill>
                      <a:srgbClr val="000000"/>
                    </a:solidFill>
                    <a:latin typeface="inter"/>
                    <a:ea typeface="inter"/>
                    <a:cs typeface="inter"/>
                  </a:rPr>
                  <a:t>At maximum angle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𝜃</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𝑚𝑎𝑥</m:t>
                        </m:r>
                      </m:sub>
                    </m:sSub>
                  </m:oMath>
                </a14:m>
                <a:r>
                  <a:rPr lang="en-US" sz="1800" dirty="0">
                    <a:solidFill>
                      <a:srgbClr val="000000"/>
                    </a:solidFill>
                    <a:latin typeface="inter"/>
                    <a:ea typeface="inter"/>
                    <a:cs typeface="inter"/>
                  </a:rPr>
                  <a:t> from vertical, the pendulum is momentarily at rest. The gravitational potential energy is maximum:</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𝑈</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𝑚𝑔h</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𝑚𝑔</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𝓁</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cos</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𝜃</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𝑚𝑎𝑥</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800" dirty="0">
                    <a:solidFill>
                      <a:srgbClr val="000000"/>
                    </a:solidFill>
                    <a:latin typeface="inter"/>
                    <a:ea typeface="inter"/>
                    <a:cs typeface="inter"/>
                  </a:rPr>
                  <a:t>For small angle approximation (</a:t>
                </a:r>
                <a14:m>
                  <m:oMath xmlns:m="http://schemas.openxmlformats.org/officeDocument/2006/math">
                    <m:r>
                      <m:rPr>
                        <m:sty m:val="p"/>
                      </m:rP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cos</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𝜃</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𝜃</m:t>
                        </m:r>
                      </m:e>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oMath>
                </a14:m>
                <a:r>
                  <a:rPr lang="en-US" sz="1800" dirty="0">
                    <a:solidFill>
                      <a:srgbClr val="000000"/>
                    </a:solidFill>
                    <a:latin typeface="inter"/>
                    <a:ea typeface="inter"/>
                    <a:cs typeface="inter"/>
                  </a:rPr>
                  <a:t>):</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𝑈</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𝑚𝑔</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𝓁</m:t>
                      </m:r>
                      <m:sSubSup>
                        <m:sSub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𝜃</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𝑚𝑎𝑥</m:t>
                          </m:r>
                        </m:sub>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800" dirty="0">
                    <a:solidFill>
                      <a:srgbClr val="000000"/>
                    </a:solidFill>
                    <a:latin typeface="inter"/>
                    <a:ea typeface="inter"/>
                    <a:cs typeface="inter"/>
                  </a:rPr>
                  <a:t>Kinetic energy: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𝐾</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r>
                  <a:rPr lang="en-US" sz="1800" dirty="0">
                    <a:solidFill>
                      <a:srgbClr val="000000"/>
                    </a:solidFill>
                    <a:latin typeface="inter"/>
                    <a:ea typeface="inter"/>
                    <a:cs typeface="inter"/>
                  </a:rPr>
                  <a:t> (velocity = 0 at turning point)</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800" b="1" dirty="0">
                    <a:solidFill>
                      <a:srgbClr val="000000"/>
                    </a:solidFill>
                    <a:latin typeface="inter"/>
                    <a:ea typeface="inter"/>
                    <a:cs typeface="inter"/>
                  </a:rPr>
                  <a:t>Total energy:</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𝐸</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𝑡𝑜𝑡𝑎𝑙</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𝑈</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𝑚𝑔</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𝓁</m:t>
                      </m:r>
                      <m:sSubSup>
                        <m:sSub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𝜃</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𝑚𝑎𝑥</m:t>
                          </m:r>
                        </m:sub>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endParaRPr lang="en-US" sz="18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971753"/>
                <a:ext cx="5730875" cy="4999830"/>
              </a:xfrm>
              <a:blipFill>
                <a:blip r:embed="rId2"/>
                <a:stretch>
                  <a:fillRect l="-2553" r="-2660"/>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25260" y="6568891"/>
            <a:ext cx="1326389" cy="16845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180594" y="649827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3"/>
          <a:srcRect r="3988"/>
          <a:stretch/>
        </p:blipFill>
        <p:spPr>
          <a:xfrm>
            <a:off x="7491029" y="1616558"/>
            <a:ext cx="4610856" cy="1882016"/>
          </a:xfrm>
          <a:prstGeom prst="rect">
            <a:avLst/>
          </a:prstGeom>
        </p:spPr>
      </p:pic>
      <p:sp>
        <p:nvSpPr>
          <p:cNvPr id="8" name="Rectangle 7"/>
          <p:cNvSpPr/>
          <p:nvPr/>
        </p:nvSpPr>
        <p:spPr>
          <a:xfrm>
            <a:off x="8839728" y="1032818"/>
            <a:ext cx="1827743" cy="461665"/>
          </a:xfrm>
          <a:prstGeom prst="rect">
            <a:avLst/>
          </a:prstGeom>
        </p:spPr>
        <p:txBody>
          <a:bodyPr wrap="none">
            <a:spAutoFit/>
          </a:bodyPr>
          <a:lstStyle/>
          <a:p>
            <a:pPr lvl="0" algn="ctr">
              <a:spcBef>
                <a:spcPts val="1575"/>
              </a:spcBef>
              <a:spcAft>
                <a:spcPts val="525"/>
              </a:spcAft>
            </a:pPr>
            <a:r>
              <a:rPr lang="en-US" sz="2400" b="1" kern="0" dirty="0">
                <a:solidFill>
                  <a:srgbClr val="000000"/>
                </a:solidFill>
                <a:latin typeface="inter"/>
                <a:ea typeface="inter"/>
                <a:cs typeface="inter"/>
              </a:rPr>
              <a:t>Framework</a:t>
            </a:r>
          </a:p>
        </p:txBody>
      </p:sp>
      <p:sp>
        <p:nvSpPr>
          <p:cNvPr id="9" name="Rectangle 8"/>
          <p:cNvSpPr/>
          <p:nvPr/>
        </p:nvSpPr>
        <p:spPr>
          <a:xfrm>
            <a:off x="7372350" y="1638300"/>
            <a:ext cx="1778000" cy="174625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1997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mc:Choice xmlns:a14="http://schemas.microsoft.com/office/drawing/2010/main" Requires="a14">
          <p:sp>
            <p:nvSpPr>
              <p:cNvPr id="7" name="Rectangle 6"/>
              <p:cNvSpPr/>
              <p:nvPr/>
            </p:nvSpPr>
            <p:spPr>
              <a:xfrm>
                <a:off x="749300" y="3194416"/>
                <a:ext cx="5448300" cy="3002745"/>
              </a:xfrm>
              <a:prstGeom prst="rect">
                <a:avLst/>
              </a:prstGeom>
            </p:spPr>
            <p:txBody>
              <a:bodyPr wrap="square">
                <a:spAutoFit/>
              </a:bodyPr>
              <a:lstStyle/>
              <a:p>
                <a:pPr algn="ctr">
                  <a:spcAft>
                    <a:spcPts val="1050"/>
                  </a:spcAft>
                </a:pPr>
                <a:r>
                  <a:rPr lang="en-US" sz="1600" b="1" dirty="0">
                    <a:solidFill>
                      <a:srgbClr val="000000"/>
                    </a:solidFill>
                    <a:latin typeface="inter"/>
                    <a:ea typeface="inter"/>
                    <a:cs typeface="inter"/>
                  </a:rPr>
                  <a:t>Position 2 (Vertical Center):</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effectLst/>
                    <a:latin typeface="inter"/>
                    <a:ea typeface="inter"/>
                    <a:cs typeface="inter"/>
                  </a:rPr>
                  <a:t>At the lowest point (</a:t>
                </a:r>
                <a14:m>
                  <m:oMath xmlns:m="http://schemas.openxmlformats.org/officeDocument/2006/math">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𝜃</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oMath>
                </a14:m>
                <a:r>
                  <a:rPr lang="en-US" sz="1600" dirty="0">
                    <a:solidFill>
                      <a:srgbClr val="000000"/>
                    </a:solidFill>
                    <a:effectLst/>
                    <a:latin typeface="inter"/>
                    <a:ea typeface="inter"/>
                    <a:cs typeface="inter"/>
                  </a:rPr>
                  <a:t>), potential energy is minimum (set to reference: </a:t>
                </a:r>
                <a14:m>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𝑈</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oMath>
                </a14:m>
                <a:r>
                  <a:rPr lang="en-US" sz="1600" dirty="0">
                    <a:solidFill>
                      <a:srgbClr val="000000"/>
                    </a:solidFill>
                    <a:effectLst/>
                    <a:latin typeface="inter"/>
                    <a:ea typeface="inter"/>
                    <a:cs typeface="inter"/>
                  </a:rPr>
                  <a:t>). The pendulum moves with maximum velocity. By energy conservation:</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𝐾</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𝐸</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𝑡𝑜𝑡𝑎𝑙</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den>
                      </m:f>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𝑚𝑔</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𝓁</m:t>
                      </m:r>
                      <m:sSubSup>
                        <m:sSubSup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𝜃</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𝑚𝑎𝑥</m:t>
                          </m:r>
                        </m:sub>
                        <m: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oMath>
                  </m:oMathPara>
                </a14:m>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f>
                        <m:f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den>
                      </m:f>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sSubSup>
                        <m:sSubSup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𝑚𝑎𝑥</m:t>
                          </m:r>
                        </m:sub>
                        <m: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den>
                      </m:f>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𝑚𝑔</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𝓁</m:t>
                      </m:r>
                      <m:sSubSup>
                        <m:sSubSup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𝜃</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𝑚𝑎𝑥</m:t>
                          </m:r>
                        </m:sub>
                        <m: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oMath>
                  </m:oMathPara>
                </a14:m>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𝑚𝑎𝑥</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𝜃</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𝑚𝑎𝑥</m:t>
                          </m:r>
                        </m:sub>
                      </m:sSub>
                      <m:rad>
                        <m:radPr>
                          <m:degHide m:val="on"/>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radPr>
                        <m:deg/>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𝑔</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𝓁</m:t>
                          </m:r>
                        </m:e>
                      </m:rad>
                    </m:oMath>
                  </m:oMathPara>
                </a14:m>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7" name="Rectangle 6"/>
              <p:cNvSpPr>
                <a:spLocks noRot="1" noChangeAspect="1" noMove="1" noResize="1" noEditPoints="1" noAdjustHandles="1" noChangeArrowheads="1" noChangeShapeType="1" noTextEdit="1"/>
              </p:cNvSpPr>
              <p:nvPr/>
            </p:nvSpPr>
            <p:spPr>
              <a:xfrm>
                <a:off x="749300" y="3194416"/>
                <a:ext cx="5448300" cy="3002745"/>
              </a:xfrm>
              <a:prstGeom prst="rect">
                <a:avLst/>
              </a:prstGeom>
              <a:blipFill>
                <a:blip r:embed="rId2"/>
                <a:stretch>
                  <a:fillRect l="-671" t="-60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Rectangle 7"/>
              <p:cNvSpPr/>
              <p:nvPr/>
            </p:nvSpPr>
            <p:spPr>
              <a:xfrm>
                <a:off x="6464300" y="3082437"/>
                <a:ext cx="5422900" cy="2684389"/>
              </a:xfrm>
              <a:prstGeom prst="rect">
                <a:avLst/>
              </a:prstGeom>
            </p:spPr>
            <p:txBody>
              <a:bodyPr wrap="square">
                <a:spAutoFit/>
              </a:bodyPr>
              <a:lstStyle/>
              <a:p>
                <a:pPr lvl="0" algn="ctr">
                  <a:lnSpc>
                    <a:spcPct val="150000"/>
                  </a:lnSpc>
                  <a:spcAft>
                    <a:spcPts val="1050"/>
                  </a:spcAft>
                </a:pPr>
                <a:r>
                  <a:rPr lang="en-US" sz="1600" b="1" dirty="0">
                    <a:solidFill>
                      <a:srgbClr val="000000"/>
                    </a:solidFill>
                    <a:latin typeface="inter"/>
                    <a:ea typeface="inter"/>
                    <a:cs typeface="inter"/>
                  </a:rPr>
                  <a:t>Position 3 (Right Extreme):</a:t>
                </a:r>
                <a:endParaRPr lang="en-US" sz="16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nSpc>
                    <a:spcPct val="150000"/>
                  </a:lnSpc>
                  <a:spcAft>
                    <a:spcPts val="1050"/>
                  </a:spcAft>
                </a:pPr>
                <a:r>
                  <a:rPr lang="en-US" sz="1600" dirty="0">
                    <a:solidFill>
                      <a:srgbClr val="000000"/>
                    </a:solidFill>
                    <a:latin typeface="inter"/>
                    <a:ea typeface="inter"/>
                    <a:cs typeface="inter"/>
                  </a:rPr>
                  <a:t>The pendulum swings to the opposite extreme, converting kinetic energy back to potential:</a:t>
                </a:r>
                <a:endParaRPr lang="en-US" sz="16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nSpc>
                    <a:spcPct val="150000"/>
                  </a:lnSpc>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𝑈</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𝑚𝑔</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𝓁</m:t>
                      </m:r>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𝜃</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𝑚𝑎𝑥</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𝐾</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m:oMathPara>
                </a14:m>
                <a:endParaRPr lang="en-US" sz="16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lnSpc>
                    <a:spcPct val="150000"/>
                  </a:lnSpc>
                  <a:spcAft>
                    <a:spcPts val="1050"/>
                  </a:spcAft>
                </a:pPr>
                <a:r>
                  <a:rPr lang="en-US" sz="1600" dirty="0">
                    <a:solidFill>
                      <a:srgbClr val="000000"/>
                    </a:solidFill>
                    <a:latin typeface="inter"/>
                    <a:ea typeface="inter"/>
                    <a:cs typeface="inter"/>
                  </a:rPr>
                  <a:t>By symmetry,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𝜃</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𝜃</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𝑚𝑎𝑥</m:t>
                        </m:r>
                      </m:sub>
                    </m:sSub>
                  </m:oMath>
                </a14:m>
                <a:r>
                  <a:rPr lang="en-US" sz="1600" dirty="0">
                    <a:solidFill>
                      <a:srgbClr val="000000"/>
                    </a:solidFill>
                    <a:latin typeface="inter"/>
                    <a:ea typeface="inter"/>
                    <a:cs typeface="inter"/>
                  </a:rPr>
                  <a:t> (same magnitude as Position 1).</a:t>
                </a:r>
                <a:endParaRPr lang="en-US" sz="16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8" name="Rectangle 7"/>
              <p:cNvSpPr>
                <a:spLocks noRot="1" noChangeAspect="1" noMove="1" noResize="1" noEditPoints="1" noAdjustHandles="1" noChangeArrowheads="1" noChangeShapeType="1" noTextEdit="1"/>
              </p:cNvSpPr>
              <p:nvPr/>
            </p:nvSpPr>
            <p:spPr>
              <a:xfrm>
                <a:off x="6464300" y="3082437"/>
                <a:ext cx="5422900" cy="2684389"/>
              </a:xfrm>
              <a:prstGeom prst="rect">
                <a:avLst/>
              </a:prstGeom>
              <a:blipFill>
                <a:blip r:embed="rId3"/>
                <a:stretch>
                  <a:fillRect l="-562" r="-1124" b="-455"/>
                </a:stretch>
              </a:blipFill>
            </p:spPr>
            <p:txBody>
              <a:bodyPr/>
              <a:lstStyle/>
              <a:p>
                <a:r>
                  <a:rPr lang="en-US">
                    <a:noFill/>
                  </a:rPr>
                  <a:t> </a:t>
                </a:r>
              </a:p>
            </p:txBody>
          </p:sp>
        </mc:Fallback>
      </mc:AlternateContent>
      <p:pic>
        <p:nvPicPr>
          <p:cNvPr id="9" name="Picture 8"/>
          <p:cNvPicPr>
            <a:picLocks noChangeAspect="1"/>
          </p:cNvPicPr>
          <p:nvPr/>
        </p:nvPicPr>
        <p:blipFill rotWithShape="1">
          <a:blip r:embed="rId4"/>
          <a:srcRect r="3988"/>
          <a:stretch/>
        </p:blipFill>
        <p:spPr>
          <a:xfrm>
            <a:off x="3541329" y="1222858"/>
            <a:ext cx="4610856" cy="1882016"/>
          </a:xfrm>
          <a:prstGeom prst="rect">
            <a:avLst/>
          </a:prstGeom>
        </p:spPr>
      </p:pic>
    </p:spTree>
    <p:extLst>
      <p:ext uri="{BB962C8B-B14F-4D97-AF65-F5344CB8AC3E}">
        <p14:creationId xmlns:p14="http://schemas.microsoft.com/office/powerpoint/2010/main" val="3133017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38200" y="1200353"/>
                <a:ext cx="5730875" cy="5335178"/>
              </a:xfrm>
            </p:spPr>
            <p:txBody>
              <a:bodyPr/>
              <a:lstStyle/>
              <a:p>
                <a:pPr algn="ctr"/>
                <a:r>
                  <a:rPr lang="en-US" sz="1800" b="1" dirty="0">
                    <a:solidFill>
                      <a:srgbClr val="C00000"/>
                    </a:solidFill>
                    <a:latin typeface="inter"/>
                    <a:ea typeface="inter"/>
                    <a:cs typeface="inter"/>
                  </a:rPr>
                  <a:t>As the pendulum oscillates</a:t>
                </a:r>
                <a:r>
                  <a:rPr lang="en-US" sz="1800" b="1" dirty="0" smtClean="0">
                    <a:solidFill>
                      <a:srgbClr val="C00000"/>
                    </a:solidFill>
                    <a:latin typeface="inter"/>
                    <a:ea typeface="inter"/>
                    <a:cs typeface="inter"/>
                  </a:rPr>
                  <a:t>:</a:t>
                </a:r>
              </a:p>
              <a:p>
                <a:pPr algn="ctr"/>
                <a:endParaRPr lang="en-US" sz="1800" b="1"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mj-lt"/>
                  <a:buAutoNum type="arabicPeriod"/>
                  <a:tabLst>
                    <a:tab pos="571500" algn="l"/>
                  </a:tabLst>
                </a:pPr>
                <a:r>
                  <a:rPr lang="en-US" sz="1800" b="1" dirty="0">
                    <a:solidFill>
                      <a:srgbClr val="000000"/>
                    </a:solidFill>
                    <a:latin typeface="inter"/>
                    <a:ea typeface="inter"/>
                    <a:cs typeface="inter"/>
                  </a:rPr>
                  <a:t>From Position 1 → 2:</a:t>
                </a:r>
                <a:r>
                  <a:rPr lang="en-US" sz="1800" dirty="0">
                    <a:solidFill>
                      <a:srgbClr val="000000"/>
                    </a:solidFill>
                    <a:latin typeface="inter"/>
                    <a:ea typeface="inter"/>
                    <a:cs typeface="inter"/>
                  </a:rPr>
                  <a:t> Potential energy </a:t>
                </a:r>
                <a14:m>
                  <m:oMath xmlns:m="http://schemas.openxmlformats.org/officeDocument/2006/math">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800" dirty="0">
                    <a:solidFill>
                      <a:srgbClr val="000000"/>
                    </a:solidFill>
                    <a:latin typeface="inter"/>
                    <a:ea typeface="inter"/>
                    <a:cs typeface="inter"/>
                  </a:rPr>
                  <a:t> Kinetic energy. Height decreases, speed increases. Restoring force (gravity) accelerates the mass downward.</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mj-lt"/>
                  <a:buAutoNum type="arabicPeriod"/>
                  <a:tabLst>
                    <a:tab pos="571500" algn="l"/>
                  </a:tabLst>
                </a:pPr>
                <a:r>
                  <a:rPr lang="en-US" sz="1800" b="1" dirty="0">
                    <a:solidFill>
                      <a:srgbClr val="000000"/>
                    </a:solidFill>
                    <a:latin typeface="inter"/>
                    <a:ea typeface="inter"/>
                    <a:cs typeface="inter"/>
                  </a:rPr>
                  <a:t>From Position 2 → 3:</a:t>
                </a:r>
                <a:r>
                  <a:rPr lang="en-US" sz="1800" dirty="0">
                    <a:solidFill>
                      <a:srgbClr val="000000"/>
                    </a:solidFill>
                    <a:latin typeface="inter"/>
                    <a:ea typeface="inter"/>
                    <a:cs typeface="inter"/>
                  </a:rPr>
                  <a:t> Kinetic energy </a:t>
                </a:r>
                <a14:m>
                  <m:oMath xmlns:m="http://schemas.openxmlformats.org/officeDocument/2006/math">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800" dirty="0">
                    <a:solidFill>
                      <a:srgbClr val="000000"/>
                    </a:solidFill>
                    <a:latin typeface="inter"/>
                    <a:ea typeface="inter"/>
                    <a:cs typeface="inter"/>
                  </a:rPr>
                  <a:t> Potential energy. Speed decreases, height increases. Inertia carries the mass upward against gravity (deceleration).</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mj-lt"/>
                  <a:buAutoNum type="arabicPeriod"/>
                  <a:tabLst>
                    <a:tab pos="571500" algn="l"/>
                  </a:tabLst>
                </a:pPr>
                <a:r>
                  <a:rPr lang="en-US" sz="1800" b="1" dirty="0">
                    <a:solidFill>
                      <a:srgbClr val="000000"/>
                    </a:solidFill>
                    <a:latin typeface="inter"/>
                    <a:ea typeface="inter"/>
                    <a:cs typeface="inter"/>
                  </a:rPr>
                  <a:t>From Position 3 → 1:</a:t>
                </a:r>
                <a:r>
                  <a:rPr lang="en-US" sz="1800" dirty="0">
                    <a:solidFill>
                      <a:srgbClr val="000000"/>
                    </a:solidFill>
                    <a:latin typeface="inter"/>
                    <a:ea typeface="inter"/>
                    <a:cs typeface="inter"/>
                  </a:rPr>
                  <a:t> The cycle reverses by symmetry.</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800" b="1" dirty="0">
                    <a:solidFill>
                      <a:srgbClr val="000000"/>
                    </a:solidFill>
                    <a:latin typeface="inter"/>
                    <a:ea typeface="inter"/>
                    <a:cs typeface="inter"/>
                  </a:rPr>
                  <a:t>Oscillator Analog in Circuits:</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742950" lvl="1" indent="-285750">
                  <a:buFont typeface="Wingdings" panose="05000000000000000000" pitchFamily="2" charset="2"/>
                  <a:buChar char="q"/>
                  <a:tabLst>
                    <a:tab pos="571500" algn="l"/>
                  </a:tabLst>
                </a:pPr>
                <a:r>
                  <a:rPr lang="en-US" sz="1600" b="1" dirty="0">
                    <a:solidFill>
                      <a:srgbClr val="000000"/>
                    </a:solidFill>
                    <a:latin typeface="inter"/>
                    <a:ea typeface="inter"/>
                    <a:cs typeface="inter"/>
                  </a:rPr>
                  <a:t>Potential Energy ↔ Charge on Capacitor:</a:t>
                </a:r>
                <a:r>
                  <a:rPr lang="en-US" sz="1600" dirty="0">
                    <a:solidFill>
                      <a:srgbClr val="000000"/>
                    </a:solidFill>
                    <a:latin typeface="inter"/>
                    <a:ea typeface="inter"/>
                    <a:cs typeface="inter"/>
                  </a:rPr>
                  <a:t>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𝑈</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742950" lvl="1" indent="-285750">
                  <a:buFont typeface="Wingdings" panose="05000000000000000000" pitchFamily="2" charset="2"/>
                  <a:buChar char="q"/>
                  <a:tabLst>
                    <a:tab pos="571500" algn="l"/>
                  </a:tabLst>
                </a:pPr>
                <a:r>
                  <a:rPr lang="en-US" sz="1600" b="1" dirty="0">
                    <a:solidFill>
                      <a:srgbClr val="000000"/>
                    </a:solidFill>
                    <a:latin typeface="inter"/>
                    <a:ea typeface="inter"/>
                    <a:cs typeface="inter"/>
                  </a:rPr>
                  <a:t>Kinetic Energy ↔ Current in Inductor:</a:t>
                </a:r>
                <a:r>
                  <a:rPr lang="en-US" sz="1600" dirty="0">
                    <a:solidFill>
                      <a:srgbClr val="000000"/>
                    </a:solidFill>
                    <a:latin typeface="inter"/>
                    <a:ea typeface="inter"/>
                    <a:cs typeface="inter"/>
                  </a:rPr>
                  <a:t>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𝐾</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742950" lvl="1" indent="-285750">
                  <a:buFont typeface="Wingdings" panose="05000000000000000000" pitchFamily="2" charset="2"/>
                  <a:buChar char="q"/>
                  <a:tabLst>
                    <a:tab pos="571500" algn="l"/>
                  </a:tabLst>
                </a:pPr>
                <a:r>
                  <a:rPr lang="en-US" sz="1600" b="1" dirty="0">
                    <a:solidFill>
                      <a:srgbClr val="000000"/>
                    </a:solidFill>
                    <a:latin typeface="inter"/>
                    <a:ea typeface="inter"/>
                    <a:cs typeface="inter"/>
                  </a:rPr>
                  <a:t>Pendulum Period ↔ LC Resonance:</a:t>
                </a:r>
                <a:r>
                  <a:rPr lang="en-US" sz="1600" dirty="0">
                    <a:solidFill>
                      <a:srgbClr val="000000"/>
                    </a:solidFill>
                    <a:latin typeface="inter"/>
                    <a:ea typeface="inter"/>
                    <a:cs typeface="inter"/>
                  </a:rPr>
                  <a:t>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rad>
                      <m:radPr>
                        <m:degHide m:val="on"/>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𝐿𝐶</m:t>
                        </m:r>
                      </m:e>
                    </m:rad>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742950" lvl="1" indent="-285750">
                  <a:buFont typeface="Wingdings" panose="05000000000000000000" pitchFamily="2" charset="2"/>
                  <a:buChar char="q"/>
                </a:pPr>
                <a:r>
                  <a:rPr lang="en-US" sz="1600" dirty="0">
                    <a:solidFill>
                      <a:srgbClr val="000000"/>
                    </a:solidFill>
                    <a:latin typeface="inter"/>
                    <a:ea typeface="inter"/>
                    <a:cs typeface="inter"/>
                  </a:rPr>
                  <a:t>The LC oscillator exhibits the same energy exchange and </a:t>
                </a:r>
                <a:r>
                  <a:rPr lang="en-US" sz="1600" dirty="0" err="1">
                    <a:solidFill>
                      <a:srgbClr val="000000"/>
                    </a:solidFill>
                    <a:latin typeface="inter"/>
                    <a:ea typeface="inter"/>
                    <a:cs typeface="inter"/>
                  </a:rPr>
                  <a:t>isochronicity</a:t>
                </a:r>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sz="18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38200" y="1200353"/>
                <a:ext cx="5730875" cy="5335178"/>
              </a:xfrm>
              <a:blipFill>
                <a:blip r:embed="rId2"/>
                <a:stretch>
                  <a:fillRect l="-2553" t="-1486"/>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69710" y="6518090"/>
            <a:ext cx="1345439" cy="21925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174244" y="65808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3"/>
          <a:stretch>
            <a:fillRect/>
          </a:stretch>
        </p:blipFill>
        <p:spPr>
          <a:xfrm>
            <a:off x="6839512" y="1169334"/>
            <a:ext cx="4608975" cy="1877731"/>
          </a:xfrm>
          <a:prstGeom prst="rect">
            <a:avLst/>
          </a:prstGeom>
        </p:spPr>
      </p:pic>
      <mc:AlternateContent xmlns:mc="http://schemas.openxmlformats.org/markup-compatibility/2006">
        <mc:Choice xmlns:a14="http://schemas.microsoft.com/office/drawing/2010/main" Requires="a14">
          <p:sp>
            <p:nvSpPr>
              <p:cNvPr id="8" name="Rectangle 7"/>
              <p:cNvSpPr/>
              <p:nvPr/>
            </p:nvSpPr>
            <p:spPr>
              <a:xfrm>
                <a:off x="7073900" y="3376697"/>
                <a:ext cx="4794250" cy="2800767"/>
              </a:xfrm>
              <a:prstGeom prst="rect">
                <a:avLst/>
              </a:prstGeom>
            </p:spPr>
            <p:txBody>
              <a:bodyPr wrap="square">
                <a:spAutoFit/>
              </a:bodyPr>
              <a:lstStyle/>
              <a:p>
                <a:pPr algn="ctr"/>
                <a:r>
                  <a:rPr lang="en-US" sz="1600" b="1" dirty="0">
                    <a:solidFill>
                      <a:srgbClr val="000000"/>
                    </a:solidFill>
                    <a:latin typeface="inter"/>
                    <a:ea typeface="inter"/>
                    <a:cs typeface="inter"/>
                  </a:rPr>
                  <a:t>Design Rule for Oscillators</a:t>
                </a:r>
                <a:r>
                  <a:rPr lang="en-US" sz="1600" b="1" dirty="0" smtClean="0">
                    <a:solidFill>
                      <a:srgbClr val="000000"/>
                    </a:solidFill>
                    <a:latin typeface="inter"/>
                    <a:ea typeface="inter"/>
                    <a:cs typeface="inter"/>
                  </a:rPr>
                  <a:t>:</a:t>
                </a:r>
              </a:p>
              <a:p>
                <a:pPr algn="ct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lgn="just"/>
                <a:r>
                  <a:rPr lang="en-US" sz="1600" dirty="0">
                    <a:solidFill>
                      <a:srgbClr val="000000"/>
                    </a:solidFill>
                    <a:effectLst/>
                    <a:latin typeface="inter"/>
                    <a:ea typeface="inter"/>
                    <a:cs typeface="inter"/>
                  </a:rPr>
                  <a:t>For sustained oscillation, the feedback system must:</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buFont typeface="+mj-lt"/>
                  <a:buAutoNum type="arabicPeriod"/>
                  <a:tabLst>
                    <a:tab pos="571500" algn="l"/>
                  </a:tabLst>
                </a:pPr>
                <a:r>
                  <a:rPr lang="en-US" sz="1600" dirty="0">
                    <a:solidFill>
                      <a:srgbClr val="000000"/>
                    </a:solidFill>
                    <a:effectLst/>
                    <a:latin typeface="inter"/>
                    <a:ea typeface="inter"/>
                    <a:cs typeface="inter"/>
                  </a:rPr>
                  <a:t>Apply energy at frequency </a:t>
                </a:r>
                <a14:m>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effectLst/>
                    <a:latin typeface="inter"/>
                    <a:ea typeface="inter"/>
                    <a:cs typeface="inter"/>
                  </a:rPr>
                  <a:t> (matching natural oscillation frequency)</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buFont typeface="+mj-lt"/>
                  <a:buAutoNum type="arabicPeriod"/>
                  <a:tabLst>
                    <a:tab pos="571500" algn="l"/>
                  </a:tabLst>
                </a:pPr>
                <a:r>
                  <a:rPr lang="en-US" sz="1600" dirty="0">
                    <a:solidFill>
                      <a:srgbClr val="000000"/>
                    </a:solidFill>
                    <a:effectLst/>
                    <a:latin typeface="inter"/>
                    <a:ea typeface="inter"/>
                    <a:cs typeface="inter"/>
                  </a:rPr>
                  <a:t>Ensure feedback signal is </a:t>
                </a:r>
                <a:r>
                  <a:rPr lang="en-US" sz="1600" b="1" dirty="0">
                    <a:solidFill>
                      <a:srgbClr val="000000"/>
                    </a:solidFill>
                    <a:effectLst/>
                    <a:latin typeface="inter"/>
                    <a:ea typeface="inter"/>
                    <a:cs typeface="inter"/>
                  </a:rPr>
                  <a:t>in-phase</a:t>
                </a:r>
                <a:r>
                  <a:rPr lang="en-US" sz="1600" dirty="0">
                    <a:solidFill>
                      <a:srgbClr val="000000"/>
                    </a:solidFill>
                    <a:effectLst/>
                    <a:latin typeface="inter"/>
                    <a:ea typeface="inter"/>
                    <a:cs typeface="inter"/>
                  </a:rPr>
                  <a:t> with the oscillating quantity (velocity for maximum power transfer)</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buFont typeface="+mj-lt"/>
                  <a:buAutoNum type="arabicPeriod"/>
                  <a:tabLst>
                    <a:tab pos="571500" algn="l"/>
                  </a:tabLst>
                </a:pPr>
                <a:r>
                  <a:rPr lang="en-US" sz="1600" dirty="0">
                    <a:solidFill>
                      <a:srgbClr val="000000"/>
                    </a:solidFill>
                    <a:effectLst/>
                    <a:latin typeface="inter"/>
                    <a:ea typeface="inter"/>
                    <a:cs typeface="inter"/>
                  </a:rPr>
                  <a:t>Supply just enough energy to compensate losses</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8" name="Rectangle 7"/>
              <p:cNvSpPr>
                <a:spLocks noRot="1" noChangeAspect="1" noMove="1" noResize="1" noEditPoints="1" noAdjustHandles="1" noChangeArrowheads="1" noChangeShapeType="1" noTextEdit="1"/>
              </p:cNvSpPr>
              <p:nvPr/>
            </p:nvSpPr>
            <p:spPr>
              <a:xfrm>
                <a:off x="7073900" y="3376697"/>
                <a:ext cx="4794250" cy="2800767"/>
              </a:xfrm>
              <a:prstGeom prst="rect">
                <a:avLst/>
              </a:prstGeom>
              <a:blipFill>
                <a:blip r:embed="rId4"/>
                <a:stretch>
                  <a:fillRect l="-635" t="-654" r="-635" b="-1961"/>
                </a:stretch>
              </a:blipFill>
            </p:spPr>
            <p:txBody>
              <a:bodyPr/>
              <a:lstStyle/>
              <a:p>
                <a:r>
                  <a:rPr lang="en-US">
                    <a:noFill/>
                  </a:rPr>
                  <a:t> </a:t>
                </a:r>
              </a:p>
            </p:txBody>
          </p:sp>
        </mc:Fallback>
      </mc:AlternateContent>
    </p:spTree>
    <p:extLst>
      <p:ext uri="{BB962C8B-B14F-4D97-AF65-F5344CB8AC3E}">
        <p14:creationId xmlns:p14="http://schemas.microsoft.com/office/powerpoint/2010/main" val="3681919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2. How Feedback Sustains </a:t>
            </a:r>
            <a:r>
              <a:rPr lang="en-US" dirty="0" smtClean="0">
                <a:latin typeface="fkGrotesk"/>
              </a:rPr>
              <a:t>Oscillation</a:t>
            </a:r>
            <a:endParaRPr lang="en-US" dirty="0"/>
          </a:p>
        </p:txBody>
      </p:sp>
      <p:sp>
        <p:nvSpPr>
          <p:cNvPr id="3" name="Text Placeholder 2"/>
          <p:cNvSpPr>
            <a:spLocks noGrp="1"/>
          </p:cNvSpPr>
          <p:nvPr>
            <p:ph type="body" idx="1"/>
          </p:nvPr>
        </p:nvSpPr>
        <p:spPr>
          <a:xfrm>
            <a:off x="844550" y="1327353"/>
            <a:ext cx="10549669" cy="4308872"/>
          </a:xfrm>
        </p:spPr>
        <p:txBody>
          <a:bodyPr/>
          <a:lstStyle/>
          <a:p>
            <a:pPr marL="342900" indent="-342900" algn="just">
              <a:buFont typeface="Arial" panose="020B0604020202020204" pitchFamily="34" charset="0"/>
              <a:buChar char="•"/>
            </a:pPr>
            <a:r>
              <a:rPr lang="en-US" dirty="0" smtClean="0">
                <a:latin typeface="fkGroteskNeue"/>
              </a:rPr>
              <a:t>Both </a:t>
            </a:r>
            <a:r>
              <a:rPr lang="en-US" dirty="0">
                <a:latin typeface="fkGroteskNeue"/>
              </a:rPr>
              <a:t>mechanical and electrical oscillators lose energy over </a:t>
            </a:r>
            <a:r>
              <a:rPr lang="en-US" b="1" dirty="0">
                <a:latin typeface="fkGroteskNeue"/>
              </a:rPr>
              <a:t>time due to friction, air resistance, or circuit resistance</a:t>
            </a:r>
            <a:r>
              <a:rPr lang="en-US" dirty="0">
                <a:latin typeface="fkGroteskNeue"/>
              </a:rPr>
              <a:t>. </a:t>
            </a:r>
            <a:endParaRPr lang="en-US" dirty="0" smtClean="0">
              <a:latin typeface="fkGroteskNeue"/>
            </a:endParaRPr>
          </a:p>
          <a:p>
            <a:pPr marL="342900" indent="-342900" algn="just">
              <a:buFont typeface="Arial" panose="020B0604020202020204" pitchFamily="34" charset="0"/>
              <a:buChar char="•"/>
            </a:pPr>
            <a:r>
              <a:rPr lang="en-US" dirty="0" smtClean="0">
                <a:latin typeface="fkGroteskNeue"/>
              </a:rPr>
              <a:t>In </a:t>
            </a:r>
            <a:r>
              <a:rPr lang="en-US" dirty="0">
                <a:latin typeface="fkGroteskNeue"/>
              </a:rPr>
              <a:t>a pendulum, you can keep it swinging by periodically “pushing” it at the right times—this adds energy to counteract losses. </a:t>
            </a:r>
            <a:endParaRPr lang="en-US" dirty="0" smtClean="0">
              <a:latin typeface="fkGroteskNeue"/>
            </a:endParaRPr>
          </a:p>
          <a:p>
            <a:pPr marL="342900" indent="-342900" algn="just">
              <a:buFont typeface="Arial" panose="020B0604020202020204" pitchFamily="34" charset="0"/>
              <a:buChar char="•"/>
            </a:pPr>
            <a:r>
              <a:rPr lang="en-US" dirty="0" smtClean="0">
                <a:latin typeface="fkGroteskNeue"/>
              </a:rPr>
              <a:t>In </a:t>
            </a:r>
            <a:r>
              <a:rPr lang="en-US" dirty="0">
                <a:latin typeface="fkGroteskNeue"/>
              </a:rPr>
              <a:t>electronic circuits, feedback and amplification play the same role: an amplifier can sense the decreasing oscillations and boost them to keep the cycle going</a:t>
            </a:r>
            <a:r>
              <a:rPr lang="en-US" dirty="0" smtClean="0">
                <a:latin typeface="fkGroteskNeue"/>
              </a:rPr>
              <a:t>.</a:t>
            </a:r>
          </a:p>
          <a:p>
            <a:pPr marL="342900" indent="-342900" algn="just">
              <a:buFont typeface="Arial" panose="020B0604020202020204" pitchFamily="34" charset="0"/>
              <a:buChar char="•"/>
            </a:pPr>
            <a:r>
              <a:rPr lang="en-US" dirty="0" smtClean="0">
                <a:latin typeface="fkGroteskNeue"/>
              </a:rPr>
              <a:t> </a:t>
            </a:r>
            <a:r>
              <a:rPr lang="en-US" dirty="0">
                <a:latin typeface="fkGroteskNeue"/>
              </a:rPr>
              <a:t>In a PLL, this active feedback is critical for maintaining stable oscillations and compensating for loss, like a steady hand keeping the pendulum swinging</a:t>
            </a:r>
            <a:r>
              <a:rPr lang="en-US" dirty="0" smtClean="0">
                <a:latin typeface="fkGroteskNeue"/>
              </a:rPr>
              <a:t>.</a:t>
            </a:r>
          </a:p>
          <a:p>
            <a:pPr algn="l"/>
            <a:endParaRPr lang="en-US" dirty="0">
              <a:latin typeface="fkGroteskNeue"/>
            </a:endParaRPr>
          </a:p>
          <a:p>
            <a:pPr algn="l"/>
            <a:endParaRPr lang="en-US" dirty="0">
              <a:latin typeface="fkGroteskNeue"/>
            </a:endParaRPr>
          </a:p>
          <a:p>
            <a:pPr algn="l"/>
            <a:r>
              <a:rPr lang="en-US" b="1" dirty="0">
                <a:latin typeface="fkGroteskNeue"/>
              </a:rPr>
              <a:t>Quick Check</a:t>
            </a:r>
            <a:r>
              <a:rPr lang="en-US" b="1" dirty="0" smtClean="0">
                <a:latin typeface="fkGroteskNeue"/>
              </a:rPr>
              <a:t>:</a:t>
            </a:r>
          </a:p>
          <a:p>
            <a:pPr algn="l"/>
            <a:r>
              <a:rPr lang="en-US" dirty="0">
                <a:latin typeface="fkGroteskNeue"/>
              </a:rPr>
              <a:t/>
            </a:r>
            <a:br>
              <a:rPr lang="en-US" dirty="0">
                <a:latin typeface="fkGroteskNeue"/>
              </a:rPr>
            </a:br>
            <a:r>
              <a:rPr lang="en-US" dirty="0">
                <a:latin typeface="fkGroteskNeue"/>
              </a:rPr>
              <a:t>Can you imagine what would happen to a pendulum or LC oscillator if you stopped adding energy through feedback or “pushes</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74987781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1442" y="0"/>
            <a:ext cx="11193222" cy="1046440"/>
          </a:xfrm>
        </p:spPr>
        <p:txBody>
          <a:bodyPr/>
          <a:lstStyle/>
          <a:p>
            <a:pPr algn="ctr"/>
            <a:r>
              <a:rPr lang="en-US" dirty="0"/>
              <a:t>3. Connecting Mechanical Examples with Electronic </a:t>
            </a:r>
            <a:r>
              <a:rPr lang="en-US" dirty="0" smtClean="0"/>
              <a:t>Counterparts</a:t>
            </a:r>
            <a:endParaRPr lang="en-US" dirty="0"/>
          </a:p>
        </p:txBody>
      </p:sp>
      <p:sp>
        <p:nvSpPr>
          <p:cNvPr id="3" name="Text Placeholder 2"/>
          <p:cNvSpPr>
            <a:spLocks noGrp="1"/>
          </p:cNvSpPr>
          <p:nvPr>
            <p:ph type="body" idx="1"/>
          </p:nvPr>
        </p:nvSpPr>
        <p:spPr>
          <a:xfrm>
            <a:off x="844549" y="1327353"/>
            <a:ext cx="10656151" cy="4308872"/>
          </a:xfrm>
        </p:spPr>
        <p:txBody>
          <a:bodyPr/>
          <a:lstStyle/>
          <a:p>
            <a:pPr marL="342900" indent="-342900" algn="just">
              <a:buFont typeface="Wingdings" panose="05000000000000000000" pitchFamily="2" charset="2"/>
              <a:buChar char="q"/>
            </a:pPr>
            <a:r>
              <a:rPr lang="en-US" b="1" i="1" dirty="0" smtClean="0"/>
              <a:t>Pendulum</a:t>
            </a:r>
            <a:r>
              <a:rPr lang="en-US" b="1" dirty="0"/>
              <a:t>: </a:t>
            </a:r>
            <a:r>
              <a:rPr lang="en-US" dirty="0"/>
              <a:t>Shows conservation of energy, natural frequency depends only on length (not mass), amplitude-independent period for small swings</a:t>
            </a:r>
            <a:r>
              <a:rPr lang="en-US" dirty="0" smtClean="0"/>
              <a:t>.</a:t>
            </a:r>
          </a:p>
          <a:p>
            <a:pPr marL="342900" indent="-342900" algn="just">
              <a:buFont typeface="Wingdings" panose="05000000000000000000" pitchFamily="2" charset="2"/>
              <a:buChar char="q"/>
            </a:pPr>
            <a:endParaRPr lang="en-US" dirty="0"/>
          </a:p>
          <a:p>
            <a:pPr marL="342900" indent="-342900" algn="just">
              <a:buFont typeface="Wingdings" panose="05000000000000000000" pitchFamily="2" charset="2"/>
              <a:buChar char="q"/>
            </a:pPr>
            <a:r>
              <a:rPr lang="en-US" b="1" i="1" dirty="0"/>
              <a:t>LC Oscillator</a:t>
            </a:r>
            <a:r>
              <a:rPr lang="en-US" b="1" dirty="0"/>
              <a:t>: </a:t>
            </a:r>
            <a:r>
              <a:rPr lang="en-US" dirty="0"/>
              <a:t>Energy flips between capacitor and inductor, natural frequency depends only on L and C values — not amplitude, just like pendulum</a:t>
            </a:r>
            <a:r>
              <a:rPr lang="en-US" dirty="0" smtClean="0"/>
              <a:t>.</a:t>
            </a:r>
          </a:p>
          <a:p>
            <a:pPr marL="342900" indent="-342900" algn="just">
              <a:buFont typeface="Wingdings" panose="05000000000000000000" pitchFamily="2" charset="2"/>
              <a:buChar char="q"/>
            </a:pPr>
            <a:endParaRPr lang="en-US" dirty="0"/>
          </a:p>
          <a:p>
            <a:pPr marL="342900" indent="-342900" algn="just">
              <a:buFont typeface="Wingdings" panose="05000000000000000000" pitchFamily="2" charset="2"/>
              <a:buChar char="q"/>
            </a:pPr>
            <a:r>
              <a:rPr lang="en-US" b="1" i="1" dirty="0"/>
              <a:t>Ring oscillator</a:t>
            </a:r>
            <a:r>
              <a:rPr lang="en-US" b="1" dirty="0"/>
              <a:t>: </a:t>
            </a:r>
            <a:r>
              <a:rPr lang="en-US" dirty="0"/>
              <a:t>Instead of energy storage elements, uses delay and gain in logic inverters to create periodic transitions</a:t>
            </a:r>
            <a:r>
              <a:rPr lang="en-US" dirty="0" smtClean="0"/>
              <a:t>.</a:t>
            </a:r>
          </a:p>
          <a:p>
            <a:pPr marL="342900" indent="-342900">
              <a:buFont typeface="Arial" panose="020B0604020202020204" pitchFamily="34" charset="0"/>
              <a:buChar char="•"/>
            </a:pPr>
            <a:endParaRPr lang="en-US" dirty="0"/>
          </a:p>
          <a:p>
            <a:pPr algn="just"/>
            <a:r>
              <a:rPr lang="en-US" b="1" dirty="0"/>
              <a:t>Link to PLLs:</a:t>
            </a:r>
            <a:r>
              <a:rPr lang="en-US" dirty="0"/>
              <a:t> PLLs use voltage-controlled oscillators (VCOs) where feedback adjusts the energy input to maintain a target frequency, effectively “steering” the oscillator based on phase comparisons—much like nudging the pendulum to match a clock’s beat.</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60440259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284" y="0"/>
            <a:ext cx="10593196" cy="1046440"/>
          </a:xfrm>
        </p:spPr>
        <p:txBody>
          <a:bodyPr/>
          <a:lstStyle/>
          <a:p>
            <a:r>
              <a:rPr lang="en-US" dirty="0">
                <a:latin typeface="fkGrotesk"/>
              </a:rPr>
              <a:t>4. Frequency Selectivity and Feedback: The Heart of Oscillators and </a:t>
            </a:r>
            <a:r>
              <a:rPr lang="en-US" dirty="0" smtClean="0">
                <a:latin typeface="fkGrotesk"/>
              </a:rPr>
              <a:t>PLLs</a:t>
            </a:r>
            <a:endParaRPr lang="en-US" dirty="0"/>
          </a:p>
        </p:txBody>
      </p:sp>
      <p:sp>
        <p:nvSpPr>
          <p:cNvPr id="3" name="Text Placeholder 2"/>
          <p:cNvSpPr>
            <a:spLocks noGrp="1"/>
          </p:cNvSpPr>
          <p:nvPr>
            <p:ph type="body" idx="1"/>
          </p:nvPr>
        </p:nvSpPr>
        <p:spPr>
          <a:xfrm>
            <a:off x="844550" y="1327353"/>
            <a:ext cx="10458188" cy="4308872"/>
          </a:xfrm>
        </p:spPr>
        <p:txBody>
          <a:bodyPr/>
          <a:lstStyle/>
          <a:p>
            <a:pPr marL="342900" indent="-342900" algn="just">
              <a:buFont typeface="Wingdings" panose="05000000000000000000" pitchFamily="2" charset="2"/>
              <a:buChar char="q"/>
            </a:pPr>
            <a:r>
              <a:rPr lang="en-US" dirty="0" smtClean="0">
                <a:latin typeface="fkGroteskNeue"/>
              </a:rPr>
              <a:t>Oscillators </a:t>
            </a:r>
            <a:r>
              <a:rPr lang="en-US" dirty="0">
                <a:latin typeface="fkGroteskNeue"/>
              </a:rPr>
              <a:t>and PLLs select and stabilize frequencies not by amplitude or energy, but by intrinsic system properties (length for pendulum, LC values for circuits</a:t>
            </a:r>
            <a:r>
              <a:rPr lang="en-US" dirty="0" smtClean="0">
                <a:latin typeface="fkGroteskNeue"/>
              </a:rPr>
              <a:t>).</a:t>
            </a:r>
          </a:p>
          <a:p>
            <a:pPr algn="just"/>
            <a:r>
              <a:rPr lang="en-US" dirty="0" smtClean="0">
                <a:latin typeface="fkGroteskNeue"/>
              </a:rPr>
              <a:t> </a:t>
            </a:r>
          </a:p>
          <a:p>
            <a:pPr marL="342900" indent="-342900" algn="just">
              <a:buFont typeface="Wingdings" panose="05000000000000000000" pitchFamily="2" charset="2"/>
              <a:buChar char="q"/>
            </a:pPr>
            <a:r>
              <a:rPr lang="en-US" dirty="0" smtClean="0">
                <a:latin typeface="fkGroteskNeue"/>
              </a:rPr>
              <a:t>In </a:t>
            </a:r>
            <a:r>
              <a:rPr lang="en-US" dirty="0">
                <a:latin typeface="fkGroteskNeue"/>
              </a:rPr>
              <a:t>PLLs, feedback is used not only to sustain oscillations but also to lock the output to a desired phase/frequency, reducing “jitter” and improving signal quality</a:t>
            </a:r>
            <a:r>
              <a:rPr lang="en-US" dirty="0" smtClean="0">
                <a:latin typeface="fkGroteskNeue"/>
              </a:rPr>
              <a:t>.</a:t>
            </a:r>
          </a:p>
          <a:p>
            <a:pPr algn="just"/>
            <a:endParaRPr lang="en-US" dirty="0">
              <a:latin typeface="fkGroteskNeue"/>
            </a:endParaRPr>
          </a:p>
          <a:p>
            <a:pPr algn="just"/>
            <a:endParaRPr lang="en-US" dirty="0">
              <a:latin typeface="fkGroteskNeue"/>
            </a:endParaRPr>
          </a:p>
          <a:p>
            <a:pPr algn="just"/>
            <a:r>
              <a:rPr lang="en-US" b="1" dirty="0" smtClean="0">
                <a:solidFill>
                  <a:srgbClr val="FF0000"/>
                </a:solidFill>
                <a:latin typeface="fkGroteskNeue"/>
              </a:rPr>
              <a:t>Takeaway:</a:t>
            </a:r>
            <a:endParaRPr lang="en-US" b="1" dirty="0">
              <a:solidFill>
                <a:srgbClr val="FF0000"/>
              </a:solidFill>
              <a:latin typeface="fkGroteskNeue"/>
            </a:endParaRPr>
          </a:p>
          <a:p>
            <a:pPr marL="800100" lvl="1" indent="-342900" algn="just">
              <a:buFont typeface="Wingdings" panose="05000000000000000000" pitchFamily="2" charset="2"/>
              <a:buChar char="q"/>
            </a:pPr>
            <a:r>
              <a:rPr lang="en-US" sz="2000" dirty="0">
                <a:solidFill>
                  <a:srgbClr val="FF0000"/>
                </a:solidFill>
                <a:latin typeface="fkGroteskNeue"/>
              </a:rPr>
              <a:t>Energy cycling: </a:t>
            </a:r>
            <a:r>
              <a:rPr lang="en-US" sz="2000" dirty="0">
                <a:latin typeface="fkGroteskNeue"/>
              </a:rPr>
              <a:t>All oscillators rely on a back-and-forth energy conversion.</a:t>
            </a:r>
          </a:p>
          <a:p>
            <a:pPr marL="800100" lvl="1" indent="-342900" algn="just">
              <a:buFont typeface="Wingdings" panose="05000000000000000000" pitchFamily="2" charset="2"/>
              <a:buChar char="q"/>
            </a:pPr>
            <a:r>
              <a:rPr lang="en-US" sz="2000" dirty="0">
                <a:solidFill>
                  <a:srgbClr val="FF0000"/>
                </a:solidFill>
                <a:latin typeface="fkGroteskNeue"/>
              </a:rPr>
              <a:t>Feedback is key:</a:t>
            </a:r>
            <a:r>
              <a:rPr lang="en-US" sz="2000" dirty="0">
                <a:latin typeface="fkGroteskNeue"/>
              </a:rPr>
              <a:t> Periodic “pushes” or feedback are what make oscillators persistent.</a:t>
            </a:r>
          </a:p>
          <a:p>
            <a:pPr marL="800100" lvl="1" indent="-342900" algn="just">
              <a:buFont typeface="Wingdings" panose="05000000000000000000" pitchFamily="2" charset="2"/>
              <a:buChar char="q"/>
            </a:pPr>
            <a:r>
              <a:rPr lang="en-US" sz="2000" dirty="0">
                <a:latin typeface="fkGroteskNeue"/>
              </a:rPr>
              <a:t>Frequency comes from physical parameters, not how “hard” you push.</a:t>
            </a:r>
          </a:p>
          <a:p>
            <a:pPr marL="800100" lvl="1" indent="-342900" algn="just">
              <a:buFont typeface="Wingdings" panose="05000000000000000000" pitchFamily="2" charset="2"/>
              <a:buChar char="q"/>
            </a:pPr>
            <a:r>
              <a:rPr lang="en-US" sz="2000" dirty="0">
                <a:latin typeface="fkGroteskNeue"/>
              </a:rPr>
              <a:t>PLLs harness these features to keep signals steady and accurate—for timing, synchronization, and high-performance circuit design</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20946292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Mechanical Analogy &amp; Oscillatory </a:t>
            </a:r>
            <a:r>
              <a:rPr lang="en-US" dirty="0" smtClean="0"/>
              <a:t>Feedback</a:t>
            </a:r>
            <a:endParaRPr lang="en-US" dirty="0"/>
          </a:p>
        </p:txBody>
      </p:sp>
      <p:sp>
        <p:nvSpPr>
          <p:cNvPr id="3" name="Text Placeholder 2"/>
          <p:cNvSpPr>
            <a:spLocks noGrp="1"/>
          </p:cNvSpPr>
          <p:nvPr>
            <p:ph type="body" idx="1"/>
          </p:nvPr>
        </p:nvSpPr>
        <p:spPr>
          <a:xfrm>
            <a:off x="844550" y="1327353"/>
            <a:ext cx="10877550" cy="4555093"/>
          </a:xfrm>
        </p:spPr>
        <p:txBody>
          <a:bodyPr/>
          <a:lstStyle/>
          <a:p>
            <a:pPr marL="342900" indent="-342900" algn="just">
              <a:buFont typeface="Wingdings" panose="05000000000000000000" pitchFamily="2" charset="2"/>
              <a:buChar char="q"/>
            </a:pPr>
            <a:r>
              <a:rPr lang="en-US" b="1" dirty="0">
                <a:solidFill>
                  <a:srgbClr val="00B050"/>
                </a:solidFill>
                <a:latin typeface="fkGroteskNeue"/>
              </a:rPr>
              <a:t>Pendulum to Feedback System:</a:t>
            </a:r>
            <a:r>
              <a:rPr lang="en-US" dirty="0">
                <a:latin typeface="fkGroteskNeue"/>
              </a:rPr>
              <a:t> As in a pendulum, where energy cycles between kinetic and potential forms, electronic feedback circuits shuttle signals around a loop. Figure </a:t>
            </a:r>
            <a:r>
              <a:rPr lang="en-US" dirty="0" smtClean="0">
                <a:latin typeface="fkGroteskNeue"/>
              </a:rPr>
              <a:t>1.2(a</a:t>
            </a:r>
            <a:r>
              <a:rPr lang="en-US" dirty="0">
                <a:latin typeface="fkGroteskNeue"/>
              </a:rPr>
              <a:t>) shows a simple feedback system: at every moment, the feedback (the loop) can either stabilize (reduce amplitude) or destabilize (grow amplitude</a:t>
            </a:r>
            <a:r>
              <a:rPr lang="en-US" dirty="0" smtClean="0">
                <a:latin typeface="fkGroteskNeue"/>
              </a:rPr>
              <a:t>), </a:t>
            </a:r>
            <a:r>
              <a:rPr lang="en-US" dirty="0">
                <a:latin typeface="fkGroteskNeue"/>
              </a:rPr>
              <a:t>depending on the phase and gain.</a:t>
            </a:r>
          </a:p>
          <a:p>
            <a:pPr marL="342900" indent="-342900" algn="just">
              <a:buFont typeface="Wingdings" panose="05000000000000000000" pitchFamily="2" charset="2"/>
              <a:buChar char="q"/>
            </a:pPr>
            <a:r>
              <a:rPr lang="en-US" b="1" dirty="0" smtClean="0">
                <a:solidFill>
                  <a:srgbClr val="00B050"/>
                </a:solidFill>
                <a:latin typeface="fkGroteskNeue"/>
              </a:rPr>
              <a:t>Amplifier Example:</a:t>
            </a:r>
            <a:r>
              <a:rPr lang="en-US" dirty="0" smtClean="0">
                <a:latin typeface="fkGroteskNeue"/>
              </a:rPr>
              <a:t> Figure 1.2(b) uses an op-amp to realize feedback. At low frequencies, it behaves like a buffer; phase lag is minimal. The loop is stable unless gain/phase conditions allow build-up.</a:t>
            </a:r>
          </a:p>
          <a:p>
            <a:pPr marL="342900" indent="-342900" algn="just">
              <a:buFont typeface="Wingdings" panose="05000000000000000000" pitchFamily="2" charset="2"/>
              <a:buChar char="q"/>
            </a:pPr>
            <a:r>
              <a:rPr lang="en-US" b="1" dirty="0" smtClean="0">
                <a:solidFill>
                  <a:srgbClr val="00B050"/>
                </a:solidFill>
                <a:latin typeface="fkGroteskNeue"/>
              </a:rPr>
              <a:t>Oscillation Criteria:</a:t>
            </a:r>
            <a:r>
              <a:rPr lang="en-US" dirty="0" smtClean="0">
                <a:latin typeface="fkGroteskNeue"/>
              </a:rPr>
              <a:t> As plotted in Fig. 1.2(c-d), when feedback returns a signal with enough gain and 180° phase shift at frequency </a:t>
            </a:r>
            <a:r>
              <a:rPr lang="en-US" i="1" dirty="0" smtClean="0">
                <a:latin typeface="KaTeX_Math"/>
              </a:rPr>
              <a:t>ω</a:t>
            </a:r>
            <a:r>
              <a:rPr lang="en-US" dirty="0" smtClean="0">
                <a:latin typeface="KaTeX_Main"/>
              </a:rPr>
              <a:t>0</a:t>
            </a:r>
            <a:r>
              <a:rPr lang="en-US" dirty="0" smtClean="0">
                <a:latin typeface="fkGroteskNeue"/>
              </a:rPr>
              <a:t>, the loop can sustain oscillations. The system "feeds itself": output is inverted and returned, reinforcing the oscillation. This is the basis for </a:t>
            </a:r>
            <a:r>
              <a:rPr lang="en-US" b="1" dirty="0" err="1" smtClean="0">
                <a:solidFill>
                  <a:srgbClr val="00B050"/>
                </a:solidFill>
                <a:latin typeface="fkGroteskNeue"/>
              </a:rPr>
              <a:t>Barkhausen’s</a:t>
            </a:r>
            <a:r>
              <a:rPr lang="en-US" b="1" dirty="0" smtClean="0">
                <a:solidFill>
                  <a:srgbClr val="00B050"/>
                </a:solidFill>
                <a:latin typeface="fkGroteskNeue"/>
              </a:rPr>
              <a:t> criteria:</a:t>
            </a:r>
          </a:p>
          <a:p>
            <a:pPr marL="742950" lvl="1" indent="-285750" algn="just">
              <a:buFont typeface="Arial" panose="020B0604020202020204" pitchFamily="34" charset="0"/>
              <a:buChar char="•"/>
            </a:pPr>
            <a:r>
              <a:rPr lang="en-US" dirty="0" smtClean="0">
                <a:latin typeface="fkGroteskNeue"/>
              </a:rPr>
              <a:t>At frequency </a:t>
            </a:r>
            <a:r>
              <a:rPr lang="en-US" i="1" dirty="0" smtClean="0">
                <a:latin typeface="KaTeX_Math"/>
              </a:rPr>
              <a:t>ω</a:t>
            </a:r>
            <a:r>
              <a:rPr lang="en-US" dirty="0" smtClean="0">
                <a:latin typeface="KaTeX_Main"/>
              </a:rPr>
              <a:t>0</a:t>
            </a:r>
            <a:r>
              <a:rPr lang="en-US" dirty="0" smtClean="0">
                <a:latin typeface="fkGroteskNeue"/>
              </a:rPr>
              <a:t>, loop gain magnitude is unity: </a:t>
            </a:r>
            <a:r>
              <a:rPr lang="en-US" dirty="0" smtClean="0">
                <a:latin typeface="KaTeX_Main"/>
              </a:rPr>
              <a:t>∣</a:t>
            </a:r>
            <a:r>
              <a:rPr lang="en-US" i="1" dirty="0" smtClean="0">
                <a:latin typeface="KaTeX_Math"/>
              </a:rPr>
              <a:t>H</a:t>
            </a:r>
            <a:r>
              <a:rPr lang="en-US" dirty="0" smtClean="0">
                <a:latin typeface="KaTeX_Main"/>
              </a:rPr>
              <a:t>(</a:t>
            </a:r>
            <a:r>
              <a:rPr lang="en-US" i="1" dirty="0" smtClean="0">
                <a:latin typeface="KaTeX_Math"/>
              </a:rPr>
              <a:t>jω</a:t>
            </a:r>
            <a:r>
              <a:rPr lang="en-US" dirty="0" smtClean="0">
                <a:latin typeface="KaTeX_Main"/>
              </a:rPr>
              <a:t>0)∣=1</a:t>
            </a:r>
            <a:endParaRPr lang="en-US" dirty="0" smtClean="0">
              <a:latin typeface="fkGroteskNeue"/>
            </a:endParaRPr>
          </a:p>
          <a:p>
            <a:pPr marL="742950" lvl="1" indent="-285750" algn="just">
              <a:buFont typeface="Arial" panose="020B0604020202020204" pitchFamily="34" charset="0"/>
              <a:buChar char="•"/>
            </a:pPr>
            <a:r>
              <a:rPr lang="en-US" dirty="0" smtClean="0">
                <a:latin typeface="fkGroteskNeue"/>
              </a:rPr>
              <a:t>Total phase shift is 360° (which is equivalent to 0°, so signal reinforces itself).</a:t>
            </a:r>
          </a:p>
          <a:p>
            <a:pPr marL="342900" indent="-342900" algn="just">
              <a:buFont typeface="Arial" panose="020B0604020202020204" pitchFamily="34" charset="0"/>
              <a:buChar char="•"/>
            </a:pP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7008995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Neue"/>
              </a:rPr>
              <a:t>Simple feedback system:</a:t>
            </a:r>
            <a:endParaRPr lang="en-US" dirty="0"/>
          </a:p>
        </p:txBody>
      </p:sp>
      <p:sp>
        <p:nvSpPr>
          <p:cNvPr id="3" name="Text Placeholder 2"/>
          <p:cNvSpPr>
            <a:spLocks noGrp="1"/>
          </p:cNvSpPr>
          <p:nvPr>
            <p:ph type="body" idx="1"/>
          </p:nvPr>
        </p:nvSpPr>
        <p:spPr>
          <a:xfrm>
            <a:off x="844551" y="1327353"/>
            <a:ext cx="5378450" cy="3693319"/>
          </a:xfrm>
        </p:spPr>
        <p:txBody>
          <a:bodyPr/>
          <a:lstStyle/>
          <a:p>
            <a:pPr marL="342900" indent="-342900" algn="just">
              <a:buFont typeface="Wingdings" panose="05000000000000000000" pitchFamily="2" charset="2"/>
              <a:buChar char="q"/>
            </a:pPr>
            <a:r>
              <a:rPr lang="en-US" dirty="0" smtClean="0">
                <a:latin typeface="fkGroteskNeue"/>
              </a:rPr>
              <a:t>Signal </a:t>
            </a:r>
            <a:r>
              <a:rPr lang="en-US" dirty="0">
                <a:latin typeface="fkGroteskNeue"/>
              </a:rPr>
              <a:t>traverses amplifier and feedback block; phase goes to 180° at key frequency and returns around the loop, growing if conditions are right. </a:t>
            </a:r>
            <a:endParaRPr lang="en-US" dirty="0" smtClean="0">
              <a:latin typeface="fkGroteskNeue"/>
            </a:endParaRPr>
          </a:p>
          <a:p>
            <a:pPr marL="342900" indent="-342900" algn="just">
              <a:buFont typeface="Wingdings" panose="05000000000000000000" pitchFamily="2" charset="2"/>
              <a:buChar char="q"/>
            </a:pPr>
            <a:r>
              <a:rPr lang="en-US" dirty="0" smtClean="0">
                <a:latin typeface="fkGroteskNeue"/>
              </a:rPr>
              <a:t>In </a:t>
            </a:r>
            <a:r>
              <a:rPr lang="en-US" dirty="0">
                <a:latin typeface="fkGroteskNeue"/>
              </a:rPr>
              <a:t>the op-amp example, feedback is negative at low frequencies but can become positive if phase/gain criteria are met, causing oscillation. </a:t>
            </a:r>
            <a:endParaRPr lang="en-US" dirty="0" smtClean="0">
              <a:latin typeface="fkGroteskNeue"/>
            </a:endParaRPr>
          </a:p>
          <a:p>
            <a:pPr marL="342900" indent="-342900" algn="just">
              <a:buFont typeface="Wingdings" panose="05000000000000000000" pitchFamily="2" charset="2"/>
              <a:buChar char="q"/>
            </a:pPr>
            <a:r>
              <a:rPr lang="en-US" dirty="0" smtClean="0">
                <a:latin typeface="fkGroteskNeue"/>
              </a:rPr>
              <a:t>Plots </a:t>
            </a:r>
            <a:r>
              <a:rPr lang="en-US" dirty="0">
                <a:latin typeface="fkGroteskNeue"/>
              </a:rPr>
              <a:t>show gain/phase versus frequency; at the oscillation point, the phase crosses 180° and gain is unity, matching </a:t>
            </a:r>
            <a:r>
              <a:rPr lang="en-US" dirty="0" err="1">
                <a:latin typeface="fkGroteskNeue"/>
              </a:rPr>
              <a:t>Barkhausen</a:t>
            </a:r>
            <a:r>
              <a:rPr lang="en-US" dirty="0">
                <a:latin typeface="fkGroteskNeue"/>
              </a:rPr>
              <a:t> </a:t>
            </a:r>
            <a:r>
              <a:rPr lang="en-US" dirty="0" smtClean="0">
                <a:latin typeface="fkGroteskNeue"/>
              </a:rPr>
              <a:t>conditions.</a:t>
            </a:r>
            <a:endParaRPr lang="en-US" dirty="0"/>
          </a:p>
        </p:txBody>
      </p:sp>
      <p:sp>
        <p:nvSpPr>
          <p:cNvPr id="4" name="Footer Placeholder 3"/>
          <p:cNvSpPr>
            <a:spLocks noGrp="1"/>
          </p:cNvSpPr>
          <p:nvPr>
            <p:ph type="ftr" sz="quarter" idx="5"/>
          </p:nvPr>
        </p:nvSpPr>
        <p:spPr>
          <a:xfrm>
            <a:off x="5475952" y="6523281"/>
            <a:ext cx="1362170" cy="251230"/>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59056" y="6530469"/>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l="9343"/>
          <a:stretch/>
        </p:blipFill>
        <p:spPr>
          <a:xfrm>
            <a:off x="6522132" y="1093070"/>
            <a:ext cx="5587999" cy="4785888"/>
          </a:xfrm>
          <a:prstGeom prst="rect">
            <a:avLst/>
          </a:prstGeom>
        </p:spPr>
      </p:pic>
    </p:spTree>
    <p:extLst>
      <p:ext uri="{BB962C8B-B14F-4D97-AF65-F5344CB8AC3E}">
        <p14:creationId xmlns:p14="http://schemas.microsoft.com/office/powerpoint/2010/main" val="7162826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err="1">
                <a:latin typeface="fkGrotesk"/>
              </a:rPr>
              <a:t>Barkhausen's</a:t>
            </a:r>
            <a:r>
              <a:rPr lang="en-US" dirty="0">
                <a:latin typeface="fkGrotesk"/>
              </a:rPr>
              <a:t> Criteria &amp; Oscillatory </a:t>
            </a:r>
            <a:r>
              <a:rPr lang="en-US" dirty="0" smtClean="0">
                <a:latin typeface="fkGrotesk"/>
              </a:rPr>
              <a:t>Feedback</a:t>
            </a:r>
            <a:endParaRPr lang="en-US" dirty="0"/>
          </a:p>
        </p:txBody>
      </p:sp>
      <p:sp>
        <p:nvSpPr>
          <p:cNvPr id="3" name="Text Placeholder 2"/>
          <p:cNvSpPr>
            <a:spLocks noGrp="1"/>
          </p:cNvSpPr>
          <p:nvPr>
            <p:ph type="body" idx="1"/>
          </p:nvPr>
        </p:nvSpPr>
        <p:spPr>
          <a:xfrm>
            <a:off x="844550" y="1327353"/>
            <a:ext cx="10475383" cy="2462213"/>
          </a:xfrm>
        </p:spPr>
        <p:txBody>
          <a:bodyPr/>
          <a:lstStyle/>
          <a:p>
            <a:pPr marL="342900" indent="-342900" algn="just">
              <a:buFont typeface="Wingdings" panose="05000000000000000000" pitchFamily="2" charset="2"/>
              <a:buChar char="q"/>
            </a:pPr>
            <a:r>
              <a:rPr lang="en-US" b="1" dirty="0" smtClean="0">
                <a:solidFill>
                  <a:srgbClr val="00B050"/>
                </a:solidFill>
                <a:latin typeface="fkGroteskNeue"/>
              </a:rPr>
              <a:t>Core </a:t>
            </a:r>
            <a:r>
              <a:rPr lang="en-US" b="1" dirty="0">
                <a:solidFill>
                  <a:srgbClr val="00B050"/>
                </a:solidFill>
                <a:latin typeface="fkGroteskNeue"/>
              </a:rPr>
              <a:t>Insight:</a:t>
            </a:r>
            <a:r>
              <a:rPr lang="en-US" dirty="0">
                <a:latin typeface="fkGroteskNeue"/>
              </a:rPr>
              <a:t> Oscillation in electronic circuits emerges not just from periodic energy cycling (as in mechanical analogies), but from a feedback loop set by </a:t>
            </a:r>
            <a:r>
              <a:rPr lang="en-US" dirty="0" err="1">
                <a:latin typeface="fkGroteskNeue"/>
              </a:rPr>
              <a:t>Barkhausen’s</a:t>
            </a:r>
            <a:r>
              <a:rPr lang="en-US" dirty="0">
                <a:latin typeface="fkGroteskNeue"/>
              </a:rPr>
              <a:t> criteria. When the gain and phase conditions are just right at a particular frequency, even infinitesimal noise or input is amplified, causing sustained oscillations.</a:t>
            </a:r>
          </a:p>
          <a:p>
            <a:pPr marL="342900" indent="-342900" algn="just">
              <a:buFont typeface="Wingdings" panose="05000000000000000000" pitchFamily="2" charset="2"/>
              <a:buChar char="q"/>
            </a:pPr>
            <a:r>
              <a:rPr lang="en-US" b="1" dirty="0">
                <a:solidFill>
                  <a:srgbClr val="00B050"/>
                </a:solidFill>
                <a:latin typeface="fkGroteskNeue"/>
              </a:rPr>
              <a:t>Physical Intuition: </a:t>
            </a:r>
            <a:r>
              <a:rPr lang="en-US" dirty="0">
                <a:latin typeface="fkGroteskNeue"/>
              </a:rPr>
              <a:t>The feedback acts like a "push" at just the right phase and amplitude, so each cycle is reinforced, just as gentle, correctly timed pushes keep a pendulum swinging</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4890810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270" y="238539"/>
            <a:ext cx="12009120" cy="523220"/>
          </a:xfrm>
        </p:spPr>
        <p:txBody>
          <a:bodyPr/>
          <a:lstStyle/>
          <a:p>
            <a:r>
              <a:rPr lang="en-US" dirty="0" err="1" smtClean="0"/>
              <a:t>Ocillatory</a:t>
            </a:r>
            <a:r>
              <a:rPr lang="en-US" dirty="0" smtClean="0"/>
              <a:t> </a:t>
            </a:r>
            <a:r>
              <a:rPr lang="en-US" dirty="0"/>
              <a:t>Feedback System: </a:t>
            </a:r>
            <a:r>
              <a:rPr lang="en-US" dirty="0" smtClean="0"/>
              <a:t>Intuitive Understanding</a:t>
            </a:r>
            <a:endParaRPr lang="en-US" dirty="0"/>
          </a:p>
        </p:txBody>
      </p:sp>
      <p:sp>
        <p:nvSpPr>
          <p:cNvPr id="3" name="Text Placeholder 2"/>
          <p:cNvSpPr>
            <a:spLocks noGrp="1"/>
          </p:cNvSpPr>
          <p:nvPr>
            <p:ph type="body" idx="1"/>
          </p:nvPr>
        </p:nvSpPr>
        <p:spPr>
          <a:xfrm>
            <a:off x="351612" y="1499539"/>
            <a:ext cx="11643783" cy="1538883"/>
          </a:xfrm>
        </p:spPr>
        <p:txBody>
          <a:bodyPr/>
          <a:lstStyle/>
          <a:p>
            <a:pPr algn="l"/>
            <a:r>
              <a:rPr lang="en-US" b="1" dirty="0">
                <a:latin typeface="fkGrotesk"/>
              </a:rPr>
              <a:t>1. Understanding Negative Feedback Leading to Oscillation</a:t>
            </a:r>
          </a:p>
          <a:p>
            <a:pPr marL="800100" lvl="1" indent="-342900" algn="l">
              <a:buFont typeface="Wingdings" panose="05000000000000000000" pitchFamily="2" charset="2"/>
              <a:buChar char="q"/>
            </a:pPr>
            <a:r>
              <a:rPr lang="en-US" sz="2000" dirty="0">
                <a:latin typeface="fkGroteskNeue"/>
              </a:rPr>
              <a:t>Unlike typical negative feedback that stabilizes amplifiers, under specific conditions, negative feedback can become unstable and produce oscillations. </a:t>
            </a:r>
            <a:endParaRPr lang="en-US" sz="2000" dirty="0" smtClean="0">
              <a:latin typeface="fkGroteskNeue"/>
            </a:endParaRPr>
          </a:p>
          <a:p>
            <a:pPr marL="800100" lvl="1" indent="-342900" algn="l">
              <a:buFont typeface="Wingdings" panose="05000000000000000000" pitchFamily="2" charset="2"/>
              <a:buChar char="q"/>
            </a:pPr>
            <a:r>
              <a:rPr lang="en-US" sz="2000" dirty="0" smtClean="0">
                <a:latin typeface="fkGroteskNeue"/>
              </a:rPr>
              <a:t>This </a:t>
            </a:r>
            <a:r>
              <a:rPr lang="en-US" sz="2000" dirty="0">
                <a:latin typeface="fkGroteskNeue"/>
              </a:rPr>
              <a:t>happens when the system "fights itself" in just the right way to create sustained periodic behavior</a:t>
            </a:r>
            <a:r>
              <a:rPr lang="en-US" dirty="0" smtClean="0">
                <a:latin typeface="fkGroteskNeue"/>
              </a:rPr>
              <a:t>.</a:t>
            </a: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38515668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469254" y="1200353"/>
            <a:ext cx="6419850" cy="4308872"/>
          </a:xfrm>
        </p:spPr>
        <p:txBody>
          <a:bodyPr/>
          <a:lstStyle/>
          <a:p>
            <a:pPr marL="342900" lvl="0" indent="-342900" algn="just">
              <a:buFont typeface="Wingdings" panose="05000000000000000000" pitchFamily="2" charset="2"/>
              <a:buChar char="q"/>
            </a:pPr>
            <a:r>
              <a:rPr lang="en-US" sz="1800" b="1" dirty="0" smtClean="0">
                <a:solidFill>
                  <a:prstClr val="black"/>
                </a:solidFill>
                <a:latin typeface="fkGroteskNeue"/>
              </a:rPr>
              <a:t>Figure </a:t>
            </a:r>
            <a:r>
              <a:rPr lang="en-US" sz="1800" b="1" dirty="0">
                <a:solidFill>
                  <a:prstClr val="black"/>
                </a:solidFill>
                <a:latin typeface="fkGroteskNeue"/>
              </a:rPr>
              <a:t>1.2(a): </a:t>
            </a:r>
            <a:r>
              <a:rPr lang="en-US" sz="1800" dirty="0">
                <a:solidFill>
                  <a:prstClr val="black"/>
                </a:solidFill>
                <a:latin typeface="fkGroteskNeue"/>
              </a:rPr>
              <a:t>Shows a basic negative feedback system where the output is subtracted from the input. The negative sign at the summer indicates phase inversion.</a:t>
            </a:r>
          </a:p>
          <a:p>
            <a:pPr marL="342900" lvl="0" indent="-342900" algn="just">
              <a:buFont typeface="Wingdings" panose="05000000000000000000" pitchFamily="2" charset="2"/>
              <a:buChar char="q"/>
            </a:pPr>
            <a:r>
              <a:rPr lang="en-US" sz="1800" b="1" dirty="0">
                <a:solidFill>
                  <a:prstClr val="black"/>
                </a:solidFill>
                <a:latin typeface="fkGroteskNeue"/>
              </a:rPr>
              <a:t>Figure 1.2(b): </a:t>
            </a:r>
            <a:r>
              <a:rPr lang="en-US" sz="1800" dirty="0">
                <a:solidFill>
                  <a:prstClr val="black"/>
                </a:solidFill>
                <a:latin typeface="fkGroteskNeue"/>
              </a:rPr>
              <a:t>An op-amp implementation where the inverting input creates the necessary 180° phase shift for negative feedback.</a:t>
            </a:r>
          </a:p>
          <a:p>
            <a:pPr marL="342900" lvl="0" indent="-342900" algn="just">
              <a:buFont typeface="Wingdings" panose="05000000000000000000" pitchFamily="2" charset="2"/>
              <a:buChar char="q"/>
            </a:pPr>
            <a:r>
              <a:rPr lang="en-US" sz="1800" b="1" dirty="0">
                <a:solidFill>
                  <a:prstClr val="black"/>
                </a:solidFill>
                <a:latin typeface="fkGroteskNeue"/>
              </a:rPr>
              <a:t>Figure 1.2(c): </a:t>
            </a:r>
            <a:r>
              <a:rPr lang="en-US" sz="1800" dirty="0">
                <a:solidFill>
                  <a:prstClr val="black"/>
                </a:solidFill>
                <a:latin typeface="fkGroteskNeue"/>
              </a:rPr>
              <a:t>The frequency response plot showing how phase margin decreases with frequency. When phase reaches -180°, the "negative" feedback becomes "positive" feedback, potentially causing oscillation.</a:t>
            </a:r>
          </a:p>
          <a:p>
            <a:pPr marL="342900" lvl="0" indent="-342900" algn="just">
              <a:buFont typeface="Wingdings" panose="05000000000000000000" pitchFamily="2" charset="2"/>
              <a:buChar char="q"/>
            </a:pPr>
            <a:r>
              <a:rPr lang="en-US" sz="1800" b="1" dirty="0">
                <a:solidFill>
                  <a:prstClr val="black"/>
                </a:solidFill>
                <a:latin typeface="fkGroteskNeue"/>
              </a:rPr>
              <a:t>Figure 1.2(d) &amp; (e): </a:t>
            </a:r>
            <a:r>
              <a:rPr lang="en-US" sz="1800" dirty="0">
                <a:solidFill>
                  <a:prstClr val="black"/>
                </a:solidFill>
                <a:latin typeface="fkGroteskNeue"/>
              </a:rPr>
              <a:t>Shows signal propagation around the loop. At the oscillation frequency ω₀, a sinusoid experiences 360° total phase shift (180° from amplifier + 180° from feedback), making it return in-phase and reinforcing itself</a:t>
            </a:r>
            <a:r>
              <a:rPr lang="en-US" sz="1800" dirty="0" smtClean="0">
                <a:solidFill>
                  <a:prstClr val="black"/>
                </a:solidFill>
                <a:latin typeface="fkGroteskNeue"/>
              </a:rPr>
              <a:t>.</a:t>
            </a:r>
            <a:endParaRPr lang="en-US" sz="1800" dirty="0">
              <a:solidFill>
                <a:prstClr val="black"/>
              </a:solidFill>
              <a:latin typeface="fkGroteskNeue"/>
            </a:endParaRPr>
          </a:p>
        </p:txBody>
      </p:sp>
      <p:sp>
        <p:nvSpPr>
          <p:cNvPr id="4" name="Footer Placeholder 3"/>
          <p:cNvSpPr>
            <a:spLocks noGrp="1"/>
          </p:cNvSpPr>
          <p:nvPr>
            <p:ph type="ftr" sz="quarter" idx="5"/>
          </p:nvPr>
        </p:nvSpPr>
        <p:spPr>
          <a:xfrm>
            <a:off x="5455411" y="6708591"/>
            <a:ext cx="1368722" cy="1494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146727"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l="9343" t="2169" r="7280"/>
          <a:stretch/>
        </p:blipFill>
        <p:spPr>
          <a:xfrm>
            <a:off x="7052734" y="706965"/>
            <a:ext cx="5139266" cy="4682066"/>
          </a:xfrm>
          <a:prstGeom prst="rect">
            <a:avLst/>
          </a:prstGeom>
        </p:spPr>
      </p:pic>
      <p:sp>
        <p:nvSpPr>
          <p:cNvPr id="8" name="Rectangle 7"/>
          <p:cNvSpPr/>
          <p:nvPr/>
        </p:nvSpPr>
        <p:spPr>
          <a:xfrm>
            <a:off x="7145867" y="5444172"/>
            <a:ext cx="5046133" cy="1477328"/>
          </a:xfrm>
          <a:prstGeom prst="rect">
            <a:avLst/>
          </a:prstGeom>
        </p:spPr>
        <p:txBody>
          <a:bodyPr wrap="square">
            <a:spAutoFit/>
          </a:bodyPr>
          <a:lstStyle/>
          <a:p>
            <a:pPr algn="just"/>
            <a:r>
              <a:rPr lang="en-US" b="1" dirty="0">
                <a:solidFill>
                  <a:prstClr val="black"/>
                </a:solidFill>
                <a:latin typeface="fkGroteskNeue"/>
              </a:rPr>
              <a:t>Figure </a:t>
            </a:r>
            <a:r>
              <a:rPr lang="en-US" b="1" dirty="0" smtClean="0">
                <a:solidFill>
                  <a:prstClr val="black"/>
                </a:solidFill>
                <a:latin typeface="fkGroteskNeue"/>
              </a:rPr>
              <a:t>1.2 </a:t>
            </a:r>
            <a:r>
              <a:rPr lang="en-US" dirty="0" smtClean="0">
                <a:solidFill>
                  <a:srgbClr val="231F20"/>
                </a:solidFill>
                <a:latin typeface="T3Font_83"/>
              </a:rPr>
              <a:t>(a</a:t>
            </a:r>
            <a:r>
              <a:rPr lang="en-US" dirty="0">
                <a:solidFill>
                  <a:srgbClr val="231F20"/>
                </a:solidFill>
                <a:latin typeface="T3Font_83"/>
              </a:rPr>
              <a:t>) Simple feedback system, (b) realization using an op amp, (c) open-loop frequency response showing </a:t>
            </a:r>
            <a:r>
              <a:rPr lang="en-US" dirty="0" smtClean="0">
                <a:solidFill>
                  <a:srgbClr val="231F20"/>
                </a:solidFill>
                <a:latin typeface="T3Font_83"/>
              </a:rPr>
              <a:t>zero phase </a:t>
            </a:r>
            <a:r>
              <a:rPr lang="en-US" dirty="0">
                <a:solidFill>
                  <a:srgbClr val="231F20"/>
                </a:solidFill>
                <a:latin typeface="T3Font_83"/>
              </a:rPr>
              <a:t>margin, (d) signal inversion at </a:t>
            </a:r>
            <a:r>
              <a:rPr lang="en-US" dirty="0">
                <a:solidFill>
                  <a:srgbClr val="231F20"/>
                </a:solidFill>
                <a:latin typeface="T3Font_88"/>
              </a:rPr>
              <a:t>ω</a:t>
            </a:r>
            <a:r>
              <a:rPr lang="en-US" sz="800" b="0" i="0" u="none" strike="noStrike" baseline="0" dirty="0" smtClean="0">
                <a:solidFill>
                  <a:srgbClr val="231F20"/>
                </a:solidFill>
                <a:latin typeface="T3Font_85"/>
              </a:rPr>
              <a:t>0</a:t>
            </a:r>
            <a:r>
              <a:rPr lang="en-US" dirty="0" smtClean="0">
                <a:solidFill>
                  <a:srgbClr val="231F20"/>
                </a:solidFill>
                <a:latin typeface="T3Font_83"/>
              </a:rPr>
              <a:t>, and </a:t>
            </a:r>
            <a:r>
              <a:rPr lang="en-US" dirty="0">
                <a:solidFill>
                  <a:srgbClr val="231F20"/>
                </a:solidFill>
                <a:latin typeface="T3Font_83"/>
              </a:rPr>
              <a:t>(e) propagation of a sinusoid at </a:t>
            </a:r>
            <a:r>
              <a:rPr lang="en-US" dirty="0">
                <a:solidFill>
                  <a:srgbClr val="231F20"/>
                </a:solidFill>
                <a:latin typeface="T3Font_88"/>
              </a:rPr>
              <a:t>ω</a:t>
            </a:r>
            <a:r>
              <a:rPr lang="en-US" sz="800" b="0" i="0" u="none" strike="noStrike" baseline="0" dirty="0" smtClean="0">
                <a:solidFill>
                  <a:srgbClr val="231F20"/>
                </a:solidFill>
                <a:latin typeface="T3Font_85"/>
              </a:rPr>
              <a:t>0 </a:t>
            </a:r>
            <a:r>
              <a:rPr lang="en-US" dirty="0">
                <a:solidFill>
                  <a:srgbClr val="231F20"/>
                </a:solidFill>
                <a:latin typeface="T3Font_83"/>
              </a:rPr>
              <a:t>around the loop.</a:t>
            </a:r>
            <a:endParaRPr lang="en-US" dirty="0"/>
          </a:p>
        </p:txBody>
      </p:sp>
    </p:spTree>
    <p:extLst>
      <p:ext uri="{BB962C8B-B14F-4D97-AF65-F5344CB8AC3E}">
        <p14:creationId xmlns:p14="http://schemas.microsoft.com/office/powerpoint/2010/main" val="153348881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Deep Dive</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7490928" cy="5030864"/>
              </a:xfrm>
            </p:spPr>
            <p:txBody>
              <a:bodyPr/>
              <a:lstStyle/>
              <a:p>
                <a:r>
                  <a:rPr lang="en-US" sz="1600" b="1" dirty="0">
                    <a:solidFill>
                      <a:srgbClr val="000000"/>
                    </a:solidFill>
                    <a:latin typeface="inter"/>
                    <a:ea typeface="inter"/>
                    <a:cs typeface="inter"/>
                  </a:rPr>
                  <a:t>Closed-Loop Transfer Function: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𝑌</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num>
                        <m:den>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𝑋</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...(1.1)</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b="1" dirty="0">
                    <a:solidFill>
                      <a:srgbClr val="000000"/>
                    </a:solidFill>
                    <a:effectLst/>
                    <a:latin typeface="inter"/>
                    <a:ea typeface="inter"/>
                    <a:cs typeface="inter"/>
                  </a:rPr>
                  <a:t>Poles and Stability Analysis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The closed-loop poles are the roots of:</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 ⇒ </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b="1" dirty="0">
                    <a:solidFill>
                      <a:srgbClr val="000000"/>
                    </a:solidFill>
                    <a:latin typeface="inter"/>
                    <a:ea typeface="inter"/>
                    <a:cs typeface="inter"/>
                  </a:rPr>
                  <a:t>Case 1: Stable System</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All poles have negative real parts (</a:t>
                </a:r>
                <a14:m>
                  <m:oMath xmlns:m="http://schemas.openxmlformats.org/officeDocument/2006/math">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Re</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)&lt;0</m:t>
                    </m:r>
                  </m:oMath>
                </a14:m>
                <a:r>
                  <a:rPr lang="en-US" sz="1600" dirty="0">
                    <a:solidFill>
                      <a:srgbClr val="000000"/>
                    </a:solidFill>
                    <a:latin typeface="inter"/>
                    <a:ea typeface="inter"/>
                    <a:cs typeface="inter"/>
                  </a:rPr>
                  <a:t>). System responses decay to zero. Bounded inputs produce bounded outputs.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b="1" dirty="0">
                    <a:solidFill>
                      <a:srgbClr val="000000"/>
                    </a:solidFill>
                    <a:latin typeface="inter"/>
                    <a:ea typeface="inter"/>
                    <a:cs typeface="inter"/>
                  </a:rPr>
                  <a:t>Case 2: Marginal Stability (Oscillation Boundary)</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Poles lie on the imaginary axis (</a:t>
                </a:r>
                <a14:m>
                  <m:oMath xmlns:m="http://schemas.openxmlformats.org/officeDocument/2006/math">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Re</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r>
                  <a:rPr lang="en-US" sz="1600" dirty="0">
                    <a:solidFill>
                      <a:srgbClr val="000000"/>
                    </a:solidFill>
                    <a:latin typeface="inter"/>
                    <a:ea typeface="inter"/>
                    <a:cs typeface="inter"/>
                  </a:rPr>
                  <a:t>). For simple poles at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At this frequency, the closed-loop transfer function magnitude approaches infinity:</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d>
                        <m:dPr>
                          <m:begChr m:val="|"/>
                          <m:endChr m:val="|"/>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𝑌</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num>
                            <m:den>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𝑋</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e>
                      </m:d>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den>
                          </m:f>
                        </m:e>
                      </m:d>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den>
                          </m:f>
                        </m:e>
                      </m:d>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A small input at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latin typeface="inter"/>
                    <a:ea typeface="inter"/>
                    <a:cs typeface="inter"/>
                  </a:rPr>
                  <a:t> produces finite or growing output—the hallmark of oscillation.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b="1" dirty="0">
                    <a:solidFill>
                      <a:srgbClr val="000000"/>
                    </a:solidFill>
                    <a:latin typeface="inter"/>
                    <a:ea typeface="inter"/>
                    <a:cs typeface="inter"/>
                  </a:rPr>
                  <a:t>Case 3: Unstable System</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At least one pole has positive real part (</a:t>
                </a:r>
                <a14:m>
                  <m:oMath xmlns:m="http://schemas.openxmlformats.org/officeDocument/2006/math">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Re</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)&gt;0</m:t>
                    </m:r>
                  </m:oMath>
                </a14:m>
                <a:r>
                  <a:rPr lang="en-US" sz="1600" dirty="0">
                    <a:solidFill>
                      <a:srgbClr val="000000"/>
                    </a:solidFill>
                    <a:latin typeface="inter"/>
                    <a:ea typeface="inter"/>
                    <a:cs typeface="inter"/>
                  </a:rPr>
                  <a:t>). Outputs grow exponentially without bounded input.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sz="14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7490928" cy="5030864"/>
              </a:xfrm>
              <a:blipFill>
                <a:blip r:embed="rId2"/>
                <a:stretch>
                  <a:fillRect l="-2117" t="-1333"/>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8" name="Picture 7"/>
          <p:cNvPicPr>
            <a:picLocks noChangeAspect="1"/>
          </p:cNvPicPr>
          <p:nvPr/>
        </p:nvPicPr>
        <p:blipFill rotWithShape="1">
          <a:blip r:embed="rId3"/>
          <a:srcRect b="25158"/>
          <a:stretch/>
        </p:blipFill>
        <p:spPr>
          <a:xfrm>
            <a:off x="7783417" y="1250950"/>
            <a:ext cx="4408583" cy="1456690"/>
          </a:xfrm>
          <a:prstGeom prst="rect">
            <a:avLst/>
          </a:prstGeom>
        </p:spPr>
      </p:pic>
    </p:spTree>
    <p:extLst>
      <p:ext uri="{BB962C8B-B14F-4D97-AF65-F5344CB8AC3E}">
        <p14:creationId xmlns:p14="http://schemas.microsoft.com/office/powerpoint/2010/main" val="28535690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6490970" cy="5058180"/>
              </a:xfrm>
            </p:spPr>
            <p:txBody>
              <a:bodyPr/>
              <a:lstStyle/>
              <a:p>
                <a:r>
                  <a:rPr lang="en-US" b="1" dirty="0">
                    <a:solidFill>
                      <a:srgbClr val="000000"/>
                    </a:solidFill>
                    <a:latin typeface="inter"/>
                    <a:ea typeface="inter"/>
                    <a:cs typeface="inter"/>
                  </a:rPr>
                  <a:t>Frequency Response of Op-Amp</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The dominant-pole model:</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where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is the dominant pole frequency (typically 10–100 Hz for precision op-amps, higher for general-purpose types).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b="1" dirty="0">
                    <a:solidFill>
                      <a:srgbClr val="000000"/>
                    </a:solidFill>
                    <a:latin typeface="inter"/>
                    <a:ea typeface="inter"/>
                    <a:cs typeface="inter"/>
                  </a:rPr>
                  <a:t>Low-Frequency Behavior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b="1"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Phase shift: </a:t>
                </a:r>
                <a14:m>
                  <m:oMath xmlns:m="http://schemas.openxmlformats.org/officeDocument/2006/math">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b="1" dirty="0">
                    <a:solidFill>
                      <a:srgbClr val="000000"/>
                    </a:solidFill>
                    <a:latin typeface="inter"/>
                    <a:ea typeface="inter"/>
                    <a:cs typeface="inter"/>
                  </a:rPr>
                  <a:t>High-Frequency Behavior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b="1"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num>
                        <m:den>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This behaves as an integrator with </a:t>
                </a:r>
                <a:r>
                  <a:rPr lang="en-US" sz="1600" dirty="0" err="1">
                    <a:solidFill>
                      <a:srgbClr val="000000"/>
                    </a:solidFill>
                    <a:latin typeface="inter"/>
                    <a:ea typeface="inter"/>
                    <a:cs typeface="inter"/>
                  </a:rPr>
                  <a:t>rolloff</a:t>
                </a:r>
                <a:r>
                  <a:rPr lang="en-US" sz="1600" dirty="0">
                    <a:solidFill>
                      <a:srgbClr val="000000"/>
                    </a:solidFill>
                    <a:latin typeface="inter"/>
                    <a:ea typeface="inter"/>
                    <a:cs typeface="inter"/>
                  </a:rPr>
                  <a:t> at –20 dB/decade.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Phase shift: </a:t>
                </a:r>
                <a14:m>
                  <m:oMath xmlns:m="http://schemas.openxmlformats.org/officeDocument/2006/math">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90°</m:t>
                    </m:r>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b="1" dirty="0">
                    <a:solidFill>
                      <a:srgbClr val="000000"/>
                    </a:solidFill>
                    <a:latin typeface="inter"/>
                    <a:ea typeface="inter"/>
                    <a:cs typeface="inter"/>
                  </a:rPr>
                  <a:t>Critical Point:</a:t>
                </a:r>
                <a:r>
                  <a:rPr lang="en-US" sz="1600" dirty="0">
                    <a:solidFill>
                      <a:srgbClr val="000000"/>
                    </a:solidFill>
                    <a:latin typeface="inter"/>
                    <a:ea typeface="inter"/>
                    <a:cs typeface="inter"/>
                  </a:rPr>
                  <a:t> A single-pole op-amp never achieves a phase shift of –180°. Therefore, an op-amp alone cannot satisfy the </a:t>
                </a:r>
                <a:r>
                  <a:rPr lang="en-US" sz="1600" dirty="0" err="1">
                    <a:solidFill>
                      <a:srgbClr val="000000"/>
                    </a:solidFill>
                    <a:latin typeface="inter"/>
                    <a:ea typeface="inter"/>
                    <a:cs typeface="inter"/>
                  </a:rPr>
                  <a:t>Barkhausen</a:t>
                </a:r>
                <a:r>
                  <a:rPr lang="en-US" sz="1600" dirty="0">
                    <a:solidFill>
                      <a:srgbClr val="000000"/>
                    </a:solidFill>
                    <a:latin typeface="inter"/>
                    <a:ea typeface="inter"/>
                    <a:cs typeface="inter"/>
                  </a:rPr>
                  <a:t> phase criterion for oscillation. Additional circuit elements (passive feedback networks, delay lines) must provide the missing 180° phase shift.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sz="16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6490970" cy="5058180"/>
              </a:xfrm>
              <a:blipFill>
                <a:blip r:embed="rId2"/>
                <a:stretch>
                  <a:fillRect l="-2444" t="-1568" r="-2068"/>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3"/>
          <a:stretch>
            <a:fillRect/>
          </a:stretch>
        </p:blipFill>
        <p:spPr>
          <a:xfrm>
            <a:off x="7327743" y="1271075"/>
            <a:ext cx="4864257" cy="1655058"/>
          </a:xfrm>
          <a:prstGeom prst="rect">
            <a:avLst/>
          </a:prstGeom>
        </p:spPr>
      </p:pic>
    </p:spTree>
    <p:extLst>
      <p:ext uri="{BB962C8B-B14F-4D97-AF65-F5344CB8AC3E}">
        <p14:creationId xmlns:p14="http://schemas.microsoft.com/office/powerpoint/2010/main" val="2371969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36084" y="1158020"/>
                <a:ext cx="7139517" cy="5259325"/>
              </a:xfrm>
            </p:spPr>
            <p:txBody>
              <a:bodyPr/>
              <a:lstStyle/>
              <a:p>
                <a:pPr algn="ctr"/>
                <a:r>
                  <a:rPr lang="en-US" sz="1800" b="1" dirty="0">
                    <a:solidFill>
                      <a:srgbClr val="000000"/>
                    </a:solidFill>
                    <a:latin typeface="inter"/>
                    <a:ea typeface="inter"/>
                    <a:cs typeface="inter"/>
                  </a:rPr>
                  <a:t>Magnitude Plot Interpretation</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num>
                        <m:den>
                          <m:rad>
                            <m:radPr>
                              <m:degHide m:val="on"/>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e>
                          </m:rad>
                        </m:den>
                      </m:f>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400" dirty="0">
                    <a:solidFill>
                      <a:srgbClr val="000000"/>
                    </a:solidFill>
                    <a:latin typeface="inter"/>
                    <a:ea typeface="inter"/>
                    <a:cs typeface="inter"/>
                  </a:rPr>
                  <a:t>At </a:t>
                </a:r>
                <a14:m>
                  <m:oMath xmlns:m="http://schemas.openxmlformats.org/officeDocument/2006/math">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r>
                  <a:rPr lang="en-US" sz="1400" dirty="0">
                    <a:solidFill>
                      <a:srgbClr val="000000"/>
                    </a:solidFill>
                    <a:latin typeface="inter"/>
                    <a:ea typeface="inter"/>
                    <a:cs typeface="inter"/>
                  </a:rPr>
                  <a:t>: </a:t>
                </a:r>
                <a14:m>
                  <m:oMath xmlns:m="http://schemas.openxmlformats.org/officeDocument/2006/math">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400" dirty="0">
                    <a:solidFill>
                      <a:srgbClr val="000000"/>
                    </a:solidFill>
                    <a:latin typeface="inter"/>
                    <a:ea typeface="inter"/>
                    <a:cs typeface="inter"/>
                  </a:rPr>
                  <a:t> (DC gain)</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400" dirty="0">
                    <a:solidFill>
                      <a:srgbClr val="000000"/>
                    </a:solidFill>
                    <a:latin typeface="inter"/>
                    <a:ea typeface="inter"/>
                    <a:cs typeface="inter"/>
                  </a:rPr>
                  <a:t>At </a:t>
                </a:r>
                <a14:m>
                  <m:oMath xmlns:m="http://schemas.openxmlformats.org/officeDocument/2006/math">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400" dirty="0">
                    <a:solidFill>
                      <a:srgbClr val="000000"/>
                    </a:solidFill>
                    <a:latin typeface="inter"/>
                    <a:ea typeface="inter"/>
                    <a:cs typeface="inter"/>
                  </a:rPr>
                  <a:t>: </a:t>
                </a:r>
                <a14:m>
                  <m:oMath xmlns:m="http://schemas.openxmlformats.org/officeDocument/2006/math">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e>
                    </m:rad>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r>
                      <m:rPr>
                        <m:nor/>
                      </m:rPr>
                      <a:rPr lang="en-US" sz="1400"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dB</m:t>
                    </m:r>
                  </m:oMath>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400" dirty="0">
                    <a:solidFill>
                      <a:srgbClr val="000000"/>
                    </a:solidFill>
                    <a:latin typeface="inter"/>
                    <a:ea typeface="inter"/>
                    <a:cs typeface="inter"/>
                  </a:rPr>
                  <a:t>At </a:t>
                </a:r>
                <a14:m>
                  <m:oMath xmlns:m="http://schemas.openxmlformats.org/officeDocument/2006/math">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400" dirty="0">
                    <a:solidFill>
                      <a:srgbClr val="000000"/>
                    </a:solidFill>
                    <a:latin typeface="inter"/>
                    <a:ea typeface="inter"/>
                    <a:cs typeface="inter"/>
                  </a:rPr>
                  <a:t>: </a:t>
                </a:r>
                <a14:m>
                  <m:oMath xmlns:m="http://schemas.openxmlformats.org/officeDocument/2006/math">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oMath>
                </a14:m>
                <a:r>
                  <a:rPr lang="en-US" sz="1400" dirty="0">
                    <a:solidFill>
                      <a:srgbClr val="000000"/>
                    </a:solidFill>
                    <a:latin typeface="inter"/>
                    <a:ea typeface="inter"/>
                    <a:cs typeface="inter"/>
                  </a:rPr>
                  <a:t> (–20 dB/decade slope)</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r>
                  <a:rPr lang="en-US" sz="1400" dirty="0">
                    <a:solidFill>
                      <a:srgbClr val="000000"/>
                    </a:solidFill>
                    <a:latin typeface="inter"/>
                    <a:ea typeface="inter"/>
                    <a:cs typeface="inter"/>
                  </a:rPr>
                  <a:t>The </a:t>
                </a:r>
                <a:r>
                  <a:rPr lang="en-US" sz="1400" b="1" dirty="0">
                    <a:solidFill>
                      <a:srgbClr val="000000"/>
                    </a:solidFill>
                    <a:latin typeface="inter"/>
                    <a:ea typeface="inter"/>
                    <a:cs typeface="inter"/>
                  </a:rPr>
                  <a:t>gain-crossover frequency</a:t>
                </a:r>
                <a:r>
                  <a:rPr lang="en-US" sz="1400" dirty="0">
                    <a:solidFill>
                      <a:srgbClr val="000000"/>
                    </a:solidFill>
                    <a:latin typeface="inter"/>
                    <a:ea typeface="inter"/>
                    <a:cs typeface="inter"/>
                  </a:rPr>
                  <a:t> </a:t>
                </a:r>
                <a14:m>
                  <m:oMath xmlns:m="http://schemas.openxmlformats.org/officeDocument/2006/math">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sub>
                    </m:sSub>
                  </m:oMath>
                </a14:m>
                <a:r>
                  <a:rPr lang="en-US" sz="1400" dirty="0">
                    <a:solidFill>
                      <a:srgbClr val="000000"/>
                    </a:solidFill>
                    <a:latin typeface="inter"/>
                    <a:ea typeface="inter"/>
                    <a:cs typeface="inter"/>
                  </a:rPr>
                  <a:t> is where magnitude equals 1:</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f>
                        <m:f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num>
                        <m:den>
                          <m:rad>
                            <m:radPr>
                              <m:degHide m:val="on"/>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e>
                          </m:rad>
                        </m:den>
                      </m:f>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ad>
                        <m:radPr>
                          <m:degHide m:val="on"/>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e>
                      </m:rad>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Sup>
                        <m:sSubSup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up>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ad>
                        <m:radPr>
                          <m:degHide m:val="on"/>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sSubSup>
                            <m:sSubSup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up>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e>
                      </m:rad>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for</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large</m:t>
                      </m:r>
                      <m:r>
                        <m:rPr>
                          <m:nor/>
                        </m:rPr>
                        <a:rPr lang="en-US" sz="1400"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r>
                  <a:rPr lang="en-US" sz="1800" b="1" dirty="0">
                    <a:solidFill>
                      <a:srgbClr val="000000"/>
                    </a:solidFill>
                    <a:effectLst/>
                    <a:latin typeface="inter"/>
                    <a:ea typeface="inter"/>
                    <a:cs typeface="inter"/>
                  </a:rPr>
                  <a:t>Phase Plot Interpretation</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arctan</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400" dirty="0">
                    <a:solidFill>
                      <a:srgbClr val="000000"/>
                    </a:solidFill>
                    <a:latin typeface="inter"/>
                    <a:ea typeface="inter"/>
                    <a:cs typeface="inter"/>
                  </a:rPr>
                  <a:t>At </a:t>
                </a:r>
                <a14:m>
                  <m:oMath xmlns:m="http://schemas.openxmlformats.org/officeDocument/2006/math">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r>
                  <a:rPr lang="en-US" sz="1400" dirty="0">
                    <a:solidFill>
                      <a:srgbClr val="000000"/>
                    </a:solidFill>
                    <a:latin typeface="inter"/>
                    <a:ea typeface="inter"/>
                    <a:cs typeface="inter"/>
                  </a:rPr>
                  <a:t>: Phase </a:t>
                </a:r>
                <a14:m>
                  <m:oMath xmlns:m="http://schemas.openxmlformats.org/officeDocument/2006/math">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400" dirty="0">
                    <a:solidFill>
                      <a:srgbClr val="000000"/>
                    </a:solidFill>
                    <a:latin typeface="inter"/>
                    <a:ea typeface="inter"/>
                    <a:cs typeface="inter"/>
                  </a:rPr>
                  <a:t>At </a:t>
                </a:r>
                <a14:m>
                  <m:oMath xmlns:m="http://schemas.openxmlformats.org/officeDocument/2006/math">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400" dirty="0">
                    <a:solidFill>
                      <a:srgbClr val="000000"/>
                    </a:solidFill>
                    <a:latin typeface="inter"/>
                    <a:ea typeface="inter"/>
                    <a:cs typeface="inter"/>
                  </a:rPr>
                  <a:t>: Phase </a:t>
                </a:r>
                <a14:m>
                  <m:oMath xmlns:m="http://schemas.openxmlformats.org/officeDocument/2006/math">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45°</m:t>
                    </m:r>
                  </m:oMath>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400" dirty="0">
                    <a:solidFill>
                      <a:srgbClr val="000000"/>
                    </a:solidFill>
                    <a:latin typeface="inter"/>
                    <a:ea typeface="inter"/>
                    <a:cs typeface="inter"/>
                  </a:rPr>
                  <a:t>At </a:t>
                </a:r>
                <a14:m>
                  <m:oMath xmlns:m="http://schemas.openxmlformats.org/officeDocument/2006/math">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400" dirty="0">
                    <a:solidFill>
                      <a:srgbClr val="000000"/>
                    </a:solidFill>
                    <a:latin typeface="inter"/>
                    <a:ea typeface="inter"/>
                    <a:cs typeface="inter"/>
                  </a:rPr>
                  <a:t>: Phase </a:t>
                </a:r>
                <a14:m>
                  <m:oMath xmlns:m="http://schemas.openxmlformats.org/officeDocument/2006/math">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90°</m:t>
                    </m:r>
                  </m:oMath>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r>
                  <a:rPr lang="en-US" sz="1400" dirty="0">
                    <a:solidFill>
                      <a:srgbClr val="000000"/>
                    </a:solidFill>
                    <a:latin typeface="inter"/>
                    <a:ea typeface="inter"/>
                    <a:cs typeface="inter"/>
                  </a:rPr>
                  <a:t>The phase asymptotically approaches –90° but never reaches –180°.</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endParaRPr lang="en-US" sz="14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36084" y="1158020"/>
                <a:ext cx="7139517" cy="5259325"/>
              </a:xfrm>
              <a:blipFill>
                <a:blip r:embed="rId2"/>
                <a:stretch>
                  <a:fillRect l="-1964" t="-1506"/>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3"/>
          <a:stretch>
            <a:fillRect/>
          </a:stretch>
        </p:blipFill>
        <p:spPr>
          <a:xfrm>
            <a:off x="7708788" y="1034627"/>
            <a:ext cx="4483212" cy="4868712"/>
          </a:xfrm>
          <a:prstGeom prst="rect">
            <a:avLst/>
          </a:prstGeom>
        </p:spPr>
      </p:pic>
    </p:spTree>
    <p:extLst>
      <p:ext uri="{BB962C8B-B14F-4D97-AF65-F5344CB8AC3E}">
        <p14:creationId xmlns:p14="http://schemas.microsoft.com/office/powerpoint/2010/main" val="37147230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187653"/>
                <a:ext cx="11158153" cy="5226880"/>
              </a:xfrm>
            </p:spPr>
            <p:txBody>
              <a:bodyPr/>
              <a:lstStyle/>
              <a:p>
                <a:pPr algn="ctr"/>
                <a:r>
                  <a:rPr lang="en-US" b="1" dirty="0">
                    <a:solidFill>
                      <a:srgbClr val="000000"/>
                    </a:solidFill>
                    <a:latin typeface="inter"/>
                    <a:ea typeface="inter"/>
                    <a:cs typeface="inter"/>
                  </a:rPr>
                  <a:t>Stability Margins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b="1" dirty="0">
                    <a:solidFill>
                      <a:srgbClr val="000000"/>
                    </a:solidFill>
                    <a:latin typeface="inter"/>
                    <a:ea typeface="inter"/>
                    <a:cs typeface="inter"/>
                  </a:rPr>
                  <a:t>Phase Margin (PM):</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PM</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=180°+∠</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where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sub>
                    </m:sSub>
                  </m:oMath>
                </a14:m>
                <a:r>
                  <a:rPr lang="en-US" sz="1600" dirty="0">
                    <a:solidFill>
                      <a:srgbClr val="000000"/>
                    </a:solidFill>
                    <a:latin typeface="inter"/>
                    <a:ea typeface="inter"/>
                    <a:cs typeface="inter"/>
                  </a:rPr>
                  <a:t> is the gain-crossover frequency.</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For the single-pole op-amp:</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45°</m:t>
                      </m:r>
                      <m:r>
                        <m:rPr>
                          <m:nor/>
                        </m:rPr>
                        <a:rPr lang="en-US" sz="1600"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to</m:t>
                      </m:r>
                      <m:r>
                        <m:rPr>
                          <m:nor/>
                        </m:rPr>
                        <a:rPr lang="en-US" sz="1600"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70°</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PM</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≈110°</m:t>
                      </m:r>
                      <m:r>
                        <m:rPr>
                          <m:nor/>
                        </m:rPr>
                        <a:rPr lang="en-US" sz="1600"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to</m:t>
                      </m:r>
                      <m:r>
                        <m:rPr>
                          <m:nor/>
                        </m:rPr>
                        <a:rPr lang="en-US" sz="1600"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135°</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This </a:t>
                </a:r>
                <a:r>
                  <a:rPr lang="en-US" sz="1600" b="1" dirty="0">
                    <a:solidFill>
                      <a:srgbClr val="000000"/>
                    </a:solidFill>
                    <a:latin typeface="inter"/>
                    <a:ea typeface="inter"/>
                    <a:cs typeface="inter"/>
                  </a:rPr>
                  <a:t>positive phase margin</a:t>
                </a:r>
                <a:r>
                  <a:rPr lang="en-US" sz="1600" dirty="0">
                    <a:solidFill>
                      <a:srgbClr val="000000"/>
                    </a:solidFill>
                    <a:latin typeface="inter"/>
                    <a:ea typeface="inter"/>
                    <a:cs typeface="inter"/>
                  </a:rPr>
                  <a:t> indicates stability. The system will not oscillate.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b="1" dirty="0">
                    <a:solidFill>
                      <a:srgbClr val="000000"/>
                    </a:solidFill>
                    <a:latin typeface="inter"/>
                    <a:ea typeface="inter"/>
                    <a:cs typeface="inter"/>
                  </a:rPr>
                  <a:t>Gain Margin (GM):</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GM</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where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is the phase-crossover frequency (where phase = –180°). Since the phase never reaches –180° for a single-pole system, gain margin is infinite, confirming unconditional stability.</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b="1" dirty="0">
                    <a:solidFill>
                      <a:srgbClr val="000000"/>
                    </a:solidFill>
                    <a:effectLst/>
                    <a:latin typeface="inter"/>
                    <a:ea typeface="inter"/>
                    <a:cs typeface="inter"/>
                  </a:rPr>
                  <a:t>Oscillation Boundary</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For the system to oscillate, one of two conditions must occur:</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mj-lt"/>
                  <a:buAutoNum type="arabicPeriod"/>
                  <a:tabLst>
                    <a:tab pos="571500" algn="l"/>
                  </a:tabLst>
                </a:pPr>
                <a:r>
                  <a:rPr lang="en-US" sz="1600" b="1" dirty="0">
                    <a:solidFill>
                      <a:srgbClr val="000000"/>
                    </a:solidFill>
                    <a:latin typeface="inter"/>
                    <a:ea typeface="inter"/>
                    <a:cs typeface="inter"/>
                  </a:rPr>
                  <a:t>Magnitude and phase cross simultaneously:</a:t>
                </a:r>
                <a:r>
                  <a:rPr lang="en-US" sz="1600" dirty="0">
                    <a:solidFill>
                      <a:srgbClr val="000000"/>
                    </a:solidFill>
                    <a:latin typeface="inter"/>
                    <a:ea typeface="inter"/>
                    <a:cs typeface="inter"/>
                  </a:rPr>
                  <a:t> At some frequency, </a:t>
                </a:r>
                <a14:m>
                  <m:oMath xmlns:m="http://schemas.openxmlformats.org/officeDocument/2006/math">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a14:m>
                <a:r>
                  <a:rPr lang="en-US" sz="1600" dirty="0">
                    <a:solidFill>
                      <a:srgbClr val="000000"/>
                    </a:solidFill>
                    <a:latin typeface="inter"/>
                    <a:ea typeface="inter"/>
                    <a:cs typeface="inter"/>
                  </a:rPr>
                  <a:t> AND phase = –180° simultaneously.</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mj-lt"/>
                  <a:buAutoNum type="arabicPeriod"/>
                  <a:tabLst>
                    <a:tab pos="571500" algn="l"/>
                  </a:tabLst>
                </a:pPr>
                <a:r>
                  <a:rPr lang="en-US" sz="1600" b="1" dirty="0">
                    <a:solidFill>
                      <a:srgbClr val="000000"/>
                    </a:solidFill>
                    <a:latin typeface="inter"/>
                    <a:ea typeface="inter"/>
                    <a:cs typeface="inter"/>
                  </a:rPr>
                  <a:t>Alternative:</a:t>
                </a:r>
                <a:r>
                  <a:rPr lang="en-US" sz="1600" dirty="0">
                    <a:solidFill>
                      <a:srgbClr val="000000"/>
                    </a:solidFill>
                    <a:latin typeface="inter"/>
                    <a:ea typeface="inter"/>
                    <a:cs typeface="inter"/>
                  </a:rPr>
                  <a:t> Phase reaches –180° before magnitude drops to 1 (unstable; diverges).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In the single-pole op-amp case, this never happens naturally. Additional circuit topology (feedback networks, cascaded stages) must add a phase shift to enable oscillation.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187653"/>
                <a:ext cx="11158153" cy="5226880"/>
              </a:xfrm>
              <a:blipFill>
                <a:blip r:embed="rId2"/>
                <a:stretch>
                  <a:fillRect l="-1421" t="-1517" r="-492"/>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88760" y="6511740"/>
            <a:ext cx="1377189" cy="21925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428244" y="65173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0301436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82650" y="1194003"/>
                <a:ext cx="6781800" cy="4983287"/>
              </a:xfrm>
            </p:spPr>
            <p:txBody>
              <a:bodyPr/>
              <a:lstStyle/>
              <a:p>
                <a:r>
                  <a:rPr lang="en-US" sz="1800" dirty="0">
                    <a:solidFill>
                      <a:srgbClr val="000000"/>
                    </a:solidFill>
                    <a:latin typeface="inter"/>
                    <a:ea typeface="inter"/>
                    <a:cs typeface="inter"/>
                  </a:rPr>
                  <a:t>The output </a:t>
                </a:r>
                <a14:m>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𝑌</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800" dirty="0">
                    <a:solidFill>
                      <a:srgbClr val="000000"/>
                    </a:solidFill>
                    <a:latin typeface="inter"/>
                    <a:ea typeface="inter"/>
                    <a:cs typeface="inter"/>
                  </a:rPr>
                  <a:t> feeds back to the summing junction. With total phase shift of 360° around the loop (180° from feedback junction + 180° from forward path), the feedback signal aligns with (and reinforces) any existing oscillation at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800" dirty="0">
                    <a:solidFill>
                      <a:srgbClr val="000000"/>
                    </a:solidFill>
                    <a:latin typeface="inter"/>
                    <a:ea typeface="inter"/>
                    <a:cs typeface="inter"/>
                  </a:rPr>
                  <a:t>.</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endParaRPr lang="en-US" sz="1800" dirty="0" smtClean="0">
                  <a:solidFill>
                    <a:srgbClr val="000000"/>
                  </a:solidFill>
                  <a:latin typeface="inter"/>
                  <a:ea typeface="inter"/>
                  <a:cs typeface="inter"/>
                </a:endParaRPr>
              </a:p>
              <a:p>
                <a:r>
                  <a:rPr lang="en-US" sz="1800" dirty="0" smtClean="0">
                    <a:solidFill>
                      <a:srgbClr val="000000"/>
                    </a:solidFill>
                    <a:latin typeface="inter"/>
                    <a:ea typeface="inter"/>
                    <a:cs typeface="inter"/>
                  </a:rPr>
                  <a:t>This </a:t>
                </a:r>
                <a:r>
                  <a:rPr lang="en-US" sz="1800" dirty="0">
                    <a:solidFill>
                      <a:srgbClr val="000000"/>
                    </a:solidFill>
                    <a:latin typeface="inter"/>
                    <a:ea typeface="inter"/>
                    <a:cs typeface="inter"/>
                  </a:rPr>
                  <a:t>is </a:t>
                </a:r>
                <a:r>
                  <a:rPr lang="en-US" sz="1800" b="1" dirty="0">
                    <a:solidFill>
                      <a:srgbClr val="000000"/>
                    </a:solidFill>
                    <a:latin typeface="inter"/>
                    <a:ea typeface="inter"/>
                    <a:cs typeface="inter"/>
                  </a:rPr>
                  <a:t>positive feedback</a:t>
                </a:r>
                <a:r>
                  <a:rPr lang="en-US" sz="1800" dirty="0">
                    <a:solidFill>
                      <a:srgbClr val="000000"/>
                    </a:solidFill>
                    <a:latin typeface="inter"/>
                    <a:ea typeface="inter"/>
                    <a:cs typeface="inter"/>
                  </a:rPr>
                  <a:t>—the hallmark of oscillation initiation.</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800" b="1" dirty="0">
                    <a:solidFill>
                      <a:srgbClr val="000000"/>
                    </a:solidFill>
                    <a:latin typeface="inter"/>
                    <a:ea typeface="inter"/>
                    <a:cs typeface="inter"/>
                  </a:rPr>
                  <a:t>Amplitude Growth Over Successive Cycles:</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800" b="1" dirty="0">
                    <a:solidFill>
                      <a:srgbClr val="000000"/>
                    </a:solidFill>
                    <a:latin typeface="inter"/>
                    <a:ea typeface="inter"/>
                    <a:cs typeface="inter"/>
                  </a:rPr>
                  <a:t>Cycle 1:</a:t>
                </a:r>
                <a:r>
                  <a:rPr lang="en-US" sz="1800" dirty="0">
                    <a:solidFill>
                      <a:srgbClr val="000000"/>
                    </a:solidFill>
                    <a:latin typeface="inter"/>
                    <a:ea typeface="inter"/>
                    <a:cs typeface="inter"/>
                  </a:rPr>
                  <a:t> Input noise amplitude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800" b="1" dirty="0">
                    <a:solidFill>
                      <a:srgbClr val="000000"/>
                    </a:solidFill>
                    <a:latin typeface="inter"/>
                    <a:ea typeface="inter"/>
                    <a:cs typeface="inter"/>
                  </a:rPr>
                  <a:t>Cycle 2:</a:t>
                </a:r>
                <a:r>
                  <a:rPr lang="en-US" sz="1800" dirty="0">
                    <a:solidFill>
                      <a:srgbClr val="000000"/>
                    </a:solidFill>
                    <a:latin typeface="inter"/>
                    <a:ea typeface="inter"/>
                    <a:cs typeface="inter"/>
                  </a:rPr>
                  <a:t> After one loop transit,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800" b="1" dirty="0">
                    <a:solidFill>
                      <a:srgbClr val="000000"/>
                    </a:solidFill>
                    <a:latin typeface="inter"/>
                    <a:ea typeface="inter"/>
                    <a:cs typeface="inter"/>
                  </a:rPr>
                  <a:t>Cycle 3:</a:t>
                </a:r>
                <a:r>
                  <a:rPr lang="en-US" sz="1800" dirty="0">
                    <a:solidFill>
                      <a:srgbClr val="000000"/>
                    </a:solidFill>
                    <a:latin typeface="inter"/>
                    <a:ea typeface="inter"/>
                    <a:cs typeface="inter"/>
                  </a:rPr>
                  <a:t>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e>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800" b="1" dirty="0">
                    <a:solidFill>
                      <a:srgbClr val="000000"/>
                    </a:solidFill>
                    <a:latin typeface="inter"/>
                    <a:ea typeface="inter"/>
                    <a:cs typeface="inter"/>
                  </a:rPr>
                  <a:t>Cycle n:</a:t>
                </a:r>
                <a:r>
                  <a:rPr lang="en-US" sz="1800" dirty="0">
                    <a:solidFill>
                      <a:srgbClr val="000000"/>
                    </a:solidFill>
                    <a:latin typeface="inter"/>
                    <a:ea typeface="inter"/>
                    <a:cs typeface="inter"/>
                  </a:rPr>
                  <a:t>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e>
                      <m:sup>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p>
                    </m:sSup>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800" dirty="0">
                    <a:solidFill>
                      <a:srgbClr val="000000"/>
                    </a:solidFill>
                    <a:latin typeface="inter"/>
                    <a:ea typeface="inter"/>
                    <a:cs typeface="inter"/>
                  </a:rPr>
                  <a:t>If each cycle takes time </a:t>
                </a:r>
                <a14:m>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oMath>
                </a14:m>
                <a:r>
                  <a:rPr lang="en-US" sz="1800" dirty="0">
                    <a:solidFill>
                      <a:srgbClr val="000000"/>
                    </a:solidFill>
                    <a:latin typeface="inter"/>
                    <a:ea typeface="inter"/>
                    <a:cs typeface="inter"/>
                  </a:rPr>
                  <a:t>:</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e>
                        <m:sup>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sup>
                      </m:s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ln</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sup>
                      </m:sSup>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800" b="1" dirty="0">
                    <a:solidFill>
                      <a:srgbClr val="000000"/>
                    </a:solidFill>
                    <a:latin typeface="inter"/>
                    <a:ea typeface="inter"/>
                    <a:cs typeface="inter"/>
                  </a:rPr>
                  <a:t>Exponential Growth Rate:</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𝛽</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m:rPr>
                              <m:sty m:val="p"/>
                            </m:rP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ln</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num>
                        <m:den>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den>
                      </m:f>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𝛽</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sup>
                      </m:sSup>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endParaRPr lang="en-US" sz="18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82650" y="1194003"/>
                <a:ext cx="6781800" cy="4983287"/>
              </a:xfrm>
              <a:blipFill>
                <a:blip r:embed="rId2"/>
                <a:stretch>
                  <a:fillRect l="-2158" t="-1591" r="-2158"/>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3"/>
          <a:stretch>
            <a:fillRect/>
          </a:stretch>
        </p:blipFill>
        <p:spPr>
          <a:xfrm>
            <a:off x="7793253" y="1149230"/>
            <a:ext cx="4281424" cy="3384670"/>
          </a:xfrm>
          <a:prstGeom prst="rect">
            <a:avLst/>
          </a:prstGeom>
        </p:spPr>
      </p:pic>
    </p:spTree>
    <p:extLst>
      <p:ext uri="{BB962C8B-B14F-4D97-AF65-F5344CB8AC3E}">
        <p14:creationId xmlns:p14="http://schemas.microsoft.com/office/powerpoint/2010/main" val="42892896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2. </a:t>
            </a:r>
            <a:r>
              <a:rPr lang="en-US" dirty="0" err="1">
                <a:latin typeface="fkGrotesk"/>
              </a:rPr>
              <a:t>Barkhausen</a:t>
            </a:r>
            <a:r>
              <a:rPr lang="en-US" dirty="0">
                <a:latin typeface="fkGrotesk"/>
              </a:rPr>
              <a:t> Criteria: The Mathematical </a:t>
            </a:r>
            <a:r>
              <a:rPr lang="en-US" dirty="0" smtClean="0">
                <a:latin typeface="fkGrotesk"/>
              </a:rPr>
              <a:t>Foundation</a:t>
            </a:r>
            <a:endParaRPr lang="en-US" dirty="0"/>
          </a:p>
        </p:txBody>
      </p:sp>
      <p:sp>
        <p:nvSpPr>
          <p:cNvPr id="3" name="Text Placeholder 2"/>
          <p:cNvSpPr>
            <a:spLocks noGrp="1"/>
          </p:cNvSpPr>
          <p:nvPr>
            <p:ph type="body" idx="1"/>
          </p:nvPr>
        </p:nvSpPr>
        <p:spPr>
          <a:xfrm>
            <a:off x="844549" y="1327353"/>
            <a:ext cx="10503635" cy="4308872"/>
          </a:xfrm>
        </p:spPr>
        <p:txBody>
          <a:bodyPr/>
          <a:lstStyle/>
          <a:p>
            <a:pPr algn="just"/>
            <a:r>
              <a:rPr lang="en-US" dirty="0">
                <a:latin typeface="fkGroteskNeue"/>
              </a:rPr>
              <a:t>The </a:t>
            </a:r>
            <a:r>
              <a:rPr lang="en-US" dirty="0" err="1">
                <a:latin typeface="fkGroteskNeue"/>
              </a:rPr>
              <a:t>Barkhausen</a:t>
            </a:r>
            <a:r>
              <a:rPr lang="en-US" dirty="0">
                <a:latin typeface="fkGroteskNeue"/>
              </a:rPr>
              <a:t> stability criterion provides two essential conditions for sustained oscillation</a:t>
            </a:r>
            <a:r>
              <a:rPr lang="en-US" dirty="0" smtClean="0">
                <a:latin typeface="fkGroteskNeue"/>
              </a:rPr>
              <a:t>:</a:t>
            </a:r>
          </a:p>
          <a:p>
            <a:pPr algn="just"/>
            <a:endParaRPr lang="en-US" dirty="0">
              <a:latin typeface="fkGroteskNeue"/>
            </a:endParaRPr>
          </a:p>
          <a:p>
            <a:pPr marL="457200" indent="-457200" algn="just">
              <a:buFont typeface="+mj-lt"/>
              <a:buAutoNum type="arabicPeriod"/>
            </a:pPr>
            <a:r>
              <a:rPr lang="en-US" b="1" dirty="0">
                <a:latin typeface="fkGroteskNeue"/>
              </a:rPr>
              <a:t>Loop gain magnitude: |H(</a:t>
            </a:r>
            <a:r>
              <a:rPr lang="en-US" b="1" dirty="0" err="1">
                <a:latin typeface="fkGroteskNeue"/>
              </a:rPr>
              <a:t>jω</a:t>
            </a:r>
            <a:r>
              <a:rPr lang="en-US" b="1" dirty="0">
                <a:latin typeface="fkGroteskNeue"/>
              </a:rPr>
              <a:t>₀)| = 1 (unity gain)</a:t>
            </a:r>
          </a:p>
          <a:p>
            <a:pPr marL="457200" indent="-457200" algn="just">
              <a:buFont typeface="+mj-lt"/>
              <a:buAutoNum type="arabicPeriod"/>
            </a:pPr>
            <a:r>
              <a:rPr lang="en-US" b="1" dirty="0">
                <a:latin typeface="fkGroteskNeue"/>
              </a:rPr>
              <a:t>Phase condition: ∠H(</a:t>
            </a:r>
            <a:r>
              <a:rPr lang="en-US" b="1" dirty="0" err="1">
                <a:latin typeface="fkGroteskNeue"/>
              </a:rPr>
              <a:t>jω</a:t>
            </a:r>
            <a:r>
              <a:rPr lang="en-US" b="1" dirty="0">
                <a:latin typeface="fkGroteskNeue"/>
              </a:rPr>
              <a:t>₀) = 180° (or multiples of 360</a:t>
            </a:r>
            <a:r>
              <a:rPr lang="en-US" b="1" dirty="0" smtClean="0">
                <a:latin typeface="fkGroteskNeue"/>
              </a:rPr>
              <a:t>°)</a:t>
            </a:r>
          </a:p>
          <a:p>
            <a:pPr marL="457200" indent="-457200" algn="just">
              <a:buFont typeface="+mj-lt"/>
              <a:buAutoNum type="arabicPeriod"/>
            </a:pPr>
            <a:endParaRPr lang="en-US" dirty="0">
              <a:latin typeface="fkGroteskNeue"/>
            </a:endParaRPr>
          </a:p>
          <a:p>
            <a:pPr marL="800100" lvl="1" indent="-342900" algn="just">
              <a:buFont typeface="Wingdings" panose="05000000000000000000" pitchFamily="2" charset="2"/>
              <a:buChar char="q"/>
            </a:pPr>
            <a:r>
              <a:rPr lang="en-US" sz="2000" b="1" dirty="0">
                <a:latin typeface="fkGroteskNeue"/>
              </a:rPr>
              <a:t>Intuitive Meaning: </a:t>
            </a:r>
            <a:endParaRPr lang="en-US" sz="2000" b="1" dirty="0" smtClean="0">
              <a:latin typeface="fkGroteskNeue"/>
            </a:endParaRPr>
          </a:p>
          <a:p>
            <a:pPr lvl="1" algn="just"/>
            <a:r>
              <a:rPr lang="en-US" sz="2000" dirty="0" smtClean="0">
                <a:latin typeface="fkGroteskNeue"/>
              </a:rPr>
              <a:t>At </a:t>
            </a:r>
            <a:r>
              <a:rPr lang="en-US" sz="2000" dirty="0">
                <a:latin typeface="fkGroteskNeue"/>
              </a:rPr>
              <a:t>the oscillation frequency, the signal must return to its starting point with the same amplitude (condition 1) and same phase (condition 2) to reinforce itself indefinitely</a:t>
            </a:r>
            <a:r>
              <a:rPr lang="en-US" sz="2000" dirty="0" smtClean="0">
                <a:latin typeface="fkGroteskNeue"/>
              </a:rPr>
              <a:t>.</a:t>
            </a:r>
          </a:p>
          <a:p>
            <a:pPr marL="800100" lvl="1" indent="-342900" algn="just">
              <a:buFont typeface="Wingdings" panose="05000000000000000000" pitchFamily="2" charset="2"/>
              <a:buChar char="q"/>
            </a:pPr>
            <a:endParaRPr lang="en-US" sz="2000" dirty="0">
              <a:latin typeface="fkGroteskNeue"/>
            </a:endParaRPr>
          </a:p>
          <a:p>
            <a:pPr marL="800100" lvl="1" indent="-342900" algn="just">
              <a:buFont typeface="Wingdings" panose="05000000000000000000" pitchFamily="2" charset="2"/>
              <a:buChar char="q"/>
            </a:pPr>
            <a:r>
              <a:rPr lang="en-US" sz="2000" b="1" dirty="0">
                <a:latin typeface="fkGrotesk"/>
              </a:rPr>
              <a:t>Startup Condition:</a:t>
            </a:r>
          </a:p>
          <a:p>
            <a:pPr lvl="1" algn="just"/>
            <a:r>
              <a:rPr lang="en-US" sz="2000" dirty="0">
                <a:latin typeface="fkGroteskNeue"/>
              </a:rPr>
              <a:t>Initially, |H(</a:t>
            </a:r>
            <a:r>
              <a:rPr lang="en-US" sz="2000" dirty="0" err="1">
                <a:latin typeface="fkGroteskNeue"/>
              </a:rPr>
              <a:t>jω</a:t>
            </a:r>
            <a:r>
              <a:rPr lang="en-US" sz="2000" dirty="0">
                <a:latin typeface="fkGroteskNeue"/>
              </a:rPr>
              <a:t>₀)| &gt; 1 to overcome losses and build up oscillation amplitude. Once steady-state is reached, nonlinear effects (saturation) automatically adjust the gain to exactly unity</a:t>
            </a:r>
          </a:p>
          <a:p>
            <a:pPr algn="just"/>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28356440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Condition for Marginally Stable </a:t>
            </a:r>
            <a:r>
              <a:rPr lang="en-US" dirty="0" smtClean="0"/>
              <a:t>Oscillation</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69950" y="1111453"/>
                <a:ext cx="10953750" cy="5539978"/>
              </a:xfrm>
            </p:spPr>
            <p:txBody>
              <a:bodyPr/>
              <a:lstStyle/>
              <a:p>
                <a:r>
                  <a:rPr lang="en-US" sz="1600" dirty="0" smtClean="0">
                    <a:solidFill>
                      <a:srgbClr val="000000"/>
                    </a:solidFill>
                    <a:latin typeface="inter"/>
                    <a:ea typeface="inter"/>
                    <a:cs typeface="inter"/>
                  </a:rPr>
                  <a:t>For </a:t>
                </a:r>
                <a:r>
                  <a:rPr lang="en-US" sz="1600" dirty="0">
                    <a:solidFill>
                      <a:srgbClr val="000000"/>
                    </a:solidFill>
                    <a:latin typeface="inter"/>
                    <a:ea typeface="inter"/>
                    <a:cs typeface="inter"/>
                  </a:rPr>
                  <a:t>the closed-loop transfer function to have poles on the imaginary axis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This complex equation splits into </a:t>
                </a:r>
                <a:r>
                  <a:rPr lang="en-US" sz="1600" b="1" dirty="0">
                    <a:solidFill>
                      <a:srgbClr val="000000"/>
                    </a:solidFill>
                    <a:latin typeface="inter"/>
                    <a:ea typeface="inter"/>
                    <a:cs typeface="inter"/>
                  </a:rPr>
                  <a:t>two independent real conditions: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b="1" dirty="0" err="1">
                    <a:solidFill>
                      <a:srgbClr val="000000"/>
                    </a:solidFill>
                    <a:latin typeface="inter"/>
                    <a:ea typeface="inter"/>
                    <a:cs typeface="inter"/>
                  </a:rPr>
                  <a:t>Barkhausen</a:t>
                </a:r>
                <a:r>
                  <a:rPr lang="en-US" sz="1600" b="1" dirty="0">
                    <a:solidFill>
                      <a:srgbClr val="000000"/>
                    </a:solidFill>
                    <a:latin typeface="inter"/>
                    <a:ea typeface="inter"/>
                    <a:cs typeface="inter"/>
                  </a:rPr>
                  <a:t> Magnitude Condition: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b="1" dirty="0" err="1">
                    <a:solidFill>
                      <a:srgbClr val="000000"/>
                    </a:solidFill>
                    <a:latin typeface="inter"/>
                    <a:ea typeface="inter"/>
                    <a:cs typeface="inter"/>
                  </a:rPr>
                  <a:t>Barkhausen</a:t>
                </a:r>
                <a:r>
                  <a:rPr lang="en-US" sz="1600" b="1" dirty="0">
                    <a:solidFill>
                      <a:srgbClr val="000000"/>
                    </a:solidFill>
                    <a:latin typeface="inter"/>
                    <a:ea typeface="inter"/>
                    <a:cs typeface="inter"/>
                  </a:rPr>
                  <a:t> Phase Condition: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)=180° </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or</m:t>
                      </m:r>
                      <m:r>
                        <m:rPr>
                          <m:nor/>
                        </m:rPr>
                        <a:rPr lang="en-US" sz="1600"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r>
                        <m:rPr>
                          <m:nor/>
                        </m:rPr>
                        <a:rPr lang="en-US" sz="1600"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radians</m:t>
                      </m:r>
                    </m:oMath>
                  </m:oMathPara>
                </a14:m>
                <a:endParaRPr lang="en-US" sz="1600" dirty="0" smtClean="0">
                  <a:latin typeface="Georgia" panose="02040502050405020303" pitchFamily="18" charset="0"/>
                  <a:ea typeface="Calibri" panose="020F0502020204030204" pitchFamily="34" charset="0"/>
                  <a:cs typeface="Times New Roman" panose="02020603050405020304" pitchFamily="18" charset="0"/>
                </a:endParaRPr>
              </a:p>
              <a:p>
                <a:endParaRPr lang="en-US" sz="1600" dirty="0" smtClean="0">
                  <a:latin typeface="Georgia" panose="02040502050405020303" pitchFamily="18" charset="0"/>
                  <a:ea typeface="Calibri" panose="020F0502020204030204" pitchFamily="34" charset="0"/>
                  <a:cs typeface="Times New Roman" panose="02020603050405020304" pitchFamily="18" charset="0"/>
                </a:endParaRPr>
              </a:p>
              <a:p>
                <a:pPr algn="ctr"/>
                <a:r>
                  <a:rPr lang="en-US" b="1" dirty="0">
                    <a:solidFill>
                      <a:srgbClr val="C00000"/>
                    </a:solidFill>
                    <a:latin typeface="inter"/>
                    <a:ea typeface="inter"/>
                    <a:cs typeface="inter"/>
                  </a:rPr>
                  <a:t>Physical Interpretation</a:t>
                </a:r>
                <a:endParaRPr lang="en-US" sz="16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r>
                  <a:rPr lang="en-US" sz="1600" b="1" dirty="0">
                    <a:solidFill>
                      <a:srgbClr val="000000"/>
                    </a:solidFill>
                    <a:latin typeface="inter"/>
                    <a:ea typeface="inter"/>
                    <a:cs typeface="inter"/>
                  </a:rPr>
                  <a:t>Magnitude Condition - Unity Gain: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For oscillation to sustain, signals propagating around the loop must return with the same amplitude (unity gain). If </a:t>
                </a:r>
                <a14:m>
                  <m:oMath xmlns:m="http://schemas.openxmlformats.org/officeDocument/2006/math">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|&gt;1</m:t>
                    </m:r>
                  </m:oMath>
                </a14:m>
                <a:r>
                  <a:rPr lang="en-US" sz="1600" dirty="0">
                    <a:solidFill>
                      <a:srgbClr val="000000"/>
                    </a:solidFill>
                    <a:latin typeface="inter"/>
                    <a:ea typeface="inter"/>
                    <a:cs typeface="inter"/>
                  </a:rPr>
                  <a:t>, amplitude grows unboundedly (until nonlinearities saturate). If </a:t>
                </a:r>
                <a14:m>
                  <m:oMath xmlns:m="http://schemas.openxmlformats.org/officeDocument/2006/math">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|&lt;1</m:t>
                    </m:r>
                  </m:oMath>
                </a14:m>
                <a:r>
                  <a:rPr lang="en-US" sz="1600" dirty="0">
                    <a:solidFill>
                      <a:srgbClr val="000000"/>
                    </a:solidFill>
                    <a:latin typeface="inter"/>
                    <a:ea typeface="inter"/>
                    <a:cs typeface="inter"/>
                  </a:rPr>
                  <a:t>, amplitude decays to zero.</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b="1" dirty="0">
                    <a:solidFill>
                      <a:srgbClr val="000000"/>
                    </a:solidFill>
                    <a:latin typeface="inter"/>
                    <a:ea typeface="inter"/>
                    <a:cs typeface="inter"/>
                  </a:rPr>
                  <a:t>Phase Condition - 180° Inversion: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The feedback summer contributes 180° inherent phase shift (the negative sign). The forward path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600" dirty="0">
                    <a:solidFill>
                      <a:srgbClr val="000000"/>
                    </a:solidFill>
                    <a:latin typeface="inter"/>
                    <a:ea typeface="inter"/>
                    <a:cs typeface="inter"/>
                  </a:rPr>
                  <a:t> must contribute another 180° inversion. Together:</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Total</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phase</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=180°+180°=360°≡0° (</m:t>
                      </m:r>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mod</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 360°)</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A 0° (or 360°) total phase shift represents positive feedback—signals reinforce themselves.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Equivalently:</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Phase</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return</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=360°=2</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r>
                        <m:rPr>
                          <m:nor/>
                        </m:rPr>
                        <a:rPr lang="en-US" sz="1600"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rad</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The signal completes exactly one full oscillation (in phase) when it returns to the input.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69950" y="1111453"/>
                <a:ext cx="10953750" cy="5539978"/>
              </a:xfrm>
              <a:blipFill>
                <a:blip r:embed="rId2"/>
                <a:stretch>
                  <a:fillRect l="-1169" t="-1100" r="-1336"/>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63360" y="6664141"/>
            <a:ext cx="1358139" cy="19385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148844" y="65554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4707424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1046440"/>
          </a:xfrm>
        </p:spPr>
        <p:txBody>
          <a:bodyPr/>
          <a:lstStyle/>
          <a:p>
            <a:r>
              <a:rPr lang="en-US" dirty="0" smtClean="0">
                <a:latin typeface="fkGrotesk"/>
              </a:rPr>
              <a:t>3. </a:t>
            </a:r>
            <a:r>
              <a:rPr lang="en-US" dirty="0">
                <a:latin typeface="fkGrotesk"/>
              </a:rPr>
              <a:t>Oscillation Growth Mechanism</a:t>
            </a:r>
            <a:br>
              <a:rPr lang="en-US" dirty="0">
                <a:latin typeface="fkGrotesk"/>
              </a:rPr>
            </a:br>
            <a:endParaRPr lang="en-US" dirty="0"/>
          </a:p>
        </p:txBody>
      </p:sp>
      <p:sp>
        <p:nvSpPr>
          <p:cNvPr id="3" name="Text Placeholder 2"/>
          <p:cNvSpPr>
            <a:spLocks noGrp="1"/>
          </p:cNvSpPr>
          <p:nvPr>
            <p:ph type="body" idx="1"/>
          </p:nvPr>
        </p:nvSpPr>
        <p:spPr>
          <a:xfrm>
            <a:off x="627121" y="3739262"/>
            <a:ext cx="11099823" cy="2154436"/>
          </a:xfrm>
        </p:spPr>
        <p:txBody>
          <a:bodyPr/>
          <a:lstStyle/>
          <a:p>
            <a:pPr marL="342900" indent="-342900" algn="just">
              <a:buFont typeface="Wingdings" panose="05000000000000000000" pitchFamily="2" charset="2"/>
              <a:buChar char="q"/>
            </a:pPr>
            <a:r>
              <a:rPr lang="en-US" b="1" dirty="0" smtClean="0">
                <a:solidFill>
                  <a:srgbClr val="FF0000"/>
                </a:solidFill>
                <a:latin typeface="fkGroteskNeue"/>
              </a:rPr>
              <a:t>Figure </a:t>
            </a:r>
            <a:r>
              <a:rPr lang="en-US" b="1" dirty="0">
                <a:solidFill>
                  <a:srgbClr val="FF0000"/>
                </a:solidFill>
                <a:latin typeface="fkGroteskNeue"/>
              </a:rPr>
              <a:t>1.3(a): </a:t>
            </a:r>
            <a:r>
              <a:rPr lang="en-US" dirty="0">
                <a:latin typeface="fkGroteskNeue"/>
              </a:rPr>
              <a:t>Shows the open-loop case where a small input creates a corresponding output.</a:t>
            </a:r>
          </a:p>
          <a:p>
            <a:pPr marL="342900" indent="-342900" algn="just">
              <a:buFont typeface="Wingdings" panose="05000000000000000000" pitchFamily="2" charset="2"/>
              <a:buChar char="q"/>
            </a:pPr>
            <a:r>
              <a:rPr lang="en-US" b="1" dirty="0">
                <a:solidFill>
                  <a:srgbClr val="FF0000"/>
                </a:solidFill>
                <a:latin typeface="fkGroteskNeue"/>
              </a:rPr>
              <a:t>Figure 1.3(b): </a:t>
            </a:r>
            <a:r>
              <a:rPr lang="en-US" dirty="0">
                <a:latin typeface="fkGroteskNeue"/>
              </a:rPr>
              <a:t>When the loop is closed, the output gets subtracted from input, creating a larger net signal that gets amplified further.</a:t>
            </a:r>
          </a:p>
          <a:p>
            <a:pPr marL="342900" indent="-342900" algn="just">
              <a:buFont typeface="Wingdings" panose="05000000000000000000" pitchFamily="2" charset="2"/>
              <a:buChar char="q"/>
            </a:pPr>
            <a:r>
              <a:rPr lang="en-US" b="1" dirty="0">
                <a:solidFill>
                  <a:srgbClr val="FF0000"/>
                </a:solidFill>
                <a:latin typeface="fkGroteskNeue"/>
              </a:rPr>
              <a:t>Figure 1.3(c): </a:t>
            </a:r>
            <a:r>
              <a:rPr lang="en-US" dirty="0">
                <a:latin typeface="fkGroteskNeue"/>
              </a:rPr>
              <a:t>Shows exponential growth - each trip around the loop amplifies the signal more, leading to indefinite growth if unchecked.</a:t>
            </a:r>
          </a:p>
          <a:p>
            <a:pPr algn="just"/>
            <a:r>
              <a:rPr lang="en-US" b="1" dirty="0">
                <a:solidFill>
                  <a:srgbClr val="FF0000"/>
                </a:solidFill>
                <a:latin typeface="fkGroteskNeue"/>
              </a:rPr>
              <a:t>Key Insight: </a:t>
            </a:r>
            <a:r>
              <a:rPr lang="en-US" dirty="0">
                <a:latin typeface="fkGroteskNeue"/>
              </a:rPr>
              <a:t>This demonstrates how positive loop gain (when |H(</a:t>
            </a:r>
            <a:r>
              <a:rPr lang="en-US" dirty="0" err="1">
                <a:latin typeface="fkGroteskNeue"/>
              </a:rPr>
              <a:t>jω</a:t>
            </a:r>
            <a:r>
              <a:rPr lang="en-US" dirty="0">
                <a:latin typeface="fkGroteskNeue"/>
              </a:rPr>
              <a:t>)| &gt; 1) causes </a:t>
            </a:r>
            <a:r>
              <a:rPr lang="en-US" dirty="0" smtClean="0">
                <a:latin typeface="fkGroteskNeue"/>
              </a:rPr>
              <a:t>amplitude </a:t>
            </a:r>
            <a:r>
              <a:rPr lang="en-US" dirty="0" err="1" smtClean="0">
                <a:latin typeface="fkGroteskNeue"/>
              </a:rPr>
              <a:t>bildup</a:t>
            </a:r>
            <a:r>
              <a:rPr lang="en-US" dirty="0" smtClean="0">
                <a:latin typeface="fkGroteskNeue"/>
              </a:rPr>
              <a:t>, </a:t>
            </a:r>
            <a:r>
              <a:rPr lang="en-US" dirty="0">
                <a:latin typeface="fkGroteskNeue"/>
              </a:rPr>
              <a:t>while the phase condition ensures the signal reinforces rather than cancels </a:t>
            </a:r>
            <a:r>
              <a:rPr lang="en-US" dirty="0" smtClean="0">
                <a:latin typeface="fkGroteskNeue"/>
              </a:rPr>
              <a:t>itself.</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1880453" y="1122839"/>
            <a:ext cx="7982360" cy="2063856"/>
          </a:xfrm>
          <a:prstGeom prst="rect">
            <a:avLst/>
          </a:prstGeom>
        </p:spPr>
      </p:pic>
      <p:sp>
        <p:nvSpPr>
          <p:cNvPr id="8" name="Rectangle 7"/>
          <p:cNvSpPr/>
          <p:nvPr/>
        </p:nvSpPr>
        <p:spPr>
          <a:xfrm>
            <a:off x="3343796" y="3355145"/>
            <a:ext cx="5726248" cy="307777"/>
          </a:xfrm>
          <a:prstGeom prst="rect">
            <a:avLst/>
          </a:prstGeom>
        </p:spPr>
        <p:txBody>
          <a:bodyPr wrap="none">
            <a:spAutoFit/>
          </a:bodyPr>
          <a:lstStyle/>
          <a:p>
            <a:r>
              <a:rPr lang="en-US" sz="1400" b="1" i="0" u="none" strike="noStrike" baseline="0" dirty="0" smtClean="0">
                <a:solidFill>
                  <a:srgbClr val="00B050"/>
                </a:solidFill>
                <a:latin typeface="T3Font_100"/>
              </a:rPr>
              <a:t>Figure 1.3 </a:t>
            </a:r>
            <a:r>
              <a:rPr lang="en-US" sz="1400" b="1" i="0" u="none" strike="noStrike" baseline="0" dirty="0" smtClean="0">
                <a:solidFill>
                  <a:srgbClr val="00B050"/>
                </a:solidFill>
                <a:latin typeface="T3Font_92"/>
              </a:rPr>
              <a:t>Growth of an input sinusoid around the loop with time.</a:t>
            </a:r>
            <a:endParaRPr lang="en-US" sz="4000" b="1" dirty="0">
              <a:solidFill>
                <a:srgbClr val="00B050"/>
              </a:solidFill>
            </a:endParaRPr>
          </a:p>
        </p:txBody>
      </p:sp>
    </p:spTree>
    <p:extLst>
      <p:ext uri="{BB962C8B-B14F-4D97-AF65-F5344CB8AC3E}">
        <p14:creationId xmlns:p14="http://schemas.microsoft.com/office/powerpoint/2010/main" val="53567882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641350" y="3232353"/>
                <a:ext cx="10902950" cy="3077766"/>
              </a:xfrm>
            </p:spPr>
            <p:txBody>
              <a:bodyPr/>
              <a:lstStyle/>
              <a:p>
                <a:pPr algn="just"/>
                <a:r>
                  <a:rPr lang="en-US" b="1" dirty="0">
                    <a:solidFill>
                      <a:srgbClr val="000000"/>
                    </a:solidFill>
                    <a:latin typeface="inter"/>
                    <a:ea typeface="inter"/>
                    <a:cs typeface="inter"/>
                  </a:rPr>
                  <a:t>Left Panel (Early Stage):</a:t>
                </a: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r>
                  <a:rPr lang="en-US" dirty="0">
                    <a:solidFill>
                      <a:srgbClr val="000000"/>
                    </a:solidFill>
                    <a:latin typeface="inter"/>
                    <a:ea typeface="inter"/>
                    <a:cs typeface="inter"/>
                  </a:rPr>
                  <a:t>A small-amplitude sinusoid at frequency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dirty="0">
                    <a:solidFill>
                      <a:srgbClr val="000000"/>
                    </a:solidFill>
                    <a:latin typeface="inter"/>
                    <a:ea typeface="inter"/>
                    <a:cs typeface="inter"/>
                  </a:rPr>
                  <a:t> (seeded from thermal noise) enters the loop. The signal barely exceeds the noise floor.</a:t>
                </a: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r>
                  <a:rPr lang="en-US" b="1" dirty="0">
                    <a:solidFill>
                      <a:srgbClr val="000000"/>
                    </a:solidFill>
                    <a:latin typeface="inter"/>
                    <a:ea typeface="inter"/>
                    <a:cs typeface="inter"/>
                  </a:rPr>
                  <a:t>Middle Panel (Intermediate Stage):</a:t>
                </a: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r>
                  <a:rPr lang="en-US" dirty="0">
                    <a:solidFill>
                      <a:srgbClr val="000000"/>
                    </a:solidFill>
                    <a:latin typeface="inter"/>
                    <a:ea typeface="inter"/>
                    <a:cs typeface="inter"/>
                  </a:rPr>
                  <a:t>After several loop transits, the signal amplitude has grown visibly. The waveform maintains its sinusoidal shape and frequency but with increasing peak-to-peak voltage.</a:t>
                </a: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r>
                  <a:rPr lang="en-US" b="1" dirty="0">
                    <a:solidFill>
                      <a:srgbClr val="000000"/>
                    </a:solidFill>
                    <a:latin typeface="inter"/>
                    <a:ea typeface="inter"/>
                    <a:cs typeface="inter"/>
                  </a:rPr>
                  <a:t>Right Panel (Late Stage):</a:t>
                </a: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r>
                  <a:rPr lang="en-US" dirty="0">
                    <a:solidFill>
                      <a:srgbClr val="000000"/>
                    </a:solidFill>
                    <a:latin typeface="inter"/>
                    <a:ea typeface="inter"/>
                    <a:cs typeface="inter"/>
                  </a:rPr>
                  <a:t>The signal continues to grow, approaching the limits imposed by the power supply and transistor saturation. The waveform is now substantial, occupying a significant fraction of the available voltage range</a:t>
                </a:r>
                <a:r>
                  <a:rPr lang="en-US" dirty="0" smtClean="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641350" y="3232353"/>
                <a:ext cx="10902950" cy="3077766"/>
              </a:xfrm>
              <a:blipFill>
                <a:blip r:embed="rId2"/>
                <a:stretch>
                  <a:fillRect l="-1397" t="-2574" r="-1453" b="-4158"/>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06210" y="6587941"/>
            <a:ext cx="1370839" cy="27005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110744"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3"/>
          <a:stretch>
            <a:fillRect/>
          </a:stretch>
        </p:blipFill>
        <p:spPr>
          <a:xfrm>
            <a:off x="2039274" y="1017688"/>
            <a:ext cx="7986452" cy="2066723"/>
          </a:xfrm>
          <a:prstGeom prst="rect">
            <a:avLst/>
          </a:prstGeom>
        </p:spPr>
      </p:pic>
    </p:spTree>
    <p:extLst>
      <p:ext uri="{BB962C8B-B14F-4D97-AF65-F5344CB8AC3E}">
        <p14:creationId xmlns:p14="http://schemas.microsoft.com/office/powerpoint/2010/main" val="25354130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723900" y="1168603"/>
                <a:ext cx="6089650" cy="5585888"/>
              </a:xfrm>
            </p:spPr>
            <p:txBody>
              <a:bodyPr/>
              <a:lstStyle/>
              <a:p>
                <a:pPr algn="ctr"/>
                <a:r>
                  <a:rPr lang="en-US" sz="2800" b="1" dirty="0">
                    <a:solidFill>
                      <a:srgbClr val="000000"/>
                    </a:solidFill>
                    <a:latin typeface="inter"/>
                    <a:ea typeface="inter"/>
                    <a:cs typeface="inter"/>
                  </a:rPr>
                  <a:t>Exponential Growth Analysis</a:t>
                </a:r>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dirty="0">
                    <a:solidFill>
                      <a:srgbClr val="000000"/>
                    </a:solidFill>
                    <a:latin typeface="inter"/>
                    <a:ea typeface="inter"/>
                    <a:cs typeface="inter"/>
                  </a:rPr>
                  <a:t>Assuming loop gain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&gt;1</m:t>
                    </m:r>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e>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𝑡𝑟𝑎𝑛𝑠𝑖𝑡</m:t>
                              </m:r>
                            </m:sub>
                          </m:sSub>
                        </m:sup>
                      </m:sSup>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dirty="0">
                    <a:solidFill>
                      <a:srgbClr val="000000"/>
                    </a:solidFill>
                    <a:latin typeface="inter"/>
                    <a:ea typeface="inter"/>
                    <a:cs typeface="inter"/>
                  </a:rPr>
                  <a:t>Taking the natural logarithm:</a:t>
                </a:r>
                <a:endParaRPr lang="en-US"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ln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ln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𝑡𝑟𝑎𝑛𝑠𝑖𝑡</m:t>
                              </m:r>
                            </m:sub>
                          </m:sSub>
                        </m:den>
                      </m:f>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ln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dirty="0">
                    <a:solidFill>
                      <a:srgbClr val="000000"/>
                    </a:solidFill>
                    <a:latin typeface="inter"/>
                    <a:ea typeface="inter"/>
                    <a:cs typeface="inter"/>
                  </a:rPr>
                  <a:t>The amplitude grows linearly on a semi-log plot (exponential in time).</a:t>
                </a:r>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dirty="0">
                    <a:solidFill>
                      <a:srgbClr val="000000"/>
                    </a:solidFill>
                    <a:latin typeface="inter"/>
                    <a:ea typeface="inter"/>
                    <a:cs typeface="inter"/>
                  </a:rPr>
                  <a:t>The </a:t>
                </a:r>
                <a:r>
                  <a:rPr lang="en-US" b="1" dirty="0">
                    <a:solidFill>
                      <a:srgbClr val="000000"/>
                    </a:solidFill>
                    <a:latin typeface="inter"/>
                    <a:ea typeface="inter"/>
                    <a:cs typeface="inter"/>
                  </a:rPr>
                  <a:t>doubling time</a:t>
                </a:r>
                <a:r>
                  <a:rPr lang="en-US" dirty="0">
                    <a:solidFill>
                      <a:srgbClr val="000000"/>
                    </a:solidFill>
                    <a:latin typeface="inter"/>
                    <a:ea typeface="inter"/>
                    <a:cs typeface="inter"/>
                  </a:rPr>
                  <a:t> is:</a:t>
                </a:r>
                <a:endParaRPr lang="en-US"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𝑑𝑜𝑢𝑏𝑙𝑒</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𝑡𝑟𝑎𝑛𝑠𝑖𝑡</m:t>
                              </m:r>
                            </m:sub>
                          </m:sSub>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ln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num>
                        <m:den>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ln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dirty="0">
                    <a:solidFill>
                      <a:srgbClr val="000000"/>
                    </a:solidFill>
                    <a:latin typeface="inter"/>
                    <a:ea typeface="inter"/>
                    <a:cs typeface="inter"/>
                  </a:rPr>
                  <a:t>For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=1.05</m:t>
                    </m:r>
                  </m:oMath>
                </a14:m>
                <a:r>
                  <a:rPr lang="en-US" dirty="0">
                    <a:solidFill>
                      <a:srgbClr val="000000"/>
                    </a:solidFill>
                    <a:latin typeface="inter"/>
                    <a:ea typeface="inter"/>
                    <a:cs typeface="inter"/>
                  </a:rPr>
                  <a:t> (5% excess gain):</a:t>
                </a:r>
                <a:endParaRPr lang="en-US"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𝑑𝑜𝑢𝑏𝑙𝑒</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𝑡𝑟𝑎𝑛𝑠𝑖𝑡</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×0.693</m:t>
                          </m:r>
                        </m:num>
                        <m:den>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0.0488</m:t>
                          </m:r>
                        </m:den>
                      </m:f>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≈14.2×</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𝑡𝑟𝑎𝑛𝑠𝑖𝑡</m:t>
                          </m:r>
                        </m:sub>
                      </m:sSub>
                    </m:oMath>
                  </m:oMathPara>
                </a14:m>
                <a:endParaRPr lang="en-US" dirty="0" smtClean="0">
                  <a:latin typeface="Georgia" panose="02040502050405020303" pitchFamily="18" charset="0"/>
                  <a:ea typeface="Calibri" panose="020F0502020204030204" pitchFamily="34" charset="0"/>
                  <a:cs typeface="Times New Roman" panose="02020603050405020304" pitchFamily="18" charset="0"/>
                </a:endParaRPr>
              </a:p>
              <a:p>
                <a:pPr>
                  <a:lnSpc>
                    <a:spcPct val="150000"/>
                  </a:lnSpc>
                  <a:spcAft>
                    <a:spcPts val="1050"/>
                  </a:spcAft>
                </a:pPr>
                <a:r>
                  <a:rPr lang="en-US" dirty="0">
                    <a:solidFill>
                      <a:srgbClr val="000000"/>
                    </a:solidFill>
                    <a:latin typeface="inter"/>
                    <a:ea typeface="inter"/>
                    <a:cs typeface="inter"/>
                  </a:rPr>
                  <a:t>If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𝜏</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𝑡𝑟𝑎𝑛𝑠𝑖𝑡</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m:rPr>
                        <m:nor/>
                      </m:rPr>
                      <a:rPr lang="en-US"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m:rPr>
                        <m:nor/>
                      </m:rPr>
                      <a:rPr lang="en-US">
                        <a:solidFill>
                          <a:srgbClr val="000000"/>
                        </a:solidFill>
                        <a:latin typeface="Georgia" panose="02040502050405020303" pitchFamily="18" charset="0"/>
                        <a:ea typeface="Calibri" panose="020F0502020204030204" pitchFamily="34" charset="0"/>
                        <a:cs typeface="Times New Roman" panose="02020603050405020304" pitchFamily="18" charset="0"/>
                      </a:rPr>
                      <m:t>ns</m:t>
                    </m:r>
                  </m:oMath>
                </a14:m>
                <a:r>
                  <a:rPr lang="en-US" dirty="0">
                    <a:solidFill>
                      <a:srgbClr val="000000"/>
                    </a:solidFill>
                    <a:latin typeface="inter"/>
                    <a:ea typeface="inter"/>
                    <a:cs typeface="inter"/>
                  </a:rPr>
                  <a:t>, the amplitude doubles every ~14 ns.</a:t>
                </a:r>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723900" y="1168603"/>
                <a:ext cx="6089650" cy="5585888"/>
              </a:xfrm>
              <a:blipFill>
                <a:blip r:embed="rId2"/>
                <a:stretch>
                  <a:fillRect l="-2603" t="-1965" r="-1101"/>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mc:Choice xmlns:a14="http://schemas.microsoft.com/office/drawing/2010/main" Requires="a14">
          <p:sp>
            <p:nvSpPr>
              <p:cNvPr id="7" name="Rectangle 6"/>
              <p:cNvSpPr/>
              <p:nvPr/>
            </p:nvSpPr>
            <p:spPr>
              <a:xfrm>
                <a:off x="6667500" y="1238651"/>
                <a:ext cx="5187950" cy="3354765"/>
              </a:xfrm>
              <a:prstGeom prst="rect">
                <a:avLst/>
              </a:prstGeom>
            </p:spPr>
            <p:txBody>
              <a:bodyPr wrap="square">
                <a:spAutoFit/>
              </a:bodyPr>
              <a:lstStyle/>
              <a:p>
                <a:pPr algn="just"/>
                <a:r>
                  <a:rPr lang="en-US" sz="2000" b="1" dirty="0">
                    <a:solidFill>
                      <a:srgbClr val="000000"/>
                    </a:solidFill>
                    <a:latin typeface="inter"/>
                    <a:ea typeface="inter"/>
                    <a:cs typeface="inter"/>
                  </a:rPr>
                  <a:t>Practical Implications for </a:t>
                </a:r>
                <a:r>
                  <a:rPr lang="en-US" sz="2000" b="1" dirty="0" smtClean="0">
                    <a:solidFill>
                      <a:srgbClr val="000000"/>
                    </a:solidFill>
                    <a:latin typeface="inter"/>
                    <a:ea typeface="inter"/>
                    <a:cs typeface="inter"/>
                  </a:rPr>
                  <a:t>Designers</a:t>
                </a:r>
              </a:p>
              <a:p>
                <a:pPr algn="just"/>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buFont typeface="+mj-lt"/>
                  <a:buAutoNum type="arabicPeriod"/>
                  <a:tabLst>
                    <a:tab pos="571500" algn="l"/>
                  </a:tabLst>
                </a:pPr>
                <a:r>
                  <a:rPr lang="en-US" sz="1600" b="1" dirty="0">
                    <a:solidFill>
                      <a:srgbClr val="000000"/>
                    </a:solidFill>
                    <a:effectLst/>
                    <a:latin typeface="inter"/>
                    <a:ea typeface="inter"/>
                    <a:cs typeface="inter"/>
                  </a:rPr>
                  <a:t>Excess Gain is Necessary:</a:t>
                </a:r>
                <a:r>
                  <a:rPr lang="en-US" sz="1600" dirty="0">
                    <a:solidFill>
                      <a:srgbClr val="000000"/>
                    </a:solidFill>
                    <a:effectLst/>
                    <a:latin typeface="inter"/>
                    <a:ea typeface="inter"/>
                    <a:cs typeface="inter"/>
                  </a:rPr>
                  <a:t> For reliable startup, designs typically specify </a:t>
                </a:r>
                <a14:m>
                  <m:oMath xmlns:m="http://schemas.openxmlformats.org/officeDocument/2006/math">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)|≥1.1</m:t>
                    </m:r>
                  </m:oMath>
                </a14:m>
                <a:r>
                  <a:rPr lang="en-US" sz="1600" dirty="0">
                    <a:solidFill>
                      <a:srgbClr val="000000"/>
                    </a:solidFill>
                    <a:effectLst/>
                    <a:latin typeface="inter"/>
                    <a:ea typeface="inter"/>
                    <a:cs typeface="inter"/>
                  </a:rPr>
                  <a:t> to 1.3 (10–30% excess gain) to ensure startup within acceptable time even under worst-case PVT.</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buFont typeface="+mj-lt"/>
                  <a:buAutoNum type="arabicPeriod"/>
                  <a:tabLst>
                    <a:tab pos="571500" algn="l"/>
                  </a:tabLst>
                </a:pPr>
                <a:r>
                  <a:rPr lang="en-US" sz="1600" b="1" dirty="0">
                    <a:solidFill>
                      <a:srgbClr val="000000"/>
                    </a:solidFill>
                    <a:effectLst/>
                    <a:latin typeface="inter"/>
                    <a:ea typeface="inter"/>
                    <a:cs typeface="inter"/>
                  </a:rPr>
                  <a:t>Startup Time Specification:</a:t>
                </a:r>
                <a:r>
                  <a:rPr lang="en-US" sz="1600" dirty="0">
                    <a:solidFill>
                      <a:srgbClr val="000000"/>
                    </a:solidFill>
                    <a:effectLst/>
                    <a:latin typeface="inter"/>
                    <a:ea typeface="inter"/>
                    <a:cs typeface="inter"/>
                  </a:rPr>
                  <a:t> Oscillators are usually required to reach 90% of final amplitude within 1–10 microseconds from power-on.</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buFont typeface="+mj-lt"/>
                  <a:buAutoNum type="arabicPeriod"/>
                  <a:tabLst>
                    <a:tab pos="571500" algn="l"/>
                  </a:tabLst>
                </a:pPr>
                <a:r>
                  <a:rPr lang="en-US" sz="1600" b="1" dirty="0">
                    <a:solidFill>
                      <a:srgbClr val="000000"/>
                    </a:solidFill>
                    <a:effectLst/>
                    <a:latin typeface="inter"/>
                    <a:ea typeface="inter"/>
                    <a:cs typeface="inter"/>
                  </a:rPr>
                  <a:t>Trade-off with Stability:</a:t>
                </a:r>
                <a:r>
                  <a:rPr lang="en-US" sz="1600" dirty="0">
                    <a:solidFill>
                      <a:srgbClr val="000000"/>
                    </a:solidFill>
                    <a:effectLst/>
                    <a:latin typeface="inter"/>
                    <a:ea typeface="inter"/>
                    <a:cs typeface="inter"/>
                  </a:rPr>
                  <a:t> Larger excess gain enables faster startup but risks overshooting the steady-state amplitude (requiring stronger nonlinear limiting).</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7" name="Rectangle 6"/>
              <p:cNvSpPr>
                <a:spLocks noRot="1" noChangeAspect="1" noMove="1" noResize="1" noEditPoints="1" noAdjustHandles="1" noChangeArrowheads="1" noChangeShapeType="1" noTextEdit="1"/>
              </p:cNvSpPr>
              <p:nvPr/>
            </p:nvSpPr>
            <p:spPr>
              <a:xfrm>
                <a:off x="6667500" y="1238651"/>
                <a:ext cx="5187950" cy="3354765"/>
              </a:xfrm>
              <a:prstGeom prst="rect">
                <a:avLst/>
              </a:prstGeom>
              <a:blipFill>
                <a:blip r:embed="rId3"/>
                <a:stretch>
                  <a:fillRect l="-1293" t="-726" r="-588" b="-1270"/>
                </a:stretch>
              </a:blipFill>
            </p:spPr>
            <p:txBody>
              <a:bodyPr/>
              <a:lstStyle/>
              <a:p>
                <a:r>
                  <a:rPr lang="en-US">
                    <a:noFill/>
                  </a:rPr>
                  <a:t> </a:t>
                </a:r>
              </a:p>
            </p:txBody>
          </p:sp>
        </mc:Fallback>
      </mc:AlternateContent>
    </p:spTree>
    <p:extLst>
      <p:ext uri="{BB962C8B-B14F-4D97-AF65-F5344CB8AC3E}">
        <p14:creationId xmlns:p14="http://schemas.microsoft.com/office/powerpoint/2010/main" val="4794929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1046440"/>
          </a:xfrm>
        </p:spPr>
        <p:txBody>
          <a:bodyPr/>
          <a:lstStyle/>
          <a:p>
            <a:r>
              <a:rPr lang="en-US" dirty="0">
                <a:latin typeface="fkGrotesk"/>
              </a:rPr>
              <a:t>4</a:t>
            </a:r>
            <a:r>
              <a:rPr lang="en-US" dirty="0" smtClean="0">
                <a:latin typeface="fkGrotesk"/>
              </a:rPr>
              <a:t>. </a:t>
            </a:r>
            <a:r>
              <a:rPr lang="en-US" dirty="0">
                <a:latin typeface="fkGrotesk"/>
              </a:rPr>
              <a:t>Noise-Initiated Oscillation</a:t>
            </a:r>
            <a:br>
              <a:rPr lang="en-US" dirty="0">
                <a:latin typeface="fkGrotesk"/>
              </a:rPr>
            </a:br>
            <a:endParaRPr lang="en-US" dirty="0"/>
          </a:p>
        </p:txBody>
      </p:sp>
      <p:sp>
        <p:nvSpPr>
          <p:cNvPr id="3" name="Text Placeholder 2"/>
          <p:cNvSpPr>
            <a:spLocks noGrp="1"/>
          </p:cNvSpPr>
          <p:nvPr>
            <p:ph type="body" idx="1"/>
          </p:nvPr>
        </p:nvSpPr>
        <p:spPr>
          <a:xfrm>
            <a:off x="844549" y="1327353"/>
            <a:ext cx="6272687" cy="4616648"/>
          </a:xfrm>
        </p:spPr>
        <p:txBody>
          <a:bodyPr/>
          <a:lstStyle/>
          <a:p>
            <a:pPr marL="342900" indent="-342900" algn="just">
              <a:buFont typeface="Wingdings" panose="05000000000000000000" pitchFamily="2" charset="2"/>
              <a:buChar char="q"/>
            </a:pPr>
            <a:r>
              <a:rPr lang="en-US" dirty="0" smtClean="0">
                <a:latin typeface="fkGroteskNeue"/>
              </a:rPr>
              <a:t>Figure shows </a:t>
            </a:r>
            <a:r>
              <a:rPr lang="en-US" dirty="0">
                <a:latin typeface="fkGroteskNeue"/>
              </a:rPr>
              <a:t>how wideband noise within the system provides the initial "seed" for oscillation. </a:t>
            </a:r>
            <a:endParaRPr lang="en-US" dirty="0" smtClean="0">
              <a:latin typeface="fkGroteskNeue"/>
            </a:endParaRPr>
          </a:p>
          <a:p>
            <a:pPr marL="342900" indent="-342900" algn="just">
              <a:buFont typeface="Wingdings" panose="05000000000000000000" pitchFamily="2" charset="2"/>
              <a:buChar char="q"/>
            </a:pPr>
            <a:r>
              <a:rPr lang="en-US" dirty="0" smtClean="0">
                <a:latin typeface="fkGroteskNeue"/>
              </a:rPr>
              <a:t>Even </a:t>
            </a:r>
            <a:r>
              <a:rPr lang="en-US" dirty="0">
                <a:latin typeface="fkGroteskNeue"/>
              </a:rPr>
              <a:t>with no external input, internal noise contains components at all frequencies, including ω₀</a:t>
            </a:r>
            <a:r>
              <a:rPr lang="en-US" dirty="0" smtClean="0">
                <a:latin typeface="fkGroteskNeue"/>
              </a:rPr>
              <a:t>.</a:t>
            </a:r>
          </a:p>
          <a:p>
            <a:pPr marL="342900" indent="-342900" algn="just">
              <a:buFont typeface="Wingdings" panose="05000000000000000000" pitchFamily="2" charset="2"/>
              <a:buChar char="q"/>
            </a:pPr>
            <a:endParaRPr lang="en-US" dirty="0">
              <a:latin typeface="fkGroteskNeue"/>
            </a:endParaRPr>
          </a:p>
          <a:p>
            <a:pPr algn="just"/>
            <a:r>
              <a:rPr lang="en-US" b="1" dirty="0">
                <a:solidFill>
                  <a:srgbClr val="00B050"/>
                </a:solidFill>
                <a:latin typeface="fkGroteskNeue"/>
              </a:rPr>
              <a:t>Practical Reality: </a:t>
            </a:r>
            <a:r>
              <a:rPr lang="en-US" dirty="0">
                <a:latin typeface="fkGroteskNeue"/>
              </a:rPr>
              <a:t>Real oscillators don't need external signals - they self-start from noise because</a:t>
            </a:r>
            <a:r>
              <a:rPr lang="en-US" dirty="0" smtClean="0">
                <a:latin typeface="fkGroteskNeue"/>
              </a:rPr>
              <a:t>:</a:t>
            </a:r>
          </a:p>
          <a:p>
            <a:pPr marL="342900" indent="-342900" algn="just">
              <a:buFont typeface="Wingdings" panose="05000000000000000000" pitchFamily="2" charset="2"/>
              <a:buChar char="q"/>
            </a:pPr>
            <a:endParaRPr lang="en-US" dirty="0">
              <a:latin typeface="fkGroteskNeue"/>
            </a:endParaRPr>
          </a:p>
          <a:p>
            <a:pPr marL="342900" indent="-342900" algn="just">
              <a:buFont typeface="Wingdings" panose="05000000000000000000" pitchFamily="2" charset="2"/>
              <a:buChar char="q"/>
            </a:pPr>
            <a:r>
              <a:rPr lang="en-US" dirty="0">
                <a:latin typeface="fkGroteskNeue"/>
              </a:rPr>
              <a:t>Thermal noise in resistors</a:t>
            </a:r>
          </a:p>
          <a:p>
            <a:pPr marL="342900" indent="-342900" algn="just">
              <a:buFont typeface="Wingdings" panose="05000000000000000000" pitchFamily="2" charset="2"/>
              <a:buChar char="q"/>
            </a:pPr>
            <a:r>
              <a:rPr lang="en-US" dirty="0">
                <a:latin typeface="fkGroteskNeue"/>
              </a:rPr>
              <a:t>Shot noise in active devices</a:t>
            </a:r>
          </a:p>
          <a:p>
            <a:pPr marL="342900" indent="-342900" algn="just">
              <a:buFont typeface="Wingdings" panose="05000000000000000000" pitchFamily="2" charset="2"/>
              <a:buChar char="q"/>
            </a:pPr>
            <a:r>
              <a:rPr lang="en-US" dirty="0">
                <a:latin typeface="fkGroteskNeue"/>
              </a:rPr>
              <a:t>Power supply </a:t>
            </a:r>
            <a:r>
              <a:rPr lang="en-US" dirty="0" smtClean="0">
                <a:latin typeface="fkGroteskNeue"/>
              </a:rPr>
              <a:t>fluctuations</a:t>
            </a:r>
          </a:p>
          <a:p>
            <a:pPr algn="just"/>
            <a:r>
              <a:rPr lang="en-US" dirty="0">
                <a:latin typeface="fkGroteskNeue"/>
              </a:rPr>
              <a:t/>
            </a:r>
            <a:br>
              <a:rPr lang="en-US" dirty="0">
                <a:latin typeface="fkGroteskNeue"/>
              </a:rPr>
            </a:br>
            <a:r>
              <a:rPr lang="en-US" dirty="0">
                <a:latin typeface="fkGroteskNeue"/>
              </a:rPr>
              <a:t>All provide sufficient energy at ω₀ to initiate oscillation when </a:t>
            </a:r>
            <a:r>
              <a:rPr lang="en-US" dirty="0" err="1">
                <a:latin typeface="fkGroteskNeue"/>
              </a:rPr>
              <a:t>Barkhausen</a:t>
            </a:r>
            <a:r>
              <a:rPr lang="en-US" dirty="0">
                <a:latin typeface="fkGroteskNeue"/>
              </a:rPr>
              <a:t> conditions are met.</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667630" y="1235697"/>
            <a:ext cx="3822524" cy="1639477"/>
          </a:xfrm>
          <a:prstGeom prst="rect">
            <a:avLst/>
          </a:prstGeom>
        </p:spPr>
      </p:pic>
      <p:sp>
        <p:nvSpPr>
          <p:cNvPr id="8" name="Rectangle 7"/>
          <p:cNvSpPr/>
          <p:nvPr/>
        </p:nvSpPr>
        <p:spPr>
          <a:xfrm>
            <a:off x="7267486" y="3029179"/>
            <a:ext cx="4620176" cy="276999"/>
          </a:xfrm>
          <a:prstGeom prst="rect">
            <a:avLst/>
          </a:prstGeom>
        </p:spPr>
        <p:txBody>
          <a:bodyPr wrap="none">
            <a:spAutoFit/>
          </a:bodyPr>
          <a:lstStyle/>
          <a:p>
            <a:r>
              <a:rPr lang="en-US" sz="1200" b="1" i="0" u="none" strike="noStrike" baseline="0" dirty="0" smtClean="0">
                <a:solidFill>
                  <a:srgbClr val="00B050"/>
                </a:solidFill>
                <a:latin typeface="T3Font_104"/>
              </a:rPr>
              <a:t>Figure 1.4 </a:t>
            </a:r>
            <a:r>
              <a:rPr lang="en-US" sz="1200" b="1" i="0" u="none" strike="noStrike" baseline="0" dirty="0" smtClean="0">
                <a:solidFill>
                  <a:srgbClr val="00B050"/>
                </a:solidFill>
                <a:latin typeface="T3Font_105"/>
              </a:rPr>
              <a:t>Effect of noise injected into a closed-loop system.</a:t>
            </a:r>
            <a:endParaRPr lang="en-US" sz="3600" b="1" dirty="0">
              <a:solidFill>
                <a:srgbClr val="00B050"/>
              </a:solidFill>
            </a:endParaRPr>
          </a:p>
        </p:txBody>
      </p:sp>
    </p:spTree>
    <p:extLst>
      <p:ext uri="{BB962C8B-B14F-4D97-AF65-F5344CB8AC3E}">
        <p14:creationId xmlns:p14="http://schemas.microsoft.com/office/powerpoint/2010/main" val="42293819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Circuit </a:t>
            </a:r>
            <a:r>
              <a:rPr lang="en-US" dirty="0" smtClean="0"/>
              <a:t>Configuration</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69850" y="1200353"/>
                <a:ext cx="5791200" cy="4800545"/>
              </a:xfrm>
            </p:spPr>
            <p:txBody>
              <a:bodyPr/>
              <a:lstStyle/>
              <a:p>
                <a:r>
                  <a:rPr lang="en-US" sz="1800" dirty="0" smtClean="0">
                    <a:solidFill>
                      <a:srgbClr val="000000"/>
                    </a:solidFill>
                    <a:latin typeface="inter"/>
                    <a:ea typeface="inter"/>
                    <a:cs typeface="inter"/>
                  </a:rPr>
                  <a:t>The </a:t>
                </a:r>
                <a:r>
                  <a:rPr lang="en-US" sz="1800" dirty="0">
                    <a:solidFill>
                      <a:srgbClr val="000000"/>
                    </a:solidFill>
                    <a:latin typeface="inter"/>
                    <a:ea typeface="inter"/>
                    <a:cs typeface="inter"/>
                  </a:rPr>
                  <a:t>figure shows a feedback loop with an injection point where noise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b>
                    </m:sSub>
                  </m:oMath>
                </a14:m>
                <a:r>
                  <a:rPr lang="en-US" sz="1800" dirty="0">
                    <a:solidFill>
                      <a:srgbClr val="000000"/>
                    </a:solidFill>
                    <a:latin typeface="inter"/>
                    <a:ea typeface="inter"/>
                    <a:cs typeface="inter"/>
                  </a:rPr>
                  <a:t> is added at the output node. The loop contains an impedance representing all circuit elements</a:t>
                </a:r>
                <a:r>
                  <a:rPr lang="en-US" sz="1800" dirty="0" smtClean="0">
                    <a:solidFill>
                      <a:srgbClr val="000000"/>
                    </a:solidFill>
                    <a:latin typeface="inter"/>
                    <a:ea typeface="inter"/>
                    <a:cs typeface="inter"/>
                  </a:rPr>
                  <a:t>.</a:t>
                </a:r>
              </a:p>
              <a:p>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2400" b="1" dirty="0">
                    <a:solidFill>
                      <a:srgbClr val="000000"/>
                    </a:solidFill>
                    <a:effectLst/>
                    <a:latin typeface="inter"/>
                    <a:ea typeface="inter"/>
                    <a:cs typeface="inter"/>
                  </a:rPr>
                  <a:t>Transfer Function from Noise to </a:t>
                </a:r>
                <a:r>
                  <a:rPr lang="en-US" sz="2400" b="1" dirty="0" smtClean="0">
                    <a:solidFill>
                      <a:srgbClr val="000000"/>
                    </a:solidFill>
                    <a:effectLst/>
                    <a:latin typeface="inter"/>
                    <a:ea typeface="inter"/>
                    <a:cs typeface="inter"/>
                  </a:rPr>
                  <a:t>Output</a:t>
                </a:r>
                <a:endParaRPr lang="en-US" sz="1800" dirty="0" smtClean="0">
                  <a:latin typeface="Georgia" panose="02040502050405020303" pitchFamily="18" charset="0"/>
                  <a:ea typeface="Calibri" panose="020F0502020204030204" pitchFamily="34" charset="0"/>
                  <a:cs typeface="Times New Roman" panose="02020603050405020304" pitchFamily="18" charset="0"/>
                </a:endParaRPr>
              </a:p>
              <a:p>
                <a:pPr algn="ctr"/>
                <a:endParaRPr lang="en-US" sz="1800" dirty="0">
                  <a:solidFill>
                    <a:srgbClr val="000000"/>
                  </a:solidFill>
                  <a:latin typeface="Georgia" panose="02040502050405020303" pitchFamily="18" charset="0"/>
                  <a:ea typeface="Calibri" panose="020F0502020204030204" pitchFamily="34" charset="0"/>
                  <a:cs typeface="Times New Roman" panose="02020603050405020304" pitchFamily="18" charset="0"/>
                </a:endParaRPr>
              </a:p>
              <a:p>
                <a:pPr algn="ctr"/>
                <a:r>
                  <a:rPr lang="en-US" sz="1600" dirty="0" smtClean="0">
                    <a:solidFill>
                      <a:srgbClr val="000000"/>
                    </a:solidFill>
                    <a:latin typeface="inter"/>
                    <a:ea typeface="inter"/>
                    <a:cs typeface="inter"/>
                  </a:rPr>
                  <a:t>If </a:t>
                </a:r>
                <a:r>
                  <a:rPr lang="en-US" sz="1600" dirty="0">
                    <a:solidFill>
                      <a:srgbClr val="000000"/>
                    </a:solidFill>
                    <a:latin typeface="inter"/>
                    <a:ea typeface="inter"/>
                    <a:cs typeface="inter"/>
                  </a:rPr>
                  <a:t>noise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b>
                    </m:sSub>
                  </m:oMath>
                </a14:m>
                <a:r>
                  <a:rPr lang="en-US" sz="1600" dirty="0">
                    <a:solidFill>
                      <a:srgbClr val="000000"/>
                    </a:solidFill>
                    <a:latin typeface="inter"/>
                    <a:ea typeface="inter"/>
                    <a:cs typeface="inter"/>
                  </a:rPr>
                  <a:t> is injected at a node with impedance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oMath>
                </a14:m>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𝑌</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r>
                  <a:rPr lang="en-US" sz="1600" dirty="0">
                    <a:solidFill>
                      <a:srgbClr val="000000"/>
                    </a:solidFill>
                    <a:latin typeface="inter"/>
                    <a:ea typeface="inter"/>
                    <a:cs typeface="inter"/>
                  </a:rPr>
                  <a:t>At the oscillation frequency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𝑌</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r>
                  <a:rPr lang="en-US" sz="1600" dirty="0">
                    <a:solidFill>
                      <a:srgbClr val="000000"/>
                    </a:solidFill>
                    <a:latin typeface="inter"/>
                    <a:ea typeface="inter"/>
                    <a:cs typeface="inter"/>
                  </a:rPr>
                  <a:t>When </a:t>
                </a:r>
                <a:r>
                  <a:rPr lang="en-US" sz="1600" dirty="0" err="1">
                    <a:solidFill>
                      <a:srgbClr val="000000"/>
                    </a:solidFill>
                    <a:latin typeface="inter"/>
                    <a:ea typeface="inter"/>
                    <a:cs typeface="inter"/>
                  </a:rPr>
                  <a:t>Barkhausen's</a:t>
                </a:r>
                <a:r>
                  <a:rPr lang="en-US" sz="1600" dirty="0">
                    <a:solidFill>
                      <a:srgbClr val="000000"/>
                    </a:solidFill>
                    <a:latin typeface="inter"/>
                    <a:ea typeface="inter"/>
                    <a:cs typeface="inter"/>
                  </a:rPr>
                  <a:t> condition is met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a14:m>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1)=0</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ctr"/>
                <a:r>
                  <a:rPr lang="en-US" sz="1600" dirty="0">
                    <a:solidFill>
                      <a:srgbClr val="000000"/>
                    </a:solidFill>
                    <a:latin typeface="inter"/>
                    <a:ea typeface="inter"/>
                    <a:cs typeface="inter"/>
                  </a:rPr>
                  <a:t>Even infinitesimal noise at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latin typeface="inter"/>
                    <a:ea typeface="inter"/>
                    <a:cs typeface="inter"/>
                  </a:rPr>
                  <a:t> produces finite (or growing) output!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sz="18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69850" y="1200353"/>
                <a:ext cx="5791200" cy="4800545"/>
              </a:xfrm>
              <a:blipFill>
                <a:blip r:embed="rId2"/>
                <a:stretch>
                  <a:fillRect l="-3158" t="-1652" r="-2000" b="-1017"/>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3"/>
          <a:srcRect l="3737" t="17585" r="3235" b="9986"/>
          <a:stretch/>
        </p:blipFill>
        <p:spPr>
          <a:xfrm>
            <a:off x="7804150" y="1092200"/>
            <a:ext cx="3556000" cy="1187450"/>
          </a:xfrm>
          <a:prstGeom prst="rect">
            <a:avLst/>
          </a:prstGeom>
        </p:spPr>
      </p:pic>
      <mc:AlternateContent xmlns:mc="http://schemas.openxmlformats.org/markup-compatibility/2006">
        <mc:Choice xmlns:a14="http://schemas.microsoft.com/office/drawing/2010/main" Requires="a14">
          <p:sp>
            <p:nvSpPr>
              <p:cNvPr id="8" name="Rectangle 7"/>
              <p:cNvSpPr/>
              <p:nvPr/>
            </p:nvSpPr>
            <p:spPr>
              <a:xfrm>
                <a:off x="6375400" y="2291597"/>
                <a:ext cx="5734050" cy="4025717"/>
              </a:xfrm>
              <a:prstGeom prst="rect">
                <a:avLst/>
              </a:prstGeom>
            </p:spPr>
            <p:txBody>
              <a:bodyPr wrap="square">
                <a:spAutoFit/>
              </a:bodyPr>
              <a:lstStyle/>
              <a:p>
                <a:pPr algn="ctr"/>
                <a:r>
                  <a:rPr lang="en-US" sz="2000" b="1" dirty="0">
                    <a:solidFill>
                      <a:srgbClr val="C00000"/>
                    </a:solidFill>
                    <a:latin typeface="inter"/>
                    <a:ea typeface="inter"/>
                    <a:cs typeface="inter"/>
                  </a:rPr>
                  <a:t>Frequency Selectivity</a:t>
                </a:r>
                <a:endParaRPr lang="en-US" sz="1600" dirty="0">
                  <a:solidFill>
                    <a:srgbClr val="C00000"/>
                  </a:solidFill>
                  <a:effectLst/>
                  <a:latin typeface="Georgia" panose="02040502050405020303" pitchFamily="18" charset="0"/>
                  <a:ea typeface="Calibri" panose="020F0502020204030204" pitchFamily="34" charset="0"/>
                  <a:cs typeface="Times New Roman" panose="02020603050405020304" pitchFamily="18" charset="0"/>
                </a:endParaRPr>
              </a:p>
              <a:p>
                <a:pPr algn="just"/>
                <a:r>
                  <a:rPr lang="en-US" sz="1600" dirty="0">
                    <a:solidFill>
                      <a:srgbClr val="000000"/>
                    </a:solidFill>
                    <a:effectLst/>
                    <a:latin typeface="inter"/>
                    <a:ea typeface="inter"/>
                    <a:cs typeface="inter"/>
                  </a:rPr>
                  <a:t>Broadband noise contains all frequency components. The closed-loop transfer function acts as a </a:t>
                </a:r>
                <a:r>
                  <a:rPr lang="en-US" sz="1600" dirty="0" err="1">
                    <a:solidFill>
                      <a:srgbClr val="000000"/>
                    </a:solidFill>
                    <a:effectLst/>
                    <a:latin typeface="inter"/>
                    <a:ea typeface="inter"/>
                    <a:cs typeface="inter"/>
                  </a:rPr>
                  <a:t>bandpass</a:t>
                </a:r>
                <a:r>
                  <a:rPr lang="en-US" sz="1600" dirty="0">
                    <a:solidFill>
                      <a:srgbClr val="000000"/>
                    </a:solidFill>
                    <a:effectLst/>
                    <a:latin typeface="inter"/>
                    <a:ea typeface="inter"/>
                    <a:cs typeface="inter"/>
                  </a:rPr>
                  <a:t> filter centered at </a:t>
                </a:r>
                <a14:m>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effectLst/>
                    <a:latin typeface="inter"/>
                    <a:ea typeface="inter"/>
                    <a:cs typeface="inter"/>
                  </a:rPr>
                  <a:t>. Only the </a:t>
                </a:r>
                <a14:m>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effectLst/>
                    <a:latin typeface="inter"/>
                    <a:ea typeface="inter"/>
                    <a:cs typeface="inter"/>
                  </a:rPr>
                  <a:t> component achieves infinite amplification; all other frequencies are suppressed:</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𝑌</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num>
                            <m:den>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den>
                          </m:f>
                        </m:e>
                      </m:d>
                    </m:oMath>
                  </m:oMathPara>
                </a14:m>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600" dirty="0">
                    <a:solidFill>
                      <a:srgbClr val="000000"/>
                    </a:solidFill>
                    <a:effectLst/>
                    <a:latin typeface="inter"/>
                    <a:ea typeface="inter"/>
                    <a:cs typeface="inter"/>
                  </a:rPr>
                  <a:t>At </a:t>
                </a:r>
                <a14:m>
                  <m:oMath xmlns:m="http://schemas.openxmlformats.org/officeDocument/2006/math">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effectLst/>
                    <a:latin typeface="inter"/>
                    <a:ea typeface="inter"/>
                    <a:cs typeface="inter"/>
                  </a:rPr>
                  <a:t>: </a:t>
                </a:r>
                <a14:m>
                  <m:oMath xmlns:m="http://schemas.openxmlformats.org/officeDocument/2006/math">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𝑌</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oMath>
                </a14:m>
                <a:r>
                  <a:rPr lang="en-US" sz="1600" dirty="0">
                    <a:solidFill>
                      <a:srgbClr val="000000"/>
                    </a:solidFill>
                    <a:effectLst/>
                    <a:latin typeface="inter"/>
                    <a:ea typeface="inter"/>
                    <a:cs typeface="inter"/>
                  </a:rPr>
                  <a:t> (resonance peak)</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600" dirty="0">
                    <a:solidFill>
                      <a:srgbClr val="000000"/>
                    </a:solidFill>
                    <a:effectLst/>
                    <a:latin typeface="inter"/>
                    <a:ea typeface="inter"/>
                    <a:cs typeface="inter"/>
                  </a:rPr>
                  <a:t>At </a:t>
                </a:r>
                <a14:m>
                  <m:oMath xmlns:m="http://schemas.openxmlformats.org/officeDocument/2006/math">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effectLst/>
                    <a:latin typeface="inter"/>
                    <a:ea typeface="inter"/>
                    <a:cs typeface="inter"/>
                  </a:rPr>
                  <a:t> or </a:t>
                </a:r>
                <a14:m>
                  <m:oMath xmlns:m="http://schemas.openxmlformats.org/officeDocument/2006/math">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effectLst/>
                    <a:latin typeface="inter"/>
                    <a:ea typeface="inter"/>
                    <a:cs typeface="inter"/>
                  </a:rPr>
                  <a:t>: </a:t>
                </a:r>
                <a14:m>
                  <m:oMath xmlns:m="http://schemas.openxmlformats.org/officeDocument/2006/math">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𝑌</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oMath>
                </a14:m>
                <a:r>
                  <a:rPr lang="en-US" sz="1600" dirty="0">
                    <a:solidFill>
                      <a:srgbClr val="000000"/>
                    </a:solidFill>
                    <a:effectLst/>
                    <a:latin typeface="inter"/>
                    <a:ea typeface="inter"/>
                    <a:cs typeface="inter"/>
                  </a:rPr>
                  <a:t> (attenuated)</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effectLst/>
                    <a:latin typeface="inter"/>
                    <a:ea typeface="inter"/>
                    <a:cs typeface="inter"/>
                  </a:rPr>
                  <a:t>This </a:t>
                </a:r>
                <a:r>
                  <a:rPr lang="en-US" sz="1600" b="1" dirty="0">
                    <a:solidFill>
                      <a:srgbClr val="000000"/>
                    </a:solidFill>
                    <a:effectLst/>
                    <a:latin typeface="inter"/>
                    <a:ea typeface="inter"/>
                    <a:cs typeface="inter"/>
                  </a:rPr>
                  <a:t>frequency-selective amplification</a:t>
                </a:r>
                <a:r>
                  <a:rPr lang="en-US" sz="1600" dirty="0">
                    <a:solidFill>
                      <a:srgbClr val="000000"/>
                    </a:solidFill>
                    <a:effectLst/>
                    <a:latin typeface="inter"/>
                    <a:ea typeface="inter"/>
                    <a:cs typeface="inter"/>
                  </a:rPr>
                  <a:t> is the mechanism by which oscillators:</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800100" lvl="1" indent="-342900" algn="just">
                  <a:buFont typeface="+mj-lt"/>
                  <a:buAutoNum type="arabicPeriod"/>
                  <a:tabLst>
                    <a:tab pos="571500" algn="l"/>
                  </a:tabLst>
                </a:pPr>
                <a:r>
                  <a:rPr lang="en-US" dirty="0">
                    <a:solidFill>
                      <a:srgbClr val="000000"/>
                    </a:solidFill>
                    <a:effectLst/>
                    <a:latin typeface="inter"/>
                    <a:ea typeface="inter"/>
                    <a:cs typeface="inter"/>
                  </a:rPr>
                  <a:t>Start reliably from broadband thermal noise</a:t>
                </a:r>
                <a:endParaRPr lang="en-US" dirty="0">
                  <a:effectLst/>
                  <a:latin typeface="Georgia" panose="02040502050405020303" pitchFamily="18" charset="0"/>
                  <a:ea typeface="Calibri" panose="020F0502020204030204" pitchFamily="34" charset="0"/>
                  <a:cs typeface="Times New Roman" panose="02020603050405020304" pitchFamily="18" charset="0"/>
                </a:endParaRPr>
              </a:p>
              <a:p>
                <a:pPr marL="800100" lvl="1" indent="-342900" algn="just">
                  <a:buFont typeface="+mj-lt"/>
                  <a:buAutoNum type="arabicPeriod"/>
                  <a:tabLst>
                    <a:tab pos="571500" algn="l"/>
                  </a:tabLst>
                </a:pPr>
                <a:r>
                  <a:rPr lang="en-US" dirty="0">
                    <a:solidFill>
                      <a:srgbClr val="000000"/>
                    </a:solidFill>
                    <a:effectLst/>
                    <a:latin typeface="inter"/>
                    <a:ea typeface="inter"/>
                    <a:cs typeface="inter"/>
                  </a:rPr>
                  <a:t>Generate clean single-frequency output (high spectral purity at the fundamental)</a:t>
                </a:r>
                <a:endParaRPr lang="en-US" dirty="0">
                  <a:effectLst/>
                  <a:latin typeface="Georgia" panose="02040502050405020303" pitchFamily="18" charset="0"/>
                  <a:ea typeface="Calibri" panose="020F0502020204030204" pitchFamily="34" charset="0"/>
                  <a:cs typeface="Times New Roman" panose="02020603050405020304" pitchFamily="18" charset="0"/>
                </a:endParaRPr>
              </a:p>
              <a:p>
                <a:pPr marL="800100" lvl="1" indent="-342900" algn="just">
                  <a:buFont typeface="+mj-lt"/>
                  <a:buAutoNum type="arabicPeriod"/>
                  <a:tabLst>
                    <a:tab pos="571500" algn="l"/>
                  </a:tabLst>
                </a:pPr>
                <a:r>
                  <a:rPr lang="en-US" dirty="0">
                    <a:solidFill>
                      <a:srgbClr val="000000"/>
                    </a:solidFill>
                    <a:effectLst/>
                    <a:latin typeface="inter"/>
                    <a:ea typeface="inter"/>
                    <a:cs typeface="inter"/>
                  </a:rPr>
                  <a:t>Suppress unwanted frequency components</a:t>
                </a:r>
                <a:endParaRPr lang="en-US" dirty="0">
                  <a:effectLst/>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8" name="Rectangle 7"/>
              <p:cNvSpPr>
                <a:spLocks noRot="1" noChangeAspect="1" noMove="1" noResize="1" noEditPoints="1" noAdjustHandles="1" noChangeArrowheads="1" noChangeShapeType="1" noTextEdit="1"/>
              </p:cNvSpPr>
              <p:nvPr/>
            </p:nvSpPr>
            <p:spPr>
              <a:xfrm>
                <a:off x="6375400" y="2291597"/>
                <a:ext cx="5734050" cy="4025717"/>
              </a:xfrm>
              <a:prstGeom prst="rect">
                <a:avLst/>
              </a:prstGeom>
              <a:blipFill>
                <a:blip r:embed="rId4"/>
                <a:stretch>
                  <a:fillRect l="-638" t="-909" r="-851" b="-1515"/>
                </a:stretch>
              </a:blipFill>
            </p:spPr>
            <p:txBody>
              <a:bodyPr/>
              <a:lstStyle/>
              <a:p>
                <a:r>
                  <a:rPr lang="en-US">
                    <a:noFill/>
                  </a:rPr>
                  <a:t> </a:t>
                </a:r>
              </a:p>
            </p:txBody>
          </p:sp>
        </mc:Fallback>
      </mc:AlternateContent>
    </p:spTree>
    <p:extLst>
      <p:ext uri="{BB962C8B-B14F-4D97-AF65-F5344CB8AC3E}">
        <p14:creationId xmlns:p14="http://schemas.microsoft.com/office/powerpoint/2010/main" val="11169374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5</a:t>
            </a:r>
            <a:r>
              <a:rPr lang="en-US" dirty="0" smtClean="0">
                <a:latin typeface="fkGrotesk"/>
              </a:rPr>
              <a:t>. </a:t>
            </a:r>
            <a:r>
              <a:rPr lang="en-US" dirty="0">
                <a:latin typeface="fkGrotesk"/>
              </a:rPr>
              <a:t>Impedance </a:t>
            </a:r>
            <a:r>
              <a:rPr lang="en-US" dirty="0" smtClean="0">
                <a:latin typeface="fkGrotesk"/>
              </a:rPr>
              <a:t>Perspective</a:t>
            </a:r>
            <a:endParaRPr lang="en-US" dirty="0"/>
          </a:p>
        </p:txBody>
      </p:sp>
      <p:sp>
        <p:nvSpPr>
          <p:cNvPr id="3" name="Text Placeholder 2"/>
          <p:cNvSpPr>
            <a:spLocks noGrp="1"/>
          </p:cNvSpPr>
          <p:nvPr>
            <p:ph type="body" idx="1"/>
          </p:nvPr>
        </p:nvSpPr>
        <p:spPr>
          <a:xfrm>
            <a:off x="844550" y="1327353"/>
            <a:ext cx="6146800" cy="4924425"/>
          </a:xfrm>
        </p:spPr>
        <p:txBody>
          <a:bodyPr/>
          <a:lstStyle/>
          <a:p>
            <a:pPr marL="342900" indent="-342900" algn="just">
              <a:buFont typeface="Wingdings" panose="05000000000000000000" pitchFamily="2" charset="2"/>
              <a:buChar char="q"/>
            </a:pPr>
            <a:r>
              <a:rPr lang="en-US" dirty="0" smtClean="0">
                <a:latin typeface="fkGroteskNeue"/>
              </a:rPr>
              <a:t>Figure shows </a:t>
            </a:r>
            <a:r>
              <a:rPr lang="en-US" dirty="0">
                <a:latin typeface="fkGroteskNeue"/>
              </a:rPr>
              <a:t>the </a:t>
            </a:r>
            <a:r>
              <a:rPr lang="en-US" b="1" dirty="0">
                <a:latin typeface="fkGroteskNeue"/>
              </a:rPr>
              <a:t>impedance method</a:t>
            </a:r>
            <a:r>
              <a:rPr lang="en-US" dirty="0">
                <a:latin typeface="fkGroteskNeue"/>
              </a:rPr>
              <a:t> for finding oscillation </a:t>
            </a:r>
            <a:r>
              <a:rPr lang="en-US" dirty="0" smtClean="0">
                <a:latin typeface="fkGroteskNeue"/>
              </a:rPr>
              <a:t>conditions.</a:t>
            </a:r>
          </a:p>
          <a:p>
            <a:pPr marL="342900" indent="-342900" algn="just">
              <a:buFont typeface="Wingdings" panose="05000000000000000000" pitchFamily="2" charset="2"/>
              <a:buChar char="q"/>
            </a:pPr>
            <a:r>
              <a:rPr lang="en-US" dirty="0" smtClean="0">
                <a:latin typeface="fkGroteskNeue"/>
              </a:rPr>
              <a:t>When </a:t>
            </a:r>
            <a:r>
              <a:rPr lang="en-US" dirty="0">
                <a:latin typeface="fkGroteskNeue"/>
              </a:rPr>
              <a:t>a current </a:t>
            </a:r>
            <a:r>
              <a:rPr lang="en-US" dirty="0" err="1" smtClean="0">
                <a:latin typeface="fkGroteskNeue"/>
              </a:rPr>
              <a:t>I</a:t>
            </a:r>
            <a:r>
              <a:rPr lang="en-US" baseline="-25000" dirty="0" err="1" smtClean="0">
                <a:latin typeface="fkGroteskNeue"/>
              </a:rPr>
              <a:t>inj</a:t>
            </a:r>
            <a:r>
              <a:rPr lang="en-US" dirty="0" smtClean="0">
                <a:latin typeface="fkGroteskNeue"/>
              </a:rPr>
              <a:t> </a:t>
            </a:r>
            <a:r>
              <a:rPr lang="en-US" dirty="0">
                <a:latin typeface="fkGroteskNeue"/>
              </a:rPr>
              <a:t>is injected at frequency ω₀ into a node, if the resulting voltage goes to </a:t>
            </a:r>
            <a:r>
              <a:rPr lang="en-US" b="1" dirty="0">
                <a:latin typeface="fkGroteskNeue"/>
              </a:rPr>
              <a:t>infinity</a:t>
            </a:r>
            <a:r>
              <a:rPr lang="en-US" dirty="0">
                <a:latin typeface="fkGroteskNeue"/>
              </a:rPr>
              <a:t>, the circuit can oscillate at that frequency. </a:t>
            </a:r>
            <a:endParaRPr lang="en-US" dirty="0" smtClean="0">
              <a:latin typeface="fkGroteskNeue"/>
            </a:endParaRPr>
          </a:p>
          <a:p>
            <a:pPr marL="342900" indent="-342900" algn="just">
              <a:buFont typeface="Wingdings" panose="05000000000000000000" pitchFamily="2" charset="2"/>
              <a:buChar char="q"/>
            </a:pPr>
            <a:r>
              <a:rPr lang="en-US" dirty="0" smtClean="0">
                <a:latin typeface="fkGroteskNeue"/>
              </a:rPr>
              <a:t>This </a:t>
            </a:r>
            <a:r>
              <a:rPr lang="en-US" dirty="0">
                <a:latin typeface="fkGroteskNeue"/>
              </a:rPr>
              <a:t>happens when the </a:t>
            </a:r>
            <a:r>
              <a:rPr lang="en-US" b="1" dirty="0">
                <a:latin typeface="fkGroteskNeue"/>
              </a:rPr>
              <a:t>input impedance becomes infinite</a:t>
            </a:r>
            <a:r>
              <a:rPr lang="en-US" dirty="0">
                <a:latin typeface="fkGroteskNeue"/>
              </a:rPr>
              <a:t> (or equivalently, </a:t>
            </a:r>
            <a:r>
              <a:rPr lang="en-US" b="1" dirty="0">
                <a:latin typeface="fkGroteskNeue"/>
              </a:rPr>
              <a:t>negative resistance</a:t>
            </a:r>
            <a:r>
              <a:rPr lang="en-US" dirty="0">
                <a:latin typeface="fkGroteskNeue"/>
              </a:rPr>
              <a:t> balances losses</a:t>
            </a:r>
            <a:r>
              <a:rPr lang="en-US" dirty="0" smtClean="0">
                <a:latin typeface="fkGroteskNeue"/>
              </a:rPr>
              <a:t>).</a:t>
            </a:r>
          </a:p>
          <a:p>
            <a:pPr algn="just"/>
            <a:endParaRPr lang="en-US" dirty="0">
              <a:latin typeface="fkGroteskNeue"/>
            </a:endParaRPr>
          </a:p>
          <a:p>
            <a:pPr algn="just"/>
            <a:r>
              <a:rPr lang="en-US" b="1" dirty="0">
                <a:latin typeface="fkGroteskNeue"/>
              </a:rPr>
              <a:t>Connection to </a:t>
            </a:r>
            <a:r>
              <a:rPr lang="en-US" b="1" dirty="0" err="1">
                <a:latin typeface="fkGroteskNeue"/>
              </a:rPr>
              <a:t>Barkhausen</a:t>
            </a:r>
            <a:r>
              <a:rPr lang="en-US" b="1" dirty="0">
                <a:latin typeface="fkGroteskNeue"/>
              </a:rPr>
              <a:t>: </a:t>
            </a:r>
            <a:r>
              <a:rPr lang="en-US" dirty="0">
                <a:latin typeface="fkGroteskNeue"/>
              </a:rPr>
              <a:t>This impedance approach is mathematically equivalent to the </a:t>
            </a:r>
            <a:r>
              <a:rPr lang="en-US" dirty="0" err="1">
                <a:latin typeface="fkGroteskNeue"/>
              </a:rPr>
              <a:t>Barkhausen</a:t>
            </a:r>
            <a:r>
              <a:rPr lang="en-US" dirty="0">
                <a:latin typeface="fkGroteskNeue"/>
              </a:rPr>
              <a:t> criterion but provides a different intuitive perspective - oscillation occurs when the active circuit exactly cancels the passive losses.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l="5920" t="9399" r="6130" b="5190"/>
          <a:stretch/>
        </p:blipFill>
        <p:spPr>
          <a:xfrm>
            <a:off x="7296347" y="1234912"/>
            <a:ext cx="4658552" cy="2149311"/>
          </a:xfrm>
          <a:prstGeom prst="rect">
            <a:avLst/>
          </a:prstGeom>
        </p:spPr>
      </p:pic>
      <p:sp>
        <p:nvSpPr>
          <p:cNvPr id="8" name="Rectangle 7"/>
          <p:cNvSpPr/>
          <p:nvPr/>
        </p:nvSpPr>
        <p:spPr>
          <a:xfrm>
            <a:off x="7707695" y="3549878"/>
            <a:ext cx="3352200" cy="230832"/>
          </a:xfrm>
          <a:prstGeom prst="rect">
            <a:avLst/>
          </a:prstGeom>
        </p:spPr>
        <p:txBody>
          <a:bodyPr wrap="none">
            <a:spAutoFit/>
          </a:bodyPr>
          <a:lstStyle/>
          <a:p>
            <a:r>
              <a:rPr lang="en-US" sz="900" b="1" i="0" u="none" strike="noStrike" baseline="0" dirty="0" smtClean="0">
                <a:solidFill>
                  <a:srgbClr val="231F20"/>
                </a:solidFill>
                <a:latin typeface="T3Font_104"/>
              </a:rPr>
              <a:t>Figure 1.5 </a:t>
            </a:r>
            <a:r>
              <a:rPr lang="en-US" sz="900" b="1" i="0" u="none" strike="noStrike" baseline="0" dirty="0" smtClean="0">
                <a:solidFill>
                  <a:srgbClr val="231F20"/>
                </a:solidFill>
                <a:latin typeface="T3Font_105"/>
              </a:rPr>
              <a:t>Infinite port impedance in an oscillatory circuit.</a:t>
            </a:r>
            <a:endParaRPr lang="en-US" sz="2000" b="1" dirty="0"/>
          </a:p>
        </p:txBody>
      </p:sp>
    </p:spTree>
    <p:extLst>
      <p:ext uri="{BB962C8B-B14F-4D97-AF65-F5344CB8AC3E}">
        <p14:creationId xmlns:p14="http://schemas.microsoft.com/office/powerpoint/2010/main" val="426281230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Infinite Port Impedance at Oscillation Frequency</a:t>
            </a:r>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127000" y="1238453"/>
                <a:ext cx="6388100" cy="4599657"/>
              </a:xfrm>
            </p:spPr>
            <p:txBody>
              <a:bodyPr/>
              <a:lstStyle/>
              <a:p>
                <a:pPr algn="just"/>
                <a:r>
                  <a:rPr lang="en-US" sz="1600" dirty="0" smtClean="0">
                    <a:solidFill>
                      <a:srgbClr val="000000"/>
                    </a:solidFill>
                    <a:latin typeface="inter"/>
                    <a:ea typeface="inter"/>
                    <a:cs typeface="inter"/>
                  </a:rPr>
                  <a:t>Conceptually </a:t>
                </a:r>
                <a:r>
                  <a:rPr lang="en-US" sz="1600" dirty="0">
                    <a:solidFill>
                      <a:srgbClr val="000000"/>
                    </a:solidFill>
                    <a:latin typeface="inter"/>
                    <a:ea typeface="inter"/>
                    <a:cs typeface="inter"/>
                  </a:rPr>
                  <a:t>demonstrates that at the oscillation frequency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latin typeface="inter"/>
                    <a:ea typeface="inter"/>
                    <a:cs typeface="inter"/>
                  </a:rPr>
                  <a:t>, the impedance seen looking into an oscillator node approaches infinity</a:t>
                </a:r>
                <a:r>
                  <a:rPr lang="en-US" sz="1600" dirty="0" smtClean="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r>
                  <a:rPr lang="en-US" b="1" u="sng" dirty="0">
                    <a:solidFill>
                      <a:srgbClr val="000000"/>
                    </a:solidFill>
                    <a:effectLst/>
                    <a:latin typeface="inter"/>
                    <a:ea typeface="inter"/>
                    <a:cs typeface="inter"/>
                  </a:rPr>
                  <a:t>Impedance Definition and Measurement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r>
                  <a:rPr lang="en-US" sz="1600" dirty="0">
                    <a:solidFill>
                      <a:srgbClr val="000000"/>
                    </a:solidFill>
                    <a:latin typeface="inter"/>
                    <a:ea typeface="inter"/>
                    <a:cs typeface="inter"/>
                  </a:rPr>
                  <a:t>At a circuit node, inject a small test current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cos</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600" dirty="0">
                    <a:solidFill>
                      <a:srgbClr val="000000"/>
                    </a:solidFill>
                    <a:latin typeface="inter"/>
                    <a:ea typeface="inter"/>
                    <a:cs typeface="inter"/>
                  </a:rPr>
                  <a:t> and measure the resulting voltage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cos</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r>
                  <a:rPr lang="en-US" sz="1600" dirty="0">
                    <a:solidFill>
                      <a:srgbClr val="000000"/>
                    </a:solidFill>
                    <a:latin typeface="inter"/>
                    <a:ea typeface="inter"/>
                    <a:cs typeface="inter"/>
                  </a:rPr>
                  <a:t>The impedance at frequency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latin typeface="inter"/>
                    <a:ea typeface="inter"/>
                    <a:cs typeface="inter"/>
                  </a:rPr>
                  <a:t> is: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sup>
                      </m:sSup>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r>
                  <a:rPr lang="en-US" sz="1600" dirty="0">
                    <a:solidFill>
                      <a:srgbClr val="000000"/>
                    </a:solidFill>
                    <a:latin typeface="inter"/>
                    <a:ea typeface="inter"/>
                    <a:cs typeface="inter"/>
                  </a:rPr>
                  <a:t>where </a:t>
                </a:r>
                <a14:m>
                  <m:oMath xmlns:m="http://schemas.openxmlformats.org/officeDocument/2006/math">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600" dirty="0">
                    <a:solidFill>
                      <a:srgbClr val="000000"/>
                    </a:solidFill>
                    <a:latin typeface="inter"/>
                    <a:ea typeface="inter"/>
                    <a:cs typeface="inter"/>
                  </a:rPr>
                  <a:t> is the magnitude and </a:t>
                </a:r>
                <a14:m>
                  <m:oMath xmlns:m="http://schemas.openxmlformats.org/officeDocument/2006/math">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oMath>
                </a14:m>
                <a:r>
                  <a:rPr lang="en-US" sz="1600" dirty="0">
                    <a:solidFill>
                      <a:srgbClr val="000000"/>
                    </a:solidFill>
                    <a:latin typeface="inter"/>
                    <a:ea typeface="inter"/>
                    <a:cs typeface="inter"/>
                  </a:rPr>
                  <a:t> is the phase.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r>
                  <a:rPr lang="en-US" b="1" u="sng" dirty="0">
                    <a:solidFill>
                      <a:srgbClr val="000000"/>
                    </a:solidFill>
                    <a:effectLst/>
                    <a:latin typeface="inter"/>
                    <a:ea typeface="inter"/>
                    <a:cs typeface="inter"/>
                  </a:rPr>
                  <a:t>Mathematical Derivation for Delay-Based Oscillator</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r>
                  <a:rPr lang="en-US" sz="1600" dirty="0">
                    <a:solidFill>
                      <a:srgbClr val="000000"/>
                    </a:solidFill>
                    <a:latin typeface="inter"/>
                    <a:ea typeface="inter"/>
                    <a:cs typeface="inter"/>
                  </a:rPr>
                  <a:t>For a simple delay-line </a:t>
                </a:r>
                <a:r>
                  <a:rPr lang="en-US" sz="1600" dirty="0" smtClean="0">
                    <a:solidFill>
                      <a:srgbClr val="000000"/>
                    </a:solidFill>
                    <a:latin typeface="inter"/>
                    <a:ea typeface="inter"/>
                    <a:cs typeface="inter"/>
                  </a:rPr>
                  <a:t>oscillator, </a:t>
                </a:r>
                <a:r>
                  <a:rPr lang="en-US" sz="1600" dirty="0">
                    <a:solidFill>
                      <a:srgbClr val="000000"/>
                    </a:solidFill>
                    <a:latin typeface="inter"/>
                    <a:ea typeface="inter"/>
                    <a:cs typeface="inter"/>
                  </a:rPr>
                  <a:t>the output impedance is: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p>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r>
                  <a:rPr lang="en-US" sz="1600" dirty="0">
                    <a:solidFill>
                      <a:srgbClr val="000000"/>
                    </a:solidFill>
                    <a:latin typeface="inter"/>
                    <a:ea typeface="inter"/>
                    <a:cs typeface="inter"/>
                  </a:rPr>
                  <a:t>At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600" dirty="0">
                    <a:solidFill>
                      <a:srgbClr val="000000"/>
                    </a:solidFill>
                    <a:latin typeface="inter"/>
                    <a:ea typeface="inter"/>
                    <a:cs typeface="inter"/>
                  </a:rPr>
                  <a:t> where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oMath>
                </a14:m>
                <a:r>
                  <a:rPr lang="en-US" sz="1600" dirty="0">
                    <a:solidFill>
                      <a:srgbClr val="000000"/>
                    </a:solidFill>
                    <a:latin typeface="inter"/>
                    <a:ea typeface="inter"/>
                    <a:cs typeface="inter"/>
                  </a:rPr>
                  <a:t> (</a:t>
                </a:r>
                <a:r>
                  <a:rPr lang="en-US" sz="1600" dirty="0" err="1">
                    <a:solidFill>
                      <a:srgbClr val="000000"/>
                    </a:solidFill>
                    <a:latin typeface="inter"/>
                    <a:ea typeface="inter"/>
                    <a:cs typeface="inter"/>
                  </a:rPr>
                  <a:t>Barkhausen</a:t>
                </a:r>
                <a:r>
                  <a:rPr lang="en-US" sz="1600" dirty="0">
                    <a:solidFill>
                      <a:srgbClr val="000000"/>
                    </a:solidFill>
                    <a:latin typeface="inter"/>
                    <a:ea typeface="inter"/>
                    <a:cs typeface="inter"/>
                  </a:rPr>
                  <a:t> phase condition) and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a14:m>
                <a:r>
                  <a:rPr lang="en-US" sz="1600" dirty="0">
                    <a:solidFill>
                      <a:srgbClr val="000000"/>
                    </a:solidFill>
                    <a:latin typeface="inter"/>
                    <a:ea typeface="inter"/>
                    <a:cs typeface="inter"/>
                  </a:rPr>
                  <a:t> (</a:t>
                </a:r>
                <a:r>
                  <a:rPr lang="en-US" sz="1600" dirty="0" err="1">
                    <a:solidFill>
                      <a:srgbClr val="000000"/>
                    </a:solidFill>
                    <a:latin typeface="inter"/>
                    <a:ea typeface="inter"/>
                    <a:cs typeface="inter"/>
                  </a:rPr>
                  <a:t>Barkhausen</a:t>
                </a:r>
                <a:r>
                  <a:rPr lang="en-US" sz="1600" dirty="0">
                    <a:solidFill>
                      <a:srgbClr val="000000"/>
                    </a:solidFill>
                    <a:latin typeface="inter"/>
                    <a:ea typeface="inter"/>
                    <a:cs typeface="inter"/>
                  </a:rPr>
                  <a:t> magnitude condition):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1+1⋅</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sup>
                          </m:sSup>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endParaRPr lang="en-US" sz="16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127000" y="1238453"/>
                <a:ext cx="6388100" cy="4599657"/>
              </a:xfrm>
              <a:blipFill>
                <a:blip r:embed="rId2"/>
                <a:stretch>
                  <a:fillRect l="-2481" t="-1325" r="-1908"/>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3"/>
          <a:stretch>
            <a:fillRect/>
          </a:stretch>
        </p:blipFill>
        <p:spPr>
          <a:xfrm>
            <a:off x="7183426" y="1047911"/>
            <a:ext cx="4657748" cy="2145978"/>
          </a:xfrm>
          <a:prstGeom prst="rect">
            <a:avLst/>
          </a:prstGeom>
        </p:spPr>
      </p:pic>
      <p:sp>
        <p:nvSpPr>
          <p:cNvPr id="8" name="Rectangle 7"/>
          <p:cNvSpPr/>
          <p:nvPr/>
        </p:nvSpPr>
        <p:spPr>
          <a:xfrm>
            <a:off x="6734476" y="3201344"/>
            <a:ext cx="5287478" cy="3016210"/>
          </a:xfrm>
          <a:prstGeom prst="rect">
            <a:avLst/>
          </a:prstGeom>
        </p:spPr>
        <p:txBody>
          <a:bodyPr wrap="square">
            <a:spAutoFit/>
          </a:bodyPr>
          <a:lstStyle/>
          <a:p>
            <a:pPr lvl="0" algn="ctr">
              <a:spcAft>
                <a:spcPts val="1050"/>
              </a:spcAft>
            </a:pPr>
            <a:r>
              <a:rPr lang="en-US" sz="2000" b="1" kern="0" dirty="0">
                <a:solidFill>
                  <a:srgbClr val="000000"/>
                </a:solidFill>
                <a:latin typeface="inter"/>
                <a:ea typeface="inter"/>
                <a:cs typeface="inter"/>
              </a:rPr>
              <a:t>Physical Meaning:</a:t>
            </a:r>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lgn="just">
              <a:spcBef>
                <a:spcPts val="525"/>
              </a:spcBef>
              <a:spcAft>
                <a:spcPts val="525"/>
              </a:spcAft>
              <a:buFont typeface="Symbol" panose="05050102010706020507" pitchFamily="18" charset="2"/>
              <a:buChar char=""/>
              <a:tabLst>
                <a:tab pos="571500" algn="l"/>
              </a:tabLst>
            </a:pPr>
            <a:r>
              <a:rPr lang="en-US" sz="2000" kern="0" dirty="0">
                <a:solidFill>
                  <a:srgbClr val="000000"/>
                </a:solidFill>
                <a:latin typeface="inter"/>
                <a:ea typeface="inter"/>
                <a:cs typeface="inter"/>
              </a:rPr>
              <a:t>Infinite impedance means the node cannot absorb current (open circuit at that frequency).</a:t>
            </a:r>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lgn="just">
              <a:spcBef>
                <a:spcPts val="525"/>
              </a:spcBef>
              <a:spcAft>
                <a:spcPts val="525"/>
              </a:spcAft>
              <a:buFont typeface="Symbol" panose="05050102010706020507" pitchFamily="18" charset="2"/>
              <a:buChar char=""/>
              <a:tabLst>
                <a:tab pos="571500" algn="l"/>
              </a:tabLst>
            </a:pPr>
            <a:r>
              <a:rPr lang="en-US" sz="2000" kern="0" dirty="0">
                <a:solidFill>
                  <a:srgbClr val="000000"/>
                </a:solidFill>
                <a:latin typeface="inter"/>
                <a:ea typeface="inter"/>
                <a:cs typeface="inter"/>
              </a:rPr>
              <a:t>A small current injection produces arbitrarily large voltage changes.</a:t>
            </a:r>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lgn="just">
              <a:spcBef>
                <a:spcPts val="525"/>
              </a:spcBef>
              <a:spcAft>
                <a:spcPts val="525"/>
              </a:spcAft>
              <a:buFont typeface="Symbol" panose="05050102010706020507" pitchFamily="18" charset="2"/>
              <a:buChar char=""/>
              <a:tabLst>
                <a:tab pos="571500" algn="l"/>
              </a:tabLst>
            </a:pPr>
            <a:r>
              <a:rPr lang="en-US" sz="2000" kern="0" dirty="0">
                <a:solidFill>
                  <a:srgbClr val="000000"/>
                </a:solidFill>
                <a:latin typeface="inter"/>
                <a:ea typeface="inter"/>
                <a:cs typeface="inter"/>
              </a:rPr>
              <a:t>This is the </a:t>
            </a:r>
            <a:r>
              <a:rPr lang="en-US" sz="2000" b="1" kern="0" dirty="0">
                <a:solidFill>
                  <a:srgbClr val="000000"/>
                </a:solidFill>
                <a:latin typeface="inter"/>
                <a:ea typeface="inter"/>
                <a:cs typeface="inter"/>
              </a:rPr>
              <a:t>resonance condition</a:t>
            </a:r>
            <a:r>
              <a:rPr lang="en-US" sz="2000" kern="0" dirty="0">
                <a:solidFill>
                  <a:srgbClr val="000000"/>
                </a:solidFill>
                <a:latin typeface="inter"/>
                <a:ea typeface="inter"/>
                <a:cs typeface="inter"/>
              </a:rPr>
              <a:t>—the hallmark of oscillation.</a:t>
            </a:r>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379447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756" y="347725"/>
            <a:ext cx="11980244" cy="1046440"/>
          </a:xfrm>
        </p:spPr>
        <p:txBody>
          <a:bodyPr/>
          <a:lstStyle/>
          <a:p>
            <a:pPr algn="just"/>
            <a:r>
              <a:rPr lang="en-US" dirty="0"/>
              <a:t>Designer Application - Impedance-Based Verification</a:t>
            </a:r>
            <a:br>
              <a:rPr lang="en-US" dirty="0"/>
            </a:br>
            <a:endParaRPr lang="en-US" dirty="0"/>
          </a:p>
        </p:txBody>
      </p:sp>
      <p:sp>
        <p:nvSpPr>
          <p:cNvPr id="3" name="Text Placeholder 2"/>
          <p:cNvSpPr>
            <a:spLocks noGrp="1"/>
          </p:cNvSpPr>
          <p:nvPr>
            <p:ph type="body" idx="1"/>
          </p:nvPr>
        </p:nvSpPr>
        <p:spPr>
          <a:xfrm>
            <a:off x="844550" y="1327353"/>
            <a:ext cx="10956023" cy="4570482"/>
          </a:xfrm>
        </p:spPr>
        <p:txBody>
          <a:bodyPr/>
          <a:lstStyle/>
          <a:p>
            <a:pPr>
              <a:spcAft>
                <a:spcPts val="1050"/>
              </a:spcAft>
            </a:pPr>
            <a:r>
              <a:rPr lang="en-US" dirty="0" smtClean="0">
                <a:solidFill>
                  <a:srgbClr val="000000"/>
                </a:solidFill>
                <a:latin typeface="inter"/>
                <a:ea typeface="inter"/>
                <a:cs typeface="inter"/>
              </a:rPr>
              <a:t>In </a:t>
            </a:r>
            <a:r>
              <a:rPr lang="en-US" dirty="0">
                <a:solidFill>
                  <a:srgbClr val="000000"/>
                </a:solidFill>
                <a:latin typeface="inter"/>
                <a:ea typeface="inter"/>
                <a:cs typeface="inter"/>
              </a:rPr>
              <a:t>circuit design, one can verify oscillation by:</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spcBef>
                <a:spcPts val="525"/>
              </a:spcBef>
              <a:spcAft>
                <a:spcPts val="525"/>
              </a:spcAft>
              <a:buFont typeface="+mj-lt"/>
              <a:buAutoNum type="arabicPeriod"/>
              <a:tabLst>
                <a:tab pos="571500" algn="l"/>
              </a:tabLst>
            </a:pPr>
            <a:r>
              <a:rPr lang="en-US" sz="2000" dirty="0">
                <a:solidFill>
                  <a:srgbClr val="000000"/>
                </a:solidFill>
                <a:latin typeface="inter"/>
                <a:ea typeface="inter"/>
                <a:cs typeface="inter"/>
              </a:rPr>
              <a:t>Breaking the feedback loop at one point (open-circuiting the connection)</a:t>
            </a:r>
            <a:endParaRPr lang="en-US" sz="20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spcBef>
                <a:spcPts val="525"/>
              </a:spcBef>
              <a:spcAft>
                <a:spcPts val="525"/>
              </a:spcAft>
              <a:buFont typeface="+mj-lt"/>
              <a:buAutoNum type="arabicPeriod"/>
              <a:tabLst>
                <a:tab pos="571500" algn="l"/>
              </a:tabLst>
            </a:pPr>
            <a:r>
              <a:rPr lang="en-US" sz="2000" dirty="0">
                <a:solidFill>
                  <a:srgbClr val="000000"/>
                </a:solidFill>
                <a:latin typeface="inter"/>
                <a:ea typeface="inter"/>
                <a:cs typeface="inter"/>
              </a:rPr>
              <a:t>Injecting a small AC current source at that point</a:t>
            </a:r>
            <a:endParaRPr lang="en-US" sz="20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spcBef>
                <a:spcPts val="525"/>
              </a:spcBef>
              <a:spcAft>
                <a:spcPts val="525"/>
              </a:spcAft>
              <a:buFont typeface="+mj-lt"/>
              <a:buAutoNum type="arabicPeriod"/>
              <a:tabLst>
                <a:tab pos="571500" algn="l"/>
              </a:tabLst>
            </a:pPr>
            <a:r>
              <a:rPr lang="en-US" sz="2000" dirty="0">
                <a:solidFill>
                  <a:srgbClr val="000000"/>
                </a:solidFill>
                <a:latin typeface="inter"/>
                <a:ea typeface="inter"/>
                <a:cs typeface="inter"/>
              </a:rPr>
              <a:t>Measuring the AC voltage that appears</a:t>
            </a:r>
            <a:endParaRPr lang="en-US" sz="20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spcBef>
                <a:spcPts val="525"/>
              </a:spcBef>
              <a:spcAft>
                <a:spcPts val="525"/>
              </a:spcAft>
              <a:buFont typeface="+mj-lt"/>
              <a:buAutoNum type="arabicPeriod"/>
              <a:tabLst>
                <a:tab pos="571500" algn="l"/>
              </a:tabLst>
            </a:pPr>
            <a:r>
              <a:rPr lang="en-US" sz="2000" dirty="0">
                <a:solidFill>
                  <a:srgbClr val="000000"/>
                </a:solidFill>
                <a:latin typeface="inter"/>
                <a:ea typeface="inter"/>
                <a:cs typeface="inter"/>
              </a:rPr>
              <a:t>Computing impedance as V/I across the frequency </a:t>
            </a:r>
            <a:r>
              <a:rPr lang="en-US" sz="2000" dirty="0" smtClean="0">
                <a:solidFill>
                  <a:srgbClr val="000000"/>
                </a:solidFill>
                <a:latin typeface="inter"/>
                <a:ea typeface="inter"/>
                <a:cs typeface="inter"/>
              </a:rPr>
              <a:t>range</a:t>
            </a:r>
          </a:p>
          <a:p>
            <a:pPr marL="342900" marR="0" lvl="0" indent="-342900">
              <a:spcBef>
                <a:spcPts val="525"/>
              </a:spcBef>
              <a:spcAft>
                <a:spcPts val="525"/>
              </a:spcAft>
              <a:buFont typeface="+mj-lt"/>
              <a:buAutoNum type="arabicPeriod"/>
              <a:tabLst>
                <a:tab pos="571500" algn="l"/>
              </a:tabLst>
            </a:pPr>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dirty="0">
                <a:solidFill>
                  <a:srgbClr val="000000"/>
                </a:solidFill>
                <a:latin typeface="inter"/>
                <a:ea typeface="inter"/>
                <a:cs typeface="inter"/>
              </a:rPr>
              <a:t>The presence of a sharp impedance peak at the desired oscillation frequency confirms: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spcBef>
                <a:spcPts val="525"/>
              </a:spcBef>
              <a:spcAft>
                <a:spcPts val="525"/>
              </a:spcAft>
              <a:buFont typeface="Symbol" panose="05050102010706020507" pitchFamily="18" charset="2"/>
              <a:buChar char=""/>
              <a:tabLst>
                <a:tab pos="571500" algn="l"/>
              </a:tabLst>
            </a:pPr>
            <a:r>
              <a:rPr lang="en-US" dirty="0" err="1">
                <a:solidFill>
                  <a:srgbClr val="000000"/>
                </a:solidFill>
                <a:latin typeface="inter"/>
                <a:ea typeface="inter"/>
                <a:cs typeface="inter"/>
              </a:rPr>
              <a:t>Barkhausen's</a:t>
            </a:r>
            <a:r>
              <a:rPr lang="en-US" dirty="0">
                <a:solidFill>
                  <a:srgbClr val="000000"/>
                </a:solidFill>
                <a:latin typeface="inter"/>
                <a:ea typeface="inter"/>
                <a:cs typeface="inter"/>
              </a:rPr>
              <a:t> conditions are nearly satisfied</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spcBef>
                <a:spcPts val="525"/>
              </a:spcBef>
              <a:spcAft>
                <a:spcPts val="525"/>
              </a:spcAft>
              <a:buFont typeface="Symbol" panose="05050102010706020507" pitchFamily="18" charset="2"/>
              <a:buChar char=""/>
              <a:tabLst>
                <a:tab pos="571500" algn="l"/>
              </a:tabLst>
            </a:pPr>
            <a:r>
              <a:rPr lang="en-US" dirty="0">
                <a:solidFill>
                  <a:srgbClr val="000000"/>
                </a:solidFill>
                <a:latin typeface="inter"/>
                <a:ea typeface="inter"/>
                <a:cs typeface="inter"/>
              </a:rPr>
              <a:t>The circuit will oscillate when the loop is closed</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spcBef>
                <a:spcPts val="525"/>
              </a:spcBef>
              <a:spcAft>
                <a:spcPts val="525"/>
              </a:spcAft>
              <a:buFont typeface="Symbol" panose="05050102010706020507" pitchFamily="18" charset="2"/>
              <a:buChar char=""/>
              <a:tabLst>
                <a:tab pos="571500" algn="l"/>
              </a:tabLst>
            </a:pPr>
            <a:r>
              <a:rPr lang="en-US" dirty="0">
                <a:solidFill>
                  <a:srgbClr val="000000"/>
                </a:solidFill>
                <a:latin typeface="inter"/>
                <a:ea typeface="inter"/>
                <a:cs typeface="inter"/>
              </a:rPr>
              <a:t>The impedance peak location identifies the actual oscillation frequency</a:t>
            </a:r>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5749754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14917" y="42925"/>
            <a:ext cx="10593196" cy="523220"/>
          </a:xfrm>
        </p:spPr>
        <p:txBody>
          <a:bodyPr/>
          <a:lstStyle/>
          <a:p>
            <a:r>
              <a:rPr lang="en-US" dirty="0" smtClean="0">
                <a:latin typeface="fkGrotesk"/>
              </a:rPr>
              <a:t>6.Progression</a:t>
            </a:r>
            <a:r>
              <a:rPr lang="en-US" dirty="0">
                <a:latin typeface="fkGrotesk"/>
              </a:rPr>
              <a:t>: From Mechanical to </a:t>
            </a:r>
            <a:r>
              <a:rPr lang="en-US" dirty="0" smtClean="0">
                <a:latin typeface="fkGrotesk"/>
              </a:rPr>
              <a:t>Electronic</a:t>
            </a:r>
            <a:endParaRPr lang="en-US" dirty="0"/>
          </a:p>
        </p:txBody>
      </p:sp>
      <p:sp>
        <p:nvSpPr>
          <p:cNvPr id="3" name="Text Placeholder 2"/>
          <p:cNvSpPr>
            <a:spLocks noGrp="1"/>
          </p:cNvSpPr>
          <p:nvPr>
            <p:ph type="body" idx="1"/>
          </p:nvPr>
        </p:nvSpPr>
        <p:spPr>
          <a:xfrm>
            <a:off x="844550" y="1327353"/>
            <a:ext cx="10521950" cy="3847207"/>
          </a:xfrm>
        </p:spPr>
        <p:txBody>
          <a:bodyPr/>
          <a:lstStyle/>
          <a:p>
            <a:pPr algn="l"/>
            <a:r>
              <a:rPr lang="en-US" dirty="0" smtClean="0">
                <a:latin typeface="fkGrotesk"/>
              </a:rPr>
              <a:t>Step </a:t>
            </a:r>
            <a:r>
              <a:rPr lang="en-US" dirty="0">
                <a:latin typeface="fkGrotesk"/>
              </a:rPr>
              <a:t>1: Pendulum Analogy</a:t>
            </a:r>
          </a:p>
          <a:p>
            <a:pPr marL="800100" lvl="1" indent="-342900" algn="l">
              <a:buFont typeface="Arial" panose="020B0604020202020204" pitchFamily="34" charset="0"/>
              <a:buChar char="•"/>
            </a:pPr>
            <a:r>
              <a:rPr lang="en-US" dirty="0">
                <a:latin typeface="fkGroteskNeue"/>
              </a:rPr>
              <a:t>Energy cycling between potential and kinetic forms</a:t>
            </a:r>
          </a:p>
          <a:p>
            <a:pPr marL="800100" lvl="1" indent="-342900" algn="l">
              <a:buFont typeface="Arial" panose="020B0604020202020204" pitchFamily="34" charset="0"/>
              <a:buChar char="•"/>
            </a:pPr>
            <a:r>
              <a:rPr lang="en-US" dirty="0">
                <a:latin typeface="fkGroteskNeue"/>
              </a:rPr>
              <a:t>Natural frequency depends on system parameters (length), not amplitude</a:t>
            </a:r>
          </a:p>
          <a:p>
            <a:pPr marL="800100" lvl="1" indent="-342900" algn="l">
              <a:buFont typeface="Arial" panose="020B0604020202020204" pitchFamily="34" charset="0"/>
              <a:buChar char="•"/>
            </a:pPr>
            <a:r>
              <a:rPr lang="en-US" dirty="0">
                <a:latin typeface="fkGroteskNeue"/>
              </a:rPr>
              <a:t>Losses require periodic "pushes" to sustain motion</a:t>
            </a:r>
          </a:p>
          <a:p>
            <a:pPr algn="l"/>
            <a:r>
              <a:rPr lang="en-US" dirty="0">
                <a:latin typeface="fkGrotesk"/>
              </a:rPr>
              <a:t>Step 2: Electronic Oscillators</a:t>
            </a:r>
          </a:p>
          <a:p>
            <a:pPr marL="800100" lvl="1" indent="-342900" algn="l">
              <a:buFont typeface="Arial" panose="020B0604020202020204" pitchFamily="34" charset="0"/>
              <a:buChar char="•"/>
            </a:pPr>
            <a:r>
              <a:rPr lang="en-US" dirty="0">
                <a:latin typeface="fkGroteskNeue"/>
              </a:rPr>
              <a:t>Energy cycles between electric and magnetic fields (LC) or charge storage (RC)</a:t>
            </a:r>
          </a:p>
          <a:p>
            <a:pPr marL="800100" lvl="1" indent="-342900" algn="l">
              <a:buFont typeface="Arial" panose="020B0604020202020204" pitchFamily="34" charset="0"/>
              <a:buChar char="•"/>
            </a:pPr>
            <a:r>
              <a:rPr lang="en-US" dirty="0">
                <a:latin typeface="fkGroteskNeue"/>
              </a:rPr>
              <a:t>Natural frequency depends on L, C, or R, C values</a:t>
            </a:r>
          </a:p>
          <a:p>
            <a:pPr marL="800100" lvl="1" indent="-342900" algn="l">
              <a:buFont typeface="Arial" panose="020B0604020202020204" pitchFamily="34" charset="0"/>
              <a:buChar char="•"/>
            </a:pPr>
            <a:r>
              <a:rPr lang="en-US" dirty="0">
                <a:latin typeface="fkGroteskNeue"/>
              </a:rPr>
              <a:t>Active feedback provides the "pushes" to overcome resistive losses</a:t>
            </a:r>
          </a:p>
          <a:p>
            <a:pPr algn="l"/>
            <a:r>
              <a:rPr lang="en-US" dirty="0">
                <a:latin typeface="fkGrotesk"/>
              </a:rPr>
              <a:t>Step 3: PLL Connection</a:t>
            </a:r>
          </a:p>
          <a:p>
            <a:pPr marL="800100" lvl="1" indent="-342900" algn="l">
              <a:buFont typeface="Arial" panose="020B0604020202020204" pitchFamily="34" charset="0"/>
              <a:buChar char="•"/>
            </a:pPr>
            <a:r>
              <a:rPr lang="en-US" dirty="0">
                <a:latin typeface="fkGroteskNeue"/>
              </a:rPr>
              <a:t>PLLs use controlled oscillators (VCOs) where feedback adjusts frequency</a:t>
            </a:r>
          </a:p>
          <a:p>
            <a:pPr marL="800100" lvl="1" indent="-342900" algn="l">
              <a:buFont typeface="Arial" panose="020B0604020202020204" pitchFamily="34" charset="0"/>
              <a:buChar char="•"/>
            </a:pPr>
            <a:r>
              <a:rPr lang="en-US" dirty="0">
                <a:latin typeface="fkGroteskNeue"/>
              </a:rPr>
              <a:t>The "push timing" (feedback) is controlled by phase comparison</a:t>
            </a:r>
          </a:p>
          <a:p>
            <a:pPr marL="800100" lvl="1" indent="-342900" algn="l">
              <a:buFont typeface="Arial" panose="020B0604020202020204" pitchFamily="34" charset="0"/>
              <a:buChar char="•"/>
            </a:pPr>
            <a:r>
              <a:rPr lang="en-US" dirty="0">
                <a:latin typeface="fkGroteskNeue"/>
              </a:rPr>
              <a:t>This enables frequency locking and jitter reduction for high-performance systems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7466848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7. Stability vs. Oscillation: The Fine </a:t>
            </a:r>
            <a:r>
              <a:rPr lang="en-US" dirty="0" smtClean="0">
                <a:latin typeface="fkGrotesk"/>
              </a:rPr>
              <a:t>Line</a:t>
            </a:r>
            <a:endParaRPr lang="en-US" dirty="0"/>
          </a:p>
        </p:txBody>
      </p:sp>
      <p:sp>
        <p:nvSpPr>
          <p:cNvPr id="3" name="Text Placeholder 2"/>
          <p:cNvSpPr>
            <a:spLocks noGrp="1"/>
          </p:cNvSpPr>
          <p:nvPr>
            <p:ph type="body" idx="1"/>
          </p:nvPr>
        </p:nvSpPr>
        <p:spPr>
          <a:xfrm>
            <a:off x="844550" y="1327353"/>
            <a:ext cx="10276417" cy="4616648"/>
          </a:xfrm>
        </p:spPr>
        <p:txBody>
          <a:bodyPr/>
          <a:lstStyle/>
          <a:p>
            <a:pPr algn="just"/>
            <a:r>
              <a:rPr lang="en-US" b="1" dirty="0" smtClean="0">
                <a:latin typeface="fkGroteskNeue"/>
              </a:rPr>
              <a:t>Key </a:t>
            </a:r>
            <a:r>
              <a:rPr lang="en-US" b="1" dirty="0">
                <a:latin typeface="fkGroteskNeue"/>
              </a:rPr>
              <a:t>Insight: </a:t>
            </a:r>
            <a:r>
              <a:rPr lang="en-US" dirty="0">
                <a:latin typeface="fkGroteskNeue"/>
              </a:rPr>
              <a:t>The difference between a stable amplifier and an oscillator is simply the amount of loop gain and phase shift</a:t>
            </a:r>
            <a:r>
              <a:rPr lang="en-US" dirty="0" smtClean="0">
                <a:latin typeface="fkGroteskNeue"/>
              </a:rPr>
              <a:t>:</a:t>
            </a:r>
          </a:p>
          <a:p>
            <a:pPr algn="l"/>
            <a:endParaRPr lang="en-US" dirty="0">
              <a:latin typeface="fkGroteskNeue"/>
            </a:endParaRPr>
          </a:p>
          <a:p>
            <a:pPr marL="800100" lvl="1" indent="-342900" algn="l">
              <a:buFont typeface="Wingdings" panose="05000000000000000000" pitchFamily="2" charset="2"/>
              <a:buChar char="q"/>
            </a:pPr>
            <a:r>
              <a:rPr lang="en-US" sz="2000" b="1" dirty="0">
                <a:latin typeface="fkGroteskNeue"/>
              </a:rPr>
              <a:t>Stable amplifier: </a:t>
            </a:r>
            <a:r>
              <a:rPr lang="en-US" sz="2000" dirty="0">
                <a:latin typeface="fkGroteskNeue"/>
              </a:rPr>
              <a:t>Phase margin &gt; 0°, gain margin &gt; 0 dB</a:t>
            </a:r>
          </a:p>
          <a:p>
            <a:pPr marL="800100" lvl="1" indent="-342900" algn="l">
              <a:buFont typeface="Wingdings" panose="05000000000000000000" pitchFamily="2" charset="2"/>
              <a:buChar char="q"/>
            </a:pPr>
            <a:r>
              <a:rPr lang="en-US" sz="2000" b="1" dirty="0">
                <a:latin typeface="fkGroteskNeue"/>
              </a:rPr>
              <a:t>Marginally stable: </a:t>
            </a:r>
            <a:r>
              <a:rPr lang="en-US" sz="2000" dirty="0">
                <a:latin typeface="fkGroteskNeue"/>
              </a:rPr>
              <a:t>Phase margin = 0°, gain margin = 0 dB</a:t>
            </a:r>
          </a:p>
          <a:p>
            <a:pPr marL="800100" lvl="1" indent="-342900" algn="l">
              <a:buFont typeface="Wingdings" panose="05000000000000000000" pitchFamily="2" charset="2"/>
              <a:buChar char="q"/>
            </a:pPr>
            <a:r>
              <a:rPr lang="en-US" sz="2000" b="1" dirty="0">
                <a:latin typeface="fkGroteskNeue"/>
              </a:rPr>
              <a:t>Oscillator: </a:t>
            </a:r>
            <a:r>
              <a:rPr lang="en-US" sz="2000" dirty="0" err="1">
                <a:latin typeface="fkGroteskNeue"/>
              </a:rPr>
              <a:t>Barkhausen</a:t>
            </a:r>
            <a:r>
              <a:rPr lang="en-US" sz="2000" dirty="0">
                <a:latin typeface="fkGroteskNeue"/>
              </a:rPr>
              <a:t> conditions met at desired </a:t>
            </a:r>
            <a:r>
              <a:rPr lang="en-US" sz="2000" dirty="0" smtClean="0">
                <a:latin typeface="fkGroteskNeue"/>
              </a:rPr>
              <a:t>frequency</a:t>
            </a:r>
          </a:p>
          <a:p>
            <a:pPr marL="800100" lvl="1" indent="-342900" algn="l">
              <a:buFont typeface="Arial" panose="020B0604020202020204" pitchFamily="34" charset="0"/>
              <a:buChar char="•"/>
            </a:pPr>
            <a:endParaRPr lang="en-US" sz="2000" dirty="0">
              <a:latin typeface="fkGroteskNeue"/>
            </a:endParaRPr>
          </a:p>
          <a:p>
            <a:pPr algn="just"/>
            <a:r>
              <a:rPr lang="en-US" dirty="0">
                <a:latin typeface="fkGroteskNeue"/>
              </a:rPr>
              <a:t>This understanding helps students see oscillators not as mysterious circuits, but as </a:t>
            </a:r>
            <a:r>
              <a:rPr lang="en-US" b="1" dirty="0">
                <a:latin typeface="fkGroteskNeue"/>
              </a:rPr>
              <a:t>intentionally destabilized</a:t>
            </a:r>
            <a:r>
              <a:rPr lang="en-US" dirty="0">
                <a:latin typeface="fkGroteskNeue"/>
              </a:rPr>
              <a:t> feedback systems operating at a precisely controlled instability point</a:t>
            </a:r>
            <a:r>
              <a:rPr lang="en-US" dirty="0" smtClean="0">
                <a:latin typeface="fkGroteskNeue"/>
              </a:rPr>
              <a:t>.</a:t>
            </a:r>
          </a:p>
          <a:p>
            <a:pPr algn="just"/>
            <a:endParaRPr lang="en-US" dirty="0">
              <a:latin typeface="fkGroteskNeue"/>
            </a:endParaRPr>
          </a:p>
          <a:p>
            <a:pPr algn="just"/>
            <a:r>
              <a:rPr lang="en-US" b="1" dirty="0">
                <a:latin typeface="fkGroteskNeue"/>
              </a:rPr>
              <a:t>Bottom Line: </a:t>
            </a:r>
            <a:r>
              <a:rPr lang="en-US" dirty="0">
                <a:latin typeface="fkGroteskNeue"/>
              </a:rPr>
              <a:t>Oscillation is </a:t>
            </a:r>
            <a:r>
              <a:rPr lang="en-US" b="1" dirty="0">
                <a:latin typeface="fkGroteskNeue"/>
              </a:rPr>
              <a:t>controlled instability </a:t>
            </a:r>
            <a:r>
              <a:rPr lang="en-US" dirty="0">
                <a:latin typeface="fkGroteskNeue"/>
              </a:rPr>
              <a:t>- we deliberately create conditions where the system cannot settle to a DC value but instead perpetually cycles at a predictable frequency and amplitude</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410711867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1198" y="0"/>
            <a:ext cx="10593196" cy="1046440"/>
          </a:xfrm>
        </p:spPr>
        <p:txBody>
          <a:bodyPr/>
          <a:lstStyle/>
          <a:p>
            <a:r>
              <a:rPr lang="en-US" dirty="0"/>
              <a:t>Oscillator Analysis Methods: From Fundamentals to Real Circuit </a:t>
            </a:r>
            <a:r>
              <a:rPr lang="en-US" dirty="0" smtClean="0"/>
              <a:t>Design</a:t>
            </a:r>
            <a:endParaRPr lang="en-US" dirty="0"/>
          </a:p>
        </p:txBody>
      </p:sp>
      <p:sp>
        <p:nvSpPr>
          <p:cNvPr id="3" name="Text Placeholder 2"/>
          <p:cNvSpPr>
            <a:spLocks noGrp="1"/>
          </p:cNvSpPr>
          <p:nvPr>
            <p:ph type="body" idx="1"/>
          </p:nvPr>
        </p:nvSpPr>
        <p:spPr>
          <a:xfrm>
            <a:off x="763571" y="1208083"/>
            <a:ext cx="10686307" cy="923330"/>
          </a:xfrm>
        </p:spPr>
        <p:txBody>
          <a:bodyPr/>
          <a:lstStyle/>
          <a:p>
            <a:pPr algn="l"/>
            <a:r>
              <a:rPr lang="en-US" b="1" dirty="0">
                <a:latin typeface="fkGrotesk"/>
              </a:rPr>
              <a:t>Understanding the Three Analysis Methods</a:t>
            </a:r>
          </a:p>
          <a:p>
            <a:pPr algn="l"/>
            <a:r>
              <a:rPr lang="en-US" dirty="0">
                <a:latin typeface="fkGroteskNeue"/>
              </a:rPr>
              <a:t>The text presents three fundamental approaches to oscillator analysis, each offering unique insights into how circuits achieve sustained oscillation</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106017" y="2331794"/>
            <a:ext cx="5785899" cy="3693319"/>
          </a:xfrm>
          <a:prstGeom prst="rect">
            <a:avLst/>
          </a:prstGeom>
        </p:spPr>
        <p:txBody>
          <a:bodyPr wrap="square">
            <a:spAutoFit/>
          </a:bodyPr>
          <a:lstStyle/>
          <a:p>
            <a:pPr marL="285750" indent="-285750" algn="just">
              <a:buFont typeface="Wingdings" panose="05000000000000000000" pitchFamily="2" charset="2"/>
              <a:buChar char="q"/>
            </a:pPr>
            <a:r>
              <a:rPr lang="en-US" b="1" i="0" dirty="0" smtClean="0">
                <a:effectLst/>
                <a:latin typeface="fkGrotesk"/>
              </a:rPr>
              <a:t>Method 1: Open-Loop Analysis (Break the Loop)</a:t>
            </a:r>
          </a:p>
          <a:p>
            <a:pPr marL="285750" indent="-285750" algn="just">
              <a:buFont typeface="Courier New" panose="02070309020205020404" pitchFamily="49" charset="0"/>
              <a:buChar char="o"/>
            </a:pPr>
            <a:r>
              <a:rPr lang="en-US" b="1" i="0" dirty="0" smtClean="0">
                <a:effectLst/>
                <a:latin typeface="fkGroteskNeue"/>
              </a:rPr>
              <a:t>Fundamental Concept: </a:t>
            </a:r>
            <a:r>
              <a:rPr lang="en-US" b="0" i="0" dirty="0" smtClean="0">
                <a:effectLst/>
                <a:latin typeface="fkGroteskNeue"/>
              </a:rPr>
              <a:t>Remove the feedback connection and apply the </a:t>
            </a:r>
            <a:r>
              <a:rPr lang="en-US" b="0" i="0" dirty="0" err="1" smtClean="0">
                <a:effectLst/>
                <a:latin typeface="fkGroteskNeue"/>
              </a:rPr>
              <a:t>Barkhausen</a:t>
            </a:r>
            <a:r>
              <a:rPr lang="en-US" b="0" i="0" dirty="0" smtClean="0">
                <a:effectLst/>
                <a:latin typeface="fkGroteskNeue"/>
              </a:rPr>
              <a:t> criteria directly.</a:t>
            </a:r>
          </a:p>
          <a:p>
            <a:pPr marL="285750" indent="-285750" algn="just">
              <a:buFont typeface="Courier New" panose="02070309020205020404" pitchFamily="49" charset="0"/>
              <a:buChar char="o"/>
            </a:pPr>
            <a:r>
              <a:rPr lang="en-US" b="1" i="0" dirty="0" smtClean="0">
                <a:effectLst/>
                <a:latin typeface="fkGroteskNeue"/>
              </a:rPr>
              <a:t>Teaching Analogy: </a:t>
            </a:r>
            <a:r>
              <a:rPr lang="en-US" b="0" i="0" dirty="0" smtClean="0">
                <a:effectLst/>
                <a:latin typeface="fkGroteskNeue"/>
              </a:rPr>
              <a:t>Like checking if a microphone-speaker system will cause feedback by measuring how loud the speaker gets when you whisper into the microphone.</a:t>
            </a:r>
          </a:p>
          <a:p>
            <a:pPr marL="285750" indent="-285750" algn="just">
              <a:buFont typeface="Courier New" panose="02070309020205020404" pitchFamily="49" charset="0"/>
              <a:buChar char="o"/>
            </a:pPr>
            <a:endParaRPr lang="en-US" b="0" i="0" dirty="0" smtClean="0">
              <a:effectLst/>
              <a:latin typeface="fkGroteskNeue"/>
            </a:endParaRPr>
          </a:p>
          <a:p>
            <a:pPr algn="just"/>
            <a:r>
              <a:rPr lang="en-US" b="1" i="0" dirty="0" smtClean="0">
                <a:effectLst/>
                <a:latin typeface="fkGroteskNeue"/>
              </a:rPr>
              <a:t>Mathematical Foundation:</a:t>
            </a:r>
          </a:p>
          <a:p>
            <a:pPr marL="285750" indent="-285750" algn="just">
              <a:buFont typeface="Arial" panose="020B0604020202020204" pitchFamily="34" charset="0"/>
              <a:buChar char="•"/>
            </a:pPr>
            <a:r>
              <a:rPr lang="en-US" b="0" i="0" dirty="0" smtClean="0">
                <a:effectLst/>
                <a:latin typeface="fkGroteskNeue"/>
              </a:rPr>
              <a:t>Set H(</a:t>
            </a:r>
            <a:r>
              <a:rPr lang="en-US" b="0" i="0" dirty="0" err="1" smtClean="0">
                <a:effectLst/>
                <a:latin typeface="fkGroteskNeue"/>
              </a:rPr>
              <a:t>jω</a:t>
            </a:r>
            <a:r>
              <a:rPr lang="en-US" b="0" i="0" dirty="0" smtClean="0">
                <a:effectLst/>
                <a:latin typeface="fkGroteskNeue"/>
              </a:rPr>
              <a:t>₀) = -1 for oscillation</a:t>
            </a:r>
          </a:p>
          <a:p>
            <a:pPr marL="285750" indent="-285750" algn="just">
              <a:buFont typeface="Arial" panose="020B0604020202020204" pitchFamily="34" charset="0"/>
              <a:buChar char="•"/>
            </a:pPr>
            <a:r>
              <a:rPr lang="en-US" b="0" i="0" dirty="0" smtClean="0">
                <a:effectLst/>
                <a:latin typeface="fkGroteskNeue"/>
              </a:rPr>
              <a:t>This gives us both frequency (where phase = 180°) and gain requirements (|H| = 1)</a:t>
            </a:r>
            <a:endParaRPr lang="en-US" b="0" i="0" dirty="0">
              <a:effectLst/>
              <a:latin typeface="fkGroteskNeue"/>
            </a:endParaRPr>
          </a:p>
        </p:txBody>
      </p:sp>
      <p:sp>
        <p:nvSpPr>
          <p:cNvPr id="8" name="Rectangle 7"/>
          <p:cNvSpPr/>
          <p:nvPr/>
        </p:nvSpPr>
        <p:spPr>
          <a:xfrm>
            <a:off x="5982031" y="2205870"/>
            <a:ext cx="6096000" cy="3970318"/>
          </a:xfrm>
          <a:prstGeom prst="rect">
            <a:avLst/>
          </a:prstGeom>
        </p:spPr>
        <p:txBody>
          <a:bodyPr>
            <a:spAutoFit/>
          </a:bodyPr>
          <a:lstStyle/>
          <a:p>
            <a:pPr marL="285750" indent="-285750" algn="just">
              <a:buFont typeface="Wingdings" panose="05000000000000000000" pitchFamily="2" charset="2"/>
              <a:buChar char="q"/>
            </a:pPr>
            <a:r>
              <a:rPr lang="en-US" b="1" i="0" dirty="0" smtClean="0">
                <a:effectLst/>
                <a:latin typeface="fkGrotesk"/>
              </a:rPr>
              <a:t>Method 2: Time-Domain Initial Condition</a:t>
            </a:r>
          </a:p>
          <a:p>
            <a:pPr marL="285750" indent="-285750" algn="just">
              <a:buFont typeface="Courier New" panose="02070309020205020404" pitchFamily="49" charset="0"/>
              <a:buChar char="o"/>
            </a:pPr>
            <a:r>
              <a:rPr lang="en-US" b="1" i="0" dirty="0" smtClean="0">
                <a:effectLst/>
                <a:latin typeface="fkGroteskNeue"/>
              </a:rPr>
              <a:t>Fundamental Concept: </a:t>
            </a:r>
            <a:r>
              <a:rPr lang="en-US" b="0" i="0" dirty="0" smtClean="0">
                <a:effectLst/>
                <a:latin typeface="fkGroteskNeue"/>
              </a:rPr>
              <a:t>Like the "lossless pendulum" - give the system a small "push" and see if oscillations grow.</a:t>
            </a:r>
          </a:p>
          <a:p>
            <a:pPr marL="285750" indent="-285750" algn="just">
              <a:buFont typeface="Courier New" panose="02070309020205020404" pitchFamily="49" charset="0"/>
              <a:buChar char="o"/>
            </a:pPr>
            <a:r>
              <a:rPr lang="en-US" b="1" i="0" dirty="0" smtClean="0">
                <a:effectLst/>
                <a:latin typeface="fkGroteskNeue"/>
              </a:rPr>
              <a:t>Physical Meaning: </a:t>
            </a:r>
            <a:r>
              <a:rPr lang="en-US" b="0" i="0" dirty="0" smtClean="0">
                <a:effectLst/>
                <a:latin typeface="fkGroteskNeue"/>
              </a:rPr>
              <a:t>Start with energy stored somewhere (charged capacitor, current in inductor) and analyze if the energy transfer sustains or decays.</a:t>
            </a:r>
          </a:p>
          <a:p>
            <a:pPr marL="285750" indent="-285750" algn="just">
              <a:buFont typeface="Wingdings" panose="05000000000000000000" pitchFamily="2" charset="2"/>
              <a:buChar char="q"/>
            </a:pPr>
            <a:r>
              <a:rPr lang="en-US" b="1" i="0" dirty="0" smtClean="0">
                <a:effectLst/>
                <a:latin typeface="fkGrotesk"/>
              </a:rPr>
              <a:t>Method 3: Impedance/Admittance Analysis</a:t>
            </a:r>
          </a:p>
          <a:p>
            <a:pPr marL="285750" indent="-285750" algn="just">
              <a:buFont typeface="Courier New" panose="02070309020205020404" pitchFamily="49" charset="0"/>
              <a:buChar char="o"/>
            </a:pPr>
            <a:r>
              <a:rPr lang="en-US" b="1" i="0" dirty="0" smtClean="0">
                <a:effectLst/>
                <a:latin typeface="fkGroteskNeue"/>
              </a:rPr>
              <a:t>Fundamental Concept: </a:t>
            </a:r>
            <a:r>
              <a:rPr lang="en-US" b="0" i="0" dirty="0" smtClean="0">
                <a:effectLst/>
                <a:latin typeface="fkGroteskNeue"/>
              </a:rPr>
              <a:t>Inject a test signal and find where impedance goes to infinity (or becomes negative).</a:t>
            </a:r>
          </a:p>
          <a:p>
            <a:pPr marL="285750" indent="-285750" algn="just">
              <a:buFont typeface="Courier New" panose="02070309020205020404" pitchFamily="49" charset="0"/>
              <a:buChar char="o"/>
            </a:pPr>
            <a:r>
              <a:rPr lang="en-US" b="1" i="0" dirty="0" smtClean="0">
                <a:effectLst/>
                <a:latin typeface="fkGroteskNeue"/>
              </a:rPr>
              <a:t>Intuitive Understanding: </a:t>
            </a:r>
            <a:r>
              <a:rPr lang="en-US" b="0" i="0" dirty="0" smtClean="0">
                <a:effectLst/>
                <a:latin typeface="fkGroteskNeue"/>
              </a:rPr>
              <a:t>When input impedance becomes infinite, it means the circuit can sustain voltage/current without external drive - this is oscillation</a:t>
            </a:r>
            <a:endParaRPr lang="en-US" b="0" i="0" dirty="0">
              <a:effectLst/>
              <a:latin typeface="fkGroteskNeue"/>
            </a:endParaRPr>
          </a:p>
        </p:txBody>
      </p:sp>
    </p:spTree>
    <p:extLst>
      <p:ext uri="{BB962C8B-B14F-4D97-AF65-F5344CB8AC3E}">
        <p14:creationId xmlns:p14="http://schemas.microsoft.com/office/powerpoint/2010/main" val="346938726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Common Source (CS) Stage </a:t>
            </a:r>
            <a:r>
              <a:rPr lang="en-US" dirty="0" smtClean="0">
                <a:latin typeface="fkGrotesk"/>
              </a:rPr>
              <a:t>Analysis</a:t>
            </a:r>
            <a:endParaRPr lang="en-US" dirty="0"/>
          </a:p>
        </p:txBody>
      </p:sp>
      <p:sp>
        <p:nvSpPr>
          <p:cNvPr id="3" name="Text Placeholder 2"/>
          <p:cNvSpPr>
            <a:spLocks noGrp="1"/>
          </p:cNvSpPr>
          <p:nvPr>
            <p:ph type="body" idx="1"/>
          </p:nvPr>
        </p:nvSpPr>
        <p:spPr>
          <a:xfrm>
            <a:off x="560024" y="1230462"/>
            <a:ext cx="7650722" cy="4124206"/>
          </a:xfrm>
        </p:spPr>
        <p:txBody>
          <a:bodyPr/>
          <a:lstStyle/>
          <a:p>
            <a:pPr marL="342900" indent="-342900" algn="just">
              <a:buFont typeface="Wingdings" panose="05000000000000000000" pitchFamily="2" charset="2"/>
              <a:buChar char="q"/>
            </a:pPr>
            <a:r>
              <a:rPr lang="en-US" b="1" dirty="0" smtClean="0">
                <a:latin typeface="fkGroteskNeue"/>
              </a:rPr>
              <a:t>Figure (a</a:t>
            </a:r>
            <a:r>
              <a:rPr lang="en-US" b="1" dirty="0">
                <a:latin typeface="fkGroteskNeue"/>
              </a:rPr>
              <a:t>): </a:t>
            </a:r>
            <a:r>
              <a:rPr lang="en-US" dirty="0">
                <a:latin typeface="fkGroteskNeue"/>
              </a:rPr>
              <a:t>Shows a </a:t>
            </a:r>
            <a:r>
              <a:rPr lang="en-US" b="1" dirty="0">
                <a:latin typeface="fkGroteskNeue"/>
              </a:rPr>
              <a:t>common-source MOSFET</a:t>
            </a:r>
            <a:r>
              <a:rPr lang="en-US" dirty="0">
                <a:latin typeface="fkGroteskNeue"/>
              </a:rPr>
              <a:t> with feedback from drain to gate through a capacitor CL.</a:t>
            </a:r>
          </a:p>
          <a:p>
            <a:pPr marL="342900" indent="-342900" algn="just">
              <a:buFont typeface="Wingdings" panose="05000000000000000000" pitchFamily="2" charset="2"/>
              <a:buChar char="q"/>
            </a:pPr>
            <a:r>
              <a:rPr lang="en-US" b="1" dirty="0" smtClean="0">
                <a:latin typeface="fkGroteskNeue"/>
              </a:rPr>
              <a:t>Figure (b</a:t>
            </a:r>
            <a:r>
              <a:rPr lang="en-US" b="1" dirty="0">
                <a:latin typeface="fkGroteskNeue"/>
              </a:rPr>
              <a:t>): </a:t>
            </a:r>
            <a:r>
              <a:rPr lang="en-US" dirty="0">
                <a:latin typeface="fkGroteskNeue"/>
              </a:rPr>
              <a:t>Equivalent small-signal model showing </a:t>
            </a:r>
            <a:r>
              <a:rPr lang="en-US" dirty="0" err="1">
                <a:latin typeface="fkGroteskNeue"/>
              </a:rPr>
              <a:t>transconductance</a:t>
            </a:r>
            <a:r>
              <a:rPr lang="en-US" dirty="0">
                <a:latin typeface="fkGroteskNeue"/>
              </a:rPr>
              <a:t> gm and load capacitor</a:t>
            </a:r>
            <a:r>
              <a:rPr lang="en-US" dirty="0" smtClean="0">
                <a:latin typeface="fkGroteskNeue"/>
              </a:rPr>
              <a:t>.</a:t>
            </a:r>
          </a:p>
          <a:p>
            <a:pPr marL="342900" indent="-342900" algn="just">
              <a:buFont typeface="Wingdings" panose="05000000000000000000" pitchFamily="2" charset="2"/>
              <a:buChar char="q"/>
            </a:pPr>
            <a:endParaRPr lang="en-US" dirty="0">
              <a:latin typeface="fkGroteskNeue"/>
            </a:endParaRPr>
          </a:p>
          <a:p>
            <a:pPr algn="l"/>
            <a:r>
              <a:rPr lang="en-US" b="1" dirty="0">
                <a:latin typeface="fkGrotesk"/>
              </a:rPr>
              <a:t>Why This Circuit Cannot Oscillate</a:t>
            </a:r>
            <a:r>
              <a:rPr lang="en-US" b="1" dirty="0" smtClean="0">
                <a:latin typeface="fkGrotesk"/>
              </a:rPr>
              <a:t>:</a:t>
            </a:r>
          </a:p>
          <a:p>
            <a:pPr marL="342900" indent="-342900" algn="l">
              <a:buFont typeface="Courier New" panose="02070309020205020404" pitchFamily="49" charset="0"/>
              <a:buChar char="o"/>
            </a:pPr>
            <a:endParaRPr lang="en-US" b="1" dirty="0">
              <a:latin typeface="fkGrotesk"/>
            </a:endParaRPr>
          </a:p>
          <a:p>
            <a:pPr lvl="1" algn="l"/>
            <a:r>
              <a:rPr lang="en-US" b="1" dirty="0">
                <a:latin typeface="fkGroteskNeue"/>
              </a:rPr>
              <a:t>Fundamental Issue: </a:t>
            </a:r>
            <a:r>
              <a:rPr lang="en-US" dirty="0">
                <a:latin typeface="fkGroteskNeue"/>
              </a:rPr>
              <a:t>The CS stage only provides </a:t>
            </a:r>
            <a:r>
              <a:rPr lang="en-US" b="1" dirty="0">
                <a:latin typeface="fkGroteskNeue"/>
              </a:rPr>
              <a:t>90° maximum phase shift</a:t>
            </a:r>
            <a:r>
              <a:rPr lang="en-US" dirty="0">
                <a:latin typeface="fkGroteskNeue"/>
              </a:rPr>
              <a:t> at high frequencies, but oscillation requires </a:t>
            </a:r>
            <a:r>
              <a:rPr lang="en-US" b="1" dirty="0">
                <a:latin typeface="fkGroteskNeue"/>
              </a:rPr>
              <a:t>180</a:t>
            </a:r>
            <a:r>
              <a:rPr lang="en-US" b="1" dirty="0" smtClean="0">
                <a:latin typeface="fkGroteskNeue"/>
              </a:rPr>
              <a:t>°.</a:t>
            </a:r>
          </a:p>
          <a:p>
            <a:pPr lvl="1" algn="l"/>
            <a:endParaRPr lang="en-US" b="1" dirty="0">
              <a:latin typeface="fkGroteskNeue"/>
            </a:endParaRPr>
          </a:p>
          <a:p>
            <a:pPr algn="l"/>
            <a:r>
              <a:rPr lang="en-US" b="1" dirty="0">
                <a:latin typeface="fkGroteskNeue"/>
              </a:rPr>
              <a:t>Mathematical Proof:</a:t>
            </a:r>
          </a:p>
          <a:p>
            <a:pPr marL="800100" lvl="1" indent="-342900" algn="l">
              <a:buFont typeface="Wingdings" panose="05000000000000000000" pitchFamily="2" charset="2"/>
              <a:buChar char="q"/>
            </a:pPr>
            <a:r>
              <a:rPr lang="en-US" dirty="0">
                <a:latin typeface="fkGroteskNeue"/>
              </a:rPr>
              <a:t>Transfer function: H(s) = g</a:t>
            </a:r>
            <a:r>
              <a:rPr lang="en-US" baseline="-25000" dirty="0">
                <a:latin typeface="fkGroteskNeue"/>
              </a:rPr>
              <a:t>m</a:t>
            </a:r>
            <a:r>
              <a:rPr lang="en-US" dirty="0">
                <a:latin typeface="fkGroteskNeue"/>
              </a:rPr>
              <a:t>(R</a:t>
            </a:r>
            <a:r>
              <a:rPr lang="en-US" baseline="-25000" dirty="0">
                <a:latin typeface="fkGroteskNeue"/>
              </a:rPr>
              <a:t>D</a:t>
            </a:r>
            <a:r>
              <a:rPr lang="en-US" dirty="0">
                <a:latin typeface="fkGroteskNeue"/>
              </a:rPr>
              <a:t> || 1/</a:t>
            </a:r>
            <a:r>
              <a:rPr lang="en-US" dirty="0" err="1">
                <a:latin typeface="fkGroteskNeue"/>
              </a:rPr>
              <a:t>sC</a:t>
            </a:r>
            <a:r>
              <a:rPr lang="en-US" baseline="-25000" dirty="0" err="1">
                <a:latin typeface="fkGroteskNeue"/>
              </a:rPr>
              <a:t>L</a:t>
            </a:r>
            <a:r>
              <a:rPr lang="en-US" dirty="0">
                <a:latin typeface="fkGroteskNeue"/>
              </a:rPr>
              <a:t>) = </a:t>
            </a:r>
            <a:r>
              <a:rPr lang="en-US" dirty="0" err="1">
                <a:latin typeface="fkGroteskNeue"/>
              </a:rPr>
              <a:t>g</a:t>
            </a:r>
            <a:r>
              <a:rPr lang="en-US" baseline="-25000" dirty="0" err="1">
                <a:latin typeface="fkGroteskNeue"/>
              </a:rPr>
              <a:t>m</a:t>
            </a:r>
            <a:r>
              <a:rPr lang="en-US" dirty="0" err="1">
                <a:latin typeface="fkGroteskNeue"/>
              </a:rPr>
              <a:t>R</a:t>
            </a:r>
            <a:r>
              <a:rPr lang="en-US" baseline="-25000" dirty="0" err="1">
                <a:latin typeface="fkGroteskNeue"/>
              </a:rPr>
              <a:t>D</a:t>
            </a:r>
            <a:r>
              <a:rPr lang="en-US" dirty="0">
                <a:latin typeface="fkGroteskNeue"/>
              </a:rPr>
              <a:t>/(1 + </a:t>
            </a:r>
            <a:r>
              <a:rPr lang="en-US" dirty="0" err="1">
                <a:latin typeface="fkGroteskNeue"/>
              </a:rPr>
              <a:t>sR</a:t>
            </a:r>
            <a:r>
              <a:rPr lang="en-US" baseline="-25000" dirty="0" err="1">
                <a:latin typeface="fkGroteskNeue"/>
              </a:rPr>
              <a:t>D</a:t>
            </a:r>
            <a:r>
              <a:rPr lang="en-US" dirty="0" err="1">
                <a:latin typeface="fkGroteskNeue"/>
              </a:rPr>
              <a:t>C</a:t>
            </a:r>
            <a:r>
              <a:rPr lang="en-US" baseline="-25000" dirty="0" err="1">
                <a:latin typeface="fkGroteskNeue"/>
              </a:rPr>
              <a:t>L</a:t>
            </a:r>
            <a:r>
              <a:rPr lang="en-US" dirty="0">
                <a:latin typeface="fkGroteskNeue"/>
              </a:rPr>
              <a:t>)</a:t>
            </a:r>
          </a:p>
          <a:p>
            <a:pPr marL="800100" lvl="1" indent="-342900" algn="l">
              <a:buFont typeface="Wingdings" panose="05000000000000000000" pitchFamily="2" charset="2"/>
              <a:buChar char="q"/>
            </a:pPr>
            <a:r>
              <a:rPr lang="en-US" dirty="0">
                <a:latin typeface="fkGroteskNeue"/>
              </a:rPr>
              <a:t>This </a:t>
            </a:r>
            <a:r>
              <a:rPr lang="en-US" dirty="0">
                <a:solidFill>
                  <a:srgbClr val="00B050"/>
                </a:solidFill>
                <a:latin typeface="fkGroteskNeue"/>
              </a:rPr>
              <a:t>single-pole system </a:t>
            </a:r>
            <a:r>
              <a:rPr lang="en-US" dirty="0">
                <a:latin typeface="fkGroteskNeue"/>
              </a:rPr>
              <a:t>can only </a:t>
            </a:r>
            <a:r>
              <a:rPr lang="en-US" dirty="0">
                <a:solidFill>
                  <a:srgbClr val="00B050"/>
                </a:solidFill>
                <a:latin typeface="fkGroteskNeue"/>
              </a:rPr>
              <a:t>contribute up to 90° phase shift</a:t>
            </a:r>
          </a:p>
          <a:p>
            <a:pPr marL="800100" lvl="1" indent="-342900" algn="l">
              <a:buFont typeface="Wingdings" panose="05000000000000000000" pitchFamily="2" charset="2"/>
              <a:buChar char="q"/>
            </a:pPr>
            <a:r>
              <a:rPr lang="en-US" dirty="0" err="1">
                <a:solidFill>
                  <a:srgbClr val="C00000"/>
                </a:solidFill>
                <a:latin typeface="fkGroteskNeue"/>
              </a:rPr>
              <a:t>Barkhausen</a:t>
            </a:r>
            <a:r>
              <a:rPr lang="en-US" dirty="0">
                <a:solidFill>
                  <a:srgbClr val="C00000"/>
                </a:solidFill>
                <a:latin typeface="fkGroteskNeue"/>
              </a:rPr>
              <a:t> criterion requires 180° total, so oscillation is </a:t>
            </a:r>
            <a:r>
              <a:rPr lang="en-US" dirty="0" smtClean="0">
                <a:solidFill>
                  <a:srgbClr val="C00000"/>
                </a:solidFill>
                <a:latin typeface="fkGroteskNeue"/>
              </a:rPr>
              <a:t>impossible</a:t>
            </a:r>
            <a:endParaRPr lang="en-US" dirty="0">
              <a:solidFill>
                <a:srgbClr val="C00000"/>
              </a:solidFill>
              <a:latin typeface="fkGroteskNeue"/>
            </a:endParaRPr>
          </a:p>
        </p:txBody>
      </p:sp>
      <p:sp>
        <p:nvSpPr>
          <p:cNvPr id="4" name="Footer Placeholder 3"/>
          <p:cNvSpPr>
            <a:spLocks noGrp="1"/>
          </p:cNvSpPr>
          <p:nvPr>
            <p:ph type="ftr" sz="quarter" idx="5"/>
          </p:nvPr>
        </p:nvSpPr>
        <p:spPr>
          <a:xfrm>
            <a:off x="5436195" y="6670381"/>
            <a:ext cx="1386024" cy="18761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120517"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l="4145" t="5847"/>
          <a:stretch/>
        </p:blipFill>
        <p:spPr>
          <a:xfrm>
            <a:off x="8333294" y="1725105"/>
            <a:ext cx="3818141" cy="1956349"/>
          </a:xfrm>
          <a:prstGeom prst="rect">
            <a:avLst/>
          </a:prstGeom>
        </p:spPr>
      </p:pic>
      <p:sp>
        <p:nvSpPr>
          <p:cNvPr id="8" name="Rectangle 7"/>
          <p:cNvSpPr/>
          <p:nvPr/>
        </p:nvSpPr>
        <p:spPr>
          <a:xfrm>
            <a:off x="8298778" y="3758599"/>
            <a:ext cx="3741730" cy="246221"/>
          </a:xfrm>
          <a:prstGeom prst="rect">
            <a:avLst/>
          </a:prstGeom>
        </p:spPr>
        <p:txBody>
          <a:bodyPr wrap="none">
            <a:spAutoFit/>
          </a:bodyPr>
          <a:lstStyle/>
          <a:p>
            <a:r>
              <a:rPr lang="en-US" sz="1000" b="1" i="0" u="none" strike="noStrike" baseline="0" dirty="0" smtClean="0">
                <a:solidFill>
                  <a:srgbClr val="231F20"/>
                </a:solidFill>
                <a:latin typeface="T3Font_116"/>
              </a:rPr>
              <a:t>(a) Feedback around a CS stage, and (b) equivalent circuit.</a:t>
            </a:r>
            <a:endParaRPr lang="en-US" sz="2400" b="1" dirty="0"/>
          </a:p>
        </p:txBody>
      </p:sp>
      <p:sp>
        <p:nvSpPr>
          <p:cNvPr id="9" name="Rectangle 8"/>
          <p:cNvSpPr/>
          <p:nvPr/>
        </p:nvSpPr>
        <p:spPr>
          <a:xfrm>
            <a:off x="578176" y="5551247"/>
            <a:ext cx="11516413" cy="707886"/>
          </a:xfrm>
          <a:prstGeom prst="rect">
            <a:avLst/>
          </a:prstGeom>
        </p:spPr>
        <p:txBody>
          <a:bodyPr wrap="square">
            <a:spAutoFit/>
          </a:bodyPr>
          <a:lstStyle/>
          <a:p>
            <a:pPr marL="342900" lvl="0" indent="-342900" algn="just">
              <a:buFont typeface="Wingdings" panose="05000000000000000000" pitchFamily="2" charset="2"/>
              <a:buChar char="q"/>
            </a:pPr>
            <a:r>
              <a:rPr lang="en-US" sz="2000" b="1" kern="0" dirty="0">
                <a:solidFill>
                  <a:prstClr val="black"/>
                </a:solidFill>
                <a:latin typeface="fkGroteskNeue"/>
              </a:rPr>
              <a:t>Teaching Insight: </a:t>
            </a:r>
            <a:r>
              <a:rPr lang="en-US" sz="2000" kern="0" dirty="0">
                <a:solidFill>
                  <a:prstClr val="black"/>
                </a:solidFill>
                <a:latin typeface="fkGroteskNeue"/>
              </a:rPr>
              <a:t>This demonstrates why </a:t>
            </a:r>
            <a:r>
              <a:rPr lang="en-US" sz="2000" b="1" kern="0" dirty="0">
                <a:solidFill>
                  <a:srgbClr val="C00000"/>
                </a:solidFill>
                <a:latin typeface="fkGroteskNeue"/>
              </a:rPr>
              <a:t>simple amplifier stages need additional phase-shifting networks</a:t>
            </a:r>
            <a:r>
              <a:rPr lang="en-US" sz="2000" kern="0" dirty="0">
                <a:solidFill>
                  <a:srgbClr val="C00000"/>
                </a:solidFill>
                <a:latin typeface="fkGroteskNeue"/>
              </a:rPr>
              <a:t> </a:t>
            </a:r>
            <a:r>
              <a:rPr lang="en-US" sz="2000" kern="0" dirty="0">
                <a:solidFill>
                  <a:prstClr val="black"/>
                </a:solidFill>
                <a:latin typeface="fkGroteskNeue"/>
              </a:rPr>
              <a:t>to become oscillators</a:t>
            </a:r>
          </a:p>
        </p:txBody>
      </p:sp>
    </p:spTree>
    <p:extLst>
      <p:ext uri="{BB962C8B-B14F-4D97-AF65-F5344CB8AC3E}">
        <p14:creationId xmlns:p14="http://schemas.microsoft.com/office/powerpoint/2010/main" val="29704378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6951913" cy="4578497"/>
              </a:xfrm>
            </p:spPr>
            <p:txBody>
              <a:bodyPr/>
              <a:lstStyle/>
              <a:p>
                <a:r>
                  <a:rPr lang="en-US" dirty="0">
                    <a:solidFill>
                      <a:srgbClr val="000000"/>
                    </a:solidFill>
                    <a:latin typeface="inter"/>
                    <a:ea typeface="inter"/>
                    <a:cs typeface="inter"/>
                  </a:rPr>
                  <a:t>Simplifies the </a:t>
                </a:r>
                <a:r>
                  <a:rPr lang="en-US" dirty="0" smtClean="0">
                    <a:solidFill>
                      <a:srgbClr val="000000"/>
                    </a:solidFill>
                    <a:latin typeface="inter"/>
                    <a:ea typeface="inter"/>
                    <a:cs typeface="inter"/>
                  </a:rPr>
                  <a:t>CS </a:t>
                </a:r>
                <a:r>
                  <a:rPr lang="en-US" dirty="0">
                    <a:solidFill>
                      <a:srgbClr val="000000"/>
                    </a:solidFill>
                    <a:latin typeface="inter"/>
                    <a:ea typeface="inter"/>
                    <a:cs typeface="inter"/>
                  </a:rPr>
                  <a:t>stage to:</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dirty="0">
                    <a:solidFill>
                      <a:srgbClr val="000000"/>
                    </a:solidFill>
                    <a:latin typeface="inter"/>
                    <a:ea typeface="inter"/>
                    <a:cs typeface="inter"/>
                  </a:rPr>
                  <a:t>Input </a:t>
                </a:r>
                <a:r>
                  <a:rPr lang="en-US" dirty="0" err="1">
                    <a:solidFill>
                      <a:srgbClr val="000000"/>
                    </a:solidFill>
                    <a:latin typeface="inter"/>
                    <a:ea typeface="inter"/>
                    <a:cs typeface="inter"/>
                  </a:rPr>
                  <a:t>transconductance</a:t>
                </a:r>
                <a:r>
                  <a:rPr lang="en-US" dirty="0">
                    <a:solidFill>
                      <a:srgbClr val="000000"/>
                    </a:solidFill>
                    <a:latin typeface="inter"/>
                    <a:ea typeface="inter"/>
                    <a:cs typeface="inter"/>
                  </a:rPr>
                  <a:t>: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oMath>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dirty="0">
                    <a:solidFill>
                      <a:srgbClr val="000000"/>
                    </a:solidFill>
                    <a:latin typeface="inter"/>
                    <a:ea typeface="inter"/>
                    <a:cs typeface="inter"/>
                  </a:rPr>
                  <a:t>Load: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dirty="0">
                    <a:solidFill>
                      <a:srgbClr val="000000"/>
                    </a:solidFill>
                    <a:latin typeface="inter"/>
                    <a:ea typeface="inter"/>
                    <a:cs typeface="inter"/>
                  </a:rPr>
                  <a:t> (or 1/</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n-US" dirty="0">
                    <a:solidFill>
                      <a:srgbClr val="000000"/>
                    </a:solidFill>
                    <a:latin typeface="inter"/>
                    <a:ea typeface="inter"/>
                    <a:cs typeface="inter"/>
                  </a:rPr>
                  <a:t> for a diode-connected transistor)</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dirty="0">
                    <a:solidFill>
                      <a:srgbClr val="000000"/>
                    </a:solidFill>
                    <a:latin typeface="inter"/>
                    <a:ea typeface="inter"/>
                    <a:cs typeface="inter"/>
                  </a:rPr>
                  <a:t>Output capacitance: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oMath>
                </a14:m>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b="1" dirty="0">
                    <a:solidFill>
                      <a:srgbClr val="000000"/>
                    </a:solidFill>
                    <a:latin typeface="inter"/>
                    <a:ea typeface="inter"/>
                    <a:cs typeface="inter"/>
                  </a:rPr>
                  <a:t>Low-Frequency Behavior:</a:t>
                </a:r>
                <a:endParaRPr lang="en-US"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dirty="0">
                    <a:solidFill>
                      <a:srgbClr val="000000"/>
                    </a:solidFill>
                    <a:latin typeface="inter"/>
                    <a:ea typeface="inter"/>
                    <a:cs typeface="inter"/>
                  </a:rPr>
                  <a:t>(DC gain is the product of </a:t>
                </a:r>
                <a:r>
                  <a:rPr lang="en-US" dirty="0" err="1">
                    <a:solidFill>
                      <a:srgbClr val="000000"/>
                    </a:solidFill>
                    <a:latin typeface="inter"/>
                    <a:ea typeface="inter"/>
                    <a:cs typeface="inter"/>
                  </a:rPr>
                  <a:t>transconductance</a:t>
                </a:r>
                <a:r>
                  <a:rPr lang="en-US" dirty="0">
                    <a:solidFill>
                      <a:srgbClr val="000000"/>
                    </a:solidFill>
                    <a:latin typeface="inter"/>
                    <a:ea typeface="inter"/>
                    <a:cs typeface="inter"/>
                  </a:rPr>
                  <a:t> and load resistance)</a:t>
                </a:r>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b="1" dirty="0">
                    <a:solidFill>
                      <a:srgbClr val="000000"/>
                    </a:solidFill>
                    <a:latin typeface="inter"/>
                    <a:ea typeface="inter"/>
                    <a:cs typeface="inter"/>
                  </a:rPr>
                  <a:t>High-Frequency Behavior:</a:t>
                </a:r>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dirty="0">
                    <a:solidFill>
                      <a:srgbClr val="000000"/>
                    </a:solidFill>
                    <a:latin typeface="inter"/>
                    <a:ea typeface="inter"/>
                    <a:cs typeface="inter"/>
                  </a:rPr>
                  <a:t>At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dirty="0">
                    <a:solidFill>
                      <a:srgbClr val="000000"/>
                    </a:solidFill>
                    <a:latin typeface="inter"/>
                    <a:ea typeface="inter"/>
                    <a:cs typeface="inter"/>
                  </a:rPr>
                  <a:t>The magnitude decreases at –20 dB/decade (integrator characteristic).</a:t>
                </a:r>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6951913" cy="4578497"/>
              </a:xfrm>
              <a:blipFill>
                <a:blip r:embed="rId2"/>
                <a:stretch>
                  <a:fillRect l="-2281" t="-1731"/>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8" name="Picture 7"/>
          <p:cNvPicPr>
            <a:picLocks noChangeAspect="1"/>
          </p:cNvPicPr>
          <p:nvPr/>
        </p:nvPicPr>
        <p:blipFill>
          <a:blip r:embed="rId3"/>
          <a:stretch>
            <a:fillRect/>
          </a:stretch>
        </p:blipFill>
        <p:spPr>
          <a:xfrm>
            <a:off x="8328268" y="1584412"/>
            <a:ext cx="3524431" cy="3111660"/>
          </a:xfrm>
          <a:prstGeom prst="rect">
            <a:avLst/>
          </a:prstGeom>
        </p:spPr>
      </p:pic>
    </p:spTree>
    <p:extLst>
      <p:ext uri="{BB962C8B-B14F-4D97-AF65-F5344CB8AC3E}">
        <p14:creationId xmlns:p14="http://schemas.microsoft.com/office/powerpoint/2010/main" val="2931388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991850" cy="523220"/>
          </a:xfrm>
        </p:spPr>
        <p:txBody>
          <a:bodyPr/>
          <a:lstStyle/>
          <a:p>
            <a:pPr algn="l"/>
            <a:r>
              <a:rPr lang="en-US" dirty="0"/>
              <a:t>Adding Delay for </a:t>
            </a:r>
            <a:r>
              <a:rPr lang="en-US" dirty="0" smtClean="0"/>
              <a:t>Oscillation </a:t>
            </a:r>
            <a:r>
              <a:rPr lang="en-US" dirty="0" smtClean="0">
                <a:latin typeface="fkGrotesk"/>
              </a:rPr>
              <a:t>The </a:t>
            </a:r>
            <a:r>
              <a:rPr lang="en-US" dirty="0">
                <a:latin typeface="fkGrotesk"/>
              </a:rPr>
              <a:t>Delay Line Solution</a:t>
            </a:r>
            <a:r>
              <a:rPr lang="en-US" dirty="0" smtClean="0">
                <a:latin typeface="fkGrotesk"/>
              </a:rPr>
              <a:t>:</a:t>
            </a:r>
            <a:endParaRPr lang="en-US" dirty="0"/>
          </a:p>
        </p:txBody>
      </p:sp>
      <p:sp>
        <p:nvSpPr>
          <p:cNvPr id="3" name="Text Placeholder 2"/>
          <p:cNvSpPr>
            <a:spLocks noGrp="1"/>
          </p:cNvSpPr>
          <p:nvPr>
            <p:ph type="body" idx="1"/>
          </p:nvPr>
        </p:nvSpPr>
        <p:spPr>
          <a:xfrm>
            <a:off x="0" y="1351095"/>
            <a:ext cx="8898903" cy="4308872"/>
          </a:xfrm>
        </p:spPr>
        <p:txBody>
          <a:bodyPr/>
          <a:lstStyle/>
          <a:p>
            <a:pPr marL="742950" lvl="1" indent="-285750" algn="l">
              <a:buFont typeface="Wingdings" panose="05000000000000000000" pitchFamily="2" charset="2"/>
              <a:buChar char="q"/>
            </a:pPr>
            <a:r>
              <a:rPr lang="en-US" b="1" dirty="0" smtClean="0">
                <a:latin typeface="fkGroteskNeue"/>
              </a:rPr>
              <a:t>Figure (a</a:t>
            </a:r>
            <a:r>
              <a:rPr lang="en-US" b="1" dirty="0">
                <a:latin typeface="fkGroteskNeue"/>
              </a:rPr>
              <a:t>): </a:t>
            </a:r>
            <a:r>
              <a:rPr lang="en-US" dirty="0">
                <a:latin typeface="fkGroteskNeue"/>
              </a:rPr>
              <a:t>Shows the same CS stage with an </a:t>
            </a:r>
            <a:r>
              <a:rPr lang="en-US" b="1" dirty="0">
                <a:latin typeface="fkGroteskNeue"/>
              </a:rPr>
              <a:t>additional delay element </a:t>
            </a:r>
            <a:r>
              <a:rPr lang="el-GR" b="1" dirty="0">
                <a:latin typeface="fkGroteskNeue"/>
              </a:rPr>
              <a:t>Δ</a:t>
            </a:r>
            <a:r>
              <a:rPr lang="en-US" b="1" dirty="0">
                <a:latin typeface="fkGroteskNeue"/>
              </a:rPr>
              <a:t>T.</a:t>
            </a:r>
          </a:p>
          <a:p>
            <a:pPr algn="l"/>
            <a:r>
              <a:rPr lang="en-US" b="1" dirty="0">
                <a:latin typeface="fkGroteskNeue"/>
              </a:rPr>
              <a:t>Why Delay Works:</a:t>
            </a:r>
          </a:p>
          <a:p>
            <a:pPr marL="800100" lvl="1" indent="-342900" algn="l">
              <a:buFont typeface="Wingdings" panose="05000000000000000000" pitchFamily="2" charset="2"/>
              <a:buChar char="q"/>
            </a:pPr>
            <a:r>
              <a:rPr lang="en-US" dirty="0">
                <a:latin typeface="fkGroteskNeue"/>
              </a:rPr>
              <a:t>Delay creates </a:t>
            </a:r>
            <a:r>
              <a:rPr lang="en-US" b="1" dirty="0">
                <a:latin typeface="fkGroteskNeue"/>
              </a:rPr>
              <a:t>frequency-dependent phase shift</a:t>
            </a:r>
            <a:r>
              <a:rPr lang="en-US" dirty="0">
                <a:latin typeface="fkGroteskNeue"/>
              </a:rPr>
              <a:t>: </a:t>
            </a:r>
            <a:r>
              <a:rPr lang="el-GR" dirty="0">
                <a:latin typeface="fkGroteskNeue"/>
              </a:rPr>
              <a:t>φ = ωΔ</a:t>
            </a:r>
            <a:r>
              <a:rPr lang="en-US" dirty="0">
                <a:latin typeface="fkGroteskNeue"/>
              </a:rPr>
              <a:t>T</a:t>
            </a:r>
          </a:p>
          <a:p>
            <a:pPr marL="800100" lvl="1" indent="-342900" algn="l">
              <a:buFont typeface="Wingdings" panose="05000000000000000000" pitchFamily="2" charset="2"/>
              <a:buChar char="q"/>
            </a:pPr>
            <a:r>
              <a:rPr lang="en-US" dirty="0">
                <a:latin typeface="fkGroteskNeue"/>
              </a:rPr>
              <a:t>At frequency f₀ = 1/(2</a:t>
            </a:r>
            <a:r>
              <a:rPr lang="el-GR" dirty="0">
                <a:latin typeface="fkGroteskNeue"/>
              </a:rPr>
              <a:t>Δ</a:t>
            </a:r>
            <a:r>
              <a:rPr lang="en-US" dirty="0">
                <a:latin typeface="fkGroteskNeue"/>
              </a:rPr>
              <a:t>T), phase shift = 180°</a:t>
            </a:r>
          </a:p>
          <a:p>
            <a:pPr marL="800100" lvl="1" indent="-342900" algn="l">
              <a:buFont typeface="Wingdings" panose="05000000000000000000" pitchFamily="2" charset="2"/>
              <a:buChar char="q"/>
            </a:pPr>
            <a:r>
              <a:rPr lang="en-US" dirty="0">
                <a:latin typeface="fkGroteskNeue"/>
              </a:rPr>
              <a:t>Combined with amplifier gain, oscillation becomes possible</a:t>
            </a:r>
          </a:p>
          <a:p>
            <a:pPr algn="l"/>
            <a:r>
              <a:rPr lang="en-US" b="1" dirty="0" smtClean="0">
                <a:latin typeface="fkGrotesk"/>
              </a:rPr>
              <a:t>Analysis</a:t>
            </a:r>
            <a:r>
              <a:rPr lang="en-US" b="1" dirty="0">
                <a:latin typeface="fkGrotesk"/>
              </a:rPr>
              <a:t>:</a:t>
            </a:r>
          </a:p>
          <a:p>
            <a:pPr marL="800100" lvl="1" indent="-342900" algn="just">
              <a:buFont typeface="Wingdings" panose="05000000000000000000" pitchFamily="2" charset="2"/>
              <a:buChar char="q"/>
            </a:pPr>
            <a:r>
              <a:rPr lang="en-US" b="1" dirty="0">
                <a:latin typeface="fkGroteskNeue"/>
              </a:rPr>
              <a:t>Figure </a:t>
            </a:r>
            <a:r>
              <a:rPr lang="en-US" b="1" dirty="0" smtClean="0">
                <a:latin typeface="fkGroteskNeue"/>
              </a:rPr>
              <a:t>(b</a:t>
            </a:r>
            <a:r>
              <a:rPr lang="en-US" b="1" dirty="0">
                <a:latin typeface="fkGroteskNeue"/>
              </a:rPr>
              <a:t>): </a:t>
            </a:r>
            <a:r>
              <a:rPr lang="en-US" dirty="0">
                <a:latin typeface="fkGroteskNeue"/>
              </a:rPr>
              <a:t>Open-loop representation showing H(s) = </a:t>
            </a:r>
            <a:r>
              <a:rPr lang="en-US" dirty="0" err="1" smtClean="0">
                <a:latin typeface="fkGroteskNeue"/>
              </a:rPr>
              <a:t>g</a:t>
            </a:r>
            <a:r>
              <a:rPr lang="en-US" baseline="-25000" dirty="0" err="1" smtClean="0">
                <a:latin typeface="fkGroteskNeue"/>
              </a:rPr>
              <a:t>m</a:t>
            </a:r>
            <a:r>
              <a:rPr lang="en-US" dirty="0" err="1" smtClean="0">
                <a:latin typeface="fkGroteskNeue"/>
              </a:rPr>
              <a:t>R</a:t>
            </a:r>
            <a:r>
              <a:rPr lang="en-US" baseline="-25000" dirty="0" err="1" smtClean="0">
                <a:latin typeface="fkGroteskNeue"/>
              </a:rPr>
              <a:t>D</a:t>
            </a:r>
            <a:r>
              <a:rPr lang="en-US" dirty="0" err="1" smtClean="0">
                <a:latin typeface="fkGroteskNeue"/>
              </a:rPr>
              <a:t>e</a:t>
            </a:r>
            <a:r>
              <a:rPr lang="en-US" baseline="30000" dirty="0" smtClean="0">
                <a:latin typeface="fkGroteskNeue"/>
              </a:rPr>
              <a:t>(-</a:t>
            </a:r>
            <a:r>
              <a:rPr lang="en-US" baseline="30000" dirty="0">
                <a:latin typeface="fkGroteskNeue"/>
              </a:rPr>
              <a:t>s</a:t>
            </a:r>
            <a:r>
              <a:rPr lang="el-GR" baseline="30000" dirty="0">
                <a:latin typeface="fkGroteskNeue"/>
              </a:rPr>
              <a:t>Δ</a:t>
            </a:r>
            <a:r>
              <a:rPr lang="en-US" baseline="30000" dirty="0">
                <a:latin typeface="fkGroteskNeue"/>
              </a:rPr>
              <a:t>T).</a:t>
            </a:r>
          </a:p>
          <a:p>
            <a:pPr marL="800100" lvl="1" indent="-342900" algn="just">
              <a:buFont typeface="Wingdings" panose="05000000000000000000" pitchFamily="2" charset="2"/>
              <a:buChar char="q"/>
            </a:pPr>
            <a:r>
              <a:rPr lang="en-US" b="1" dirty="0">
                <a:latin typeface="fkGroteskNeue"/>
              </a:rPr>
              <a:t>Figure </a:t>
            </a:r>
            <a:r>
              <a:rPr lang="en-US" b="1" dirty="0" smtClean="0">
                <a:latin typeface="fkGroteskNeue"/>
              </a:rPr>
              <a:t>(c</a:t>
            </a:r>
            <a:r>
              <a:rPr lang="en-US" b="1" dirty="0">
                <a:latin typeface="fkGroteskNeue"/>
              </a:rPr>
              <a:t>): </a:t>
            </a:r>
            <a:r>
              <a:rPr lang="en-US" dirty="0">
                <a:latin typeface="fkGroteskNeue"/>
              </a:rPr>
              <a:t>Impedance analysis setup - inject current I</a:t>
            </a:r>
            <a:r>
              <a:rPr lang="en-US" baseline="-25000" dirty="0">
                <a:latin typeface="fkGroteskNeue"/>
              </a:rPr>
              <a:t>X</a:t>
            </a:r>
            <a:r>
              <a:rPr lang="en-US" dirty="0">
                <a:latin typeface="fkGroteskNeue"/>
              </a:rPr>
              <a:t> and measure voltage V</a:t>
            </a:r>
            <a:r>
              <a:rPr lang="en-US" baseline="-25000" dirty="0">
                <a:latin typeface="fkGroteskNeue"/>
              </a:rPr>
              <a:t>X</a:t>
            </a:r>
            <a:r>
              <a:rPr lang="en-US" dirty="0">
                <a:latin typeface="fkGroteskNeue"/>
              </a:rPr>
              <a:t>.</a:t>
            </a:r>
          </a:p>
          <a:p>
            <a:pPr marL="800100" lvl="1" indent="-342900" algn="just">
              <a:buFont typeface="Wingdings" panose="05000000000000000000" pitchFamily="2" charset="2"/>
              <a:buChar char="q"/>
            </a:pPr>
            <a:r>
              <a:rPr lang="en-US" b="1" dirty="0">
                <a:latin typeface="fkGroteskNeue"/>
              </a:rPr>
              <a:t>Figure </a:t>
            </a:r>
            <a:r>
              <a:rPr lang="en-US" b="1" dirty="0" smtClean="0">
                <a:latin typeface="fkGroteskNeue"/>
              </a:rPr>
              <a:t>(d</a:t>
            </a:r>
            <a:r>
              <a:rPr lang="en-US" b="1" dirty="0">
                <a:latin typeface="fkGroteskNeue"/>
              </a:rPr>
              <a:t>): </a:t>
            </a:r>
            <a:r>
              <a:rPr lang="en-US" dirty="0">
                <a:latin typeface="fkGroteskNeue"/>
              </a:rPr>
              <a:t>Shows infinite impedance condition when </a:t>
            </a:r>
            <a:r>
              <a:rPr lang="en-US" dirty="0" err="1">
                <a:latin typeface="fkGroteskNeue"/>
              </a:rPr>
              <a:t>g</a:t>
            </a:r>
            <a:r>
              <a:rPr lang="en-US" baseline="-25000" dirty="0" err="1">
                <a:latin typeface="fkGroteskNeue"/>
              </a:rPr>
              <a:t>m</a:t>
            </a:r>
            <a:r>
              <a:rPr lang="en-US" dirty="0" err="1">
                <a:latin typeface="fkGroteskNeue"/>
              </a:rPr>
              <a:t>R</a:t>
            </a:r>
            <a:r>
              <a:rPr lang="en-US" baseline="-25000" dirty="0" err="1">
                <a:latin typeface="fkGroteskNeue"/>
              </a:rPr>
              <a:t>D</a:t>
            </a:r>
            <a:r>
              <a:rPr lang="en-US" dirty="0">
                <a:latin typeface="fkGroteskNeue"/>
              </a:rPr>
              <a:t> = 1 and </a:t>
            </a:r>
            <a:r>
              <a:rPr lang="el-GR" dirty="0">
                <a:latin typeface="fkGroteskNeue"/>
              </a:rPr>
              <a:t>ωΔ</a:t>
            </a:r>
            <a:r>
              <a:rPr lang="en-US" dirty="0">
                <a:latin typeface="fkGroteskNeue"/>
              </a:rPr>
              <a:t>T = </a:t>
            </a:r>
            <a:r>
              <a:rPr lang="el-GR" dirty="0">
                <a:latin typeface="fkGroteskNeue"/>
              </a:rPr>
              <a:t>π.</a:t>
            </a:r>
          </a:p>
          <a:p>
            <a:pPr algn="l"/>
            <a:r>
              <a:rPr lang="en-US" b="1" dirty="0">
                <a:latin typeface="fkGrotesk"/>
              </a:rPr>
              <a:t>Mathematical Results:</a:t>
            </a:r>
          </a:p>
          <a:p>
            <a:pPr marL="800100" lvl="1" indent="-342900" algn="l">
              <a:buFont typeface="Wingdings" panose="05000000000000000000" pitchFamily="2" charset="2"/>
              <a:buChar char="q"/>
            </a:pPr>
            <a:r>
              <a:rPr lang="en-US" b="1" dirty="0">
                <a:latin typeface="fkGroteskNeue"/>
              </a:rPr>
              <a:t>Startup Condition: </a:t>
            </a:r>
            <a:r>
              <a:rPr lang="en-US" dirty="0" err="1">
                <a:latin typeface="fkGroteskNeue"/>
              </a:rPr>
              <a:t>g</a:t>
            </a:r>
            <a:r>
              <a:rPr lang="en-US" baseline="-25000" dirty="0" err="1">
                <a:latin typeface="fkGroteskNeue"/>
              </a:rPr>
              <a:t>m</a:t>
            </a:r>
            <a:r>
              <a:rPr lang="en-US" dirty="0" err="1">
                <a:latin typeface="fkGroteskNeue"/>
              </a:rPr>
              <a:t>R</a:t>
            </a:r>
            <a:r>
              <a:rPr lang="en-US" baseline="-25000" dirty="0" err="1">
                <a:latin typeface="fkGroteskNeue"/>
              </a:rPr>
              <a:t>D</a:t>
            </a:r>
            <a:r>
              <a:rPr lang="en-US" dirty="0">
                <a:latin typeface="fkGroteskNeue"/>
              </a:rPr>
              <a:t> = 1 (unity loop </a:t>
            </a:r>
            <a:r>
              <a:rPr lang="en-US" dirty="0" smtClean="0">
                <a:latin typeface="fkGroteskNeue"/>
              </a:rPr>
              <a:t>gain)</a:t>
            </a:r>
          </a:p>
          <a:p>
            <a:pPr marL="800100" lvl="1" indent="-342900" algn="l">
              <a:buFont typeface="Wingdings" panose="05000000000000000000" pitchFamily="2" charset="2"/>
              <a:buChar char="q"/>
            </a:pPr>
            <a:r>
              <a:rPr lang="en-US" b="1" dirty="0" smtClean="0">
                <a:latin typeface="fkGroteskNeue"/>
              </a:rPr>
              <a:t>Frequency </a:t>
            </a:r>
            <a:r>
              <a:rPr lang="en-US" b="1" dirty="0">
                <a:latin typeface="fkGroteskNeue"/>
              </a:rPr>
              <a:t>Condition: </a:t>
            </a:r>
            <a:r>
              <a:rPr lang="el-GR" dirty="0">
                <a:latin typeface="fkGroteskNeue"/>
              </a:rPr>
              <a:t>ω₀Δ</a:t>
            </a:r>
            <a:r>
              <a:rPr lang="en-US" dirty="0">
                <a:latin typeface="fkGroteskNeue"/>
              </a:rPr>
              <a:t>T = </a:t>
            </a:r>
            <a:r>
              <a:rPr lang="el-GR" dirty="0">
                <a:latin typeface="fkGroteskNeue"/>
              </a:rPr>
              <a:t>π, </a:t>
            </a:r>
            <a:r>
              <a:rPr lang="en-US" dirty="0">
                <a:latin typeface="fkGroteskNeue"/>
              </a:rPr>
              <a:t>giving f₀ = 1/(2</a:t>
            </a:r>
            <a:r>
              <a:rPr lang="el-GR" dirty="0">
                <a:latin typeface="fkGroteskNeue"/>
              </a:rPr>
              <a:t>Δ</a:t>
            </a:r>
            <a:r>
              <a:rPr lang="en-US" dirty="0" smtClean="0">
                <a:latin typeface="fkGroteskNeue"/>
              </a:rPr>
              <a:t>T)</a:t>
            </a:r>
          </a:p>
          <a:p>
            <a:pPr marL="800100" lvl="1" indent="-342900" algn="l">
              <a:buFont typeface="Wingdings" panose="05000000000000000000" pitchFamily="2" charset="2"/>
              <a:buChar char="q"/>
            </a:pPr>
            <a:r>
              <a:rPr lang="en-US" b="1" dirty="0" smtClean="0">
                <a:latin typeface="fkGroteskNeue"/>
              </a:rPr>
              <a:t>Oscillation </a:t>
            </a:r>
            <a:r>
              <a:rPr lang="en-US" b="1" dirty="0">
                <a:latin typeface="fkGroteskNeue"/>
              </a:rPr>
              <a:t>Period: </a:t>
            </a:r>
            <a:r>
              <a:rPr lang="en-US" dirty="0">
                <a:latin typeface="fkGroteskNeue"/>
              </a:rPr>
              <a:t>T = 2</a:t>
            </a:r>
            <a:r>
              <a:rPr lang="el-GR" dirty="0">
                <a:latin typeface="fkGroteskNeue"/>
              </a:rPr>
              <a:t>Δ</a:t>
            </a:r>
            <a:r>
              <a:rPr lang="en-US" dirty="0">
                <a:latin typeface="fkGroteskNeue"/>
              </a:rPr>
              <a:t>T (twice the delay time)</a:t>
            </a:r>
          </a:p>
          <a:p>
            <a:pPr algn="l"/>
            <a:endParaRPr lang="en-US" dirty="0"/>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r="52168"/>
          <a:stretch/>
        </p:blipFill>
        <p:spPr>
          <a:xfrm>
            <a:off x="8999907" y="1632967"/>
            <a:ext cx="2988893" cy="1568531"/>
          </a:xfrm>
          <a:prstGeom prst="rect">
            <a:avLst/>
          </a:prstGeom>
        </p:spPr>
      </p:pic>
      <p:pic>
        <p:nvPicPr>
          <p:cNvPr id="9" name="Picture 8"/>
          <p:cNvPicPr>
            <a:picLocks noChangeAspect="1"/>
          </p:cNvPicPr>
          <p:nvPr/>
        </p:nvPicPr>
        <p:blipFill rotWithShape="1">
          <a:blip r:embed="rId2"/>
          <a:srcRect l="48645"/>
          <a:stretch/>
        </p:blipFill>
        <p:spPr>
          <a:xfrm>
            <a:off x="8982972" y="3296667"/>
            <a:ext cx="3209028" cy="1568531"/>
          </a:xfrm>
          <a:prstGeom prst="rect">
            <a:avLst/>
          </a:prstGeom>
        </p:spPr>
      </p:pic>
      <p:sp>
        <p:nvSpPr>
          <p:cNvPr id="10" name="Rectangle 9"/>
          <p:cNvSpPr/>
          <p:nvPr/>
        </p:nvSpPr>
        <p:spPr>
          <a:xfrm>
            <a:off x="8766929" y="4826056"/>
            <a:ext cx="3425072" cy="738664"/>
          </a:xfrm>
          <a:prstGeom prst="rect">
            <a:avLst/>
          </a:prstGeom>
        </p:spPr>
        <p:txBody>
          <a:bodyPr wrap="square">
            <a:spAutoFit/>
          </a:bodyPr>
          <a:lstStyle/>
          <a:p>
            <a:pPr algn="just"/>
            <a:r>
              <a:rPr lang="en-US" sz="1050" b="1" i="0" u="none" strike="noStrike" baseline="0" dirty="0" smtClean="0">
                <a:solidFill>
                  <a:srgbClr val="231F20"/>
                </a:solidFill>
                <a:latin typeface="T3Font_127"/>
              </a:rPr>
              <a:t>Figure 1.7 </a:t>
            </a:r>
            <a:r>
              <a:rPr lang="en-US" sz="1050" b="1" i="0" u="none" strike="noStrike" baseline="0" dirty="0" smtClean="0">
                <a:solidFill>
                  <a:srgbClr val="231F20"/>
                </a:solidFill>
                <a:latin typeface="T3Font_128"/>
              </a:rPr>
              <a:t>(a) CS stage with a feedback delay line, (b) open-loop system, (c) computation of impedance at one node,</a:t>
            </a:r>
            <a:r>
              <a:rPr lang="en-US" sz="1050" b="1" i="0" u="none" strike="noStrike" dirty="0" smtClean="0">
                <a:solidFill>
                  <a:srgbClr val="231F20"/>
                </a:solidFill>
                <a:latin typeface="T3Font_128"/>
              </a:rPr>
              <a:t> </a:t>
            </a:r>
            <a:r>
              <a:rPr lang="en-US" sz="1050" b="1" i="0" u="none" strike="noStrike" baseline="0" dirty="0" smtClean="0">
                <a:solidFill>
                  <a:srgbClr val="231F20"/>
                </a:solidFill>
                <a:latin typeface="T3Font_128"/>
              </a:rPr>
              <a:t>and (d) illustration of infinite impedance at </a:t>
            </a:r>
            <a:r>
              <a:rPr lang="en-US" sz="1050" b="1" i="0" u="none" strike="noStrike" baseline="0" dirty="0" smtClean="0">
                <a:solidFill>
                  <a:srgbClr val="231F20"/>
                </a:solidFill>
                <a:latin typeface="T3Font_129"/>
              </a:rPr>
              <a:t>ω</a:t>
            </a:r>
            <a:r>
              <a:rPr lang="en-US" sz="900" b="1" i="0" u="none" strike="noStrike" baseline="0" dirty="0" smtClean="0">
                <a:solidFill>
                  <a:srgbClr val="231F20"/>
                </a:solidFill>
                <a:latin typeface="T3Font_130"/>
              </a:rPr>
              <a:t>0</a:t>
            </a:r>
            <a:r>
              <a:rPr lang="en-US" sz="1050" b="1" i="0" u="none" strike="noStrike" baseline="0" dirty="0" smtClean="0">
                <a:solidFill>
                  <a:srgbClr val="231F20"/>
                </a:solidFill>
                <a:latin typeface="T3Font_128"/>
              </a:rPr>
              <a:t>.</a:t>
            </a:r>
            <a:endParaRPr lang="en-US" sz="2800" b="1" dirty="0"/>
          </a:p>
        </p:txBody>
      </p:sp>
      <mc:AlternateContent xmlns:mc="http://schemas.openxmlformats.org/markup-compatibility/2006">
        <mc:Choice xmlns:a14="http://schemas.microsoft.com/office/drawing/2010/main" Requires="a14">
          <p:sp>
            <p:nvSpPr>
              <p:cNvPr id="4" name="Rectangle 3"/>
              <p:cNvSpPr/>
              <p:nvPr/>
            </p:nvSpPr>
            <p:spPr>
              <a:xfrm>
                <a:off x="458804" y="5537937"/>
                <a:ext cx="11399520" cy="972061"/>
              </a:xfrm>
              <a:prstGeom prst="rect">
                <a:avLst/>
              </a:prstGeom>
            </p:spPr>
            <p:txBody>
              <a:bodyPr wrap="square">
                <a:spAutoFit/>
              </a:bodyPr>
              <a:lstStyle/>
              <a:p>
                <a:pPr algn="ctr">
                  <a:spcAft>
                    <a:spcPts val="1050"/>
                  </a:spcAft>
                </a:pPr>
                <a:r>
                  <a:rPr lang="en-US" sz="1600" b="1" dirty="0">
                    <a:solidFill>
                      <a:srgbClr val="000000"/>
                    </a:solidFill>
                    <a:latin typeface="inter"/>
                    <a:ea typeface="inter"/>
                    <a:cs typeface="inter"/>
                  </a:rPr>
                  <a:t>Designer Insight:</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lgn="ctr">
                  <a:spcAft>
                    <a:spcPts val="1050"/>
                  </a:spcAft>
                </a:pPr>
                <a:r>
                  <a:rPr lang="en-US" sz="1600" dirty="0">
                    <a:solidFill>
                      <a:srgbClr val="000000"/>
                    </a:solidFill>
                    <a:effectLst/>
                    <a:latin typeface="inter"/>
                    <a:ea typeface="inter"/>
                    <a:cs typeface="inter"/>
                  </a:rPr>
                  <a:t>The delay </a:t>
                </a:r>
                <a14:m>
                  <m:oMath xmlns:m="http://schemas.openxmlformats.org/officeDocument/2006/math">
                    <m:r>
                      <m:rPr>
                        <m:sty m:val="p"/>
                      </m:rP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Δ</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𝑇</m:t>
                    </m:r>
                  </m:oMath>
                </a14:m>
                <a:r>
                  <a:rPr lang="en-US" sz="1600" dirty="0">
                    <a:solidFill>
                      <a:srgbClr val="000000"/>
                    </a:solidFill>
                    <a:effectLst/>
                    <a:latin typeface="inter"/>
                    <a:ea typeface="inter"/>
                    <a:cs typeface="inter"/>
                  </a:rPr>
                  <a:t> is the primary frequency-determining element. By controlling delay (through RC time constants or explicit delay-line length), the designer directly sets the oscillation frequency.</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4" name="Rectangle 3"/>
              <p:cNvSpPr>
                <a:spLocks noRot="1" noChangeAspect="1" noMove="1" noResize="1" noEditPoints="1" noAdjustHandles="1" noChangeArrowheads="1" noChangeShapeType="1" noTextEdit="1"/>
              </p:cNvSpPr>
              <p:nvPr/>
            </p:nvSpPr>
            <p:spPr>
              <a:xfrm>
                <a:off x="458804" y="5537937"/>
                <a:ext cx="11399520" cy="972061"/>
              </a:xfrm>
              <a:prstGeom prst="rect">
                <a:avLst/>
              </a:prstGeom>
              <a:blipFill>
                <a:blip r:embed="rId3"/>
                <a:stretch>
                  <a:fillRect t="-1875" b="-6875"/>
                </a:stretch>
              </a:blipFill>
            </p:spPr>
            <p:txBody>
              <a:bodyPr/>
              <a:lstStyle/>
              <a:p>
                <a:r>
                  <a:rPr lang="en-US">
                    <a:noFill/>
                  </a:rPr>
                  <a:t> </a:t>
                </a:r>
              </a:p>
            </p:txBody>
          </p:sp>
        </mc:Fallback>
      </mc:AlternateContent>
    </p:spTree>
    <p:extLst>
      <p:ext uri="{BB962C8B-B14F-4D97-AF65-F5344CB8AC3E}">
        <p14:creationId xmlns:p14="http://schemas.microsoft.com/office/powerpoint/2010/main" val="75586666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Circuit </a:t>
            </a:r>
            <a:r>
              <a:rPr lang="en-US" dirty="0" smtClean="0"/>
              <a:t>Configuration</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1" y="1086722"/>
                <a:ext cx="5007610" cy="5148076"/>
              </a:xfrm>
            </p:spPr>
            <p:txBody>
              <a:bodyPr/>
              <a:lstStyle/>
              <a:p>
                <a:pPr marL="342900" marR="0" lvl="0" indent="-342900">
                  <a:buFont typeface="Symbol" panose="05050102010706020507" pitchFamily="18" charset="2"/>
                  <a:buChar char=""/>
                  <a:tabLst>
                    <a:tab pos="571500" algn="l"/>
                  </a:tabLst>
                </a:pPr>
                <a:r>
                  <a:rPr lang="en-US" b="1" dirty="0" smtClean="0">
                    <a:solidFill>
                      <a:srgbClr val="000000"/>
                    </a:solidFill>
                    <a:latin typeface="inter"/>
                    <a:ea typeface="inter"/>
                    <a:cs typeface="inter"/>
                  </a:rPr>
                  <a:t>Forward </a:t>
                </a:r>
                <a:r>
                  <a:rPr lang="en-US" b="1" dirty="0">
                    <a:solidFill>
                      <a:srgbClr val="000000"/>
                    </a:solidFill>
                    <a:latin typeface="inter"/>
                    <a:ea typeface="inter"/>
                    <a:cs typeface="inter"/>
                  </a:rPr>
                  <a:t>Stage:</a:t>
                </a:r>
                <a:r>
                  <a:rPr lang="en-US" dirty="0">
                    <a:solidFill>
                      <a:srgbClr val="000000"/>
                    </a:solidFill>
                    <a:latin typeface="inter"/>
                    <a:ea typeface="inter"/>
                    <a:cs typeface="inter"/>
                  </a:rPr>
                  <a:t> Common-source amplifier with load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dirty="0">
                    <a:solidFill>
                      <a:srgbClr val="000000"/>
                    </a:solidFill>
                    <a:latin typeface="inter"/>
                    <a:ea typeface="inter"/>
                    <a:cs typeface="inter"/>
                  </a:rPr>
                  <a:t> and capacitance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oMath>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b="1" dirty="0">
                    <a:solidFill>
                      <a:srgbClr val="000000"/>
                    </a:solidFill>
                    <a:latin typeface="inter"/>
                    <a:ea typeface="inter"/>
                    <a:cs typeface="inter"/>
                  </a:rPr>
                  <a:t>Delay Element:</a:t>
                </a:r>
                <a:r>
                  <a:rPr lang="en-US" dirty="0">
                    <a:solidFill>
                      <a:srgbClr val="000000"/>
                    </a:solidFill>
                    <a:latin typeface="inter"/>
                    <a:ea typeface="inter"/>
                    <a:cs typeface="inter"/>
                  </a:rPr>
                  <a:t> Introduces time delay </a:t>
                </a:r>
                <a14:m>
                  <m:oMath xmlns:m="http://schemas.openxmlformats.org/officeDocument/2006/math">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oMath>
                </a14:m>
                <a:r>
                  <a:rPr lang="en-US" dirty="0">
                    <a:solidFill>
                      <a:srgbClr val="000000"/>
                    </a:solidFill>
                    <a:latin typeface="inter"/>
                    <a:ea typeface="inter"/>
                    <a:cs typeface="inter"/>
                  </a:rPr>
                  <a:t> (models a transmission line, RC ladder, or explicitly inserted delay)</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b="1" dirty="0">
                    <a:solidFill>
                      <a:srgbClr val="000000"/>
                    </a:solidFill>
                    <a:latin typeface="inter"/>
                    <a:ea typeface="inter"/>
                    <a:cs typeface="inter"/>
                  </a:rPr>
                  <a:t>Feedback:</a:t>
                </a:r>
                <a:r>
                  <a:rPr lang="en-US" dirty="0">
                    <a:solidFill>
                      <a:srgbClr val="000000"/>
                    </a:solidFill>
                    <a:latin typeface="inter"/>
                    <a:ea typeface="inter"/>
                    <a:cs typeface="inter"/>
                  </a:rPr>
                  <a:t> The delayed output feeds back to the input</a:t>
                </a:r>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sz="2800" b="1" dirty="0">
                    <a:solidFill>
                      <a:srgbClr val="000000"/>
                    </a:solidFill>
                    <a:effectLst/>
                    <a:latin typeface="inter"/>
                    <a:ea typeface="inter"/>
                    <a:cs typeface="inter"/>
                  </a:rPr>
                  <a:t>Transfer Function with Delay</a:t>
                </a:r>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dirty="0">
                    <a:solidFill>
                      <a:srgbClr val="000000"/>
                    </a:solidFill>
                    <a:latin typeface="inter"/>
                    <a:ea typeface="inter"/>
                    <a:cs typeface="inter"/>
                  </a:rPr>
                  <a:t>For an ideal delay line:</a:t>
                </a:r>
                <a:endParaRPr lang="en-US"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𝑑𝑒𝑙𝑎𝑦</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p>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dirty="0">
                    <a:solidFill>
                      <a:srgbClr val="000000"/>
                    </a:solidFill>
                    <a:latin typeface="inter"/>
                    <a:ea typeface="inter"/>
                    <a:cs typeface="inter"/>
                  </a:rPr>
                  <a:t>The combined forward-path and delay transfer function:</a:t>
                </a:r>
                <a:endParaRPr lang="en-US"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p>
                        </m:num>
                        <m:den>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dirty="0">
                    <a:solidFill>
                      <a:srgbClr val="000000"/>
                    </a:solidFill>
                    <a:latin typeface="inter"/>
                    <a:ea typeface="inter"/>
                    <a:cs typeface="inter"/>
                  </a:rPr>
                  <a:t>(Negative sign from the common-source inversion)</a:t>
                </a:r>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1" y="1086722"/>
                <a:ext cx="5007610" cy="5148076"/>
              </a:xfrm>
              <a:blipFill>
                <a:blip r:embed="rId2"/>
                <a:stretch>
                  <a:fillRect l="-4385" t="-1657" r="-1462" b="-2130"/>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35359" y="6584799"/>
            <a:ext cx="1408204" cy="201011"/>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160274" y="6564786"/>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mc:Choice xmlns:a14="http://schemas.microsoft.com/office/drawing/2010/main" Requires="a14">
          <p:sp>
            <p:nvSpPr>
              <p:cNvPr id="7" name="Rectangle 6"/>
              <p:cNvSpPr/>
              <p:nvPr/>
            </p:nvSpPr>
            <p:spPr>
              <a:xfrm>
                <a:off x="6266046" y="1105015"/>
                <a:ext cx="5925954" cy="5752985"/>
              </a:xfrm>
              <a:prstGeom prst="rect">
                <a:avLst/>
              </a:prstGeom>
            </p:spPr>
            <p:txBody>
              <a:bodyPr wrap="square">
                <a:spAutoFit/>
              </a:bodyPr>
              <a:lstStyle/>
              <a:p>
                <a:pPr algn="ctr"/>
                <a:r>
                  <a:rPr lang="en-US" sz="2400" b="1" dirty="0" err="1">
                    <a:solidFill>
                      <a:srgbClr val="000000"/>
                    </a:solidFill>
                    <a:latin typeface="inter"/>
                    <a:ea typeface="inter"/>
                    <a:cs typeface="inter"/>
                  </a:rPr>
                  <a:t>Barkhausen</a:t>
                </a:r>
                <a:r>
                  <a:rPr lang="en-US" sz="2400" b="1" dirty="0">
                    <a:solidFill>
                      <a:srgbClr val="000000"/>
                    </a:solidFill>
                    <a:latin typeface="inter"/>
                    <a:ea typeface="inter"/>
                    <a:cs typeface="inter"/>
                  </a:rPr>
                  <a:t> Magnitude Condition</a:t>
                </a:r>
                <a:endParaRPr lang="en-US" dirty="0">
                  <a:effectLst/>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f>
                            <m:f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𝑒</m:t>
                                  </m:r>
                                </m:e>
                                <m:sup>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Δ</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𝑇</m:t>
                                  </m:r>
                                </m:sup>
                              </m:sSup>
                            </m:num>
                            <m:den>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sub>
                              </m:sSub>
                            </m:den>
                          </m:f>
                        </m:e>
                      </m:d>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oMath>
                  </m:oMathPara>
                </a14:m>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f>
                        <m:f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num>
                        <m:den>
                          <m:rad>
                            <m:radPr>
                              <m:degHide m:val="on"/>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radPr>
                            <m:deg/>
                            <m:e>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sub>
                              </m:sSub>
                              <m:sSup>
                                <m:sSup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e>
                                <m: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p>
                            </m:e>
                          </m:rad>
                        </m:den>
                      </m:f>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 </m:t>
                      </m:r>
                      <m:r>
                        <m:rPr>
                          <m:nor/>
                        </m:rPr>
                        <a:rPr lang="en-US" sz="1600">
                          <a:solidFill>
                            <a:srgbClr val="000000"/>
                          </a:solidFill>
                          <a:effectLst/>
                          <a:latin typeface="Georgia" panose="02040502050405020303" pitchFamily="18" charset="0"/>
                          <a:ea typeface="Calibri" panose="020F0502020204030204" pitchFamily="34" charset="0"/>
                          <a:cs typeface="Times New Roman" panose="02020603050405020304" pitchFamily="18" charset="0"/>
                        </a:rPr>
                        <m:t>...(1.19)</m:t>
                      </m:r>
                    </m:oMath>
                  </m:oMathPara>
                </a14:m>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radPr>
                        <m:deg/>
                        <m:e>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sub>
                          </m:sSub>
                          <m:sSup>
                            <m:sSup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e>
                            <m: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p>
                        </m:e>
                      </m:rad>
                    </m:oMath>
                  </m:oMathPara>
                </a14:m>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r>
                  <a:rPr lang="en-US" sz="1600" b="1" dirty="0">
                    <a:solidFill>
                      <a:srgbClr val="000000"/>
                    </a:solidFill>
                    <a:effectLst/>
                    <a:latin typeface="inter"/>
                    <a:ea typeface="inter"/>
                    <a:cs typeface="inter"/>
                  </a:rPr>
                  <a:t>Implication:</a:t>
                </a:r>
                <a:r>
                  <a:rPr lang="en-US" sz="1600" dirty="0">
                    <a:solidFill>
                      <a:srgbClr val="000000"/>
                    </a:solidFill>
                    <a:effectLst/>
                    <a:latin typeface="inter"/>
                    <a:ea typeface="inter"/>
                    <a:cs typeface="inter"/>
                  </a:rPr>
                  <a:t> The </a:t>
                </a:r>
                <a:r>
                  <a:rPr lang="en-US" sz="1600" dirty="0" err="1">
                    <a:solidFill>
                      <a:srgbClr val="000000"/>
                    </a:solidFill>
                    <a:effectLst/>
                    <a:latin typeface="inter"/>
                    <a:ea typeface="inter"/>
                    <a:cs typeface="inter"/>
                  </a:rPr>
                  <a:t>transconductance</a:t>
                </a:r>
                <a:r>
                  <a:rPr lang="en-US" sz="1600" dirty="0">
                    <a:solidFill>
                      <a:srgbClr val="000000"/>
                    </a:solidFill>
                    <a:effectLst/>
                    <a:latin typeface="inter"/>
                    <a:ea typeface="inter"/>
                    <a:cs typeface="inter"/>
                  </a:rPr>
                  <a:t>-load product must exceed unity, and the excess is determined by the capacitive load phase shift.</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lgn="ctr"/>
                <a:r>
                  <a:rPr lang="en-US" sz="2400" b="1" dirty="0" err="1">
                    <a:solidFill>
                      <a:srgbClr val="000000"/>
                    </a:solidFill>
                    <a:effectLst/>
                    <a:latin typeface="inter"/>
                    <a:ea typeface="inter"/>
                    <a:cs typeface="inter"/>
                  </a:rPr>
                  <a:t>Barkhausen</a:t>
                </a:r>
                <a:r>
                  <a:rPr lang="en-US" sz="2400" b="1" dirty="0">
                    <a:solidFill>
                      <a:srgbClr val="000000"/>
                    </a:solidFill>
                    <a:effectLst/>
                    <a:latin typeface="inter"/>
                    <a:ea typeface="inter"/>
                    <a:cs typeface="inter"/>
                  </a:rPr>
                  <a:t> Phase Condition</a:t>
                </a:r>
                <a:endParaRPr lang="en-US" dirty="0">
                  <a:effectLst/>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𝐻</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)=180°</m:t>
                      </m:r>
                    </m:oMath>
                  </m:oMathPara>
                </a14:m>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180°</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Δ</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𝑇</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arctan</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)=180°</m:t>
                      </m:r>
                    </m:oMath>
                  </m:oMathPara>
                </a14:m>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effectLst/>
                    <a:latin typeface="inter"/>
                    <a:ea typeface="inter"/>
                    <a:cs typeface="inter"/>
                  </a:rPr>
                  <a:t>(–180° from the negative sign, –</a:t>
                </a:r>
                <a14:m>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Δ</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𝑇</m:t>
                    </m:r>
                  </m:oMath>
                </a14:m>
                <a:r>
                  <a:rPr lang="en-US" sz="1600" dirty="0">
                    <a:solidFill>
                      <a:srgbClr val="000000"/>
                    </a:solidFill>
                    <a:effectLst/>
                    <a:latin typeface="inter"/>
                    <a:ea typeface="inter"/>
                    <a:cs typeface="inter"/>
                  </a:rPr>
                  <a:t> from the delay, –</a:t>
                </a:r>
                <a:r>
                  <a:rPr lang="en-US" sz="1600" dirty="0" err="1">
                    <a:solidFill>
                      <a:srgbClr val="000000"/>
                    </a:solidFill>
                    <a:effectLst/>
                    <a:latin typeface="inter"/>
                    <a:ea typeface="inter"/>
                    <a:cs typeface="inter"/>
                  </a:rPr>
                  <a:t>arctan</a:t>
                </a:r>
                <a:r>
                  <a:rPr lang="en-US" sz="1600" dirty="0">
                    <a:solidFill>
                      <a:srgbClr val="000000"/>
                    </a:solidFill>
                    <a:effectLst/>
                    <a:latin typeface="inter"/>
                    <a:ea typeface="inter"/>
                    <a:cs typeface="inter"/>
                  </a:rPr>
                  <a:t> from capacitive load)</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Δ</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𝑇</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arctan</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 (</m:t>
                      </m:r>
                      <m:r>
                        <m:rPr>
                          <m:sty m:val="p"/>
                        </m:rP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mod</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360°)</m:t>
                      </m:r>
                    </m:oMath>
                  </m:oMathPara>
                </a14:m>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effectLst/>
                    <a:latin typeface="inter"/>
                    <a:ea typeface="inter"/>
                    <a:cs typeface="inter"/>
                  </a:rPr>
                  <a:t>For typical designs, the capacitive load phase shift is small compared to the delay:</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Δ</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𝑇</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𝜋</m:t>
                      </m:r>
                    </m:oMath>
                  </m:oMathPara>
                </a14:m>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sz="3200" i="1">
                              <a:solidFill>
                                <a:srgbClr val="000000"/>
                              </a:solidFill>
                              <a:effectLst/>
                              <a:latin typeface="Cambria Math" panose="020405030504060302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𝑓</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3200" i="1">
                              <a:solidFill>
                                <a:srgbClr val="000000"/>
                              </a:solidFill>
                              <a:effectLst/>
                              <a:latin typeface="Cambria Math" panose="02040503050406030204" pitchFamily="18" charset="0"/>
                            </a:rPr>
                          </m:ctrlPr>
                        </m:fPr>
                        <m:num>
                          <m:sSub>
                            <m:sSubPr>
                              <m:ctrlPr>
                                <a:rPr lang="en-US" sz="3200" i="1">
                                  <a:solidFill>
                                    <a:srgbClr val="000000"/>
                                  </a:solidFill>
                                  <a:effectLst/>
                                  <a:latin typeface="Cambria Math" panose="020405030504060302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Sub>
                        </m:num>
                        <m:den>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𝜋</m:t>
                          </m:r>
                        </m:den>
                      </m:f>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3200" i="1">
                              <a:solidFill>
                                <a:srgbClr val="000000"/>
                              </a:solidFill>
                              <a:effectLst/>
                              <a:latin typeface="Cambria Math" panose="02040503050406030204" pitchFamily="18" charset="0"/>
                            </a:rPr>
                          </m:ctrlPr>
                        </m:fPr>
                        <m:num>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r>
                            <m:rPr>
                              <m:sty m:val="p"/>
                            </m:rP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Δ</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𝑇</m:t>
                          </m:r>
                        </m:den>
                      </m:f>
                    </m:oMath>
                  </m:oMathPara>
                </a14:m>
                <a:endParaRPr lang="en-US" sz="2000" dirty="0"/>
              </a:p>
            </p:txBody>
          </p:sp>
        </mc:Choice>
        <mc:Fallback>
          <p:sp>
            <p:nvSpPr>
              <p:cNvPr id="7" name="Rectangle 6"/>
              <p:cNvSpPr>
                <a:spLocks noRot="1" noChangeAspect="1" noMove="1" noResize="1" noEditPoints="1" noAdjustHandles="1" noChangeArrowheads="1" noChangeShapeType="1" noTextEdit="1"/>
              </p:cNvSpPr>
              <p:nvPr/>
            </p:nvSpPr>
            <p:spPr>
              <a:xfrm>
                <a:off x="6266046" y="1105015"/>
                <a:ext cx="5925954" cy="5752985"/>
              </a:xfrm>
              <a:prstGeom prst="rect">
                <a:avLst/>
              </a:prstGeom>
              <a:blipFill>
                <a:blip r:embed="rId3"/>
                <a:stretch>
                  <a:fillRect l="-617" t="-847"/>
                </a:stretch>
              </a:blipFill>
            </p:spPr>
            <p:txBody>
              <a:bodyPr/>
              <a:lstStyle/>
              <a:p>
                <a:r>
                  <a:rPr lang="en-US">
                    <a:noFill/>
                  </a:rPr>
                  <a:t> </a:t>
                </a:r>
              </a:p>
            </p:txBody>
          </p:sp>
        </mc:Fallback>
      </mc:AlternateContent>
    </p:spTree>
    <p:extLst>
      <p:ext uri="{BB962C8B-B14F-4D97-AF65-F5344CB8AC3E}">
        <p14:creationId xmlns:p14="http://schemas.microsoft.com/office/powerpoint/2010/main" val="6088644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1046440"/>
          </a:xfrm>
        </p:spPr>
        <p:txBody>
          <a:bodyPr/>
          <a:lstStyle/>
          <a:p>
            <a:r>
              <a:rPr lang="en-US" dirty="0"/>
              <a:t>Output Impedance Calculation</a:t>
            </a:r>
            <a:br>
              <a:rPr lang="en-US" dirty="0"/>
            </a:b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34925" y="1202224"/>
                <a:ext cx="5730875" cy="5487528"/>
              </a:xfrm>
            </p:spPr>
            <p:txBody>
              <a:bodyPr/>
              <a:lstStyle/>
              <a:p>
                <a:pPr>
                  <a:spcAft>
                    <a:spcPts val="1050"/>
                  </a:spcAft>
                </a:pPr>
                <a:r>
                  <a:rPr lang="en-US" sz="1800" dirty="0" smtClean="0">
                    <a:solidFill>
                      <a:srgbClr val="000000"/>
                    </a:solidFill>
                    <a:latin typeface="inter"/>
                    <a:ea typeface="inter"/>
                    <a:cs typeface="inter"/>
                  </a:rPr>
                  <a:t>From </a:t>
                </a:r>
                <a:r>
                  <a:rPr lang="en-US" sz="1800" dirty="0">
                    <a:solidFill>
                      <a:srgbClr val="000000"/>
                    </a:solidFill>
                    <a:latin typeface="inter"/>
                    <a:ea typeface="inter"/>
                    <a:cs typeface="inter"/>
                  </a:rPr>
                  <a:t>the circuit (with loop open), the output impedance looking into the drain of the first transistor is:</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m:rPr>
                                  <m:sty m:val="p"/>
                                </m:rP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p>
                        </m:den>
                      </m:f>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800" b="1" dirty="0">
                    <a:solidFill>
                      <a:srgbClr val="000000"/>
                    </a:solidFill>
                    <a:latin typeface="inter"/>
                    <a:ea typeface="inter"/>
                    <a:cs typeface="inter"/>
                  </a:rPr>
                  <a:t>At low frequency (</a:t>
                </a:r>
                <a14:m>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r>
                  <a:rPr lang="en-US" sz="1800" b="1" dirty="0">
                    <a:solidFill>
                      <a:srgbClr val="000000"/>
                    </a:solidFill>
                    <a:latin typeface="inter"/>
                    <a:ea typeface="inter"/>
                    <a:cs typeface="inter"/>
                  </a:rPr>
                  <a:t>):</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800" dirty="0">
                    <a:solidFill>
                      <a:srgbClr val="000000"/>
                    </a:solidFill>
                    <a:latin typeface="inter"/>
                    <a:ea typeface="inter"/>
                    <a:cs typeface="inter"/>
                  </a:rPr>
                  <a:t>(For large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sz="1800" dirty="0">
                    <a:solidFill>
                      <a:srgbClr val="000000"/>
                    </a:solidFill>
                    <a:latin typeface="inter"/>
                    <a:ea typeface="inter"/>
                    <a:cs typeface="inter"/>
                  </a:rPr>
                  <a:t>)</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800" b="1" dirty="0">
                    <a:solidFill>
                      <a:srgbClr val="000000"/>
                    </a:solidFill>
                    <a:latin typeface="inter"/>
                    <a:ea typeface="inter"/>
                    <a:cs typeface="inter"/>
                  </a:rPr>
                  <a:t>At the oscillation frequency (</a:t>
                </a:r>
                <a14:m>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1800" b="1" dirty="0">
                    <a:solidFill>
                      <a:srgbClr val="000000"/>
                    </a:solidFill>
                    <a:latin typeface="inter"/>
                    <a:ea typeface="inter"/>
                    <a:cs typeface="inter"/>
                  </a:rPr>
                  <a:t> with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sup>
                    </m:s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sz="1800" b="1" dirty="0">
                    <a:solidFill>
                      <a:srgbClr val="000000"/>
                    </a:solidFill>
                    <a:latin typeface="inter"/>
                    <a:ea typeface="inter"/>
                    <a:cs typeface="inter"/>
                  </a:rPr>
                  <a:t>):</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800" dirty="0">
                    <a:solidFill>
                      <a:srgbClr val="000000"/>
                    </a:solidFill>
                    <a:latin typeface="inter"/>
                    <a:ea typeface="inter"/>
                    <a:cs typeface="inter"/>
                  </a:rPr>
                  <a:t>When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a14:m>
                <a:r>
                  <a:rPr lang="en-US" sz="1800" dirty="0">
                    <a:solidFill>
                      <a:srgbClr val="000000"/>
                    </a:solidFill>
                    <a:latin typeface="inter"/>
                    <a:ea typeface="inter"/>
                    <a:cs typeface="inter"/>
                  </a:rPr>
                  <a:t>:</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endParaRPr lang="en-US" sz="18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34925" y="1202224"/>
                <a:ext cx="5730875" cy="5487528"/>
              </a:xfrm>
              <a:blipFill>
                <a:blip r:embed="rId2"/>
                <a:stretch>
                  <a:fillRect l="-2553" t="-1444" r="-1064"/>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3"/>
          <a:srcRect t="8725"/>
          <a:stretch/>
        </p:blipFill>
        <p:spPr>
          <a:xfrm>
            <a:off x="7748337" y="606392"/>
            <a:ext cx="4443663" cy="2540759"/>
          </a:xfrm>
          <a:prstGeom prst="rect">
            <a:avLst/>
          </a:prstGeom>
        </p:spPr>
      </p:pic>
      <mc:AlternateContent xmlns:mc="http://schemas.openxmlformats.org/markup-compatibility/2006">
        <mc:Choice xmlns:a14="http://schemas.microsoft.com/office/drawing/2010/main" Requires="a14">
          <p:sp>
            <p:nvSpPr>
              <p:cNvPr id="8" name="Rectangle 7"/>
              <p:cNvSpPr/>
              <p:nvPr/>
            </p:nvSpPr>
            <p:spPr>
              <a:xfrm>
                <a:off x="6176210" y="3409670"/>
                <a:ext cx="6096000" cy="2641749"/>
              </a:xfrm>
              <a:prstGeom prst="rect">
                <a:avLst/>
              </a:prstGeom>
            </p:spPr>
            <p:txBody>
              <a:bodyPr>
                <a:spAutoFit/>
              </a:bodyPr>
              <a:lstStyle/>
              <a:p>
                <a:pPr lvl="0" algn="ctr">
                  <a:spcAft>
                    <a:spcPts val="1050"/>
                  </a:spcAft>
                </a:pPr>
                <a:r>
                  <a:rPr lang="en-US" b="1" kern="0" dirty="0">
                    <a:solidFill>
                      <a:srgbClr val="000000"/>
                    </a:solidFill>
                    <a:latin typeface="inter"/>
                    <a:ea typeface="inter"/>
                    <a:cs typeface="inter"/>
                  </a:rPr>
                  <a:t>Design Verification Method:</a:t>
                </a:r>
                <a:endParaRPr lang="en-US"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spcAft>
                    <a:spcPts val="525"/>
                  </a:spcAft>
                  <a:buFont typeface="+mj-lt"/>
                  <a:buAutoNum type="arabicPeriod"/>
                  <a:tabLst>
                    <a:tab pos="571500" algn="l"/>
                  </a:tabLst>
                </a:pPr>
                <a:r>
                  <a:rPr lang="en-US" kern="0" dirty="0">
                    <a:solidFill>
                      <a:srgbClr val="000000"/>
                    </a:solidFill>
                    <a:latin typeface="inter"/>
                    <a:ea typeface="inter"/>
                    <a:cs typeface="inter"/>
                  </a:rPr>
                  <a:t>Measure impedance vs. frequency on the open loop</a:t>
                </a:r>
                <a:endParaRPr lang="en-US"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spcAft>
                    <a:spcPts val="525"/>
                  </a:spcAft>
                  <a:buFont typeface="+mj-lt"/>
                  <a:buAutoNum type="arabicPeriod"/>
                  <a:tabLst>
                    <a:tab pos="571500" algn="l"/>
                  </a:tabLst>
                </a:pPr>
                <a:r>
                  <a:rPr lang="en-US" kern="0" dirty="0">
                    <a:solidFill>
                      <a:srgbClr val="000000"/>
                    </a:solidFill>
                    <a:latin typeface="inter"/>
                    <a:ea typeface="inter"/>
                    <a:cs typeface="inter"/>
                  </a:rPr>
                  <a:t>Look for a sharp peak (pole on imaginary axis) at the designed oscillation frequency</a:t>
                </a:r>
                <a:endParaRPr lang="en-US"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spcAft>
                    <a:spcPts val="525"/>
                  </a:spcAft>
                  <a:buFont typeface="+mj-lt"/>
                  <a:buAutoNum type="arabicPeriod"/>
                  <a:tabLst>
                    <a:tab pos="571500" algn="l"/>
                  </a:tabLst>
                </a:pPr>
                <a:r>
                  <a:rPr lang="en-US" kern="0" dirty="0">
                    <a:solidFill>
                      <a:srgbClr val="000000"/>
                    </a:solidFill>
                    <a:latin typeface="inter"/>
                    <a:ea typeface="inter"/>
                    <a:cs typeface="inter"/>
                  </a:rPr>
                  <a:t>Confirm that </a:t>
                </a:r>
                <a14:m>
                  <m:oMath xmlns:m="http://schemas.openxmlformats.org/officeDocument/2006/math">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kern="0" dirty="0">
                    <a:solidFill>
                      <a:srgbClr val="000000"/>
                    </a:solidFill>
                    <a:latin typeface="inter"/>
                    <a:ea typeface="inter"/>
                    <a:cs typeface="inter"/>
                  </a:rPr>
                  <a:t> (or very large, in practice limited by </a:t>
                </a:r>
                <a:r>
                  <a:rPr lang="en-US" kern="0" dirty="0" err="1">
                    <a:solidFill>
                      <a:srgbClr val="000000"/>
                    </a:solidFill>
                    <a:latin typeface="inter"/>
                    <a:ea typeface="inter"/>
                    <a:cs typeface="inter"/>
                  </a:rPr>
                  <a:t>parasitics</a:t>
                </a:r>
                <a:r>
                  <a:rPr lang="en-US" kern="0" dirty="0">
                    <a:solidFill>
                      <a:srgbClr val="000000"/>
                    </a:solidFill>
                    <a:latin typeface="inter"/>
                    <a:ea typeface="inter"/>
                    <a:cs typeface="inter"/>
                  </a:rPr>
                  <a:t>)</a:t>
                </a:r>
                <a:endParaRPr lang="en-US"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spcAft>
                    <a:spcPts val="525"/>
                  </a:spcAft>
                  <a:buFont typeface="+mj-lt"/>
                  <a:buAutoNum type="arabicPeriod"/>
                  <a:tabLst>
                    <a:tab pos="571500" algn="l"/>
                  </a:tabLst>
                </a:pPr>
                <a:r>
                  <a:rPr lang="en-US" kern="0" dirty="0">
                    <a:solidFill>
                      <a:srgbClr val="000000"/>
                    </a:solidFill>
                    <a:latin typeface="inter"/>
                    <a:ea typeface="inter"/>
                    <a:cs typeface="inter"/>
                  </a:rPr>
                  <a:t>When the loop is closed, this impedance peak confirms reliable oscillation</a:t>
                </a:r>
                <a:endParaRPr lang="en-US"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8" name="Rectangle 7"/>
              <p:cNvSpPr>
                <a:spLocks noRot="1" noChangeAspect="1" noMove="1" noResize="1" noEditPoints="1" noAdjustHandles="1" noChangeArrowheads="1" noChangeShapeType="1" noTextEdit="1"/>
              </p:cNvSpPr>
              <p:nvPr/>
            </p:nvSpPr>
            <p:spPr>
              <a:xfrm>
                <a:off x="6176210" y="3409670"/>
                <a:ext cx="6096000" cy="2641749"/>
              </a:xfrm>
              <a:prstGeom prst="rect">
                <a:avLst/>
              </a:prstGeom>
              <a:blipFill>
                <a:blip r:embed="rId4"/>
                <a:stretch>
                  <a:fillRect l="-600" t="-1152" b="-2765"/>
                </a:stretch>
              </a:blipFill>
            </p:spPr>
            <p:txBody>
              <a:bodyPr/>
              <a:lstStyle/>
              <a:p>
                <a:r>
                  <a:rPr lang="en-US">
                    <a:noFill/>
                  </a:rPr>
                  <a:t> </a:t>
                </a:r>
              </a:p>
            </p:txBody>
          </p:sp>
        </mc:Fallback>
      </mc:AlternateContent>
    </p:spTree>
    <p:extLst>
      <p:ext uri="{BB962C8B-B14F-4D97-AF65-F5344CB8AC3E}">
        <p14:creationId xmlns:p14="http://schemas.microsoft.com/office/powerpoint/2010/main" val="10566730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Fundamental </a:t>
            </a:r>
            <a:r>
              <a:rPr lang="en-US" dirty="0" smtClean="0">
                <a:latin typeface="fkGrotesk"/>
              </a:rPr>
              <a:t>Insights</a:t>
            </a:r>
            <a:endParaRPr lang="en-US" dirty="0"/>
          </a:p>
        </p:txBody>
      </p:sp>
      <p:sp>
        <p:nvSpPr>
          <p:cNvPr id="3" name="Text Placeholder 2"/>
          <p:cNvSpPr>
            <a:spLocks noGrp="1"/>
          </p:cNvSpPr>
          <p:nvPr>
            <p:ph type="body" idx="1"/>
          </p:nvPr>
        </p:nvSpPr>
        <p:spPr>
          <a:xfrm>
            <a:off x="868404" y="1255792"/>
            <a:ext cx="11002893" cy="5016758"/>
          </a:xfrm>
        </p:spPr>
        <p:txBody>
          <a:bodyPr/>
          <a:lstStyle/>
          <a:p>
            <a:pPr algn="just"/>
            <a:r>
              <a:rPr lang="en-US" dirty="0" smtClean="0">
                <a:latin typeface="fkGrotesk"/>
              </a:rPr>
              <a:t>1</a:t>
            </a:r>
            <a:r>
              <a:rPr lang="en-US" dirty="0">
                <a:latin typeface="fkGrotesk"/>
              </a:rPr>
              <a:t>. </a:t>
            </a:r>
            <a:r>
              <a:rPr lang="en-US" b="1" dirty="0">
                <a:latin typeface="fkGrotesk"/>
              </a:rPr>
              <a:t>Energy Perspective (Connecting to Pendulum)</a:t>
            </a:r>
          </a:p>
          <a:p>
            <a:pPr marL="800100" lvl="1" indent="-342900" algn="just">
              <a:buFont typeface="Wingdings" panose="05000000000000000000" pitchFamily="2" charset="2"/>
              <a:buChar char="q"/>
            </a:pPr>
            <a:r>
              <a:rPr lang="en-US" b="1" dirty="0">
                <a:latin typeface="fkGroteskNeue"/>
              </a:rPr>
              <a:t>CS amplifier alone: </a:t>
            </a:r>
            <a:r>
              <a:rPr lang="en-US" dirty="0">
                <a:latin typeface="fkGroteskNeue"/>
              </a:rPr>
              <a:t>Can amplify but cannot store and release energy cyclically</a:t>
            </a:r>
          </a:p>
          <a:p>
            <a:pPr marL="800100" lvl="1" indent="-342900" algn="just">
              <a:buFont typeface="Wingdings" panose="05000000000000000000" pitchFamily="2" charset="2"/>
              <a:buChar char="q"/>
            </a:pPr>
            <a:r>
              <a:rPr lang="en-US" b="1" dirty="0">
                <a:latin typeface="fkGroteskNeue"/>
              </a:rPr>
              <a:t>With delay: </a:t>
            </a:r>
            <a:r>
              <a:rPr lang="en-US" dirty="0">
                <a:latin typeface="fkGroteskNeue"/>
              </a:rPr>
              <a:t>Creates energy storage mechanism (signals "travel" through delay, get amplified, travel back)</a:t>
            </a:r>
          </a:p>
          <a:p>
            <a:pPr marL="800100" lvl="1" indent="-342900" algn="just">
              <a:buFont typeface="Wingdings" panose="05000000000000000000" pitchFamily="2" charset="2"/>
              <a:buChar char="q"/>
            </a:pPr>
            <a:r>
              <a:rPr lang="en-US" b="1" dirty="0">
                <a:latin typeface="fkGroteskNeue"/>
              </a:rPr>
              <a:t>Like pendulum: </a:t>
            </a:r>
            <a:r>
              <a:rPr lang="en-US" dirty="0">
                <a:latin typeface="fkGroteskNeue"/>
              </a:rPr>
              <a:t>Delay provides the "swing time" while amplifier provides the "push"</a:t>
            </a:r>
          </a:p>
          <a:p>
            <a:pPr algn="just"/>
            <a:r>
              <a:rPr lang="en-US" dirty="0">
                <a:latin typeface="fkGrotesk"/>
              </a:rPr>
              <a:t>2. </a:t>
            </a:r>
            <a:r>
              <a:rPr lang="en-US" b="1" dirty="0">
                <a:latin typeface="fkGrotesk"/>
              </a:rPr>
              <a:t>Phase Shift Perspective</a:t>
            </a:r>
          </a:p>
          <a:p>
            <a:pPr marL="800100" lvl="1" indent="-342900" algn="just">
              <a:buFont typeface="Wingdings" panose="05000000000000000000" pitchFamily="2" charset="2"/>
              <a:buChar char="q"/>
            </a:pPr>
            <a:r>
              <a:rPr lang="en-US" b="1" dirty="0">
                <a:latin typeface="fkGroteskNeue"/>
              </a:rPr>
              <a:t>Single amplifier: </a:t>
            </a:r>
            <a:r>
              <a:rPr lang="en-US" dirty="0">
                <a:latin typeface="fkGroteskNeue"/>
              </a:rPr>
              <a:t>Limited phase shift (90° for CS stage)</a:t>
            </a:r>
          </a:p>
          <a:p>
            <a:pPr marL="800100" lvl="1" indent="-342900" algn="just">
              <a:buFont typeface="Wingdings" panose="05000000000000000000" pitchFamily="2" charset="2"/>
              <a:buChar char="q"/>
            </a:pPr>
            <a:r>
              <a:rPr lang="en-US" b="1" dirty="0">
                <a:latin typeface="fkGroteskNeue"/>
              </a:rPr>
              <a:t>Delay element: </a:t>
            </a:r>
            <a:r>
              <a:rPr lang="en-US" dirty="0">
                <a:latin typeface="fkGroteskNeue"/>
              </a:rPr>
              <a:t>Provides additional frequency-dependent phase shift</a:t>
            </a:r>
          </a:p>
          <a:p>
            <a:pPr marL="800100" lvl="1" indent="-342900" algn="just">
              <a:buFont typeface="Wingdings" panose="05000000000000000000" pitchFamily="2" charset="2"/>
              <a:buChar char="q"/>
            </a:pPr>
            <a:r>
              <a:rPr lang="en-US" b="1" dirty="0">
                <a:latin typeface="fkGroteskNeue"/>
              </a:rPr>
              <a:t>Total system: </a:t>
            </a:r>
            <a:r>
              <a:rPr lang="en-US" dirty="0">
                <a:latin typeface="fkGroteskNeue"/>
              </a:rPr>
              <a:t>Can achieve 180° at specific frequency for oscillation</a:t>
            </a:r>
          </a:p>
          <a:p>
            <a:pPr algn="just"/>
            <a:r>
              <a:rPr lang="en-US" dirty="0">
                <a:latin typeface="fkGrotesk"/>
              </a:rPr>
              <a:t>3. </a:t>
            </a:r>
            <a:r>
              <a:rPr lang="en-US" b="1" dirty="0">
                <a:latin typeface="fkGrotesk"/>
              </a:rPr>
              <a:t>Impedance Perspective</a:t>
            </a:r>
          </a:p>
          <a:p>
            <a:pPr marL="800100" lvl="1" indent="-342900" algn="just">
              <a:buFont typeface="Wingdings" panose="05000000000000000000" pitchFamily="2" charset="2"/>
              <a:buChar char="q"/>
            </a:pPr>
            <a:r>
              <a:rPr lang="en-US" b="1" dirty="0">
                <a:latin typeface="fkGroteskNeue"/>
              </a:rPr>
              <a:t>Oscillation occurs: </a:t>
            </a:r>
            <a:r>
              <a:rPr lang="en-US" dirty="0">
                <a:latin typeface="fkGroteskNeue"/>
              </a:rPr>
              <a:t>When circuit impedance becomes infinite (self-sustaining)</a:t>
            </a:r>
          </a:p>
          <a:p>
            <a:pPr marL="800100" lvl="1" indent="-342900" algn="just">
              <a:buFont typeface="Wingdings" panose="05000000000000000000" pitchFamily="2" charset="2"/>
              <a:buChar char="q"/>
            </a:pPr>
            <a:r>
              <a:rPr lang="en-US" b="1" dirty="0">
                <a:latin typeface="fkGroteskNeue"/>
              </a:rPr>
              <a:t>Physical meaning: </a:t>
            </a:r>
            <a:r>
              <a:rPr lang="en-US" dirty="0">
                <a:latin typeface="fkGroteskNeue"/>
              </a:rPr>
              <a:t>Circuit can maintain signals without external drive</a:t>
            </a:r>
          </a:p>
          <a:p>
            <a:pPr marL="800100" lvl="1" indent="-342900" algn="just">
              <a:buFont typeface="Wingdings" panose="05000000000000000000" pitchFamily="2" charset="2"/>
              <a:buChar char="q"/>
            </a:pPr>
            <a:r>
              <a:rPr lang="en-US" b="1" dirty="0">
                <a:latin typeface="fkGroteskNeue"/>
              </a:rPr>
              <a:t>Mathematical condition: </a:t>
            </a:r>
            <a:r>
              <a:rPr lang="en-US" dirty="0">
                <a:latin typeface="fkGroteskNeue"/>
              </a:rPr>
              <a:t>Denominator of impedance expression goes to zero</a:t>
            </a:r>
          </a:p>
          <a:p>
            <a:pPr algn="just"/>
            <a:r>
              <a:rPr lang="en-US" dirty="0">
                <a:latin typeface="fkGrotesk"/>
              </a:rPr>
              <a:t>4. </a:t>
            </a:r>
            <a:r>
              <a:rPr lang="en-US" b="1" dirty="0">
                <a:latin typeface="fkGrotesk"/>
              </a:rPr>
              <a:t>Startup vs. Steady-State</a:t>
            </a:r>
          </a:p>
          <a:p>
            <a:pPr marL="800100" lvl="1" indent="-342900" algn="just">
              <a:buFont typeface="Wingdings" panose="05000000000000000000" pitchFamily="2" charset="2"/>
              <a:buChar char="q"/>
            </a:pPr>
            <a:r>
              <a:rPr lang="en-US" b="1" dirty="0">
                <a:latin typeface="fkGroteskNeue"/>
              </a:rPr>
              <a:t>Startup: </a:t>
            </a:r>
            <a:r>
              <a:rPr lang="en-US" dirty="0">
                <a:latin typeface="fkGroteskNeue"/>
              </a:rPr>
              <a:t>Need </a:t>
            </a:r>
            <a:r>
              <a:rPr lang="en-US" dirty="0" err="1">
                <a:latin typeface="fkGroteskNeue"/>
              </a:rPr>
              <a:t>gmRD</a:t>
            </a:r>
            <a:r>
              <a:rPr lang="en-US" dirty="0">
                <a:latin typeface="fkGroteskNeue"/>
              </a:rPr>
              <a:t> &gt; 1 to overcome losses and build amplitude</a:t>
            </a:r>
          </a:p>
          <a:p>
            <a:pPr marL="800100" lvl="1" indent="-342900" algn="just">
              <a:buFont typeface="Wingdings" panose="05000000000000000000" pitchFamily="2" charset="2"/>
              <a:buChar char="q"/>
            </a:pPr>
            <a:r>
              <a:rPr lang="en-US" b="1" dirty="0">
                <a:latin typeface="fkGroteskNeue"/>
              </a:rPr>
              <a:t>Steady-state: </a:t>
            </a:r>
            <a:r>
              <a:rPr lang="en-US" dirty="0">
                <a:latin typeface="fkGroteskNeue"/>
              </a:rPr>
              <a:t>Nonlinear effects reduce gain to exactly </a:t>
            </a:r>
            <a:r>
              <a:rPr lang="en-US" dirty="0" err="1">
                <a:latin typeface="fkGroteskNeue"/>
              </a:rPr>
              <a:t>gmRD</a:t>
            </a:r>
            <a:r>
              <a:rPr lang="en-US" dirty="0">
                <a:latin typeface="fkGroteskNeue"/>
              </a:rPr>
              <a:t> = 1</a:t>
            </a:r>
          </a:p>
          <a:p>
            <a:pPr marL="800100" lvl="1" indent="-342900" algn="just">
              <a:buFont typeface="Wingdings" panose="05000000000000000000" pitchFamily="2" charset="2"/>
              <a:buChar char="q"/>
            </a:pPr>
            <a:r>
              <a:rPr lang="en-US" b="1" dirty="0">
                <a:latin typeface="fkGroteskNeue"/>
              </a:rPr>
              <a:t>Like pendulum: </a:t>
            </a:r>
            <a:r>
              <a:rPr lang="en-US" dirty="0">
                <a:latin typeface="fkGroteskNeue"/>
              </a:rPr>
              <a:t>Initially push harder to build swing, then maintain with just enough </a:t>
            </a:r>
            <a:r>
              <a:rPr lang="en-US" dirty="0" smtClean="0">
                <a:latin typeface="fkGroteskNeue"/>
              </a:rPr>
              <a:t>energy</a:t>
            </a:r>
            <a:endParaRPr lang="en-US" dirty="0">
              <a:latin typeface="fkGroteskNeue"/>
            </a:endParaRPr>
          </a:p>
        </p:txBody>
      </p:sp>
    </p:spTree>
    <p:extLst>
      <p:ext uri="{BB962C8B-B14F-4D97-AF65-F5344CB8AC3E}">
        <p14:creationId xmlns:p14="http://schemas.microsoft.com/office/powerpoint/2010/main" val="242184529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Progressive Learning </a:t>
            </a:r>
            <a:r>
              <a:rPr lang="en-US" dirty="0" smtClean="0">
                <a:latin typeface="fkGrotesk"/>
              </a:rPr>
              <a:t>Path</a:t>
            </a:r>
            <a:endParaRPr lang="en-US" dirty="0"/>
          </a:p>
        </p:txBody>
      </p:sp>
      <p:sp>
        <p:nvSpPr>
          <p:cNvPr id="3" name="Text Placeholder 2"/>
          <p:cNvSpPr>
            <a:spLocks noGrp="1"/>
          </p:cNvSpPr>
          <p:nvPr>
            <p:ph type="body" idx="1"/>
          </p:nvPr>
        </p:nvSpPr>
        <p:spPr>
          <a:xfrm>
            <a:off x="197963" y="1327353"/>
            <a:ext cx="11858919" cy="5786199"/>
          </a:xfrm>
        </p:spPr>
        <p:txBody>
          <a:bodyPr/>
          <a:lstStyle/>
          <a:p>
            <a:pPr algn="l"/>
            <a:r>
              <a:rPr lang="en-US" b="1" dirty="0" smtClean="0">
                <a:latin typeface="fkGrotesk"/>
              </a:rPr>
              <a:t>Step </a:t>
            </a:r>
            <a:r>
              <a:rPr lang="en-US" b="1" dirty="0">
                <a:latin typeface="fkGrotesk"/>
              </a:rPr>
              <a:t>1: Master the Pendulum Analogy</a:t>
            </a:r>
          </a:p>
          <a:p>
            <a:pPr marL="800100" lvl="1" indent="-342900" algn="l">
              <a:buFont typeface="Wingdings" panose="05000000000000000000" pitchFamily="2" charset="2"/>
              <a:buChar char="q"/>
            </a:pPr>
            <a:r>
              <a:rPr lang="en-US" dirty="0">
                <a:latin typeface="fkGroteskNeue"/>
              </a:rPr>
              <a:t>Energy cycling between forms</a:t>
            </a:r>
          </a:p>
          <a:p>
            <a:pPr marL="800100" lvl="1" indent="-342900" algn="l">
              <a:buFont typeface="Wingdings" panose="05000000000000000000" pitchFamily="2" charset="2"/>
              <a:buChar char="q"/>
            </a:pPr>
            <a:r>
              <a:rPr lang="en-US" dirty="0">
                <a:latin typeface="fkGroteskNeue"/>
              </a:rPr>
              <a:t>Natural frequency independent of amplitude</a:t>
            </a:r>
          </a:p>
          <a:p>
            <a:pPr marL="800100" lvl="1" indent="-342900" algn="l">
              <a:buFont typeface="Wingdings" panose="05000000000000000000" pitchFamily="2" charset="2"/>
              <a:buChar char="q"/>
            </a:pPr>
            <a:r>
              <a:rPr lang="en-US" dirty="0">
                <a:latin typeface="fkGroteskNeue"/>
              </a:rPr>
              <a:t>Need periodic "pushes" to overcome losses</a:t>
            </a:r>
          </a:p>
          <a:p>
            <a:pPr algn="l"/>
            <a:r>
              <a:rPr lang="en-US" b="1" dirty="0">
                <a:latin typeface="fkGrotesk"/>
              </a:rPr>
              <a:t>Step 2: Understand Electronic Energy Cycling</a:t>
            </a:r>
          </a:p>
          <a:p>
            <a:pPr marL="800100" lvl="1" indent="-342900" algn="l">
              <a:buFont typeface="Wingdings" panose="05000000000000000000" pitchFamily="2" charset="2"/>
              <a:buChar char="q"/>
            </a:pPr>
            <a:r>
              <a:rPr lang="en-US" dirty="0">
                <a:latin typeface="fkGroteskNeue"/>
              </a:rPr>
              <a:t>Voltage/current oscillations in LC circuits</a:t>
            </a:r>
          </a:p>
          <a:p>
            <a:pPr marL="800100" lvl="1" indent="-342900" algn="l">
              <a:buFont typeface="Wingdings" panose="05000000000000000000" pitchFamily="2" charset="2"/>
              <a:buChar char="q"/>
            </a:pPr>
            <a:r>
              <a:rPr lang="en-US" dirty="0">
                <a:latin typeface="fkGroteskNeue"/>
              </a:rPr>
              <a:t>Delay-based energy storage (signals traveling back and forth)</a:t>
            </a:r>
          </a:p>
          <a:p>
            <a:pPr marL="800100" lvl="1" indent="-342900" algn="l">
              <a:buFont typeface="Wingdings" panose="05000000000000000000" pitchFamily="2" charset="2"/>
              <a:buChar char="q"/>
            </a:pPr>
            <a:r>
              <a:rPr lang="en-US" dirty="0">
                <a:latin typeface="fkGroteskNeue"/>
              </a:rPr>
              <a:t>Active feedback providing the "pushes"</a:t>
            </a:r>
          </a:p>
          <a:p>
            <a:pPr algn="l"/>
            <a:r>
              <a:rPr lang="en-US" b="1" dirty="0">
                <a:latin typeface="fkGrotesk"/>
              </a:rPr>
              <a:t>Step 3: Connect to Practical Oscillators</a:t>
            </a:r>
          </a:p>
          <a:p>
            <a:pPr marL="800100" lvl="1" indent="-342900" algn="l">
              <a:buFont typeface="Wingdings" panose="05000000000000000000" pitchFamily="2" charset="2"/>
              <a:buChar char="q"/>
            </a:pPr>
            <a:r>
              <a:rPr lang="en-US" dirty="0">
                <a:latin typeface="fkGroteskNeue"/>
              </a:rPr>
              <a:t>Ring oscillators (cascade of delay elements)</a:t>
            </a:r>
          </a:p>
          <a:p>
            <a:pPr marL="800100" lvl="1" indent="-342900" algn="l">
              <a:buFont typeface="Wingdings" panose="05000000000000000000" pitchFamily="2" charset="2"/>
              <a:buChar char="q"/>
            </a:pPr>
            <a:r>
              <a:rPr lang="en-US" dirty="0">
                <a:latin typeface="fkGroteskNeue"/>
              </a:rPr>
              <a:t>LC oscillators (resonant energy storage)</a:t>
            </a:r>
          </a:p>
          <a:p>
            <a:pPr marL="800100" lvl="1" indent="-342900" algn="l">
              <a:buFont typeface="Wingdings" panose="05000000000000000000" pitchFamily="2" charset="2"/>
              <a:buChar char="q"/>
            </a:pPr>
            <a:r>
              <a:rPr lang="en-US" dirty="0">
                <a:latin typeface="fkGroteskNeue"/>
              </a:rPr>
              <a:t>Crystal oscillators (mechanical resonance)</a:t>
            </a:r>
          </a:p>
          <a:p>
            <a:pPr algn="l"/>
            <a:r>
              <a:rPr lang="en-US" b="1" dirty="0">
                <a:latin typeface="fkGrotesk"/>
              </a:rPr>
              <a:t>Step 4: Link to PLL Applications</a:t>
            </a:r>
          </a:p>
          <a:p>
            <a:pPr marL="800100" lvl="1" indent="-342900" algn="l">
              <a:buFont typeface="Wingdings" panose="05000000000000000000" pitchFamily="2" charset="2"/>
              <a:buChar char="q"/>
            </a:pPr>
            <a:r>
              <a:rPr lang="en-US" dirty="0">
                <a:latin typeface="fkGroteskNeue"/>
              </a:rPr>
              <a:t>VCOs as controlled oscillators</a:t>
            </a:r>
          </a:p>
          <a:p>
            <a:pPr marL="800100" lvl="1" indent="-342900" algn="l">
              <a:buFont typeface="Wingdings" panose="05000000000000000000" pitchFamily="2" charset="2"/>
              <a:buChar char="q"/>
            </a:pPr>
            <a:r>
              <a:rPr lang="en-US" dirty="0">
                <a:latin typeface="fkGroteskNeue"/>
              </a:rPr>
              <a:t>Phase-locked feedback for frequency control</a:t>
            </a:r>
          </a:p>
          <a:p>
            <a:pPr marL="800100" lvl="1" indent="-342900" algn="l">
              <a:buFont typeface="Wingdings" panose="05000000000000000000" pitchFamily="2" charset="2"/>
              <a:buChar char="q"/>
            </a:pPr>
            <a:r>
              <a:rPr lang="en-US" dirty="0">
                <a:latin typeface="fkGroteskNeue"/>
              </a:rPr>
              <a:t>Jitter and stability considerations</a:t>
            </a:r>
          </a:p>
          <a:p>
            <a:pPr algn="just"/>
            <a:r>
              <a:rPr lang="en-US" b="1" dirty="0">
                <a:latin typeface="fkGroteskNeue"/>
              </a:rPr>
              <a:t>Key Takeaway: </a:t>
            </a:r>
            <a:r>
              <a:rPr lang="en-US" dirty="0">
                <a:latin typeface="fkGroteskNeue"/>
              </a:rPr>
              <a:t>Oscillation is controlled energy cycling where feedback timing (phase) and strength (gain) are precisely balanced to maintain sustained, predictable periodic behavior. Understanding this fundamental principle enables design of everything from simple RC oscillators to complex PLL systems</a:t>
            </a:r>
          </a:p>
          <a:p>
            <a:endParaRPr lang="en-US" dirty="0"/>
          </a:p>
        </p:txBody>
      </p:sp>
    </p:spTree>
    <p:extLst>
      <p:ext uri="{BB962C8B-B14F-4D97-AF65-F5344CB8AC3E}">
        <p14:creationId xmlns:p14="http://schemas.microsoft.com/office/powerpoint/2010/main" val="410324001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6284" y="0"/>
            <a:ext cx="10593196" cy="1046440"/>
          </a:xfrm>
        </p:spPr>
        <p:txBody>
          <a:bodyPr/>
          <a:lstStyle/>
          <a:p>
            <a:r>
              <a:rPr lang="en-US" dirty="0">
                <a:latin typeface="fkGrotesk"/>
              </a:rPr>
              <a:t>Fundamental </a:t>
            </a:r>
            <a:r>
              <a:rPr lang="en-US" dirty="0" smtClean="0">
                <a:latin typeface="fkGrotesk"/>
              </a:rPr>
              <a:t>Intuition </a:t>
            </a:r>
            <a:r>
              <a:rPr lang="en-US" dirty="0">
                <a:latin typeface="fkGrotesk"/>
              </a:rPr>
              <a:t>for Oscillator Startup, Growth, and </a:t>
            </a:r>
            <a:r>
              <a:rPr lang="en-US" dirty="0" smtClean="0">
                <a:latin typeface="fkGrotesk"/>
              </a:rPr>
              <a:t>Topologies</a:t>
            </a:r>
            <a:endParaRPr lang="en-US" dirty="0"/>
          </a:p>
        </p:txBody>
      </p:sp>
      <p:sp>
        <p:nvSpPr>
          <p:cNvPr id="3" name="Text Placeholder 2"/>
          <p:cNvSpPr>
            <a:spLocks noGrp="1"/>
          </p:cNvSpPr>
          <p:nvPr>
            <p:ph type="body" idx="1"/>
          </p:nvPr>
        </p:nvSpPr>
        <p:spPr>
          <a:xfrm>
            <a:off x="844550" y="1327353"/>
            <a:ext cx="10599590" cy="1846659"/>
          </a:xfrm>
        </p:spPr>
        <p:txBody>
          <a:bodyPr/>
          <a:lstStyle/>
          <a:p>
            <a:pPr marL="342900" indent="-342900" algn="just">
              <a:buFont typeface="Wingdings" panose="05000000000000000000" pitchFamily="2" charset="2"/>
              <a:buChar char="q"/>
            </a:pPr>
            <a:r>
              <a:rPr lang="en-US" dirty="0"/>
              <a:t>Oscillators are deliberately driven to the edge of instability so that, with the right loop gain and phase shift, they transition from a stable amplifier to a self-sustaining periodic generator. </a:t>
            </a:r>
            <a:endParaRPr lang="en-US" dirty="0" smtClean="0"/>
          </a:p>
          <a:p>
            <a:pPr marL="342900" indent="-342900" algn="just">
              <a:buFont typeface="Wingdings" panose="05000000000000000000" pitchFamily="2" charset="2"/>
              <a:buChar char="q"/>
            </a:pPr>
            <a:r>
              <a:rPr lang="en-US" dirty="0" smtClean="0"/>
              <a:t>The </a:t>
            </a:r>
            <a:r>
              <a:rPr lang="en-US" dirty="0"/>
              <a:t>following distilled insights and figure breakdowns provide an intuitive, energy-and-feedback view of how real circuits meet these conditions and manage startup, growth, and topology choices</a:t>
            </a: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41404533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1. Startup Condition Beyond </a:t>
            </a:r>
            <a:r>
              <a:rPr lang="en-US" dirty="0" err="1" smtClean="0"/>
              <a:t>Barkhausen</a:t>
            </a:r>
            <a:endParaRPr lang="en-US" dirty="0"/>
          </a:p>
        </p:txBody>
      </p:sp>
      <p:sp>
        <p:nvSpPr>
          <p:cNvPr id="3" name="Text Placeholder 2"/>
          <p:cNvSpPr>
            <a:spLocks noGrp="1"/>
          </p:cNvSpPr>
          <p:nvPr>
            <p:ph type="body" idx="1"/>
          </p:nvPr>
        </p:nvSpPr>
        <p:spPr>
          <a:xfrm>
            <a:off x="706966" y="1103989"/>
            <a:ext cx="10903975" cy="1446550"/>
          </a:xfrm>
        </p:spPr>
        <p:txBody>
          <a:bodyPr/>
          <a:lstStyle/>
          <a:p>
            <a:pPr algn="just"/>
            <a:r>
              <a:rPr lang="en-US" dirty="0">
                <a:latin typeface="fkGroteskNeue"/>
              </a:rPr>
              <a:t>Real oscillators are designed with a loop gain slightly </a:t>
            </a:r>
            <a:r>
              <a:rPr lang="en-US" b="1" dirty="0">
                <a:latin typeface="fkGroteskNeue"/>
              </a:rPr>
              <a:t>greater than one</a:t>
            </a:r>
            <a:r>
              <a:rPr lang="en-US" dirty="0">
                <a:latin typeface="fkGroteskNeue"/>
              </a:rPr>
              <a:t> at the desired frequency to guarantee startup despite manufacturing and environmental variations:</a:t>
            </a:r>
          </a:p>
          <a:p>
            <a:pPr marL="1257300" lvl="2" indent="-342900" algn="just">
              <a:buFont typeface="Wingdings" panose="05000000000000000000" pitchFamily="2" charset="2"/>
              <a:buChar char="q"/>
            </a:pPr>
            <a:r>
              <a:rPr lang="en-US" dirty="0">
                <a:latin typeface="fkGroteskNeue"/>
              </a:rPr>
              <a:t>|H(</a:t>
            </a:r>
            <a:r>
              <a:rPr lang="en-US" dirty="0" err="1">
                <a:latin typeface="fkGroteskNeue"/>
              </a:rPr>
              <a:t>jω</a:t>
            </a:r>
            <a:r>
              <a:rPr lang="en-US" dirty="0">
                <a:latin typeface="fkGroteskNeue"/>
              </a:rPr>
              <a:t>₀)|&gt;1 ensures the initial amplitude grows from noise or a tiny perturbation.</a:t>
            </a:r>
          </a:p>
          <a:p>
            <a:pPr marL="1257300" lvl="2" indent="-342900" algn="just">
              <a:buFont typeface="Wingdings" panose="05000000000000000000" pitchFamily="2" charset="2"/>
              <a:buChar char="q"/>
            </a:pPr>
            <a:r>
              <a:rPr lang="en-US" dirty="0">
                <a:latin typeface="fkGroteskNeue"/>
              </a:rPr>
              <a:t>∠H(</a:t>
            </a:r>
            <a:r>
              <a:rPr lang="en-US" dirty="0" err="1">
                <a:latin typeface="fkGroteskNeue"/>
              </a:rPr>
              <a:t>jω</a:t>
            </a:r>
            <a:r>
              <a:rPr lang="en-US" dirty="0">
                <a:latin typeface="fkGroteskNeue"/>
              </a:rPr>
              <a:t>₀)=180° still holds so that the feedback is effectively positive at ω₀.</a:t>
            </a:r>
          </a:p>
          <a:p>
            <a:pPr lvl="1" algn="just"/>
            <a:endParaRPr lang="en-US" dirty="0">
              <a:latin typeface="fkGroteskNeue"/>
            </a:endParaRPr>
          </a:p>
        </p:txBody>
      </p:sp>
      <p:sp>
        <p:nvSpPr>
          <p:cNvPr id="4" name="Footer Placeholder 3"/>
          <p:cNvSpPr>
            <a:spLocks noGrp="1"/>
          </p:cNvSpPr>
          <p:nvPr>
            <p:ph type="ftr" sz="quarter" idx="5"/>
          </p:nvPr>
        </p:nvSpPr>
        <p:spPr>
          <a:xfrm>
            <a:off x="5475050" y="6649150"/>
            <a:ext cx="1425370" cy="208850"/>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16593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452609"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l="4782" t="2099" r="3405" b="1"/>
          <a:stretch/>
        </p:blipFill>
        <p:spPr>
          <a:xfrm>
            <a:off x="3970867" y="2764365"/>
            <a:ext cx="5177367" cy="2020407"/>
          </a:xfrm>
          <a:prstGeom prst="rect">
            <a:avLst/>
          </a:prstGeom>
        </p:spPr>
      </p:pic>
      <p:sp>
        <p:nvSpPr>
          <p:cNvPr id="8" name="Rectangle 7"/>
          <p:cNvSpPr/>
          <p:nvPr/>
        </p:nvSpPr>
        <p:spPr>
          <a:xfrm>
            <a:off x="3759201" y="5677105"/>
            <a:ext cx="5444194" cy="415498"/>
          </a:xfrm>
          <a:prstGeom prst="rect">
            <a:avLst/>
          </a:prstGeom>
        </p:spPr>
        <p:txBody>
          <a:bodyPr wrap="square">
            <a:spAutoFit/>
          </a:bodyPr>
          <a:lstStyle/>
          <a:p>
            <a:pPr algn="just"/>
            <a:r>
              <a:rPr lang="en-US" sz="1050" b="1" i="0" u="none" strike="noStrike" baseline="0" dirty="0" smtClean="0">
                <a:solidFill>
                  <a:srgbClr val="231F20"/>
                </a:solidFill>
                <a:latin typeface="T3Font_158"/>
              </a:rPr>
              <a:t>Figure 1.10 </a:t>
            </a:r>
            <a:r>
              <a:rPr lang="en-US" sz="1050" b="1" i="0" u="none" strike="noStrike" baseline="0" dirty="0" smtClean="0">
                <a:solidFill>
                  <a:srgbClr val="231F20"/>
                </a:solidFill>
                <a:latin typeface="T3Font_151"/>
              </a:rPr>
              <a:t>(a) Open-loop response with gain greater than unity at </a:t>
            </a:r>
            <a:r>
              <a:rPr lang="en-US" sz="1050" b="1" i="0" u="none" strike="noStrike" baseline="0" dirty="0" smtClean="0">
                <a:solidFill>
                  <a:srgbClr val="231F20"/>
                </a:solidFill>
                <a:latin typeface="T3Font_159"/>
              </a:rPr>
              <a:t>ω</a:t>
            </a:r>
            <a:r>
              <a:rPr lang="en-US" sz="900" b="1" i="0" u="none" strike="noStrike" baseline="0" dirty="0" smtClean="0">
                <a:solidFill>
                  <a:srgbClr val="231F20"/>
                </a:solidFill>
                <a:latin typeface="T3Font_153"/>
              </a:rPr>
              <a:t>0</a:t>
            </a:r>
            <a:r>
              <a:rPr lang="en-US" sz="1050" b="1" i="0" u="none" strike="noStrike" baseline="0" dirty="0" smtClean="0">
                <a:solidFill>
                  <a:srgbClr val="231F20"/>
                </a:solidFill>
                <a:latin typeface="T3Font_151"/>
              </a:rPr>
              <a:t>, and (b) impulse response of closed-loop system.</a:t>
            </a:r>
            <a:endParaRPr lang="en-US" sz="2800" b="1" dirty="0"/>
          </a:p>
        </p:txBody>
      </p:sp>
      <p:sp>
        <p:nvSpPr>
          <p:cNvPr id="9" name="Rectangle 8"/>
          <p:cNvSpPr/>
          <p:nvPr/>
        </p:nvSpPr>
        <p:spPr>
          <a:xfrm>
            <a:off x="-486833" y="2471895"/>
            <a:ext cx="4487333" cy="2862322"/>
          </a:xfrm>
          <a:prstGeom prst="rect">
            <a:avLst/>
          </a:prstGeom>
        </p:spPr>
        <p:txBody>
          <a:bodyPr wrap="square">
            <a:spAutoFit/>
          </a:bodyPr>
          <a:lstStyle/>
          <a:p>
            <a:pPr marL="742950" lvl="1" indent="-285750" algn="just">
              <a:buFont typeface="Wingdings" panose="05000000000000000000" pitchFamily="2" charset="2"/>
              <a:buChar char="q"/>
            </a:pPr>
            <a:r>
              <a:rPr lang="en-US" kern="0" dirty="0">
                <a:solidFill>
                  <a:sysClr val="windowText" lastClr="000000"/>
                </a:solidFill>
                <a:latin typeface="fkGroteskNeue"/>
              </a:rPr>
              <a:t>Shows an open-loop Bode plot with magnitude &gt;2 at ω₀ and phase = –180°. Simply having |H|&gt;1 and phase =180° at ω₀ does not guarantee the loop oscillates exactly at that frequency;</a:t>
            </a:r>
          </a:p>
          <a:p>
            <a:pPr marL="742950" lvl="1" indent="-285750" algn="just">
              <a:buFont typeface="Wingdings" panose="05000000000000000000" pitchFamily="2" charset="2"/>
              <a:buChar char="q"/>
            </a:pPr>
            <a:r>
              <a:rPr lang="en-US" kern="0" dirty="0">
                <a:solidFill>
                  <a:sysClr val="windowText" lastClr="000000"/>
                </a:solidFill>
                <a:latin typeface="fkGroteskNeue"/>
              </a:rPr>
              <a:t> The system actually finds a complex pole s₁ (σ₁+</a:t>
            </a:r>
            <a:r>
              <a:rPr lang="en-US" kern="0" dirty="0" err="1">
                <a:solidFill>
                  <a:sysClr val="windowText" lastClr="000000"/>
                </a:solidFill>
                <a:latin typeface="fkGroteskNeue"/>
              </a:rPr>
              <a:t>jω</a:t>
            </a:r>
            <a:r>
              <a:rPr lang="en-US" kern="0" dirty="0">
                <a:solidFill>
                  <a:sysClr val="windowText" lastClr="000000"/>
                </a:solidFill>
                <a:latin typeface="fkGroteskNeue"/>
              </a:rPr>
              <a:t>₁) satisfying H(s₁)=–1, with σ₁&gt;0 to provide growth.</a:t>
            </a:r>
            <a:endParaRPr lang="en-US" kern="0" dirty="0">
              <a:solidFill>
                <a:sysClr val="windowText" lastClr="000000"/>
              </a:solidFill>
              <a:latin typeface="fkGroteskNeue"/>
            </a:endParaRPr>
          </a:p>
        </p:txBody>
      </p:sp>
      <p:sp>
        <p:nvSpPr>
          <p:cNvPr id="10" name="Rectangle 9"/>
          <p:cNvSpPr/>
          <p:nvPr/>
        </p:nvSpPr>
        <p:spPr>
          <a:xfrm>
            <a:off x="8585128" y="2312770"/>
            <a:ext cx="3674606" cy="3139321"/>
          </a:xfrm>
          <a:prstGeom prst="rect">
            <a:avLst/>
          </a:prstGeom>
        </p:spPr>
        <p:txBody>
          <a:bodyPr wrap="square">
            <a:spAutoFit/>
          </a:bodyPr>
          <a:lstStyle/>
          <a:p>
            <a:pPr marL="742950" lvl="1" indent="-285750" algn="just">
              <a:buFont typeface="Wingdings" panose="05000000000000000000" pitchFamily="2" charset="2"/>
              <a:buChar char="q"/>
            </a:pPr>
            <a:r>
              <a:rPr lang="en-US" dirty="0">
                <a:latin typeface="fkGroteskNeue"/>
              </a:rPr>
              <a:t>It depicts that when an impulse enters this marginally unstable loop, even a brief pulse blossoms into a growing sinusoid—demonstrating that startup occurs from any nonzero seed, </a:t>
            </a:r>
          </a:p>
          <a:p>
            <a:pPr marL="742950" lvl="1" indent="-285750" algn="just">
              <a:buFont typeface="Wingdings" panose="05000000000000000000" pitchFamily="2" charset="2"/>
              <a:buChar char="q"/>
            </a:pPr>
            <a:r>
              <a:rPr lang="en-US" dirty="0">
                <a:latin typeface="fkGroteskNeue"/>
              </a:rPr>
              <a:t>It tends to not just steady‐state sinusoidal injection</a:t>
            </a:r>
            <a:endParaRPr lang="en-US" dirty="0"/>
          </a:p>
        </p:txBody>
      </p:sp>
    </p:spTree>
    <p:extLst>
      <p:ext uri="{BB962C8B-B14F-4D97-AF65-F5344CB8AC3E}">
        <p14:creationId xmlns:p14="http://schemas.microsoft.com/office/powerpoint/2010/main" val="67695607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584668" y="1144473"/>
                <a:ext cx="5719879" cy="5485156"/>
              </a:xfrm>
            </p:spPr>
            <p:txBody>
              <a:bodyPr/>
              <a:lstStyle/>
              <a:p>
                <a:r>
                  <a:rPr lang="en-US" sz="2800" b="1" dirty="0">
                    <a:solidFill>
                      <a:srgbClr val="000000"/>
                    </a:solidFill>
                    <a:latin typeface="inter"/>
                    <a:ea typeface="inter"/>
                    <a:cs typeface="inter"/>
                  </a:rPr>
                  <a:t>Magnitude Response Structure</a:t>
                </a:r>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dirty="0">
                    <a:solidFill>
                      <a:srgbClr val="000000"/>
                    </a:solidFill>
                    <a:latin typeface="inter"/>
                    <a:ea typeface="inter"/>
                    <a:cs typeface="inter"/>
                  </a:rPr>
                  <a:t>The open-loop magnitude </a:t>
                </a:r>
                <a14:m>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p>
                    </m:s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ad>
                            <m:radPr>
                              <m:deg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e>
                          </m:rad>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dirty="0">
                    <a:solidFill>
                      <a:srgbClr val="000000"/>
                    </a:solidFill>
                    <a:latin typeface="inter"/>
                    <a:ea typeface="inter"/>
                    <a:cs typeface="inter"/>
                  </a:rPr>
                  <a:t>At low frequency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r>
                  <a:rPr lang="en-US" dirty="0">
                    <a:solidFill>
                      <a:srgbClr val="000000"/>
                    </a:solidFill>
                    <a:latin typeface="inter"/>
                    <a:ea typeface="inter"/>
                    <a:cs typeface="inter"/>
                  </a:rPr>
                  <a:t>): </a:t>
                </a:r>
                <a14:m>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dirty="0">
                    <a:solidFill>
                      <a:srgbClr val="000000"/>
                    </a:solidFill>
                    <a:latin typeface="inter"/>
                    <a:ea typeface="inter"/>
                    <a:cs typeface="inter"/>
                  </a:rPr>
                  <a:t> (maximum)</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dirty="0">
                    <a:solidFill>
                      <a:srgbClr val="000000"/>
                    </a:solidFill>
                    <a:latin typeface="inter"/>
                    <a:ea typeface="inter"/>
                    <a:cs typeface="inter"/>
                  </a:rPr>
                  <a:t>At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dirty="0">
                    <a:solidFill>
                      <a:srgbClr val="000000"/>
                    </a:solidFill>
                    <a:latin typeface="inter"/>
                    <a:ea typeface="inter"/>
                    <a:cs typeface="inter"/>
                  </a:rPr>
                  <a:t>: </a:t>
                </a:r>
                <a14:m>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e>
                    </m:rad>
                  </m:oMath>
                </a14:m>
                <a:r>
                  <a:rPr lang="en-US" dirty="0">
                    <a:solidFill>
                      <a:srgbClr val="000000"/>
                    </a:solidFill>
                    <a:latin typeface="inter"/>
                    <a:ea typeface="inter"/>
                    <a:cs typeface="inter"/>
                  </a:rPr>
                  <a:t> (–3 dB point)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dirty="0">
                    <a:solidFill>
                      <a:srgbClr val="000000"/>
                    </a:solidFill>
                    <a:latin typeface="inter"/>
                    <a:ea typeface="inter"/>
                    <a:cs typeface="inter"/>
                  </a:rPr>
                  <a:t>At high frequency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dirty="0">
                    <a:solidFill>
                      <a:srgbClr val="000000"/>
                    </a:solidFill>
                    <a:latin typeface="inter"/>
                    <a:ea typeface="inter"/>
                    <a:cs typeface="inter"/>
                  </a:rPr>
                  <a:t>): </a:t>
                </a:r>
                <a14:m>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oMath>
                </a14:m>
                <a:r>
                  <a:rPr lang="en-US" dirty="0">
                    <a:solidFill>
                      <a:srgbClr val="000000"/>
                    </a:solidFill>
                    <a:latin typeface="inter"/>
                    <a:ea typeface="inter"/>
                    <a:cs typeface="inter"/>
                  </a:rPr>
                  <a:t> (–20 dB/decade </a:t>
                </a:r>
                <a:r>
                  <a:rPr lang="en-US" dirty="0" err="1">
                    <a:solidFill>
                      <a:srgbClr val="000000"/>
                    </a:solidFill>
                    <a:latin typeface="inter"/>
                    <a:ea typeface="inter"/>
                    <a:cs typeface="inter"/>
                  </a:rPr>
                  <a:t>rolloff</a:t>
                </a:r>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b="1" dirty="0">
                    <a:solidFill>
                      <a:srgbClr val="000000"/>
                    </a:solidFill>
                    <a:latin typeface="inter"/>
                    <a:ea typeface="inter"/>
                    <a:cs typeface="inter"/>
                  </a:rPr>
                  <a:t>Oscillation Condition:</a:t>
                </a:r>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dirty="0">
                    <a:solidFill>
                      <a:srgbClr val="000000"/>
                    </a:solidFill>
                    <a:latin typeface="inter"/>
                    <a:ea typeface="inter"/>
                    <a:cs typeface="inter"/>
                  </a:rPr>
                  <a:t>The magnitude plot crosses unity (</a:t>
                </a:r>
                <a14:m>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r>
                      <m:rPr>
                        <m:nor/>
                      </m:rPr>
                      <a:rPr lang="en-US"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m:rPr>
                        <m:nor/>
                      </m:rPr>
                      <a:rPr lang="en-US">
                        <a:solidFill>
                          <a:srgbClr val="000000"/>
                        </a:solidFill>
                        <a:latin typeface="Georgia" panose="02040502050405020303" pitchFamily="18" charset="0"/>
                        <a:ea typeface="Calibri" panose="020F0502020204030204" pitchFamily="34" charset="0"/>
                        <a:cs typeface="Times New Roman" panose="02020603050405020304" pitchFamily="18" charset="0"/>
                      </a:rPr>
                      <m:t>dB</m:t>
                    </m:r>
                  </m:oMath>
                </a14:m>
                <a:r>
                  <a:rPr lang="en-US" dirty="0">
                    <a:solidFill>
                      <a:srgbClr val="000000"/>
                    </a:solidFill>
                    <a:latin typeface="inter"/>
                    <a:ea typeface="inter"/>
                    <a:cs typeface="inter"/>
                  </a:rPr>
                  <a:t>) at some frequency. If this crossing occurs at exactly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dirty="0">
                    <a:solidFill>
                      <a:srgbClr val="000000"/>
                    </a:solidFill>
                    <a:latin typeface="inter"/>
                    <a:ea typeface="inter"/>
                    <a:cs typeface="inter"/>
                  </a:rPr>
                  <a:t> where the phase is also 180°, </a:t>
                </a:r>
                <a:r>
                  <a:rPr lang="en-US" dirty="0" err="1">
                    <a:solidFill>
                      <a:srgbClr val="000000"/>
                    </a:solidFill>
                    <a:latin typeface="inter"/>
                    <a:ea typeface="inter"/>
                    <a:cs typeface="inter"/>
                  </a:rPr>
                  <a:t>Barkhausen's</a:t>
                </a:r>
                <a:r>
                  <a:rPr lang="en-US" dirty="0">
                    <a:solidFill>
                      <a:srgbClr val="000000"/>
                    </a:solidFill>
                    <a:latin typeface="inter"/>
                    <a:ea typeface="inter"/>
                    <a:cs typeface="inter"/>
                  </a:rPr>
                  <a:t> criterion is satisfied.</a:t>
                </a:r>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584668" y="1144473"/>
                <a:ext cx="5719879" cy="5485156"/>
              </a:xfrm>
              <a:blipFill>
                <a:blip r:embed="rId2"/>
                <a:stretch>
                  <a:fillRect l="-3838" t="-2000" r="-1812"/>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mc:Choice xmlns:a14="http://schemas.microsoft.com/office/drawing/2010/main" Requires="a14">
          <p:sp>
            <p:nvSpPr>
              <p:cNvPr id="7" name="Rectangle 6"/>
              <p:cNvSpPr/>
              <p:nvPr/>
            </p:nvSpPr>
            <p:spPr>
              <a:xfrm>
                <a:off x="6821103" y="1161370"/>
                <a:ext cx="5171975" cy="4581254"/>
              </a:xfrm>
              <a:prstGeom prst="rect">
                <a:avLst/>
              </a:prstGeom>
            </p:spPr>
            <p:txBody>
              <a:bodyPr wrap="square">
                <a:spAutoFit/>
              </a:bodyPr>
              <a:lstStyle/>
              <a:p>
                <a:r>
                  <a:rPr lang="en-US" sz="2400" b="1" dirty="0">
                    <a:solidFill>
                      <a:srgbClr val="000000"/>
                    </a:solidFill>
                    <a:latin typeface="inter"/>
                    <a:ea typeface="inter"/>
                    <a:cs typeface="inter"/>
                  </a:rPr>
                  <a:t>Phase Response Structure</a:t>
                </a:r>
                <a:endParaRPr lang="en-US"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arctan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dirty="0">
                    <a:solidFill>
                      <a:srgbClr val="000000"/>
                    </a:solidFill>
                    <a:latin typeface="inter"/>
                    <a:ea typeface="inter"/>
                    <a:cs typeface="inter"/>
                  </a:rPr>
                  <a:t>(The 0° is from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dirty="0">
                    <a:solidFill>
                      <a:srgbClr val="000000"/>
                    </a:solidFill>
                    <a:latin typeface="inter"/>
                    <a:ea typeface="inter"/>
                    <a:cs typeface="inter"/>
                  </a:rPr>
                  <a:t>, the </a:t>
                </a:r>
                <a:r>
                  <a:rPr lang="en-US" dirty="0" err="1">
                    <a:solidFill>
                      <a:srgbClr val="000000"/>
                    </a:solidFill>
                    <a:latin typeface="inter"/>
                    <a:ea typeface="inter"/>
                    <a:cs typeface="inter"/>
                  </a:rPr>
                  <a:t>arctan</a:t>
                </a:r>
                <a:r>
                  <a:rPr lang="en-US" dirty="0">
                    <a:solidFill>
                      <a:srgbClr val="000000"/>
                    </a:solidFill>
                    <a:latin typeface="inter"/>
                    <a:ea typeface="inter"/>
                    <a:cs typeface="inter"/>
                  </a:rPr>
                  <a:t> term from the RC load, and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oMath>
                </a14:m>
                <a:r>
                  <a:rPr lang="en-US" dirty="0">
                    <a:solidFill>
                      <a:srgbClr val="000000"/>
                    </a:solidFill>
                    <a:latin typeface="inter"/>
                    <a:ea typeface="inter"/>
                    <a:cs typeface="inter"/>
                  </a:rPr>
                  <a:t> from the delay)</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dirty="0">
                    <a:solidFill>
                      <a:srgbClr val="000000"/>
                    </a:solidFill>
                    <a:latin typeface="inter"/>
                    <a:ea typeface="inter"/>
                    <a:cs typeface="inter"/>
                  </a:rPr>
                  <a:t>At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r>
                  <a:rPr lang="en-US" dirty="0">
                    <a:solidFill>
                      <a:srgbClr val="000000"/>
                    </a:solidFill>
                    <a:latin typeface="inter"/>
                    <a:ea typeface="inter"/>
                    <a:cs typeface="inter"/>
                  </a:rPr>
                  <a:t>: Phase = 0°</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dirty="0">
                    <a:solidFill>
                      <a:srgbClr val="000000"/>
                    </a:solidFill>
                    <a:latin typeface="inter"/>
                    <a:ea typeface="inter"/>
                    <a:cs typeface="inter"/>
                  </a:rPr>
                  <a:t>At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dirty="0">
                    <a:solidFill>
                      <a:srgbClr val="000000"/>
                    </a:solidFill>
                    <a:latin typeface="inter"/>
                    <a:ea typeface="inter"/>
                    <a:cs typeface="inter"/>
                  </a:rPr>
                  <a:t>: Phase ≈ –45°</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dirty="0">
                    <a:solidFill>
                      <a:srgbClr val="000000"/>
                    </a:solidFill>
                    <a:latin typeface="inter"/>
                    <a:ea typeface="inter"/>
                    <a:cs typeface="inter"/>
                  </a:rPr>
                  <a:t>As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oMath>
                </a14:m>
                <a:r>
                  <a:rPr lang="en-US" dirty="0">
                    <a:solidFill>
                      <a:srgbClr val="000000"/>
                    </a:solidFill>
                    <a:latin typeface="inter"/>
                    <a:ea typeface="inter"/>
                    <a:cs typeface="inter"/>
                  </a:rPr>
                  <a:t> increases: Phase becomes increasingly negative</a:t>
                </a:r>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b="1" dirty="0">
                    <a:solidFill>
                      <a:srgbClr val="000000"/>
                    </a:solidFill>
                    <a:latin typeface="inter"/>
                    <a:ea typeface="inter"/>
                    <a:cs typeface="inter"/>
                  </a:rPr>
                  <a:t>Finding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b="1"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dirty="0">
                    <a:solidFill>
                      <a:srgbClr val="000000"/>
                    </a:solidFill>
                    <a:latin typeface="inter"/>
                    <a:ea typeface="inter"/>
                    <a:cs typeface="inter"/>
                  </a:rPr>
                  <a:t>The phase equals –180° when:</a:t>
                </a:r>
                <a:endParaRPr lang="en-US"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arctan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180°</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arctan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=180°</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dirty="0">
                    <a:solidFill>
                      <a:srgbClr val="000000"/>
                    </a:solidFill>
                    <a:latin typeface="inter"/>
                    <a:ea typeface="inter"/>
                    <a:cs typeface="inter"/>
                  </a:rPr>
                  <a:t>If the RC load term is small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≈180°=</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r>
                        <m:rPr>
                          <m:nor/>
                        </m:rPr>
                        <a:rPr lang="en-US" i="1">
                          <a:solidFill>
                            <a:srgbClr val="000000"/>
                          </a:solidFill>
                          <a:latin typeface="Calibri" panose="020F0502020204030204" pitchFamily="34" charset="0"/>
                          <a:ea typeface="Calibri" panose="020F0502020204030204" pitchFamily="34" charset="0"/>
                          <a:cs typeface="Times New Roman" panose="02020603050405020304" pitchFamily="18" charset="0"/>
                        </a:rPr>
                        <m:t> </m:t>
                      </m:r>
                      <m:r>
                        <m:rPr>
                          <m:nor/>
                        </m:rPr>
                        <a:rPr lang="en-US">
                          <a:solidFill>
                            <a:srgbClr val="000000"/>
                          </a:solidFill>
                          <a:latin typeface="Georgia" panose="02040502050405020303" pitchFamily="18" charset="0"/>
                          <a:ea typeface="Calibri" panose="020F0502020204030204" pitchFamily="34" charset="0"/>
                          <a:cs typeface="Times New Roman" panose="02020603050405020304" pitchFamily="18" charset="0"/>
                        </a:rPr>
                        <m:t>rad</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𝑓</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den>
                      </m:f>
                    </m:oMath>
                  </m:oMathPara>
                </a14:m>
                <a:endParaRPr lang="en-US" dirty="0"/>
              </a:p>
            </p:txBody>
          </p:sp>
        </mc:Choice>
        <mc:Fallback>
          <p:sp>
            <p:nvSpPr>
              <p:cNvPr id="7" name="Rectangle 6"/>
              <p:cNvSpPr>
                <a:spLocks noRot="1" noChangeAspect="1" noMove="1" noResize="1" noEditPoints="1" noAdjustHandles="1" noChangeArrowheads="1" noChangeShapeType="1" noTextEdit="1"/>
              </p:cNvSpPr>
              <p:nvPr/>
            </p:nvSpPr>
            <p:spPr>
              <a:xfrm>
                <a:off x="6821103" y="1161370"/>
                <a:ext cx="5171975" cy="4581254"/>
              </a:xfrm>
              <a:prstGeom prst="rect">
                <a:avLst/>
              </a:prstGeom>
              <a:blipFill>
                <a:blip r:embed="rId3"/>
                <a:stretch>
                  <a:fillRect l="-1887" t="-1065" r="-825"/>
                </a:stretch>
              </a:blipFill>
            </p:spPr>
            <p:txBody>
              <a:bodyPr/>
              <a:lstStyle/>
              <a:p>
                <a:r>
                  <a:rPr lang="en-US">
                    <a:noFill/>
                  </a:rPr>
                  <a:t> </a:t>
                </a:r>
              </a:p>
            </p:txBody>
          </p:sp>
        </mc:Fallback>
      </mc:AlternateContent>
    </p:spTree>
    <p:extLst>
      <p:ext uri="{BB962C8B-B14F-4D97-AF65-F5344CB8AC3E}">
        <p14:creationId xmlns:p14="http://schemas.microsoft.com/office/powerpoint/2010/main" val="10480138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2. Oscillation Growth vs. </a:t>
            </a:r>
            <a:r>
              <a:rPr lang="en-US" dirty="0" smtClean="0">
                <a:latin typeface="fkGrotesk"/>
              </a:rPr>
              <a:t>Steady-State</a:t>
            </a:r>
            <a:endParaRPr lang="en-US" dirty="0"/>
          </a:p>
        </p:txBody>
      </p:sp>
      <p:sp>
        <p:nvSpPr>
          <p:cNvPr id="3" name="Text Placeholder 2"/>
          <p:cNvSpPr>
            <a:spLocks noGrp="1"/>
          </p:cNvSpPr>
          <p:nvPr>
            <p:ph type="body" idx="1"/>
          </p:nvPr>
        </p:nvSpPr>
        <p:spPr>
          <a:xfrm>
            <a:off x="853017" y="1145320"/>
            <a:ext cx="10780183" cy="5416868"/>
          </a:xfrm>
        </p:spPr>
        <p:txBody>
          <a:bodyPr/>
          <a:lstStyle/>
          <a:p>
            <a:pPr algn="ctr"/>
            <a:r>
              <a:rPr lang="en-US" b="1" dirty="0" smtClean="0">
                <a:solidFill>
                  <a:srgbClr val="C00000"/>
                </a:solidFill>
                <a:latin typeface="fkGroteskNeue"/>
              </a:rPr>
              <a:t>Figure</a:t>
            </a:r>
            <a:r>
              <a:rPr lang="en-US" dirty="0">
                <a:solidFill>
                  <a:srgbClr val="C00000"/>
                </a:solidFill>
                <a:latin typeface="fkGroteskNeue"/>
              </a:rPr>
              <a:t> contrasts two cases when H(j</a:t>
            </a:r>
            <a:r>
              <a:rPr lang="el-GR" dirty="0">
                <a:solidFill>
                  <a:srgbClr val="C00000"/>
                </a:solidFill>
                <a:latin typeface="fkGroteskNeue"/>
              </a:rPr>
              <a:t>ω₀</a:t>
            </a:r>
            <a:r>
              <a:rPr lang="el-GR" dirty="0" smtClean="0">
                <a:solidFill>
                  <a:srgbClr val="C00000"/>
                </a:solidFill>
                <a:latin typeface="fkGroteskNeue"/>
              </a:rPr>
              <a:t>)</a:t>
            </a:r>
            <a:r>
              <a:rPr lang="en-US" dirty="0" smtClean="0">
                <a:solidFill>
                  <a:srgbClr val="C00000"/>
                </a:solidFill>
                <a:latin typeface="fkGroteskNeue"/>
              </a:rPr>
              <a:t> </a:t>
            </a:r>
            <a:r>
              <a:rPr lang="el-GR" dirty="0" smtClean="0">
                <a:solidFill>
                  <a:srgbClr val="C00000"/>
                </a:solidFill>
                <a:latin typeface="fkGroteskNeue"/>
              </a:rPr>
              <a:t>=</a:t>
            </a:r>
            <a:r>
              <a:rPr lang="en-US" dirty="0" smtClean="0">
                <a:solidFill>
                  <a:srgbClr val="C00000"/>
                </a:solidFill>
                <a:latin typeface="fkGroteskNeue"/>
              </a:rPr>
              <a:t> </a:t>
            </a:r>
            <a:r>
              <a:rPr lang="el-GR" dirty="0" smtClean="0">
                <a:solidFill>
                  <a:srgbClr val="C00000"/>
                </a:solidFill>
                <a:latin typeface="fkGroteskNeue"/>
              </a:rPr>
              <a:t>–</a:t>
            </a:r>
            <a:r>
              <a:rPr lang="el-GR" dirty="0">
                <a:solidFill>
                  <a:srgbClr val="C00000"/>
                </a:solidFill>
                <a:latin typeface="fkGroteskNeue"/>
              </a:rPr>
              <a:t>1</a:t>
            </a:r>
            <a:r>
              <a:rPr lang="el-GR" dirty="0" smtClean="0">
                <a:solidFill>
                  <a:srgbClr val="C00000"/>
                </a:solidFill>
                <a:latin typeface="fkGroteskNeue"/>
              </a:rPr>
              <a:t>:</a:t>
            </a:r>
            <a:endParaRPr lang="en-US" dirty="0" smtClean="0">
              <a:solidFill>
                <a:srgbClr val="C00000"/>
              </a:solidFill>
              <a:latin typeface="fkGroteskNeue"/>
            </a:endParaRPr>
          </a:p>
          <a:p>
            <a:pPr algn="just"/>
            <a:endParaRPr lang="en-US" dirty="0" smtClean="0">
              <a:latin typeface="fkGroteskNeue"/>
            </a:endParaRPr>
          </a:p>
          <a:p>
            <a:pPr algn="just"/>
            <a:endParaRPr lang="en-US" dirty="0">
              <a:latin typeface="fkGroteskNeue"/>
            </a:endParaRPr>
          </a:p>
          <a:p>
            <a:pPr algn="just"/>
            <a:endParaRPr lang="en-US" dirty="0" smtClean="0">
              <a:latin typeface="fkGroteskNeue"/>
            </a:endParaRPr>
          </a:p>
          <a:p>
            <a:pPr algn="just"/>
            <a:endParaRPr lang="en-US" dirty="0">
              <a:latin typeface="fkGroteskNeue"/>
            </a:endParaRPr>
          </a:p>
          <a:p>
            <a:pPr algn="just"/>
            <a:endParaRPr lang="en-US" dirty="0" smtClean="0">
              <a:latin typeface="fkGroteskNeue"/>
            </a:endParaRPr>
          </a:p>
          <a:p>
            <a:pPr algn="just"/>
            <a:endParaRPr lang="en-US" dirty="0">
              <a:latin typeface="fkGroteskNeue"/>
            </a:endParaRPr>
          </a:p>
          <a:p>
            <a:pPr algn="just"/>
            <a:endParaRPr lang="en-US" dirty="0" smtClean="0">
              <a:latin typeface="fkGroteskNeue"/>
            </a:endParaRPr>
          </a:p>
          <a:p>
            <a:pPr algn="just"/>
            <a:endParaRPr lang="en-US" dirty="0">
              <a:latin typeface="fkGroteskNeue"/>
            </a:endParaRPr>
          </a:p>
          <a:p>
            <a:pPr algn="just"/>
            <a:endParaRPr lang="en-US" dirty="0" smtClean="0">
              <a:latin typeface="fkGroteskNeue"/>
            </a:endParaRPr>
          </a:p>
          <a:p>
            <a:pPr algn="just"/>
            <a:endParaRPr lang="en-US" dirty="0">
              <a:latin typeface="fkGroteskNeue"/>
            </a:endParaRPr>
          </a:p>
          <a:p>
            <a:pPr lvl="1" algn="just"/>
            <a:endParaRPr lang="en-US" b="1" dirty="0" smtClean="0">
              <a:latin typeface="fkGroteskNeue"/>
            </a:endParaRPr>
          </a:p>
          <a:p>
            <a:pPr lvl="1" algn="just"/>
            <a:r>
              <a:rPr lang="en-US" b="1" dirty="0" smtClean="0">
                <a:latin typeface="fkGroteskNeue"/>
              </a:rPr>
              <a:t>(</a:t>
            </a:r>
            <a:r>
              <a:rPr lang="en-US" b="1" dirty="0">
                <a:latin typeface="fkGroteskNeue"/>
              </a:rPr>
              <a:t>b) Continuous sinusoidal drive at </a:t>
            </a:r>
            <a:r>
              <a:rPr lang="el-GR" b="1" dirty="0">
                <a:latin typeface="fkGroteskNeue"/>
              </a:rPr>
              <a:t>ω₀: </a:t>
            </a:r>
            <a:r>
              <a:rPr lang="en-US" dirty="0">
                <a:latin typeface="fkGroteskNeue"/>
              </a:rPr>
              <a:t>If the loop gain exceeds unity, each pass amplifies the same sinusoid, causing unbounded growth until nonlinearities clamp the amplitude</a:t>
            </a:r>
            <a:r>
              <a:rPr lang="en-US" dirty="0" smtClean="0">
                <a:latin typeface="fkGroteskNeue"/>
              </a:rPr>
              <a:t>.</a:t>
            </a:r>
          </a:p>
          <a:p>
            <a:pPr lvl="1" algn="just"/>
            <a:endParaRPr lang="en-US" dirty="0">
              <a:latin typeface="fkGroteskNeue"/>
            </a:endParaRPr>
          </a:p>
          <a:p>
            <a:pPr algn="just"/>
            <a:r>
              <a:rPr lang="en-US" dirty="0">
                <a:latin typeface="fkGroteskNeue"/>
              </a:rPr>
              <a:t>This illustrates the difference between an oscillator at its natural condition (constant amplitude) and one driven at resonance with excess gain (growing amplitude).</a:t>
            </a:r>
          </a:p>
          <a:p>
            <a:pPr algn="just"/>
            <a:endParaRPr lang="en-US" dirty="0"/>
          </a:p>
        </p:txBody>
      </p:sp>
      <p:pic>
        <p:nvPicPr>
          <p:cNvPr id="7" name="Picture 6"/>
          <p:cNvPicPr>
            <a:picLocks noChangeAspect="1"/>
          </p:cNvPicPr>
          <p:nvPr/>
        </p:nvPicPr>
        <p:blipFill rotWithShape="1">
          <a:blip r:embed="rId2"/>
          <a:srcRect t="53287"/>
          <a:stretch/>
        </p:blipFill>
        <p:spPr>
          <a:xfrm>
            <a:off x="2744406" y="3318932"/>
            <a:ext cx="6540836" cy="1435747"/>
          </a:xfrm>
          <a:prstGeom prst="rect">
            <a:avLst/>
          </a:prstGeom>
        </p:spPr>
      </p:pic>
      <p:sp>
        <p:nvSpPr>
          <p:cNvPr id="8" name="Rectangle 7"/>
          <p:cNvSpPr/>
          <p:nvPr/>
        </p:nvSpPr>
        <p:spPr>
          <a:xfrm>
            <a:off x="2861753" y="6581001"/>
            <a:ext cx="6622326" cy="276999"/>
          </a:xfrm>
          <a:prstGeom prst="rect">
            <a:avLst/>
          </a:prstGeom>
        </p:spPr>
        <p:txBody>
          <a:bodyPr wrap="none">
            <a:spAutoFit/>
          </a:bodyPr>
          <a:lstStyle/>
          <a:p>
            <a:r>
              <a:rPr lang="en-US" sz="1200" b="1" i="0" u="none" strike="noStrike" baseline="0" dirty="0" smtClean="0">
                <a:solidFill>
                  <a:srgbClr val="231F20"/>
                </a:solidFill>
                <a:latin typeface="T3Font_139"/>
              </a:rPr>
              <a:t>Figure 1.8 </a:t>
            </a:r>
            <a:r>
              <a:rPr lang="en-US" sz="1200" b="1" i="0" u="none" strike="noStrike" baseline="0" dirty="0" smtClean="0">
                <a:solidFill>
                  <a:srgbClr val="231F20"/>
                </a:solidFill>
                <a:latin typeface="T3Font_140"/>
              </a:rPr>
              <a:t>Response of an oscillatory system to (a) an impulse, and (b) a sinusoid at </a:t>
            </a:r>
            <a:r>
              <a:rPr lang="en-US" sz="1200" b="1" i="0" u="none" strike="noStrike" baseline="0" dirty="0" smtClean="0">
                <a:solidFill>
                  <a:srgbClr val="231F20"/>
                </a:solidFill>
                <a:latin typeface="T3Font_141"/>
              </a:rPr>
              <a:t>ω</a:t>
            </a:r>
            <a:r>
              <a:rPr lang="en-US" sz="1050" b="1" i="0" u="none" strike="noStrike" baseline="0" dirty="0" smtClean="0">
                <a:solidFill>
                  <a:srgbClr val="231F20"/>
                </a:solidFill>
                <a:latin typeface="T3Font_142"/>
              </a:rPr>
              <a:t>0</a:t>
            </a:r>
            <a:r>
              <a:rPr lang="en-US" sz="1200" b="1" i="0" u="none" strike="noStrike" baseline="0" dirty="0" smtClean="0">
                <a:solidFill>
                  <a:srgbClr val="231F20"/>
                </a:solidFill>
                <a:latin typeface="T3Font_140"/>
              </a:rPr>
              <a:t>.</a:t>
            </a:r>
            <a:endParaRPr lang="en-US" sz="3600" b="1" dirty="0"/>
          </a:p>
        </p:txBody>
      </p:sp>
      <p:pic>
        <p:nvPicPr>
          <p:cNvPr id="6" name="Picture 5"/>
          <p:cNvPicPr>
            <a:picLocks noChangeAspect="1"/>
          </p:cNvPicPr>
          <p:nvPr/>
        </p:nvPicPr>
        <p:blipFill rotWithShape="1">
          <a:blip r:embed="rId2"/>
          <a:srcRect b="54426"/>
          <a:stretch/>
        </p:blipFill>
        <p:spPr>
          <a:xfrm>
            <a:off x="2820605" y="1444056"/>
            <a:ext cx="6540836" cy="1400745"/>
          </a:xfrm>
          <a:prstGeom prst="rect">
            <a:avLst/>
          </a:prstGeom>
        </p:spPr>
      </p:pic>
      <p:sp>
        <p:nvSpPr>
          <p:cNvPr id="4" name="Rectangle 3"/>
          <p:cNvSpPr/>
          <p:nvPr/>
        </p:nvSpPr>
        <p:spPr>
          <a:xfrm>
            <a:off x="694266" y="2713335"/>
            <a:ext cx="10773834" cy="646331"/>
          </a:xfrm>
          <a:prstGeom prst="rect">
            <a:avLst/>
          </a:prstGeom>
        </p:spPr>
        <p:txBody>
          <a:bodyPr wrap="square">
            <a:spAutoFit/>
          </a:bodyPr>
          <a:lstStyle/>
          <a:p>
            <a:pPr lvl="1" algn="just"/>
            <a:r>
              <a:rPr lang="el-GR" b="1" kern="0" dirty="0">
                <a:solidFill>
                  <a:sysClr val="windowText" lastClr="000000"/>
                </a:solidFill>
                <a:latin typeface="fkGroteskNeue"/>
              </a:rPr>
              <a:t>(</a:t>
            </a:r>
            <a:r>
              <a:rPr lang="en-US" b="1" kern="0" dirty="0">
                <a:solidFill>
                  <a:sysClr val="windowText" lastClr="000000"/>
                </a:solidFill>
                <a:latin typeface="fkGroteskNeue"/>
              </a:rPr>
              <a:t>a) Impulse response: </a:t>
            </a:r>
            <a:r>
              <a:rPr lang="en-US" kern="0" dirty="0">
                <a:solidFill>
                  <a:sysClr val="windowText" lastClr="000000"/>
                </a:solidFill>
                <a:latin typeface="fkGroteskNeue"/>
              </a:rPr>
              <a:t>A single “kick” yields a constant-amplitude oscillation, analogous to a perfectly lossless pendulum swinging forever.</a:t>
            </a:r>
            <a:endParaRPr lang="en-US" kern="0" dirty="0">
              <a:solidFill>
                <a:sysClr val="windowText" lastClr="000000"/>
              </a:solidFill>
              <a:latin typeface="fkGroteskNeue"/>
            </a:endParaRPr>
          </a:p>
        </p:txBody>
      </p:sp>
    </p:spTree>
    <p:extLst>
      <p:ext uri="{BB962C8B-B14F-4D97-AF65-F5344CB8AC3E}">
        <p14:creationId xmlns:p14="http://schemas.microsoft.com/office/powerpoint/2010/main" val="183690877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Impulse </a:t>
            </a:r>
            <a:r>
              <a:rPr lang="en-US" dirty="0" smtClean="0"/>
              <a:t>Response</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5730875" cy="3148747"/>
              </a:xfrm>
            </p:spPr>
            <p:txBody>
              <a:bodyPr/>
              <a:lstStyle/>
              <a:p>
                <a:r>
                  <a:rPr lang="en-US" dirty="0" smtClean="0">
                    <a:solidFill>
                      <a:srgbClr val="000000"/>
                    </a:solidFill>
                    <a:latin typeface="inter"/>
                    <a:ea typeface="inter"/>
                    <a:cs typeface="inter"/>
                  </a:rPr>
                  <a:t>An </a:t>
                </a:r>
                <a:r>
                  <a:rPr lang="en-US" dirty="0">
                    <a:solidFill>
                      <a:srgbClr val="000000"/>
                    </a:solidFill>
                    <a:latin typeface="inter"/>
                    <a:ea typeface="inter"/>
                    <a:cs typeface="inter"/>
                  </a:rPr>
                  <a:t>impulse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𝛿</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dirty="0">
                    <a:solidFill>
                      <a:srgbClr val="000000"/>
                    </a:solidFill>
                    <a:latin typeface="inter"/>
                    <a:ea typeface="inter"/>
                    <a:cs typeface="inter"/>
                  </a:rPr>
                  <a:t> is applied at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oMath>
                </a14:m>
                <a:r>
                  <a:rPr lang="en-US" dirty="0">
                    <a:solidFill>
                      <a:srgbClr val="000000"/>
                    </a:solidFill>
                    <a:latin typeface="inter"/>
                    <a:ea typeface="inter"/>
                    <a:cs typeface="inter"/>
                  </a:rPr>
                  <a:t>. The system response is:</a:t>
                </a:r>
                <a:endParaRPr lang="en-US"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h</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ℒ</m:t>
                          </m:r>
                        </m:e>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p>
                      </m:sSup>
                      <m:d>
                        <m:dPr>
                          <m:begChr m:val="{"/>
                          <m:endChr m:val="}"/>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num>
                            <m:den>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e>
                      </m:d>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dirty="0">
                    <a:solidFill>
                      <a:srgbClr val="000000"/>
                    </a:solidFill>
                    <a:latin typeface="inter"/>
                    <a:ea typeface="inter"/>
                    <a:cs typeface="inter"/>
                  </a:rPr>
                  <a:t>For a marginally stable system (poles on imaginary axis at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h</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sin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dirty="0">
                    <a:solidFill>
                      <a:srgbClr val="000000"/>
                    </a:solidFill>
                    <a:latin typeface="inter"/>
                    <a:ea typeface="inter"/>
                    <a:cs typeface="inter"/>
                  </a:rPr>
                  <a:t>The response oscillates indefinitely (in the ideal case, without damping or saturation).</a:t>
                </a:r>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5730875" cy="3148747"/>
              </a:xfrm>
              <a:blipFill>
                <a:blip r:embed="rId2"/>
                <a:stretch>
                  <a:fillRect l="-2766" t="-2326" r="-3617"/>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3"/>
          <a:srcRect l="15002"/>
          <a:stretch/>
        </p:blipFill>
        <p:spPr>
          <a:xfrm>
            <a:off x="6631806" y="1322611"/>
            <a:ext cx="5560194" cy="1402202"/>
          </a:xfrm>
          <a:prstGeom prst="rect">
            <a:avLst/>
          </a:prstGeom>
        </p:spPr>
      </p:pic>
      <mc:AlternateContent xmlns:mc="http://schemas.openxmlformats.org/markup-compatibility/2006">
        <mc:Choice xmlns:a14="http://schemas.microsoft.com/office/drawing/2010/main" Requires="a14">
          <p:sp>
            <p:nvSpPr>
              <p:cNvPr id="8" name="Rectangle 7"/>
              <p:cNvSpPr/>
              <p:nvPr/>
            </p:nvSpPr>
            <p:spPr>
              <a:xfrm>
                <a:off x="699434" y="4808068"/>
                <a:ext cx="11072261" cy="1323439"/>
              </a:xfrm>
              <a:prstGeom prst="rect">
                <a:avLst/>
              </a:prstGeom>
            </p:spPr>
            <p:txBody>
              <a:bodyPr wrap="square">
                <a:spAutoFit/>
              </a:bodyPr>
              <a:lstStyle/>
              <a:p>
                <a:pPr lvl="0" algn="ctr"/>
                <a:r>
                  <a:rPr lang="en-US" sz="2000" b="1" kern="0" dirty="0">
                    <a:solidFill>
                      <a:srgbClr val="000000"/>
                    </a:solidFill>
                    <a:latin typeface="inter"/>
                    <a:ea typeface="inter"/>
                    <a:cs typeface="inter"/>
                  </a:rPr>
                  <a:t>Physical Interpretation:</a:t>
                </a:r>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2000" kern="0" dirty="0">
                    <a:solidFill>
                      <a:srgbClr val="000000"/>
                    </a:solidFill>
                    <a:latin typeface="inter"/>
                    <a:ea typeface="inter"/>
                    <a:cs typeface="inter"/>
                  </a:rPr>
                  <a:t>Even a brief impulse can seed sustained oscillation because the system has zero damping at </a:t>
                </a:r>
                <a14:m>
                  <m:oMath xmlns:m="http://schemas.openxmlformats.org/officeDocument/2006/math">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2000" kern="0" dirty="0">
                    <a:solidFill>
                      <a:srgbClr val="000000"/>
                    </a:solidFill>
                    <a:latin typeface="inter"/>
                    <a:ea typeface="inter"/>
                    <a:cs typeface="inter"/>
                  </a:rPr>
                  <a:t>. Energy from the impulse is stored in the reactive elements and recirculates around the loop indefinitely.</a:t>
                </a:r>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8" name="Rectangle 7"/>
              <p:cNvSpPr>
                <a:spLocks noRot="1" noChangeAspect="1" noMove="1" noResize="1" noEditPoints="1" noAdjustHandles="1" noChangeArrowheads="1" noChangeShapeType="1" noTextEdit="1"/>
              </p:cNvSpPr>
              <p:nvPr/>
            </p:nvSpPr>
            <p:spPr>
              <a:xfrm>
                <a:off x="699434" y="4808068"/>
                <a:ext cx="11072261" cy="1323439"/>
              </a:xfrm>
              <a:prstGeom prst="rect">
                <a:avLst/>
              </a:prstGeom>
              <a:blipFill>
                <a:blip r:embed="rId4"/>
                <a:stretch>
                  <a:fillRect l="-606" t="-2765" r="-1156" b="-7373"/>
                </a:stretch>
              </a:blipFill>
            </p:spPr>
            <p:txBody>
              <a:bodyPr/>
              <a:lstStyle/>
              <a:p>
                <a:r>
                  <a:rPr lang="en-US">
                    <a:noFill/>
                  </a:rPr>
                  <a:t> </a:t>
                </a:r>
              </a:p>
            </p:txBody>
          </p:sp>
        </mc:Fallback>
      </mc:AlternateContent>
    </p:spTree>
    <p:extLst>
      <p:ext uri="{BB962C8B-B14F-4D97-AF65-F5344CB8AC3E}">
        <p14:creationId xmlns:p14="http://schemas.microsoft.com/office/powerpoint/2010/main" val="27913845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Sinusoidal Input at Oscillation </a:t>
            </a:r>
            <a:r>
              <a:rPr lang="en-US" dirty="0" smtClean="0"/>
              <a:t>Frequency</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5151989" cy="3468194"/>
              </a:xfrm>
            </p:spPr>
            <p:txBody>
              <a:bodyPr/>
              <a:lstStyle/>
              <a:p>
                <a:pPr>
                  <a:spcAft>
                    <a:spcPts val="1050"/>
                  </a:spcAft>
                </a:pPr>
                <a:r>
                  <a:rPr lang="en-US" dirty="0" smtClean="0">
                    <a:solidFill>
                      <a:srgbClr val="000000"/>
                    </a:solidFill>
                    <a:latin typeface="inter"/>
                    <a:ea typeface="inter"/>
                    <a:cs typeface="inter"/>
                  </a:rPr>
                  <a:t>A </a:t>
                </a:r>
                <a:r>
                  <a:rPr lang="en-US" dirty="0">
                    <a:solidFill>
                      <a:srgbClr val="000000"/>
                    </a:solidFill>
                    <a:latin typeface="inter"/>
                    <a:ea typeface="inter"/>
                    <a:cs typeface="inter"/>
                  </a:rPr>
                  <a:t>sinusoidal input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𝑥</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𝑖𝑛</m:t>
                        </m:r>
                      </m:sub>
                    </m:sSub>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sin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dirty="0">
                    <a:solidFill>
                      <a:srgbClr val="000000"/>
                    </a:solidFill>
                    <a:latin typeface="inter"/>
                    <a:ea typeface="inter"/>
                    <a:cs typeface="inter"/>
                  </a:rPr>
                  <a:t> is applied. The steady-state response is:</a:t>
                </a:r>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𝑦</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𝑖𝑛</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sin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dirty="0">
                    <a:solidFill>
                      <a:srgbClr val="000000"/>
                    </a:solidFill>
                    <a:latin typeface="inter"/>
                    <a:ea typeface="inter"/>
                    <a:cs typeface="inter"/>
                  </a:rPr>
                  <a:t>At the oscillation frequency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𝑦</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𝑖𝑛</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sin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+180°)=</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𝑖𝑛</m:t>
                          </m:r>
                        </m:sub>
                      </m:sSub>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sin</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dirty="0">
                    <a:solidFill>
                      <a:srgbClr val="000000"/>
                    </a:solidFill>
                    <a:latin typeface="inter"/>
                    <a:ea typeface="inter"/>
                    <a:cs typeface="inter"/>
                  </a:rPr>
                  <a:t>The output has the same amplitude as the input but inverted (180° phase shift</a:t>
                </a:r>
                <a:r>
                  <a:rPr lang="en-US" dirty="0" smtClean="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5151989" cy="3468194"/>
              </a:xfrm>
              <a:blipFill>
                <a:blip r:embed="rId2"/>
                <a:stretch>
                  <a:fillRect l="-3077" t="-2109"/>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83485" y="6450046"/>
            <a:ext cx="1350452" cy="239512"/>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23903" y="642040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3"/>
          <a:srcRect l="4408"/>
          <a:stretch/>
        </p:blipFill>
        <p:spPr>
          <a:xfrm>
            <a:off x="5938787" y="1256194"/>
            <a:ext cx="6253213" cy="1438781"/>
          </a:xfrm>
          <a:prstGeom prst="rect">
            <a:avLst/>
          </a:prstGeom>
        </p:spPr>
      </p:pic>
      <mc:AlternateContent xmlns:mc="http://schemas.openxmlformats.org/markup-compatibility/2006">
        <mc:Choice xmlns:a14="http://schemas.microsoft.com/office/drawing/2010/main" Requires="a14">
          <p:sp>
            <p:nvSpPr>
              <p:cNvPr id="8" name="Rectangle 7"/>
              <p:cNvSpPr/>
              <p:nvPr/>
            </p:nvSpPr>
            <p:spPr>
              <a:xfrm>
                <a:off x="548639" y="4833962"/>
                <a:ext cx="11309684" cy="1156727"/>
              </a:xfrm>
              <a:prstGeom prst="rect">
                <a:avLst/>
              </a:prstGeom>
            </p:spPr>
            <p:txBody>
              <a:bodyPr wrap="square">
                <a:spAutoFit/>
              </a:bodyPr>
              <a:lstStyle/>
              <a:p>
                <a:pPr lvl="0">
                  <a:spcAft>
                    <a:spcPts val="1050"/>
                  </a:spcAft>
                </a:pPr>
                <a:r>
                  <a:rPr lang="en-US" sz="2000" b="1" kern="0" dirty="0">
                    <a:solidFill>
                      <a:srgbClr val="000000"/>
                    </a:solidFill>
                    <a:latin typeface="inter"/>
                    <a:ea typeface="inter"/>
                    <a:cs typeface="inter"/>
                  </a:rPr>
                  <a:t>Critical Observation:</a:t>
                </a:r>
                <a:endParaRPr lang="en-US" sz="20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spcAft>
                    <a:spcPts val="1050"/>
                  </a:spcAft>
                </a:pPr>
                <a:r>
                  <a:rPr lang="en-US" sz="2000" kern="0" dirty="0">
                    <a:solidFill>
                      <a:srgbClr val="000000"/>
                    </a:solidFill>
                    <a:latin typeface="inter"/>
                    <a:ea typeface="inter"/>
                    <a:cs typeface="inter"/>
                  </a:rPr>
                  <a:t>Since </a:t>
                </a:r>
                <a14:m>
                  <m:oMath xmlns:m="http://schemas.openxmlformats.org/officeDocument/2006/math">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𝐻</m:t>
                    </m:r>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a14:m>
                <a:r>
                  <a:rPr lang="en-US" sz="2000" kern="0" dirty="0">
                    <a:solidFill>
                      <a:srgbClr val="000000"/>
                    </a:solidFill>
                    <a:latin typeface="inter"/>
                    <a:ea typeface="inter"/>
                    <a:cs typeface="inter"/>
                  </a:rPr>
                  <a:t>, the feedback signal exactly replaces the input signal. Any small perturbation at </a:t>
                </a:r>
                <a14:m>
                  <m:oMath xmlns:m="http://schemas.openxmlformats.org/officeDocument/2006/math">
                    <m:sSub>
                      <m:sSubPr>
                        <m:ctrlP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20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sz="2000" kern="0" dirty="0">
                    <a:solidFill>
                      <a:srgbClr val="000000"/>
                    </a:solidFill>
                    <a:latin typeface="inter"/>
                    <a:ea typeface="inter"/>
                    <a:cs typeface="inter"/>
                  </a:rPr>
                  <a:t> is sustained by the feedback without external drive—the definition of self-oscillation</a:t>
                </a:r>
                <a:endParaRPr lang="en-US" dirty="0"/>
              </a:p>
            </p:txBody>
          </p:sp>
        </mc:Choice>
        <mc:Fallback>
          <p:sp>
            <p:nvSpPr>
              <p:cNvPr id="8" name="Rectangle 7"/>
              <p:cNvSpPr>
                <a:spLocks noRot="1" noChangeAspect="1" noMove="1" noResize="1" noEditPoints="1" noAdjustHandles="1" noChangeArrowheads="1" noChangeShapeType="1" noTextEdit="1"/>
              </p:cNvSpPr>
              <p:nvPr/>
            </p:nvSpPr>
            <p:spPr>
              <a:xfrm>
                <a:off x="548639" y="4833962"/>
                <a:ext cx="11309684" cy="1156727"/>
              </a:xfrm>
              <a:prstGeom prst="rect">
                <a:avLst/>
              </a:prstGeom>
              <a:blipFill>
                <a:blip r:embed="rId4"/>
                <a:stretch>
                  <a:fillRect l="-539" t="-3158" r="-755" b="-7895"/>
                </a:stretch>
              </a:blipFill>
            </p:spPr>
            <p:txBody>
              <a:bodyPr/>
              <a:lstStyle/>
              <a:p>
                <a:r>
                  <a:rPr lang="en-US">
                    <a:noFill/>
                  </a:rPr>
                  <a:t> </a:t>
                </a:r>
              </a:p>
            </p:txBody>
          </p:sp>
        </mc:Fallback>
      </mc:AlternateContent>
    </p:spTree>
    <p:extLst>
      <p:ext uri="{BB962C8B-B14F-4D97-AF65-F5344CB8AC3E}">
        <p14:creationId xmlns:p14="http://schemas.microsoft.com/office/powerpoint/2010/main" val="1814939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3. Positive Feedback at DC and Ring-Latch </a:t>
            </a:r>
            <a:r>
              <a:rPr lang="en-US" dirty="0" smtClean="0">
                <a:latin typeface="fkGrotesk"/>
              </a:rPr>
              <a:t>Behavior</a:t>
            </a:r>
            <a:endParaRPr lang="en-US" dirty="0"/>
          </a:p>
        </p:txBody>
      </p:sp>
      <p:sp>
        <p:nvSpPr>
          <p:cNvPr id="3" name="Text Placeholder 2"/>
          <p:cNvSpPr>
            <a:spLocks noGrp="1"/>
          </p:cNvSpPr>
          <p:nvPr>
            <p:ph type="body" idx="1"/>
          </p:nvPr>
        </p:nvSpPr>
        <p:spPr>
          <a:xfrm>
            <a:off x="835123" y="1138816"/>
            <a:ext cx="10703983" cy="2308324"/>
          </a:xfrm>
        </p:spPr>
        <p:txBody>
          <a:bodyPr/>
          <a:lstStyle/>
          <a:p>
            <a:pPr algn="just"/>
            <a:r>
              <a:rPr lang="en-US" dirty="0" smtClean="0">
                <a:latin typeface="fkGroteskNeue"/>
              </a:rPr>
              <a:t>While oscillators leverage positive feedback at a finite ω₀, </a:t>
            </a:r>
            <a:r>
              <a:rPr lang="en-US" b="1" dirty="0" smtClean="0">
                <a:latin typeface="fkGroteskNeue"/>
              </a:rPr>
              <a:t>unwanted positive feedback at DC </a:t>
            </a:r>
            <a:r>
              <a:rPr lang="en-US" dirty="0" smtClean="0">
                <a:latin typeface="fkGroteskNeue"/>
              </a:rPr>
              <a:t>must be avoided:</a:t>
            </a:r>
          </a:p>
          <a:p>
            <a:pPr marL="914400" lvl="1" indent="-457200" algn="just">
              <a:buFont typeface="Wingdings" panose="05000000000000000000" pitchFamily="2" charset="2"/>
              <a:buChar char="q"/>
            </a:pPr>
            <a:r>
              <a:rPr lang="en-US" b="1" dirty="0" smtClean="0">
                <a:latin typeface="fkGroteskNeue"/>
              </a:rPr>
              <a:t>Figure</a:t>
            </a:r>
            <a:r>
              <a:rPr lang="en-US" dirty="0">
                <a:latin typeface="fkGroteskNeue"/>
              </a:rPr>
              <a:t> shows two CS stages cascaded. Each inverts, so at low frequencies the net loop gain can exceed unity and act as a static </a:t>
            </a:r>
            <a:r>
              <a:rPr lang="en-US" b="1" i="1" dirty="0">
                <a:solidFill>
                  <a:srgbClr val="C00000"/>
                </a:solidFill>
                <a:latin typeface="fkGroteskNeue"/>
              </a:rPr>
              <a:t>regenerative latch</a:t>
            </a:r>
            <a:r>
              <a:rPr lang="en-US" dirty="0">
                <a:latin typeface="fkGroteskNeue"/>
              </a:rPr>
              <a:t>, not an oscillator</a:t>
            </a:r>
            <a:r>
              <a:rPr lang="en-US" dirty="0" smtClean="0">
                <a:latin typeface="fkGroteskNeue"/>
              </a:rPr>
              <a:t>.</a:t>
            </a:r>
          </a:p>
          <a:p>
            <a:pPr marL="914400" lvl="1" indent="-457200" algn="just">
              <a:buFont typeface="Wingdings" panose="05000000000000000000" pitchFamily="2" charset="2"/>
              <a:buChar char="q"/>
            </a:pPr>
            <a:r>
              <a:rPr lang="en-US" dirty="0" smtClean="0">
                <a:latin typeface="fkGroteskNeue"/>
              </a:rPr>
              <a:t>A </a:t>
            </a:r>
            <a:r>
              <a:rPr lang="en-US" dirty="0">
                <a:latin typeface="fkGroteskNeue"/>
              </a:rPr>
              <a:t>small perturbation in V</a:t>
            </a:r>
            <a:r>
              <a:rPr lang="en-US" baseline="-25000" dirty="0">
                <a:latin typeface="fkGroteskNeue"/>
              </a:rPr>
              <a:t>X</a:t>
            </a:r>
            <a:r>
              <a:rPr lang="en-US" dirty="0">
                <a:latin typeface="fkGroteskNeue"/>
              </a:rPr>
              <a:t> is amplified and fed back positively, forcing the outputs to rail and storing a bit of </a:t>
            </a:r>
            <a:r>
              <a:rPr lang="en-US" dirty="0" smtClean="0">
                <a:latin typeface="fkGroteskNeue"/>
              </a:rPr>
              <a:t>information.</a:t>
            </a:r>
          </a:p>
          <a:p>
            <a:pPr lvl="1" algn="just"/>
            <a:endParaRPr lang="en-US" dirty="0" smtClean="0">
              <a:latin typeface="fkGroteskNeue"/>
            </a:endParaRPr>
          </a:p>
          <a:p>
            <a:endParaRPr lang="en-US" dirty="0"/>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l="8985" t="3102" r="5394" b="4144"/>
          <a:stretch/>
        </p:blipFill>
        <p:spPr>
          <a:xfrm>
            <a:off x="4224866" y="2912532"/>
            <a:ext cx="4178300" cy="2260601"/>
          </a:xfrm>
          <a:prstGeom prst="rect">
            <a:avLst/>
          </a:prstGeom>
        </p:spPr>
      </p:pic>
      <p:sp>
        <p:nvSpPr>
          <p:cNvPr id="8" name="Rectangle 7"/>
          <p:cNvSpPr/>
          <p:nvPr/>
        </p:nvSpPr>
        <p:spPr>
          <a:xfrm>
            <a:off x="4859427" y="6417137"/>
            <a:ext cx="4664097" cy="338554"/>
          </a:xfrm>
          <a:prstGeom prst="rect">
            <a:avLst/>
          </a:prstGeom>
        </p:spPr>
        <p:txBody>
          <a:bodyPr wrap="none">
            <a:spAutoFit/>
          </a:bodyPr>
          <a:lstStyle/>
          <a:p>
            <a:r>
              <a:rPr lang="en-US" sz="1600" b="1" i="0" u="none" strike="noStrike" baseline="0" dirty="0" smtClean="0">
                <a:solidFill>
                  <a:srgbClr val="231F20"/>
                </a:solidFill>
                <a:latin typeface="T3Font_164"/>
              </a:rPr>
              <a:t>Figure 1.11 </a:t>
            </a:r>
            <a:r>
              <a:rPr lang="en-US" sz="1600" b="1" i="0" u="none" strike="noStrike" baseline="0" dirty="0" smtClean="0">
                <a:solidFill>
                  <a:srgbClr val="231F20"/>
                </a:solidFill>
                <a:latin typeface="T3Font_165"/>
              </a:rPr>
              <a:t>Two CS stages in a feedback loop.</a:t>
            </a:r>
            <a:endParaRPr lang="en-US" sz="4400" b="1" dirty="0"/>
          </a:p>
        </p:txBody>
      </p:sp>
      <p:sp>
        <p:nvSpPr>
          <p:cNvPr id="4" name="Rectangle 3"/>
          <p:cNvSpPr/>
          <p:nvPr/>
        </p:nvSpPr>
        <p:spPr>
          <a:xfrm>
            <a:off x="355599" y="5453503"/>
            <a:ext cx="11078633" cy="646331"/>
          </a:xfrm>
          <a:prstGeom prst="rect">
            <a:avLst/>
          </a:prstGeom>
        </p:spPr>
        <p:txBody>
          <a:bodyPr wrap="square">
            <a:spAutoFit/>
          </a:bodyPr>
          <a:lstStyle/>
          <a:p>
            <a:pPr lvl="1" algn="just"/>
            <a:r>
              <a:rPr lang="en-US" b="1" dirty="0">
                <a:latin typeface="fkGroteskNeue"/>
              </a:rPr>
              <a:t>Design Lesson: </a:t>
            </a:r>
            <a:r>
              <a:rPr lang="en-US" dirty="0">
                <a:latin typeface="fkGroteskNeue"/>
              </a:rPr>
              <a:t>Ensure that at DC the overall loop gain remains less than unity (or negative feedback dominates) so the circuit does not latch up but only oscillates at the intended high frequency.</a:t>
            </a:r>
            <a:endParaRPr lang="en-US" dirty="0">
              <a:latin typeface="fkGroteskNeue"/>
            </a:endParaRPr>
          </a:p>
        </p:txBody>
      </p:sp>
      <p:sp>
        <p:nvSpPr>
          <p:cNvPr id="5" name="Rectangle 4"/>
          <p:cNvSpPr/>
          <p:nvPr/>
        </p:nvSpPr>
        <p:spPr>
          <a:xfrm>
            <a:off x="4133800" y="3639578"/>
            <a:ext cx="470000" cy="400110"/>
          </a:xfrm>
          <a:prstGeom prst="rect">
            <a:avLst/>
          </a:prstGeom>
        </p:spPr>
        <p:txBody>
          <a:bodyPr wrap="none">
            <a:spAutoFit/>
          </a:bodyPr>
          <a:lstStyle/>
          <a:p>
            <a:r>
              <a:rPr lang="en-US" sz="2000" b="1" i="1" kern="0" dirty="0">
                <a:solidFill>
                  <a:srgbClr val="C00000"/>
                </a:solidFill>
                <a:latin typeface="fkGroteskNeue"/>
              </a:rPr>
              <a:t>V</a:t>
            </a:r>
            <a:r>
              <a:rPr lang="en-US" sz="2000" b="1" i="1" kern="0" baseline="-25000" dirty="0">
                <a:solidFill>
                  <a:srgbClr val="C00000"/>
                </a:solidFill>
                <a:latin typeface="fkGroteskNeue"/>
              </a:rPr>
              <a:t>X</a:t>
            </a:r>
            <a:endParaRPr lang="en-US" b="1" i="1" dirty="0">
              <a:solidFill>
                <a:srgbClr val="C00000"/>
              </a:solidFill>
            </a:endParaRPr>
          </a:p>
        </p:txBody>
      </p:sp>
      <p:sp>
        <p:nvSpPr>
          <p:cNvPr id="9" name="Rectangle 8"/>
          <p:cNvSpPr/>
          <p:nvPr/>
        </p:nvSpPr>
        <p:spPr>
          <a:xfrm>
            <a:off x="6220833" y="3580312"/>
            <a:ext cx="470000" cy="400110"/>
          </a:xfrm>
          <a:prstGeom prst="rect">
            <a:avLst/>
          </a:prstGeom>
        </p:spPr>
        <p:txBody>
          <a:bodyPr wrap="none">
            <a:spAutoFit/>
          </a:bodyPr>
          <a:lstStyle/>
          <a:p>
            <a:r>
              <a:rPr lang="en-US" sz="2000" b="1" i="1" kern="0" dirty="0" smtClean="0">
                <a:solidFill>
                  <a:srgbClr val="C00000"/>
                </a:solidFill>
                <a:latin typeface="fkGroteskNeue"/>
              </a:rPr>
              <a:t>V</a:t>
            </a:r>
            <a:r>
              <a:rPr lang="en-US" sz="2000" b="1" i="1" kern="0" baseline="-25000" dirty="0">
                <a:solidFill>
                  <a:srgbClr val="C00000"/>
                </a:solidFill>
                <a:latin typeface="fkGroteskNeue"/>
              </a:rPr>
              <a:t>Y</a:t>
            </a:r>
            <a:endParaRPr lang="en-US" b="1" i="1" dirty="0">
              <a:solidFill>
                <a:srgbClr val="C00000"/>
              </a:solidFill>
            </a:endParaRPr>
          </a:p>
        </p:txBody>
      </p:sp>
    </p:spTree>
    <p:extLst>
      <p:ext uri="{BB962C8B-B14F-4D97-AF65-F5344CB8AC3E}">
        <p14:creationId xmlns:p14="http://schemas.microsoft.com/office/powerpoint/2010/main" val="277886633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4. Ring Oscillator </a:t>
            </a:r>
            <a:r>
              <a:rPr lang="en-US" dirty="0" smtClean="0">
                <a:latin typeface="fkGrotesk"/>
              </a:rPr>
              <a:t>Foundations</a:t>
            </a:r>
            <a:endParaRPr lang="en-US" dirty="0"/>
          </a:p>
        </p:txBody>
      </p:sp>
      <p:sp>
        <p:nvSpPr>
          <p:cNvPr id="3" name="Text Placeholder 2"/>
          <p:cNvSpPr>
            <a:spLocks noGrp="1"/>
          </p:cNvSpPr>
          <p:nvPr>
            <p:ph type="body" idx="1"/>
          </p:nvPr>
        </p:nvSpPr>
        <p:spPr>
          <a:xfrm>
            <a:off x="844550" y="1327353"/>
            <a:ext cx="10712712" cy="4001095"/>
          </a:xfrm>
        </p:spPr>
        <p:txBody>
          <a:bodyPr/>
          <a:lstStyle/>
          <a:p>
            <a:pPr algn="just"/>
            <a:r>
              <a:rPr lang="en-US" dirty="0" smtClean="0">
                <a:latin typeface="fkGroteskNeue"/>
              </a:rPr>
              <a:t>A</a:t>
            </a:r>
            <a:r>
              <a:rPr lang="en-US" dirty="0">
                <a:latin typeface="fkGroteskNeue"/>
              </a:rPr>
              <a:t> </a:t>
            </a:r>
            <a:r>
              <a:rPr lang="en-US" b="1" dirty="0">
                <a:latin typeface="fkGroteskNeue"/>
              </a:rPr>
              <a:t>ring oscillator</a:t>
            </a:r>
            <a:r>
              <a:rPr lang="en-US" dirty="0">
                <a:latin typeface="fkGroteskNeue"/>
              </a:rPr>
              <a:t> uses a cascade of odd-numbered inverting stages (buffers or CS amplifiers) with delay elements</a:t>
            </a:r>
            <a:r>
              <a:rPr lang="en-US" dirty="0" smtClean="0">
                <a:latin typeface="fkGroteskNeue"/>
              </a:rPr>
              <a:t>:</a:t>
            </a:r>
          </a:p>
          <a:p>
            <a:pPr algn="just"/>
            <a:endParaRPr lang="en-US" dirty="0">
              <a:latin typeface="fkGroteskNeue"/>
            </a:endParaRPr>
          </a:p>
          <a:p>
            <a:pPr marL="800100" lvl="1" indent="-342900" algn="just">
              <a:buFont typeface="Wingdings" panose="05000000000000000000" pitchFamily="2" charset="2"/>
              <a:buChar char="q"/>
            </a:pPr>
            <a:r>
              <a:rPr lang="en-US" sz="2000" b="1" dirty="0">
                <a:solidFill>
                  <a:srgbClr val="C00000"/>
                </a:solidFill>
                <a:latin typeface="fkGroteskNeue"/>
              </a:rPr>
              <a:t>Each stage provides ~180° </a:t>
            </a:r>
            <a:endParaRPr lang="en-US" sz="2000" b="1" dirty="0" smtClean="0">
              <a:solidFill>
                <a:srgbClr val="C00000"/>
              </a:solidFill>
              <a:latin typeface="fkGroteskNeue"/>
            </a:endParaRPr>
          </a:p>
          <a:p>
            <a:pPr marL="800100" lvl="1" indent="-342900" algn="just">
              <a:buFont typeface="Wingdings" panose="05000000000000000000" pitchFamily="2" charset="2"/>
              <a:buChar char="q"/>
            </a:pPr>
            <a:r>
              <a:rPr lang="en-US" sz="2000" b="1" dirty="0">
                <a:solidFill>
                  <a:srgbClr val="C00000"/>
                </a:solidFill>
                <a:latin typeface="fkGroteskNeue"/>
              </a:rPr>
              <a:t>T</a:t>
            </a:r>
            <a:r>
              <a:rPr lang="en-US" sz="2000" b="1" dirty="0" smtClean="0">
                <a:solidFill>
                  <a:srgbClr val="C00000"/>
                </a:solidFill>
                <a:latin typeface="fkGroteskNeue"/>
              </a:rPr>
              <a:t>otal </a:t>
            </a:r>
            <a:r>
              <a:rPr lang="en-US" sz="2000" b="1" dirty="0">
                <a:solidFill>
                  <a:srgbClr val="C00000"/>
                </a:solidFill>
                <a:latin typeface="fkGroteskNeue"/>
              </a:rPr>
              <a:t>phase shift </a:t>
            </a:r>
            <a:r>
              <a:rPr lang="en-US" sz="2000" dirty="0">
                <a:latin typeface="fkGroteskNeue"/>
              </a:rPr>
              <a:t>when </a:t>
            </a:r>
            <a:r>
              <a:rPr lang="en-US" sz="2000" b="1" dirty="0">
                <a:solidFill>
                  <a:srgbClr val="C00000"/>
                </a:solidFill>
                <a:latin typeface="fkGroteskNeue"/>
              </a:rPr>
              <a:t>the cumulative delays equal half a period</a:t>
            </a:r>
            <a:r>
              <a:rPr lang="en-US" sz="2000" dirty="0">
                <a:latin typeface="fkGroteskNeue"/>
              </a:rPr>
              <a:t>.</a:t>
            </a:r>
          </a:p>
          <a:p>
            <a:pPr marL="800100" lvl="1" indent="-342900" algn="just">
              <a:buFont typeface="Wingdings" panose="05000000000000000000" pitchFamily="2" charset="2"/>
              <a:buChar char="q"/>
            </a:pPr>
            <a:r>
              <a:rPr lang="en-US" sz="2000" dirty="0">
                <a:latin typeface="fkGroteskNeue"/>
              </a:rPr>
              <a:t>Loop gain &gt;1 at that frequency ensures startup.</a:t>
            </a:r>
          </a:p>
          <a:p>
            <a:pPr marL="800100" lvl="1" indent="-342900" algn="just">
              <a:buFont typeface="Wingdings" panose="05000000000000000000" pitchFamily="2" charset="2"/>
              <a:buChar char="q"/>
            </a:pPr>
            <a:r>
              <a:rPr lang="en-US" sz="2000" dirty="0">
                <a:latin typeface="fkGroteskNeue"/>
              </a:rPr>
              <a:t>Unlike LC oscillators, ring oscillators rely solely on delay-based phase shift and device gain</a:t>
            </a:r>
            <a:r>
              <a:rPr lang="en-US" sz="2000" dirty="0" smtClean="0">
                <a:latin typeface="fkGroteskNeue"/>
              </a:rPr>
              <a:t>.</a:t>
            </a:r>
          </a:p>
          <a:p>
            <a:pPr marL="800100" lvl="1" indent="-342900" algn="just">
              <a:buFont typeface="Arial" panose="020B0604020202020204" pitchFamily="34" charset="0"/>
              <a:buChar char="•"/>
            </a:pPr>
            <a:endParaRPr lang="en-US" sz="2000" dirty="0">
              <a:latin typeface="fkGroteskNeue"/>
            </a:endParaRPr>
          </a:p>
          <a:p>
            <a:pPr algn="just"/>
            <a:r>
              <a:rPr lang="en-US" dirty="0">
                <a:latin typeface="fkGroteskNeue"/>
              </a:rPr>
              <a:t>This topology naturally integrates </a:t>
            </a:r>
            <a:r>
              <a:rPr lang="en-US" dirty="0" smtClean="0">
                <a:latin typeface="fkGroteskNeue"/>
              </a:rPr>
              <a:t>on-chip, </a:t>
            </a:r>
            <a:r>
              <a:rPr lang="en-US" dirty="0">
                <a:latin typeface="fkGroteskNeue"/>
              </a:rPr>
              <a:t>offers wide frequency tuning via supply or device sizing, and illustrates the principle that </a:t>
            </a:r>
            <a:r>
              <a:rPr lang="en-US" b="1" dirty="0">
                <a:latin typeface="fkGroteskNeue"/>
              </a:rPr>
              <a:t>phase timing</a:t>
            </a:r>
            <a:r>
              <a:rPr lang="en-US" dirty="0">
                <a:latin typeface="fkGroteskNeue"/>
              </a:rPr>
              <a:t>—not energy storage in L or C alone—can define oscillation frequency.</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92105224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0750" y="0"/>
            <a:ext cx="10593196" cy="1046440"/>
          </a:xfrm>
        </p:spPr>
        <p:txBody>
          <a:bodyPr/>
          <a:lstStyle/>
          <a:p>
            <a:r>
              <a:rPr lang="en-US" dirty="0">
                <a:latin typeface="fkGrotesk"/>
              </a:rPr>
              <a:t>Fundamental </a:t>
            </a:r>
            <a:r>
              <a:rPr lang="en-US" dirty="0" smtClean="0">
                <a:latin typeface="fkGrotesk"/>
              </a:rPr>
              <a:t>Intuition for </a:t>
            </a:r>
            <a:r>
              <a:rPr lang="en-US" dirty="0">
                <a:latin typeface="fkGrotesk"/>
              </a:rPr>
              <a:t>Ring Oscillator Operation and </a:t>
            </a:r>
            <a:r>
              <a:rPr lang="en-US" dirty="0" smtClean="0">
                <a:latin typeface="fkGrotesk"/>
              </a:rPr>
              <a:t>Scaling</a:t>
            </a:r>
            <a:endParaRPr lang="en-US" dirty="0"/>
          </a:p>
        </p:txBody>
      </p:sp>
      <p:sp>
        <p:nvSpPr>
          <p:cNvPr id="3" name="Text Placeholder 2"/>
          <p:cNvSpPr>
            <a:spLocks noGrp="1"/>
          </p:cNvSpPr>
          <p:nvPr>
            <p:ph type="body" idx="1"/>
          </p:nvPr>
        </p:nvSpPr>
        <p:spPr>
          <a:xfrm>
            <a:off x="844550" y="1327353"/>
            <a:ext cx="10771717" cy="2462213"/>
          </a:xfrm>
        </p:spPr>
        <p:txBody>
          <a:bodyPr/>
          <a:lstStyle/>
          <a:p>
            <a:pPr algn="just"/>
            <a:r>
              <a:rPr lang="en-US" dirty="0">
                <a:latin typeface="fkGroteskNeue"/>
              </a:rPr>
              <a:t>Designing oscillators with multiple stages (N) directly impacts </a:t>
            </a:r>
            <a:endParaRPr lang="en-US" dirty="0" smtClean="0">
              <a:latin typeface="fkGroteskNeue"/>
            </a:endParaRPr>
          </a:p>
          <a:p>
            <a:pPr algn="just"/>
            <a:endParaRPr lang="en-US" dirty="0" smtClean="0">
              <a:latin typeface="fkGroteskNeue"/>
            </a:endParaRPr>
          </a:p>
          <a:p>
            <a:pPr marL="800100" lvl="1" indent="-342900" algn="just">
              <a:buFont typeface="Wingdings" panose="05000000000000000000" pitchFamily="2" charset="2"/>
              <a:buChar char="q"/>
            </a:pPr>
            <a:r>
              <a:rPr lang="en-US" sz="2000" dirty="0">
                <a:latin typeface="fkGroteskNeue"/>
              </a:rPr>
              <a:t>S</a:t>
            </a:r>
            <a:r>
              <a:rPr lang="en-US" sz="2000" dirty="0" smtClean="0">
                <a:latin typeface="fkGroteskNeue"/>
              </a:rPr>
              <a:t>tartup</a:t>
            </a:r>
            <a:r>
              <a:rPr lang="en-US" sz="2000" dirty="0">
                <a:latin typeface="fkGroteskNeue"/>
              </a:rPr>
              <a:t>, </a:t>
            </a:r>
            <a:endParaRPr lang="en-US" sz="2000" dirty="0" smtClean="0">
              <a:latin typeface="fkGroteskNeue"/>
            </a:endParaRPr>
          </a:p>
          <a:p>
            <a:pPr marL="800100" lvl="1" indent="-342900" algn="just">
              <a:buFont typeface="Wingdings" panose="05000000000000000000" pitchFamily="2" charset="2"/>
              <a:buChar char="q"/>
            </a:pPr>
            <a:r>
              <a:rPr lang="en-US" sz="2000" dirty="0">
                <a:latin typeface="fkGroteskNeue"/>
              </a:rPr>
              <a:t>F</a:t>
            </a:r>
            <a:r>
              <a:rPr lang="en-US" sz="2000" dirty="0" smtClean="0">
                <a:latin typeface="fkGroteskNeue"/>
              </a:rPr>
              <a:t>requency</a:t>
            </a:r>
            <a:r>
              <a:rPr lang="en-US" sz="2000" dirty="0">
                <a:latin typeface="fkGroteskNeue"/>
              </a:rPr>
              <a:t>, </a:t>
            </a:r>
            <a:endParaRPr lang="en-US" sz="2000" dirty="0" smtClean="0">
              <a:latin typeface="fkGroteskNeue"/>
            </a:endParaRPr>
          </a:p>
          <a:p>
            <a:pPr marL="800100" lvl="1" indent="-342900" algn="just">
              <a:buFont typeface="Wingdings" panose="05000000000000000000" pitchFamily="2" charset="2"/>
              <a:buChar char="q"/>
            </a:pPr>
            <a:r>
              <a:rPr lang="en-US" sz="2000" dirty="0" smtClean="0">
                <a:latin typeface="fkGroteskNeue"/>
              </a:rPr>
              <a:t>Gain </a:t>
            </a:r>
            <a:r>
              <a:rPr lang="en-US" sz="2000" dirty="0">
                <a:latin typeface="fkGroteskNeue"/>
              </a:rPr>
              <a:t>requirements. </a:t>
            </a:r>
            <a:endParaRPr lang="en-US" sz="2000" dirty="0" smtClean="0">
              <a:latin typeface="fkGroteskNeue"/>
            </a:endParaRPr>
          </a:p>
          <a:p>
            <a:pPr algn="just"/>
            <a:endParaRPr lang="en-US" dirty="0">
              <a:latin typeface="fkGroteskNeue"/>
            </a:endParaRPr>
          </a:p>
          <a:p>
            <a:pPr algn="just"/>
            <a:r>
              <a:rPr lang="en-US" dirty="0" smtClean="0">
                <a:latin typeface="fkGroteskNeue"/>
              </a:rPr>
              <a:t>We will explore the fundamental</a:t>
            </a:r>
            <a:r>
              <a:rPr lang="en-US" dirty="0">
                <a:latin typeface="fkGroteskNeue"/>
              </a:rPr>
              <a:t>, pedagogical explanation and figure breakdown tailored for </a:t>
            </a:r>
            <a:r>
              <a:rPr lang="en-US" dirty="0" smtClean="0">
                <a:latin typeface="fkGroteskNeue"/>
              </a:rPr>
              <a:t>in-depth </a:t>
            </a:r>
            <a:r>
              <a:rPr lang="en-US" dirty="0">
                <a:latin typeface="fkGroteskNeue"/>
              </a:rPr>
              <a:t>lectures.</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421600240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934" y="245534"/>
            <a:ext cx="11675533" cy="626533"/>
          </a:xfrm>
        </p:spPr>
        <p:txBody>
          <a:bodyPr/>
          <a:lstStyle/>
          <a:p>
            <a:r>
              <a:rPr lang="en-US" dirty="0">
                <a:latin typeface="fkGrotesk"/>
              </a:rPr>
              <a:t>1. Ring Oscillator Phase Shift and Frequency: Scaling with </a:t>
            </a:r>
            <a:r>
              <a:rPr lang="en-US" dirty="0" smtClean="0">
                <a:latin typeface="fkGrotesk"/>
              </a:rPr>
              <a:t>N</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14917" y="1090286"/>
                <a:ext cx="10712450" cy="5534720"/>
              </a:xfrm>
            </p:spPr>
            <p:txBody>
              <a:bodyPr/>
              <a:lstStyle/>
              <a:p>
                <a:pPr algn="l"/>
                <a:r>
                  <a:rPr lang="en-US" dirty="0" smtClean="0">
                    <a:latin typeface="fkGroteskNeue"/>
                  </a:rPr>
                  <a:t>As </a:t>
                </a:r>
                <a:r>
                  <a:rPr lang="en-US" dirty="0">
                    <a:latin typeface="fkGroteskNeue"/>
                  </a:rPr>
                  <a:t>the number of stages, N, increases</a:t>
                </a:r>
                <a:r>
                  <a:rPr lang="en-US" dirty="0" smtClean="0">
                    <a:latin typeface="fkGroteskNeue"/>
                  </a:rPr>
                  <a:t>:</a:t>
                </a:r>
              </a:p>
              <a:p>
                <a:pPr algn="l"/>
                <a:endParaRPr lang="en-US" dirty="0">
                  <a:latin typeface="fkGroteskNeue"/>
                </a:endParaRPr>
              </a:p>
              <a:p>
                <a:pPr marL="800100" lvl="1" indent="-342900" algn="l">
                  <a:buFont typeface="Wingdings" panose="05000000000000000000" pitchFamily="2" charset="2"/>
                  <a:buChar char="q"/>
                </a:pPr>
                <a:r>
                  <a:rPr lang="en-US" dirty="0">
                    <a:latin typeface="fkGroteskNeue"/>
                  </a:rPr>
                  <a:t>The required total phase shift (360°) is distributed across all stages.</a:t>
                </a:r>
              </a:p>
              <a:p>
                <a:pPr marL="800100" lvl="1" indent="-342900" algn="l">
                  <a:buFont typeface="Wingdings" panose="05000000000000000000" pitchFamily="2" charset="2"/>
                  <a:buChar char="q"/>
                </a:pPr>
                <a:r>
                  <a:rPr lang="en-US" dirty="0">
                    <a:latin typeface="fkGroteskNeue"/>
                  </a:rPr>
                  <a:t>Each stage must provide a phase shift of </a:t>
                </a:r>
                <a:r>
                  <a:rPr lang="en-US" dirty="0" smtClean="0">
                    <a:latin typeface="KaTeX_Main"/>
                  </a:rPr>
                  <a:t>180</a:t>
                </a:r>
                <a:r>
                  <a:rPr lang="en-US" baseline="30000" dirty="0">
                    <a:latin typeface="KaTeX_Main"/>
                  </a:rPr>
                  <a:t>∘</a:t>
                </a:r>
                <a:r>
                  <a:rPr lang="en-US" dirty="0">
                    <a:latin typeface="fkGroteskNeue"/>
                  </a:rPr>
                  <a:t> </a:t>
                </a:r>
                <a:r>
                  <a:rPr lang="en-US" dirty="0" smtClean="0">
                    <a:latin typeface="KaTeX_Main"/>
                  </a:rPr>
                  <a:t>/ </a:t>
                </a:r>
                <a:r>
                  <a:rPr lang="en-US" i="1" dirty="0" smtClean="0">
                    <a:latin typeface="KaTeX_Math"/>
                  </a:rPr>
                  <a:t>N  </a:t>
                </a:r>
                <a:r>
                  <a:rPr lang="en-US" dirty="0" smtClean="0">
                    <a:latin typeface="fkGroteskNeue"/>
                  </a:rPr>
                  <a:t>(</a:t>
                </a:r>
                <a:r>
                  <a:rPr lang="en-US" dirty="0">
                    <a:latin typeface="fkGroteskNeue"/>
                  </a:rPr>
                  <a:t>since the feedback loop must sum to –180° for oscillation).</a:t>
                </a:r>
              </a:p>
              <a:p>
                <a:pPr marL="800100" lvl="1" indent="-342900" algn="l">
                  <a:buFont typeface="Wingdings" panose="05000000000000000000" pitchFamily="2" charset="2"/>
                  <a:buChar char="q"/>
                </a:pPr>
                <a:r>
                  <a:rPr lang="en-US" dirty="0">
                    <a:latin typeface="fkGroteskNeue"/>
                  </a:rPr>
                  <a:t>The oscillation frequency </a:t>
                </a:r>
                <a:r>
                  <a:rPr lang="en-US" i="1" dirty="0" smtClean="0">
                    <a:latin typeface="KaTeX_Math"/>
                  </a:rPr>
                  <a:t>ω</a:t>
                </a:r>
                <a:r>
                  <a:rPr lang="en-US" dirty="0" smtClean="0">
                    <a:latin typeface="KaTeX_Main"/>
                  </a:rPr>
                  <a:t>0</a:t>
                </a:r>
                <a:r>
                  <a:rPr lang="en-US" dirty="0">
                    <a:latin typeface="fkGroteskNeue"/>
                  </a:rPr>
                  <a:t> decreases as more delay is added per cycle</a:t>
                </a:r>
                <a:r>
                  <a:rPr lang="en-US" dirty="0" smtClean="0">
                    <a:latin typeface="fkGroteskNeue"/>
                  </a:rPr>
                  <a:t>.</a:t>
                </a:r>
                <a:endParaRPr lang="en-US" dirty="0">
                  <a:latin typeface="fkGroteskNeue"/>
                </a:endParaRPr>
              </a:p>
              <a:p>
                <a:pPr>
                  <a:lnSpc>
                    <a:spcPct val="150000"/>
                  </a:lnSpc>
                  <a:spcAft>
                    <a:spcPts val="1050"/>
                  </a:spcAft>
                </a:pPr>
                <a:r>
                  <a:rPr lang="en-US" dirty="0" smtClean="0">
                    <a:latin typeface="fkGroteskNeue"/>
                  </a:rPr>
                  <a:t>         Equation :</a:t>
                </a:r>
                <a14:m>
                  <m:oMath xmlns:m="http://schemas.openxmlformats.org/officeDocument/2006/math">
                    <m:r>
                      <a:rPr lang="en-US" sz="1200" b="0" i="0"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oMath>
                </a14:m>
                <a:endParaRPr lang="en-US" sz="1200" b="0" i="0" dirty="0" smtClean="0">
                  <a:solidFill>
                    <a:srgbClr val="000000"/>
                  </a:solidFill>
                  <a:latin typeface="Cambria Math" panose="02040503050406030204" pitchFamily="18" charset="0"/>
                  <a:ea typeface="Calibri" panose="020F0502020204030204" pitchFamily="34" charset="0"/>
                  <a:cs typeface="Times New Roman" panose="02020603050405020304" pitchFamily="18" charset="0"/>
                </a:endParaRPr>
              </a:p>
              <a:p>
                <a:pPr>
                  <a:lnSpc>
                    <a:spcPct val="150000"/>
                  </a:lnSpc>
                  <a:spcAft>
                    <a:spcPts val="1050"/>
                  </a:spcAft>
                </a:pPr>
                <a14:m>
                  <m:oMathPara xmlns:m="http://schemas.openxmlformats.org/officeDocument/2006/math">
                    <m:oMathParaPr>
                      <m:jc m:val="centerGroup"/>
                    </m:oMathParaPr>
                    <m:oMath xmlns:m="http://schemas.openxmlformats.org/officeDocument/2006/math">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den>
                      </m:f>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m:oMathPara>
                </a14:m>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spcAft>
                    <a:spcPts val="1050"/>
                  </a:spcAft>
                </a:pPr>
                <a14:m>
                  <m:oMathPara xmlns:m="http://schemas.openxmlformats.org/officeDocument/2006/math">
                    <m:oMathParaPr>
                      <m:jc m:val="centerGroup"/>
                    </m:oMathParaPr>
                    <m:oMath xmlns:m="http://schemas.openxmlformats.org/officeDocument/2006/math">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sSup>
                            <m:sSup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m:rPr>
                                  <m:sty m:val="p"/>
                                </m:rP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tan</m:t>
                              </m:r>
                            </m:e>
                            <m:sup>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180</m:t>
                                      </m:r>
                                    </m:e>
                                    <m:sup>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sSup>
                                </m:num>
                                <m:den>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𝑁</m:t>
                                  </m:r>
                                </m:den>
                              </m:f>
                            </m:e>
                          </m:d>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e>
                      </m:rad>
                    </m:oMath>
                  </m:oMathPara>
                </a14:m>
                <a:endParaRPr lang="en-US" dirty="0" smtClean="0">
                  <a:latin typeface="KaTeX_Main"/>
                </a:endParaRPr>
              </a:p>
              <a:p>
                <a:pPr algn="l"/>
                <a:r>
                  <a:rPr lang="en-US" dirty="0" smtClean="0">
                    <a:latin typeface="fkGroteskNeue"/>
                  </a:rPr>
                  <a:t>This </a:t>
                </a:r>
                <a:r>
                  <a:rPr lang="en-US" dirty="0">
                    <a:latin typeface="fkGroteskNeue"/>
                  </a:rPr>
                  <a:t>means that </a:t>
                </a:r>
                <a:endParaRPr lang="en-US" dirty="0" smtClean="0">
                  <a:latin typeface="fkGroteskNeue"/>
                </a:endParaRPr>
              </a:p>
              <a:p>
                <a:pPr marL="800100" lvl="1" indent="-342900" algn="l">
                  <a:buFont typeface="Courier New" panose="02070309020205020404" pitchFamily="49" charset="0"/>
                  <a:buChar char="o"/>
                </a:pPr>
                <a:r>
                  <a:rPr lang="en-US" sz="2000" dirty="0">
                    <a:latin typeface="fkGroteskNeue"/>
                  </a:rPr>
                  <a:t>L</a:t>
                </a:r>
                <a:r>
                  <a:rPr lang="en-US" sz="2000" dirty="0" smtClean="0">
                    <a:latin typeface="fkGroteskNeue"/>
                  </a:rPr>
                  <a:t>ower </a:t>
                </a:r>
                <a:r>
                  <a:rPr lang="en-US" sz="2000" dirty="0">
                    <a:latin typeface="fkGroteskNeue"/>
                  </a:rPr>
                  <a:t>gain per stage is required as N goes </a:t>
                </a:r>
                <a:r>
                  <a:rPr lang="en-US" sz="2000" dirty="0" smtClean="0">
                    <a:latin typeface="fkGroteskNeue"/>
                  </a:rPr>
                  <a:t>up</a:t>
                </a:r>
              </a:p>
              <a:p>
                <a:pPr marL="800100" lvl="1" indent="-342900" algn="l">
                  <a:buFont typeface="Courier New" panose="02070309020205020404" pitchFamily="49" charset="0"/>
                  <a:buChar char="o"/>
                </a:pPr>
                <a:r>
                  <a:rPr lang="en-US" sz="2000" dirty="0">
                    <a:latin typeface="fkGroteskNeue"/>
                  </a:rPr>
                  <a:t>T</a:t>
                </a:r>
                <a:r>
                  <a:rPr lang="en-US" sz="2000" dirty="0" smtClean="0">
                    <a:latin typeface="fkGroteskNeue"/>
                  </a:rPr>
                  <a:t>he </a:t>
                </a:r>
                <a:r>
                  <a:rPr lang="en-US" sz="2000" dirty="0">
                    <a:latin typeface="fkGroteskNeue"/>
                  </a:rPr>
                  <a:t>loop shares the phase </a:t>
                </a:r>
                <a:r>
                  <a:rPr lang="en-US" sz="2000" dirty="0" smtClean="0">
                    <a:latin typeface="fkGroteskNeue"/>
                  </a:rPr>
                  <a:t>shift</a:t>
                </a:r>
              </a:p>
              <a:p>
                <a:pPr marL="800100" lvl="1" indent="-342900" algn="l">
                  <a:buFont typeface="Courier New" panose="02070309020205020404" pitchFamily="49" charset="0"/>
                  <a:buChar char="o"/>
                </a:pPr>
                <a:r>
                  <a:rPr lang="en-US" sz="2000" dirty="0" smtClean="0">
                    <a:latin typeface="fkGroteskNeue"/>
                  </a:rPr>
                  <a:t>The gain </a:t>
                </a:r>
                <a:r>
                  <a:rPr lang="en-US" sz="2000" dirty="0">
                    <a:latin typeface="fkGroteskNeue"/>
                  </a:rPr>
                  <a:t>constraints among more devices</a:t>
                </a: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14917" y="1090286"/>
                <a:ext cx="10712450" cy="5534720"/>
              </a:xfrm>
              <a:blipFill>
                <a:blip r:embed="rId2"/>
                <a:stretch>
                  <a:fillRect l="-1480" t="-1322" r="-1821"/>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84476" y="6545454"/>
            <a:ext cx="1500786" cy="312546"/>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69496845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2. Three-Stage Ring Oscillator: Fundamental </a:t>
            </a:r>
            <a:r>
              <a:rPr lang="en-US" dirty="0" smtClean="0">
                <a:latin typeface="fkGrotesk"/>
              </a:rPr>
              <a:t>Operation</a:t>
            </a:r>
            <a:endParaRPr lang="en-US" dirty="0"/>
          </a:p>
        </p:txBody>
      </p:sp>
      <p:sp>
        <p:nvSpPr>
          <p:cNvPr id="4" name="Text Placeholder 3"/>
          <p:cNvSpPr>
            <a:spLocks noGrp="1"/>
          </p:cNvSpPr>
          <p:nvPr>
            <p:ph type="body" idx="1"/>
          </p:nvPr>
        </p:nvSpPr>
        <p:spPr>
          <a:xfrm>
            <a:off x="67732" y="1788785"/>
            <a:ext cx="7128934" cy="830997"/>
          </a:xfrm>
        </p:spPr>
        <p:txBody>
          <a:bodyPr/>
          <a:lstStyle/>
          <a:p>
            <a:pPr marR="0" lvl="1" algn="just" defTabSz="914400" eaLnBrk="1" fontAlgn="auto" latinLnBrk="0" hangingPunct="1">
              <a:lnSpc>
                <a:spcPct val="100000"/>
              </a:lnSpc>
              <a:spcBef>
                <a:spcPts val="0"/>
              </a:spcBef>
              <a:spcAft>
                <a:spcPts val="0"/>
              </a:spcAft>
              <a:buClrTx/>
              <a:buSzTx/>
              <a:tabLst/>
              <a:defRPr/>
            </a:pPr>
            <a:r>
              <a:rPr lang="en-US" dirty="0">
                <a:latin typeface="fkGroteskNeue"/>
              </a:rPr>
              <a:t>Shows a three-stage common-source (CS) ring oscillator. Each stage is identical, with output capacitance CL and load resistor RD. The loop wraps output Z to input X, setting up the cyclic path</a:t>
            </a:r>
            <a:r>
              <a:rPr lang="en-US" dirty="0" smtClean="0">
                <a:latin typeface="fkGroteskNeue"/>
              </a:rPr>
              <a:t>.</a:t>
            </a:r>
            <a:endParaRPr lang="en-US" dirty="0">
              <a:latin typeface="fkGroteskNeue"/>
            </a:endParaRPr>
          </a:p>
        </p:txBody>
      </p:sp>
      <p:pic>
        <p:nvPicPr>
          <p:cNvPr id="5" name="Picture 4"/>
          <p:cNvPicPr>
            <a:picLocks noChangeAspect="1"/>
          </p:cNvPicPr>
          <p:nvPr/>
        </p:nvPicPr>
        <p:blipFill rotWithShape="1">
          <a:blip r:embed="rId2"/>
          <a:srcRect l="3629" t="7087" r="45463" b="49179"/>
          <a:stretch/>
        </p:blipFill>
        <p:spPr>
          <a:xfrm>
            <a:off x="7560733" y="1083733"/>
            <a:ext cx="4512734" cy="2040466"/>
          </a:xfrm>
          <a:prstGeom prst="rect">
            <a:avLst/>
          </a:prstGeom>
        </p:spPr>
      </p:pic>
      <p:pic>
        <p:nvPicPr>
          <p:cNvPr id="6" name="Picture 5"/>
          <p:cNvPicPr>
            <a:picLocks noChangeAspect="1"/>
          </p:cNvPicPr>
          <p:nvPr/>
        </p:nvPicPr>
        <p:blipFill rotWithShape="1">
          <a:blip r:embed="rId3"/>
          <a:srcRect l="56255" t="8608" r="2101" b="12513"/>
          <a:stretch/>
        </p:blipFill>
        <p:spPr>
          <a:xfrm>
            <a:off x="7929033" y="3179233"/>
            <a:ext cx="3691467" cy="3678767"/>
          </a:xfrm>
          <a:prstGeom prst="rect">
            <a:avLst/>
          </a:prstGeom>
        </p:spPr>
      </p:pic>
      <p:sp>
        <p:nvSpPr>
          <p:cNvPr id="7" name="Rectangle 6"/>
          <p:cNvSpPr/>
          <p:nvPr/>
        </p:nvSpPr>
        <p:spPr>
          <a:xfrm>
            <a:off x="139699" y="3968803"/>
            <a:ext cx="7116233" cy="1200329"/>
          </a:xfrm>
          <a:prstGeom prst="rect">
            <a:avLst/>
          </a:prstGeom>
        </p:spPr>
        <p:txBody>
          <a:bodyPr wrap="square">
            <a:spAutoFit/>
          </a:bodyPr>
          <a:lstStyle/>
          <a:p>
            <a:pPr lvl="1" algn="just"/>
            <a:r>
              <a:rPr lang="en-US" kern="0" dirty="0">
                <a:solidFill>
                  <a:sysClr val="windowText" lastClr="000000"/>
                </a:solidFill>
                <a:latin typeface="fkGroteskNeue"/>
              </a:rPr>
              <a:t>Shows the magnitude and phase (Bode plot) for the loop transfer function H(j</a:t>
            </a:r>
            <a:r>
              <a:rPr lang="el-GR" kern="0" dirty="0">
                <a:solidFill>
                  <a:sysClr val="windowText" lastClr="000000"/>
                </a:solidFill>
                <a:latin typeface="fkGroteskNeue"/>
              </a:rPr>
              <a:t>ω). </a:t>
            </a:r>
            <a:r>
              <a:rPr lang="en-US" kern="0" dirty="0">
                <a:solidFill>
                  <a:sysClr val="windowText" lastClr="000000"/>
                </a:solidFill>
                <a:latin typeface="fkGroteskNeue"/>
              </a:rPr>
              <a:t>Three cascaded amplifier stages, each contributing frequency-dependent phase shift, achieve the –180° shift at a specific frequency </a:t>
            </a:r>
            <a:r>
              <a:rPr lang="el-GR" i="1" kern="0" dirty="0">
                <a:solidFill>
                  <a:sysClr val="windowText" lastClr="000000"/>
                </a:solidFill>
                <a:latin typeface="KaTeX_Math"/>
              </a:rPr>
              <a:t>ω</a:t>
            </a:r>
            <a:r>
              <a:rPr lang="el-GR" kern="0" dirty="0">
                <a:solidFill>
                  <a:sysClr val="windowText" lastClr="000000"/>
                </a:solidFill>
                <a:latin typeface="KaTeX_Main"/>
              </a:rPr>
              <a:t>0</a:t>
            </a:r>
            <a:r>
              <a:rPr lang="el-GR" kern="0" dirty="0">
                <a:solidFill>
                  <a:sysClr val="windowText" lastClr="000000"/>
                </a:solidFill>
                <a:latin typeface="fkGroteskNeue"/>
              </a:rPr>
              <a:t>.</a:t>
            </a:r>
          </a:p>
        </p:txBody>
      </p:sp>
    </p:spTree>
    <p:extLst>
      <p:ext uri="{BB962C8B-B14F-4D97-AF65-F5344CB8AC3E}">
        <p14:creationId xmlns:p14="http://schemas.microsoft.com/office/powerpoint/2010/main" val="169265658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3017" y="216492"/>
            <a:ext cx="10593196" cy="738664"/>
          </a:xfrm>
        </p:spPr>
        <p:txBody>
          <a:bodyPr/>
          <a:lstStyle/>
          <a:p>
            <a:r>
              <a:rPr lang="en-US" sz="2400" dirty="0">
                <a:latin typeface="fkGrotesk"/>
              </a:rPr>
              <a:t>2. Three-Stage Ring Oscillator: Fundamental </a:t>
            </a:r>
            <a:r>
              <a:rPr lang="en-US" sz="2400" dirty="0">
                <a:latin typeface="fkGrotesk"/>
              </a:rPr>
              <a:t>Operation</a:t>
            </a:r>
            <a:r>
              <a:rPr lang="en-US" sz="2400" dirty="0" smtClean="0">
                <a:latin typeface="fkGrotesk"/>
              </a:rPr>
              <a:t>/ 3</a:t>
            </a:r>
            <a:r>
              <a:rPr lang="en-US" sz="2400" dirty="0">
                <a:latin typeface="fkGrotesk"/>
              </a:rPr>
              <a:t>. Extracting Oscillation Frequency and Startup Condition</a:t>
            </a:r>
            <a:endParaRPr lang="en-US" sz="2400"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440269" y="1234219"/>
                <a:ext cx="3890432" cy="3627403"/>
              </a:xfrm>
            </p:spPr>
            <p:txBody>
              <a:bodyPr/>
              <a:lstStyle/>
              <a:p>
                <a:pPr algn="l"/>
                <a:r>
                  <a:rPr lang="en-US" b="1" dirty="0" smtClean="0">
                    <a:latin typeface="fkGroteskNeue"/>
                  </a:rPr>
                  <a:t>2 Loop </a:t>
                </a:r>
                <a:r>
                  <a:rPr lang="en-US" b="1" dirty="0">
                    <a:latin typeface="fkGroteskNeue"/>
                  </a:rPr>
                  <a:t>transfer function</a:t>
                </a:r>
                <a:r>
                  <a:rPr lang="en-US" b="1" dirty="0" smtClean="0">
                    <a:latin typeface="fkGroteskNeue"/>
                  </a:rPr>
                  <a:t>:</a:t>
                </a:r>
                <a:endParaRPr lang="en-US" dirty="0" smtClean="0">
                  <a:latin typeface="fkGroteskNeue"/>
                </a:endParaRPr>
              </a:p>
              <a:p>
                <a:pPr>
                  <a:lnSpc>
                    <a:spcPct val="150000"/>
                  </a:lnSpc>
                  <a:spcAft>
                    <a:spcPts val="1050"/>
                  </a:spcAft>
                </a:pPr>
                <a14:m>
                  <m:oMathPara xmlns:m="http://schemas.openxmlformats.org/officeDocument/2006/math">
                    <m:oMathParaPr>
                      <m:jc m:val="centerGroup"/>
                    </m:oMathParaPr>
                    <m:oMath xmlns:m="http://schemas.openxmlformats.org/officeDocument/2006/math">
                      <m:r>
                        <a:rPr lang="en-US" sz="1400" i="1">
                          <a:solidFill>
                            <a:srgbClr val="000000"/>
                          </a:solidFill>
                          <a:latin typeface="fkGroteskNeue"/>
                          <a:ea typeface="Calibri" panose="020F0502020204030204" pitchFamily="34" charset="0"/>
                          <a:cs typeface="Times New Roman" panose="02020603050405020304" pitchFamily="18" charset="0"/>
                        </a:rPr>
                        <m:t>−</m:t>
                      </m:r>
                      <m:r>
                        <a:rPr lang="en-US" sz="1400" i="1">
                          <a:solidFill>
                            <a:srgbClr val="000000"/>
                          </a:solidFill>
                          <a:latin typeface="fkGroteskNeue"/>
                          <a:ea typeface="Calibri" panose="020F0502020204030204" pitchFamily="34" charset="0"/>
                          <a:cs typeface="Times New Roman" panose="02020603050405020304" pitchFamily="18" charset="0"/>
                        </a:rPr>
                        <m:t>𝐻</m:t>
                      </m:r>
                      <m:r>
                        <a:rPr lang="en-US" sz="1400">
                          <a:solidFill>
                            <a:srgbClr val="000000"/>
                          </a:solidFill>
                          <a:latin typeface="fkGroteskNeue"/>
                          <a:ea typeface="Calibri" panose="020F0502020204030204" pitchFamily="34" charset="0"/>
                          <a:cs typeface="Times New Roman" panose="02020603050405020304" pitchFamily="18" charset="0"/>
                        </a:rPr>
                        <m:t>(</m:t>
                      </m:r>
                      <m:r>
                        <a:rPr lang="en-US" sz="1400" i="1">
                          <a:solidFill>
                            <a:srgbClr val="000000"/>
                          </a:solidFill>
                          <a:latin typeface="fkGroteskNeue"/>
                          <a:ea typeface="Calibri" panose="020F0502020204030204" pitchFamily="34" charset="0"/>
                          <a:cs typeface="Times New Roman" panose="02020603050405020304" pitchFamily="18" charset="0"/>
                        </a:rPr>
                        <m:t>𝑠</m:t>
                      </m:r>
                      <m:r>
                        <a:rPr lang="en-US" sz="1400">
                          <a:solidFill>
                            <a:srgbClr val="000000"/>
                          </a:solidFill>
                          <a:latin typeface="fkGroteskNeue"/>
                          <a:ea typeface="Calibri" panose="020F0502020204030204" pitchFamily="34" charset="0"/>
                          <a:cs typeface="Times New Roman" panose="02020603050405020304" pitchFamily="18" charset="0"/>
                        </a:rPr>
                        <m:t>)=</m:t>
                      </m:r>
                      <m:sSup>
                        <m:sSupPr>
                          <m:ctrlPr>
                            <a:rPr lang="en-US" sz="1400" i="1">
                              <a:solidFill>
                                <a:srgbClr val="000000"/>
                              </a:solidFill>
                              <a:latin typeface="fkGroteskNeue"/>
                              <a:ea typeface="Calibri" panose="020F0502020204030204" pitchFamily="34" charset="0"/>
                              <a:cs typeface="Times New Roman" panose="02020603050405020304" pitchFamily="18" charset="0"/>
                            </a:rPr>
                          </m:ctrlPr>
                        </m:sSupPr>
                        <m:e>
                          <m:d>
                            <m:dPr>
                              <m:begChr m:val="["/>
                              <m:endChr m:val="]"/>
                              <m:ctrlPr>
                                <a:rPr lang="en-US" sz="1400" i="1">
                                  <a:solidFill>
                                    <a:srgbClr val="000000"/>
                                  </a:solidFill>
                                  <a:latin typeface="fkGroteskNeue"/>
                                  <a:ea typeface="Calibri" panose="020F0502020204030204" pitchFamily="34" charset="0"/>
                                  <a:cs typeface="Times New Roman" panose="02020603050405020304" pitchFamily="18" charset="0"/>
                                </a:rPr>
                              </m:ctrlPr>
                            </m:dPr>
                            <m:e>
                              <m:r>
                                <a:rPr lang="en-US" sz="1400" i="1">
                                  <a:solidFill>
                                    <a:srgbClr val="000000"/>
                                  </a:solidFill>
                                  <a:latin typeface="fkGroteskNeue"/>
                                  <a:ea typeface="Calibri" panose="020F0502020204030204" pitchFamily="34" charset="0"/>
                                  <a:cs typeface="Times New Roman" panose="02020603050405020304" pitchFamily="18" charset="0"/>
                                </a:rPr>
                                <m:t>−</m:t>
                              </m:r>
                              <m:sSub>
                                <m:sSubPr>
                                  <m:ctrlPr>
                                    <a:rPr lang="en-US" sz="1400" i="1">
                                      <a:solidFill>
                                        <a:srgbClr val="000000"/>
                                      </a:solidFill>
                                      <a:latin typeface="fkGroteskNeue"/>
                                      <a:ea typeface="Calibri" panose="020F0502020204030204" pitchFamily="34" charset="0"/>
                                      <a:cs typeface="Times New Roman" panose="02020603050405020304" pitchFamily="18" charset="0"/>
                                    </a:rPr>
                                  </m:ctrlPr>
                                </m:sSubPr>
                                <m:e>
                                  <m:r>
                                    <a:rPr lang="en-US" sz="1400" i="1">
                                      <a:solidFill>
                                        <a:srgbClr val="000000"/>
                                      </a:solidFill>
                                      <a:latin typeface="fkGroteskNeue"/>
                                      <a:ea typeface="Calibri" panose="020F0502020204030204" pitchFamily="34" charset="0"/>
                                      <a:cs typeface="Times New Roman" panose="02020603050405020304" pitchFamily="18" charset="0"/>
                                    </a:rPr>
                                    <m:t>𝑔</m:t>
                                  </m:r>
                                </m:e>
                                <m:sub>
                                  <m:r>
                                    <a:rPr lang="en-US" sz="1400" i="1">
                                      <a:solidFill>
                                        <a:srgbClr val="000000"/>
                                      </a:solidFill>
                                      <a:latin typeface="fkGroteskNeue"/>
                                      <a:ea typeface="Calibri" panose="020F0502020204030204" pitchFamily="34" charset="0"/>
                                      <a:cs typeface="Times New Roman" panose="02020603050405020304" pitchFamily="18" charset="0"/>
                                    </a:rPr>
                                    <m:t>𝑚</m:t>
                                  </m:r>
                                </m:sub>
                              </m:sSub>
                              <m:d>
                                <m:dPr>
                                  <m:ctrlPr>
                                    <a:rPr lang="en-US" sz="1400" i="1">
                                      <a:solidFill>
                                        <a:srgbClr val="000000"/>
                                      </a:solidFill>
                                      <a:latin typeface="fkGroteskNeue"/>
                                      <a:ea typeface="Calibri" panose="020F0502020204030204" pitchFamily="34" charset="0"/>
                                      <a:cs typeface="Times New Roman" panose="02020603050405020304" pitchFamily="18" charset="0"/>
                                    </a:rPr>
                                  </m:ctrlPr>
                                </m:dPr>
                                <m:e>
                                  <m:sSub>
                                    <m:sSubPr>
                                      <m:ctrlPr>
                                        <a:rPr lang="en-US" sz="1400" i="1">
                                          <a:solidFill>
                                            <a:srgbClr val="000000"/>
                                          </a:solidFill>
                                          <a:latin typeface="fkGroteskNeue"/>
                                          <a:ea typeface="Calibri" panose="020F0502020204030204" pitchFamily="34" charset="0"/>
                                          <a:cs typeface="Times New Roman" panose="02020603050405020304" pitchFamily="18" charset="0"/>
                                        </a:rPr>
                                      </m:ctrlPr>
                                    </m:sSubPr>
                                    <m:e>
                                      <m:r>
                                        <a:rPr lang="en-US" sz="1400" i="1">
                                          <a:solidFill>
                                            <a:srgbClr val="000000"/>
                                          </a:solidFill>
                                          <a:latin typeface="fkGroteskNeue"/>
                                          <a:ea typeface="Calibri" panose="020F0502020204030204" pitchFamily="34" charset="0"/>
                                          <a:cs typeface="Times New Roman" panose="02020603050405020304" pitchFamily="18" charset="0"/>
                                        </a:rPr>
                                        <m:t>𝑅</m:t>
                                      </m:r>
                                    </m:e>
                                    <m:sub>
                                      <m:r>
                                        <a:rPr lang="en-US" sz="1400" i="1">
                                          <a:solidFill>
                                            <a:srgbClr val="000000"/>
                                          </a:solidFill>
                                          <a:latin typeface="fkGroteskNeue"/>
                                          <a:ea typeface="Calibri" panose="020F0502020204030204" pitchFamily="34" charset="0"/>
                                          <a:cs typeface="Times New Roman" panose="02020603050405020304" pitchFamily="18" charset="0"/>
                                        </a:rPr>
                                        <m:t>𝐷</m:t>
                                      </m:r>
                                    </m:sub>
                                  </m:sSub>
                                  <m:r>
                                    <a:rPr lang="en-US" sz="1400">
                                      <a:solidFill>
                                        <a:srgbClr val="000000"/>
                                      </a:solidFill>
                                      <a:latin typeface="fkGroteskNeue"/>
                                      <a:ea typeface="Calibri" panose="020F0502020204030204" pitchFamily="34" charset="0"/>
                                      <a:cs typeface="Times New Roman" panose="02020603050405020304" pitchFamily="18" charset="0"/>
                                    </a:rPr>
                                    <m:t>||</m:t>
                                  </m:r>
                                  <m:f>
                                    <m:fPr>
                                      <m:ctrlPr>
                                        <a:rPr lang="en-US" sz="1400" i="1">
                                          <a:solidFill>
                                            <a:srgbClr val="000000"/>
                                          </a:solidFill>
                                          <a:latin typeface="fkGroteskNeue"/>
                                          <a:ea typeface="Calibri" panose="020F0502020204030204" pitchFamily="34" charset="0"/>
                                          <a:cs typeface="Times New Roman" panose="02020603050405020304" pitchFamily="18" charset="0"/>
                                        </a:rPr>
                                      </m:ctrlPr>
                                    </m:fPr>
                                    <m:num>
                                      <m:r>
                                        <a:rPr lang="en-US" sz="1400">
                                          <a:solidFill>
                                            <a:srgbClr val="000000"/>
                                          </a:solidFill>
                                          <a:latin typeface="fkGroteskNeue"/>
                                          <a:ea typeface="Calibri" panose="020F0502020204030204" pitchFamily="34" charset="0"/>
                                          <a:cs typeface="Times New Roman" panose="02020603050405020304" pitchFamily="18" charset="0"/>
                                        </a:rPr>
                                        <m:t>1</m:t>
                                      </m:r>
                                    </m:num>
                                    <m:den>
                                      <m:sSub>
                                        <m:sSubPr>
                                          <m:ctrlPr>
                                            <a:rPr lang="en-US" sz="1400" i="1">
                                              <a:solidFill>
                                                <a:srgbClr val="000000"/>
                                              </a:solidFill>
                                              <a:latin typeface="fkGroteskNeue"/>
                                              <a:ea typeface="Calibri" panose="020F0502020204030204" pitchFamily="34" charset="0"/>
                                              <a:cs typeface="Times New Roman" panose="02020603050405020304" pitchFamily="18" charset="0"/>
                                            </a:rPr>
                                          </m:ctrlPr>
                                        </m:sSubPr>
                                        <m:e>
                                          <m:r>
                                            <a:rPr lang="en-US" sz="1400" i="1">
                                              <a:solidFill>
                                                <a:srgbClr val="000000"/>
                                              </a:solidFill>
                                              <a:latin typeface="fkGroteskNeue"/>
                                              <a:ea typeface="Calibri" panose="020F0502020204030204" pitchFamily="34" charset="0"/>
                                              <a:cs typeface="Times New Roman" panose="02020603050405020304" pitchFamily="18" charset="0"/>
                                            </a:rPr>
                                            <m:t>𝐶</m:t>
                                          </m:r>
                                        </m:e>
                                        <m:sub>
                                          <m:r>
                                            <a:rPr lang="en-US" sz="1400" i="1">
                                              <a:solidFill>
                                                <a:srgbClr val="000000"/>
                                              </a:solidFill>
                                              <a:latin typeface="fkGroteskNeue"/>
                                              <a:ea typeface="Calibri" panose="020F0502020204030204" pitchFamily="34" charset="0"/>
                                              <a:cs typeface="Times New Roman" panose="02020603050405020304" pitchFamily="18" charset="0"/>
                                            </a:rPr>
                                            <m:t>𝐿</m:t>
                                          </m:r>
                                        </m:sub>
                                      </m:sSub>
                                      <m:r>
                                        <a:rPr lang="en-US" sz="1400" i="1">
                                          <a:solidFill>
                                            <a:srgbClr val="000000"/>
                                          </a:solidFill>
                                          <a:latin typeface="fkGroteskNeue"/>
                                          <a:ea typeface="Calibri" panose="020F0502020204030204" pitchFamily="34" charset="0"/>
                                          <a:cs typeface="Times New Roman" panose="02020603050405020304" pitchFamily="18" charset="0"/>
                                        </a:rPr>
                                        <m:t>𝑠</m:t>
                                      </m:r>
                                    </m:den>
                                  </m:f>
                                </m:e>
                              </m:d>
                            </m:e>
                          </m:d>
                        </m:e>
                        <m:sup>
                          <m:r>
                            <a:rPr lang="en-US" sz="1400">
                              <a:solidFill>
                                <a:srgbClr val="000000"/>
                              </a:solidFill>
                              <a:latin typeface="fkGroteskNeue"/>
                              <a:ea typeface="Calibri" panose="020F0502020204030204" pitchFamily="34" charset="0"/>
                              <a:cs typeface="Times New Roman" panose="02020603050405020304" pitchFamily="18" charset="0"/>
                            </a:rPr>
                            <m:t>3</m:t>
                          </m:r>
                        </m:sup>
                      </m:sSup>
                    </m:oMath>
                  </m:oMathPara>
                </a14:m>
                <a:endParaRPr lang="en-US" sz="1400" dirty="0">
                  <a:latin typeface="fkGroteskNeue"/>
                  <a:ea typeface="Calibri" panose="020F0502020204030204" pitchFamily="34" charset="0"/>
                  <a:cs typeface="Times New Roman" panose="02020603050405020304" pitchFamily="18" charset="0"/>
                </a:endParaRPr>
              </a:p>
              <a:p>
                <a:pPr>
                  <a:lnSpc>
                    <a:spcPct val="150000"/>
                  </a:lnSpc>
                  <a:spcAft>
                    <a:spcPts val="1050"/>
                  </a:spcAft>
                </a:pPr>
                <a14:m>
                  <m:oMathPara xmlns:m="http://schemas.openxmlformats.org/officeDocument/2006/math">
                    <m:oMathParaPr>
                      <m:jc m:val="centerGroup"/>
                    </m:oMathParaPr>
                    <m:oMath xmlns:m="http://schemas.openxmlformats.org/officeDocument/2006/math">
                      <m:r>
                        <a:rPr lang="en-US" sz="1400" i="1">
                          <a:solidFill>
                            <a:srgbClr val="000000"/>
                          </a:solidFill>
                          <a:latin typeface="fkGroteskNeue"/>
                          <a:ea typeface="Calibri" panose="020F0502020204030204" pitchFamily="34" charset="0"/>
                          <a:cs typeface="Times New Roman" panose="02020603050405020304" pitchFamily="18" charset="0"/>
                        </a:rPr>
                        <m:t>𝐻</m:t>
                      </m:r>
                      <m:r>
                        <a:rPr lang="en-US" sz="1400">
                          <a:solidFill>
                            <a:srgbClr val="000000"/>
                          </a:solidFill>
                          <a:latin typeface="fkGroteskNeue"/>
                          <a:ea typeface="Calibri" panose="020F0502020204030204" pitchFamily="34" charset="0"/>
                          <a:cs typeface="Times New Roman" panose="02020603050405020304" pitchFamily="18" charset="0"/>
                        </a:rPr>
                        <m:t>(</m:t>
                      </m:r>
                      <m:r>
                        <a:rPr lang="en-US" sz="1400" i="1">
                          <a:solidFill>
                            <a:srgbClr val="000000"/>
                          </a:solidFill>
                          <a:latin typeface="fkGroteskNeue"/>
                          <a:ea typeface="Calibri" panose="020F0502020204030204" pitchFamily="34" charset="0"/>
                          <a:cs typeface="Times New Roman" panose="02020603050405020304" pitchFamily="18" charset="0"/>
                        </a:rPr>
                        <m:t>𝑗</m:t>
                      </m:r>
                      <m:r>
                        <a:rPr lang="en-US" sz="1400" i="1">
                          <a:solidFill>
                            <a:srgbClr val="000000"/>
                          </a:solidFill>
                          <a:latin typeface="fkGroteskNeue"/>
                          <a:ea typeface="Calibri" panose="020F0502020204030204" pitchFamily="34" charset="0"/>
                          <a:cs typeface="Times New Roman" panose="02020603050405020304" pitchFamily="18" charset="0"/>
                        </a:rPr>
                        <m:t>𝜔</m:t>
                      </m:r>
                      <m:r>
                        <a:rPr lang="en-US" sz="1400">
                          <a:solidFill>
                            <a:srgbClr val="000000"/>
                          </a:solidFill>
                          <a:latin typeface="fkGroteskNeue"/>
                          <a:ea typeface="Calibri" panose="020F0502020204030204" pitchFamily="34" charset="0"/>
                          <a:cs typeface="Times New Roman" panose="02020603050405020304" pitchFamily="18" charset="0"/>
                        </a:rPr>
                        <m:t>)=</m:t>
                      </m:r>
                      <m:f>
                        <m:fPr>
                          <m:ctrlPr>
                            <a:rPr lang="en-US" sz="1400" i="1">
                              <a:solidFill>
                                <a:srgbClr val="000000"/>
                              </a:solidFill>
                              <a:latin typeface="fkGroteskNeue"/>
                              <a:ea typeface="Calibri" panose="020F0502020204030204" pitchFamily="34" charset="0"/>
                              <a:cs typeface="Times New Roman" panose="02020603050405020304" pitchFamily="18" charset="0"/>
                            </a:rPr>
                          </m:ctrlPr>
                        </m:fPr>
                        <m:num>
                          <m:sSubSup>
                            <m:sSubSupPr>
                              <m:ctrlPr>
                                <a:rPr lang="en-US" sz="1400" i="1">
                                  <a:solidFill>
                                    <a:srgbClr val="000000"/>
                                  </a:solidFill>
                                  <a:latin typeface="fkGroteskNeue"/>
                                  <a:ea typeface="Calibri" panose="020F0502020204030204" pitchFamily="34" charset="0"/>
                                  <a:cs typeface="Times New Roman" panose="02020603050405020304" pitchFamily="18" charset="0"/>
                                </a:rPr>
                              </m:ctrlPr>
                            </m:sSubSupPr>
                            <m:e>
                              <m:r>
                                <a:rPr lang="en-US" sz="1400" i="1">
                                  <a:solidFill>
                                    <a:srgbClr val="000000"/>
                                  </a:solidFill>
                                  <a:latin typeface="fkGroteskNeue"/>
                                  <a:ea typeface="Calibri" panose="020F0502020204030204" pitchFamily="34" charset="0"/>
                                  <a:cs typeface="Times New Roman" panose="02020603050405020304" pitchFamily="18" charset="0"/>
                                </a:rPr>
                                <m:t>𝑔</m:t>
                              </m:r>
                            </m:e>
                            <m:sub>
                              <m:r>
                                <a:rPr lang="en-US" sz="1400" i="1">
                                  <a:solidFill>
                                    <a:srgbClr val="000000"/>
                                  </a:solidFill>
                                  <a:latin typeface="fkGroteskNeue"/>
                                  <a:ea typeface="Calibri" panose="020F0502020204030204" pitchFamily="34" charset="0"/>
                                  <a:cs typeface="Times New Roman" panose="02020603050405020304" pitchFamily="18" charset="0"/>
                                </a:rPr>
                                <m:t>𝑚</m:t>
                              </m:r>
                            </m:sub>
                            <m:sup>
                              <m:r>
                                <a:rPr lang="en-US" sz="1400">
                                  <a:solidFill>
                                    <a:srgbClr val="000000"/>
                                  </a:solidFill>
                                  <a:latin typeface="fkGroteskNeue"/>
                                  <a:ea typeface="Calibri" panose="020F0502020204030204" pitchFamily="34" charset="0"/>
                                  <a:cs typeface="Times New Roman" panose="02020603050405020304" pitchFamily="18" charset="0"/>
                                </a:rPr>
                                <m:t>3</m:t>
                              </m:r>
                            </m:sup>
                          </m:sSubSup>
                          <m:sSubSup>
                            <m:sSubSupPr>
                              <m:ctrlPr>
                                <a:rPr lang="en-US" sz="1400" i="1">
                                  <a:solidFill>
                                    <a:srgbClr val="000000"/>
                                  </a:solidFill>
                                  <a:latin typeface="fkGroteskNeue"/>
                                  <a:ea typeface="Calibri" panose="020F0502020204030204" pitchFamily="34" charset="0"/>
                                  <a:cs typeface="Times New Roman" panose="02020603050405020304" pitchFamily="18" charset="0"/>
                                </a:rPr>
                              </m:ctrlPr>
                            </m:sSubSupPr>
                            <m:e>
                              <m:r>
                                <a:rPr lang="en-US" sz="1400" i="1">
                                  <a:solidFill>
                                    <a:srgbClr val="000000"/>
                                  </a:solidFill>
                                  <a:latin typeface="fkGroteskNeue"/>
                                  <a:ea typeface="Calibri" panose="020F0502020204030204" pitchFamily="34" charset="0"/>
                                  <a:cs typeface="Times New Roman" panose="02020603050405020304" pitchFamily="18" charset="0"/>
                                </a:rPr>
                                <m:t>𝑅</m:t>
                              </m:r>
                            </m:e>
                            <m:sub>
                              <m:r>
                                <a:rPr lang="en-US" sz="1400" i="1">
                                  <a:solidFill>
                                    <a:srgbClr val="000000"/>
                                  </a:solidFill>
                                  <a:latin typeface="fkGroteskNeue"/>
                                  <a:ea typeface="Calibri" panose="020F0502020204030204" pitchFamily="34" charset="0"/>
                                  <a:cs typeface="Times New Roman" panose="02020603050405020304" pitchFamily="18" charset="0"/>
                                </a:rPr>
                                <m:t>𝐷</m:t>
                              </m:r>
                            </m:sub>
                            <m:sup>
                              <m:r>
                                <a:rPr lang="en-US" sz="1400">
                                  <a:solidFill>
                                    <a:srgbClr val="000000"/>
                                  </a:solidFill>
                                  <a:latin typeface="fkGroteskNeue"/>
                                  <a:ea typeface="Calibri" panose="020F0502020204030204" pitchFamily="34" charset="0"/>
                                  <a:cs typeface="Times New Roman" panose="02020603050405020304" pitchFamily="18" charset="0"/>
                                </a:rPr>
                                <m:t>3</m:t>
                              </m:r>
                            </m:sup>
                          </m:sSubSup>
                        </m:num>
                        <m:den>
                          <m:r>
                            <a:rPr lang="en-US" sz="1400">
                              <a:solidFill>
                                <a:srgbClr val="000000"/>
                              </a:solidFill>
                              <a:latin typeface="fkGroteskNeue"/>
                              <a:ea typeface="Calibri" panose="020F0502020204030204" pitchFamily="34" charset="0"/>
                              <a:cs typeface="Times New Roman" panose="02020603050405020304" pitchFamily="18" charset="0"/>
                            </a:rPr>
                            <m:t>(</m:t>
                          </m:r>
                          <m:sSub>
                            <m:sSubPr>
                              <m:ctrlPr>
                                <a:rPr lang="en-US" sz="1400" i="1">
                                  <a:solidFill>
                                    <a:srgbClr val="000000"/>
                                  </a:solidFill>
                                  <a:latin typeface="fkGroteskNeue"/>
                                  <a:ea typeface="Calibri" panose="020F0502020204030204" pitchFamily="34" charset="0"/>
                                  <a:cs typeface="Times New Roman" panose="02020603050405020304" pitchFamily="18" charset="0"/>
                                </a:rPr>
                              </m:ctrlPr>
                            </m:sSubPr>
                            <m:e>
                              <m:r>
                                <a:rPr lang="en-US" sz="1400" i="1">
                                  <a:solidFill>
                                    <a:srgbClr val="000000"/>
                                  </a:solidFill>
                                  <a:latin typeface="fkGroteskNeue"/>
                                  <a:ea typeface="Calibri" panose="020F0502020204030204" pitchFamily="34" charset="0"/>
                                  <a:cs typeface="Times New Roman" panose="02020603050405020304" pitchFamily="18" charset="0"/>
                                </a:rPr>
                                <m:t>𝑅</m:t>
                              </m:r>
                            </m:e>
                            <m:sub>
                              <m:r>
                                <a:rPr lang="en-US" sz="1400" i="1">
                                  <a:solidFill>
                                    <a:srgbClr val="000000"/>
                                  </a:solidFill>
                                  <a:latin typeface="fkGroteskNeue"/>
                                  <a:ea typeface="Calibri" panose="020F0502020204030204" pitchFamily="34" charset="0"/>
                                  <a:cs typeface="Times New Roman" panose="02020603050405020304" pitchFamily="18" charset="0"/>
                                </a:rPr>
                                <m:t>𝐷</m:t>
                              </m:r>
                            </m:sub>
                          </m:sSub>
                          <m:sSub>
                            <m:sSubPr>
                              <m:ctrlPr>
                                <a:rPr lang="en-US" sz="1400" i="1">
                                  <a:solidFill>
                                    <a:srgbClr val="000000"/>
                                  </a:solidFill>
                                  <a:latin typeface="fkGroteskNeue"/>
                                  <a:ea typeface="Calibri" panose="020F0502020204030204" pitchFamily="34" charset="0"/>
                                  <a:cs typeface="Times New Roman" panose="02020603050405020304" pitchFamily="18" charset="0"/>
                                </a:rPr>
                              </m:ctrlPr>
                            </m:sSubPr>
                            <m:e>
                              <m:r>
                                <a:rPr lang="en-US" sz="1400" i="1">
                                  <a:solidFill>
                                    <a:srgbClr val="000000"/>
                                  </a:solidFill>
                                  <a:latin typeface="fkGroteskNeue"/>
                                  <a:ea typeface="Calibri" panose="020F0502020204030204" pitchFamily="34" charset="0"/>
                                  <a:cs typeface="Times New Roman" panose="02020603050405020304" pitchFamily="18" charset="0"/>
                                </a:rPr>
                                <m:t>𝐶</m:t>
                              </m:r>
                            </m:e>
                            <m:sub>
                              <m:r>
                                <a:rPr lang="en-US" sz="1400" i="1">
                                  <a:solidFill>
                                    <a:srgbClr val="000000"/>
                                  </a:solidFill>
                                  <a:latin typeface="fkGroteskNeue"/>
                                  <a:ea typeface="Calibri" panose="020F0502020204030204" pitchFamily="34" charset="0"/>
                                  <a:cs typeface="Times New Roman" panose="02020603050405020304" pitchFamily="18" charset="0"/>
                                </a:rPr>
                                <m:t>𝐿</m:t>
                              </m:r>
                            </m:sub>
                          </m:sSub>
                          <m:r>
                            <a:rPr lang="en-US" sz="1400" i="1">
                              <a:solidFill>
                                <a:srgbClr val="000000"/>
                              </a:solidFill>
                              <a:latin typeface="fkGroteskNeue"/>
                              <a:ea typeface="Calibri" panose="020F0502020204030204" pitchFamily="34" charset="0"/>
                              <a:cs typeface="Times New Roman" panose="02020603050405020304" pitchFamily="18" charset="0"/>
                            </a:rPr>
                            <m:t>𝑗</m:t>
                          </m:r>
                          <m:r>
                            <a:rPr lang="en-US" sz="1400" i="1">
                              <a:solidFill>
                                <a:srgbClr val="000000"/>
                              </a:solidFill>
                              <a:latin typeface="fkGroteskNeue"/>
                              <a:ea typeface="Calibri" panose="020F0502020204030204" pitchFamily="34" charset="0"/>
                              <a:cs typeface="Times New Roman" panose="02020603050405020304" pitchFamily="18" charset="0"/>
                            </a:rPr>
                            <m:t>𝜔</m:t>
                          </m:r>
                          <m:r>
                            <a:rPr lang="en-US" sz="1400">
                              <a:solidFill>
                                <a:srgbClr val="000000"/>
                              </a:solidFill>
                              <a:latin typeface="fkGroteskNeue"/>
                              <a:ea typeface="Calibri" panose="020F0502020204030204" pitchFamily="34" charset="0"/>
                              <a:cs typeface="Times New Roman" panose="02020603050405020304" pitchFamily="18" charset="0"/>
                            </a:rPr>
                            <m:t>+1</m:t>
                          </m:r>
                          <m:sSup>
                            <m:sSupPr>
                              <m:ctrlPr>
                                <a:rPr lang="en-US" sz="1400" i="1">
                                  <a:solidFill>
                                    <a:srgbClr val="000000"/>
                                  </a:solidFill>
                                  <a:latin typeface="fkGroteskNeue"/>
                                  <a:ea typeface="Calibri" panose="020F0502020204030204" pitchFamily="34" charset="0"/>
                                  <a:cs typeface="Times New Roman" panose="02020603050405020304" pitchFamily="18" charset="0"/>
                                </a:rPr>
                              </m:ctrlPr>
                            </m:sSupPr>
                            <m:e>
                              <m:r>
                                <a:rPr lang="en-US" sz="1400">
                                  <a:solidFill>
                                    <a:srgbClr val="000000"/>
                                  </a:solidFill>
                                  <a:latin typeface="fkGroteskNeue"/>
                                  <a:ea typeface="Calibri" panose="020F0502020204030204" pitchFamily="34" charset="0"/>
                                  <a:cs typeface="Times New Roman" panose="02020603050405020304" pitchFamily="18" charset="0"/>
                                </a:rPr>
                                <m:t>)</m:t>
                              </m:r>
                            </m:e>
                            <m:sup>
                              <m:r>
                                <a:rPr lang="en-US" sz="1400">
                                  <a:solidFill>
                                    <a:srgbClr val="000000"/>
                                  </a:solidFill>
                                  <a:latin typeface="fkGroteskNeue"/>
                                  <a:ea typeface="Calibri" panose="020F0502020204030204" pitchFamily="34" charset="0"/>
                                  <a:cs typeface="Times New Roman" panose="02020603050405020304" pitchFamily="18" charset="0"/>
                                </a:rPr>
                                <m:t>3</m:t>
                              </m:r>
                            </m:sup>
                          </m:sSup>
                        </m:den>
                      </m:f>
                    </m:oMath>
                  </m:oMathPara>
                </a14:m>
                <a:endParaRPr lang="en-US" sz="1400" dirty="0">
                  <a:latin typeface="fkGroteskNeue"/>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fkGroteskNeue"/>
                    <a:ea typeface="inter"/>
                    <a:cs typeface="inter"/>
                  </a:rPr>
                  <a:t>Oscillation occurs when at this frequency:</a:t>
                </a:r>
                <a:endParaRPr lang="en-US" sz="1600" dirty="0">
                  <a:latin typeface="fkGroteskNeue"/>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p>
                        <m:sSupPr>
                          <m:ctrlPr>
                            <a:rPr lang="en-US" sz="1400" i="1">
                              <a:solidFill>
                                <a:srgbClr val="000000"/>
                              </a:solidFill>
                              <a:latin typeface="fkGroteskNeue"/>
                              <a:ea typeface="Calibri" panose="020F0502020204030204" pitchFamily="34" charset="0"/>
                              <a:cs typeface="Times New Roman" panose="02020603050405020304" pitchFamily="18" charset="0"/>
                            </a:rPr>
                          </m:ctrlPr>
                        </m:sSupPr>
                        <m:e>
                          <m:d>
                            <m:dPr>
                              <m:ctrlPr>
                                <a:rPr lang="en-US" sz="1400" i="1">
                                  <a:solidFill>
                                    <a:srgbClr val="000000"/>
                                  </a:solidFill>
                                  <a:latin typeface="fkGroteskNeue"/>
                                  <a:ea typeface="Calibri" panose="020F0502020204030204" pitchFamily="34" charset="0"/>
                                  <a:cs typeface="Times New Roman" panose="02020603050405020304" pitchFamily="18" charset="0"/>
                                </a:rPr>
                              </m:ctrlPr>
                            </m:dPr>
                            <m:e>
                              <m:f>
                                <m:fPr>
                                  <m:ctrlPr>
                                    <a:rPr lang="en-US" sz="1400" i="1">
                                      <a:solidFill>
                                        <a:srgbClr val="000000"/>
                                      </a:solidFill>
                                      <a:latin typeface="fkGroteskNeue"/>
                                      <a:ea typeface="Calibri" panose="020F0502020204030204" pitchFamily="34" charset="0"/>
                                      <a:cs typeface="Times New Roman" panose="02020603050405020304" pitchFamily="18" charset="0"/>
                                    </a:rPr>
                                  </m:ctrlPr>
                                </m:fPr>
                                <m:num>
                                  <m:sSub>
                                    <m:sSubPr>
                                      <m:ctrlPr>
                                        <a:rPr lang="en-US" sz="1400" i="1">
                                          <a:solidFill>
                                            <a:srgbClr val="000000"/>
                                          </a:solidFill>
                                          <a:latin typeface="fkGroteskNeue"/>
                                          <a:ea typeface="Calibri" panose="020F0502020204030204" pitchFamily="34" charset="0"/>
                                          <a:cs typeface="Times New Roman" panose="02020603050405020304" pitchFamily="18" charset="0"/>
                                        </a:rPr>
                                      </m:ctrlPr>
                                    </m:sSubPr>
                                    <m:e>
                                      <m:r>
                                        <a:rPr lang="en-US" sz="1400" i="1">
                                          <a:solidFill>
                                            <a:srgbClr val="000000"/>
                                          </a:solidFill>
                                          <a:latin typeface="fkGroteskNeue"/>
                                          <a:ea typeface="Calibri" panose="020F0502020204030204" pitchFamily="34" charset="0"/>
                                          <a:cs typeface="Times New Roman" panose="02020603050405020304" pitchFamily="18" charset="0"/>
                                        </a:rPr>
                                        <m:t>𝑔</m:t>
                                      </m:r>
                                    </m:e>
                                    <m:sub>
                                      <m:r>
                                        <a:rPr lang="en-US" sz="1400" i="1">
                                          <a:solidFill>
                                            <a:srgbClr val="000000"/>
                                          </a:solidFill>
                                          <a:latin typeface="fkGroteskNeue"/>
                                          <a:ea typeface="Calibri" panose="020F0502020204030204" pitchFamily="34" charset="0"/>
                                          <a:cs typeface="Times New Roman" panose="02020603050405020304" pitchFamily="18" charset="0"/>
                                        </a:rPr>
                                        <m:t>𝑚</m:t>
                                      </m:r>
                                    </m:sub>
                                  </m:sSub>
                                  <m:sSub>
                                    <m:sSubPr>
                                      <m:ctrlPr>
                                        <a:rPr lang="en-US" sz="1400" i="1">
                                          <a:solidFill>
                                            <a:srgbClr val="000000"/>
                                          </a:solidFill>
                                          <a:latin typeface="fkGroteskNeue"/>
                                          <a:ea typeface="Calibri" panose="020F0502020204030204" pitchFamily="34" charset="0"/>
                                          <a:cs typeface="Times New Roman" panose="02020603050405020304" pitchFamily="18" charset="0"/>
                                        </a:rPr>
                                      </m:ctrlPr>
                                    </m:sSubPr>
                                    <m:e>
                                      <m:r>
                                        <a:rPr lang="en-US" sz="1400" i="1">
                                          <a:solidFill>
                                            <a:srgbClr val="000000"/>
                                          </a:solidFill>
                                          <a:latin typeface="fkGroteskNeue"/>
                                          <a:ea typeface="Calibri" panose="020F0502020204030204" pitchFamily="34" charset="0"/>
                                          <a:cs typeface="Times New Roman" panose="02020603050405020304" pitchFamily="18" charset="0"/>
                                        </a:rPr>
                                        <m:t>𝑅</m:t>
                                      </m:r>
                                    </m:e>
                                    <m:sub>
                                      <m:r>
                                        <a:rPr lang="en-US" sz="1400" i="1">
                                          <a:solidFill>
                                            <a:srgbClr val="000000"/>
                                          </a:solidFill>
                                          <a:latin typeface="fkGroteskNeue"/>
                                          <a:ea typeface="Calibri" panose="020F0502020204030204" pitchFamily="34" charset="0"/>
                                          <a:cs typeface="Times New Roman" panose="02020603050405020304" pitchFamily="18" charset="0"/>
                                        </a:rPr>
                                        <m:t>𝐷</m:t>
                                      </m:r>
                                    </m:sub>
                                  </m:sSub>
                                </m:num>
                                <m:den>
                                  <m:rad>
                                    <m:radPr>
                                      <m:degHide m:val="on"/>
                                      <m:ctrlPr>
                                        <a:rPr lang="en-US" sz="1400" i="1">
                                          <a:solidFill>
                                            <a:srgbClr val="000000"/>
                                          </a:solidFill>
                                          <a:latin typeface="fkGroteskNeue"/>
                                          <a:ea typeface="Calibri" panose="020F0502020204030204" pitchFamily="34" charset="0"/>
                                          <a:cs typeface="Times New Roman" panose="02020603050405020304" pitchFamily="18" charset="0"/>
                                        </a:rPr>
                                      </m:ctrlPr>
                                    </m:radPr>
                                    <m:deg/>
                                    <m:e>
                                      <m:sSubSup>
                                        <m:sSubSupPr>
                                          <m:ctrlPr>
                                            <a:rPr lang="en-US" sz="1400" i="1">
                                              <a:solidFill>
                                                <a:srgbClr val="000000"/>
                                              </a:solidFill>
                                              <a:latin typeface="fkGroteskNeue"/>
                                              <a:ea typeface="Calibri" panose="020F0502020204030204" pitchFamily="34" charset="0"/>
                                              <a:cs typeface="Times New Roman" panose="02020603050405020304" pitchFamily="18" charset="0"/>
                                            </a:rPr>
                                          </m:ctrlPr>
                                        </m:sSubSupPr>
                                        <m:e>
                                          <m:r>
                                            <a:rPr lang="en-US" sz="1400" i="1">
                                              <a:solidFill>
                                                <a:srgbClr val="000000"/>
                                              </a:solidFill>
                                              <a:latin typeface="fkGroteskNeue"/>
                                              <a:ea typeface="Calibri" panose="020F0502020204030204" pitchFamily="34" charset="0"/>
                                              <a:cs typeface="Times New Roman" panose="02020603050405020304" pitchFamily="18" charset="0"/>
                                            </a:rPr>
                                            <m:t>𝑅</m:t>
                                          </m:r>
                                        </m:e>
                                        <m:sub>
                                          <m:r>
                                            <a:rPr lang="en-US" sz="1400" i="1">
                                              <a:solidFill>
                                                <a:srgbClr val="000000"/>
                                              </a:solidFill>
                                              <a:latin typeface="fkGroteskNeue"/>
                                              <a:ea typeface="Calibri" panose="020F0502020204030204" pitchFamily="34" charset="0"/>
                                              <a:cs typeface="Times New Roman" panose="02020603050405020304" pitchFamily="18" charset="0"/>
                                            </a:rPr>
                                            <m:t>𝐷</m:t>
                                          </m:r>
                                        </m:sub>
                                        <m:sup>
                                          <m:r>
                                            <a:rPr lang="en-US" sz="1400">
                                              <a:solidFill>
                                                <a:srgbClr val="000000"/>
                                              </a:solidFill>
                                              <a:latin typeface="fkGroteskNeue"/>
                                              <a:ea typeface="Calibri" panose="020F0502020204030204" pitchFamily="34" charset="0"/>
                                              <a:cs typeface="Times New Roman" panose="02020603050405020304" pitchFamily="18" charset="0"/>
                                            </a:rPr>
                                            <m:t>2</m:t>
                                          </m:r>
                                        </m:sup>
                                      </m:sSubSup>
                                      <m:sSubSup>
                                        <m:sSubSupPr>
                                          <m:ctrlPr>
                                            <a:rPr lang="en-US" sz="1400" i="1">
                                              <a:solidFill>
                                                <a:srgbClr val="000000"/>
                                              </a:solidFill>
                                              <a:latin typeface="fkGroteskNeue"/>
                                              <a:ea typeface="Calibri" panose="020F0502020204030204" pitchFamily="34" charset="0"/>
                                              <a:cs typeface="Times New Roman" panose="02020603050405020304" pitchFamily="18" charset="0"/>
                                            </a:rPr>
                                          </m:ctrlPr>
                                        </m:sSubSupPr>
                                        <m:e>
                                          <m:r>
                                            <a:rPr lang="en-US" sz="1400" i="1">
                                              <a:solidFill>
                                                <a:srgbClr val="000000"/>
                                              </a:solidFill>
                                              <a:latin typeface="fkGroteskNeue"/>
                                              <a:ea typeface="Calibri" panose="020F0502020204030204" pitchFamily="34" charset="0"/>
                                              <a:cs typeface="Times New Roman" panose="02020603050405020304" pitchFamily="18" charset="0"/>
                                            </a:rPr>
                                            <m:t>𝐶</m:t>
                                          </m:r>
                                        </m:e>
                                        <m:sub>
                                          <m:r>
                                            <a:rPr lang="en-US" sz="1400" i="1">
                                              <a:solidFill>
                                                <a:srgbClr val="000000"/>
                                              </a:solidFill>
                                              <a:latin typeface="fkGroteskNeue"/>
                                              <a:ea typeface="Calibri" panose="020F0502020204030204" pitchFamily="34" charset="0"/>
                                              <a:cs typeface="Times New Roman" panose="02020603050405020304" pitchFamily="18" charset="0"/>
                                            </a:rPr>
                                            <m:t>𝐿</m:t>
                                          </m:r>
                                        </m:sub>
                                        <m:sup>
                                          <m:r>
                                            <a:rPr lang="en-US" sz="1400">
                                              <a:solidFill>
                                                <a:srgbClr val="000000"/>
                                              </a:solidFill>
                                              <a:latin typeface="fkGroteskNeue"/>
                                              <a:ea typeface="Calibri" panose="020F0502020204030204" pitchFamily="34" charset="0"/>
                                              <a:cs typeface="Times New Roman" panose="02020603050405020304" pitchFamily="18" charset="0"/>
                                            </a:rPr>
                                            <m:t>2</m:t>
                                          </m:r>
                                        </m:sup>
                                      </m:sSubSup>
                                      <m:sSubSup>
                                        <m:sSubSupPr>
                                          <m:ctrlPr>
                                            <a:rPr lang="en-US" sz="1400" i="1">
                                              <a:solidFill>
                                                <a:srgbClr val="000000"/>
                                              </a:solidFill>
                                              <a:latin typeface="fkGroteskNeue"/>
                                              <a:ea typeface="Calibri" panose="020F0502020204030204" pitchFamily="34" charset="0"/>
                                              <a:cs typeface="Times New Roman" panose="02020603050405020304" pitchFamily="18" charset="0"/>
                                            </a:rPr>
                                          </m:ctrlPr>
                                        </m:sSubSupPr>
                                        <m:e>
                                          <m:r>
                                            <a:rPr lang="en-US" sz="1400" i="1">
                                              <a:solidFill>
                                                <a:srgbClr val="000000"/>
                                              </a:solidFill>
                                              <a:latin typeface="fkGroteskNeue"/>
                                              <a:ea typeface="Calibri" panose="020F0502020204030204" pitchFamily="34" charset="0"/>
                                              <a:cs typeface="Times New Roman" panose="02020603050405020304" pitchFamily="18" charset="0"/>
                                            </a:rPr>
                                            <m:t>𝜔</m:t>
                                          </m:r>
                                        </m:e>
                                        <m:sub>
                                          <m:r>
                                            <a:rPr lang="en-US" sz="1400">
                                              <a:solidFill>
                                                <a:srgbClr val="000000"/>
                                              </a:solidFill>
                                              <a:latin typeface="fkGroteskNeue"/>
                                              <a:ea typeface="Calibri" panose="020F0502020204030204" pitchFamily="34" charset="0"/>
                                              <a:cs typeface="Times New Roman" panose="02020603050405020304" pitchFamily="18" charset="0"/>
                                            </a:rPr>
                                            <m:t>0</m:t>
                                          </m:r>
                                        </m:sub>
                                        <m:sup>
                                          <m:r>
                                            <a:rPr lang="en-US" sz="1400">
                                              <a:solidFill>
                                                <a:srgbClr val="000000"/>
                                              </a:solidFill>
                                              <a:latin typeface="fkGroteskNeue"/>
                                              <a:ea typeface="Calibri" panose="020F0502020204030204" pitchFamily="34" charset="0"/>
                                              <a:cs typeface="Times New Roman" panose="02020603050405020304" pitchFamily="18" charset="0"/>
                                            </a:rPr>
                                            <m:t>2</m:t>
                                          </m:r>
                                        </m:sup>
                                      </m:sSubSup>
                                      <m:r>
                                        <a:rPr lang="en-US" sz="1400">
                                          <a:solidFill>
                                            <a:srgbClr val="000000"/>
                                          </a:solidFill>
                                          <a:latin typeface="fkGroteskNeue"/>
                                          <a:ea typeface="Calibri" panose="020F0502020204030204" pitchFamily="34" charset="0"/>
                                          <a:cs typeface="Times New Roman" panose="02020603050405020304" pitchFamily="18" charset="0"/>
                                        </a:rPr>
                                        <m:t>+1</m:t>
                                      </m:r>
                                    </m:e>
                                  </m:rad>
                                </m:den>
                              </m:f>
                            </m:e>
                          </m:d>
                        </m:e>
                        <m:sup>
                          <m:r>
                            <a:rPr lang="en-US" sz="1400">
                              <a:solidFill>
                                <a:srgbClr val="000000"/>
                              </a:solidFill>
                              <a:latin typeface="fkGroteskNeue"/>
                              <a:ea typeface="Calibri" panose="020F0502020204030204" pitchFamily="34" charset="0"/>
                              <a:cs typeface="Times New Roman" panose="02020603050405020304" pitchFamily="18" charset="0"/>
                            </a:rPr>
                            <m:t>3</m:t>
                          </m:r>
                        </m:sup>
                      </m:sSup>
                      <m:r>
                        <a:rPr lang="en-US" sz="1400">
                          <a:solidFill>
                            <a:srgbClr val="000000"/>
                          </a:solidFill>
                          <a:latin typeface="fkGroteskNeue"/>
                          <a:ea typeface="Calibri" panose="020F0502020204030204" pitchFamily="34" charset="0"/>
                          <a:cs typeface="Times New Roman" panose="02020603050405020304" pitchFamily="18" charset="0"/>
                        </a:rPr>
                        <m:t>=1</m:t>
                      </m:r>
                    </m:oMath>
                  </m:oMathPara>
                </a14:m>
                <a:endParaRPr lang="en-US" sz="1400" dirty="0">
                  <a:latin typeface="fkGroteskNeue"/>
                  <a:ea typeface="Calibri" panose="020F0502020204030204" pitchFamily="34" charset="0"/>
                  <a:cs typeface="Times New Roman" panose="02020603050405020304" pitchFamily="18" charset="0"/>
                </a:endParaRPr>
              </a:p>
              <a:p>
                <a:pPr algn="l"/>
                <a:r>
                  <a:rPr lang="en-US" sz="1600" dirty="0" smtClean="0">
                    <a:latin typeface="fkGroteskNeue"/>
                  </a:rPr>
                  <a:t>and </a:t>
                </a:r>
                <a:r>
                  <a:rPr lang="en-US" sz="1600" dirty="0">
                    <a:latin typeface="fkGroteskNeue"/>
                  </a:rPr>
                  <a:t>phase shift is –180</a:t>
                </a:r>
                <a:r>
                  <a:rPr lang="en-US" sz="1600" dirty="0" smtClean="0">
                    <a:latin typeface="fkGroteskNeue"/>
                  </a:rPr>
                  <a:t>°.</a:t>
                </a:r>
                <a:endParaRPr lang="en-US" sz="1600" dirty="0">
                  <a:latin typeface="fkGroteskNeue"/>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440269" y="1234219"/>
                <a:ext cx="3890432" cy="3627403"/>
              </a:xfrm>
              <a:blipFill>
                <a:blip r:embed="rId2"/>
                <a:stretch>
                  <a:fillRect l="-3918" t="-2013" b="-251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Rectangle 3"/>
              <p:cNvSpPr/>
              <p:nvPr/>
            </p:nvSpPr>
            <p:spPr>
              <a:xfrm>
                <a:off x="5232399" y="1143948"/>
                <a:ext cx="6536267" cy="4643322"/>
              </a:xfrm>
              <a:prstGeom prst="rect">
                <a:avLst/>
              </a:prstGeom>
            </p:spPr>
            <p:txBody>
              <a:bodyPr wrap="square">
                <a:spAutoFit/>
              </a:bodyPr>
              <a:lstStyle/>
              <a:p>
                <a:r>
                  <a:rPr lang="en-US" dirty="0" smtClean="0">
                    <a:latin typeface="fkGroteskNeue"/>
                  </a:rPr>
                  <a:t>3. Equations </a:t>
                </a:r>
                <a:r>
                  <a:rPr lang="en-US" dirty="0">
                    <a:latin typeface="fkGroteskNeue"/>
                  </a:rPr>
                  <a:t>show </a:t>
                </a:r>
                <a:r>
                  <a:rPr lang="en-US" dirty="0">
                    <a:latin typeface="fkGroteskNeue"/>
                  </a:rPr>
                  <a:t>the interplay between gain, phase shift, and frequency</a:t>
                </a:r>
                <a:r>
                  <a:rPr lang="en-US" dirty="0">
                    <a:latin typeface="fkGroteskNeue"/>
                  </a:rPr>
                  <a:t>:</a:t>
                </a:r>
              </a:p>
              <a:p>
                <a:endParaRPr lang="en-US" dirty="0">
                  <a:latin typeface="fkGroteskNeue"/>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ad>
                            <m:radPr>
                              <m:deg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sSubSup>
                                <m:sSub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bSup>
                                <m:sSub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e>
                          </m:rad>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tan</m:t>
                          </m:r>
                        </m:e>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p>
                      </m:s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60</m:t>
                          </m:r>
                        </m:e>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sSup>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ad>
                            <m:radPr>
                              <m:deg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e>
                          </m:rad>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oMath>
                  </m:oMathPara>
                </a14:m>
                <a:endParaRPr lang="en-US" dirty="0" smtClean="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r>
                  <a:rPr lang="en-US" dirty="0">
                    <a:latin typeface="fkGroteskNeue"/>
                  </a:rPr>
                  <a:t>So </a:t>
                </a:r>
                <a:r>
                  <a:rPr lang="en-US" dirty="0">
                    <a:latin typeface="fkGroteskNeue"/>
                  </a:rPr>
                  <a:t>for three stages, each stage should provide a low-frequency voltage gain of 2 at startup for robust oscillation.</a:t>
                </a:r>
              </a:p>
            </p:txBody>
          </p:sp>
        </mc:Choice>
        <mc:Fallback>
          <p:sp>
            <p:nvSpPr>
              <p:cNvPr id="4" name="Rectangle 3"/>
              <p:cNvSpPr>
                <a:spLocks noRot="1" noChangeAspect="1" noMove="1" noResize="1" noEditPoints="1" noAdjustHandles="1" noChangeArrowheads="1" noChangeShapeType="1" noTextEdit="1"/>
              </p:cNvSpPr>
              <p:nvPr/>
            </p:nvSpPr>
            <p:spPr>
              <a:xfrm>
                <a:off x="5232399" y="1143948"/>
                <a:ext cx="6536267" cy="4643322"/>
              </a:xfrm>
              <a:prstGeom prst="rect">
                <a:avLst/>
              </a:prstGeom>
              <a:blipFill>
                <a:blip r:embed="rId3"/>
                <a:stretch>
                  <a:fillRect l="-746" t="-788" r="-1491" b="-1314"/>
                </a:stretch>
              </a:blipFill>
            </p:spPr>
            <p:txBody>
              <a:bodyPr/>
              <a:lstStyle/>
              <a:p>
                <a:r>
                  <a:rPr lang="en-US">
                    <a:noFill/>
                  </a:rPr>
                  <a:t> </a:t>
                </a:r>
              </a:p>
            </p:txBody>
          </p:sp>
        </mc:Fallback>
      </mc:AlternateContent>
    </p:spTree>
    <p:extLst>
      <p:ext uri="{BB962C8B-B14F-4D97-AF65-F5344CB8AC3E}">
        <p14:creationId xmlns:p14="http://schemas.microsoft.com/office/powerpoint/2010/main" val="15329933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Footer Placeholder 3"/>
          <p:cNvSpPr>
            <a:spLocks noGrp="1"/>
          </p:cNvSpPr>
          <p:nvPr>
            <p:ph type="ftr" sz="quarter" idx="5"/>
          </p:nvPr>
        </p:nvSpPr>
        <p:spPr>
          <a:xfrm>
            <a:off x="5717878" y="6564658"/>
            <a:ext cx="1419522" cy="293342"/>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1041399" y="1167955"/>
            <a:ext cx="8864601" cy="4665580"/>
          </a:xfrm>
          <a:prstGeom prst="rect">
            <a:avLst/>
          </a:prstGeom>
        </p:spPr>
      </p:pic>
      <p:sp>
        <p:nvSpPr>
          <p:cNvPr id="8" name="Rectangle 7"/>
          <p:cNvSpPr/>
          <p:nvPr/>
        </p:nvSpPr>
        <p:spPr>
          <a:xfrm>
            <a:off x="2346534" y="5971345"/>
            <a:ext cx="7409401" cy="276999"/>
          </a:xfrm>
          <a:prstGeom prst="rect">
            <a:avLst/>
          </a:prstGeom>
        </p:spPr>
        <p:txBody>
          <a:bodyPr wrap="none">
            <a:spAutoFit/>
          </a:bodyPr>
          <a:lstStyle/>
          <a:p>
            <a:r>
              <a:rPr lang="en-US" sz="1200" b="1" i="0" u="none" strike="noStrike" baseline="0" dirty="0" smtClean="0">
                <a:solidFill>
                  <a:srgbClr val="231F20"/>
                </a:solidFill>
                <a:latin typeface="T3Font_164"/>
              </a:rPr>
              <a:t>Figure 1.12 </a:t>
            </a:r>
            <a:r>
              <a:rPr lang="en-US" sz="1200" b="1" i="0" u="none" strike="noStrike" baseline="0" dirty="0" smtClean="0">
                <a:solidFill>
                  <a:srgbClr val="231F20"/>
                </a:solidFill>
                <a:latin typeface="T3Font_165"/>
              </a:rPr>
              <a:t>(a) Three CS stages in a feedback loop, (b) loop transmission, and (c) node waveforms.</a:t>
            </a:r>
            <a:endParaRPr lang="en-US" sz="3600" b="1" dirty="0"/>
          </a:p>
        </p:txBody>
      </p:sp>
    </p:spTree>
    <p:extLst>
      <p:ext uri="{BB962C8B-B14F-4D97-AF65-F5344CB8AC3E}">
        <p14:creationId xmlns:p14="http://schemas.microsoft.com/office/powerpoint/2010/main" val="261148796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49" y="347725"/>
            <a:ext cx="11059583" cy="523220"/>
          </a:xfrm>
        </p:spPr>
        <p:txBody>
          <a:bodyPr/>
          <a:lstStyle/>
          <a:p>
            <a:r>
              <a:rPr lang="en-US" dirty="0">
                <a:latin typeface="fkGrotesk"/>
              </a:rPr>
              <a:t>3. Extracting Oscillation Frequency and Startup </a:t>
            </a:r>
            <a:r>
              <a:rPr lang="en-US" dirty="0" smtClean="0">
                <a:latin typeface="fkGrotesk"/>
              </a:rPr>
              <a:t>Condition</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49" y="1327353"/>
                <a:ext cx="10746317" cy="3576044"/>
              </a:xfrm>
            </p:spPr>
            <p:txBody>
              <a:bodyPr/>
              <a:lstStyle/>
              <a:p>
                <a:pPr algn="l"/>
                <a:r>
                  <a:rPr lang="en-US" dirty="0">
                    <a:latin typeface="fkGroteskNeue"/>
                  </a:rPr>
                  <a:t>Equations </a:t>
                </a:r>
                <a:r>
                  <a:rPr lang="en-US" dirty="0" smtClean="0">
                    <a:latin typeface="fkGroteskNeue"/>
                  </a:rPr>
                  <a:t>show </a:t>
                </a:r>
                <a:r>
                  <a:rPr lang="en-US" dirty="0">
                    <a:latin typeface="fkGroteskNeue"/>
                  </a:rPr>
                  <a:t>the interplay between gain, phase shift, and frequency</a:t>
                </a:r>
                <a:r>
                  <a:rPr lang="en-US" dirty="0" smtClean="0">
                    <a:latin typeface="fkGroteskNeue"/>
                  </a:rPr>
                  <a:t>:</a:t>
                </a:r>
              </a:p>
              <a:p>
                <a:pPr algn="l"/>
                <a:endParaRPr lang="en-US" dirty="0" smtClean="0">
                  <a:latin typeface="fkGroteskNeue"/>
                </a:endParaRPr>
              </a:p>
              <a:p>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ad>
                            <m:radPr>
                              <m:deg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sSubSup>
                                <m:sSub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bSup>
                                <m:sSub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e>
                          </m:rad>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tan</m:t>
                          </m:r>
                        </m:e>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p>
                      </m:s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60</m:t>
                          </m:r>
                        </m:e>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sSup>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ad>
                            <m:radPr>
                              <m:deg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e>
                          </m:rad>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oMath>
                  </m:oMathPara>
                </a14:m>
                <a:endParaRPr lang="en-US" dirty="0" smtClean="0">
                  <a:latin typeface="Georgia" panose="02040502050405020303" pitchFamily="18" charset="0"/>
                  <a:ea typeface="Calibri" panose="020F0502020204030204" pitchFamily="34" charset="0"/>
                  <a:cs typeface="Times New Roman" panose="02020603050405020304" pitchFamily="18" charset="0"/>
                </a:endParaRPr>
              </a:p>
              <a:p>
                <a:pPr algn="l"/>
                <a:r>
                  <a:rPr lang="en-US" dirty="0" smtClean="0">
                    <a:latin typeface="fkGroteskNeue"/>
                  </a:rPr>
                  <a:t>So </a:t>
                </a:r>
                <a:r>
                  <a:rPr lang="en-US" dirty="0">
                    <a:latin typeface="fkGroteskNeue"/>
                  </a:rPr>
                  <a:t>for three stages, each stage should provide a low-frequency voltage gain of 2 at startup for robust oscillation.</a:t>
                </a: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49" y="1327353"/>
                <a:ext cx="10746317" cy="3576044"/>
              </a:xfrm>
              <a:blipFill>
                <a:blip r:embed="rId2"/>
                <a:stretch>
                  <a:fillRect l="-1476" t="-2048" r="-114"/>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66188026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47725"/>
            <a:ext cx="11734800" cy="523220"/>
          </a:xfrm>
        </p:spPr>
        <p:txBody>
          <a:bodyPr/>
          <a:lstStyle/>
          <a:p>
            <a:r>
              <a:rPr lang="en-US" dirty="0">
                <a:latin typeface="fkGrotesk"/>
              </a:rPr>
              <a:t>4. Waveform Phase Separation and Capacitance </a:t>
            </a:r>
            <a:r>
              <a:rPr lang="en-US" dirty="0" smtClean="0">
                <a:latin typeface="fkGrotesk"/>
              </a:rPr>
              <a:t>Modeling</a:t>
            </a:r>
            <a:endParaRPr lang="en-US" dirty="0"/>
          </a:p>
        </p:txBody>
      </p:sp>
      <p:sp>
        <p:nvSpPr>
          <p:cNvPr id="3" name="Text Placeholder 2"/>
          <p:cNvSpPr>
            <a:spLocks noGrp="1"/>
          </p:cNvSpPr>
          <p:nvPr>
            <p:ph type="body" idx="1"/>
          </p:nvPr>
        </p:nvSpPr>
        <p:spPr>
          <a:xfrm>
            <a:off x="844550" y="1327353"/>
            <a:ext cx="6750050" cy="3693319"/>
          </a:xfrm>
        </p:spPr>
        <p:txBody>
          <a:bodyPr/>
          <a:lstStyle/>
          <a:p>
            <a:pPr algn="l"/>
            <a:r>
              <a:rPr lang="en-US" dirty="0" smtClean="0">
                <a:latin typeface="fkGroteskNeue"/>
              </a:rPr>
              <a:t>Shows </a:t>
            </a:r>
            <a:r>
              <a:rPr lang="en-US" dirty="0">
                <a:latin typeface="fkGroteskNeue"/>
              </a:rPr>
              <a:t>node voltages </a:t>
            </a:r>
            <a:r>
              <a:rPr lang="en-US" dirty="0" smtClean="0">
                <a:latin typeface="fkGroteskNeue"/>
              </a:rPr>
              <a:t>(</a:t>
            </a:r>
            <a:r>
              <a:rPr lang="en-US" i="1" dirty="0" smtClean="0">
                <a:latin typeface="KaTeX_Math"/>
              </a:rPr>
              <a:t>V</a:t>
            </a:r>
            <a:r>
              <a:rPr lang="en-US" i="1" baseline="-25000" dirty="0" smtClean="0">
                <a:latin typeface="KaTeX_Math"/>
              </a:rPr>
              <a:t>X</a:t>
            </a:r>
            <a:r>
              <a:rPr lang="en-US" dirty="0" smtClean="0">
                <a:latin typeface="KaTeX_Main"/>
              </a:rPr>
              <a:t>,</a:t>
            </a:r>
            <a:r>
              <a:rPr lang="en-US" i="1" dirty="0" smtClean="0">
                <a:latin typeface="KaTeX_Math"/>
              </a:rPr>
              <a:t>V</a:t>
            </a:r>
            <a:r>
              <a:rPr lang="en-US" i="1" baseline="-25000" dirty="0" smtClean="0">
                <a:latin typeface="KaTeX_Math"/>
              </a:rPr>
              <a:t>Y</a:t>
            </a:r>
            <a:r>
              <a:rPr lang="en-US" dirty="0" smtClean="0">
                <a:latin typeface="KaTeX_Main"/>
              </a:rPr>
              <a:t>,</a:t>
            </a:r>
            <a:r>
              <a:rPr lang="en-US" i="1" dirty="0" smtClean="0">
                <a:latin typeface="KaTeX_Math"/>
              </a:rPr>
              <a:t>V</a:t>
            </a:r>
            <a:r>
              <a:rPr lang="en-US" i="1" baseline="-25000" dirty="0" smtClean="0">
                <a:latin typeface="KaTeX_Math"/>
              </a:rPr>
              <a:t>Z</a:t>
            </a:r>
            <a:r>
              <a:rPr lang="en-US" dirty="0">
                <a:latin typeface="fkGroteskNeue"/>
              </a:rPr>
              <a:t>) through time, with a phase separation of 240°, i.e., each stage output is separated by </a:t>
            </a:r>
            <a:r>
              <a:rPr lang="en-US" dirty="0" smtClean="0">
                <a:latin typeface="KaTeX_Main"/>
              </a:rPr>
              <a:t>−</a:t>
            </a:r>
            <a:r>
              <a:rPr lang="en-US" dirty="0">
                <a:latin typeface="KaTeX_Main"/>
              </a:rPr>
              <a:t>120</a:t>
            </a:r>
            <a:r>
              <a:rPr lang="en-US" baseline="30000" dirty="0">
                <a:latin typeface="KaTeX_Main"/>
              </a:rPr>
              <a:t>∘</a:t>
            </a:r>
            <a:r>
              <a:rPr lang="en-US" dirty="0">
                <a:latin typeface="fkGroteskNeue"/>
              </a:rPr>
              <a:t> in phase. This aligns with the three-stage delay and is essential for multi-phase clock generation in timing circuits.</a:t>
            </a:r>
          </a:p>
          <a:p>
            <a:pPr algn="l"/>
            <a:r>
              <a:rPr lang="en-US" dirty="0">
                <a:latin typeface="fkGrotesk"/>
              </a:rPr>
              <a:t>Capacitance</a:t>
            </a:r>
          </a:p>
          <a:p>
            <a:pPr marL="342900" indent="-342900" algn="just">
              <a:buFont typeface="Wingdings" panose="05000000000000000000" pitchFamily="2" charset="2"/>
              <a:buChar char="q"/>
            </a:pPr>
            <a:r>
              <a:rPr lang="en-US" i="1" dirty="0" smtClean="0">
                <a:latin typeface="KaTeX_Math"/>
              </a:rPr>
              <a:t>C</a:t>
            </a:r>
            <a:r>
              <a:rPr lang="en-US" i="1" baseline="-25000" dirty="0" smtClean="0">
                <a:latin typeface="KaTeX_Math"/>
              </a:rPr>
              <a:t>L</a:t>
            </a:r>
            <a:r>
              <a:rPr lang="en-US" dirty="0">
                <a:latin typeface="fkGroteskNeue"/>
              </a:rPr>
              <a:t> at each node represents all relevant capacitances, including intrinsic node capacitance and Miller effect from transistor coupling.</a:t>
            </a:r>
          </a:p>
          <a:p>
            <a:pPr marL="342900" indent="-342900" algn="just">
              <a:buFont typeface="Wingdings" panose="05000000000000000000" pitchFamily="2" charset="2"/>
              <a:buChar char="q"/>
            </a:pPr>
            <a:r>
              <a:rPr lang="en-US" dirty="0">
                <a:latin typeface="fkGroteskNeue"/>
              </a:rPr>
              <a:t>Accurate modeling of </a:t>
            </a:r>
            <a:r>
              <a:rPr lang="en-US" i="1" dirty="0" smtClean="0">
                <a:latin typeface="KaTeX_Math"/>
              </a:rPr>
              <a:t>C</a:t>
            </a:r>
            <a:r>
              <a:rPr lang="en-US" i="1" baseline="-25000" dirty="0" smtClean="0">
                <a:latin typeface="KaTeX_Math"/>
              </a:rPr>
              <a:t>L</a:t>
            </a:r>
            <a:r>
              <a:rPr lang="en-US" dirty="0">
                <a:latin typeface="fkGroteskNeue"/>
              </a:rPr>
              <a:t> is crucial for predicting oscillation frequency, as seen in design equations.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684502" y="1904959"/>
            <a:ext cx="3262898" cy="2269841"/>
          </a:xfrm>
          <a:prstGeom prst="rect">
            <a:avLst/>
          </a:prstGeom>
        </p:spPr>
      </p:pic>
    </p:spTree>
    <p:extLst>
      <p:ext uri="{BB962C8B-B14F-4D97-AF65-F5344CB8AC3E}">
        <p14:creationId xmlns:p14="http://schemas.microsoft.com/office/powerpoint/2010/main" val="204855244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5. Key Pedagogical </a:t>
            </a:r>
            <a:r>
              <a:rPr lang="en-US" dirty="0" smtClean="0">
                <a:latin typeface="fkGrotesk"/>
              </a:rPr>
              <a:t>Takeaways</a:t>
            </a:r>
            <a:endParaRPr lang="en-US" dirty="0"/>
          </a:p>
        </p:txBody>
      </p:sp>
      <p:sp>
        <p:nvSpPr>
          <p:cNvPr id="3" name="Text Placeholder 2"/>
          <p:cNvSpPr>
            <a:spLocks noGrp="1"/>
          </p:cNvSpPr>
          <p:nvPr>
            <p:ph type="body" idx="1"/>
          </p:nvPr>
        </p:nvSpPr>
        <p:spPr>
          <a:xfrm>
            <a:off x="844550" y="1327353"/>
            <a:ext cx="10653183" cy="4616648"/>
          </a:xfrm>
        </p:spPr>
        <p:txBody>
          <a:bodyPr/>
          <a:lstStyle/>
          <a:p>
            <a:pPr marL="342900" indent="-342900" algn="l">
              <a:buFont typeface="Wingdings" panose="05000000000000000000" pitchFamily="2" charset="2"/>
              <a:buChar char="q"/>
            </a:pPr>
            <a:r>
              <a:rPr lang="en-US" dirty="0" smtClean="0">
                <a:latin typeface="fkGroteskNeue"/>
              </a:rPr>
              <a:t>Increasing </a:t>
            </a:r>
            <a:r>
              <a:rPr lang="en-US" dirty="0">
                <a:latin typeface="fkGroteskNeue"/>
              </a:rPr>
              <a:t>N in a ring oscillator lowers the oscillation frequency and reduces the required per-stage gain at startup.</a:t>
            </a:r>
          </a:p>
          <a:p>
            <a:pPr marL="342900" indent="-342900" algn="l">
              <a:buFont typeface="Wingdings" panose="05000000000000000000" pitchFamily="2" charset="2"/>
              <a:buChar char="q"/>
            </a:pPr>
            <a:r>
              <a:rPr lang="en-US" dirty="0">
                <a:latin typeface="fkGroteskNeue"/>
              </a:rPr>
              <a:t>Each stage must contribute part of the total loop phase shift (split among N stages).</a:t>
            </a:r>
          </a:p>
          <a:p>
            <a:pPr marL="342900" indent="-342900" algn="l">
              <a:buFont typeface="Wingdings" panose="05000000000000000000" pitchFamily="2" charset="2"/>
              <a:buChar char="q"/>
            </a:pPr>
            <a:r>
              <a:rPr lang="en-US" dirty="0">
                <a:latin typeface="fkGroteskNeue"/>
              </a:rPr>
              <a:t>Oscillation is ensured when the product of gain, phase shift, and number of stages meets </a:t>
            </a:r>
            <a:r>
              <a:rPr lang="en-US" dirty="0" err="1">
                <a:latin typeface="fkGroteskNeue"/>
              </a:rPr>
              <a:t>Barkhausen</a:t>
            </a:r>
            <a:r>
              <a:rPr lang="en-US" dirty="0">
                <a:latin typeface="fkGroteskNeue"/>
              </a:rPr>
              <a:t> conditions.</a:t>
            </a:r>
          </a:p>
          <a:p>
            <a:pPr marL="342900" indent="-342900" algn="l">
              <a:buFont typeface="Wingdings" panose="05000000000000000000" pitchFamily="2" charset="2"/>
              <a:buChar char="q"/>
            </a:pPr>
            <a:r>
              <a:rPr lang="en-US" dirty="0">
                <a:latin typeface="fkGroteskNeue"/>
              </a:rPr>
              <a:t>The waveform at each node shows clear phase separation, critical for timing circuit applications.</a:t>
            </a:r>
          </a:p>
          <a:p>
            <a:pPr marL="342900" indent="-342900" algn="l">
              <a:buFont typeface="Wingdings" panose="05000000000000000000" pitchFamily="2" charset="2"/>
              <a:buChar char="q"/>
            </a:pPr>
            <a:r>
              <a:rPr lang="en-US" dirty="0">
                <a:latin typeface="fkGroteskNeue"/>
              </a:rPr>
              <a:t>Accurate modeling of node capacitance—including Miller effect—is essential for correct oscillator design and frequency prediction</a:t>
            </a:r>
            <a:r>
              <a:rPr lang="en-US" dirty="0" smtClean="0">
                <a:latin typeface="fkGroteskNeue"/>
              </a:rPr>
              <a:t>.</a:t>
            </a:r>
          </a:p>
          <a:p>
            <a:pPr marL="342900" indent="-342900" algn="l">
              <a:buFont typeface="Arial" panose="020B0604020202020204" pitchFamily="34" charset="0"/>
              <a:buChar char="•"/>
            </a:pPr>
            <a:endParaRPr lang="en-US" dirty="0">
              <a:latin typeface="fkGroteskNeue"/>
            </a:endParaRPr>
          </a:p>
          <a:p>
            <a:pPr algn="just"/>
            <a:r>
              <a:rPr lang="en-US" dirty="0">
                <a:latin typeface="fkGroteskNeue"/>
              </a:rPr>
              <a:t>This progressive, energy-feedback-based view connects the mathematics to the practical design and debugging of robust ring oscillator circuits for PLLs and timing generation</a:t>
            </a:r>
            <a:r>
              <a:rPr lang="en-US" dirty="0" smtClean="0">
                <a:latin typeface="fkGroteskNeue"/>
              </a:rPr>
              <a:t>. Here’s </a:t>
            </a:r>
            <a:r>
              <a:rPr lang="en-US" dirty="0">
                <a:latin typeface="fkGroteskNeue"/>
              </a:rPr>
              <a:t>a fundamental and pedagogical explanation of the ring oscillator principles and the associated figures, focusing on how increasing the number of stages </a:t>
            </a:r>
            <a:r>
              <a:rPr lang="en-US" dirty="0" smtClean="0">
                <a:latin typeface="fkGroteskNeue"/>
              </a:rPr>
              <a:t>(</a:t>
            </a:r>
            <a:r>
              <a:rPr lang="en-US" i="1" dirty="0" smtClean="0">
                <a:latin typeface="KaTeX_Math"/>
              </a:rPr>
              <a:t>N</a:t>
            </a:r>
            <a:r>
              <a:rPr lang="en-US" dirty="0">
                <a:latin typeface="fkGroteskNeue"/>
              </a:rPr>
              <a:t>) affects its behavior and the required gain </a:t>
            </a:r>
            <a:r>
              <a:rPr lang="en-US" dirty="0" smtClean="0">
                <a:latin typeface="fkGroteskNeue"/>
              </a:rPr>
              <a:t>conditions</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50016627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Key Learning </a:t>
            </a:r>
            <a:r>
              <a:rPr lang="en-US" dirty="0" smtClean="0">
                <a:latin typeface="fkGrotesk"/>
              </a:rPr>
              <a:t>Points</a:t>
            </a:r>
            <a:endParaRPr lang="en-US" dirty="0"/>
          </a:p>
        </p:txBody>
      </p:sp>
      <p:sp>
        <p:nvSpPr>
          <p:cNvPr id="3" name="Text Placeholder 2"/>
          <p:cNvSpPr>
            <a:spLocks noGrp="1"/>
          </p:cNvSpPr>
          <p:nvPr>
            <p:ph type="body" idx="1"/>
          </p:nvPr>
        </p:nvSpPr>
        <p:spPr>
          <a:xfrm>
            <a:off x="844550" y="1327353"/>
            <a:ext cx="10560050" cy="4001095"/>
          </a:xfrm>
        </p:spPr>
        <p:txBody>
          <a:bodyPr/>
          <a:lstStyle/>
          <a:p>
            <a:pPr marL="342900" indent="-342900" algn="l">
              <a:buFont typeface="Arial" panose="020B0604020202020204" pitchFamily="34" charset="0"/>
              <a:buChar char="•"/>
            </a:pPr>
            <a:r>
              <a:rPr lang="en-US" dirty="0" smtClean="0">
                <a:latin typeface="fkGroteskNeue"/>
              </a:rPr>
              <a:t>Increasing </a:t>
            </a:r>
            <a:r>
              <a:rPr lang="en-US" dirty="0">
                <a:latin typeface="fkGroteskNeue"/>
              </a:rPr>
              <a:t>stage count lowers oscillation frequency and the required per-stage gain for startup.</a:t>
            </a:r>
          </a:p>
          <a:p>
            <a:pPr marL="342900" indent="-342900" algn="l">
              <a:buFont typeface="Arial" panose="020B0604020202020204" pitchFamily="34" charset="0"/>
              <a:buChar char="•"/>
            </a:pPr>
            <a:r>
              <a:rPr lang="en-US" dirty="0">
                <a:latin typeface="fkGroteskNeue"/>
              </a:rPr>
              <a:t>Phase shift divides among stages; more stages = smaller shift per stage.</a:t>
            </a:r>
          </a:p>
          <a:p>
            <a:pPr marL="342900" indent="-342900" algn="l">
              <a:buFont typeface="Arial" panose="020B0604020202020204" pitchFamily="34" charset="0"/>
              <a:buChar char="•"/>
            </a:pPr>
            <a:r>
              <a:rPr lang="en-US" dirty="0">
                <a:latin typeface="fkGroteskNeue"/>
              </a:rPr>
              <a:t>Oscillation criteria are satisfied by the combined action of gain and phase through all stages.</a:t>
            </a:r>
          </a:p>
          <a:p>
            <a:pPr marL="342900" indent="-342900" algn="l">
              <a:buFont typeface="Arial" panose="020B0604020202020204" pitchFamily="34" charset="0"/>
              <a:buChar char="•"/>
            </a:pPr>
            <a:r>
              <a:rPr lang="en-US" dirty="0">
                <a:latin typeface="fkGroteskNeue"/>
              </a:rPr>
              <a:t>Node voltages show predictable phase relationships, vital for applications in clocking and delay generation.</a:t>
            </a:r>
          </a:p>
          <a:p>
            <a:pPr marL="342900" indent="-342900" algn="l">
              <a:buFont typeface="Arial" panose="020B0604020202020204" pitchFamily="34" charset="0"/>
              <a:buChar char="•"/>
            </a:pPr>
            <a:r>
              <a:rPr lang="en-US" dirty="0">
                <a:latin typeface="fkGroteskNeue"/>
              </a:rPr>
              <a:t>Capacitance must be carefully included in models for accurate design—especially for advanced, fast oscillators.</a:t>
            </a:r>
          </a:p>
          <a:p>
            <a:pPr algn="l"/>
            <a:r>
              <a:rPr lang="en-US" dirty="0">
                <a:latin typeface="fkGroteskNeue"/>
              </a:rPr>
              <a:t>This foundational approach tightly links energy cycling, feedback, device modeling, and circuit design to build intuition for students and engineers working on PLLs and modern timing generators.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98397316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0"/>
            <a:ext cx="10593196" cy="1046440"/>
          </a:xfrm>
        </p:spPr>
        <p:txBody>
          <a:bodyPr/>
          <a:lstStyle/>
          <a:p>
            <a:r>
              <a:rPr lang="en-US" dirty="0">
                <a:latin typeface="fkGrotesk"/>
              </a:rPr>
              <a:t>Nonlinearity, Amplitude, and Waveform Properties in </a:t>
            </a:r>
            <a:r>
              <a:rPr lang="en-US" dirty="0" smtClean="0">
                <a:latin typeface="fkGrotesk"/>
              </a:rPr>
              <a:t>Practice</a:t>
            </a:r>
            <a:endParaRPr lang="en-US" dirty="0"/>
          </a:p>
        </p:txBody>
      </p:sp>
      <p:sp>
        <p:nvSpPr>
          <p:cNvPr id="3" name="Text Placeholder 2"/>
          <p:cNvSpPr>
            <a:spLocks noGrp="1"/>
          </p:cNvSpPr>
          <p:nvPr>
            <p:ph type="body" idx="1"/>
          </p:nvPr>
        </p:nvSpPr>
        <p:spPr>
          <a:xfrm>
            <a:off x="844550" y="1327353"/>
            <a:ext cx="10687050" cy="1538883"/>
          </a:xfrm>
        </p:spPr>
        <p:txBody>
          <a:bodyPr/>
          <a:lstStyle/>
          <a:p>
            <a:pPr algn="just"/>
            <a:r>
              <a:rPr lang="en-US" dirty="0" smtClean="0">
                <a:latin typeface="fkGroteskNeue"/>
              </a:rPr>
              <a:t>Ring </a:t>
            </a:r>
            <a:r>
              <a:rPr lang="en-US" dirty="0">
                <a:latin typeface="fkGroteskNeue"/>
              </a:rPr>
              <a:t>oscillators, inverter chains, and practical dynamic systems demonstrate how oscillator amplitude and waveform shape are determined not just by loop gain and topology, but by device nonlinearities, supply voltage, and feedback timing. Here’s a concise, fundamental conceptual guide based on the content and figures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65291244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1. Nonlinearity and Amplitude </a:t>
            </a:r>
            <a:r>
              <a:rPr lang="en-US" dirty="0" smtClean="0">
                <a:latin typeface="fkGrotesk"/>
              </a:rPr>
              <a:t>Stabilization</a:t>
            </a:r>
            <a:endParaRPr lang="en-US" dirty="0"/>
          </a:p>
        </p:txBody>
      </p:sp>
      <p:sp>
        <p:nvSpPr>
          <p:cNvPr id="3" name="Text Placeholder 2"/>
          <p:cNvSpPr>
            <a:spLocks noGrp="1"/>
          </p:cNvSpPr>
          <p:nvPr>
            <p:ph type="body" idx="1"/>
          </p:nvPr>
        </p:nvSpPr>
        <p:spPr>
          <a:xfrm>
            <a:off x="692150" y="1318887"/>
            <a:ext cx="7630583" cy="3077766"/>
          </a:xfrm>
        </p:spPr>
        <p:txBody>
          <a:bodyPr/>
          <a:lstStyle/>
          <a:p>
            <a:pPr marL="342900" indent="-342900" algn="just">
              <a:buFont typeface="Arial" panose="020B0604020202020204" pitchFamily="34" charset="0"/>
              <a:buChar char="•"/>
            </a:pPr>
            <a:r>
              <a:rPr lang="en-US" dirty="0" smtClean="0">
                <a:latin typeface="fkGroteskNeue"/>
              </a:rPr>
              <a:t>If</a:t>
            </a:r>
            <a:r>
              <a:rPr lang="en-US" dirty="0">
                <a:latin typeface="fkGroteskNeue"/>
              </a:rPr>
              <a:t> </a:t>
            </a:r>
            <a:r>
              <a:rPr lang="en-US" dirty="0">
                <a:latin typeface="KaTeX_Main"/>
              </a:rPr>
              <a:t>∣H(jω0)∣&gt;1∣</a:t>
            </a:r>
            <a:r>
              <a:rPr lang="en-US" i="1" dirty="0">
                <a:latin typeface="KaTeX_Math"/>
              </a:rPr>
              <a:t>H</a:t>
            </a:r>
            <a:r>
              <a:rPr lang="en-US" dirty="0">
                <a:latin typeface="KaTeX_Main"/>
              </a:rPr>
              <a:t>(</a:t>
            </a:r>
            <a:r>
              <a:rPr lang="en-US" i="1" dirty="0">
                <a:latin typeface="KaTeX_Math"/>
              </a:rPr>
              <a:t>jω</a:t>
            </a:r>
            <a:r>
              <a:rPr lang="en-US" dirty="0">
                <a:latin typeface="KaTeX_Main"/>
              </a:rPr>
              <a:t>0)∣&gt;1</a:t>
            </a:r>
            <a:r>
              <a:rPr lang="en-US" dirty="0">
                <a:latin typeface="fkGroteskNeue"/>
              </a:rPr>
              <a:t>: Amplitude grows after startup, initiated by noise or perturbation, as shown in Figure </a:t>
            </a:r>
            <a:r>
              <a:rPr lang="en-US" dirty="0" smtClean="0">
                <a:latin typeface="fkGroteskNeue"/>
              </a:rPr>
              <a:t>1.13 (</a:t>
            </a:r>
            <a:r>
              <a:rPr lang="en-US" dirty="0" smtClean="0">
                <a:latin typeface="KaTeX_Main"/>
              </a:rPr>
              <a:t>VX </a:t>
            </a:r>
            <a:r>
              <a:rPr lang="en-US" i="1" dirty="0" err="1" smtClean="0">
                <a:latin typeface="KaTeX_Math"/>
              </a:rPr>
              <a:t>VX</a:t>
            </a:r>
            <a:r>
              <a:rPr lang="en-US" dirty="0">
                <a:latin typeface="fkGroteskNeue"/>
              </a:rPr>
              <a:t> building up over time from zero) .</a:t>
            </a:r>
          </a:p>
          <a:p>
            <a:pPr marL="342900" indent="-342900" algn="just">
              <a:buFont typeface="Arial" panose="020B0604020202020204" pitchFamily="34" charset="0"/>
              <a:buChar char="•"/>
            </a:pPr>
            <a:r>
              <a:rPr lang="en-US" dirty="0">
                <a:latin typeface="fkGroteskNeue"/>
              </a:rPr>
              <a:t>Growth continues until the amplitude is large enough for transistor nonlinearities to reduce the effective loop gain (e.g., </a:t>
            </a:r>
            <a:r>
              <a:rPr lang="en-US" i="1" dirty="0" smtClean="0">
                <a:latin typeface="KaTeX_Math"/>
              </a:rPr>
              <a:t>gm</a:t>
            </a:r>
            <a:r>
              <a:rPr lang="en-US" dirty="0">
                <a:latin typeface="fkGroteskNeue"/>
              </a:rPr>
              <a:t> compresses as transistors enter triode/strong inversion).</a:t>
            </a:r>
          </a:p>
          <a:p>
            <a:pPr marL="342900" indent="-342900" algn="just">
              <a:buFont typeface="Arial" panose="020B0604020202020204" pitchFamily="34" charset="0"/>
              <a:buChar char="•"/>
            </a:pPr>
            <a:r>
              <a:rPr lang="en-US" dirty="0">
                <a:latin typeface="fkGroteskNeue"/>
              </a:rPr>
              <a:t>The “average” loop gain falls back to unity, so amplitude self-limits at a stable value—no indefinite growth</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8" name="Picture 7"/>
          <p:cNvPicPr>
            <a:picLocks noChangeAspect="1"/>
          </p:cNvPicPr>
          <p:nvPr/>
        </p:nvPicPr>
        <p:blipFill>
          <a:blip r:embed="rId2"/>
          <a:stretch>
            <a:fillRect/>
          </a:stretch>
        </p:blipFill>
        <p:spPr>
          <a:xfrm>
            <a:off x="617883" y="4447098"/>
            <a:ext cx="10712921" cy="1013902"/>
          </a:xfrm>
          <a:prstGeom prst="rect">
            <a:avLst/>
          </a:prstGeom>
        </p:spPr>
      </p:pic>
      <p:pic>
        <p:nvPicPr>
          <p:cNvPr id="9" name="Picture 8"/>
          <p:cNvPicPr>
            <a:picLocks noChangeAspect="1"/>
          </p:cNvPicPr>
          <p:nvPr/>
        </p:nvPicPr>
        <p:blipFill>
          <a:blip r:embed="rId3"/>
          <a:stretch>
            <a:fillRect/>
          </a:stretch>
        </p:blipFill>
        <p:spPr>
          <a:xfrm>
            <a:off x="8862416" y="1489036"/>
            <a:ext cx="2795752" cy="1618231"/>
          </a:xfrm>
          <a:prstGeom prst="rect">
            <a:avLst/>
          </a:prstGeom>
        </p:spPr>
      </p:pic>
      <p:sp>
        <p:nvSpPr>
          <p:cNvPr id="10" name="Rectangle 9"/>
          <p:cNvSpPr/>
          <p:nvPr/>
        </p:nvSpPr>
        <p:spPr>
          <a:xfrm>
            <a:off x="9302550" y="3218934"/>
            <a:ext cx="2087431" cy="369332"/>
          </a:xfrm>
          <a:prstGeom prst="rect">
            <a:avLst/>
          </a:prstGeom>
        </p:spPr>
        <p:txBody>
          <a:bodyPr wrap="none">
            <a:spAutoFit/>
          </a:bodyPr>
          <a:lstStyle/>
          <a:p>
            <a:r>
              <a:rPr lang="en-US" dirty="0">
                <a:solidFill>
                  <a:srgbClr val="231F20"/>
                </a:solidFill>
                <a:latin typeface="T3Font_185"/>
              </a:rPr>
              <a:t>Initial growth of </a:t>
            </a:r>
            <a:r>
              <a:rPr lang="en-US" dirty="0">
                <a:solidFill>
                  <a:srgbClr val="231F20"/>
                </a:solidFill>
                <a:latin typeface="T3Font_200"/>
              </a:rPr>
              <a:t>V</a:t>
            </a:r>
            <a:r>
              <a:rPr lang="en-US" sz="800" b="0" i="0" u="none" strike="noStrike" baseline="0" dirty="0" smtClean="0">
                <a:solidFill>
                  <a:srgbClr val="231F20"/>
                </a:solidFill>
                <a:latin typeface="T3Font_189"/>
              </a:rPr>
              <a:t>X</a:t>
            </a:r>
            <a:r>
              <a:rPr lang="en-US" dirty="0">
                <a:solidFill>
                  <a:srgbClr val="231F20"/>
                </a:solidFill>
                <a:latin typeface="T3Font_185"/>
              </a:rPr>
              <a:t>.</a:t>
            </a:r>
            <a:endParaRPr lang="en-US" dirty="0"/>
          </a:p>
        </p:txBody>
      </p:sp>
      <p:sp>
        <p:nvSpPr>
          <p:cNvPr id="11" name="Rectangle 10"/>
          <p:cNvSpPr/>
          <p:nvPr/>
        </p:nvSpPr>
        <p:spPr>
          <a:xfrm>
            <a:off x="719666" y="5538170"/>
            <a:ext cx="11404599" cy="646331"/>
          </a:xfrm>
          <a:prstGeom prst="rect">
            <a:avLst/>
          </a:prstGeom>
        </p:spPr>
        <p:txBody>
          <a:bodyPr wrap="square">
            <a:spAutoFit/>
          </a:bodyPr>
          <a:lstStyle/>
          <a:p>
            <a:pPr>
              <a:buFont typeface="Arial" panose="020B0604020202020204" pitchFamily="34" charset="0"/>
              <a:buChar char="•"/>
            </a:pPr>
            <a:r>
              <a:rPr lang="en-US" b="0" i="0" dirty="0" smtClean="0">
                <a:effectLst/>
                <a:latin typeface="fkGroteskNeue"/>
              </a:rPr>
              <a:t>Shows how a small disturbance at a node (</a:t>
            </a:r>
            <a:r>
              <a:rPr lang="en-US" b="0" i="1" dirty="0" smtClean="0">
                <a:effectLst/>
                <a:latin typeface="KaTeX_Math"/>
              </a:rPr>
              <a:t>VX</a:t>
            </a:r>
            <a:r>
              <a:rPr lang="en-US" b="0" i="0" dirty="0" smtClean="0">
                <a:effectLst/>
                <a:latin typeface="fkGroteskNeue"/>
              </a:rPr>
              <a:t>) is amplified during startup, with amplitude increasing from noise until nonlinear device behavior causes gain reduction and oscillation stabilizes at a finite amplitude.</a:t>
            </a:r>
            <a:endParaRPr lang="en-US" b="0" i="0" dirty="0">
              <a:effectLst/>
              <a:latin typeface="fkGroteskNeue"/>
            </a:endParaRPr>
          </a:p>
        </p:txBody>
      </p:sp>
    </p:spTree>
    <p:extLst>
      <p:ext uri="{BB962C8B-B14F-4D97-AF65-F5344CB8AC3E}">
        <p14:creationId xmlns:p14="http://schemas.microsoft.com/office/powerpoint/2010/main" val="382189084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2. Ideal and Practical Waveform </a:t>
            </a:r>
            <a:r>
              <a:rPr lang="en-US" dirty="0" smtClean="0">
                <a:latin typeface="fkGrotesk"/>
              </a:rPr>
              <a:t>Shapes</a:t>
            </a:r>
            <a:endParaRPr lang="en-US" dirty="0"/>
          </a:p>
        </p:txBody>
      </p:sp>
      <p:sp>
        <p:nvSpPr>
          <p:cNvPr id="3" name="Text Placeholder 2"/>
          <p:cNvSpPr>
            <a:spLocks noGrp="1"/>
          </p:cNvSpPr>
          <p:nvPr>
            <p:ph type="body" idx="1"/>
          </p:nvPr>
        </p:nvSpPr>
        <p:spPr>
          <a:xfrm>
            <a:off x="844550" y="1327353"/>
            <a:ext cx="10365317" cy="2154436"/>
          </a:xfrm>
        </p:spPr>
        <p:txBody>
          <a:bodyPr/>
          <a:lstStyle/>
          <a:p>
            <a:pPr marL="342900" indent="-342900" algn="just">
              <a:buFont typeface="Arial" panose="020B0604020202020204" pitchFamily="34" charset="0"/>
              <a:buChar char="•"/>
            </a:pPr>
            <a:r>
              <a:rPr lang="en-US" dirty="0" smtClean="0">
                <a:latin typeface="fkGroteskNeue"/>
              </a:rPr>
              <a:t>For </a:t>
            </a:r>
            <a:r>
              <a:rPr lang="en-US" dirty="0">
                <a:latin typeface="fkGroteskNeue"/>
              </a:rPr>
              <a:t>ring oscillators, with </a:t>
            </a:r>
            <a:r>
              <a:rPr lang="en-US" i="1" dirty="0" smtClean="0">
                <a:latin typeface="KaTeX_Math"/>
              </a:rPr>
              <a:t>H</a:t>
            </a:r>
            <a:r>
              <a:rPr lang="en-US" dirty="0" smtClean="0">
                <a:latin typeface="KaTeX_Main"/>
              </a:rPr>
              <a:t>(</a:t>
            </a:r>
            <a:r>
              <a:rPr lang="en-US" i="1" dirty="0" smtClean="0">
                <a:latin typeface="KaTeX_Math"/>
              </a:rPr>
              <a:t>j</a:t>
            </a:r>
            <a:r>
              <a:rPr lang="el-GR" i="1" dirty="0">
                <a:latin typeface="KaTeX_Math"/>
              </a:rPr>
              <a:t>ω</a:t>
            </a:r>
            <a:r>
              <a:rPr lang="el-GR" dirty="0">
                <a:latin typeface="KaTeX_Main"/>
              </a:rPr>
              <a:t>0)∣=1</a:t>
            </a:r>
            <a:r>
              <a:rPr lang="el-GR" dirty="0">
                <a:latin typeface="fkGroteskNeue"/>
              </a:rPr>
              <a:t>, </a:t>
            </a:r>
            <a:r>
              <a:rPr lang="en-US" dirty="0">
                <a:latin typeface="fkGroteskNeue"/>
              </a:rPr>
              <a:t>waveforms approach pure sinusoids; with much higher gain, they resemble square waves.</a:t>
            </a:r>
          </a:p>
          <a:p>
            <a:pPr marL="342900" indent="-342900" algn="just">
              <a:buFont typeface="Arial" panose="020B0604020202020204" pitchFamily="34" charset="0"/>
              <a:buChar char="•"/>
            </a:pPr>
            <a:r>
              <a:rPr lang="en-US" dirty="0">
                <a:latin typeface="fkGroteskNeue"/>
              </a:rPr>
              <a:t>Most applications desire square-</a:t>
            </a:r>
            <a:r>
              <a:rPr lang="en-US" dirty="0" err="1">
                <a:latin typeface="fkGroteskNeue"/>
              </a:rPr>
              <a:t>ish</a:t>
            </a:r>
            <a:r>
              <a:rPr lang="en-US" dirty="0">
                <a:latin typeface="fkGroteskNeue"/>
              </a:rPr>
              <a:t> waveforms for sharp transitions—faster switching speeds, cleaner timing edges, less noise, and improved digital compatibility.</a:t>
            </a:r>
          </a:p>
          <a:p>
            <a:pPr marL="342900" indent="-342900" algn="just">
              <a:buFont typeface="Arial" panose="020B0604020202020204" pitchFamily="34" charset="0"/>
              <a:buChar char="•"/>
            </a:pPr>
            <a:r>
              <a:rPr lang="en-US" dirty="0">
                <a:latin typeface="fkGroteskNeue"/>
              </a:rPr>
              <a:t>Example: RF mixers use oscillator outputs; abrupt edges (square waves) minimize noise and maximize mixer performance.</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1017930" y="3640647"/>
            <a:ext cx="10753615" cy="1058353"/>
          </a:xfrm>
          <a:prstGeom prst="rect">
            <a:avLst/>
          </a:prstGeom>
        </p:spPr>
      </p:pic>
    </p:spTree>
    <p:extLst>
      <p:ext uri="{BB962C8B-B14F-4D97-AF65-F5344CB8AC3E}">
        <p14:creationId xmlns:p14="http://schemas.microsoft.com/office/powerpoint/2010/main" val="229697680"/>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617" y="0"/>
            <a:ext cx="10593196" cy="1046440"/>
          </a:xfrm>
        </p:spPr>
        <p:txBody>
          <a:bodyPr/>
          <a:lstStyle/>
          <a:p>
            <a:r>
              <a:rPr lang="en-US" dirty="0">
                <a:latin typeface="fkGrotesk"/>
              </a:rPr>
              <a:t>3. Inverter-Based Rings: Supply Voltage Effects and </a:t>
            </a:r>
            <a:r>
              <a:rPr lang="en-US" dirty="0" smtClean="0">
                <a:latin typeface="fkGrotesk"/>
              </a:rPr>
              <a:t>Delay</a:t>
            </a:r>
            <a:endParaRPr lang="en-US" dirty="0"/>
          </a:p>
        </p:txBody>
      </p:sp>
      <p:sp>
        <p:nvSpPr>
          <p:cNvPr id="3" name="Text Placeholder 2"/>
          <p:cNvSpPr>
            <a:spLocks noGrp="1"/>
          </p:cNvSpPr>
          <p:nvPr>
            <p:ph type="body" idx="1"/>
          </p:nvPr>
        </p:nvSpPr>
        <p:spPr>
          <a:xfrm>
            <a:off x="844550" y="1327353"/>
            <a:ext cx="10856383" cy="3693319"/>
          </a:xfrm>
        </p:spPr>
        <p:txBody>
          <a:bodyPr/>
          <a:lstStyle/>
          <a:p>
            <a:pPr algn="l"/>
            <a:r>
              <a:rPr lang="en-US" b="1" dirty="0" smtClean="0">
                <a:latin typeface="fkGroteskNeue"/>
              </a:rPr>
              <a:t>Figure </a:t>
            </a:r>
            <a:r>
              <a:rPr lang="en-US" b="1" dirty="0">
                <a:latin typeface="fkGroteskNeue"/>
              </a:rPr>
              <a:t>1.14(a)-(d): </a:t>
            </a:r>
            <a:r>
              <a:rPr lang="en-US" dirty="0">
                <a:latin typeface="fkGroteskNeue"/>
              </a:rPr>
              <a:t>CMOS inverter-based rings are a standard implementation—inverters replace resistive CS amplifiers.</a:t>
            </a:r>
          </a:p>
          <a:p>
            <a:pPr marL="342900" indent="-342900" algn="l">
              <a:buFont typeface="Arial" panose="020B0604020202020204" pitchFamily="34" charset="0"/>
              <a:buChar char="•"/>
            </a:pPr>
            <a:r>
              <a:rPr lang="en-US" dirty="0">
                <a:latin typeface="fkGroteskNeue"/>
              </a:rPr>
              <a:t>Each inverter stage has strong gain </a:t>
            </a:r>
            <a:r>
              <a:rPr lang="en-US" dirty="0" smtClean="0">
                <a:latin typeface="fkGroteskNeue"/>
              </a:rPr>
              <a:t>(</a:t>
            </a:r>
            <a:r>
              <a:rPr lang="en-US" i="1" dirty="0" err="1" smtClean="0">
                <a:latin typeface="KaTeX_Math"/>
              </a:rPr>
              <a:t>g</a:t>
            </a:r>
            <a:r>
              <a:rPr lang="en-US" i="1" baseline="-25000" dirty="0" err="1" smtClean="0">
                <a:latin typeface="KaTeX_Math"/>
              </a:rPr>
              <a:t>mN</a:t>
            </a:r>
            <a:r>
              <a:rPr lang="en-US" dirty="0" err="1" smtClean="0">
                <a:latin typeface="KaTeX_Main"/>
              </a:rPr>
              <a:t>+</a:t>
            </a:r>
            <a:r>
              <a:rPr lang="en-US" i="1" dirty="0" err="1" smtClean="0">
                <a:latin typeface="KaTeX_Math"/>
              </a:rPr>
              <a:t>g</a:t>
            </a:r>
            <a:r>
              <a:rPr lang="en-US" i="1" baseline="-25000" dirty="0" err="1" smtClean="0">
                <a:latin typeface="KaTeX_Math"/>
              </a:rPr>
              <a:t>mP</a:t>
            </a:r>
            <a:r>
              <a:rPr lang="en-US" dirty="0">
                <a:latin typeface="fkGroteskNeue"/>
              </a:rPr>
              <a:t>), usually exceeding “2” for robust startup.</a:t>
            </a:r>
          </a:p>
          <a:p>
            <a:pPr marL="342900" indent="-342900" algn="l">
              <a:buFont typeface="Arial" panose="020B0604020202020204" pitchFamily="34" charset="0"/>
              <a:buChar char="•"/>
            </a:pPr>
            <a:r>
              <a:rPr lang="en-US" dirty="0">
                <a:latin typeface="fkGroteskNeue"/>
              </a:rPr>
              <a:t>Oscillation initiates as noise amplifies through the loop until swings reach full rail-to-rail levels </a:t>
            </a:r>
            <a:r>
              <a:rPr lang="en-US" dirty="0" smtClean="0">
                <a:latin typeface="fkGroteskNeue"/>
              </a:rPr>
              <a:t>(</a:t>
            </a:r>
            <a:r>
              <a:rPr lang="en-US" i="1" dirty="0" smtClean="0">
                <a:latin typeface="KaTeX_Math"/>
              </a:rPr>
              <a:t>VDD</a:t>
            </a:r>
            <a:r>
              <a:rPr lang="en-US" dirty="0">
                <a:latin typeface="fkGroteskNeue"/>
              </a:rPr>
              <a:t> to ground).</a:t>
            </a:r>
          </a:p>
          <a:p>
            <a:pPr marL="342900" indent="-342900" algn="l">
              <a:buFont typeface="Arial" panose="020B0604020202020204" pitchFamily="34" charset="0"/>
              <a:buChar char="•"/>
            </a:pPr>
            <a:r>
              <a:rPr lang="en-US" b="1" dirty="0">
                <a:latin typeface="fkGroteskNeue"/>
              </a:rPr>
              <a:t>Waveforms: </a:t>
            </a:r>
            <a:r>
              <a:rPr lang="en-US" dirty="0">
                <a:latin typeface="fkGroteskNeue"/>
              </a:rPr>
              <a:t>Real node voltages (VX, VY, VZ) show propagation delay </a:t>
            </a:r>
            <a:r>
              <a:rPr lang="en-US" dirty="0" smtClean="0">
                <a:latin typeface="fkGroteskNeue"/>
              </a:rPr>
              <a:t>(</a:t>
            </a:r>
            <a:r>
              <a:rPr lang="en-US" i="1" dirty="0" smtClean="0">
                <a:latin typeface="KaTeX_Math"/>
              </a:rPr>
              <a:t>TD</a:t>
            </a:r>
            <a:r>
              <a:rPr lang="en-US" dirty="0">
                <a:latin typeface="fkGroteskNeue"/>
              </a:rPr>
              <a:t>)—shaped between sinusoid and square depending on gain and supply.</a:t>
            </a:r>
          </a:p>
          <a:p>
            <a:pPr algn="l"/>
            <a:r>
              <a:rPr lang="en-US" b="1" dirty="0">
                <a:latin typeface="fkGrotesk"/>
              </a:rPr>
              <a:t>Voltage and Frequency Impact:</a:t>
            </a:r>
          </a:p>
          <a:p>
            <a:pPr marL="342900" indent="-342900" algn="l">
              <a:buFont typeface="Arial" panose="020B0604020202020204" pitchFamily="34" charset="0"/>
              <a:buChar char="•"/>
            </a:pPr>
            <a:r>
              <a:rPr lang="en-US" dirty="0">
                <a:latin typeface="fkGroteskNeue"/>
              </a:rPr>
              <a:t>Delay of an inverter </a:t>
            </a:r>
            <a:r>
              <a:rPr lang="en-US" b="1" dirty="0">
                <a:latin typeface="fkGroteskNeue"/>
              </a:rPr>
              <a:t>decreases</a:t>
            </a:r>
            <a:r>
              <a:rPr lang="en-US" dirty="0">
                <a:latin typeface="fkGroteskNeue"/>
              </a:rPr>
              <a:t> with increasing supply </a:t>
            </a:r>
            <a:r>
              <a:rPr lang="en-US" dirty="0" smtClean="0">
                <a:latin typeface="fkGroteskNeue"/>
              </a:rPr>
              <a:t>(</a:t>
            </a:r>
            <a:r>
              <a:rPr lang="en-US" i="1" dirty="0" smtClean="0">
                <a:latin typeface="KaTeX_Math"/>
              </a:rPr>
              <a:t>VDD</a:t>
            </a:r>
            <a:r>
              <a:rPr lang="en-US" dirty="0">
                <a:latin typeface="fkGroteskNeue"/>
              </a:rPr>
              <a:t>), so oscillation frequency increases as </a:t>
            </a:r>
            <a:r>
              <a:rPr lang="en-US" i="1" dirty="0" smtClean="0">
                <a:latin typeface="KaTeX_Math"/>
              </a:rPr>
              <a:t>VDD</a:t>
            </a:r>
            <a:r>
              <a:rPr lang="en-US" dirty="0">
                <a:latin typeface="fkGroteskNeue"/>
              </a:rPr>
              <a:t> rises.</a:t>
            </a:r>
          </a:p>
          <a:p>
            <a:pPr marL="342900" indent="-342900" algn="l">
              <a:buFont typeface="Arial" panose="020B0604020202020204" pitchFamily="34" charset="0"/>
              <a:buChar char="•"/>
            </a:pPr>
            <a:r>
              <a:rPr lang="en-US" dirty="0">
                <a:latin typeface="fkGroteskNeue"/>
              </a:rPr>
              <a:t>Conversely, lowering supply voltage slows the inverter, reducing ring frequency—oscillator becomes tunable against </a:t>
            </a:r>
            <a:r>
              <a:rPr lang="en-US" i="1" dirty="0" smtClean="0">
                <a:latin typeface="KaTeX_Math"/>
              </a:rPr>
              <a:t>VDD</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974541" y="5140314"/>
            <a:ext cx="10853392" cy="588495"/>
          </a:xfrm>
          <a:prstGeom prst="rect">
            <a:avLst/>
          </a:prstGeom>
        </p:spPr>
      </p:pic>
    </p:spTree>
    <p:extLst>
      <p:ext uri="{BB962C8B-B14F-4D97-AF65-F5344CB8AC3E}">
        <p14:creationId xmlns:p14="http://schemas.microsoft.com/office/powerpoint/2010/main" val="240168581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 name="Picture 6"/>
          <p:cNvPicPr>
            <a:picLocks noChangeAspect="1"/>
          </p:cNvPicPr>
          <p:nvPr/>
        </p:nvPicPr>
        <p:blipFill>
          <a:blip r:embed="rId2"/>
          <a:stretch>
            <a:fillRect/>
          </a:stretch>
        </p:blipFill>
        <p:spPr>
          <a:xfrm>
            <a:off x="2424454" y="1080479"/>
            <a:ext cx="7258423" cy="3105310"/>
          </a:xfrm>
          <a:prstGeom prst="rect">
            <a:avLst/>
          </a:prstGeom>
        </p:spPr>
      </p:pic>
      <p:sp>
        <p:nvSpPr>
          <p:cNvPr id="8" name="Rectangle 7"/>
          <p:cNvSpPr/>
          <p:nvPr/>
        </p:nvSpPr>
        <p:spPr>
          <a:xfrm>
            <a:off x="2150533" y="4377322"/>
            <a:ext cx="8576733" cy="253916"/>
          </a:xfrm>
          <a:prstGeom prst="rect">
            <a:avLst/>
          </a:prstGeom>
        </p:spPr>
        <p:txBody>
          <a:bodyPr wrap="square">
            <a:spAutoFit/>
          </a:bodyPr>
          <a:lstStyle/>
          <a:p>
            <a:r>
              <a:rPr lang="en-US" sz="1050" b="1" i="0" u="none" strike="noStrike" baseline="0" dirty="0" smtClean="0">
                <a:solidFill>
                  <a:srgbClr val="FF0000"/>
                </a:solidFill>
                <a:latin typeface="T3Font_206"/>
              </a:rPr>
              <a:t>(a) Three-stage inverter-based ring oscillator, (b) node waveforms, (c) realistic signal shape, and (d) waveform</a:t>
            </a:r>
            <a:r>
              <a:rPr lang="en-US" sz="1050" b="1" i="0" u="none" strike="noStrike" dirty="0" smtClean="0">
                <a:solidFill>
                  <a:srgbClr val="FF0000"/>
                </a:solidFill>
                <a:latin typeface="T3Font_206"/>
              </a:rPr>
              <a:t> </a:t>
            </a:r>
            <a:r>
              <a:rPr lang="en-US" sz="1050" b="1" i="0" u="none" strike="noStrike" baseline="0" dirty="0" smtClean="0">
                <a:solidFill>
                  <a:srgbClr val="FF0000"/>
                </a:solidFill>
                <a:latin typeface="T3Font_206"/>
              </a:rPr>
              <a:t>for a five-stage ring.</a:t>
            </a:r>
            <a:endParaRPr lang="en-US" sz="2800" b="1" dirty="0">
              <a:solidFill>
                <a:srgbClr val="FF0000"/>
              </a:solidFill>
            </a:endParaRPr>
          </a:p>
        </p:txBody>
      </p:sp>
      <p:sp>
        <p:nvSpPr>
          <p:cNvPr id="9" name="Rectangle 8"/>
          <p:cNvSpPr/>
          <p:nvPr/>
        </p:nvSpPr>
        <p:spPr>
          <a:xfrm>
            <a:off x="609600" y="4805739"/>
            <a:ext cx="11379200" cy="1754326"/>
          </a:xfrm>
          <a:prstGeom prst="rect">
            <a:avLst/>
          </a:prstGeom>
        </p:spPr>
        <p:txBody>
          <a:bodyPr wrap="square">
            <a:spAutoFit/>
          </a:bodyPr>
          <a:lstStyle/>
          <a:p>
            <a:pPr algn="just"/>
            <a:r>
              <a:rPr lang="en-US" b="0" i="0" dirty="0" smtClean="0">
                <a:effectLst/>
                <a:latin typeface="fkGrotesk"/>
              </a:rPr>
              <a:t>CMOS Inverter-Based Rings: Frequency and Supply Scaling</a:t>
            </a:r>
          </a:p>
          <a:p>
            <a:pPr algn="just">
              <a:buFont typeface="Arial" panose="020B0604020202020204" pitchFamily="34" charset="0"/>
              <a:buChar char="•"/>
            </a:pPr>
            <a:r>
              <a:rPr lang="en-US" b="0" i="0" dirty="0" smtClean="0">
                <a:effectLst/>
                <a:latin typeface="fkGroteskNeue"/>
              </a:rPr>
              <a:t>Figure 1.14 presents a CMOS-based three-stage ring oscillator, where each inverter ensures rail-to-rail voltage swings and robust startup (high small-signal gain per stage).</a:t>
            </a:r>
          </a:p>
          <a:p>
            <a:pPr algn="just">
              <a:buFont typeface="Arial" panose="020B0604020202020204" pitchFamily="34" charset="0"/>
              <a:buChar char="•"/>
            </a:pPr>
            <a:r>
              <a:rPr lang="en-US" b="0" i="0" dirty="0" smtClean="0">
                <a:effectLst/>
                <a:latin typeface="fkGroteskNeue"/>
              </a:rPr>
              <a:t>Node waveforms in practical rings show delay per stage (TD), important for multi-phase clock generation; with supply voltage (</a:t>
            </a:r>
            <a:r>
              <a:rPr lang="en-US" b="0" i="0" dirty="0" smtClean="0">
                <a:effectLst/>
                <a:latin typeface="KaTeX_Main"/>
              </a:rPr>
              <a:t>VDD</a:t>
            </a:r>
            <a:r>
              <a:rPr lang="en-US" b="0" i="1" dirty="0" smtClean="0">
                <a:effectLst/>
                <a:latin typeface="KaTeX_Math"/>
              </a:rPr>
              <a:t>VDD</a:t>
            </a:r>
            <a:r>
              <a:rPr lang="en-US" b="0" i="0" dirty="0" smtClean="0">
                <a:effectLst/>
                <a:latin typeface="fkGroteskNeue"/>
              </a:rPr>
              <a:t>) as a tuning knob, oscillation frequency increases when </a:t>
            </a:r>
            <a:r>
              <a:rPr lang="en-US" b="0" i="0" dirty="0" smtClean="0">
                <a:effectLst/>
                <a:latin typeface="KaTeX_Main"/>
              </a:rPr>
              <a:t>VDD</a:t>
            </a:r>
            <a:r>
              <a:rPr lang="en-US" b="0" i="1" dirty="0" smtClean="0">
                <a:effectLst/>
                <a:latin typeface="KaTeX_Math"/>
              </a:rPr>
              <a:t>VDD</a:t>
            </a:r>
            <a:r>
              <a:rPr lang="en-US" b="0" i="0" dirty="0" smtClean="0">
                <a:effectLst/>
                <a:latin typeface="fkGroteskNeue"/>
              </a:rPr>
              <a:t> is raised (since inverter delay drops).</a:t>
            </a:r>
            <a:endParaRPr lang="en-US" b="0" i="0" dirty="0">
              <a:effectLst/>
              <a:latin typeface="fkGroteskNeue"/>
            </a:endParaRPr>
          </a:p>
        </p:txBody>
      </p:sp>
    </p:spTree>
    <p:extLst>
      <p:ext uri="{BB962C8B-B14F-4D97-AF65-F5344CB8AC3E}">
        <p14:creationId xmlns:p14="http://schemas.microsoft.com/office/powerpoint/2010/main" val="78925069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4. Startup and Amplitude </a:t>
            </a:r>
            <a:r>
              <a:rPr lang="en-US" dirty="0" smtClean="0">
                <a:latin typeface="fkGrotesk"/>
              </a:rPr>
              <a:t>Growth</a:t>
            </a:r>
            <a:endParaRPr lang="en-US" dirty="0"/>
          </a:p>
        </p:txBody>
      </p:sp>
      <p:sp>
        <p:nvSpPr>
          <p:cNvPr id="3" name="Text Placeholder 2"/>
          <p:cNvSpPr>
            <a:spLocks noGrp="1"/>
          </p:cNvSpPr>
          <p:nvPr>
            <p:ph type="body" idx="1"/>
          </p:nvPr>
        </p:nvSpPr>
        <p:spPr>
          <a:xfrm>
            <a:off x="844550" y="1327353"/>
            <a:ext cx="10500783" cy="2154436"/>
          </a:xfrm>
        </p:spPr>
        <p:txBody>
          <a:bodyPr/>
          <a:lstStyle/>
          <a:p>
            <a:pPr marL="342900" indent="-342900" algn="l">
              <a:buFont typeface="Arial" panose="020B0604020202020204" pitchFamily="34" charset="0"/>
              <a:buChar char="•"/>
            </a:pPr>
            <a:r>
              <a:rPr lang="en-US" dirty="0" smtClean="0">
                <a:latin typeface="fkGroteskNeue"/>
              </a:rPr>
              <a:t>At </a:t>
            </a:r>
            <a:r>
              <a:rPr lang="en-US" dirty="0">
                <a:latin typeface="fkGroteskNeue"/>
              </a:rPr>
              <a:t>startup (Fig. 1.13), a small disturbance (from noise) grows exponentially if loop gain exceeds unity.</a:t>
            </a:r>
          </a:p>
          <a:p>
            <a:pPr marL="342900" indent="-342900" algn="l">
              <a:buFont typeface="Arial" panose="020B0604020202020204" pitchFamily="34" charset="0"/>
              <a:buChar char="•"/>
            </a:pPr>
            <a:r>
              <a:rPr lang="en-US" dirty="0">
                <a:latin typeface="fkGroteskNeue"/>
              </a:rPr>
              <a:t>Amplitude continues increasing until nonlinearity clamps the gain (transistor </a:t>
            </a:r>
            <a:r>
              <a:rPr lang="en-US" dirty="0" err="1">
                <a:latin typeface="KaTeX_Main"/>
              </a:rPr>
              <a:t>gm</a:t>
            </a:r>
            <a:r>
              <a:rPr lang="en-US" i="1" dirty="0" err="1">
                <a:latin typeface="KaTeX_Math"/>
              </a:rPr>
              <a:t>gm</a:t>
            </a:r>
            <a:r>
              <a:rPr lang="en-US" dirty="0">
                <a:latin typeface="fkGroteskNeue"/>
              </a:rPr>
              <a:t> “rolls off” at large swings).</a:t>
            </a:r>
          </a:p>
          <a:p>
            <a:pPr marL="342900" indent="-342900" algn="l">
              <a:buFont typeface="Arial" panose="020B0604020202020204" pitchFamily="34" charset="0"/>
              <a:buChar char="•"/>
            </a:pPr>
            <a:r>
              <a:rPr lang="en-US" dirty="0">
                <a:latin typeface="fkGroteskNeue"/>
              </a:rPr>
              <a:t>Equilibrium is set where average loop gain is exactly unity; output amplitude remains constant—no further growth.</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4392016" y="3419436"/>
            <a:ext cx="2795752" cy="1618231"/>
          </a:xfrm>
          <a:prstGeom prst="rect">
            <a:avLst/>
          </a:prstGeom>
        </p:spPr>
      </p:pic>
      <p:sp>
        <p:nvSpPr>
          <p:cNvPr id="8" name="Rectangle 7"/>
          <p:cNvSpPr/>
          <p:nvPr/>
        </p:nvSpPr>
        <p:spPr>
          <a:xfrm>
            <a:off x="4832150" y="5149334"/>
            <a:ext cx="2087431" cy="369332"/>
          </a:xfrm>
          <a:prstGeom prst="rect">
            <a:avLst/>
          </a:prstGeom>
        </p:spPr>
        <p:txBody>
          <a:bodyPr wrap="none">
            <a:spAutoFit/>
          </a:bodyPr>
          <a:lstStyle/>
          <a:p>
            <a:r>
              <a:rPr lang="en-US" dirty="0">
                <a:solidFill>
                  <a:srgbClr val="231F20"/>
                </a:solidFill>
                <a:latin typeface="T3Font_185"/>
              </a:rPr>
              <a:t>Initial growth of </a:t>
            </a:r>
            <a:r>
              <a:rPr lang="en-US" dirty="0">
                <a:solidFill>
                  <a:srgbClr val="231F20"/>
                </a:solidFill>
                <a:latin typeface="T3Font_200"/>
              </a:rPr>
              <a:t>V</a:t>
            </a:r>
            <a:r>
              <a:rPr lang="en-US" sz="800" b="0" i="0" u="none" strike="noStrike" baseline="0" dirty="0" smtClean="0">
                <a:solidFill>
                  <a:srgbClr val="231F20"/>
                </a:solidFill>
                <a:latin typeface="T3Font_189"/>
              </a:rPr>
              <a:t>X</a:t>
            </a:r>
            <a:r>
              <a:rPr lang="en-US" dirty="0">
                <a:solidFill>
                  <a:srgbClr val="231F20"/>
                </a:solidFill>
                <a:latin typeface="T3Font_185"/>
              </a:rPr>
              <a:t>.</a:t>
            </a:r>
            <a:endParaRPr lang="en-US" dirty="0"/>
          </a:p>
        </p:txBody>
      </p:sp>
    </p:spTree>
    <p:extLst>
      <p:ext uri="{BB962C8B-B14F-4D97-AF65-F5344CB8AC3E}">
        <p14:creationId xmlns:p14="http://schemas.microsoft.com/office/powerpoint/2010/main" val="126499405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5. Key </a:t>
            </a:r>
            <a:r>
              <a:rPr lang="en-US" dirty="0" smtClean="0">
                <a:latin typeface="fkGrotesk"/>
              </a:rPr>
              <a:t>Takeaways</a:t>
            </a:r>
            <a:endParaRPr lang="en-US" dirty="0"/>
          </a:p>
        </p:txBody>
      </p:sp>
      <p:sp>
        <p:nvSpPr>
          <p:cNvPr id="3" name="Text Placeholder 2"/>
          <p:cNvSpPr>
            <a:spLocks noGrp="1"/>
          </p:cNvSpPr>
          <p:nvPr>
            <p:ph type="body" idx="1"/>
          </p:nvPr>
        </p:nvSpPr>
        <p:spPr>
          <a:xfrm>
            <a:off x="844550" y="1327353"/>
            <a:ext cx="10509250" cy="3385542"/>
          </a:xfrm>
        </p:spPr>
        <p:txBody>
          <a:bodyPr/>
          <a:lstStyle/>
          <a:p>
            <a:pPr algn="just">
              <a:buFont typeface="Arial" panose="020B0604020202020204" pitchFamily="34" charset="0"/>
              <a:buChar char="•"/>
            </a:pPr>
            <a:r>
              <a:rPr lang="en-US" dirty="0" smtClean="0">
                <a:latin typeface="fkGroteskNeue"/>
              </a:rPr>
              <a:t>Startup </a:t>
            </a:r>
            <a:r>
              <a:rPr lang="en-US" dirty="0">
                <a:latin typeface="fkGroteskNeue"/>
              </a:rPr>
              <a:t>gain </a:t>
            </a:r>
            <a:r>
              <a:rPr lang="el-GR" dirty="0" smtClean="0">
                <a:latin typeface="KaTeX_Main"/>
              </a:rPr>
              <a:t>∣</a:t>
            </a:r>
            <a:r>
              <a:rPr lang="en-US" i="1" dirty="0">
                <a:latin typeface="KaTeX_Math"/>
              </a:rPr>
              <a:t>H</a:t>
            </a:r>
            <a:r>
              <a:rPr lang="en-US" dirty="0">
                <a:latin typeface="KaTeX_Main"/>
              </a:rPr>
              <a:t>(</a:t>
            </a:r>
            <a:r>
              <a:rPr lang="en-US" i="1" dirty="0">
                <a:latin typeface="KaTeX_Math"/>
              </a:rPr>
              <a:t>j</a:t>
            </a:r>
            <a:r>
              <a:rPr lang="el-GR" i="1" dirty="0">
                <a:latin typeface="KaTeX_Math"/>
              </a:rPr>
              <a:t>ω</a:t>
            </a:r>
            <a:r>
              <a:rPr lang="el-GR" dirty="0">
                <a:latin typeface="KaTeX_Main"/>
              </a:rPr>
              <a:t>0)∣&gt;1</a:t>
            </a:r>
            <a:r>
              <a:rPr lang="el-GR" dirty="0">
                <a:latin typeface="fkGroteskNeue"/>
              </a:rPr>
              <a:t> </a:t>
            </a:r>
            <a:r>
              <a:rPr lang="en-US" dirty="0">
                <a:latin typeface="fkGroteskNeue"/>
              </a:rPr>
              <a:t>builds oscillation; nonlinearity stabilizes amplitude.</a:t>
            </a:r>
          </a:p>
          <a:p>
            <a:pPr algn="just">
              <a:buFont typeface="Arial" panose="020B0604020202020204" pitchFamily="34" charset="0"/>
              <a:buChar char="•"/>
            </a:pPr>
            <a:r>
              <a:rPr lang="en-US" dirty="0">
                <a:latin typeface="fkGroteskNeue"/>
              </a:rPr>
              <a:t>Ideal waveforms are application-driven: square for digital, moderate for RF.</a:t>
            </a:r>
          </a:p>
          <a:p>
            <a:pPr algn="just">
              <a:buFont typeface="Arial" panose="020B0604020202020204" pitchFamily="34" charset="0"/>
              <a:buChar char="•"/>
            </a:pPr>
            <a:r>
              <a:rPr lang="en-US" dirty="0">
                <a:latin typeface="fkGroteskNeue"/>
              </a:rPr>
              <a:t>CMOS inverter delays are supply dependent; higher </a:t>
            </a:r>
            <a:r>
              <a:rPr lang="en-US" i="1" dirty="0" smtClean="0">
                <a:latin typeface="KaTeX_Math"/>
              </a:rPr>
              <a:t>VDD</a:t>
            </a:r>
            <a:r>
              <a:rPr lang="en-US" dirty="0">
                <a:latin typeface="fkGroteskNeue"/>
              </a:rPr>
              <a:t> boosts frequency.</a:t>
            </a:r>
          </a:p>
          <a:p>
            <a:pPr algn="just">
              <a:buFont typeface="Arial" panose="020B0604020202020204" pitchFamily="34" charset="0"/>
              <a:buChar char="•"/>
            </a:pPr>
            <a:r>
              <a:rPr lang="en-US" dirty="0">
                <a:latin typeface="fkGroteskNeue"/>
              </a:rPr>
              <a:t>Amplitude growth and stabilization are dictated by interplay of gain and device physics.</a:t>
            </a:r>
          </a:p>
          <a:p>
            <a:pPr algn="just"/>
            <a:endParaRPr lang="en-US" dirty="0" smtClean="0">
              <a:latin typeface="fkGroteskNeue"/>
            </a:endParaRPr>
          </a:p>
          <a:p>
            <a:pPr algn="just"/>
            <a:endParaRPr lang="en-US" dirty="0">
              <a:latin typeface="fkGroteskNeue"/>
            </a:endParaRPr>
          </a:p>
          <a:p>
            <a:pPr algn="just"/>
            <a:r>
              <a:rPr lang="en-US" dirty="0" smtClean="0">
                <a:latin typeface="fkGroteskNeue"/>
              </a:rPr>
              <a:t>This </a:t>
            </a:r>
            <a:r>
              <a:rPr lang="en-US" dirty="0">
                <a:latin typeface="fkGroteskNeue"/>
              </a:rPr>
              <a:t>fundamental view links oscillation growth, nonlinear steady-state behavior, waveform shaping, and design sensitivity to supply voltage—which are core to robust ring oscillator and PLL system design</a:t>
            </a:r>
            <a:r>
              <a:rPr lang="en-US" dirty="0" smtClean="0">
                <a:latin typeface="fkGroteskNeue"/>
              </a:rPr>
              <a:t>. Here’s </a:t>
            </a:r>
            <a:r>
              <a:rPr lang="en-US" dirty="0">
                <a:latin typeface="fkGroteskNeue"/>
              </a:rPr>
              <a:t>a concise, fundamentally intuitive explanation for lecture purposes, including figure highlights:</a:t>
            </a:r>
          </a:p>
          <a:p>
            <a:pPr algn="just"/>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76918834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Nonlinearity and Oscillation </a:t>
            </a:r>
            <a:r>
              <a:rPr lang="en-US" dirty="0" smtClean="0">
                <a:latin typeface="fkGrotesk"/>
              </a:rPr>
              <a:t>Amplitude</a:t>
            </a:r>
            <a:endParaRPr lang="en-US" dirty="0"/>
          </a:p>
        </p:txBody>
      </p:sp>
      <p:sp>
        <p:nvSpPr>
          <p:cNvPr id="3" name="Text Placeholder 2"/>
          <p:cNvSpPr>
            <a:spLocks noGrp="1"/>
          </p:cNvSpPr>
          <p:nvPr>
            <p:ph type="body" idx="1"/>
          </p:nvPr>
        </p:nvSpPr>
        <p:spPr>
          <a:xfrm>
            <a:off x="844550" y="1327353"/>
            <a:ext cx="10703983" cy="1846659"/>
          </a:xfrm>
        </p:spPr>
        <p:txBody>
          <a:bodyPr/>
          <a:lstStyle/>
          <a:p>
            <a:pPr marL="342900" indent="-342900" algn="l">
              <a:buFont typeface="Arial" panose="020B0604020202020204" pitchFamily="34" charset="0"/>
              <a:buChar char="•"/>
            </a:pPr>
            <a:r>
              <a:rPr lang="en-US" dirty="0" smtClean="0">
                <a:latin typeface="fkGroteskNeue"/>
              </a:rPr>
              <a:t>In </a:t>
            </a:r>
            <a:r>
              <a:rPr lang="en-US" dirty="0">
                <a:latin typeface="fkGroteskNeue"/>
              </a:rPr>
              <a:t>practical ring oscillators, once the initial noise or perturbation grows into an oscillation, further amplitude increase is limited by device nonlinearities—the circuit “self-limits” because large signal swings lower stage gain, eventually bringing the loop gain to unity.</a:t>
            </a:r>
          </a:p>
          <a:p>
            <a:pPr marL="342900" indent="-342900" algn="l">
              <a:buFont typeface="Arial" panose="020B0604020202020204" pitchFamily="34" charset="0"/>
              <a:buChar char="•"/>
            </a:pPr>
            <a:r>
              <a:rPr lang="en-US" dirty="0">
                <a:latin typeface="fkGroteskNeue"/>
              </a:rPr>
              <a:t>Thus, the amplitude of oscillation is well-defined in practice and typically approaches rail-to-rail for CMOS rings, even though amplitude calculation is complex in nonlinear conditions.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553773390"/>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Design </a:t>
            </a:r>
            <a:r>
              <a:rPr lang="en-US" dirty="0" smtClean="0"/>
              <a:t>Insights</a:t>
            </a:r>
            <a:endParaRPr lang="en-US" dirty="0"/>
          </a:p>
        </p:txBody>
      </p:sp>
      <p:sp>
        <p:nvSpPr>
          <p:cNvPr id="3" name="Text Placeholder 2"/>
          <p:cNvSpPr>
            <a:spLocks noGrp="1"/>
          </p:cNvSpPr>
          <p:nvPr>
            <p:ph type="body" idx="1"/>
          </p:nvPr>
        </p:nvSpPr>
        <p:spPr>
          <a:xfrm>
            <a:off x="844550" y="1327353"/>
            <a:ext cx="10571012" cy="4001095"/>
          </a:xfrm>
        </p:spPr>
        <p:txBody>
          <a:bodyPr/>
          <a:lstStyle/>
          <a:p>
            <a:pPr marL="342900" indent="-342900">
              <a:buFont typeface="Arial" panose="020B0604020202020204" pitchFamily="34" charset="0"/>
              <a:buChar char="•"/>
            </a:pPr>
            <a:r>
              <a:rPr lang="en-US" b="1" dirty="0" smtClean="0"/>
              <a:t>Startup</a:t>
            </a:r>
            <a:r>
              <a:rPr lang="en-US" b="1" dirty="0"/>
              <a:t>:</a:t>
            </a:r>
            <a:r>
              <a:rPr lang="en-US" dirty="0"/>
              <a:t> Begin with loop gain &gt; 1 for regeneration; amplitude is clamped by device nonlinearity.</a:t>
            </a:r>
          </a:p>
          <a:p>
            <a:pPr marL="342900" indent="-342900">
              <a:buFont typeface="Arial" panose="020B0604020202020204" pitchFamily="34" charset="0"/>
              <a:buChar char="•"/>
            </a:pPr>
            <a:r>
              <a:rPr lang="en-US" b="1" dirty="0"/>
              <a:t>Waveform tailoring:</a:t>
            </a:r>
            <a:r>
              <a:rPr lang="en-US" dirty="0"/>
              <a:t> Design for square wave shapes if sharp, low-noise transitions are needed; this is typical in digital/RF systems.</a:t>
            </a:r>
          </a:p>
          <a:p>
            <a:pPr marL="342900" indent="-342900">
              <a:buFont typeface="Arial" panose="020B0604020202020204" pitchFamily="34" charset="0"/>
              <a:buChar char="•"/>
            </a:pPr>
            <a:r>
              <a:rPr lang="en-US" b="1" dirty="0"/>
              <a:t>Voltage/frequency scaling:</a:t>
            </a:r>
            <a:r>
              <a:rPr lang="en-US" dirty="0"/>
              <a:t> Supply voltage is a convenient knob for tuning oscillation frequency in inverter-based rings.</a:t>
            </a:r>
          </a:p>
          <a:p>
            <a:pPr marL="342900" indent="-342900">
              <a:buFont typeface="Arial" panose="020B0604020202020204" pitchFamily="34" charset="0"/>
              <a:buChar char="•"/>
            </a:pPr>
            <a:r>
              <a:rPr lang="en-US" b="1" dirty="0"/>
              <a:t>Amplitude settling: </a:t>
            </a:r>
            <a:r>
              <a:rPr lang="en-US" dirty="0"/>
              <a:t>“Average” loop gain falls to unity as devices saturate; stable swings are assured if designed for proper low-frequency gain.</a:t>
            </a:r>
          </a:p>
          <a:p>
            <a:r>
              <a:rPr lang="en-US" dirty="0"/>
              <a:t>This foundational view bridges startup physics, amplitude control, waveform shaping, and supply-dependent frequency—all critical for robust ring oscillator and PLL </a:t>
            </a:r>
            <a:r>
              <a:rPr lang="en-US" dirty="0" err="1"/>
              <a:t>design.Here’s</a:t>
            </a:r>
            <a:r>
              <a:rPr lang="en-US" dirty="0"/>
              <a:t> a fundamental, intuitive guide to these ring oscillator concepts, ideal for lectures with clear figure highlights: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154827255"/>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Fundamental </a:t>
            </a:r>
            <a:r>
              <a:rPr lang="en-US" dirty="0" smtClean="0">
                <a:latin typeface="fkGrotesk"/>
              </a:rPr>
              <a:t>Takeaways</a:t>
            </a:r>
            <a:endParaRPr lang="en-US" dirty="0"/>
          </a:p>
        </p:txBody>
      </p:sp>
      <p:sp>
        <p:nvSpPr>
          <p:cNvPr id="3" name="Text Placeholder 2"/>
          <p:cNvSpPr>
            <a:spLocks noGrp="1"/>
          </p:cNvSpPr>
          <p:nvPr>
            <p:ph type="body" idx="1"/>
          </p:nvPr>
        </p:nvSpPr>
        <p:spPr>
          <a:xfrm>
            <a:off x="844550" y="1327353"/>
            <a:ext cx="10561387" cy="3385542"/>
          </a:xfrm>
        </p:spPr>
        <p:txBody>
          <a:bodyPr/>
          <a:lstStyle/>
          <a:p>
            <a:pPr marL="342900" indent="-342900" algn="l">
              <a:buFont typeface="Arial" panose="020B0604020202020204" pitchFamily="34" charset="0"/>
              <a:buChar char="•"/>
            </a:pPr>
            <a:r>
              <a:rPr lang="en-US" dirty="0" smtClean="0">
                <a:latin typeface="fkGroteskNeue"/>
              </a:rPr>
              <a:t>Nonlinearity </a:t>
            </a:r>
            <a:r>
              <a:rPr lang="en-US" dirty="0">
                <a:latin typeface="fkGroteskNeue"/>
              </a:rPr>
              <a:t>ensures practical oscillators have stable voltage amplitude—no runaway growth.</a:t>
            </a:r>
          </a:p>
          <a:p>
            <a:pPr marL="342900" indent="-342900" algn="l">
              <a:buFont typeface="Arial" panose="020B0604020202020204" pitchFamily="34" charset="0"/>
              <a:buChar char="•"/>
            </a:pPr>
            <a:r>
              <a:rPr lang="en-US" dirty="0">
                <a:latin typeface="fkGroteskNeue"/>
              </a:rPr>
              <a:t>Abrupt, square-like transitions are preferred for low noise and fast circuit response.</a:t>
            </a:r>
          </a:p>
          <a:p>
            <a:pPr marL="342900" indent="-342900" algn="l">
              <a:buFont typeface="Arial" panose="020B0604020202020204" pitchFamily="34" charset="0"/>
              <a:buChar char="•"/>
            </a:pPr>
            <a:r>
              <a:rPr lang="en-US" dirty="0">
                <a:latin typeface="fkGroteskNeue"/>
              </a:rPr>
              <a:t>Frequency can be tuned using supply voltage in inverter-based designs—an essential PLL and clock generator strategy.</a:t>
            </a:r>
          </a:p>
          <a:p>
            <a:pPr marL="342900" indent="-342900" algn="l">
              <a:buFont typeface="Arial" panose="020B0604020202020204" pitchFamily="34" charset="0"/>
              <a:buChar char="•"/>
            </a:pPr>
            <a:r>
              <a:rPr lang="en-US" dirty="0">
                <a:latin typeface="fkGroteskNeue"/>
              </a:rPr>
              <a:t>Oscillation amplitude, waveform shape, and frequency all arise from the same interplay: device physics, feedback, and gain.</a:t>
            </a:r>
          </a:p>
          <a:p>
            <a:pPr algn="l"/>
            <a:r>
              <a:rPr lang="en-US" dirty="0">
                <a:latin typeface="fkGroteskNeue"/>
              </a:rPr>
              <a:t>These insights connect oscillator startup, amplitude settling, waveform design, and supply-dependent frequency scaling, giving students a holistic view of ring oscillator fundamentals and practical design</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76851886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780" y="0"/>
            <a:ext cx="10593196" cy="1046440"/>
          </a:xfrm>
        </p:spPr>
        <p:txBody>
          <a:bodyPr/>
          <a:lstStyle/>
          <a:p>
            <a:r>
              <a:rPr lang="en-US" dirty="0">
                <a:latin typeface="fkGrotesk"/>
              </a:rPr>
              <a:t>Fundamental Understanding of </a:t>
            </a:r>
            <a:r>
              <a:rPr lang="en-US" dirty="0" err="1">
                <a:latin typeface="fkGrotesk"/>
              </a:rPr>
              <a:t>Lossy</a:t>
            </a:r>
            <a:r>
              <a:rPr lang="en-US" dirty="0">
                <a:latin typeface="fkGrotesk"/>
              </a:rPr>
              <a:t> LC Tanks and Oscillator </a:t>
            </a:r>
            <a:r>
              <a:rPr lang="en-US" dirty="0" smtClean="0">
                <a:latin typeface="fkGrotesk"/>
              </a:rPr>
              <a:t>Resonance</a:t>
            </a:r>
            <a:endParaRPr lang="en-US" dirty="0"/>
          </a:p>
        </p:txBody>
      </p:sp>
      <p:sp>
        <p:nvSpPr>
          <p:cNvPr id="3" name="Text Placeholder 2"/>
          <p:cNvSpPr>
            <a:spLocks noGrp="1"/>
          </p:cNvSpPr>
          <p:nvPr>
            <p:ph type="body" idx="1"/>
          </p:nvPr>
        </p:nvSpPr>
        <p:spPr>
          <a:xfrm>
            <a:off x="844550" y="1327353"/>
            <a:ext cx="10676890" cy="1538883"/>
          </a:xfrm>
        </p:spPr>
        <p:txBody>
          <a:bodyPr/>
          <a:lstStyle/>
          <a:p>
            <a:pPr algn="l"/>
            <a:r>
              <a:rPr lang="en-US" dirty="0" smtClean="0">
                <a:latin typeface="fkGroteskNeue"/>
              </a:rPr>
              <a:t>The </a:t>
            </a:r>
            <a:r>
              <a:rPr lang="en-US" dirty="0">
                <a:latin typeface="fkGroteskNeue"/>
              </a:rPr>
              <a:t>content delves into realistic LC oscillator modeling, where ideal elements are replaced with </a:t>
            </a:r>
            <a:r>
              <a:rPr lang="en-US" dirty="0" err="1">
                <a:latin typeface="fkGroteskNeue"/>
              </a:rPr>
              <a:t>lossy</a:t>
            </a:r>
            <a:r>
              <a:rPr lang="en-US" dirty="0">
                <a:latin typeface="fkGroteskNeue"/>
              </a:rPr>
              <a:t> inductors and equivalent parallel resistance to better capture physical behavior and performance limits. Here's an intuitive breakdown and figure explanations optimized for lectures.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20564899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1. Basic LC Tank </a:t>
            </a:r>
            <a:r>
              <a:rPr lang="en-US" dirty="0" smtClean="0">
                <a:latin typeface="fkGrotesk"/>
              </a:rPr>
              <a:t>Behavior</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31850" y="1242686"/>
                <a:ext cx="6898217" cy="5158913"/>
              </a:xfrm>
            </p:spPr>
            <p:txBody>
              <a:bodyPr/>
              <a:lstStyle/>
              <a:p>
                <a:pPr algn="l"/>
                <a:r>
                  <a:rPr lang="en-US" b="1" dirty="0" smtClean="0">
                    <a:latin typeface="fkGrotesk"/>
                  </a:rPr>
                  <a:t>Ideal </a:t>
                </a:r>
                <a:r>
                  <a:rPr lang="en-US" b="1" dirty="0">
                    <a:latin typeface="fkGrotesk"/>
                  </a:rPr>
                  <a:t>Components</a:t>
                </a:r>
              </a:p>
              <a:p>
                <a:pPr marL="342900" marR="0" lvl="0" indent="-342900">
                  <a:spcBef>
                    <a:spcPts val="525"/>
                  </a:spcBef>
                  <a:spcAft>
                    <a:spcPts val="525"/>
                  </a:spcAft>
                  <a:buFont typeface="Symbol" panose="05050102010706020507" pitchFamily="18" charset="2"/>
                  <a:buChar char=""/>
                  <a:tabLst>
                    <a:tab pos="571500" algn="l"/>
                  </a:tabLst>
                </a:pPr>
                <a:r>
                  <a:rPr lang="en-US" dirty="0">
                    <a:solidFill>
                      <a:srgbClr val="000000"/>
                    </a:solidFill>
                    <a:latin typeface="inter"/>
                    <a:ea typeface="inter"/>
                    <a:cs typeface="inter"/>
                  </a:rPr>
                  <a:t>Capacitor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oMath>
                </a14:m>
                <a:r>
                  <a:rPr lang="en-US" dirty="0">
                    <a:solidFill>
                      <a:srgbClr val="000000"/>
                    </a:solidFill>
                    <a:latin typeface="inter"/>
                    <a:ea typeface="inter"/>
                    <a:cs typeface="inter"/>
                  </a:rPr>
                  <a:t> modeled as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𝑑𝑉</m:t>
                        </m:r>
                      </m:num>
                      <m:den>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𝑑𝑡</m:t>
                        </m:r>
                      </m:den>
                    </m:f>
                  </m:oMath>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Symbol" panose="05050102010706020507" pitchFamily="18" charset="2"/>
                  <a:buChar char=""/>
                  <a:tabLst>
                    <a:tab pos="571500" algn="l"/>
                  </a:tabLst>
                </a:pPr>
                <a:r>
                  <a:rPr lang="en-US" dirty="0">
                    <a:solidFill>
                      <a:srgbClr val="000000"/>
                    </a:solidFill>
                    <a:latin typeface="inter"/>
                    <a:ea typeface="inter"/>
                    <a:cs typeface="inter"/>
                  </a:rPr>
                  <a:t>Inductor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oMath>
                </a14:m>
                <a:r>
                  <a:rPr lang="en-US" dirty="0">
                    <a:solidFill>
                      <a:srgbClr val="000000"/>
                    </a:solidFill>
                    <a:latin typeface="inter"/>
                    <a:ea typeface="inter"/>
                    <a:cs typeface="inter"/>
                  </a:rPr>
                  <a:t> modeled as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𝑑𝐼</m:t>
                        </m:r>
                      </m:num>
                      <m:den>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𝑑𝑡</m:t>
                        </m:r>
                      </m:den>
                    </m:f>
                  </m:oMath>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Symbol" panose="05050102010706020507" pitchFamily="18" charset="2"/>
                  <a:buChar char=""/>
                  <a:tabLst>
                    <a:tab pos="571500" algn="l"/>
                  </a:tabLst>
                </a:pPr>
                <a:r>
                  <a:rPr lang="en-US" dirty="0">
                    <a:solidFill>
                      <a:srgbClr val="000000"/>
                    </a:solidFill>
                    <a:latin typeface="inter"/>
                    <a:ea typeface="inter"/>
                    <a:cs typeface="inter"/>
                  </a:rPr>
                  <a:t>When combined in parallel, the impedance behaves inductively at low frequencies and </a:t>
                </a:r>
                <a:r>
                  <a:rPr lang="en-US" dirty="0" err="1">
                    <a:solidFill>
                      <a:srgbClr val="000000"/>
                    </a:solidFill>
                    <a:latin typeface="inter"/>
                    <a:ea typeface="inter"/>
                    <a:cs typeface="inter"/>
                  </a:rPr>
                  <a:t>capacitively</a:t>
                </a:r>
                <a:r>
                  <a:rPr lang="en-US" dirty="0">
                    <a:solidFill>
                      <a:srgbClr val="000000"/>
                    </a:solidFill>
                    <a:latin typeface="inter"/>
                    <a:ea typeface="inter"/>
                    <a:cs typeface="inter"/>
                  </a:rPr>
                  <a:t> at high frequencies, crossing zero reactance at the resonant frequency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ad>
                          <m:radPr>
                            <m:deg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e>
                        </m:rad>
                      </m:den>
                    </m:f>
                  </m:oMath>
                </a14:m>
                <a:r>
                  <a:rPr lang="en-US" dirty="0" smtClean="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buFont typeface="Arial" panose="020B0604020202020204" pitchFamily="34" charset="0"/>
                  <a:buChar char="•"/>
                </a:pPr>
                <a:endParaRPr lang="en-US" dirty="0">
                  <a:latin typeface="fkGroteskNeue"/>
                </a:endParaRPr>
              </a:p>
              <a:p>
                <a:pPr algn="just"/>
                <a:r>
                  <a:rPr lang="en-US" dirty="0">
                    <a:latin typeface="fkGrotesk"/>
                  </a:rPr>
                  <a:t>Figure </a:t>
                </a:r>
                <a:r>
                  <a:rPr lang="en-US" dirty="0" smtClean="0">
                    <a:latin typeface="fkGrotesk"/>
                  </a:rPr>
                  <a:t>1.15 (</a:t>
                </a:r>
                <a:r>
                  <a:rPr lang="en-US" dirty="0" err="1">
                    <a:latin typeface="fkGrotesk"/>
                  </a:rPr>
                  <a:t>a,b</a:t>
                </a:r>
                <a:r>
                  <a:rPr lang="en-US" dirty="0">
                    <a:latin typeface="fkGrotesk"/>
                  </a:rPr>
                  <a:t>)</a:t>
                </a:r>
              </a:p>
              <a:p>
                <a:pPr marL="342900" indent="-342900" algn="just">
                  <a:buFont typeface="Arial" panose="020B0604020202020204" pitchFamily="34" charset="0"/>
                  <a:buChar char="•"/>
                </a:pPr>
                <a:r>
                  <a:rPr lang="en-US" dirty="0">
                    <a:latin typeface="fkGroteskNeue"/>
                  </a:rPr>
                  <a:t>(a) Ideal parallel LC tank circuit.</a:t>
                </a:r>
              </a:p>
              <a:p>
                <a:pPr marL="342900" indent="-342900" algn="just">
                  <a:buFont typeface="Arial" panose="020B0604020202020204" pitchFamily="34" charset="0"/>
                  <a:buChar char="•"/>
                </a:pPr>
                <a:r>
                  <a:rPr lang="en-US" dirty="0">
                    <a:latin typeface="fkGroteskNeue"/>
                  </a:rPr>
                  <a:t>(b) Impedance magnitude peaks sharply at resonance </a:t>
                </a:r>
                <a:r>
                  <a:rPr lang="en-US" dirty="0" smtClean="0">
                    <a:latin typeface="fkGroteskNeue"/>
                  </a:rPr>
                  <a:t>(</a:t>
                </a:r>
                <a:r>
                  <a:rPr lang="en-US" i="1" dirty="0" smtClean="0">
                    <a:latin typeface="KaTeX_Math"/>
                  </a:rPr>
                  <a:t>ω</a:t>
                </a:r>
                <a:r>
                  <a:rPr lang="en-US" baseline="-25000" dirty="0" smtClean="0">
                    <a:latin typeface="KaTeX_Main"/>
                  </a:rPr>
                  <a:t>0</a:t>
                </a:r>
                <a:r>
                  <a:rPr lang="en-US" dirty="0">
                    <a:latin typeface="fkGroteskNeue"/>
                  </a:rPr>
                  <a:t>) and shows corresponding phase shift from +90° (inductive) to –90° (capacitive) behavior.</a:t>
                </a: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31850" y="1242686"/>
                <a:ext cx="6898217" cy="5158913"/>
              </a:xfrm>
              <a:blipFill>
                <a:blip r:embed="rId2"/>
                <a:stretch>
                  <a:fillRect l="-2297" t="-1418" r="-2297"/>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93510" y="6602756"/>
            <a:ext cx="1364489" cy="2256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10" name="Picture 9"/>
          <p:cNvPicPr>
            <a:picLocks noChangeAspect="1"/>
          </p:cNvPicPr>
          <p:nvPr/>
        </p:nvPicPr>
        <p:blipFill>
          <a:blip r:embed="rId3"/>
          <a:stretch>
            <a:fillRect/>
          </a:stretch>
        </p:blipFill>
        <p:spPr>
          <a:xfrm>
            <a:off x="7734197" y="1600138"/>
            <a:ext cx="3988005" cy="2387723"/>
          </a:xfrm>
          <a:prstGeom prst="rect">
            <a:avLst/>
          </a:prstGeom>
        </p:spPr>
      </p:pic>
      <p:sp>
        <p:nvSpPr>
          <p:cNvPr id="11" name="Rectangle 10"/>
          <p:cNvSpPr/>
          <p:nvPr/>
        </p:nvSpPr>
        <p:spPr>
          <a:xfrm>
            <a:off x="7585645" y="4045179"/>
            <a:ext cx="4716356" cy="246221"/>
          </a:xfrm>
          <a:prstGeom prst="rect">
            <a:avLst/>
          </a:prstGeom>
        </p:spPr>
        <p:txBody>
          <a:bodyPr wrap="none">
            <a:spAutoFit/>
          </a:bodyPr>
          <a:lstStyle/>
          <a:p>
            <a:r>
              <a:rPr lang="en-US" sz="1000" b="1" i="0" u="none" strike="noStrike" baseline="0" dirty="0" smtClean="0">
                <a:solidFill>
                  <a:srgbClr val="FF0000"/>
                </a:solidFill>
                <a:latin typeface="T3Font_215"/>
              </a:rPr>
              <a:t>Figure 1.15 </a:t>
            </a:r>
            <a:r>
              <a:rPr lang="en-US" sz="1000" b="1" i="0" u="none" strike="noStrike" baseline="0" dirty="0" smtClean="0">
                <a:solidFill>
                  <a:srgbClr val="FF0000"/>
                </a:solidFill>
                <a:latin typeface="T3Font_216"/>
              </a:rPr>
              <a:t>(a) Ideal parallel LC tank, and (b) its impedance characteristics.</a:t>
            </a:r>
            <a:endParaRPr lang="en-US" sz="2400" b="1" dirty="0">
              <a:solidFill>
                <a:srgbClr val="FF0000"/>
              </a:solidFill>
            </a:endParaRPr>
          </a:p>
        </p:txBody>
      </p:sp>
    </p:spTree>
    <p:extLst>
      <p:ext uri="{BB962C8B-B14F-4D97-AF65-F5344CB8AC3E}">
        <p14:creationId xmlns:p14="http://schemas.microsoft.com/office/powerpoint/2010/main" val="43130382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2. Realistic Losses in the LC </a:t>
            </a:r>
            <a:r>
              <a:rPr lang="en-US" dirty="0" smtClean="0">
                <a:latin typeface="fkGrotesk"/>
              </a:rPr>
              <a:t>Tank</a:t>
            </a:r>
            <a:endParaRPr lang="en-US" dirty="0"/>
          </a:p>
        </p:txBody>
      </p:sp>
      <p:sp>
        <p:nvSpPr>
          <p:cNvPr id="3" name="Text Placeholder 2"/>
          <p:cNvSpPr>
            <a:spLocks noGrp="1"/>
          </p:cNvSpPr>
          <p:nvPr>
            <p:ph type="body" idx="1"/>
          </p:nvPr>
        </p:nvSpPr>
        <p:spPr>
          <a:xfrm>
            <a:off x="844550" y="1327353"/>
            <a:ext cx="6242050" cy="4678204"/>
          </a:xfrm>
        </p:spPr>
        <p:txBody>
          <a:bodyPr/>
          <a:lstStyle/>
          <a:p>
            <a:pPr algn="l"/>
            <a:r>
              <a:rPr lang="en-US" dirty="0" smtClean="0">
                <a:latin typeface="fkGrotesk"/>
              </a:rPr>
              <a:t>Series </a:t>
            </a:r>
            <a:r>
              <a:rPr lang="en-US" dirty="0">
                <a:latin typeface="fkGrotesk"/>
              </a:rPr>
              <a:t>Resistance </a:t>
            </a:r>
            <a:r>
              <a:rPr lang="en-US" i="1" dirty="0" smtClean="0">
                <a:latin typeface="KaTeX_Math"/>
              </a:rPr>
              <a:t>R</a:t>
            </a:r>
            <a:r>
              <a:rPr lang="en-US" i="1" baseline="-25000" dirty="0" smtClean="0">
                <a:latin typeface="KaTeX_Math"/>
              </a:rPr>
              <a:t>S</a:t>
            </a:r>
            <a:r>
              <a:rPr lang="en-US" dirty="0">
                <a:latin typeface="fkGrotesk"/>
              </a:rPr>
              <a:t> (Fig. 1.16(a</a:t>
            </a:r>
            <a:r>
              <a:rPr lang="en-US" dirty="0" smtClean="0">
                <a:latin typeface="fkGrotesk"/>
              </a:rPr>
              <a:t>))</a:t>
            </a:r>
          </a:p>
          <a:p>
            <a:pPr algn="l"/>
            <a:endParaRPr lang="en-US" dirty="0">
              <a:latin typeface="fkGrotesk"/>
            </a:endParaRPr>
          </a:p>
          <a:p>
            <a:pPr marL="800100" lvl="1" indent="-342900" algn="just">
              <a:buFont typeface="Wingdings" panose="05000000000000000000" pitchFamily="2" charset="2"/>
              <a:buChar char="q"/>
            </a:pPr>
            <a:r>
              <a:rPr lang="en-US" sz="2000" dirty="0">
                <a:latin typeface="fkGroteskNeue"/>
              </a:rPr>
              <a:t>Inductors have parasitic resistance due to wire loss—this dissipates energy, detracting from ideal oscillation.</a:t>
            </a:r>
          </a:p>
          <a:p>
            <a:pPr marL="800100" lvl="1" indent="-342900" algn="just">
              <a:buFont typeface="Wingdings" panose="05000000000000000000" pitchFamily="2" charset="2"/>
              <a:buChar char="q"/>
            </a:pPr>
            <a:r>
              <a:rPr lang="en-US" sz="2000" dirty="0">
                <a:latin typeface="fkGroteskNeue"/>
              </a:rPr>
              <a:t>This energy loss lowers quality factor (Q), broadens resonance, and increases phase </a:t>
            </a:r>
            <a:r>
              <a:rPr lang="en-US" sz="2000" dirty="0" smtClean="0">
                <a:latin typeface="fkGroteskNeue"/>
              </a:rPr>
              <a:t>noise.</a:t>
            </a:r>
          </a:p>
          <a:p>
            <a:pPr algn="just"/>
            <a:r>
              <a:rPr lang="en-US" sz="2200" dirty="0" smtClean="0">
                <a:latin typeface="fkGrotesk"/>
              </a:rPr>
              <a:t>Equivalent </a:t>
            </a:r>
            <a:r>
              <a:rPr lang="en-US" sz="2200" dirty="0">
                <a:latin typeface="fkGrotesk"/>
              </a:rPr>
              <a:t>Parallel Model (Fig. 1.16(b</a:t>
            </a:r>
            <a:r>
              <a:rPr lang="en-US" sz="2200" dirty="0" smtClean="0">
                <a:latin typeface="fkGrotesk"/>
              </a:rPr>
              <a:t>))</a:t>
            </a:r>
          </a:p>
          <a:p>
            <a:pPr algn="just"/>
            <a:endParaRPr lang="en-US" sz="2200" dirty="0">
              <a:latin typeface="fkGrotesk"/>
            </a:endParaRPr>
          </a:p>
          <a:p>
            <a:pPr marL="800100" lvl="1" indent="-342900" algn="just">
              <a:buFont typeface="Wingdings" panose="05000000000000000000" pitchFamily="2" charset="2"/>
              <a:buChar char="q"/>
            </a:pPr>
            <a:r>
              <a:rPr lang="en-US" sz="2000" dirty="0">
                <a:latin typeface="fkGroteskNeue"/>
              </a:rPr>
              <a:t>To simplify analysis, losses are represented as a parallel equivalent resistance </a:t>
            </a:r>
            <a:r>
              <a:rPr lang="en-US" sz="2000" i="1" dirty="0" err="1" smtClean="0">
                <a:latin typeface="KaTeX_Math"/>
              </a:rPr>
              <a:t>Rp</a:t>
            </a:r>
            <a:r>
              <a:rPr lang="en-US" sz="2000" dirty="0">
                <a:latin typeface="fkGroteskNeue"/>
              </a:rPr>
              <a:t>.</a:t>
            </a:r>
          </a:p>
          <a:p>
            <a:pPr marL="800100" lvl="1" indent="-342900" algn="just">
              <a:buFont typeface="Wingdings" panose="05000000000000000000" pitchFamily="2" charset="2"/>
              <a:buChar char="q"/>
            </a:pPr>
            <a:r>
              <a:rPr lang="en-US" sz="2000" dirty="0">
                <a:latin typeface="fkGroteskNeue"/>
              </a:rPr>
              <a:t>This allows easier calculation of tank impedance at resonance and quality factor.</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384938" y="1565236"/>
            <a:ext cx="4330923" cy="1492327"/>
          </a:xfrm>
          <a:prstGeom prst="rect">
            <a:avLst/>
          </a:prstGeom>
        </p:spPr>
      </p:pic>
      <p:sp>
        <p:nvSpPr>
          <p:cNvPr id="8" name="Rectangle 7"/>
          <p:cNvSpPr/>
          <p:nvPr/>
        </p:nvSpPr>
        <p:spPr>
          <a:xfrm>
            <a:off x="8079958" y="3266245"/>
            <a:ext cx="3756156" cy="246221"/>
          </a:xfrm>
          <a:prstGeom prst="rect">
            <a:avLst/>
          </a:prstGeom>
        </p:spPr>
        <p:txBody>
          <a:bodyPr wrap="none">
            <a:spAutoFit/>
          </a:bodyPr>
          <a:lstStyle/>
          <a:p>
            <a:r>
              <a:rPr lang="en-US" sz="1000" b="1" i="0" u="none" strike="noStrike" baseline="0" dirty="0" smtClean="0">
                <a:solidFill>
                  <a:srgbClr val="FF0000"/>
                </a:solidFill>
                <a:latin typeface="T3Font_215"/>
              </a:rPr>
              <a:t>Figure 1.16 </a:t>
            </a:r>
            <a:r>
              <a:rPr lang="en-US" sz="1000" b="1" i="0" u="none" strike="noStrike" baseline="0" dirty="0" smtClean="0">
                <a:solidFill>
                  <a:srgbClr val="FF0000"/>
                </a:solidFill>
                <a:latin typeface="T3Font_216"/>
              </a:rPr>
              <a:t>(a) </a:t>
            </a:r>
            <a:r>
              <a:rPr lang="en-US" sz="1000" b="1" i="0" u="none" strike="noStrike" baseline="0" dirty="0" err="1" smtClean="0">
                <a:solidFill>
                  <a:srgbClr val="FF0000"/>
                </a:solidFill>
                <a:latin typeface="T3Font_216"/>
              </a:rPr>
              <a:t>Lossy</a:t>
            </a:r>
            <a:r>
              <a:rPr lang="en-US" sz="1000" b="1" i="0" u="none" strike="noStrike" baseline="0" dirty="0" smtClean="0">
                <a:solidFill>
                  <a:srgbClr val="FF0000"/>
                </a:solidFill>
                <a:latin typeface="T3Font_216"/>
              </a:rPr>
              <a:t> LC tank, and (b) its equivalent model.</a:t>
            </a:r>
            <a:endParaRPr lang="en-US" sz="2400" b="1" dirty="0">
              <a:solidFill>
                <a:srgbClr val="FF0000"/>
              </a:solidFill>
            </a:endParaRPr>
          </a:p>
        </p:txBody>
      </p:sp>
    </p:spTree>
    <p:extLst>
      <p:ext uri="{BB962C8B-B14F-4D97-AF65-F5344CB8AC3E}">
        <p14:creationId xmlns:p14="http://schemas.microsoft.com/office/powerpoint/2010/main" val="220684245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3. Relationship Between </a:t>
            </a:r>
            <a:r>
              <a:rPr lang="en-US" i="1" dirty="0" err="1">
                <a:latin typeface="KaTeX_Math"/>
              </a:rPr>
              <a:t>L</a:t>
            </a:r>
            <a:r>
              <a:rPr lang="en-US" i="1" baseline="-25000" dirty="0" err="1">
                <a:latin typeface="KaTeX_Math"/>
              </a:rPr>
              <a:t>p</a:t>
            </a:r>
            <a:r>
              <a:rPr lang="en-US" dirty="0">
                <a:latin typeface="fkGrotesk"/>
              </a:rPr>
              <a:t>, </a:t>
            </a:r>
            <a:r>
              <a:rPr lang="en-US" i="1" dirty="0" err="1">
                <a:latin typeface="KaTeX_Math"/>
              </a:rPr>
              <a:t>R</a:t>
            </a:r>
            <a:r>
              <a:rPr lang="en-US" i="1" baseline="-25000" dirty="0" err="1">
                <a:latin typeface="KaTeX_Math"/>
              </a:rPr>
              <a:t>p</a:t>
            </a:r>
            <a:r>
              <a:rPr lang="en-US" dirty="0">
                <a:latin typeface="fkGrotesk"/>
              </a:rPr>
              <a:t>, and </a:t>
            </a:r>
            <a:r>
              <a:rPr lang="en-US" i="1" dirty="0">
                <a:latin typeface="KaTeX_Math"/>
              </a:rPr>
              <a:t>L</a:t>
            </a:r>
            <a:r>
              <a:rPr lang="en-US" baseline="-25000" dirty="0">
                <a:latin typeface="KaTeX_Main"/>
              </a:rPr>
              <a:t>1</a:t>
            </a:r>
            <a:r>
              <a:rPr lang="en-US" dirty="0">
                <a:latin typeface="fkGrotesk"/>
              </a:rPr>
              <a:t>, </a:t>
            </a:r>
            <a:r>
              <a:rPr lang="en-US" i="1" dirty="0" smtClean="0">
                <a:latin typeface="KaTeX_Math"/>
              </a:rPr>
              <a:t>R</a:t>
            </a:r>
            <a:r>
              <a:rPr lang="en-US" i="1" baseline="-25000" dirty="0" smtClean="0">
                <a:latin typeface="KaTeX_Math"/>
              </a:rPr>
              <a:t>S</a:t>
            </a:r>
            <a:endParaRPr lang="en-US" baseline="-25000"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178185" y="1445343"/>
            <a:ext cx="4456562" cy="1969179"/>
          </a:xfrm>
          <a:prstGeom prst="rect">
            <a:avLst/>
          </a:prstGeom>
        </p:spPr>
      </p:pic>
      <mc:AlternateContent xmlns:mc="http://schemas.openxmlformats.org/markup-compatibility/2006">
        <mc:Choice xmlns:a14="http://schemas.microsoft.com/office/drawing/2010/main" Requires="a14">
          <p:sp>
            <p:nvSpPr>
              <p:cNvPr id="8" name="Text Placeholder 7"/>
              <p:cNvSpPr>
                <a:spLocks noGrp="1"/>
              </p:cNvSpPr>
              <p:nvPr>
                <p:ph type="body" idx="1"/>
              </p:nvPr>
            </p:nvSpPr>
            <p:spPr>
              <a:xfrm>
                <a:off x="844550" y="1327353"/>
                <a:ext cx="6591300" cy="4665701"/>
              </a:xfrm>
            </p:spPr>
            <p:txBody>
              <a:bodyPr/>
              <a:lstStyle/>
              <a:p>
                <a:pPr>
                  <a:spcBef>
                    <a:spcPts val="1575"/>
                  </a:spcBef>
                  <a:spcAft>
                    <a:spcPts val="525"/>
                  </a:spcAft>
                </a:pPr>
                <a:r>
                  <a:rPr lang="en-US" b="1" dirty="0">
                    <a:solidFill>
                      <a:srgbClr val="000000"/>
                    </a:solidFill>
                    <a:latin typeface="inter"/>
                    <a:ea typeface="inter"/>
                    <a:cs typeface="inter"/>
                  </a:rPr>
                  <a:t>Step 1: Series R-L Tank Impedance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inter"/>
                    <a:ea typeface="inter"/>
                    <a:cs typeface="inter"/>
                  </a:rPr>
                  <a:t>The inductor with series resistance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oMath>
                </a14:m>
                <a:r>
                  <a:rPr lang="en-US" sz="1600" dirty="0">
                    <a:solidFill>
                      <a:srgbClr val="000000"/>
                    </a:solidFill>
                    <a:latin typeface="inter"/>
                    <a:ea typeface="inter"/>
                    <a:cs typeface="inter"/>
                  </a:rPr>
                  <a:t> and inductance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oMath>
                </a14:m>
                <a:r>
                  <a:rPr lang="en-US" sz="1600" dirty="0">
                    <a:solidFill>
                      <a:srgbClr val="000000"/>
                    </a:solidFill>
                    <a:latin typeface="inter"/>
                    <a:ea typeface="inter"/>
                    <a:cs typeface="inter"/>
                  </a:rPr>
                  <a:t> has a complex impedance at angular frequency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oMath>
                </a14:m>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𝑠𝑒𝑟𝑖𝑒𝑠</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Bef>
                    <a:spcPts val="1575"/>
                  </a:spcBef>
                  <a:spcAft>
                    <a:spcPts val="525"/>
                  </a:spcAft>
                </a:pPr>
                <a:r>
                  <a:rPr lang="en-US" b="1" dirty="0">
                    <a:solidFill>
                      <a:srgbClr val="000000"/>
                    </a:solidFill>
                    <a:effectLst/>
                    <a:latin typeface="inter"/>
                    <a:ea typeface="inter"/>
                    <a:cs typeface="inter"/>
                  </a:rPr>
                  <a:t>Step 2: Equivalent Parallel Model</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inter"/>
                    <a:ea typeface="inter"/>
                    <a:cs typeface="inter"/>
                  </a:rPr>
                  <a:t>This series combination is often represented equivalently by a </a:t>
                </a:r>
                <a:r>
                  <a:rPr lang="en-US" sz="1600" b="1" dirty="0">
                    <a:solidFill>
                      <a:srgbClr val="000000"/>
                    </a:solidFill>
                    <a:latin typeface="inter"/>
                    <a:ea typeface="inter"/>
                    <a:cs typeface="inter"/>
                  </a:rPr>
                  <a:t>parallel tank</a:t>
                </a:r>
                <a:r>
                  <a:rPr lang="en-US" sz="1600" dirty="0">
                    <a:solidFill>
                      <a:srgbClr val="000000"/>
                    </a:solidFill>
                    <a:latin typeface="inter"/>
                    <a:ea typeface="inter"/>
                    <a:cs typeface="inter"/>
                  </a:rPr>
                  <a:t> with parameters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and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having impedance: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𝑝𝑎𝑟𝑎𝑙𝑙𝑒𝑙</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inter"/>
                    <a:ea typeface="inter"/>
                    <a:cs typeface="inter"/>
                  </a:rPr>
                  <a:t>We want to find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and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such that at a given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oMath>
                </a14:m>
                <a:r>
                  <a:rPr lang="en-US" sz="1600" dirty="0">
                    <a:solidFill>
                      <a:srgbClr val="000000"/>
                    </a:solidFill>
                    <a:latin typeface="inter"/>
                    <a:ea typeface="inter"/>
                    <a:cs typeface="inter"/>
                  </a:rPr>
                  <a:t>, the impedances match:</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𝑠𝑒𝑟𝑖𝑒𝑠</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𝑝𝑎𝑟𝑎𝑙𝑙𝑒𝑙</m:t>
                          </m:r>
                        </m:sub>
                      </m:sSub>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p:sp>
            <p:nvSpPr>
              <p:cNvPr id="8" name="Text Placeholder 7"/>
              <p:cNvSpPr>
                <a:spLocks noGrp="1" noRot="1" noChangeAspect="1" noMove="1" noResize="1" noEditPoints="1" noAdjustHandles="1" noChangeArrowheads="1" noChangeShapeType="1" noTextEdit="1"/>
              </p:cNvSpPr>
              <p:nvPr>
                <p:ph type="body" idx="1"/>
              </p:nvPr>
            </p:nvSpPr>
            <p:spPr>
              <a:xfrm>
                <a:off x="844550" y="1327353"/>
                <a:ext cx="6591300" cy="4665701"/>
              </a:xfrm>
              <a:blipFill>
                <a:blip r:embed="rId3"/>
                <a:stretch>
                  <a:fillRect l="-2405" t="-1699" r="-648"/>
                </a:stretch>
              </a:blipFill>
            </p:spPr>
            <p:txBody>
              <a:bodyPr/>
              <a:lstStyle/>
              <a:p>
                <a:r>
                  <a:rPr lang="en-US">
                    <a:noFill/>
                  </a:rPr>
                  <a:t> </a:t>
                </a:r>
              </a:p>
            </p:txBody>
          </p:sp>
        </mc:Fallback>
      </mc:AlternateContent>
    </p:spTree>
    <p:extLst>
      <p:ext uri="{BB962C8B-B14F-4D97-AF65-F5344CB8AC3E}">
        <p14:creationId xmlns:p14="http://schemas.microsoft.com/office/powerpoint/2010/main" val="189046808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647700" y="1244803"/>
                <a:ext cx="5543550" cy="5061386"/>
              </a:xfrm>
            </p:spPr>
            <p:txBody>
              <a:bodyPr/>
              <a:lstStyle/>
              <a:p>
                <a:pPr>
                  <a:spcBef>
                    <a:spcPts val="1575"/>
                  </a:spcBef>
                  <a:spcAft>
                    <a:spcPts val="525"/>
                  </a:spcAft>
                </a:pPr>
                <a:r>
                  <a:rPr lang="en-US" b="1" dirty="0">
                    <a:solidFill>
                      <a:srgbClr val="000000"/>
                    </a:solidFill>
                    <a:latin typeface="inter"/>
                    <a:ea typeface="inter"/>
                    <a:cs typeface="inter"/>
                  </a:rPr>
                  <a:t>Step 3: Equate Real and Imaginary Parts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inter"/>
                    <a:ea typeface="inter"/>
                    <a:cs typeface="inter"/>
                  </a:rPr>
                  <a:t>Writing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𝑝𝑎𝑟𝑎𝑙𝑙𝑒𝑙</m:t>
                        </m:r>
                      </m:sub>
                    </m:sSub>
                  </m:oMath>
                </a14:m>
                <a:r>
                  <a:rPr lang="en-US" sz="1600" dirty="0">
                    <a:solidFill>
                      <a:srgbClr val="000000"/>
                    </a:solidFill>
                    <a:latin typeface="inter"/>
                    <a:ea typeface="inter"/>
                    <a:cs typeface="inter"/>
                  </a:rPr>
                  <a:t> in terms of real and imaginary parts gives: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𝑝𝑎𝑟𝑎𝑙𝑙𝑒𝑙</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num>
                        <m:den>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num>
                        <m:den>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inter"/>
                    <a:ea typeface="inter"/>
                    <a:cs typeface="inter"/>
                  </a:rPr>
                  <a:t>Simplifying with </a:t>
                </a:r>
                <a14:m>
                  <m:oMath xmlns:m="http://schemas.openxmlformats.org/officeDocument/2006/math">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a14:m>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𝑝𝑎𝑟𝑎𝑙𝑙𝑒𝑙</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num>
                        <m:den>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𝑋</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sub>
                      </m:sSub>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inter"/>
                    <a:ea typeface="inter"/>
                    <a:cs typeface="inter"/>
                  </a:rPr>
                  <a:t>where real part: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num>
                        <m:den>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inter"/>
                    <a:ea typeface="inter"/>
                    <a:cs typeface="inter"/>
                  </a:rPr>
                  <a:t>and imaginary part: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𝑋</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num>
                        <m:den>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sz="16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647700" y="1244803"/>
                <a:ext cx="5543550" cy="5061386"/>
              </a:xfrm>
              <a:blipFill>
                <a:blip r:embed="rId2"/>
                <a:stretch>
                  <a:fillRect l="-2747" t="-1566"/>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mc:Choice xmlns:a14="http://schemas.microsoft.com/office/drawing/2010/main" Requires="a14">
          <p:sp>
            <p:nvSpPr>
              <p:cNvPr id="9" name="Text Placeholder 2"/>
              <p:cNvSpPr txBox="1">
                <a:spLocks/>
              </p:cNvSpPr>
              <p:nvPr/>
            </p:nvSpPr>
            <p:spPr>
              <a:xfrm>
                <a:off x="6388100" y="1213053"/>
                <a:ext cx="5740400" cy="5580567"/>
              </a:xfrm>
              <a:prstGeom prst="rect">
                <a:avLst/>
              </a:prstGeom>
            </p:spPr>
            <p:txBody>
              <a:bodyPr wrap="square" lIns="0" tIns="0" rIns="0" bIns="0">
                <a:spAutoFit/>
              </a:bodyPr>
              <a:lstStyle>
                <a:lvl1pPr marL="0">
                  <a:defRPr sz="2000" b="0" i="0">
                    <a:solidFill>
                      <a:schemeClr val="tx1"/>
                    </a:solidFill>
                    <a:latin typeface="Verdana"/>
                    <a:ea typeface="+mn-ea"/>
                    <a:cs typeface="Verdana"/>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spcBef>
                    <a:spcPts val="1575"/>
                  </a:spcBef>
                  <a:spcAft>
                    <a:spcPts val="525"/>
                  </a:spcAft>
                </a:pPr>
                <a:r>
                  <a:rPr lang="en-US" b="1" dirty="0">
                    <a:solidFill>
                      <a:srgbClr val="000000"/>
                    </a:solidFill>
                    <a:latin typeface="inter"/>
                    <a:ea typeface="inter"/>
                    <a:cs typeface="inter"/>
                  </a:rPr>
                  <a:t>Step 4: Set Equal to Series Parts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inter"/>
                    <a:ea typeface="inter"/>
                    <a:cs typeface="inter"/>
                  </a:rPr>
                  <a:t>Equate to series parts: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num>
                        <m:den>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𝑋</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num>
                        <m:den>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inter"/>
                    <a:ea typeface="inter"/>
                    <a:cs typeface="inter"/>
                  </a:rPr>
                  <a:t>Dividing the imaginary by real gives: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𝑋</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sub>
                          </m:sSub>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sub>
                          </m:sSub>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num>
                        <m:den>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num>
                        <m:den>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inter"/>
                    <a:ea typeface="inter"/>
                    <a:cs typeface="inter"/>
                  </a:rPr>
                  <a:t>Rearranged:</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Bef>
                    <a:spcPts val="1575"/>
                  </a:spcBef>
                  <a:spcAft>
                    <a:spcPts val="525"/>
                  </a:spcAft>
                </a:pPr>
                <a:r>
                  <a:rPr lang="en-US" b="1" dirty="0">
                    <a:solidFill>
                      <a:srgbClr val="000000"/>
                    </a:solidFill>
                    <a:effectLst/>
                    <a:latin typeface="inter"/>
                    <a:ea typeface="inter"/>
                    <a:cs typeface="inter"/>
                  </a:rPr>
                  <a:t>Step 5: Approximate </a:t>
                </a:r>
                <a14:m>
                  <m:oMath xmlns:m="http://schemas.openxmlformats.org/officeDocument/2006/math">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e>
                      <m:sub>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𝑝</m:t>
                        </m:r>
                      </m:sub>
                    </m:sSub>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ub>
                    </m:sSub>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inter"/>
                    <a:ea typeface="inter"/>
                    <a:cs typeface="inter"/>
                  </a:rPr>
                  <a:t>Since inductance values are close, set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oMath>
                </a14:m>
                <a:r>
                  <a:rPr lang="en-US" sz="1600" dirty="0">
                    <a:solidFill>
                      <a:srgbClr val="000000"/>
                    </a:solidFill>
                    <a:latin typeface="inter"/>
                    <a:ea typeface="inter"/>
                    <a:cs typeface="inter"/>
                  </a:rPr>
                  <a:t>. Then: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endParaRPr lang="en-US" sz="1200" kern="0" dirty="0">
                  <a:latin typeface="Georgia" panose="02040502050405020303" pitchFamily="18" charset="0"/>
                  <a:ea typeface="Calibri" panose="020F0502020204030204" pitchFamily="34" charset="0"/>
                  <a:cs typeface="Times New Roman" panose="02020603050405020304" pitchFamily="18" charset="0"/>
                </a:endParaRPr>
              </a:p>
              <a:p>
                <a:endParaRPr lang="en-US" sz="1200" kern="0" dirty="0"/>
              </a:p>
            </p:txBody>
          </p:sp>
        </mc:Choice>
        <mc:Fallback>
          <p:sp>
            <p:nvSpPr>
              <p:cNvPr id="9" name="Text Placeholder 2"/>
              <p:cNvSpPr txBox="1">
                <a:spLocks noRot="1" noChangeAspect="1" noMove="1" noResize="1" noEditPoints="1" noAdjustHandles="1" noChangeArrowheads="1" noChangeShapeType="1" noTextEdit="1"/>
              </p:cNvSpPr>
              <p:nvPr/>
            </p:nvSpPr>
            <p:spPr>
              <a:xfrm>
                <a:off x="6388100" y="1213053"/>
                <a:ext cx="5740400" cy="5580567"/>
              </a:xfrm>
              <a:prstGeom prst="rect">
                <a:avLst/>
              </a:prstGeom>
              <a:blipFill>
                <a:blip r:embed="rId3"/>
                <a:stretch>
                  <a:fillRect l="-2760" t="-1421"/>
                </a:stretch>
              </a:blipFill>
            </p:spPr>
            <p:txBody>
              <a:bodyPr/>
              <a:lstStyle/>
              <a:p>
                <a:r>
                  <a:rPr lang="en-US">
                    <a:noFill/>
                  </a:rPr>
                  <a:t> </a:t>
                </a:r>
              </a:p>
            </p:txBody>
          </p:sp>
        </mc:Fallback>
      </mc:AlternateContent>
    </p:spTree>
    <p:extLst>
      <p:ext uri="{BB962C8B-B14F-4D97-AF65-F5344CB8AC3E}">
        <p14:creationId xmlns:p14="http://schemas.microsoft.com/office/powerpoint/2010/main" val="390622272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12800" y="1464936"/>
                <a:ext cx="10390717" cy="2899768"/>
              </a:xfrm>
            </p:spPr>
            <p:txBody>
              <a:bodyPr/>
              <a:lstStyle/>
              <a:p>
                <a:pPr>
                  <a:spcBef>
                    <a:spcPts val="1575"/>
                  </a:spcBef>
                  <a:spcAft>
                    <a:spcPts val="525"/>
                  </a:spcAft>
                </a:pPr>
                <a:r>
                  <a:rPr lang="en-US" b="1" dirty="0">
                    <a:solidFill>
                      <a:srgbClr val="000000"/>
                    </a:solidFill>
                    <a:latin typeface="inter"/>
                    <a:ea typeface="inter"/>
                    <a:cs typeface="inter"/>
                  </a:rPr>
                  <a:t>Interpretation: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Wingdings" panose="05000000000000000000" pitchFamily="2" charset="2"/>
                  <a:buChar char="q"/>
                  <a:tabLst>
                    <a:tab pos="571500" algn="l"/>
                  </a:tabLst>
                </a:pPr>
                <a:r>
                  <a:rPr lang="en-US" sz="1600" dirty="0">
                    <a:solidFill>
                      <a:srgbClr val="000000"/>
                    </a:solidFill>
                    <a:latin typeface="inter"/>
                    <a:ea typeface="inter"/>
                    <a:cs typeface="inter"/>
                  </a:rPr>
                  <a:t>Smaller series resistance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oMath>
                </a14:m>
                <a:r>
                  <a:rPr lang="en-US" sz="1600" dirty="0">
                    <a:solidFill>
                      <a:srgbClr val="000000"/>
                    </a:solidFill>
                    <a:latin typeface="inter"/>
                    <a:ea typeface="inter"/>
                    <a:cs typeface="inter"/>
                  </a:rPr>
                  <a:t> means larger equivalent parallel resistance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indicating </a:t>
                </a:r>
                <a:r>
                  <a:rPr lang="en-US" sz="1600" b="1" dirty="0">
                    <a:solidFill>
                      <a:srgbClr val="000000"/>
                    </a:solidFill>
                    <a:latin typeface="inter"/>
                    <a:ea typeface="inter"/>
                    <a:cs typeface="inter"/>
                  </a:rPr>
                  <a:t>less loss</a:t>
                </a:r>
                <a:r>
                  <a:rPr lang="en-US" sz="1600" dirty="0">
                    <a:solidFill>
                      <a:srgbClr val="000000"/>
                    </a:solidFill>
                    <a:latin typeface="inter"/>
                    <a:ea typeface="inter"/>
                    <a:cs typeface="inter"/>
                  </a:rPr>
                  <a:t> and </a:t>
                </a:r>
                <a:r>
                  <a:rPr lang="en-US" sz="1600" b="1" dirty="0">
                    <a:solidFill>
                      <a:srgbClr val="000000"/>
                    </a:solidFill>
                    <a:latin typeface="inter"/>
                    <a:ea typeface="inter"/>
                    <a:cs typeface="inter"/>
                  </a:rPr>
                  <a:t>better tank quality</a:t>
                </a:r>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Wingdings" panose="05000000000000000000" pitchFamily="2" charset="2"/>
                  <a:buChar char="q"/>
                  <a:tabLst>
                    <a:tab pos="571500" algn="l"/>
                  </a:tabLst>
                </a:pPr>
                <a:r>
                  <a:rPr lang="en-US" sz="1600" dirty="0">
                    <a:solidFill>
                      <a:srgbClr val="000000"/>
                    </a:solidFill>
                    <a:latin typeface="inter"/>
                    <a:ea typeface="inter"/>
                    <a:cs typeface="inter"/>
                  </a:rPr>
                  <a:t>The parallel inductance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remains approximately equal to the actual inductance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oMath>
                </a14:m>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Bef>
                    <a:spcPts val="1575"/>
                  </a:spcBef>
                  <a:spcAft>
                    <a:spcPts val="525"/>
                  </a:spcAft>
                </a:pPr>
                <a:r>
                  <a:rPr lang="en-US" b="1" dirty="0">
                    <a:solidFill>
                      <a:srgbClr val="000000"/>
                    </a:solidFill>
                    <a:effectLst/>
                    <a:latin typeface="inter"/>
                    <a:ea typeface="inter"/>
                    <a:cs typeface="inter"/>
                  </a:rPr>
                  <a:t>Physical Significance: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inter"/>
                    <a:ea typeface="inter"/>
                    <a:cs typeface="inter"/>
                  </a:rPr>
                  <a:t>This conversion helps simplify circuit analysis by modeling the physical </a:t>
                </a:r>
                <a:r>
                  <a:rPr lang="en-US" sz="1600" dirty="0" err="1">
                    <a:solidFill>
                      <a:srgbClr val="000000"/>
                    </a:solidFill>
                    <a:latin typeface="inter"/>
                    <a:ea typeface="inter"/>
                    <a:cs typeface="inter"/>
                  </a:rPr>
                  <a:t>lossy</a:t>
                </a:r>
                <a:r>
                  <a:rPr lang="en-US" sz="1600" dirty="0">
                    <a:solidFill>
                      <a:srgbClr val="000000"/>
                    </a:solidFill>
                    <a:latin typeface="inter"/>
                    <a:ea typeface="inter"/>
                    <a:cs typeface="inter"/>
                  </a:rPr>
                  <a:t> inductor as an ideal inductance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in parallel with a loss resistance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making it easier to predict oscillator Q-factor and behavior at resonance.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sz="16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12800" y="1464936"/>
                <a:ext cx="10390717" cy="2899768"/>
              </a:xfrm>
              <a:blipFill>
                <a:blip r:embed="rId2"/>
                <a:stretch>
                  <a:fillRect l="-1466" t="-2731"/>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082049755"/>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3050" y="0"/>
            <a:ext cx="11918950" cy="1046440"/>
          </a:xfrm>
        </p:spPr>
        <p:txBody>
          <a:bodyPr/>
          <a:lstStyle/>
          <a:p>
            <a:r>
              <a:rPr lang="en-US" dirty="0" smtClean="0"/>
              <a:t>Frequency </a:t>
            </a:r>
            <a:r>
              <a:rPr lang="en-US" dirty="0"/>
              <a:t>Dependence and Approximations in </a:t>
            </a:r>
            <a:r>
              <a:rPr lang="en-US" dirty="0" err="1"/>
              <a:t>Lossy</a:t>
            </a:r>
            <a:r>
              <a:rPr lang="en-US" dirty="0"/>
              <a:t> LC </a:t>
            </a:r>
            <a:r>
              <a:rPr lang="en-US" dirty="0" smtClean="0"/>
              <a:t>Tanks</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1118850" cy="5071709"/>
              </a:xfrm>
            </p:spPr>
            <p:txBody>
              <a:bodyPr/>
              <a:lstStyle/>
              <a:p>
                <a:r>
                  <a:rPr lang="en-US" sz="1800" dirty="0">
                    <a:solidFill>
                      <a:srgbClr val="000000"/>
                    </a:solidFill>
                    <a:latin typeface="inter"/>
                    <a:ea typeface="inter"/>
                    <a:cs typeface="inter"/>
                  </a:rPr>
                  <a:t>Understanding how frequency affects the equivalent parallel resistance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800" dirty="0">
                    <a:solidFill>
                      <a:srgbClr val="000000"/>
                    </a:solidFill>
                    <a:latin typeface="inter"/>
                    <a:ea typeface="inter"/>
                    <a:cs typeface="inter"/>
                  </a:rPr>
                  <a:t> and inductance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800" dirty="0">
                    <a:solidFill>
                      <a:srgbClr val="000000"/>
                    </a:solidFill>
                    <a:latin typeface="inter"/>
                    <a:ea typeface="inter"/>
                    <a:cs typeface="inter"/>
                  </a:rPr>
                  <a:t> of a </a:t>
                </a:r>
                <a:r>
                  <a:rPr lang="en-US" sz="1800" dirty="0" err="1">
                    <a:solidFill>
                      <a:srgbClr val="000000"/>
                    </a:solidFill>
                    <a:latin typeface="inter"/>
                    <a:ea typeface="inter"/>
                    <a:cs typeface="inter"/>
                  </a:rPr>
                  <a:t>lossy</a:t>
                </a:r>
                <a:r>
                  <a:rPr lang="en-US" sz="1800" dirty="0">
                    <a:solidFill>
                      <a:srgbClr val="000000"/>
                    </a:solidFill>
                    <a:latin typeface="inter"/>
                    <a:ea typeface="inter"/>
                    <a:cs typeface="inter"/>
                  </a:rPr>
                  <a:t> LC tank is critical for accurate oscillator design, especially at high frequencies</a:t>
                </a:r>
                <a:r>
                  <a:rPr lang="en-US" sz="1800" dirty="0" smtClean="0">
                    <a:solidFill>
                      <a:srgbClr val="000000"/>
                    </a:solidFill>
                    <a:latin typeface="inter"/>
                    <a:ea typeface="inter"/>
                    <a:cs typeface="inter"/>
                  </a:rPr>
                  <a:t>.</a:t>
                </a:r>
              </a:p>
              <a:p>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b="1" dirty="0">
                    <a:solidFill>
                      <a:srgbClr val="000000"/>
                    </a:solidFill>
                    <a:latin typeface="inter"/>
                    <a:ea typeface="inter"/>
                    <a:cs typeface="inter"/>
                  </a:rPr>
                  <a:t>1. Breakdown of Approximation at Low Frequencies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800" dirty="0">
                    <a:solidFill>
                      <a:srgbClr val="000000"/>
                    </a:solidFill>
                    <a:latin typeface="inter"/>
                    <a:ea typeface="inter"/>
                    <a:cs typeface="inter"/>
                  </a:rPr>
                  <a:t>The commonly used approximation:</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Sup>
                            <m:sSub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num>
                        <m:den>
                          <m:sSubSup>
                            <m:sSub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den>
                      </m:f>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800" dirty="0">
                    <a:solidFill>
                      <a:srgbClr val="000000"/>
                    </a:solidFill>
                    <a:latin typeface="inter"/>
                    <a:ea typeface="inter"/>
                    <a:cs typeface="inter"/>
                  </a:rPr>
                  <a:t>assumes the series resistance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oMath>
                </a14:m>
                <a:r>
                  <a:rPr lang="en-US" sz="1800" dirty="0">
                    <a:solidFill>
                      <a:srgbClr val="000000"/>
                    </a:solidFill>
                    <a:latin typeface="inter"/>
                    <a:ea typeface="inter"/>
                    <a:cs typeface="inter"/>
                  </a:rPr>
                  <a:t> squared over </a:t>
                </a:r>
                <a14:m>
                  <m:oMath xmlns:m="http://schemas.openxmlformats.org/officeDocument/2006/math">
                    <m:sSubSup>
                      <m:sSub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oMath>
                </a14:m>
                <a:r>
                  <a:rPr lang="en-US" sz="1800" dirty="0">
                    <a:solidFill>
                      <a:srgbClr val="000000"/>
                    </a:solidFill>
                    <a:latin typeface="inter"/>
                    <a:ea typeface="inter"/>
                    <a:cs typeface="inter"/>
                  </a:rPr>
                  <a:t> is much less than 1. This lets us write:</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oMath>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Sup>
                          <m:sSub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den>
                    </m:f>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800" b="1" dirty="0">
                    <a:solidFill>
                      <a:srgbClr val="000000"/>
                    </a:solidFill>
                    <a:latin typeface="inter"/>
                    <a:ea typeface="inter"/>
                    <a:cs typeface="inter"/>
                  </a:rPr>
                  <a:t>Why it breaks down:</a:t>
                </a:r>
                <a:r>
                  <a:rPr lang="en-US" sz="1800" dirty="0">
                    <a:solidFill>
                      <a:srgbClr val="000000"/>
                    </a:solidFill>
                    <a:latin typeface="inter"/>
                    <a:ea typeface="inter"/>
                    <a:cs typeface="inter"/>
                  </a:rPr>
                  <a:t> At low frequencies, </a:t>
                </a:r>
                <a14:m>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oMath>
                </a14:m>
                <a:r>
                  <a:rPr lang="en-US" sz="1800" dirty="0">
                    <a:solidFill>
                      <a:srgbClr val="000000"/>
                    </a:solidFill>
                    <a:latin typeface="inter"/>
                    <a:ea typeface="inter"/>
                    <a:cs typeface="inter"/>
                  </a:rPr>
                  <a:t> is small, so </a:t>
                </a:r>
                <a14:m>
                  <m:oMath xmlns:m="http://schemas.openxmlformats.org/officeDocument/2006/math">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Sup>
                          <m:sSub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num>
                      <m:den>
                        <m:sSubSup>
                          <m:sSub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den>
                    </m:f>
                  </m:oMath>
                </a14:m>
                <a:r>
                  <a:rPr lang="en-US" sz="1800" dirty="0">
                    <a:solidFill>
                      <a:srgbClr val="000000"/>
                    </a:solidFill>
                    <a:latin typeface="inter"/>
                    <a:ea typeface="inter"/>
                    <a:cs typeface="inter"/>
                  </a:rPr>
                  <a:t> can be significant or larger than 1, violating the approximation. As a result, the calculated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800" dirty="0">
                    <a:solidFill>
                      <a:srgbClr val="000000"/>
                    </a:solidFill>
                    <a:latin typeface="inter"/>
                    <a:ea typeface="inter"/>
                    <a:cs typeface="inter"/>
                  </a:rPr>
                  <a:t> becomes inaccurate, potentially underestimating losses.</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800" dirty="0">
                    <a:solidFill>
                      <a:srgbClr val="000000"/>
                    </a:solidFill>
                    <a:latin typeface="inter"/>
                    <a:ea typeface="inter"/>
                    <a:cs typeface="inter"/>
                  </a:rPr>
                  <a:t>This means:</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dirty="0">
                    <a:solidFill>
                      <a:srgbClr val="000000"/>
                    </a:solidFill>
                    <a:latin typeface="inter"/>
                    <a:ea typeface="inter"/>
                    <a:cs typeface="inter"/>
                  </a:rPr>
                  <a:t>At low frequencies, the simple formulas </a:t>
                </a:r>
                <a:r>
                  <a:rPr lang="en-US" dirty="0" err="1">
                    <a:solidFill>
                      <a:srgbClr val="000000"/>
                    </a:solidFill>
                    <a:latin typeface="inter"/>
                    <a:ea typeface="inter"/>
                    <a:cs typeface="inter"/>
                  </a:rPr>
                  <a:t>overpredict</a:t>
                </a:r>
                <a:r>
                  <a:rPr lang="en-US" dirty="0">
                    <a:solidFill>
                      <a:srgbClr val="000000"/>
                    </a:solidFill>
                    <a:latin typeface="inter"/>
                    <a:ea typeface="inter"/>
                    <a:cs typeface="inter"/>
                  </a:rPr>
                  <a:t> tank quality.</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dirty="0">
                    <a:solidFill>
                      <a:srgbClr val="000000"/>
                    </a:solidFill>
                    <a:latin typeface="inter"/>
                    <a:ea typeface="inter"/>
                    <a:cs typeface="inter"/>
                  </a:rPr>
                  <a:t>Oscillator parameters derived from these may be unreliable.</a:t>
                </a:r>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sz="18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1118850" cy="5071709"/>
              </a:xfrm>
              <a:blipFill>
                <a:blip r:embed="rId2"/>
                <a:stretch>
                  <a:fillRect l="-1425" t="-1563"/>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264040789"/>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687050" cy="3274935"/>
              </a:xfrm>
            </p:spPr>
            <p:txBody>
              <a:bodyPr/>
              <a:lstStyle/>
              <a:p>
                <a:r>
                  <a:rPr lang="en-US" sz="2400" b="1" dirty="0">
                    <a:solidFill>
                      <a:srgbClr val="000000"/>
                    </a:solidFill>
                    <a:latin typeface="inter"/>
                    <a:ea typeface="inter"/>
                    <a:cs typeface="inter"/>
                  </a:rPr>
                  <a:t>2. Exact Frequency-Dependent Model for </a:t>
                </a:r>
                <a14:m>
                  <m:oMath xmlns:m="http://schemas.openxmlformats.org/officeDocument/2006/math">
                    <m:sSub>
                      <m:sSubPr>
                        <m:ctrlPr>
                          <a:rPr lang="en-US" sz="2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2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𝑝</m:t>
                        </m:r>
                      </m:sub>
                    </m:sSub>
                  </m:oMath>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800" dirty="0">
                    <a:solidFill>
                      <a:srgbClr val="000000"/>
                    </a:solidFill>
                    <a:latin typeface="inter"/>
                    <a:ea typeface="inter"/>
                    <a:cs typeface="inter"/>
                  </a:rPr>
                  <a:t>Equation 1.36 in the source text gives a precise expression for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800" dirty="0">
                    <a:solidFill>
                      <a:srgbClr val="000000"/>
                    </a:solidFill>
                    <a:latin typeface="inter"/>
                    <a:ea typeface="inter"/>
                    <a:cs typeface="inter"/>
                  </a:rPr>
                  <a:t> that includes frequency effects:</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𝑓</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r>
                        <m:rPr>
                          <m:nor/>
                        </m:rPr>
                        <a:rPr lang="en-US" sz="1800">
                          <a:solidFill>
                            <a:srgbClr val="000000"/>
                          </a:solidFill>
                          <a:latin typeface="Georgia" panose="02040502050405020303" pitchFamily="18" charset="0"/>
                          <a:ea typeface="Calibri" panose="020F0502020204030204" pitchFamily="34" charset="0"/>
                          <a:cs typeface="Times New Roman" panose="02020603050405020304" pitchFamily="18" charset="0"/>
                        </a:rPr>
                        <m:t>(</m:t>
                      </m:r>
                      <m:r>
                        <m:rPr>
                          <m:nor/>
                        </m:rPr>
                        <a:rPr lang="en-US" sz="1800">
                          <a:solidFill>
                            <a:srgbClr val="000000"/>
                          </a:solidFill>
                          <a:latin typeface="Georgia" panose="02040502050405020303" pitchFamily="18" charset="0"/>
                          <a:ea typeface="Calibri" panose="020F0502020204030204" pitchFamily="34" charset="0"/>
                          <a:cs typeface="Times New Roman" panose="02020603050405020304" pitchFamily="18" charset="0"/>
                        </a:rPr>
                        <m:t>exact</m:t>
                      </m:r>
                      <m:r>
                        <m:rPr>
                          <m:nor/>
                        </m:rPr>
                        <a:rPr lang="en-US" sz="18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800">
                          <a:solidFill>
                            <a:srgbClr val="000000"/>
                          </a:solidFill>
                          <a:latin typeface="Georgia" panose="02040502050405020303" pitchFamily="18" charset="0"/>
                          <a:ea typeface="Calibri" panose="020F0502020204030204" pitchFamily="34" charset="0"/>
                          <a:cs typeface="Times New Roman" panose="02020603050405020304" pitchFamily="18" charset="0"/>
                        </a:rPr>
                        <m:t>formula</m:t>
                      </m:r>
                      <m:r>
                        <m:rPr>
                          <m:nor/>
                        </m:rPr>
                        <a:rPr lang="en-US" sz="18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800">
                          <a:solidFill>
                            <a:srgbClr val="000000"/>
                          </a:solidFill>
                          <a:latin typeface="Georgia" panose="02040502050405020303" pitchFamily="18" charset="0"/>
                          <a:ea typeface="Calibri" panose="020F0502020204030204" pitchFamily="34" charset="0"/>
                          <a:cs typeface="Times New Roman" panose="02020603050405020304" pitchFamily="18" charset="0"/>
                        </a:rPr>
                        <m:t>including</m:t>
                      </m:r>
                      <m:r>
                        <m:rPr>
                          <m:nor/>
                        </m:rPr>
                        <a:rPr lang="en-US" sz="18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800">
                          <a:solidFill>
                            <a:srgbClr val="000000"/>
                          </a:solidFill>
                          <a:latin typeface="Georgia" panose="02040502050405020303" pitchFamily="18" charset="0"/>
                          <a:ea typeface="Calibri" panose="020F0502020204030204" pitchFamily="34" charset="0"/>
                          <a:cs typeface="Times New Roman" panose="02020603050405020304" pitchFamily="18" charset="0"/>
                        </a:rPr>
                        <m:t>frequency</m:t>
                      </m:r>
                      <m:r>
                        <m:rPr>
                          <m:nor/>
                        </m:rPr>
                        <a:rPr lang="en-US" sz="18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800">
                          <a:solidFill>
                            <a:srgbClr val="000000"/>
                          </a:solidFill>
                          <a:latin typeface="Georgia" panose="02040502050405020303" pitchFamily="18" charset="0"/>
                          <a:ea typeface="Calibri" panose="020F0502020204030204" pitchFamily="34" charset="0"/>
                          <a:cs typeface="Times New Roman" panose="02020603050405020304" pitchFamily="18" charset="0"/>
                        </a:rPr>
                        <m:t>dependency</m:t>
                      </m:r>
                      <m:r>
                        <m:rPr>
                          <m:nor/>
                        </m:rPr>
                        <a:rPr lang="en-US" sz="1800">
                          <a:solidFill>
                            <a:srgbClr val="000000"/>
                          </a:solidFill>
                          <a:latin typeface="Georgia" panose="02040502050405020303" pitchFamily="18" charset="0"/>
                          <a:ea typeface="Calibri" panose="020F0502020204030204" pitchFamily="34" charset="0"/>
                          <a:cs typeface="Times New Roman" panose="02020603050405020304" pitchFamily="18" charset="0"/>
                        </a:rPr>
                        <m:t>)</m:t>
                      </m:r>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800" dirty="0">
                    <a:solidFill>
                      <a:srgbClr val="000000"/>
                    </a:solidFill>
                    <a:latin typeface="inter"/>
                    <a:ea typeface="inter"/>
                    <a:cs typeface="inter"/>
                  </a:rPr>
                  <a:t>This formula captures how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800" dirty="0">
                    <a:solidFill>
                      <a:srgbClr val="000000"/>
                    </a:solidFill>
                    <a:latin typeface="inter"/>
                    <a:ea typeface="inter"/>
                    <a:cs typeface="inter"/>
                  </a:rPr>
                  <a:t> varies with frequency beyond the approximation</a:t>
                </a:r>
                <a:r>
                  <a:rPr lang="en-US" sz="1800" dirty="0" smtClean="0">
                    <a:solidFill>
                      <a:srgbClr val="000000"/>
                    </a:solidFill>
                    <a:latin typeface="inter"/>
                    <a:ea typeface="inter"/>
                    <a:cs typeface="inter"/>
                  </a:rPr>
                  <a:t>.</a:t>
                </a:r>
              </a:p>
              <a:p>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800" dirty="0">
                    <a:solidFill>
                      <a:srgbClr val="000000"/>
                    </a:solidFill>
                    <a:latin typeface="inter"/>
                    <a:ea typeface="inter"/>
                    <a:cs typeface="inter"/>
                  </a:rPr>
                  <a:t>In practical terms:</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sz="1800" dirty="0">
                    <a:solidFill>
                      <a:srgbClr val="000000"/>
                    </a:solidFill>
                    <a:latin typeface="inter"/>
                    <a:ea typeface="inter"/>
                    <a:cs typeface="inter"/>
                  </a:rPr>
                  <a:t>At higher frequencies, effective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800" dirty="0">
                    <a:solidFill>
                      <a:srgbClr val="000000"/>
                    </a:solidFill>
                    <a:latin typeface="inter"/>
                    <a:ea typeface="inter"/>
                    <a:cs typeface="inter"/>
                  </a:rPr>
                  <a:t> increases compared to low frequency, implying lower losses at resonance.</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sz="1800" dirty="0">
                    <a:solidFill>
                      <a:srgbClr val="000000"/>
                    </a:solidFill>
                    <a:latin typeface="inter"/>
                    <a:ea typeface="inter"/>
                    <a:cs typeface="inter"/>
                  </a:rPr>
                  <a:t>Accurate plotting of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800" dirty="0">
                    <a:solidFill>
                      <a:srgbClr val="000000"/>
                    </a:solidFill>
                    <a:latin typeface="inter"/>
                    <a:ea typeface="inter"/>
                    <a:cs typeface="inter"/>
                  </a:rPr>
                  <a:t> over frequency is vital for high-frequency oscillator design to predict phase noise and stability.</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endParaRPr lang="en-US" sz="18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87050" cy="3274935"/>
              </a:xfrm>
              <a:blipFill>
                <a:blip r:embed="rId2"/>
                <a:stretch>
                  <a:fillRect l="-1768" t="-2980"/>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580088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38200" y="3439786"/>
                <a:ext cx="10775949" cy="2406813"/>
              </a:xfrm>
            </p:spPr>
            <p:txBody>
              <a:bodyPr/>
              <a:lstStyle/>
              <a:p>
                <a:pPr>
                  <a:spcBef>
                    <a:spcPts val="1575"/>
                  </a:spcBef>
                  <a:spcAft>
                    <a:spcPts val="525"/>
                  </a:spcAft>
                </a:pPr>
                <a:r>
                  <a:rPr lang="en-US" b="1" dirty="0">
                    <a:solidFill>
                      <a:srgbClr val="000000"/>
                    </a:solidFill>
                    <a:latin typeface="inter"/>
                    <a:ea typeface="inter"/>
                    <a:cs typeface="inter"/>
                  </a:rPr>
                  <a:t>Example Quantifying Approximation Error</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inter"/>
                    <a:ea typeface="inter"/>
                    <a:cs typeface="inter"/>
                  </a:rPr>
                  <a:t>The document’s Example 1.9 shows: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Symbol" panose="05050102010706020507" pitchFamily="18" charset="2"/>
                  <a:buChar char=""/>
                  <a:tabLst>
                    <a:tab pos="571500" algn="l"/>
                  </a:tabLst>
                </a:pPr>
                <a:r>
                  <a:rPr lang="en-US" sz="1600" dirty="0">
                    <a:solidFill>
                      <a:srgbClr val="000000"/>
                    </a:solidFill>
                    <a:latin typeface="inter"/>
                    <a:ea typeface="inter"/>
                    <a:cs typeface="inter"/>
                  </a:rPr>
                  <a:t>When assuming a constant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value based on low frequency,</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Symbol" panose="05050102010706020507" pitchFamily="18" charset="2"/>
                  <a:buChar char=""/>
                  <a:tabLst>
                    <a:tab pos="571500" algn="l"/>
                  </a:tabLst>
                </a:pPr>
                <a:r>
                  <a:rPr lang="en-US" sz="1600" dirty="0">
                    <a:solidFill>
                      <a:srgbClr val="000000"/>
                    </a:solidFill>
                    <a:latin typeface="inter"/>
                    <a:ea typeface="inter"/>
                    <a:cs typeface="inter"/>
                  </a:rPr>
                  <a:t>At </a:t>
                </a:r>
                <a14:m>
                  <m:oMath xmlns:m="http://schemas.openxmlformats.org/officeDocument/2006/math">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5.5 </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GHz</m:t>
                    </m:r>
                  </m:oMath>
                </a14:m>
                <a:r>
                  <a:rPr lang="en-US" sz="1600" dirty="0">
                    <a:solidFill>
                      <a:srgbClr val="000000"/>
                    </a:solidFill>
                    <a:latin typeface="inter"/>
                    <a:ea typeface="inter"/>
                    <a:cs typeface="inter"/>
                  </a:rPr>
                  <a:t> the error was about 18%.</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latin typeface="inter"/>
                    <a:ea typeface="inter"/>
                    <a:cs typeface="inter"/>
                  </a:rPr>
                  <a:t>This is a substantial deviation, emphasizing that for GHz-range oscillators, frequency-dependent losses must be modeled carefully to avoid underestimating tank losses and degrading oscillator performance prediction.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sz="16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38200" y="3439786"/>
                <a:ext cx="10775949" cy="2406813"/>
              </a:xfrm>
              <a:blipFill>
                <a:blip r:embed="rId2"/>
                <a:stretch>
                  <a:fillRect l="-1471" t="-3291"/>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3"/>
          <a:stretch>
            <a:fillRect/>
          </a:stretch>
        </p:blipFill>
        <p:spPr>
          <a:xfrm>
            <a:off x="1669844" y="1400133"/>
            <a:ext cx="7988711" cy="1619333"/>
          </a:xfrm>
          <a:prstGeom prst="rect">
            <a:avLst/>
          </a:prstGeom>
        </p:spPr>
      </p:pic>
    </p:spTree>
    <p:extLst>
      <p:ext uri="{BB962C8B-B14F-4D97-AF65-F5344CB8AC3E}">
        <p14:creationId xmlns:p14="http://schemas.microsoft.com/office/powerpoint/2010/main" val="2373075280"/>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latin typeface="fkGrotesk"/>
              </a:rPr>
              <a:t>4. Visualizing </a:t>
            </a:r>
            <a:r>
              <a:rPr lang="en-US" dirty="0">
                <a:latin typeface="fkGrotesk"/>
              </a:rPr>
              <a:t>the </a:t>
            </a:r>
            <a:r>
              <a:rPr lang="en-US" dirty="0" err="1">
                <a:latin typeface="fkGrotesk"/>
              </a:rPr>
              <a:t>Losy</a:t>
            </a:r>
            <a:r>
              <a:rPr lang="en-US" dirty="0">
                <a:latin typeface="fkGrotesk"/>
              </a:rPr>
              <a:t> Parallel LC </a:t>
            </a:r>
            <a:r>
              <a:rPr lang="en-US" dirty="0" smtClean="0">
                <a:latin typeface="fkGrotesk"/>
              </a:rPr>
              <a:t>Tank</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t="5096"/>
          <a:stretch/>
        </p:blipFill>
        <p:spPr>
          <a:xfrm>
            <a:off x="2861575" y="1104899"/>
            <a:ext cx="6121715" cy="1597067"/>
          </a:xfrm>
          <a:prstGeom prst="rect">
            <a:avLst/>
          </a:prstGeom>
        </p:spPr>
      </p:pic>
      <p:sp>
        <p:nvSpPr>
          <p:cNvPr id="8" name="Rectangle 7"/>
          <p:cNvSpPr/>
          <p:nvPr/>
        </p:nvSpPr>
        <p:spPr>
          <a:xfrm>
            <a:off x="2509561" y="2794228"/>
            <a:ext cx="7204216" cy="276999"/>
          </a:xfrm>
          <a:prstGeom prst="rect">
            <a:avLst/>
          </a:prstGeom>
        </p:spPr>
        <p:txBody>
          <a:bodyPr wrap="none">
            <a:spAutoFit/>
          </a:bodyPr>
          <a:lstStyle/>
          <a:p>
            <a:r>
              <a:rPr lang="en-US" sz="1200" b="1" i="0" u="none" strike="noStrike" baseline="0" dirty="0" smtClean="0">
                <a:solidFill>
                  <a:srgbClr val="FF0000"/>
                </a:solidFill>
                <a:latin typeface="T3Font_236"/>
              </a:rPr>
              <a:t>Figure 1.17 </a:t>
            </a:r>
            <a:r>
              <a:rPr lang="en-US" sz="1200" b="1" i="0" u="none" strike="noStrike" baseline="0" dirty="0" smtClean="0">
                <a:solidFill>
                  <a:srgbClr val="FF0000"/>
                </a:solidFill>
                <a:latin typeface="T3Font_237"/>
              </a:rPr>
              <a:t>(a) Parallel </a:t>
            </a:r>
            <a:r>
              <a:rPr lang="en-US" sz="1200" b="1" i="0" u="none" strike="noStrike" baseline="0" dirty="0" err="1" smtClean="0">
                <a:solidFill>
                  <a:srgbClr val="FF0000"/>
                </a:solidFill>
                <a:latin typeface="T3Font_237"/>
              </a:rPr>
              <a:t>lossy</a:t>
            </a:r>
            <a:r>
              <a:rPr lang="en-US" sz="1200" b="1" i="0" u="none" strike="noStrike" baseline="0" dirty="0" smtClean="0">
                <a:solidFill>
                  <a:srgbClr val="FF0000"/>
                </a:solidFill>
                <a:latin typeface="T3Font_237"/>
              </a:rPr>
              <a:t> LC tank, (b) magnitude of impedance, and (c) phase of impedance .</a:t>
            </a:r>
            <a:endParaRPr lang="en-US" sz="3600" b="1" dirty="0">
              <a:solidFill>
                <a:srgbClr val="FF0000"/>
              </a:solidFill>
            </a:endParaRPr>
          </a:p>
        </p:txBody>
      </p:sp>
      <p:sp>
        <p:nvSpPr>
          <p:cNvPr id="9" name="Rectangle 8"/>
          <p:cNvSpPr/>
          <p:nvPr/>
        </p:nvSpPr>
        <p:spPr>
          <a:xfrm>
            <a:off x="120650" y="3287981"/>
            <a:ext cx="3327400" cy="2246769"/>
          </a:xfrm>
          <a:prstGeom prst="rect">
            <a:avLst/>
          </a:prstGeom>
        </p:spPr>
        <p:txBody>
          <a:bodyPr wrap="square">
            <a:spAutoFit/>
          </a:bodyPr>
          <a:lstStyle/>
          <a:p>
            <a:pPr lvl="0" algn="just"/>
            <a:r>
              <a:rPr lang="en-US" sz="2000" kern="0" dirty="0">
                <a:solidFill>
                  <a:prstClr val="black"/>
                </a:solidFill>
                <a:latin typeface="fkGroteskNeue"/>
              </a:rPr>
              <a:t>(a) Circuit: Shows realistic tank with </a:t>
            </a:r>
            <a:r>
              <a:rPr lang="en-US" sz="2000" i="1" kern="0" dirty="0">
                <a:solidFill>
                  <a:prstClr val="black"/>
                </a:solidFill>
                <a:latin typeface="KaTeX_Math"/>
              </a:rPr>
              <a:t>L</a:t>
            </a:r>
            <a:r>
              <a:rPr lang="en-US" sz="2000" kern="0" baseline="-25000" dirty="0">
                <a:solidFill>
                  <a:prstClr val="black"/>
                </a:solidFill>
                <a:latin typeface="KaTeX_Main"/>
              </a:rPr>
              <a:t>1</a:t>
            </a:r>
            <a:r>
              <a:rPr lang="en-US" sz="2000" kern="0" dirty="0">
                <a:solidFill>
                  <a:prstClr val="black"/>
                </a:solidFill>
                <a:latin typeface="fkGroteskNeue"/>
              </a:rPr>
              <a:t>, </a:t>
            </a:r>
            <a:r>
              <a:rPr lang="en-US" sz="2000" i="1" kern="0" dirty="0">
                <a:solidFill>
                  <a:prstClr val="black"/>
                </a:solidFill>
                <a:latin typeface="KaTeX_Math"/>
              </a:rPr>
              <a:t>C</a:t>
            </a:r>
            <a:r>
              <a:rPr lang="en-US" sz="2000" kern="0" baseline="-25000" dirty="0">
                <a:solidFill>
                  <a:prstClr val="black"/>
                </a:solidFill>
                <a:latin typeface="KaTeX_Main"/>
              </a:rPr>
              <a:t>1</a:t>
            </a:r>
            <a:r>
              <a:rPr lang="en-US" sz="2000" kern="0" dirty="0">
                <a:solidFill>
                  <a:prstClr val="black"/>
                </a:solidFill>
                <a:latin typeface="fkGroteskNeue"/>
              </a:rPr>
              <a:t>, and parallel equivalent loss resistance </a:t>
            </a:r>
            <a:r>
              <a:rPr lang="en-US" sz="2000" i="1" kern="0" dirty="0" err="1">
                <a:solidFill>
                  <a:prstClr val="black"/>
                </a:solidFill>
                <a:latin typeface="KaTeX_Math"/>
              </a:rPr>
              <a:t>R</a:t>
            </a:r>
            <a:r>
              <a:rPr lang="en-US" sz="2000" i="1" kern="0" baseline="-25000" dirty="0" err="1">
                <a:solidFill>
                  <a:prstClr val="black"/>
                </a:solidFill>
                <a:latin typeface="KaTeX_Math"/>
              </a:rPr>
              <a:t>p</a:t>
            </a:r>
            <a:r>
              <a:rPr lang="en-US" sz="2000" kern="0" dirty="0">
                <a:solidFill>
                  <a:prstClr val="black"/>
                </a:solidFill>
                <a:latin typeface="fkGroteskNeue"/>
              </a:rPr>
              <a:t> representing inductor series loss transformed into parallel form.</a:t>
            </a:r>
            <a:endParaRPr lang="en-US" sz="2000" kern="0" dirty="0">
              <a:solidFill>
                <a:prstClr val="black"/>
              </a:solidFill>
              <a:latin typeface="fkGroteskNeue"/>
            </a:endParaRPr>
          </a:p>
        </p:txBody>
      </p:sp>
      <p:sp>
        <p:nvSpPr>
          <p:cNvPr id="10" name="Rectangle 9"/>
          <p:cNvSpPr/>
          <p:nvPr/>
        </p:nvSpPr>
        <p:spPr>
          <a:xfrm>
            <a:off x="3905250" y="3249881"/>
            <a:ext cx="3784600" cy="2246769"/>
          </a:xfrm>
          <a:prstGeom prst="rect">
            <a:avLst/>
          </a:prstGeom>
        </p:spPr>
        <p:txBody>
          <a:bodyPr wrap="square">
            <a:spAutoFit/>
          </a:bodyPr>
          <a:lstStyle/>
          <a:p>
            <a:pPr lvl="0" algn="just"/>
            <a:r>
              <a:rPr lang="en-US" sz="2000" kern="0" dirty="0">
                <a:solidFill>
                  <a:prstClr val="black"/>
                </a:solidFill>
                <a:latin typeface="fkGroteskNeue"/>
              </a:rPr>
              <a:t>(b) Magnitude plot: Impedance magnitude peaks sharply at resonance with finite </a:t>
            </a:r>
            <a:r>
              <a:rPr lang="en-US" sz="2000" i="1" kern="0" dirty="0" err="1">
                <a:solidFill>
                  <a:prstClr val="black"/>
                </a:solidFill>
                <a:latin typeface="KaTeX_Math"/>
              </a:rPr>
              <a:t>R</a:t>
            </a:r>
            <a:r>
              <a:rPr lang="en-US" sz="2000" i="1" kern="0" baseline="-25000" dirty="0" err="1">
                <a:solidFill>
                  <a:prstClr val="black"/>
                </a:solidFill>
                <a:latin typeface="KaTeX_Math"/>
              </a:rPr>
              <a:t>p</a:t>
            </a:r>
            <a:r>
              <a:rPr lang="en-US" sz="2000" kern="0" dirty="0">
                <a:solidFill>
                  <a:prstClr val="black"/>
                </a:solidFill>
                <a:latin typeface="fkGroteskNeue"/>
              </a:rPr>
              <a:t>. The peak height relates to tank quality; a finite </a:t>
            </a:r>
            <a:r>
              <a:rPr lang="en-US" sz="2000" i="1" kern="0" dirty="0" err="1">
                <a:solidFill>
                  <a:prstClr val="black"/>
                </a:solidFill>
                <a:latin typeface="KaTeX_Math"/>
              </a:rPr>
              <a:t>R</a:t>
            </a:r>
            <a:r>
              <a:rPr lang="en-US" sz="2000" i="1" kern="0" baseline="-25000" dirty="0" err="1">
                <a:solidFill>
                  <a:prstClr val="black"/>
                </a:solidFill>
                <a:latin typeface="KaTeX_Math"/>
              </a:rPr>
              <a:t>p</a:t>
            </a:r>
            <a:r>
              <a:rPr lang="en-US" sz="2000" kern="0" dirty="0">
                <a:solidFill>
                  <a:prstClr val="black"/>
                </a:solidFill>
                <a:latin typeface="fkGroteskNeue"/>
              </a:rPr>
              <a:t> lowers and broadens the peak compared to ideal tank.</a:t>
            </a:r>
            <a:endParaRPr lang="en-US" sz="2000" kern="0" dirty="0">
              <a:solidFill>
                <a:prstClr val="black"/>
              </a:solidFill>
              <a:latin typeface="fkGroteskNeue"/>
            </a:endParaRPr>
          </a:p>
        </p:txBody>
      </p:sp>
      <p:sp>
        <p:nvSpPr>
          <p:cNvPr id="11" name="Rectangle 10"/>
          <p:cNvSpPr/>
          <p:nvPr/>
        </p:nvSpPr>
        <p:spPr>
          <a:xfrm>
            <a:off x="7988300" y="3342154"/>
            <a:ext cx="4203700" cy="2862322"/>
          </a:xfrm>
          <a:prstGeom prst="rect">
            <a:avLst/>
          </a:prstGeom>
        </p:spPr>
        <p:txBody>
          <a:bodyPr wrap="square">
            <a:spAutoFit/>
          </a:bodyPr>
          <a:lstStyle/>
          <a:p>
            <a:pPr lvl="0" algn="just"/>
            <a:r>
              <a:rPr lang="en-US" sz="2000" kern="0" dirty="0">
                <a:solidFill>
                  <a:prstClr val="black"/>
                </a:solidFill>
                <a:latin typeface="fkGroteskNeue"/>
              </a:rPr>
              <a:t>(c) Phase plot: Exhibits phase angle moving from +90° (inductive dominance at low frequency) through 0° at resonance to –90° (capacitive dominance at high frequency). The sharpness of the phase transition reflects the losses; lower losses create sharper phase transitions.</a:t>
            </a:r>
            <a:endParaRPr lang="en-US" sz="2000" kern="0" dirty="0">
              <a:solidFill>
                <a:prstClr val="black"/>
              </a:solidFill>
              <a:latin typeface="fkGroteskNeue"/>
            </a:endParaRPr>
          </a:p>
        </p:txBody>
      </p:sp>
    </p:spTree>
    <p:extLst>
      <p:ext uri="{BB962C8B-B14F-4D97-AF65-F5344CB8AC3E}">
        <p14:creationId xmlns:p14="http://schemas.microsoft.com/office/powerpoint/2010/main" val="1926452953"/>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Summary for </a:t>
            </a:r>
            <a:r>
              <a:rPr lang="en-US" dirty="0" smtClean="0">
                <a:latin typeface="fkGrotesk"/>
              </a:rPr>
              <a:t>Teaching</a:t>
            </a:r>
            <a:endParaRPr lang="en-US" dirty="0"/>
          </a:p>
        </p:txBody>
      </p:sp>
      <p:sp>
        <p:nvSpPr>
          <p:cNvPr id="3" name="Text Placeholder 2"/>
          <p:cNvSpPr>
            <a:spLocks noGrp="1"/>
          </p:cNvSpPr>
          <p:nvPr>
            <p:ph type="body" idx="1"/>
          </p:nvPr>
        </p:nvSpPr>
        <p:spPr>
          <a:xfrm>
            <a:off x="844550" y="1327353"/>
            <a:ext cx="10433050" cy="3385542"/>
          </a:xfrm>
        </p:spPr>
        <p:txBody>
          <a:bodyPr/>
          <a:lstStyle/>
          <a:p>
            <a:pPr marL="342900" indent="-342900" algn="just">
              <a:buFont typeface="Wingdings" panose="05000000000000000000" pitchFamily="2" charset="2"/>
              <a:buChar char="q"/>
            </a:pPr>
            <a:r>
              <a:rPr lang="en-US" dirty="0" smtClean="0">
                <a:latin typeface="fkGroteskNeue"/>
              </a:rPr>
              <a:t>Approximate </a:t>
            </a:r>
            <a:r>
              <a:rPr lang="en-US" dirty="0">
                <a:latin typeface="fkGroteskNeue"/>
              </a:rPr>
              <a:t>tank loss models are useful but can significantly err at low frequencies or where </a:t>
            </a:r>
            <a:r>
              <a:rPr lang="en-US" i="1" dirty="0" smtClean="0">
                <a:latin typeface="KaTeX_Math"/>
              </a:rPr>
              <a:t>RS</a:t>
            </a:r>
            <a:r>
              <a:rPr lang="en-US" dirty="0">
                <a:latin typeface="fkGroteskNeue"/>
              </a:rPr>
              <a:t> and </a:t>
            </a:r>
            <a:r>
              <a:rPr lang="en-US" i="1" dirty="0" smtClean="0">
                <a:latin typeface="KaTeX_Math"/>
              </a:rPr>
              <a:t>ω</a:t>
            </a:r>
            <a:r>
              <a:rPr lang="en-US" dirty="0">
                <a:latin typeface="fkGroteskNeue"/>
              </a:rPr>
              <a:t> interplay.</a:t>
            </a:r>
          </a:p>
          <a:p>
            <a:pPr marL="342900" indent="-342900" algn="just">
              <a:buFont typeface="Wingdings" panose="05000000000000000000" pitchFamily="2" charset="2"/>
              <a:buChar char="q"/>
            </a:pPr>
            <a:r>
              <a:rPr lang="en-US" dirty="0">
                <a:latin typeface="fkGroteskNeue"/>
              </a:rPr>
              <a:t>Exact frequency-dependent expressions for </a:t>
            </a:r>
            <a:r>
              <a:rPr lang="en-US" i="1" dirty="0" err="1" smtClean="0">
                <a:latin typeface="KaTeX_Math"/>
              </a:rPr>
              <a:t>Rp</a:t>
            </a:r>
            <a:r>
              <a:rPr lang="en-US" dirty="0">
                <a:latin typeface="fkGroteskNeue"/>
              </a:rPr>
              <a:t> improve oscillator loss and Q-factor predictions, crucial at GHz frequencies.</a:t>
            </a:r>
          </a:p>
          <a:p>
            <a:pPr marL="342900" indent="-342900" algn="just">
              <a:buFont typeface="Wingdings" panose="05000000000000000000" pitchFamily="2" charset="2"/>
              <a:buChar char="q"/>
            </a:pPr>
            <a:r>
              <a:rPr lang="en-US" dirty="0">
                <a:latin typeface="fkGroteskNeue"/>
              </a:rPr>
              <a:t>Graphical plots (Fig 1.17) clearly show how losses affect impedance magnitude and phase, aiding intuitive understanding</a:t>
            </a:r>
            <a:r>
              <a:rPr lang="en-US" dirty="0" smtClean="0">
                <a:latin typeface="fkGroteskNeue"/>
              </a:rPr>
              <a:t>.</a:t>
            </a:r>
          </a:p>
          <a:p>
            <a:pPr marL="342900" indent="-342900" algn="just">
              <a:buFont typeface="Wingdings" panose="05000000000000000000" pitchFamily="2" charset="2"/>
              <a:buChar char="q"/>
            </a:pPr>
            <a:endParaRPr lang="en-US" dirty="0">
              <a:latin typeface="fkGroteskNeue"/>
            </a:endParaRPr>
          </a:p>
          <a:p>
            <a:pPr algn="just"/>
            <a:r>
              <a:rPr lang="en-US" dirty="0">
                <a:latin typeface="fkGroteskNeue"/>
              </a:rPr>
              <a:t>Conceptual takeaway: Frequency-dependent losses affect oscillator purity, jitter, and sustainable oscillation amplitude — crucial for high-performance PLL design. Modeling these precisely enables better design trade-offs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706533905"/>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775950" cy="5027658"/>
              </a:xfrm>
            </p:spPr>
            <p:txBody>
              <a:bodyPr/>
              <a:lstStyle/>
              <a:p>
                <a:pPr>
                  <a:spcBef>
                    <a:spcPts val="1575"/>
                  </a:spcBef>
                  <a:spcAft>
                    <a:spcPts val="525"/>
                  </a:spcAft>
                </a:pPr>
                <a:r>
                  <a:rPr lang="en-US" b="1" dirty="0">
                    <a:solidFill>
                      <a:srgbClr val="000000"/>
                    </a:solidFill>
                    <a:latin typeface="inter"/>
                    <a:ea typeface="inter"/>
                    <a:cs typeface="inter"/>
                  </a:rPr>
                  <a:t>Example Calculation: Frequency-Dependent </a:t>
                </a:r>
                <a14:m>
                  <m:oMath xmlns:m="http://schemas.openxmlformats.org/officeDocument/2006/math">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b="1" dirty="0">
                    <a:solidFill>
                      <a:srgbClr val="000000"/>
                    </a:solidFill>
                    <a:effectLst/>
                    <a:latin typeface="inter"/>
                    <a:ea typeface="inter"/>
                    <a:cs typeface="inter"/>
                  </a:rPr>
                  <a:t> of a </a:t>
                </a:r>
                <a:r>
                  <a:rPr lang="en-US" b="1" dirty="0" err="1">
                    <a:solidFill>
                      <a:srgbClr val="000000"/>
                    </a:solidFill>
                    <a:effectLst/>
                    <a:latin typeface="inter"/>
                    <a:ea typeface="inter"/>
                    <a:cs typeface="inter"/>
                  </a:rPr>
                  <a:t>Lossy</a:t>
                </a:r>
                <a:r>
                  <a:rPr lang="en-US" b="1" dirty="0">
                    <a:solidFill>
                      <a:srgbClr val="000000"/>
                    </a:solidFill>
                    <a:effectLst/>
                    <a:latin typeface="inter"/>
                    <a:ea typeface="inter"/>
                    <a:cs typeface="inter"/>
                  </a:rPr>
                  <a:t> Inductor Tank</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b="1" dirty="0">
                    <a:solidFill>
                      <a:srgbClr val="000000"/>
                    </a:solidFill>
                    <a:latin typeface="inter"/>
                    <a:ea typeface="inter"/>
                    <a:cs typeface="inter"/>
                  </a:rPr>
                  <a:t>Given: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spcBef>
                    <a:spcPts val="525"/>
                  </a:spcBef>
                  <a:spcAft>
                    <a:spcPts val="525"/>
                  </a:spcAft>
                  <a:buFont typeface="Wingdings" panose="05000000000000000000" pitchFamily="2" charset="2"/>
                  <a:buChar char="q"/>
                  <a:tabLst>
                    <a:tab pos="571500" algn="l"/>
                  </a:tabLst>
                </a:pPr>
                <a:r>
                  <a:rPr lang="en-US" sz="1600" dirty="0">
                    <a:solidFill>
                      <a:srgbClr val="000000"/>
                    </a:solidFill>
                    <a:latin typeface="inter"/>
                    <a:ea typeface="inter"/>
                    <a:cs typeface="inter"/>
                  </a:rPr>
                  <a:t>Inductance: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=5 </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nH</m:t>
                    </m:r>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spcBef>
                    <a:spcPts val="525"/>
                  </a:spcBef>
                  <a:spcAft>
                    <a:spcPts val="525"/>
                  </a:spcAft>
                  <a:buFont typeface="Wingdings" panose="05000000000000000000" pitchFamily="2" charset="2"/>
                  <a:buChar char="q"/>
                  <a:tabLst>
                    <a:tab pos="571500" algn="l"/>
                  </a:tabLst>
                </a:pPr>
                <a:r>
                  <a:rPr lang="en-US" sz="1600" dirty="0">
                    <a:solidFill>
                      <a:srgbClr val="000000"/>
                    </a:solidFill>
                    <a:latin typeface="inter"/>
                    <a:ea typeface="inter"/>
                    <a:cs typeface="inter"/>
                  </a:rPr>
                  <a:t>Series resistance: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=20 </m:t>
                    </m:r>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Ω</m:t>
                    </m:r>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spcBef>
                    <a:spcPts val="525"/>
                  </a:spcBef>
                  <a:spcAft>
                    <a:spcPts val="525"/>
                  </a:spcAft>
                  <a:buFont typeface="Wingdings" panose="05000000000000000000" pitchFamily="2" charset="2"/>
                  <a:buChar char="q"/>
                  <a:tabLst>
                    <a:tab pos="571500" algn="l"/>
                  </a:tabLst>
                </a:pPr>
                <a:r>
                  <a:rPr lang="en-US" sz="1600" dirty="0">
                    <a:solidFill>
                      <a:srgbClr val="000000"/>
                    </a:solidFill>
                    <a:latin typeface="inter"/>
                    <a:ea typeface="inter"/>
                    <a:cs typeface="inter"/>
                  </a:rPr>
                  <a:t>Resonance is near </a:t>
                </a:r>
                <a14:m>
                  <m:oMath xmlns:m="http://schemas.openxmlformats.org/officeDocument/2006/math">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5 </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GHz</m:t>
                    </m:r>
                  </m:oMath>
                </a14:m>
                <a:r>
                  <a:rPr lang="en-US" sz="1600" dirty="0">
                    <a:solidFill>
                      <a:srgbClr val="000000"/>
                    </a:solidFill>
                    <a:latin typeface="inter"/>
                    <a:ea typeface="inter"/>
                    <a:cs typeface="inter"/>
                  </a:rPr>
                  <a:t> (angular frequency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×5×</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10</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9</m:t>
                        </m:r>
                      </m:sup>
                    </m:sSup>
                  </m:oMath>
                </a14:m>
                <a:r>
                  <a:rPr lang="en-US" sz="1600" dirty="0" smtClean="0">
                    <a:solidFill>
                      <a:srgbClr val="000000"/>
                    </a:solidFill>
                    <a:latin typeface="inter"/>
                    <a:ea typeface="inter"/>
                    <a:cs typeface="inter"/>
                  </a:rPr>
                  <a:t>)</a:t>
                </a:r>
              </a:p>
              <a:p>
                <a:pPr>
                  <a:spcBef>
                    <a:spcPts val="1575"/>
                  </a:spcBef>
                  <a:spcAft>
                    <a:spcPts val="525"/>
                  </a:spcAft>
                </a:pPr>
                <a:r>
                  <a:rPr lang="en-US" sz="1600" b="1" dirty="0">
                    <a:solidFill>
                      <a:srgbClr val="000000"/>
                    </a:solidFill>
                    <a:latin typeface="inter"/>
                    <a:ea typeface="inter"/>
                    <a:cs typeface="inter"/>
                  </a:rPr>
                  <a:t>Step 1: Calculate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b="1" dirty="0">
                    <a:solidFill>
                      <a:srgbClr val="000000"/>
                    </a:solidFill>
                    <a:latin typeface="inter"/>
                    <a:ea typeface="inter"/>
                    <a:cs typeface="inter"/>
                  </a:rPr>
                  <a:t> using the approximate low-frequency formula</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𝑝</m:t>
                          </m:r>
                        </m:sub>
                      </m:s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sSubSup>
                            <m:sSubSup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e>
                            <m: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sSubSup>
                            <m:sSubSup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up>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num>
                        <m:den>
                          <m:sSub>
                            <m:sSub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𝑆</m:t>
                              </m:r>
                            </m:sub>
                          </m:sSub>
                        </m:den>
                      </m:f>
                    </m:oMath>
                  </m:oMathPara>
                </a14:m>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200" dirty="0">
                    <a:solidFill>
                      <a:srgbClr val="000000"/>
                    </a:solidFill>
                    <a:effectLst/>
                    <a:latin typeface="inter"/>
                    <a:ea typeface="inter"/>
                    <a:cs typeface="inter"/>
                  </a:rPr>
                  <a:t>Calculate:</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Symbol" panose="05050102010706020507" pitchFamily="18" charset="2"/>
                  <a:buChar char=""/>
                  <a:tabLst>
                    <a:tab pos="571500" algn="l"/>
                  </a:tabLst>
                </a:pPr>
                <a14:m>
                  <m:oMath xmlns:m="http://schemas.openxmlformats.org/officeDocument/2006/math">
                    <m:sSubSup>
                      <m:sSubSup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e>
                      <m: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=(5×</m:t>
                    </m:r>
                    <m:sSup>
                      <m:sSup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m:t>
                        </m:r>
                      </m:e>
                      <m:sup>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9</m:t>
                        </m:r>
                      </m:sup>
                    </m:sSup>
                    <m:sSup>
                      <m:sSup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e>
                      <m:sup>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=25×</m:t>
                    </m:r>
                    <m:sSup>
                      <m:sSup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m:t>
                        </m:r>
                      </m:e>
                      <m:sup>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18</m:t>
                        </m:r>
                      </m:sup>
                    </m:sSup>
                  </m:oMath>
                </a14:m>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Symbol" panose="05050102010706020507" pitchFamily="18" charset="2"/>
                  <a:buChar char=""/>
                  <a:tabLst>
                    <a:tab pos="571500" algn="l"/>
                  </a:tabLst>
                </a:pPr>
                <a14:m>
                  <m:oMath xmlns:m="http://schemas.openxmlformats.org/officeDocument/2006/math">
                    <m:sSubSup>
                      <m:sSubSup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up>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𝜋</m:t>
                    </m:r>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×5×</m:t>
                    </m:r>
                    <m:sSup>
                      <m:sSup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m:t>
                        </m:r>
                      </m:e>
                      <m:sup>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9</m:t>
                        </m:r>
                      </m:sup>
                    </m:sSup>
                    <m:sSup>
                      <m:sSup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e>
                      <m:sup>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≈(3.14×</m:t>
                    </m:r>
                    <m:sSup>
                      <m:sSup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m:t>
                        </m:r>
                      </m:e>
                      <m:sup>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m:t>
                        </m:r>
                      </m:sup>
                    </m:sSup>
                    <m:sSup>
                      <m:sSup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e>
                      <m:sup>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=9.87×</m:t>
                    </m:r>
                    <m:sSup>
                      <m:sSup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m:t>
                        </m:r>
                      </m:e>
                      <m:sup>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20</m:t>
                        </m:r>
                      </m:sup>
                    </m:sSup>
                  </m:oMath>
                </a14:m>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200" dirty="0">
                    <a:solidFill>
                      <a:srgbClr val="000000"/>
                    </a:solidFill>
                    <a:effectLst/>
                    <a:latin typeface="inter"/>
                    <a:ea typeface="inter"/>
                    <a:cs typeface="inter"/>
                  </a:rPr>
                  <a:t>So,</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𝑝</m:t>
                          </m:r>
                        </m:sub>
                      </m:s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25×</m:t>
                          </m:r>
                          <m:sSup>
                            <m:sSup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m:t>
                              </m:r>
                            </m:e>
                            <m:sup>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18</m:t>
                              </m:r>
                            </m:sup>
                          </m:sSup>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×9.87×</m:t>
                          </m:r>
                          <m:sSup>
                            <m:sSup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m:t>
                              </m:r>
                            </m:e>
                            <m:sup>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20</m:t>
                              </m:r>
                            </m:sup>
                          </m:sSup>
                        </m:num>
                        <m:den>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20</m:t>
                          </m:r>
                        </m:den>
                      </m:f>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2467.5</m:t>
                          </m:r>
                        </m:num>
                        <m:den>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20</m:t>
                          </m:r>
                        </m:den>
                      </m:f>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=123.375 </m:t>
                      </m:r>
                      <m:r>
                        <m:rPr>
                          <m:sty m:val="p"/>
                        </m:rP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Ω</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sz="160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775950" cy="5027658"/>
              </a:xfrm>
              <a:blipFill>
                <a:blip r:embed="rId2"/>
                <a:stretch>
                  <a:fillRect l="-1471" t="-1578"/>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4046095722"/>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528300" cy="5114092"/>
              </a:xfrm>
            </p:spPr>
            <p:txBody>
              <a:bodyPr/>
              <a:lstStyle/>
              <a:p>
                <a:pPr>
                  <a:spcBef>
                    <a:spcPts val="1575"/>
                  </a:spcBef>
                  <a:spcAft>
                    <a:spcPts val="525"/>
                  </a:spcAft>
                </a:pPr>
                <a:r>
                  <a:rPr lang="en-US" sz="1800" b="1" dirty="0">
                    <a:solidFill>
                      <a:srgbClr val="000000"/>
                    </a:solidFill>
                    <a:latin typeface="inter"/>
                    <a:ea typeface="inter"/>
                    <a:cs typeface="inter"/>
                  </a:rPr>
                  <a:t>Step 2: Calculate exact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800" b="1" dirty="0">
                    <a:solidFill>
                      <a:srgbClr val="000000"/>
                    </a:solidFill>
                    <a:latin typeface="inter"/>
                    <a:ea typeface="inter"/>
                    <a:cs typeface="inter"/>
                  </a:rPr>
                  <a:t> accounting frequency </a:t>
                </a:r>
                <a:r>
                  <a:rPr lang="en-US" sz="1800" b="1" dirty="0" smtClean="0">
                    <a:solidFill>
                      <a:srgbClr val="000000"/>
                    </a:solidFill>
                    <a:latin typeface="inter"/>
                    <a:ea typeface="inter"/>
                    <a:cs typeface="inter"/>
                  </a:rPr>
                  <a:t>dependence:</a:t>
                </a:r>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𝑆</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sSubSup>
                            <m:sSubSup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ub>
                            <m: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sSubSup>
                            <m:sSubSup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sub>
                            <m:sup>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num>
                        <m:den>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𝑆</m:t>
                              </m:r>
                            </m:sub>
                          </m:sSub>
                        </m:den>
                      </m:f>
                    </m:oMath>
                  </m:oMathPara>
                </a14:m>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effectLst/>
                    <a:latin typeface="inter"/>
                    <a:ea typeface="inter"/>
                    <a:cs typeface="inter"/>
                  </a:rPr>
                  <a:t>Here,</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=20+123.375=143.375 </m:t>
                      </m:r>
                      <m:r>
                        <m:rPr>
                          <m:sty m:val="p"/>
                        </m:rP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Ω</m:t>
                      </m:r>
                    </m:oMath>
                  </m:oMathPara>
                </a14:m>
                <a:endParaRPr lang="en-US" sz="1600" dirty="0" smtClean="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endParaRPr lang="en-US" sz="1600" dirty="0" smtClean="0">
                  <a:effectLst/>
                  <a:latin typeface="Georgia" panose="02040502050405020303" pitchFamily="18" charset="0"/>
                  <a:ea typeface="Calibri" panose="020F0502020204030204" pitchFamily="34" charset="0"/>
                  <a:cs typeface="Times New Roman" panose="02020603050405020304" pitchFamily="18" charset="0"/>
                </a:endParaRPr>
              </a:p>
              <a:p>
                <a:pPr>
                  <a:spcBef>
                    <a:spcPts val="1575"/>
                  </a:spcBef>
                  <a:spcAft>
                    <a:spcPts val="525"/>
                  </a:spcAft>
                </a:pPr>
                <a:r>
                  <a:rPr lang="en-US" sz="1800" b="1" dirty="0">
                    <a:solidFill>
                      <a:srgbClr val="000000"/>
                    </a:solidFill>
                    <a:latin typeface="inter"/>
                    <a:ea typeface="inter"/>
                    <a:cs typeface="inter"/>
                  </a:rPr>
                  <a:t>Step 3: Evaluate approximation error</a:t>
                </a:r>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effectLst/>
                    <a:latin typeface="inter"/>
                    <a:ea typeface="inter"/>
                    <a:cs typeface="inter"/>
                  </a:rPr>
                  <a:t>Using approximate </a:t>
                </a:r>
                <a14:m>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𝑝</m:t>
                        </m:r>
                      </m:sub>
                    </m:sSub>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=123.375 </m:t>
                    </m:r>
                    <m:r>
                      <m:rPr>
                        <m:sty m:val="p"/>
                      </m:rP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Ω</m:t>
                    </m:r>
                  </m:oMath>
                </a14:m>
                <a:r>
                  <a:rPr lang="en-US" sz="1600" dirty="0">
                    <a:solidFill>
                      <a:srgbClr val="000000"/>
                    </a:solidFill>
                    <a:effectLst/>
                    <a:latin typeface="inter"/>
                    <a:ea typeface="inter"/>
                    <a:cs typeface="inter"/>
                  </a:rPr>
                  <a:t>, the error relative to exact is:</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14:m>
                  <m:oMathPara xmlns:m="http://schemas.openxmlformats.org/officeDocument/2006/math">
                    <m:oMathParaPr>
                      <m:jc m:val="centerGroup"/>
                    </m:oMathParaPr>
                    <m:oMath xmlns:m="http://schemas.openxmlformats.org/officeDocument/2006/math">
                      <m:f>
                        <m:f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|143.375</m:t>
                          </m:r>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123.375|</m:t>
                          </m:r>
                        </m:num>
                        <m:den>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143.375</m:t>
                          </m:r>
                        </m:den>
                      </m:f>
                      <m:r>
                        <a:rPr lang="en-US" sz="16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×100%≈14%</m:t>
                      </m:r>
                    </m:oMath>
                  </m:oMathPara>
                </a14:m>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dirty="0">
                    <a:solidFill>
                      <a:srgbClr val="000000"/>
                    </a:solidFill>
                    <a:effectLst/>
                    <a:latin typeface="inter"/>
                    <a:ea typeface="inter"/>
                    <a:cs typeface="inter"/>
                  </a:rPr>
                  <a:t>This illustrates that ignoring the </a:t>
                </a:r>
                <a14:m>
                  <m:oMath xmlns:m="http://schemas.openxmlformats.org/officeDocument/2006/math">
                    <m:sSub>
                      <m:sSubPr>
                        <m:ctrlP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𝑆</m:t>
                        </m:r>
                      </m:sub>
                    </m:sSub>
                  </m:oMath>
                </a14:m>
                <a:r>
                  <a:rPr lang="en-US" sz="1600" dirty="0">
                    <a:solidFill>
                      <a:srgbClr val="000000"/>
                    </a:solidFill>
                    <a:effectLst/>
                    <a:latin typeface="inter"/>
                    <a:ea typeface="inter"/>
                    <a:cs typeface="inter"/>
                  </a:rPr>
                  <a:t> term induces a sizeable underestimate in parallel loss resistance, which can mislead the designer about achievable tank Q-factor and oscillator performance at high frequency.</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528300" cy="5114092"/>
              </a:xfrm>
              <a:blipFill>
                <a:blip r:embed="rId2"/>
                <a:stretch>
                  <a:fillRect l="-1390" t="-1549"/>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40542121"/>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Visual Aid </a:t>
            </a:r>
            <a:r>
              <a:rPr lang="en-US" dirty="0" smtClean="0">
                <a:latin typeface="fkGrotesk"/>
              </a:rPr>
              <a:t>Explanation</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mc:Choice xmlns:a14="http://schemas.microsoft.com/office/drawing/2010/main" Requires="a14">
          <p:sp>
            <p:nvSpPr>
              <p:cNvPr id="7" name="Text Placeholder 6"/>
              <p:cNvSpPr>
                <a:spLocks noGrp="1"/>
              </p:cNvSpPr>
              <p:nvPr>
                <p:ph type="body" idx="1"/>
              </p:nvPr>
            </p:nvSpPr>
            <p:spPr>
              <a:xfrm>
                <a:off x="869950" y="1200353"/>
                <a:ext cx="10496550" cy="2404313"/>
              </a:xfrm>
            </p:spPr>
            <p:txBody>
              <a:bodyPr/>
              <a:lstStyle/>
              <a:p>
                <a:r>
                  <a:rPr lang="en-US" b="1" dirty="0">
                    <a:solidFill>
                      <a:srgbClr val="000000"/>
                    </a:solidFill>
                    <a:latin typeface="inter"/>
                    <a:ea typeface="inter"/>
                    <a:cs typeface="inter"/>
                  </a:rPr>
                  <a:t>(a) Parallel </a:t>
                </a:r>
                <a:r>
                  <a:rPr lang="en-US" b="1" dirty="0" err="1">
                    <a:solidFill>
                      <a:srgbClr val="000000"/>
                    </a:solidFill>
                    <a:latin typeface="inter"/>
                    <a:ea typeface="inter"/>
                    <a:cs typeface="inter"/>
                  </a:rPr>
                  <a:t>lossy</a:t>
                </a:r>
                <a:r>
                  <a:rPr lang="en-US" b="1" dirty="0">
                    <a:solidFill>
                      <a:srgbClr val="000000"/>
                    </a:solidFill>
                    <a:latin typeface="inter"/>
                    <a:ea typeface="inter"/>
                    <a:cs typeface="inter"/>
                  </a:rPr>
                  <a:t> LC tank with </a:t>
                </a:r>
                <a14:m>
                  <m:oMath xmlns:m="http://schemas.openxmlformats.org/officeDocument/2006/math">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ub>
                    </m:sSub>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ub>
                    </m:sSub>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𝑝</m:t>
                        </m:r>
                      </m:sub>
                    </m:sSub>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600" dirty="0">
                    <a:solidFill>
                      <a:srgbClr val="000000"/>
                    </a:solidFill>
                    <a:latin typeface="inter"/>
                    <a:ea typeface="inter"/>
                    <a:cs typeface="inter"/>
                  </a:rPr>
                  <a:t>Realistic tank model replaces purely inductive losses with the parallel resistor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easing AC circuit analysis</a:t>
                </a:r>
                <a:r>
                  <a:rPr lang="en-US" sz="1400" dirty="0">
                    <a:solidFill>
                      <a:srgbClr val="000000"/>
                    </a:solidFill>
                    <a:latin typeface="inter"/>
                    <a:ea typeface="inter"/>
                    <a:cs typeface="inter"/>
                  </a:rPr>
                  <a:t>.</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r>
                  <a:rPr lang="en-US" b="1" dirty="0">
                    <a:solidFill>
                      <a:srgbClr val="000000"/>
                    </a:solidFill>
                    <a:effectLst/>
                    <a:latin typeface="inter"/>
                    <a:ea typeface="inter"/>
                    <a:cs typeface="inter"/>
                  </a:rPr>
                  <a:t>(b) Impedance magnitude vs. frequency</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600" dirty="0">
                    <a:solidFill>
                      <a:srgbClr val="000000"/>
                    </a:solidFill>
                    <a:latin typeface="inter"/>
                    <a:ea typeface="inter"/>
                    <a:cs typeface="inter"/>
                  </a:rPr>
                  <a:t>Peak impedance at resonance relates directly to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(loss).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600" dirty="0">
                    <a:solidFill>
                      <a:srgbClr val="000000"/>
                    </a:solidFill>
                    <a:latin typeface="inter"/>
                    <a:ea typeface="inter"/>
                    <a:cs typeface="inter"/>
                  </a:rPr>
                  <a:t>Larger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600" dirty="0">
                    <a:solidFill>
                      <a:srgbClr val="000000"/>
                    </a:solidFill>
                    <a:latin typeface="inter"/>
                    <a:ea typeface="inter"/>
                    <a:cs typeface="inter"/>
                  </a:rPr>
                  <a:t> → higher peaks &amp; sharper resonance → better oscillator phase noise and stability.</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b="1" dirty="0">
                    <a:solidFill>
                      <a:srgbClr val="000000"/>
                    </a:solidFill>
                    <a:effectLst/>
                    <a:latin typeface="inter"/>
                    <a:ea typeface="inter"/>
                    <a:cs typeface="inter"/>
                  </a:rPr>
                  <a:t>(c) Phase plot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600" dirty="0">
                    <a:solidFill>
                      <a:srgbClr val="000000"/>
                    </a:solidFill>
                    <a:latin typeface="inter"/>
                    <a:ea typeface="inter"/>
                    <a:cs typeface="inter"/>
                  </a:rPr>
                  <a:t>Phase transition from +90° (inductive) to –90° (capacitive)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600" dirty="0">
                    <a:solidFill>
                      <a:srgbClr val="000000"/>
                    </a:solidFill>
                    <a:latin typeface="inter"/>
                    <a:ea typeface="inter"/>
                    <a:cs typeface="inter"/>
                  </a:rPr>
                  <a:t>Losses smooth &amp; broaden this phase transition; more loss → gentler slope and degraded oscillator purity.</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sz="1100" dirty="0"/>
              </a:p>
            </p:txBody>
          </p:sp>
        </mc:Choice>
        <mc:Fallback>
          <p:sp>
            <p:nvSpPr>
              <p:cNvPr id="7" name="Text Placeholder 6"/>
              <p:cNvSpPr>
                <a:spLocks noGrp="1" noRot="1" noChangeAspect="1" noMove="1" noResize="1" noEditPoints="1" noAdjustHandles="1" noChangeArrowheads="1" noChangeShapeType="1" noTextEdit="1"/>
              </p:cNvSpPr>
              <p:nvPr>
                <p:ph type="body" idx="1"/>
              </p:nvPr>
            </p:nvSpPr>
            <p:spPr>
              <a:xfrm>
                <a:off x="869950" y="1200353"/>
                <a:ext cx="10496550" cy="2404313"/>
              </a:xfrm>
              <a:blipFill>
                <a:blip r:embed="rId2"/>
                <a:stretch>
                  <a:fillRect l="-1510" t="-3299" r="-697"/>
                </a:stretch>
              </a:blipFill>
            </p:spPr>
            <p:txBody>
              <a:bodyPr/>
              <a:lstStyle/>
              <a:p>
                <a:r>
                  <a:rPr lang="en-US">
                    <a:noFill/>
                  </a:rPr>
                  <a:t> </a:t>
                </a:r>
              </a:p>
            </p:txBody>
          </p:sp>
        </mc:Fallback>
      </mc:AlternateContent>
      <p:pic>
        <p:nvPicPr>
          <p:cNvPr id="8" name="Picture 7"/>
          <p:cNvPicPr>
            <a:picLocks noChangeAspect="1"/>
          </p:cNvPicPr>
          <p:nvPr/>
        </p:nvPicPr>
        <p:blipFill>
          <a:blip r:embed="rId3"/>
          <a:stretch>
            <a:fillRect/>
          </a:stretch>
        </p:blipFill>
        <p:spPr>
          <a:xfrm>
            <a:off x="2702294" y="4192455"/>
            <a:ext cx="6127011" cy="1597290"/>
          </a:xfrm>
          <a:prstGeom prst="rect">
            <a:avLst/>
          </a:prstGeom>
        </p:spPr>
      </p:pic>
    </p:spTree>
    <p:extLst>
      <p:ext uri="{BB962C8B-B14F-4D97-AF65-F5344CB8AC3E}">
        <p14:creationId xmlns:p14="http://schemas.microsoft.com/office/powerpoint/2010/main" val="3362380908"/>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Summary</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617200" cy="3092641"/>
              </a:xfrm>
            </p:spPr>
            <p:txBody>
              <a:bodyPr/>
              <a:lstStyle/>
              <a:p>
                <a:pPr marL="342900" marR="0" lvl="0" indent="-342900" algn="just">
                  <a:spcBef>
                    <a:spcPts val="525"/>
                  </a:spcBef>
                  <a:spcAft>
                    <a:spcPts val="525"/>
                  </a:spcAft>
                  <a:buFont typeface="Wingdings" panose="05000000000000000000" pitchFamily="2" charset="2"/>
                  <a:buChar char="q"/>
                  <a:tabLst>
                    <a:tab pos="571500" algn="l"/>
                  </a:tabLst>
                </a:pPr>
                <a:r>
                  <a:rPr lang="en-US" b="1" dirty="0">
                    <a:solidFill>
                      <a:srgbClr val="000000"/>
                    </a:solidFill>
                    <a:latin typeface="inter"/>
                    <a:ea typeface="inter"/>
                    <a:cs typeface="inter"/>
                  </a:rPr>
                  <a:t>At high frequencies</a:t>
                </a:r>
                <a:r>
                  <a:rPr lang="en-US" dirty="0">
                    <a:solidFill>
                      <a:srgbClr val="000000"/>
                    </a:solidFill>
                    <a:latin typeface="inter"/>
                    <a:ea typeface="inter"/>
                    <a:cs typeface="inter"/>
                  </a:rPr>
                  <a:t>, the term </a:t>
                </a:r>
                <a14:m>
                  <m:oMath xmlns:m="http://schemas.openxmlformats.org/officeDocument/2006/math">
                    <m:sSubSup>
                      <m:sSub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sSubSup>
                      <m:sSub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oMath>
                </a14:m>
                <a:r>
                  <a:rPr lang="en-US" dirty="0">
                    <a:solidFill>
                      <a:srgbClr val="000000"/>
                    </a:solidFill>
                    <a:latin typeface="inter"/>
                    <a:ea typeface="inter"/>
                    <a:cs typeface="inter"/>
                  </a:rPr>
                  <a:t> dominates parallel resistance.</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spcBef>
                    <a:spcPts val="525"/>
                  </a:spcBef>
                  <a:spcAft>
                    <a:spcPts val="525"/>
                  </a:spcAft>
                  <a:buFont typeface="Wingdings" panose="05000000000000000000" pitchFamily="2" charset="2"/>
                  <a:buChar char="q"/>
                  <a:tabLst>
                    <a:tab pos="571500" algn="l"/>
                  </a:tabLst>
                </a:pPr>
                <a:r>
                  <a:rPr lang="en-US" b="1" dirty="0">
                    <a:solidFill>
                      <a:srgbClr val="000000"/>
                    </a:solidFill>
                    <a:latin typeface="inter"/>
                    <a:ea typeface="inter"/>
                    <a:cs typeface="inter"/>
                  </a:rPr>
                  <a:t>At lower frequencies</a:t>
                </a:r>
                <a:r>
                  <a:rPr lang="en-US" dirty="0">
                    <a:solidFill>
                      <a:srgbClr val="000000"/>
                    </a:solidFill>
                    <a:latin typeface="inter"/>
                    <a:ea typeface="inter"/>
                    <a:cs typeface="inter"/>
                  </a:rPr>
                  <a:t>, the series resistance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oMath>
                </a14:m>
                <a:r>
                  <a:rPr lang="en-US" dirty="0">
                    <a:solidFill>
                      <a:srgbClr val="000000"/>
                    </a:solidFill>
                    <a:latin typeface="inter"/>
                    <a:ea typeface="inter"/>
                    <a:cs typeface="inter"/>
                  </a:rPr>
                  <a:t> adds directly to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dirty="0">
                    <a:solidFill>
                      <a:srgbClr val="000000"/>
                    </a:solidFill>
                    <a:latin typeface="inter"/>
                    <a:ea typeface="inter"/>
                    <a:cs typeface="inter"/>
                  </a:rPr>
                  <a:t>, increasing total loss.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spcBef>
                    <a:spcPts val="525"/>
                  </a:spcBef>
                  <a:spcAft>
                    <a:spcPts val="525"/>
                  </a:spcAft>
                  <a:buFont typeface="Wingdings" panose="05000000000000000000" pitchFamily="2" charset="2"/>
                  <a:buChar char="q"/>
                  <a:tabLst>
                    <a:tab pos="571500" algn="l"/>
                  </a:tabLst>
                </a:pPr>
                <a:r>
                  <a:rPr lang="en-US" dirty="0">
                    <a:solidFill>
                      <a:srgbClr val="000000"/>
                    </a:solidFill>
                    <a:latin typeface="inter"/>
                    <a:ea typeface="inter"/>
                    <a:cs typeface="inter"/>
                  </a:rPr>
                  <a:t>Ignoring frequency dependence in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dirty="0">
                    <a:solidFill>
                      <a:srgbClr val="000000"/>
                    </a:solidFill>
                    <a:latin typeface="inter"/>
                    <a:ea typeface="inter"/>
                    <a:cs typeface="inter"/>
                  </a:rPr>
                  <a:t> can lead to </a:t>
                </a:r>
                <a:r>
                  <a:rPr lang="en-US" b="1" dirty="0">
                    <a:solidFill>
                      <a:srgbClr val="000000"/>
                    </a:solidFill>
                    <a:latin typeface="inter"/>
                    <a:ea typeface="inter"/>
                    <a:cs typeface="inter"/>
                  </a:rPr>
                  <a:t>underestimating tank losses by &gt;10%</a:t>
                </a:r>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spcBef>
                    <a:spcPts val="525"/>
                  </a:spcBef>
                  <a:spcAft>
                    <a:spcPts val="525"/>
                  </a:spcAft>
                  <a:buFont typeface="Wingdings" panose="05000000000000000000" pitchFamily="2" charset="2"/>
                  <a:buChar char="q"/>
                  <a:tabLst>
                    <a:tab pos="571500" algn="l"/>
                  </a:tabLst>
                </a:pPr>
                <a:r>
                  <a:rPr lang="en-US" dirty="0">
                    <a:solidFill>
                      <a:srgbClr val="000000"/>
                    </a:solidFill>
                    <a:latin typeface="inter"/>
                    <a:ea typeface="inter"/>
                    <a:cs typeface="inter"/>
                  </a:rPr>
                  <a:t>Precise loss modeling is crucial for </a:t>
                </a:r>
                <a:r>
                  <a:rPr lang="en-US" b="1" dirty="0">
                    <a:solidFill>
                      <a:srgbClr val="000000"/>
                    </a:solidFill>
                    <a:latin typeface="inter"/>
                    <a:ea typeface="inter"/>
                    <a:cs typeface="inter"/>
                  </a:rPr>
                  <a:t>accurate oscillator Q prediction</a:t>
                </a:r>
                <a:r>
                  <a:rPr lang="en-US" dirty="0">
                    <a:solidFill>
                      <a:srgbClr val="000000"/>
                    </a:solidFill>
                    <a:latin typeface="inter"/>
                    <a:ea typeface="inter"/>
                    <a:cs typeface="inter"/>
                  </a:rPr>
                  <a:t> and </a:t>
                </a:r>
                <a:r>
                  <a:rPr lang="en-US" b="1" dirty="0">
                    <a:solidFill>
                      <a:srgbClr val="000000"/>
                    </a:solidFill>
                    <a:latin typeface="inter"/>
                    <a:ea typeface="inter"/>
                    <a:cs typeface="inter"/>
                  </a:rPr>
                  <a:t>design optimization</a:t>
                </a:r>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spcBef>
                    <a:spcPts val="525"/>
                  </a:spcBef>
                  <a:spcAft>
                    <a:spcPts val="525"/>
                  </a:spcAft>
                  <a:buFont typeface="Wingdings" panose="05000000000000000000" pitchFamily="2" charset="2"/>
                  <a:buChar char="q"/>
                  <a:tabLst>
                    <a:tab pos="571500" algn="l"/>
                  </a:tabLst>
                </a:pPr>
                <a:r>
                  <a:rPr lang="en-US" dirty="0">
                    <a:solidFill>
                      <a:srgbClr val="000000"/>
                    </a:solidFill>
                    <a:latin typeface="inter"/>
                    <a:ea typeface="inter"/>
                    <a:cs typeface="inter"/>
                  </a:rPr>
                  <a:t>Graphical impedance magnitude and phase plots vividly demonstrate how loss affects resonant behavior and oscillator signal quality.</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indent="-342900" algn="just">
                  <a:buFont typeface="Wingdings" panose="05000000000000000000" pitchFamily="2" charset="2"/>
                  <a:buChar char="q"/>
                </a:pPr>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17200" cy="3092641"/>
              </a:xfrm>
              <a:blipFill>
                <a:blip r:embed="rId2"/>
                <a:stretch>
                  <a:fillRect l="-1379" t="-2367" r="-1493"/>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903926156"/>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Sharper Resonance and Phase from Higher </a:t>
            </a:r>
            <a:r>
              <a:rPr lang="en-US" dirty="0" err="1" smtClean="0"/>
              <a:t>R</a:t>
            </a:r>
            <a:r>
              <a:rPr lang="en-US" baseline="-25000" dirty="0" err="1" smtClean="0"/>
              <a:t>p</a:t>
            </a:r>
            <a:endParaRPr lang="en-US" baseline="-25000" dirty="0"/>
          </a:p>
        </p:txBody>
      </p:sp>
      <p:sp>
        <p:nvSpPr>
          <p:cNvPr id="3" name="Text Placeholder 2"/>
          <p:cNvSpPr>
            <a:spLocks noGrp="1"/>
          </p:cNvSpPr>
          <p:nvPr>
            <p:ph type="body" idx="1"/>
          </p:nvPr>
        </p:nvSpPr>
        <p:spPr>
          <a:xfrm>
            <a:off x="844550" y="1327353"/>
            <a:ext cx="10655300" cy="1538883"/>
          </a:xfrm>
        </p:spPr>
        <p:txBody>
          <a:bodyPr/>
          <a:lstStyle/>
          <a:p>
            <a:pPr algn="l"/>
            <a:r>
              <a:rPr lang="en-US" dirty="0">
                <a:latin typeface="fkGrotesk"/>
              </a:rPr>
              <a:t>Core Principle: Loss and Resonance Sharpness</a:t>
            </a:r>
          </a:p>
          <a:p>
            <a:pPr marL="342900" indent="-342900" algn="l">
              <a:buFont typeface="Wingdings" panose="05000000000000000000" pitchFamily="2" charset="2"/>
              <a:buChar char="q"/>
            </a:pPr>
            <a:r>
              <a:rPr lang="en-US" dirty="0">
                <a:latin typeface="fkGroteskNeue"/>
              </a:rPr>
              <a:t>The parallel RLC </a:t>
            </a:r>
            <a:r>
              <a:rPr lang="en-US" dirty="0" smtClean="0">
                <a:latin typeface="fkGroteskNeue"/>
              </a:rPr>
              <a:t>tank </a:t>
            </a:r>
            <a:r>
              <a:rPr lang="en-US" dirty="0">
                <a:latin typeface="fkGroteskNeue"/>
              </a:rPr>
              <a:t>models energy loss via a parallel </a:t>
            </a:r>
            <a:r>
              <a:rPr lang="en-US" i="1" dirty="0" err="1" smtClean="0">
                <a:latin typeface="KaTeX_Math"/>
              </a:rPr>
              <a:t>R</a:t>
            </a:r>
            <a:r>
              <a:rPr lang="en-US" i="1" baseline="-25000" dirty="0" err="1" smtClean="0">
                <a:latin typeface="KaTeX_Math"/>
              </a:rPr>
              <a:t>p</a:t>
            </a:r>
            <a:r>
              <a:rPr lang="en-US" dirty="0">
                <a:latin typeface="fkGroteskNeue"/>
              </a:rPr>
              <a:t>.</a:t>
            </a:r>
          </a:p>
          <a:p>
            <a:pPr marL="342900" indent="-342900" algn="l">
              <a:buFont typeface="Wingdings" panose="05000000000000000000" pitchFamily="2" charset="2"/>
              <a:buChar char="q"/>
            </a:pPr>
            <a:r>
              <a:rPr lang="en-US" dirty="0">
                <a:latin typeface="fkGroteskNeue"/>
              </a:rPr>
              <a:t>At resonance </a:t>
            </a:r>
            <a:r>
              <a:rPr lang="en-US" dirty="0" smtClean="0">
                <a:latin typeface="fkGroteskNeue"/>
              </a:rPr>
              <a:t>(</a:t>
            </a:r>
            <a:r>
              <a:rPr lang="el-GR" i="1" dirty="0" smtClean="0">
                <a:latin typeface="KaTeX_Math"/>
              </a:rPr>
              <a:t>ω</a:t>
            </a:r>
            <a:r>
              <a:rPr lang="el-GR" baseline="-25000" dirty="0" smtClean="0">
                <a:latin typeface="KaTeX_Main"/>
              </a:rPr>
              <a:t>0</a:t>
            </a:r>
            <a:r>
              <a:rPr lang="el-GR" dirty="0">
                <a:latin typeface="fkGroteskNeue"/>
              </a:rPr>
              <a:t>), </a:t>
            </a:r>
            <a:r>
              <a:rPr lang="en-US" dirty="0">
                <a:latin typeface="fkGroteskNeue"/>
              </a:rPr>
              <a:t>impedance peaks at </a:t>
            </a:r>
            <a:r>
              <a:rPr lang="en-US" i="1" dirty="0" err="1" smtClean="0">
                <a:latin typeface="KaTeX_Math"/>
              </a:rPr>
              <a:t>R</a:t>
            </a:r>
            <a:r>
              <a:rPr lang="en-US" i="1" baseline="-25000" dirty="0" err="1" smtClean="0">
                <a:latin typeface="KaTeX_Math"/>
              </a:rPr>
              <a:t>p</a:t>
            </a:r>
            <a:r>
              <a:rPr lang="en-US" dirty="0">
                <a:latin typeface="fkGroteskNeue"/>
              </a:rPr>
              <a:t>; larger </a:t>
            </a:r>
            <a:r>
              <a:rPr lang="en-US" i="1" dirty="0" err="1" smtClean="0">
                <a:latin typeface="KaTeX_Math"/>
              </a:rPr>
              <a:t>R</a:t>
            </a:r>
            <a:r>
              <a:rPr lang="en-US" i="1" baseline="-25000" dirty="0" err="1" smtClean="0">
                <a:latin typeface="KaTeX_Math"/>
              </a:rPr>
              <a:t>p</a:t>
            </a:r>
            <a:r>
              <a:rPr lang="en-US" dirty="0">
                <a:latin typeface="fkGroteskNeue"/>
              </a:rPr>
              <a:t> means less energy loss and higher quality factor (Q).</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8" name="Picture 7"/>
          <p:cNvPicPr>
            <a:picLocks noChangeAspect="1"/>
          </p:cNvPicPr>
          <p:nvPr/>
        </p:nvPicPr>
        <p:blipFill>
          <a:blip r:embed="rId2"/>
          <a:stretch>
            <a:fillRect/>
          </a:stretch>
        </p:blipFill>
        <p:spPr>
          <a:xfrm>
            <a:off x="4213148" y="3041606"/>
            <a:ext cx="2978303" cy="1714588"/>
          </a:xfrm>
          <a:prstGeom prst="rect">
            <a:avLst/>
          </a:prstGeom>
        </p:spPr>
      </p:pic>
    </p:spTree>
    <p:extLst>
      <p:ext uri="{BB962C8B-B14F-4D97-AF65-F5344CB8AC3E}">
        <p14:creationId xmlns:p14="http://schemas.microsoft.com/office/powerpoint/2010/main" val="427907391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1046440"/>
          </a:xfrm>
        </p:spPr>
        <p:txBody>
          <a:bodyPr/>
          <a:lstStyle/>
          <a:p>
            <a:r>
              <a:rPr lang="en-US" dirty="0"/>
              <a:t>Doubling </a:t>
            </a:r>
            <a:r>
              <a:rPr lang="en-US" dirty="0" err="1" smtClean="0"/>
              <a:t>R</a:t>
            </a:r>
            <a:r>
              <a:rPr lang="en-US" baseline="-25000" dirty="0" err="1" smtClean="0"/>
              <a:t>p</a:t>
            </a:r>
            <a:r>
              <a:rPr lang="en-US" dirty="0"/>
              <a:t/>
            </a:r>
            <a:br>
              <a:rPr lang="en-US" dirty="0"/>
            </a:b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6845300" cy="5465279"/>
              </a:xfrm>
            </p:spPr>
            <p:txBody>
              <a:bodyPr/>
              <a:lstStyle/>
              <a:p>
                <a:pPr algn="l"/>
                <a:r>
                  <a:rPr lang="en-US" dirty="0" smtClean="0">
                    <a:latin typeface="fkGroteskNeue"/>
                  </a:rPr>
                  <a:t>Suppose</a:t>
                </a:r>
                <a:r>
                  <a:rPr lang="en-US" dirty="0">
                    <a:latin typeface="fkGroteskNeue"/>
                  </a:rPr>
                  <a:t>:</a:t>
                </a:r>
              </a:p>
              <a:p>
                <a:pPr marL="342900" indent="-342900" algn="l">
                  <a:buFont typeface="Wingdings" panose="05000000000000000000" pitchFamily="2" charset="2"/>
                  <a:buChar char="q"/>
                </a:pPr>
                <a:r>
                  <a:rPr lang="en-US" i="1" dirty="0" err="1" smtClean="0">
                    <a:latin typeface="KaTeX_Math"/>
                  </a:rPr>
                  <a:t>R</a:t>
                </a:r>
                <a:r>
                  <a:rPr lang="en-US" i="1" baseline="-25000" dirty="0" err="1" smtClean="0">
                    <a:latin typeface="KaTeX_Math"/>
                  </a:rPr>
                  <a:t>p</a:t>
                </a:r>
                <a:r>
                  <a:rPr lang="en-US" dirty="0">
                    <a:latin typeface="fkGroteskNeue"/>
                  </a:rPr>
                  <a:t> doubles</a:t>
                </a:r>
              </a:p>
              <a:p>
                <a:pPr marL="342900" indent="-342900" algn="l">
                  <a:buFont typeface="Wingdings" panose="05000000000000000000" pitchFamily="2" charset="2"/>
                  <a:buChar char="q"/>
                </a:pPr>
                <a:r>
                  <a:rPr lang="en-US" i="1" dirty="0" smtClean="0">
                    <a:latin typeface="KaTeX_Math"/>
                  </a:rPr>
                  <a:t>L</a:t>
                </a:r>
                <a:r>
                  <a:rPr lang="en-US" baseline="-25000" dirty="0" smtClean="0">
                    <a:latin typeface="KaTeX_Main"/>
                  </a:rPr>
                  <a:t>1</a:t>
                </a:r>
                <a:r>
                  <a:rPr lang="en-US" dirty="0">
                    <a:latin typeface="fkGroteskNeue"/>
                  </a:rPr>
                  <a:t> and </a:t>
                </a:r>
                <a:r>
                  <a:rPr lang="en-US" i="1" dirty="0" smtClean="0">
                    <a:latin typeface="KaTeX_Math"/>
                  </a:rPr>
                  <a:t>C</a:t>
                </a:r>
                <a:r>
                  <a:rPr lang="en-US" baseline="-25000" dirty="0" smtClean="0">
                    <a:latin typeface="KaTeX_Main"/>
                  </a:rPr>
                  <a:t>1</a:t>
                </a:r>
                <a:r>
                  <a:rPr lang="en-US" dirty="0">
                    <a:latin typeface="fkGroteskNeue"/>
                  </a:rPr>
                  <a:t> remain constant</a:t>
                </a:r>
              </a:p>
              <a:p>
                <a:pPr marL="342900" indent="-342900" algn="l">
                  <a:buFont typeface="Wingdings" panose="05000000000000000000" pitchFamily="2" charset="2"/>
                  <a:buChar char="q"/>
                </a:pPr>
                <a:r>
                  <a:rPr lang="en-US" dirty="0">
                    <a:latin typeface="fkGroteskNeue"/>
                  </a:rPr>
                  <a:t>Find:</a:t>
                </a:r>
              </a:p>
              <a:p>
                <a:pPr marL="342900" indent="-342900" algn="l">
                  <a:buFont typeface="Wingdings" panose="05000000000000000000" pitchFamily="2" charset="2"/>
                  <a:buChar char="q"/>
                </a:pPr>
                <a:r>
                  <a:rPr lang="en-US" dirty="0">
                    <a:latin typeface="fkGroteskNeue"/>
                  </a:rPr>
                  <a:t>What happens to the phase slope and profile in Fig</a:t>
                </a:r>
                <a:r>
                  <a:rPr lang="en-US" dirty="0" smtClean="0">
                    <a:latin typeface="fkGroteskNeue"/>
                  </a:rPr>
                  <a:t>.?</a:t>
                </a:r>
              </a:p>
              <a:p>
                <a:pPr marL="342900" indent="-342900" algn="l">
                  <a:buFont typeface="Wingdings" panose="05000000000000000000" pitchFamily="2" charset="2"/>
                  <a:buChar char="q"/>
                </a:pPr>
                <a:endParaRPr lang="en-US" dirty="0">
                  <a:latin typeface="fkGroteskNeue"/>
                </a:endParaRPr>
              </a:p>
              <a:p>
                <a:pPr algn="l"/>
                <a:r>
                  <a:rPr lang="en-US" sz="1800" dirty="0">
                    <a:latin typeface="fkGrotesk"/>
                  </a:rPr>
                  <a:t>Analytical Details</a:t>
                </a:r>
              </a:p>
              <a:p>
                <a:pPr algn="l"/>
                <a:r>
                  <a:rPr lang="en-US" sz="1800" dirty="0">
                    <a:latin typeface="fkGroteskNeue"/>
                  </a:rPr>
                  <a:t>The tank impedance with parallel loss is</a:t>
                </a:r>
                <a:r>
                  <a:rPr lang="en-US" sz="1800" dirty="0" smtClean="0">
                    <a:latin typeface="fkGroteskNeue"/>
                  </a:rPr>
                  <a:t>:</a:t>
                </a:r>
              </a:p>
              <a:p>
                <a:r>
                  <a:rPr lang="en-US" sz="1800" dirty="0">
                    <a:latin typeface="Georgia" panose="02040502050405020303" pitchFamily="18" charset="0"/>
                    <a:ea typeface="Calibri" panose="020F0502020204030204" pitchFamily="34" charset="0"/>
                    <a:cs typeface="Times New Roman" panose="02020603050405020304" pitchFamily="18" charset="0"/>
                  </a:rPr>
                  <a:t> </a:t>
                </a:r>
              </a:p>
              <a:p>
                <a14:m>
                  <m:oMathPara xmlns:m="http://schemas.openxmlformats.org/officeDocument/2006/math">
                    <m:oMathParaPr>
                      <m:jc m:val="centerGroup"/>
                    </m:oMathParaPr>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den>
                          </m:f>
                        </m:e>
                      </m:d>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800" dirty="0">
                    <a:solidFill>
                      <a:srgbClr val="000000"/>
                    </a:solidFill>
                    <a:latin typeface="inter"/>
                    <a:ea typeface="inter"/>
                    <a:cs typeface="inter"/>
                  </a:rPr>
                  <a:t>which reduces to:</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num>
                        <m:den>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e>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den>
                      </m:f>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800" dirty="0" smtClean="0">
                    <a:solidFill>
                      <a:srgbClr val="000000"/>
                    </a:solidFill>
                    <a:latin typeface="inter"/>
                    <a:ea typeface="inter"/>
                    <a:cs typeface="inter"/>
                  </a:rPr>
                  <a:t>For s </a:t>
                </a:r>
                <a:r>
                  <a:rPr lang="en-US" sz="1800" dirty="0">
                    <a:solidFill>
                      <a:srgbClr val="000000"/>
                    </a:solidFill>
                    <a:latin typeface="inter"/>
                    <a:ea typeface="inter"/>
                    <a:cs typeface="inter"/>
                  </a:rPr>
                  <a:t>= </a:t>
                </a:r>
                <a14:m>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oMath>
                </a14:m>
                <a:r>
                  <a:rPr lang="en-US" sz="1800" dirty="0" smtClean="0">
                    <a:solidFill>
                      <a:srgbClr val="000000"/>
                    </a:solidFill>
                    <a:latin typeface="inter"/>
                    <a:ea typeface="inter"/>
                    <a:cs typeface="inter"/>
                  </a:rPr>
                  <a:t>:</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num>
                        <m:den>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6845300" cy="5465279"/>
              </a:xfrm>
              <a:blipFill>
                <a:blip r:embed="rId2"/>
                <a:stretch>
                  <a:fillRect l="-2317" t="-1339"/>
                </a:stretch>
              </a:blipFill>
            </p:spPr>
            <p:txBody>
              <a:bodyPr/>
              <a:lstStyle/>
              <a:p>
                <a:r>
                  <a:rPr lang="en-US">
                    <a:noFill/>
                  </a:rPr>
                  <a:t> </a:t>
                </a:r>
              </a:p>
            </p:txBody>
          </p:sp>
        </mc:Fallback>
      </mc:AlternateContent>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3"/>
          <a:stretch>
            <a:fillRect/>
          </a:stretch>
        </p:blipFill>
        <p:spPr>
          <a:xfrm>
            <a:off x="8591461" y="1235020"/>
            <a:ext cx="3454578" cy="2114659"/>
          </a:xfrm>
          <a:prstGeom prst="rect">
            <a:avLst/>
          </a:prstGeom>
        </p:spPr>
      </p:pic>
      <mc:AlternateContent xmlns:mc="http://schemas.openxmlformats.org/markup-compatibility/2006">
        <mc:Choice xmlns:a14="http://schemas.microsoft.com/office/drawing/2010/main" Requires="a14">
          <p:sp>
            <p:nvSpPr>
              <p:cNvPr id="8" name="Rectangle 7"/>
              <p:cNvSpPr/>
              <p:nvPr/>
            </p:nvSpPr>
            <p:spPr>
              <a:xfrm>
                <a:off x="6790266" y="3466927"/>
                <a:ext cx="5477933" cy="2823722"/>
              </a:xfrm>
              <a:prstGeom prst="rect">
                <a:avLst/>
              </a:prstGeom>
            </p:spPr>
            <p:txBody>
              <a:bodyPr wrap="square">
                <a:spAutoFit/>
              </a:bodyPr>
              <a:lstStyle/>
              <a:p>
                <a:pPr lvl="0" algn="ctr"/>
                <a:r>
                  <a:rPr lang="en-US" sz="2000" b="1" u="sng" kern="0" dirty="0" smtClean="0">
                    <a:solidFill>
                      <a:srgbClr val="000000"/>
                    </a:solidFill>
                    <a:latin typeface="inter"/>
                    <a:ea typeface="inter"/>
                    <a:cs typeface="inter"/>
                  </a:rPr>
                  <a:t>Phase Response Calculation</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num>
                        <m:den>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m:rPr>
                              <m:sty m:val="p"/>
                            </m:rP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tan</m:t>
                          </m:r>
                        </m:e>
                        <m:sup>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p>
                      </m:sSup>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
                        <m:d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num>
                            <m:den>
                              <m:sSub>
                                <m:sSub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sSub>
                                <m:sSub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sSup>
                                <m:sSup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p>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den>
                          </m:f>
                        </m:e>
                      </m:d>
                    </m:oMath>
                  </m:oMathPara>
                </a14:m>
                <a:endParaRPr lang="en-US"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tabLst>
                    <a:tab pos="571500" algn="l"/>
                  </a:tabLst>
                </a:pPr>
                <a:r>
                  <a:rPr lang="en-US" kern="0" dirty="0">
                    <a:solidFill>
                      <a:srgbClr val="000000"/>
                    </a:solidFill>
                    <a:latin typeface="inter"/>
                    <a:ea typeface="inter"/>
                    <a:cs typeface="inter"/>
                  </a:rPr>
                  <a:t>The larger </a:t>
                </a:r>
                <a:r>
                  <a:rPr lang="en-US" kern="0" dirty="0" err="1">
                    <a:solidFill>
                      <a:srgbClr val="000000"/>
                    </a:solidFill>
                    <a:latin typeface="inter"/>
                    <a:ea typeface="inter"/>
                    <a:cs typeface="inter"/>
                  </a:rPr>
                  <a:t>R</a:t>
                </a:r>
                <a:r>
                  <a:rPr lang="en-US" kern="0" baseline="-25000" dirty="0" err="1">
                    <a:solidFill>
                      <a:srgbClr val="000000"/>
                    </a:solidFill>
                    <a:latin typeface="inter"/>
                    <a:ea typeface="inter"/>
                    <a:cs typeface="inter"/>
                  </a:rPr>
                  <a:t>p</a:t>
                </a:r>
                <a:r>
                  <a:rPr lang="en-US" kern="0" dirty="0">
                    <a:solidFill>
                      <a:srgbClr val="000000"/>
                    </a:solidFill>
                    <a:latin typeface="inter"/>
                    <a:ea typeface="inter"/>
                    <a:cs typeface="inter"/>
                  </a:rPr>
                  <a:t> </a:t>
                </a:r>
                <a14:m>
                  <m:oMath xmlns:m="http://schemas.openxmlformats.org/officeDocument/2006/math">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𝑡h</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𝑠𝑡𝑒𝑒𝑝𝑒𝑟</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𝑡h𝑒</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𝑝h𝑎𝑠𝑒</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𝑡𝑟𝑎𝑛𝑠𝑖𝑡𝑖𝑜𝑛</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𝑛𝑒𝑎𝑟</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oMath>
                </a14:m>
                <a:endParaRPr lang="en-US" i="1" kern="0" dirty="0" smtClean="0">
                  <a:solidFill>
                    <a:srgbClr val="000000"/>
                  </a:solidFill>
                  <a:latin typeface="Cambria Math" panose="02040503050406030204" pitchFamily="18" charset="0"/>
                  <a:ea typeface="Calibri" panose="020F0502020204030204" pitchFamily="34" charset="0"/>
                  <a:cs typeface="Times New Roman" panose="02020603050405020304" pitchFamily="18" charset="0"/>
                </a:endParaRPr>
              </a:p>
              <a:p>
                <a:pPr lvl="0">
                  <a:tabLst>
                    <a:tab pos="571500" algn="l"/>
                  </a:tabLst>
                </a:pPr>
                <a:r>
                  <a:rPr lang="en-US" kern="0" dirty="0" smtClean="0">
                    <a:solidFill>
                      <a:srgbClr val="000000"/>
                    </a:solidFill>
                    <a:ea typeface="Calibri" panose="020F0502020204030204" pitchFamily="34" charset="0"/>
                    <a:cs typeface="Times New Roman" panose="02020603050405020304" pitchFamily="18" charset="0"/>
                  </a:rPr>
                  <a:t>       </a:t>
                </a:r>
                <a14:m>
                  <m:oMath xmlns:m="http://schemas.openxmlformats.org/officeDocument/2006/math">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𝑟𝑒𝑠𝑜𝑛𝑎𝑛𝑐𝑒</m:t>
                    </m:r>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l-GR" i="1" kern="0" dirty="0">
                    <a:solidFill>
                      <a:prstClr val="black"/>
                    </a:solidFill>
                    <a:latin typeface="Verdana"/>
                  </a:rPr>
                  <a:t>ω</a:t>
                </a:r>
                <a:r>
                  <a:rPr lang="el-GR" kern="0" baseline="-25000" dirty="0">
                    <a:solidFill>
                      <a:prstClr val="black"/>
                    </a:solidFill>
                    <a:latin typeface="Verdana"/>
                  </a:rPr>
                  <a:t>0</a:t>
                </a:r>
                <a:r>
                  <a:rPr lang="en-US" kern="0" dirty="0">
                    <a:solidFill>
                      <a:srgbClr val="000000"/>
                    </a:solidFill>
                    <a:latin typeface="inter"/>
                    <a:ea typeface="inter"/>
                    <a:cs typeface="inter"/>
                  </a:rPr>
                  <a:t>).</a:t>
                </a:r>
                <a:endParaRPr lang="en-US"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tabLst>
                    <a:tab pos="571500" algn="l"/>
                  </a:tabLst>
                </a:pPr>
                <a:r>
                  <a:rPr lang="en-US" kern="0" dirty="0">
                    <a:solidFill>
                      <a:srgbClr val="000000"/>
                    </a:solidFill>
                    <a:latin typeface="inter"/>
                    <a:ea typeface="inter"/>
                    <a:cs typeface="inter"/>
                  </a:rPr>
                  <a:t>Around resonance, differentiating gives:</a:t>
                </a:r>
                <a:endParaRPr lang="en-US"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sSub>
                        <m:sSub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d>
                            <m:dPr>
                              <m:begChr m:val=""/>
                              <m:endChr m:val="|"/>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𝑑</m:t>
                                  </m:r>
                                </m:num>
                                <m:den>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𝑑</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den>
                              </m:f>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d>
                        </m:e>
                        <m:sub>
                          <m:sSub>
                            <m:sSub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sub>
                      </m:sSub>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Sub>
                        <m:sSub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sSub>
                        <m:sSub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oMath>
                  </m:oMathPara>
                </a14:m>
                <a:endParaRPr lang="en-US" dirty="0"/>
              </a:p>
            </p:txBody>
          </p:sp>
        </mc:Choice>
        <mc:Fallback>
          <p:sp>
            <p:nvSpPr>
              <p:cNvPr id="8" name="Rectangle 7"/>
              <p:cNvSpPr>
                <a:spLocks noRot="1" noChangeAspect="1" noMove="1" noResize="1" noEditPoints="1" noAdjustHandles="1" noChangeArrowheads="1" noChangeShapeType="1" noTextEdit="1"/>
              </p:cNvSpPr>
              <p:nvPr/>
            </p:nvSpPr>
            <p:spPr>
              <a:xfrm>
                <a:off x="6790266" y="3466927"/>
                <a:ext cx="5477933" cy="2823722"/>
              </a:xfrm>
              <a:prstGeom prst="rect">
                <a:avLst/>
              </a:prstGeom>
              <a:blipFill>
                <a:blip r:embed="rId4"/>
                <a:stretch>
                  <a:fillRect l="-1002" t="-129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Rectangle 8"/>
              <p:cNvSpPr/>
              <p:nvPr/>
            </p:nvSpPr>
            <p:spPr>
              <a:xfrm>
                <a:off x="677333" y="6442502"/>
                <a:ext cx="7687734" cy="266420"/>
              </a:xfrm>
              <a:prstGeom prst="rect">
                <a:avLst/>
              </a:prstGeom>
            </p:spPr>
            <p:txBody>
              <a:bodyPr wrap="square">
                <a:spAutoFit/>
              </a:bodyPr>
              <a:lstStyle/>
              <a:p>
                <a:r>
                  <a:rPr lang="en-US" sz="1050" b="1" dirty="0">
                    <a:solidFill>
                      <a:srgbClr val="000000"/>
                    </a:solidFill>
                    <a:latin typeface="inter"/>
                    <a:ea typeface="inter"/>
                    <a:cs typeface="inter"/>
                  </a:rPr>
                  <a:t>Slope is linearly proportional to </a:t>
                </a:r>
                <a14:m>
                  <m:oMath xmlns:m="http://schemas.openxmlformats.org/officeDocument/2006/math">
                    <m:sSub>
                      <m:sSubPr>
                        <m:ctrlP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050" b="1" dirty="0">
                    <a:solidFill>
                      <a:srgbClr val="000000"/>
                    </a:solidFill>
                    <a:latin typeface="inter"/>
                    <a:ea typeface="inter"/>
                    <a:cs typeface="inter"/>
                  </a:rPr>
                  <a:t>:</a:t>
                </a:r>
                <a:r>
                  <a:rPr lang="en-US" sz="1050" dirty="0">
                    <a:solidFill>
                      <a:srgbClr val="000000"/>
                    </a:solidFill>
                    <a:latin typeface="inter"/>
                    <a:ea typeface="inter"/>
                    <a:cs typeface="inter"/>
                  </a:rPr>
                  <a:t> doubling </a:t>
                </a:r>
                <a14:m>
                  <m:oMath xmlns:m="http://schemas.openxmlformats.org/officeDocument/2006/math">
                    <m:sSub>
                      <m:sSubPr>
                        <m:ctrlP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sz="1050" dirty="0" smtClean="0">
                    <a:solidFill>
                      <a:srgbClr val="000000"/>
                    </a:solidFill>
                    <a:latin typeface="inter"/>
                    <a:ea typeface="inter"/>
                    <a:cs typeface="inter"/>
                  </a:rPr>
                  <a:t> </a:t>
                </a:r>
                <a:r>
                  <a:rPr lang="en-US" sz="1050" dirty="0">
                    <a:solidFill>
                      <a:srgbClr val="000000"/>
                    </a:solidFill>
                    <a:latin typeface="inter"/>
                    <a:ea typeface="inter"/>
                    <a:cs typeface="inter"/>
                  </a:rPr>
                  <a:t>makes the phase transition twice as steep</a:t>
                </a:r>
                <a:endParaRPr lang="en-US" dirty="0"/>
              </a:p>
            </p:txBody>
          </p:sp>
        </mc:Choice>
        <mc:Fallback>
          <p:sp>
            <p:nvSpPr>
              <p:cNvPr id="9" name="Rectangle 8"/>
              <p:cNvSpPr>
                <a:spLocks noRot="1" noChangeAspect="1" noMove="1" noResize="1" noEditPoints="1" noAdjustHandles="1" noChangeArrowheads="1" noChangeShapeType="1" noTextEdit="1"/>
              </p:cNvSpPr>
              <p:nvPr/>
            </p:nvSpPr>
            <p:spPr>
              <a:xfrm>
                <a:off x="677333" y="6442502"/>
                <a:ext cx="7687734" cy="266420"/>
              </a:xfrm>
              <a:prstGeom prst="rect">
                <a:avLst/>
              </a:prstGeom>
              <a:blipFill>
                <a:blip r:embed="rId5"/>
                <a:stretch>
                  <a:fillRect b="-6818"/>
                </a:stretch>
              </a:blipFill>
            </p:spPr>
            <p:txBody>
              <a:bodyPr/>
              <a:lstStyle/>
              <a:p>
                <a:r>
                  <a:rPr lang="en-US">
                    <a:noFill/>
                  </a:rPr>
                  <a:t> </a:t>
                </a:r>
              </a:p>
            </p:txBody>
          </p:sp>
        </mc:Fallback>
      </mc:AlternateContent>
    </p:spTree>
    <p:extLst>
      <p:ext uri="{BB962C8B-B14F-4D97-AF65-F5344CB8AC3E}">
        <p14:creationId xmlns:p14="http://schemas.microsoft.com/office/powerpoint/2010/main" val="274495480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1046440"/>
          </a:xfrm>
        </p:spPr>
        <p:txBody>
          <a:bodyPr/>
          <a:lstStyle/>
          <a:p>
            <a:r>
              <a:rPr lang="en-US" dirty="0">
                <a:latin typeface="fkGrotesk"/>
              </a:rPr>
              <a:t>Visual Intuition From Figure 1.17</a:t>
            </a:r>
            <a:br>
              <a:rPr lang="en-US" dirty="0">
                <a:latin typeface="fkGrotesk"/>
              </a:rPr>
            </a:br>
            <a:endParaRPr lang="en-US" dirty="0"/>
          </a:p>
        </p:txBody>
      </p:sp>
      <p:sp>
        <p:nvSpPr>
          <p:cNvPr id="3" name="Text Placeholder 2"/>
          <p:cNvSpPr>
            <a:spLocks noGrp="1"/>
          </p:cNvSpPr>
          <p:nvPr>
            <p:ph type="body" idx="1"/>
          </p:nvPr>
        </p:nvSpPr>
        <p:spPr>
          <a:xfrm>
            <a:off x="853017" y="1111453"/>
            <a:ext cx="10750550" cy="1477328"/>
          </a:xfrm>
        </p:spPr>
        <p:txBody>
          <a:bodyPr/>
          <a:lstStyle/>
          <a:p>
            <a:pPr marL="342900" indent="-342900" algn="l">
              <a:buFont typeface="Arial" panose="020B0604020202020204" pitchFamily="34" charset="0"/>
              <a:buChar char="•"/>
            </a:pPr>
            <a:r>
              <a:rPr lang="en-US" dirty="0" smtClean="0">
                <a:latin typeface="fkGroteskNeue"/>
              </a:rPr>
              <a:t>Impedance </a:t>
            </a:r>
            <a:r>
              <a:rPr lang="en-US" dirty="0">
                <a:latin typeface="fkGroteskNeue"/>
              </a:rPr>
              <a:t>plot (Fig. 1.17b): Peak at resonance is higher and narrower for larger </a:t>
            </a:r>
            <a:r>
              <a:rPr lang="en-US" i="1" dirty="0" err="1" smtClean="0">
                <a:latin typeface="KaTeX_Math"/>
              </a:rPr>
              <a:t>Rp</a:t>
            </a:r>
            <a:r>
              <a:rPr lang="en-US" dirty="0">
                <a:latin typeface="fkGroteskNeue"/>
              </a:rPr>
              <a:t>.</a:t>
            </a:r>
          </a:p>
          <a:p>
            <a:pPr marL="342900" indent="-342900" algn="l">
              <a:buFont typeface="Arial" panose="020B0604020202020204" pitchFamily="34" charset="0"/>
              <a:buChar char="•"/>
            </a:pPr>
            <a:r>
              <a:rPr lang="en-US" dirty="0">
                <a:latin typeface="fkGroteskNeue"/>
              </a:rPr>
              <a:t>Phase plot (Fig. 1.17c): The transition from +90° to –90° is more abrupt—a "sharper knee" at resonance for higher </a:t>
            </a:r>
            <a:r>
              <a:rPr lang="en-US" i="1" dirty="0" err="1" smtClean="0">
                <a:latin typeface="KaTeX_Math"/>
              </a:rPr>
              <a:t>Rp</a:t>
            </a:r>
            <a:r>
              <a:rPr lang="en-US" dirty="0">
                <a:latin typeface="fkGroteskNeue"/>
              </a:rPr>
              <a:t>.</a:t>
            </a:r>
          </a:p>
          <a:p>
            <a:pPr marL="742950" lvl="1" indent="-285750" algn="l">
              <a:buFont typeface="Arial" panose="020B0604020202020204" pitchFamily="34" charset="0"/>
              <a:buChar char="•"/>
            </a:pPr>
            <a:r>
              <a:rPr lang="en-US" dirty="0">
                <a:latin typeface="fkGroteskNeue"/>
              </a:rPr>
              <a:t>This means the circuit discriminates frequency more precisely, i.e., better filtering and less phase noise</a:t>
            </a:r>
            <a:r>
              <a:rPr lang="en-US" dirty="0" smtClean="0">
                <a:latin typeface="fkGroteskNeue"/>
              </a:rPr>
              <a:t>.</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766235" y="2686671"/>
            <a:ext cx="10706100" cy="2031325"/>
          </a:xfrm>
          <a:prstGeom prst="rect">
            <a:avLst/>
          </a:prstGeom>
        </p:spPr>
        <p:txBody>
          <a:bodyPr wrap="square">
            <a:spAutoFit/>
          </a:bodyPr>
          <a:lstStyle/>
          <a:p>
            <a:r>
              <a:rPr lang="en-US" b="0" i="0" dirty="0" smtClean="0">
                <a:effectLst/>
                <a:latin typeface="fkGrotesk"/>
              </a:rPr>
              <a:t>Practical Importance</a:t>
            </a:r>
          </a:p>
          <a:p>
            <a:pPr marL="285750" indent="-285750">
              <a:buFont typeface="Arial" panose="020B0604020202020204" pitchFamily="34" charset="0"/>
              <a:buChar char="•"/>
            </a:pPr>
            <a:r>
              <a:rPr lang="en-US" b="0" i="0" dirty="0" smtClean="0">
                <a:effectLst/>
                <a:latin typeface="fkGroteskNeue"/>
              </a:rPr>
              <a:t>High Q-tanks (large </a:t>
            </a:r>
            <a:r>
              <a:rPr lang="en-US" b="0" i="1" dirty="0" err="1" smtClean="0">
                <a:effectLst/>
                <a:latin typeface="KaTeX_Math"/>
              </a:rPr>
              <a:t>Rp</a:t>
            </a:r>
            <a:r>
              <a:rPr lang="en-US" b="0" i="0" dirty="0" smtClean="0">
                <a:effectLst/>
                <a:latin typeface="fkGroteskNeue"/>
              </a:rPr>
              <a:t>): narrow bandwidth, sharply defined resonance, critical for low-phase-noise oscillators and sensitive frequency-selective circuits.</a:t>
            </a:r>
          </a:p>
          <a:p>
            <a:pPr marL="285750" indent="-285750">
              <a:buFont typeface="Arial" panose="020B0604020202020204" pitchFamily="34" charset="0"/>
              <a:buChar char="•"/>
            </a:pPr>
            <a:r>
              <a:rPr lang="en-US" b="0" i="0" dirty="0" smtClean="0">
                <a:effectLst/>
                <a:latin typeface="fkGroteskNeue"/>
              </a:rPr>
              <a:t>Low Q-tanks (small </a:t>
            </a:r>
            <a:r>
              <a:rPr lang="en-US" b="0" i="1" dirty="0" err="1" smtClean="0">
                <a:effectLst/>
                <a:latin typeface="KaTeX_Math"/>
              </a:rPr>
              <a:t>Rp</a:t>
            </a:r>
            <a:r>
              <a:rPr lang="en-US" b="0" i="0" dirty="0" smtClean="0">
                <a:effectLst/>
                <a:latin typeface="fkGroteskNeue"/>
              </a:rPr>
              <a:t>): broad resonance, less frequency discrimination, more loss, higher phase noise.</a:t>
            </a:r>
          </a:p>
          <a:p>
            <a:pPr marL="285750" indent="-285750">
              <a:buFont typeface="Arial" panose="020B0604020202020204" pitchFamily="34" charset="0"/>
              <a:buChar char="•"/>
            </a:pPr>
            <a:r>
              <a:rPr lang="en-US" b="0" i="0" dirty="0" smtClean="0">
                <a:effectLst/>
                <a:latin typeface="fkGroteskNeue"/>
              </a:rPr>
              <a:t>Real-World Note: If inductor loss is modeled as series </a:t>
            </a:r>
            <a:r>
              <a:rPr lang="en-US" b="0" i="0" dirty="0" smtClean="0">
                <a:effectLst/>
                <a:latin typeface="KaTeX_Main"/>
              </a:rPr>
              <a:t>RS</a:t>
            </a:r>
            <a:r>
              <a:rPr lang="en-US" b="0" i="1" dirty="0" smtClean="0">
                <a:effectLst/>
                <a:latin typeface="KaTeX_Math"/>
              </a:rPr>
              <a:t>RS</a:t>
            </a:r>
            <a:r>
              <a:rPr lang="en-US" b="0" i="0" dirty="0" smtClean="0">
                <a:effectLst/>
                <a:latin typeface="fkGroteskNeue"/>
              </a:rPr>
              <a:t>, phase stays near zero at DC, but practical impact is small for most oscillator design uses.</a:t>
            </a:r>
            <a:endParaRPr lang="en-US" b="0" i="0" dirty="0">
              <a:effectLst/>
              <a:latin typeface="fkGroteskNeue"/>
            </a:endParaRPr>
          </a:p>
        </p:txBody>
      </p:sp>
      <p:pic>
        <p:nvPicPr>
          <p:cNvPr id="8" name="Picture 7"/>
          <p:cNvPicPr>
            <a:picLocks noChangeAspect="1"/>
          </p:cNvPicPr>
          <p:nvPr/>
        </p:nvPicPr>
        <p:blipFill>
          <a:blip r:embed="rId2"/>
          <a:stretch>
            <a:fillRect/>
          </a:stretch>
        </p:blipFill>
        <p:spPr>
          <a:xfrm>
            <a:off x="2900077" y="4894918"/>
            <a:ext cx="6120914" cy="1963082"/>
          </a:xfrm>
          <a:prstGeom prst="rect">
            <a:avLst/>
          </a:prstGeom>
        </p:spPr>
      </p:pic>
    </p:spTree>
    <p:extLst>
      <p:ext uri="{BB962C8B-B14F-4D97-AF65-F5344CB8AC3E}">
        <p14:creationId xmlns:p14="http://schemas.microsoft.com/office/powerpoint/2010/main" val="389686714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Teaching </a:t>
            </a:r>
            <a:r>
              <a:rPr lang="en-US" dirty="0" smtClean="0">
                <a:latin typeface="fkGrotesk"/>
              </a:rPr>
              <a:t>Takeaway</a:t>
            </a:r>
            <a:endParaRPr lang="en-US" dirty="0"/>
          </a:p>
        </p:txBody>
      </p:sp>
      <p:sp>
        <p:nvSpPr>
          <p:cNvPr id="3" name="Text Placeholder 2"/>
          <p:cNvSpPr>
            <a:spLocks noGrp="1"/>
          </p:cNvSpPr>
          <p:nvPr>
            <p:ph type="body" idx="1"/>
          </p:nvPr>
        </p:nvSpPr>
        <p:spPr>
          <a:xfrm>
            <a:off x="844550" y="1327353"/>
            <a:ext cx="10526183" cy="3077766"/>
          </a:xfrm>
        </p:spPr>
        <p:txBody>
          <a:bodyPr/>
          <a:lstStyle/>
          <a:p>
            <a:pPr marL="342900" indent="-342900" algn="l">
              <a:buFont typeface="Arial" panose="020B0604020202020204" pitchFamily="34" charset="0"/>
              <a:buChar char="•"/>
            </a:pPr>
            <a:r>
              <a:rPr lang="en-US" dirty="0" smtClean="0">
                <a:latin typeface="fkGroteskNeue"/>
              </a:rPr>
              <a:t>A</a:t>
            </a:r>
            <a:r>
              <a:rPr lang="en-US" dirty="0">
                <a:latin typeface="fkGroteskNeue"/>
              </a:rPr>
              <a:t> larger parallel resistance in the LC tank sharpens both resonance (impedance peak) and phase transition, making oscillators more spectrally pure.</a:t>
            </a:r>
          </a:p>
          <a:p>
            <a:pPr marL="342900" indent="-342900" algn="l">
              <a:buFont typeface="Arial" panose="020B0604020202020204" pitchFamily="34" charset="0"/>
              <a:buChar char="•"/>
            </a:pPr>
            <a:r>
              <a:rPr lang="en-US" dirty="0">
                <a:latin typeface="fkGroteskNeue"/>
              </a:rPr>
              <a:t>The slope of phase at resonance is proportional to </a:t>
            </a:r>
            <a:r>
              <a:rPr lang="en-US" i="1" dirty="0" err="1" smtClean="0">
                <a:latin typeface="KaTeX_Math"/>
              </a:rPr>
              <a:t>Rp</a:t>
            </a:r>
            <a:r>
              <a:rPr lang="en-US" dirty="0">
                <a:latin typeface="fkGroteskNeue"/>
              </a:rPr>
              <a:t>; doubling </a:t>
            </a:r>
            <a:r>
              <a:rPr lang="en-US" i="1" dirty="0" err="1" smtClean="0">
                <a:latin typeface="KaTeX_Math"/>
              </a:rPr>
              <a:t>Rp</a:t>
            </a:r>
            <a:r>
              <a:rPr lang="en-US" dirty="0">
                <a:latin typeface="fkGroteskNeue"/>
              </a:rPr>
              <a:t> doubles sharpness.</a:t>
            </a:r>
          </a:p>
          <a:p>
            <a:pPr marL="342900" indent="-342900" algn="l">
              <a:buFont typeface="Arial" panose="020B0604020202020204" pitchFamily="34" charset="0"/>
              <a:buChar char="•"/>
            </a:pPr>
            <a:r>
              <a:rPr lang="en-US" dirty="0">
                <a:latin typeface="fkGroteskNeue"/>
              </a:rPr>
              <a:t>Use phase and impedance plots to explain how Q and loss shape oscillator stability and selectivity.</a:t>
            </a:r>
          </a:p>
          <a:p>
            <a:pPr algn="l"/>
            <a:r>
              <a:rPr lang="en-US" dirty="0">
                <a:latin typeface="fkGroteskNeue"/>
              </a:rPr>
              <a:t>This links the physical component choice (high-Q inductors/capacitors, low-loss PCB routing) to clear circuit metrics and graphical behavior, ideal for illustrating advanced oscillator design </a:t>
            </a:r>
            <a:r>
              <a:rPr lang="en-US" dirty="0" err="1">
                <a:latin typeface="fkGroteskNeue"/>
              </a:rPr>
              <a:t>fundamentals.Here</a:t>
            </a:r>
            <a:r>
              <a:rPr lang="en-US" dirty="0">
                <a:latin typeface="fkGroteskNeue"/>
              </a:rPr>
              <a:t> is a detailed, pedagogically focused explanation of the loss effect and phase slope in LC tanks, directly building on the equations and figures in your textbook.</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77324918"/>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844550" y="1327353"/>
            <a:ext cx="10314517" cy="1846659"/>
          </a:xfrm>
        </p:spPr>
        <p:txBody>
          <a:bodyPr/>
          <a:lstStyle/>
          <a:p>
            <a:pPr algn="l"/>
            <a:r>
              <a:rPr lang="en-US" dirty="0">
                <a:latin typeface="fkGrotesk"/>
              </a:rPr>
              <a:t>Practical Significance</a:t>
            </a:r>
          </a:p>
          <a:p>
            <a:pPr marL="342900" indent="-342900" algn="l">
              <a:buFont typeface="Arial" panose="020B0604020202020204" pitchFamily="34" charset="0"/>
              <a:buChar char="•"/>
            </a:pPr>
            <a:r>
              <a:rPr lang="en-US" dirty="0">
                <a:latin typeface="fkGroteskNeue"/>
              </a:rPr>
              <a:t>High-Q (large </a:t>
            </a:r>
            <a:r>
              <a:rPr lang="en-US" i="1" dirty="0" err="1" smtClean="0">
                <a:latin typeface="KaTeX_Math"/>
              </a:rPr>
              <a:t>Rp</a:t>
            </a:r>
            <a:r>
              <a:rPr lang="en-US" dirty="0">
                <a:latin typeface="fkGroteskNeue"/>
              </a:rPr>
              <a:t>) tanks discriminate frequency well, reduce close-in phase noise, and are desirable for precise oscillators.</a:t>
            </a:r>
          </a:p>
          <a:p>
            <a:pPr marL="342900" indent="-342900" algn="l">
              <a:buFont typeface="Arial" panose="020B0604020202020204" pitchFamily="34" charset="0"/>
              <a:buChar char="•"/>
            </a:pPr>
            <a:r>
              <a:rPr lang="en-US" dirty="0">
                <a:latin typeface="fkGroteskNeue"/>
              </a:rPr>
              <a:t>Low-Q (small </a:t>
            </a:r>
            <a:r>
              <a:rPr lang="en-US" i="1" dirty="0" err="1" smtClean="0">
                <a:latin typeface="KaTeX_Math"/>
              </a:rPr>
              <a:t>Rp</a:t>
            </a:r>
            <a:r>
              <a:rPr lang="en-US" dirty="0">
                <a:latin typeface="fkGroteskNeue"/>
              </a:rPr>
              <a:t>) tanks have broader, less defined resonance, leading to increased loss and degradation of oscillator purity</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2206439" y="3670243"/>
            <a:ext cx="7220321" cy="2209914"/>
          </a:xfrm>
          <a:prstGeom prst="rect">
            <a:avLst/>
          </a:prstGeom>
        </p:spPr>
      </p:pic>
    </p:spTree>
    <p:extLst>
      <p:ext uri="{BB962C8B-B14F-4D97-AF65-F5344CB8AC3E}">
        <p14:creationId xmlns:p14="http://schemas.microsoft.com/office/powerpoint/2010/main" val="1993295758"/>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Quality Factor </a:t>
            </a:r>
            <a:r>
              <a:rPr lang="en-US" i="1" dirty="0" smtClean="0"/>
              <a:t>Q</a:t>
            </a:r>
            <a:r>
              <a:rPr lang="en-US" dirty="0"/>
              <a:t> </a:t>
            </a:r>
            <a:r>
              <a:rPr lang="en-US" dirty="0" smtClean="0"/>
              <a:t>Fundamentals</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617200" cy="4765087"/>
              </a:xfrm>
            </p:spPr>
            <p:txBody>
              <a:bodyPr/>
              <a:lstStyle/>
              <a:p>
                <a:pPr marL="342900" marR="0" lvl="0" indent="-342900">
                  <a:spcBef>
                    <a:spcPts val="0"/>
                  </a:spcBef>
                  <a:spcAft>
                    <a:spcPts val="600"/>
                  </a:spcAft>
                  <a:buFont typeface="Symbol" panose="05050102010706020507" pitchFamily="18" charset="2"/>
                  <a:buChar char=""/>
                  <a:tabLst>
                    <a:tab pos="571500" algn="l"/>
                  </a:tabLst>
                </a:pP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oMath>
                </a14:m>
                <a:r>
                  <a:rPr lang="en-US" dirty="0">
                    <a:solidFill>
                      <a:srgbClr val="000000"/>
                    </a:solidFill>
                    <a:latin typeface="inter"/>
                    <a:ea typeface="inter"/>
                    <a:cs typeface="inter"/>
                  </a:rPr>
                  <a:t> quantifies how </a:t>
                </a:r>
                <a:r>
                  <a:rPr lang="en-US" b="1" dirty="0">
                    <a:solidFill>
                      <a:srgbClr val="000000"/>
                    </a:solidFill>
                    <a:latin typeface="inter"/>
                    <a:ea typeface="inter"/>
                    <a:cs typeface="inter"/>
                  </a:rPr>
                  <a:t>“good”</a:t>
                </a:r>
                <a:r>
                  <a:rPr lang="en-US" dirty="0">
                    <a:solidFill>
                      <a:srgbClr val="000000"/>
                    </a:solidFill>
                    <a:latin typeface="inter"/>
                    <a:ea typeface="inter"/>
                    <a:cs typeface="inter"/>
                  </a:rPr>
                  <a:t> an inductor or resonator is; higher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oMath>
                </a14:m>
                <a:r>
                  <a:rPr lang="en-US" dirty="0">
                    <a:solidFill>
                      <a:srgbClr val="000000"/>
                    </a:solidFill>
                    <a:latin typeface="inter"/>
                    <a:ea typeface="inter"/>
                    <a:cs typeface="inter"/>
                  </a:rPr>
                  <a:t> means lower loss and sharper resonance.</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0"/>
                  </a:spcBef>
                  <a:spcAft>
                    <a:spcPts val="600"/>
                  </a:spcAft>
                  <a:buFont typeface="Symbol" panose="05050102010706020507" pitchFamily="18" charset="2"/>
                  <a:buChar char=""/>
                  <a:tabLst>
                    <a:tab pos="571500" algn="l"/>
                  </a:tabLst>
                </a:pPr>
                <a:r>
                  <a:rPr lang="en-US" dirty="0">
                    <a:solidFill>
                      <a:srgbClr val="000000"/>
                    </a:solidFill>
                    <a:latin typeface="inter"/>
                    <a:ea typeface="inter"/>
                    <a:cs typeface="inter"/>
                  </a:rPr>
                  <a:t>For an inductor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oMath>
                </a14:m>
                <a:r>
                  <a:rPr lang="en-US" dirty="0">
                    <a:solidFill>
                      <a:srgbClr val="000000"/>
                    </a:solidFill>
                    <a:latin typeface="inter"/>
                    <a:ea typeface="inter"/>
                    <a:cs typeface="inter"/>
                  </a:rPr>
                  <a:t> with series resistance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a:spcBef>
                    <a:spcPts val="0"/>
                  </a:spcBef>
                  <a:spcAft>
                    <a:spcPts val="600"/>
                  </a:spcAft>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0"/>
                  </a:spcBef>
                  <a:spcAft>
                    <a:spcPts val="600"/>
                  </a:spcAft>
                  <a:buFont typeface="Symbol" panose="05050102010706020507" pitchFamily="18" charset="2"/>
                  <a:buChar char=""/>
                  <a:tabLst>
                    <a:tab pos="571500" algn="l"/>
                  </a:tabLst>
                </a:pPr>
                <a:r>
                  <a:rPr lang="en-US" dirty="0">
                    <a:solidFill>
                      <a:srgbClr val="000000"/>
                    </a:solidFill>
                    <a:latin typeface="inter"/>
                    <a:ea typeface="inter"/>
                    <a:cs typeface="inter"/>
                  </a:rPr>
                  <a:t>Alternatively, from equivalent </a:t>
                </a:r>
                <a:r>
                  <a:rPr lang="en-US" i="1" dirty="0">
                    <a:solidFill>
                      <a:srgbClr val="000000"/>
                    </a:solidFill>
                    <a:latin typeface="inter"/>
                    <a:ea typeface="inter"/>
                    <a:cs typeface="inter"/>
                  </a:rPr>
                  <a:t>parallel</a:t>
                </a:r>
                <a:r>
                  <a:rPr lang="en-US" dirty="0">
                    <a:solidFill>
                      <a:srgbClr val="000000"/>
                    </a:solidFill>
                    <a:latin typeface="inter"/>
                    <a:ea typeface="inter"/>
                    <a:cs typeface="inter"/>
                  </a:rPr>
                  <a:t> resistance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dirty="0">
                    <a:solidFill>
                      <a:srgbClr val="000000"/>
                    </a:solidFill>
                    <a:latin typeface="inter"/>
                    <a:ea typeface="inter"/>
                    <a:cs typeface="inter"/>
                  </a:rPr>
                  <a:t> and inductance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a:spcBef>
                    <a:spcPts val="0"/>
                  </a:spcBef>
                  <a:spcAft>
                    <a:spcPts val="600"/>
                  </a:spcAft>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0"/>
                  </a:spcBef>
                  <a:spcAft>
                    <a:spcPts val="600"/>
                  </a:spcAft>
                  <a:buFont typeface="Symbol" panose="05050102010706020507" pitchFamily="18" charset="2"/>
                  <a:buChar char=""/>
                  <a:tabLst>
                    <a:tab pos="571500" algn="l"/>
                  </a:tabLst>
                </a:pPr>
                <a:r>
                  <a:rPr lang="en-US" dirty="0">
                    <a:solidFill>
                      <a:srgbClr val="000000"/>
                    </a:solidFill>
                    <a:latin typeface="inter"/>
                    <a:ea typeface="inter"/>
                    <a:cs typeface="inter"/>
                  </a:rPr>
                  <a:t>Thus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dirty="0">
                    <a:solidFill>
                      <a:srgbClr val="000000"/>
                    </a:solidFill>
                    <a:latin typeface="inter"/>
                    <a:ea typeface="inter"/>
                    <a:cs typeface="inter"/>
                  </a:rPr>
                  <a:t> should be large for a high-Q and better oscillator tank.</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0"/>
                  </a:spcBef>
                  <a:spcAft>
                    <a:spcPts val="600"/>
                  </a:spcAft>
                  <a:buFont typeface="Symbol" panose="05050102010706020507" pitchFamily="18" charset="2"/>
                  <a:buChar char=""/>
                  <a:tabLst>
                    <a:tab pos="571500" algn="l"/>
                  </a:tabLst>
                </a:pP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oMath>
                </a14:m>
                <a:r>
                  <a:rPr lang="en-US" dirty="0">
                    <a:solidFill>
                      <a:srgbClr val="000000"/>
                    </a:solidFill>
                    <a:latin typeface="inter"/>
                    <a:ea typeface="inter"/>
                    <a:cs typeface="inter"/>
                  </a:rPr>
                  <a:t> can also be viewed as proportional to the </a:t>
                </a:r>
                <a:r>
                  <a:rPr lang="en-US" b="1" dirty="0">
                    <a:solidFill>
                      <a:srgbClr val="000000"/>
                    </a:solidFill>
                    <a:latin typeface="inter"/>
                    <a:ea typeface="inter"/>
                    <a:cs typeface="inter"/>
                  </a:rPr>
                  <a:t>phase slope</a:t>
                </a:r>
                <a:r>
                  <a:rPr lang="en-US" dirty="0">
                    <a:solidFill>
                      <a:srgbClr val="000000"/>
                    </a:solidFill>
                    <a:latin typeface="inter"/>
                    <a:ea typeface="inter"/>
                    <a:cs typeface="inter"/>
                  </a:rPr>
                  <a:t> of the tank impedance at resonance:</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a:spcBef>
                    <a:spcPts val="0"/>
                  </a:spcBef>
                  <a:spcAft>
                    <a:spcPts val="600"/>
                  </a:spcAft>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num>
                        <m:den>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d>
                        <m:dPr>
                          <m:begChr m:val="|"/>
                          <m:endChr m:val="|"/>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m:t>
                              </m:r>
                            </m:num>
                            <m:den>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den>
                          </m:f>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d>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17200" cy="4765087"/>
              </a:xfrm>
              <a:blipFill>
                <a:blip r:embed="rId2"/>
                <a:stretch>
                  <a:fillRect l="-1493" t="-1921"/>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294300796"/>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Amplifier with Tuned </a:t>
            </a:r>
            <a:r>
              <a:rPr lang="en-US" dirty="0" smtClean="0">
                <a:latin typeface="fkGrotesk"/>
              </a:rPr>
              <a:t>Load</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49" y="1327353"/>
                <a:ext cx="5700183" cy="3137910"/>
              </a:xfrm>
            </p:spPr>
            <p:txBody>
              <a:bodyPr/>
              <a:lstStyle/>
              <a:p>
                <a:pPr marR="0" lvl="0" algn="just">
                  <a:spcBef>
                    <a:spcPts val="525"/>
                  </a:spcBef>
                  <a:spcAft>
                    <a:spcPts val="525"/>
                  </a:spcAft>
                  <a:tabLst>
                    <a:tab pos="571500" algn="l"/>
                  </a:tabLst>
                </a:pPr>
                <a:r>
                  <a:rPr lang="en-US" b="1" dirty="0">
                    <a:solidFill>
                      <a:srgbClr val="000000"/>
                    </a:solidFill>
                    <a:latin typeface="inter"/>
                    <a:ea typeface="inter"/>
                    <a:cs typeface="inter"/>
                  </a:rPr>
                  <a:t>(a)</a:t>
                </a:r>
                <a:r>
                  <a:rPr lang="en-US" dirty="0">
                    <a:solidFill>
                      <a:srgbClr val="000000"/>
                    </a:solidFill>
                    <a:latin typeface="inter"/>
                    <a:ea typeface="inter"/>
                    <a:cs typeface="inter"/>
                  </a:rPr>
                  <a:t> Shows a common-source (CS) stage loaded by a parallel </a:t>
                </a:r>
                <a:r>
                  <a:rPr lang="en-US" dirty="0" err="1">
                    <a:solidFill>
                      <a:srgbClr val="000000"/>
                    </a:solidFill>
                    <a:latin typeface="inter"/>
                    <a:ea typeface="inter"/>
                    <a:cs typeface="inter"/>
                  </a:rPr>
                  <a:t>lossy</a:t>
                </a:r>
                <a:r>
                  <a:rPr lang="en-US" dirty="0">
                    <a:solidFill>
                      <a:srgbClr val="000000"/>
                    </a:solidFill>
                    <a:latin typeface="inter"/>
                    <a:ea typeface="inter"/>
                    <a:cs typeface="inter"/>
                  </a:rPr>
                  <a:t> LC tank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R="0" lvl="0" algn="just">
                  <a:spcBef>
                    <a:spcPts val="525"/>
                  </a:spcBef>
                  <a:spcAft>
                    <a:spcPts val="525"/>
                  </a:spcAft>
                  <a:tabLst>
                    <a:tab pos="571500" algn="l"/>
                  </a:tabLst>
                </a:pPr>
                <a:r>
                  <a:rPr lang="en-US" b="1" dirty="0">
                    <a:solidFill>
                      <a:srgbClr val="000000"/>
                    </a:solidFill>
                    <a:latin typeface="inter"/>
                    <a:ea typeface="inter"/>
                    <a:cs typeface="inter"/>
                  </a:rPr>
                  <a:t>(b)</a:t>
                </a:r>
                <a:r>
                  <a:rPr lang="en-US" dirty="0">
                    <a:solidFill>
                      <a:srgbClr val="000000"/>
                    </a:solidFill>
                    <a:latin typeface="inter"/>
                    <a:ea typeface="inter"/>
                    <a:cs typeface="inter"/>
                  </a:rPr>
                  <a:t> Equivalent circuit at resonance, simplifying to an effective voltage gain proportional to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R="0" lvl="0" algn="just">
                  <a:spcBef>
                    <a:spcPts val="525"/>
                  </a:spcBef>
                  <a:spcAft>
                    <a:spcPts val="525"/>
                  </a:spcAft>
                  <a:tabLst>
                    <a:tab pos="571500" algn="l"/>
                  </a:tabLst>
                </a:pPr>
                <a:r>
                  <a:rPr lang="en-US" b="1" dirty="0">
                    <a:solidFill>
                      <a:srgbClr val="000000"/>
                    </a:solidFill>
                    <a:latin typeface="inter"/>
                    <a:ea typeface="inter"/>
                    <a:cs typeface="inter"/>
                  </a:rPr>
                  <a:t>(c)</a:t>
                </a:r>
                <a:r>
                  <a:rPr lang="en-US" dirty="0">
                    <a:solidFill>
                      <a:srgbClr val="000000"/>
                    </a:solidFill>
                    <a:latin typeface="inter"/>
                    <a:ea typeface="inter"/>
                    <a:cs typeface="inter"/>
                  </a:rPr>
                  <a:t> Frequency response highlights sharp gain peak at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dirty="0">
                    <a:solidFill>
                      <a:srgbClr val="000000"/>
                    </a:solidFill>
                    <a:latin typeface="inter"/>
                    <a:ea typeface="inter"/>
                    <a:cs typeface="inter"/>
                  </a:rPr>
                  <a:t> and 180° phase shift.</a:t>
                </a: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spcAft>
                    <a:spcPts val="1050"/>
                  </a:spcAft>
                </a:pPr>
                <a:r>
                  <a:rPr lang="en-US" dirty="0">
                    <a:solidFill>
                      <a:srgbClr val="000000"/>
                    </a:solidFill>
                    <a:latin typeface="inter"/>
                    <a:ea typeface="inter"/>
                    <a:cs typeface="inter"/>
                  </a:rPr>
                  <a:t>This tank behaves like a </a:t>
                </a:r>
                <a:r>
                  <a:rPr lang="en-US" b="1" dirty="0">
                    <a:solidFill>
                      <a:srgbClr val="000000"/>
                    </a:solidFill>
                    <a:latin typeface="inter"/>
                    <a:ea typeface="inter"/>
                    <a:cs typeface="inter"/>
                  </a:rPr>
                  <a:t>band-pass filter</a:t>
                </a:r>
                <a:r>
                  <a:rPr lang="en-US" dirty="0">
                    <a:solidFill>
                      <a:srgbClr val="000000"/>
                    </a:solidFill>
                    <a:latin typeface="inter"/>
                    <a:ea typeface="inter"/>
                    <a:cs typeface="inter"/>
                  </a:rPr>
                  <a:t> (BPF), enhancing amplification near resonance and suppressing off-resonance signals</a:t>
                </a:r>
                <a:r>
                  <a:rPr lang="en-US" dirty="0" smtClean="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49" y="1327353"/>
                <a:ext cx="5700183" cy="3137910"/>
              </a:xfrm>
              <a:blipFill>
                <a:blip r:embed="rId2"/>
                <a:stretch>
                  <a:fillRect l="-2781" t="-2335" r="-2674" b="-4086"/>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3"/>
          <a:srcRect l="5312" r="3837"/>
          <a:stretch/>
        </p:blipFill>
        <p:spPr>
          <a:xfrm>
            <a:off x="6976533" y="1163015"/>
            <a:ext cx="5215467" cy="3626036"/>
          </a:xfrm>
          <a:prstGeom prst="rect">
            <a:avLst/>
          </a:prstGeom>
        </p:spPr>
      </p:pic>
      <p:sp>
        <p:nvSpPr>
          <p:cNvPr id="8" name="Rectangle 7"/>
          <p:cNvSpPr/>
          <p:nvPr/>
        </p:nvSpPr>
        <p:spPr>
          <a:xfrm>
            <a:off x="7133026" y="4807178"/>
            <a:ext cx="5109091" cy="461665"/>
          </a:xfrm>
          <a:prstGeom prst="rect">
            <a:avLst/>
          </a:prstGeom>
        </p:spPr>
        <p:txBody>
          <a:bodyPr wrap="none">
            <a:spAutoFit/>
          </a:bodyPr>
          <a:lstStyle/>
          <a:p>
            <a:pPr algn="ctr"/>
            <a:r>
              <a:rPr lang="en-US" sz="1200" b="1" i="0" u="none" strike="noStrike" baseline="0" dirty="0" smtClean="0">
                <a:solidFill>
                  <a:srgbClr val="FF0000"/>
                </a:solidFill>
                <a:latin typeface="T3Font_258"/>
              </a:rPr>
              <a:t>Figure 1.18 </a:t>
            </a:r>
            <a:r>
              <a:rPr lang="en-US" sz="1200" b="1" i="0" u="none" strike="noStrike" baseline="0" dirty="0" smtClean="0">
                <a:solidFill>
                  <a:srgbClr val="FF0000"/>
                </a:solidFill>
                <a:latin typeface="T3Font_249"/>
              </a:rPr>
              <a:t>(a) CS stage using a tuned load, (b) equivalent circuit at</a:t>
            </a:r>
          </a:p>
          <a:p>
            <a:pPr algn="ctr"/>
            <a:r>
              <a:rPr lang="en-US" sz="1200" b="1" i="0" u="none" strike="noStrike" baseline="0" dirty="0" smtClean="0">
                <a:solidFill>
                  <a:srgbClr val="FF0000"/>
                </a:solidFill>
                <a:latin typeface="T3Font_249"/>
              </a:rPr>
              <a:t> resonance, and (c) frequency response.</a:t>
            </a:r>
            <a:endParaRPr lang="en-US" sz="3600" b="1" dirty="0">
              <a:solidFill>
                <a:srgbClr val="FF0000"/>
              </a:solidFill>
            </a:endParaRPr>
          </a:p>
        </p:txBody>
      </p:sp>
    </p:spTree>
    <p:extLst>
      <p:ext uri="{BB962C8B-B14F-4D97-AF65-F5344CB8AC3E}">
        <p14:creationId xmlns:p14="http://schemas.microsoft.com/office/powerpoint/2010/main" val="130152813"/>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7550" y="0"/>
            <a:ext cx="11029950" cy="1046440"/>
          </a:xfrm>
        </p:spPr>
        <p:txBody>
          <a:bodyPr/>
          <a:lstStyle/>
          <a:p>
            <a:r>
              <a:rPr lang="en-US" dirty="0">
                <a:latin typeface="fkGrotesk"/>
              </a:rPr>
              <a:t>Explaining Q Factor for Ring Oscillators — Fundamental, Intuitive </a:t>
            </a:r>
            <a:r>
              <a:rPr lang="en-US" dirty="0" smtClean="0">
                <a:latin typeface="fkGrotesk"/>
              </a:rPr>
              <a:t>Approach</a:t>
            </a:r>
            <a:endParaRPr lang="en-US" dirty="0"/>
          </a:p>
        </p:txBody>
      </p:sp>
      <p:sp>
        <p:nvSpPr>
          <p:cNvPr id="3" name="Text Placeholder 2"/>
          <p:cNvSpPr>
            <a:spLocks noGrp="1"/>
          </p:cNvSpPr>
          <p:nvPr>
            <p:ph type="body" idx="1"/>
          </p:nvPr>
        </p:nvSpPr>
        <p:spPr>
          <a:xfrm>
            <a:off x="802217" y="1179187"/>
            <a:ext cx="10610850" cy="1231106"/>
          </a:xfrm>
        </p:spPr>
        <p:txBody>
          <a:bodyPr/>
          <a:lstStyle/>
          <a:p>
            <a:pPr algn="just"/>
            <a:r>
              <a:rPr lang="en-US" dirty="0" smtClean="0">
                <a:latin typeface="fkGroteskNeue"/>
              </a:rPr>
              <a:t>The</a:t>
            </a:r>
            <a:r>
              <a:rPr lang="en-US" dirty="0">
                <a:latin typeface="fkGroteskNeue"/>
              </a:rPr>
              <a:t> Quality Factor (Q) measures how effectively an oscillator stores energy compared to how much energy it loses each cycle. Higher Q means lower energy loss and more stable, pure oscillations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770466" y="2192004"/>
            <a:ext cx="10600267" cy="1200329"/>
          </a:xfrm>
          <a:prstGeom prst="rect">
            <a:avLst/>
          </a:prstGeom>
          <a:ln>
            <a:solidFill>
              <a:schemeClr val="accent1"/>
            </a:solidFill>
          </a:ln>
        </p:spPr>
        <p:txBody>
          <a:bodyPr wrap="square">
            <a:spAutoFit/>
          </a:bodyPr>
          <a:lstStyle/>
          <a:p>
            <a:r>
              <a:rPr lang="en-US" b="0" i="0" dirty="0" smtClean="0">
                <a:effectLst/>
                <a:latin typeface="fkGrotesk"/>
              </a:rPr>
              <a:t>What is Q Factor?</a:t>
            </a:r>
          </a:p>
          <a:p>
            <a:pPr marL="285750" indent="-285750">
              <a:buFont typeface="Arial" panose="020B0604020202020204" pitchFamily="34" charset="0"/>
              <a:buChar char="•"/>
            </a:pPr>
            <a:r>
              <a:rPr lang="en-US" b="0" i="1" dirty="0" smtClean="0">
                <a:effectLst/>
                <a:latin typeface="fkGroteskNeue"/>
              </a:rPr>
              <a:t>Q factor</a:t>
            </a:r>
            <a:r>
              <a:rPr lang="en-US" b="0" i="0" dirty="0" smtClean="0">
                <a:effectLst/>
                <a:latin typeface="fkGroteskNeue"/>
              </a:rPr>
              <a:t> = (Energy stored) / (Energy lost per cycle), or equivalently, how many oscillation cycles happen before the energy decays significantly.</a:t>
            </a:r>
          </a:p>
          <a:p>
            <a:pPr marL="285750" indent="-285750">
              <a:buFont typeface="Arial" panose="020B0604020202020204" pitchFamily="34" charset="0"/>
              <a:buChar char="•"/>
            </a:pPr>
            <a:r>
              <a:rPr lang="en-US" b="0" i="0" dirty="0" smtClean="0">
                <a:effectLst/>
                <a:latin typeface="fkGroteskNeue"/>
              </a:rPr>
              <a:t>Higher Q → oscillations die out slowly if not sustained; Lower Q → faster decay.</a:t>
            </a:r>
            <a:endParaRPr lang="en-US" b="0" i="0" dirty="0">
              <a:effectLst/>
              <a:latin typeface="fkGroteskNeue"/>
            </a:endParaRPr>
          </a:p>
        </p:txBody>
      </p:sp>
      <p:sp>
        <p:nvSpPr>
          <p:cNvPr id="8" name="Rectangle 7"/>
          <p:cNvSpPr/>
          <p:nvPr/>
        </p:nvSpPr>
        <p:spPr>
          <a:xfrm>
            <a:off x="660399" y="3432307"/>
            <a:ext cx="11243733" cy="2585323"/>
          </a:xfrm>
          <a:prstGeom prst="rect">
            <a:avLst/>
          </a:prstGeom>
          <a:ln>
            <a:solidFill>
              <a:srgbClr val="FF0000"/>
            </a:solidFill>
          </a:ln>
        </p:spPr>
        <p:txBody>
          <a:bodyPr wrap="square">
            <a:spAutoFit/>
          </a:bodyPr>
          <a:lstStyle/>
          <a:p>
            <a:r>
              <a:rPr lang="en-US" b="0" i="0" dirty="0" smtClean="0">
                <a:effectLst/>
                <a:latin typeface="fkGrotesk"/>
              </a:rPr>
              <a:t>Q Factor in Ring Oscillators</a:t>
            </a:r>
          </a:p>
          <a:p>
            <a:pPr marL="285750" indent="-285750">
              <a:buFont typeface="Arial" panose="020B0604020202020204" pitchFamily="34" charset="0"/>
              <a:buChar char="•"/>
            </a:pPr>
            <a:r>
              <a:rPr lang="en-US" b="0" i="0" dirty="0" smtClean="0">
                <a:effectLst/>
                <a:latin typeface="fkGroteskNeue"/>
              </a:rPr>
              <a:t>In a ring oscillator, energy is not stored in a traditional reactive tank (LC) but is instead maintained through delay and gain in cascaded inverter stages.</a:t>
            </a:r>
          </a:p>
          <a:p>
            <a:pPr marL="285750" indent="-285750">
              <a:buFont typeface="Arial" panose="020B0604020202020204" pitchFamily="34" charset="0"/>
              <a:buChar char="•"/>
            </a:pPr>
            <a:r>
              <a:rPr lang="en-US" b="0" i="0" dirty="0" smtClean="0">
                <a:effectLst/>
                <a:latin typeface="fkGroteskNeue"/>
              </a:rPr>
              <a:t>Q is generally low (3–10 range) because of intrinsic device losses, switching losses, and lack of real energy storage.</a:t>
            </a:r>
          </a:p>
          <a:p>
            <a:r>
              <a:rPr lang="en-US" b="0" i="0" dirty="0" smtClean="0">
                <a:effectLst/>
                <a:latin typeface="fkGroteskNeue"/>
              </a:rPr>
              <a:t>This means:</a:t>
            </a:r>
          </a:p>
          <a:p>
            <a:pPr marL="742950" lvl="1" indent="-285750">
              <a:buFont typeface="Arial" panose="020B0604020202020204" pitchFamily="34" charset="0"/>
              <a:buChar char="•"/>
            </a:pPr>
            <a:r>
              <a:rPr lang="en-US" b="0" i="0" dirty="0" smtClean="0">
                <a:effectLst/>
                <a:latin typeface="fkGroteskNeue"/>
              </a:rPr>
              <a:t>Oscillations have relatively broad frequency spectrum (less selective).</a:t>
            </a:r>
          </a:p>
          <a:p>
            <a:pPr marL="742950" lvl="1" indent="-285750">
              <a:buFont typeface="Arial" panose="020B0604020202020204" pitchFamily="34" charset="0"/>
              <a:buChar char="•"/>
            </a:pPr>
            <a:r>
              <a:rPr lang="en-US" b="0" i="0" dirty="0" smtClean="0">
                <a:effectLst/>
                <a:latin typeface="fkGroteskNeue"/>
              </a:rPr>
              <a:t>More phase noise compared to LC oscillators.</a:t>
            </a:r>
          </a:p>
          <a:p>
            <a:pPr marL="742950" lvl="1" indent="-285750">
              <a:buFont typeface="Arial" panose="020B0604020202020204" pitchFamily="34" charset="0"/>
              <a:buChar char="•"/>
            </a:pPr>
            <a:r>
              <a:rPr lang="en-US" b="0" i="0" dirty="0" smtClean="0">
                <a:effectLst/>
                <a:latin typeface="fkGroteskNeue"/>
              </a:rPr>
              <a:t>But it is simple, compact, and easily tuned by supply voltage or transistor sizing.</a:t>
            </a:r>
            <a:endParaRPr lang="en-US" b="0" i="0" dirty="0">
              <a:effectLst/>
              <a:latin typeface="fkGroteskNeue"/>
            </a:endParaRPr>
          </a:p>
        </p:txBody>
      </p:sp>
    </p:spTree>
    <p:extLst>
      <p:ext uri="{BB962C8B-B14F-4D97-AF65-F5344CB8AC3E}">
        <p14:creationId xmlns:p14="http://schemas.microsoft.com/office/powerpoint/2010/main" val="1980055621"/>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Measuring and Visualizing Q: The Ring-Down </a:t>
            </a:r>
            <a:r>
              <a:rPr lang="en-US" dirty="0" smtClean="0">
                <a:latin typeface="fkGrotesk"/>
              </a:rPr>
              <a:t>Method</a:t>
            </a:r>
            <a:endParaRPr lang="en-US" dirty="0"/>
          </a:p>
        </p:txBody>
      </p:sp>
      <p:sp>
        <p:nvSpPr>
          <p:cNvPr id="3" name="Text Placeholder 2"/>
          <p:cNvSpPr>
            <a:spLocks noGrp="1"/>
          </p:cNvSpPr>
          <p:nvPr>
            <p:ph type="body" idx="1"/>
          </p:nvPr>
        </p:nvSpPr>
        <p:spPr>
          <a:xfrm>
            <a:off x="844550" y="1327353"/>
            <a:ext cx="10568517" cy="1846659"/>
          </a:xfrm>
        </p:spPr>
        <p:txBody>
          <a:bodyPr/>
          <a:lstStyle/>
          <a:p>
            <a:pPr marL="342900" indent="-342900" algn="l">
              <a:buFont typeface="Arial" panose="020B0604020202020204" pitchFamily="34" charset="0"/>
              <a:buChar char="•"/>
            </a:pPr>
            <a:r>
              <a:rPr lang="en-US" dirty="0" smtClean="0">
                <a:latin typeface="fkGroteskNeue"/>
              </a:rPr>
              <a:t>Imagine </a:t>
            </a:r>
            <a:r>
              <a:rPr lang="en-US" dirty="0">
                <a:latin typeface="fkGroteskNeue"/>
              </a:rPr>
              <a:t>briefly exciting the oscillator and then measuring how many cycles it takes for the oscillation amplitude to drop by half.</a:t>
            </a:r>
          </a:p>
          <a:p>
            <a:pPr marL="342900" indent="-342900" algn="l">
              <a:buFont typeface="Arial" panose="020B0604020202020204" pitchFamily="34" charset="0"/>
              <a:buChar char="•"/>
            </a:pPr>
            <a:r>
              <a:rPr lang="en-US" dirty="0">
                <a:latin typeface="fkGroteskNeue"/>
              </a:rPr>
              <a:t>The number of cycles to halve amplitude multiplied by ~4.5 approximates Q.</a:t>
            </a:r>
          </a:p>
          <a:p>
            <a:pPr marL="342900" indent="-342900" algn="l">
              <a:buFont typeface="Arial" panose="020B0604020202020204" pitchFamily="34" charset="0"/>
              <a:buChar char="•"/>
            </a:pPr>
            <a:r>
              <a:rPr lang="en-US" dirty="0">
                <a:latin typeface="fkGroteskNeue"/>
              </a:rPr>
              <a:t>Ring oscillators show a fast decay in amplitude without sustaining energy in reactive components, confirming their low Q.</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graphicFrame>
        <p:nvGraphicFramePr>
          <p:cNvPr id="7" name="Table 6"/>
          <p:cNvGraphicFramePr>
            <a:graphicFrameLocks noGrp="1"/>
          </p:cNvGraphicFramePr>
          <p:nvPr>
            <p:extLst>
              <p:ext uri="{D42A27DB-BD31-4B8C-83A1-F6EECF244321}">
                <p14:modId xmlns:p14="http://schemas.microsoft.com/office/powerpoint/2010/main" val="3028514843"/>
              </p:ext>
            </p:extLst>
          </p:nvPr>
        </p:nvGraphicFramePr>
        <p:xfrm>
          <a:off x="1502831" y="3068237"/>
          <a:ext cx="9385302" cy="2893228"/>
        </p:xfrm>
        <a:graphic>
          <a:graphicData uri="http://schemas.openxmlformats.org/drawingml/2006/table">
            <a:tbl>
              <a:tblPr/>
              <a:tblGrid>
                <a:gridCol w="3128434">
                  <a:extLst>
                    <a:ext uri="{9D8B030D-6E8A-4147-A177-3AD203B41FA5}">
                      <a16:colId xmlns:a16="http://schemas.microsoft.com/office/drawing/2014/main" val="1128287785"/>
                    </a:ext>
                  </a:extLst>
                </a:gridCol>
                <a:gridCol w="3128434">
                  <a:extLst>
                    <a:ext uri="{9D8B030D-6E8A-4147-A177-3AD203B41FA5}">
                      <a16:colId xmlns:a16="http://schemas.microsoft.com/office/drawing/2014/main" val="3643340808"/>
                    </a:ext>
                  </a:extLst>
                </a:gridCol>
                <a:gridCol w="3128434">
                  <a:extLst>
                    <a:ext uri="{9D8B030D-6E8A-4147-A177-3AD203B41FA5}">
                      <a16:colId xmlns:a16="http://schemas.microsoft.com/office/drawing/2014/main" val="2550179198"/>
                    </a:ext>
                  </a:extLst>
                </a:gridCol>
              </a:tblGrid>
              <a:tr h="100929">
                <a:tc>
                  <a:txBody>
                    <a:bodyPr/>
                    <a:lstStyle/>
                    <a:p>
                      <a:pPr algn="ctr" fontAlgn="t" latinLnBrk="0"/>
                      <a:r>
                        <a:rPr lang="en-US" sz="1800" b="0">
                          <a:effectLst/>
                        </a:rPr>
                        <a:t>Aspect</a:t>
                      </a:r>
                    </a:p>
                  </a:txBody>
                  <a:tcPr marL="13639" marR="13639" marT="13639" marB="13639">
                    <a:lnL w="6350" cap="flat" cmpd="sng" algn="ctr">
                      <a:solidFill>
                        <a:srgbClr val="A06482"/>
                      </a:solidFill>
                      <a:prstDash val="solid"/>
                      <a:round/>
                      <a:headEnd type="none" w="med" len="med"/>
                      <a:tailEnd type="none" w="med" len="med"/>
                    </a:lnL>
                    <a:lnR w="6350" cap="flat" cmpd="sng" algn="ctr">
                      <a:solidFill>
                        <a:srgbClr val="106882"/>
                      </a:solidFill>
                      <a:prstDash val="solid"/>
                      <a:round/>
                      <a:headEnd type="none" w="med" len="med"/>
                      <a:tailEnd type="none" w="med" len="med"/>
                    </a:lnR>
                    <a:lnT w="6350" cap="flat" cmpd="sng" algn="ctr">
                      <a:solidFill>
                        <a:srgbClr val="A06482"/>
                      </a:solidFill>
                      <a:prstDash val="solid"/>
                      <a:round/>
                      <a:headEnd type="none" w="med" len="med"/>
                      <a:tailEnd type="none" w="med" len="med"/>
                    </a:lnT>
                    <a:lnB w="6350" cap="flat" cmpd="sng" algn="ctr">
                      <a:solidFill>
                        <a:srgbClr val="E06582"/>
                      </a:solidFill>
                      <a:prstDash val="solid"/>
                      <a:round/>
                      <a:headEnd type="none" w="med" len="med"/>
                      <a:tailEnd type="none" w="med" len="med"/>
                    </a:lnB>
                  </a:tcPr>
                </a:tc>
                <a:tc>
                  <a:txBody>
                    <a:bodyPr/>
                    <a:lstStyle/>
                    <a:p>
                      <a:pPr algn="ctr" fontAlgn="t" latinLnBrk="0"/>
                      <a:r>
                        <a:rPr lang="en-US" sz="1800" b="0">
                          <a:effectLst/>
                        </a:rPr>
                        <a:t>Ring Oscillator</a:t>
                      </a:r>
                    </a:p>
                  </a:txBody>
                  <a:tcPr marL="13639" marR="13639" marT="13639" marB="13639">
                    <a:lnL w="6350" cap="flat" cmpd="sng" algn="ctr">
                      <a:solidFill>
                        <a:srgbClr val="106882"/>
                      </a:solidFill>
                      <a:prstDash val="solid"/>
                      <a:round/>
                      <a:headEnd type="none" w="med" len="med"/>
                      <a:tailEnd type="none" w="med" len="med"/>
                    </a:lnL>
                    <a:lnR w="6350" cap="flat" cmpd="sng" algn="ctr">
                      <a:solidFill>
                        <a:srgbClr val="106D82"/>
                      </a:solidFill>
                      <a:prstDash val="solid"/>
                      <a:round/>
                      <a:headEnd type="none" w="med" len="med"/>
                      <a:tailEnd type="none" w="med" len="med"/>
                    </a:lnR>
                    <a:lnT w="6350" cap="flat" cmpd="sng" algn="ctr">
                      <a:solidFill>
                        <a:srgbClr val="106882"/>
                      </a:solidFill>
                      <a:prstDash val="solid"/>
                      <a:round/>
                      <a:headEnd type="none" w="med" len="med"/>
                      <a:tailEnd type="none" w="med" len="med"/>
                    </a:lnT>
                    <a:lnB w="6350" cap="flat" cmpd="sng" algn="ctr">
                      <a:solidFill>
                        <a:srgbClr val="806682"/>
                      </a:solidFill>
                      <a:prstDash val="solid"/>
                      <a:round/>
                      <a:headEnd type="none" w="med" len="med"/>
                      <a:tailEnd type="none" w="med" len="med"/>
                    </a:lnB>
                  </a:tcPr>
                </a:tc>
                <a:tc>
                  <a:txBody>
                    <a:bodyPr/>
                    <a:lstStyle/>
                    <a:p>
                      <a:pPr algn="ctr" fontAlgn="t" latinLnBrk="0"/>
                      <a:r>
                        <a:rPr lang="en-US" sz="1800" b="0">
                          <a:effectLst/>
                        </a:rPr>
                        <a:t>LC Oscillator</a:t>
                      </a:r>
                    </a:p>
                  </a:txBody>
                  <a:tcPr marL="13639" marR="13639" marT="13639" marB="13639">
                    <a:lnL w="6350" cap="flat" cmpd="sng" algn="ctr">
                      <a:solidFill>
                        <a:srgbClr val="106D82"/>
                      </a:solidFill>
                      <a:prstDash val="solid"/>
                      <a:round/>
                      <a:headEnd type="none" w="med" len="med"/>
                      <a:tailEnd type="none" w="med" len="med"/>
                    </a:lnL>
                    <a:lnR w="6350" cap="flat" cmpd="sng" algn="ctr">
                      <a:solidFill>
                        <a:srgbClr val="106D82"/>
                      </a:solidFill>
                      <a:prstDash val="solid"/>
                      <a:round/>
                      <a:headEnd type="none" w="med" len="med"/>
                      <a:tailEnd type="none" w="med" len="med"/>
                    </a:lnR>
                    <a:lnT w="6350" cap="flat" cmpd="sng" algn="ctr">
                      <a:solidFill>
                        <a:srgbClr val="106D82"/>
                      </a:solidFill>
                      <a:prstDash val="solid"/>
                      <a:round/>
                      <a:headEnd type="none" w="med" len="med"/>
                      <a:tailEnd type="none" w="med" len="med"/>
                    </a:lnT>
                    <a:lnB w="6350" cap="flat" cmpd="sng" algn="ctr">
                      <a:solidFill>
                        <a:srgbClr val="606382"/>
                      </a:solidFill>
                      <a:prstDash val="solid"/>
                      <a:round/>
                      <a:headEnd type="none" w="med" len="med"/>
                      <a:tailEnd type="none" w="med" len="med"/>
                    </a:lnB>
                  </a:tcPr>
                </a:tc>
                <a:extLst>
                  <a:ext uri="{0D108BD9-81ED-4DB2-BD59-A6C34878D82A}">
                    <a16:rowId xmlns:a16="http://schemas.microsoft.com/office/drawing/2014/main" val="2825347417"/>
                  </a:ext>
                </a:extLst>
              </a:tr>
              <a:tr h="319155">
                <a:tc>
                  <a:txBody>
                    <a:bodyPr/>
                    <a:lstStyle/>
                    <a:p>
                      <a:pPr algn="ctr" fontAlgn="base" latinLnBrk="0"/>
                      <a:r>
                        <a:rPr lang="en-US" sz="1800">
                          <a:effectLst/>
                        </a:rPr>
                        <a:t>Energy Storage</a:t>
                      </a:r>
                    </a:p>
                  </a:txBody>
                  <a:tcPr marL="13639" marR="13639" marT="12275" marB="12275" anchor="ctr">
                    <a:lnL w="6350" cap="flat" cmpd="sng" algn="ctr">
                      <a:solidFill>
                        <a:srgbClr val="E06582"/>
                      </a:solidFill>
                      <a:prstDash val="solid"/>
                      <a:round/>
                      <a:headEnd type="none" w="med" len="med"/>
                      <a:tailEnd type="none" w="med" len="med"/>
                    </a:lnL>
                    <a:lnR w="6350" cap="flat" cmpd="sng" algn="ctr">
                      <a:solidFill>
                        <a:srgbClr val="806682"/>
                      </a:solidFill>
                      <a:prstDash val="solid"/>
                      <a:round/>
                      <a:headEnd type="none" w="med" len="med"/>
                      <a:tailEnd type="none" w="med" len="med"/>
                    </a:lnR>
                    <a:lnT w="6350" cap="flat" cmpd="sng" algn="ctr">
                      <a:solidFill>
                        <a:srgbClr val="E06582"/>
                      </a:solidFill>
                      <a:prstDash val="solid"/>
                      <a:round/>
                      <a:headEnd type="none" w="med" len="med"/>
                      <a:tailEnd type="none" w="med" len="med"/>
                    </a:lnT>
                    <a:lnB w="6350" cap="flat" cmpd="sng" algn="ctr">
                      <a:solidFill>
                        <a:srgbClr val="A06482"/>
                      </a:solidFill>
                      <a:prstDash val="solid"/>
                      <a:round/>
                      <a:headEnd type="none" w="med" len="med"/>
                      <a:tailEnd type="none" w="med" len="med"/>
                    </a:lnB>
                  </a:tcPr>
                </a:tc>
                <a:tc>
                  <a:txBody>
                    <a:bodyPr/>
                    <a:lstStyle/>
                    <a:p>
                      <a:pPr algn="ctr" fontAlgn="base" latinLnBrk="0"/>
                      <a:r>
                        <a:rPr lang="en-US" sz="1800">
                          <a:effectLst/>
                        </a:rPr>
                        <a:t>No true reactive tank, relies on delay</a:t>
                      </a:r>
                    </a:p>
                  </a:txBody>
                  <a:tcPr marL="13639" marR="13639" marT="12275" marB="12275" anchor="ctr">
                    <a:lnL w="6350" cap="flat" cmpd="sng" algn="ctr">
                      <a:solidFill>
                        <a:srgbClr val="806682"/>
                      </a:solidFill>
                      <a:prstDash val="solid"/>
                      <a:round/>
                      <a:headEnd type="none" w="med" len="med"/>
                      <a:tailEnd type="none" w="med" len="med"/>
                    </a:lnL>
                    <a:lnR w="6350" cap="flat" cmpd="sng" algn="ctr">
                      <a:solidFill>
                        <a:srgbClr val="606382"/>
                      </a:solidFill>
                      <a:prstDash val="solid"/>
                      <a:round/>
                      <a:headEnd type="none" w="med" len="med"/>
                      <a:tailEnd type="none" w="med" len="med"/>
                    </a:lnR>
                    <a:lnT w="6350" cap="flat" cmpd="sng" algn="ctr">
                      <a:solidFill>
                        <a:srgbClr val="806682"/>
                      </a:solidFill>
                      <a:prstDash val="solid"/>
                      <a:round/>
                      <a:headEnd type="none" w="med" len="med"/>
                      <a:tailEnd type="none" w="med" len="med"/>
                    </a:lnT>
                    <a:lnB w="6350" cap="flat" cmpd="sng" algn="ctr">
                      <a:solidFill>
                        <a:srgbClr val="A06982"/>
                      </a:solidFill>
                      <a:prstDash val="solid"/>
                      <a:round/>
                      <a:headEnd type="none" w="med" len="med"/>
                      <a:tailEnd type="none" w="med" len="med"/>
                    </a:lnB>
                  </a:tcPr>
                </a:tc>
                <a:tc>
                  <a:txBody>
                    <a:bodyPr/>
                    <a:lstStyle/>
                    <a:p>
                      <a:pPr algn="ctr" fontAlgn="base" latinLnBrk="0"/>
                      <a:r>
                        <a:rPr lang="en-US" sz="1800">
                          <a:effectLst/>
                        </a:rPr>
                        <a:t>Real energy storage in inductor &amp; capacitor</a:t>
                      </a:r>
                    </a:p>
                  </a:txBody>
                  <a:tcPr marL="13639" marR="13639" marT="12275" marB="12275" anchor="ctr">
                    <a:lnL w="6350" cap="flat" cmpd="sng" algn="ctr">
                      <a:solidFill>
                        <a:srgbClr val="606382"/>
                      </a:solidFill>
                      <a:prstDash val="solid"/>
                      <a:round/>
                      <a:headEnd type="none" w="med" len="med"/>
                      <a:tailEnd type="none" w="med" len="med"/>
                    </a:lnL>
                    <a:lnR w="6350" cap="flat" cmpd="sng" algn="ctr">
                      <a:solidFill>
                        <a:srgbClr val="606382"/>
                      </a:solidFill>
                      <a:prstDash val="solid"/>
                      <a:round/>
                      <a:headEnd type="none" w="med" len="med"/>
                      <a:tailEnd type="none" w="med" len="med"/>
                    </a:lnR>
                    <a:lnT w="6350" cap="flat" cmpd="sng" algn="ctr">
                      <a:solidFill>
                        <a:srgbClr val="606382"/>
                      </a:solidFill>
                      <a:prstDash val="solid"/>
                      <a:round/>
                      <a:headEnd type="none" w="med" len="med"/>
                      <a:tailEnd type="none" w="med" len="med"/>
                    </a:lnT>
                    <a:lnB w="6350" cap="flat" cmpd="sng" algn="ctr">
                      <a:solidFill>
                        <a:srgbClr val="A06982"/>
                      </a:solidFill>
                      <a:prstDash val="solid"/>
                      <a:round/>
                      <a:headEnd type="none" w="med" len="med"/>
                      <a:tailEnd type="none" w="med" len="med"/>
                    </a:lnB>
                  </a:tcPr>
                </a:tc>
                <a:extLst>
                  <a:ext uri="{0D108BD9-81ED-4DB2-BD59-A6C34878D82A}">
                    <a16:rowId xmlns:a16="http://schemas.microsoft.com/office/drawing/2014/main" val="978793892"/>
                  </a:ext>
                </a:extLst>
              </a:tr>
              <a:tr h="319155">
                <a:tc>
                  <a:txBody>
                    <a:bodyPr/>
                    <a:lstStyle/>
                    <a:p>
                      <a:pPr algn="ctr" fontAlgn="base" latinLnBrk="0"/>
                      <a:r>
                        <a:rPr lang="en-US" sz="1800">
                          <a:effectLst/>
                        </a:rPr>
                        <a:t>Typical Q</a:t>
                      </a:r>
                    </a:p>
                  </a:txBody>
                  <a:tcPr marL="13639" marR="13639" marT="12275" marB="12275" anchor="ctr">
                    <a:lnL w="6350" cap="flat" cmpd="sng" algn="ctr">
                      <a:solidFill>
                        <a:srgbClr val="A06482"/>
                      </a:solidFill>
                      <a:prstDash val="solid"/>
                      <a:round/>
                      <a:headEnd type="none" w="med" len="med"/>
                      <a:tailEnd type="none" w="med" len="med"/>
                    </a:lnL>
                    <a:lnR w="6350" cap="flat" cmpd="sng" algn="ctr">
                      <a:solidFill>
                        <a:srgbClr val="A06982"/>
                      </a:solidFill>
                      <a:prstDash val="solid"/>
                      <a:round/>
                      <a:headEnd type="none" w="med" len="med"/>
                      <a:tailEnd type="none" w="med" len="med"/>
                    </a:lnR>
                    <a:lnT w="6350" cap="flat" cmpd="sng" algn="ctr">
                      <a:solidFill>
                        <a:srgbClr val="A06482"/>
                      </a:solidFill>
                      <a:prstDash val="solid"/>
                      <a:round/>
                      <a:headEnd type="none" w="med" len="med"/>
                      <a:tailEnd type="none" w="med" len="med"/>
                    </a:lnT>
                    <a:lnB w="6350" cap="flat" cmpd="sng" algn="ctr">
                      <a:solidFill>
                        <a:srgbClr val="006482"/>
                      </a:solidFill>
                      <a:prstDash val="solid"/>
                      <a:round/>
                      <a:headEnd type="none" w="med" len="med"/>
                      <a:tailEnd type="none" w="med" len="med"/>
                    </a:lnB>
                  </a:tcPr>
                </a:tc>
                <a:tc>
                  <a:txBody>
                    <a:bodyPr/>
                    <a:lstStyle/>
                    <a:p>
                      <a:pPr algn="ctr" fontAlgn="base" latinLnBrk="0"/>
                      <a:r>
                        <a:rPr lang="en-US" sz="1800">
                          <a:effectLst/>
                        </a:rPr>
                        <a:t>Low (~3-10), limited by device/switch losses</a:t>
                      </a:r>
                    </a:p>
                  </a:txBody>
                  <a:tcPr marL="13639" marR="13639" marT="12275" marB="12275" anchor="ctr">
                    <a:lnL w="6350" cap="flat" cmpd="sng" algn="ctr">
                      <a:solidFill>
                        <a:srgbClr val="A06982"/>
                      </a:solidFill>
                      <a:prstDash val="solid"/>
                      <a:round/>
                      <a:headEnd type="none" w="med" len="med"/>
                      <a:tailEnd type="none" w="med" len="med"/>
                    </a:lnL>
                    <a:lnR w="6350" cap="flat" cmpd="sng" algn="ctr">
                      <a:solidFill>
                        <a:srgbClr val="A06982"/>
                      </a:solidFill>
                      <a:prstDash val="solid"/>
                      <a:round/>
                      <a:headEnd type="none" w="med" len="med"/>
                      <a:tailEnd type="none" w="med" len="med"/>
                    </a:lnR>
                    <a:lnT w="6350" cap="flat" cmpd="sng" algn="ctr">
                      <a:solidFill>
                        <a:srgbClr val="A06982"/>
                      </a:solidFill>
                      <a:prstDash val="solid"/>
                      <a:round/>
                      <a:headEnd type="none" w="med" len="med"/>
                      <a:tailEnd type="none" w="med" len="med"/>
                    </a:lnT>
                    <a:lnB w="6350" cap="flat" cmpd="sng" algn="ctr">
                      <a:solidFill>
                        <a:srgbClr val="706C82"/>
                      </a:solidFill>
                      <a:prstDash val="solid"/>
                      <a:round/>
                      <a:headEnd type="none" w="med" len="med"/>
                      <a:tailEnd type="none" w="med" len="med"/>
                    </a:lnB>
                  </a:tcPr>
                </a:tc>
                <a:tc>
                  <a:txBody>
                    <a:bodyPr/>
                    <a:lstStyle/>
                    <a:p>
                      <a:pPr algn="ctr" fontAlgn="base" latinLnBrk="0"/>
                      <a:r>
                        <a:rPr lang="en-US" sz="1800">
                          <a:effectLst/>
                        </a:rPr>
                        <a:t>High (100 or more), limited mainly by inductor losses</a:t>
                      </a:r>
                    </a:p>
                  </a:txBody>
                  <a:tcPr marL="13639" marR="13639" marT="12275" marB="12275" anchor="ctr">
                    <a:lnL w="6350" cap="flat" cmpd="sng" algn="ctr">
                      <a:solidFill>
                        <a:srgbClr val="A06982"/>
                      </a:solidFill>
                      <a:prstDash val="solid"/>
                      <a:round/>
                      <a:headEnd type="none" w="med" len="med"/>
                      <a:tailEnd type="none" w="med" len="med"/>
                    </a:lnL>
                    <a:lnR w="6350" cap="flat" cmpd="sng" algn="ctr">
                      <a:solidFill>
                        <a:srgbClr val="A06982"/>
                      </a:solidFill>
                      <a:prstDash val="solid"/>
                      <a:round/>
                      <a:headEnd type="none" w="med" len="med"/>
                      <a:tailEnd type="none" w="med" len="med"/>
                    </a:lnR>
                    <a:lnT w="6350" cap="flat" cmpd="sng" algn="ctr">
                      <a:solidFill>
                        <a:srgbClr val="A06982"/>
                      </a:solidFill>
                      <a:prstDash val="solid"/>
                      <a:round/>
                      <a:headEnd type="none" w="med" len="med"/>
                      <a:tailEnd type="none" w="med" len="med"/>
                    </a:lnT>
                    <a:lnB w="6350" cap="flat" cmpd="sng" algn="ctr">
                      <a:solidFill>
                        <a:srgbClr val="306B82"/>
                      </a:solidFill>
                      <a:prstDash val="solid"/>
                      <a:round/>
                      <a:headEnd type="none" w="med" len="med"/>
                      <a:tailEnd type="none" w="med" len="med"/>
                    </a:lnB>
                  </a:tcPr>
                </a:tc>
                <a:extLst>
                  <a:ext uri="{0D108BD9-81ED-4DB2-BD59-A6C34878D82A}">
                    <a16:rowId xmlns:a16="http://schemas.microsoft.com/office/drawing/2014/main" val="1997627568"/>
                  </a:ext>
                </a:extLst>
              </a:tr>
              <a:tr h="245504">
                <a:tc>
                  <a:txBody>
                    <a:bodyPr/>
                    <a:lstStyle/>
                    <a:p>
                      <a:pPr algn="ctr" fontAlgn="base" latinLnBrk="0"/>
                      <a:r>
                        <a:rPr lang="en-US" sz="1800">
                          <a:effectLst/>
                        </a:rPr>
                        <a:t>Frequency Stability</a:t>
                      </a:r>
                    </a:p>
                  </a:txBody>
                  <a:tcPr marL="13639" marR="13639" marT="12275" marB="12275" anchor="ctr">
                    <a:lnL w="6350" cap="flat" cmpd="sng" algn="ctr">
                      <a:solidFill>
                        <a:srgbClr val="006482"/>
                      </a:solidFill>
                      <a:prstDash val="solid"/>
                      <a:round/>
                      <a:headEnd type="none" w="med" len="med"/>
                      <a:tailEnd type="none" w="med" len="med"/>
                    </a:lnL>
                    <a:lnR w="6350" cap="flat" cmpd="sng" algn="ctr">
                      <a:solidFill>
                        <a:srgbClr val="706C82"/>
                      </a:solidFill>
                      <a:prstDash val="solid"/>
                      <a:round/>
                      <a:headEnd type="none" w="med" len="med"/>
                      <a:tailEnd type="none" w="med" len="med"/>
                    </a:lnR>
                    <a:lnT w="6350" cap="flat" cmpd="sng" algn="ctr">
                      <a:solidFill>
                        <a:srgbClr val="006482"/>
                      </a:solidFill>
                      <a:prstDash val="solid"/>
                      <a:round/>
                      <a:headEnd type="none" w="med" len="med"/>
                      <a:tailEnd type="none" w="med" len="med"/>
                    </a:lnT>
                    <a:lnB w="6350" cap="flat" cmpd="sng" algn="ctr">
                      <a:solidFill>
                        <a:srgbClr val="B05E82"/>
                      </a:solidFill>
                      <a:prstDash val="solid"/>
                      <a:round/>
                      <a:headEnd type="none" w="med" len="med"/>
                      <a:tailEnd type="none" w="med" len="med"/>
                    </a:lnB>
                  </a:tcPr>
                </a:tc>
                <a:tc>
                  <a:txBody>
                    <a:bodyPr/>
                    <a:lstStyle/>
                    <a:p>
                      <a:pPr algn="ctr" fontAlgn="base" latinLnBrk="0"/>
                      <a:r>
                        <a:rPr lang="en-US" sz="1800">
                          <a:effectLst/>
                        </a:rPr>
                        <a:t>Moderate, easier to tune via supply</a:t>
                      </a:r>
                    </a:p>
                  </a:txBody>
                  <a:tcPr marL="13639" marR="13639" marT="12275" marB="12275" anchor="ctr">
                    <a:lnL w="6350" cap="flat" cmpd="sng" algn="ctr">
                      <a:solidFill>
                        <a:srgbClr val="706C82"/>
                      </a:solidFill>
                      <a:prstDash val="solid"/>
                      <a:round/>
                      <a:headEnd type="none" w="med" len="med"/>
                      <a:tailEnd type="none" w="med" len="med"/>
                    </a:lnL>
                    <a:lnR w="6350" cap="flat" cmpd="sng" algn="ctr">
                      <a:solidFill>
                        <a:srgbClr val="306B82"/>
                      </a:solidFill>
                      <a:prstDash val="solid"/>
                      <a:round/>
                      <a:headEnd type="none" w="med" len="med"/>
                      <a:tailEnd type="none" w="med" len="med"/>
                    </a:lnR>
                    <a:lnT w="6350" cap="flat" cmpd="sng" algn="ctr">
                      <a:solidFill>
                        <a:srgbClr val="706C82"/>
                      </a:solidFill>
                      <a:prstDash val="solid"/>
                      <a:round/>
                      <a:headEnd type="none" w="med" len="med"/>
                      <a:tailEnd type="none" w="med" len="med"/>
                    </a:lnT>
                    <a:lnB w="6350" cap="flat" cmpd="sng" algn="ctr">
                      <a:solidFill>
                        <a:srgbClr val="006482"/>
                      </a:solidFill>
                      <a:prstDash val="solid"/>
                      <a:round/>
                      <a:headEnd type="none" w="med" len="med"/>
                      <a:tailEnd type="none" w="med" len="med"/>
                    </a:lnB>
                  </a:tcPr>
                </a:tc>
                <a:tc>
                  <a:txBody>
                    <a:bodyPr/>
                    <a:lstStyle/>
                    <a:p>
                      <a:pPr algn="ctr" fontAlgn="base" latinLnBrk="0"/>
                      <a:r>
                        <a:rPr lang="en-US" sz="1800">
                          <a:effectLst/>
                        </a:rPr>
                        <a:t>High, very stable frequency</a:t>
                      </a:r>
                    </a:p>
                  </a:txBody>
                  <a:tcPr marL="13639" marR="13639" marT="12275" marB="12275" anchor="ctr">
                    <a:lnL w="6350" cap="flat" cmpd="sng" algn="ctr">
                      <a:solidFill>
                        <a:srgbClr val="306B82"/>
                      </a:solidFill>
                      <a:prstDash val="solid"/>
                      <a:round/>
                      <a:headEnd type="none" w="med" len="med"/>
                      <a:tailEnd type="none" w="med" len="med"/>
                    </a:lnL>
                    <a:lnR w="6350" cap="flat" cmpd="sng" algn="ctr">
                      <a:solidFill>
                        <a:srgbClr val="306B82"/>
                      </a:solidFill>
                      <a:prstDash val="solid"/>
                      <a:round/>
                      <a:headEnd type="none" w="med" len="med"/>
                      <a:tailEnd type="none" w="med" len="med"/>
                    </a:lnR>
                    <a:lnT w="6350" cap="flat" cmpd="sng" algn="ctr">
                      <a:solidFill>
                        <a:srgbClr val="306B82"/>
                      </a:solidFill>
                      <a:prstDash val="solid"/>
                      <a:round/>
                      <a:headEnd type="none" w="med" len="med"/>
                      <a:tailEnd type="none" w="med" len="med"/>
                    </a:lnT>
                    <a:lnB w="6350" cap="flat" cmpd="sng" algn="ctr">
                      <a:solidFill>
                        <a:srgbClr val="D06682"/>
                      </a:solidFill>
                      <a:prstDash val="solid"/>
                      <a:round/>
                      <a:headEnd type="none" w="med" len="med"/>
                      <a:tailEnd type="none" w="med" len="med"/>
                    </a:lnB>
                  </a:tcPr>
                </a:tc>
                <a:extLst>
                  <a:ext uri="{0D108BD9-81ED-4DB2-BD59-A6C34878D82A}">
                    <a16:rowId xmlns:a16="http://schemas.microsoft.com/office/drawing/2014/main" val="3927962313"/>
                  </a:ext>
                </a:extLst>
              </a:tr>
              <a:tr h="245504">
                <a:tc>
                  <a:txBody>
                    <a:bodyPr/>
                    <a:lstStyle/>
                    <a:p>
                      <a:pPr algn="ctr" fontAlgn="base" latinLnBrk="0"/>
                      <a:r>
                        <a:rPr lang="en-US" sz="1800">
                          <a:effectLst/>
                        </a:rPr>
                        <a:t>Phase Noise</a:t>
                      </a:r>
                    </a:p>
                  </a:txBody>
                  <a:tcPr marL="13639" marR="13639" marT="12275" marB="12275" anchor="ctr">
                    <a:lnL w="6350" cap="flat" cmpd="sng" algn="ctr">
                      <a:solidFill>
                        <a:srgbClr val="B05E82"/>
                      </a:solidFill>
                      <a:prstDash val="solid"/>
                      <a:round/>
                      <a:headEnd type="none" w="med" len="med"/>
                      <a:tailEnd type="none" w="med" len="med"/>
                    </a:lnL>
                    <a:lnR w="6350" cap="flat" cmpd="sng" algn="ctr">
                      <a:solidFill>
                        <a:srgbClr val="006482"/>
                      </a:solidFill>
                      <a:prstDash val="solid"/>
                      <a:round/>
                      <a:headEnd type="none" w="med" len="med"/>
                      <a:tailEnd type="none" w="med" len="med"/>
                    </a:lnR>
                    <a:lnT w="6350" cap="flat" cmpd="sng" algn="ctr">
                      <a:solidFill>
                        <a:srgbClr val="B05E82"/>
                      </a:solidFill>
                      <a:prstDash val="solid"/>
                      <a:round/>
                      <a:headEnd type="none" w="med" len="med"/>
                      <a:tailEnd type="none" w="med" len="med"/>
                    </a:lnT>
                    <a:lnB w="6350" cap="flat" cmpd="sng" algn="ctr">
                      <a:solidFill>
                        <a:srgbClr val="506982"/>
                      </a:solidFill>
                      <a:prstDash val="solid"/>
                      <a:round/>
                      <a:headEnd type="none" w="med" len="med"/>
                      <a:tailEnd type="none" w="med" len="med"/>
                    </a:lnB>
                  </a:tcPr>
                </a:tc>
                <a:tc>
                  <a:txBody>
                    <a:bodyPr/>
                    <a:lstStyle/>
                    <a:p>
                      <a:pPr algn="ctr" fontAlgn="base" latinLnBrk="0"/>
                      <a:r>
                        <a:rPr lang="en-US" sz="1800">
                          <a:effectLst/>
                        </a:rPr>
                        <a:t>Relatively high phase noise</a:t>
                      </a:r>
                    </a:p>
                  </a:txBody>
                  <a:tcPr marL="13639" marR="13639" marT="12275" marB="12275" anchor="ctr">
                    <a:lnL w="6350" cap="flat" cmpd="sng" algn="ctr">
                      <a:solidFill>
                        <a:srgbClr val="006482"/>
                      </a:solidFill>
                      <a:prstDash val="solid"/>
                      <a:round/>
                      <a:headEnd type="none" w="med" len="med"/>
                      <a:tailEnd type="none" w="med" len="med"/>
                    </a:lnL>
                    <a:lnR w="6350" cap="flat" cmpd="sng" algn="ctr">
                      <a:solidFill>
                        <a:srgbClr val="D06682"/>
                      </a:solidFill>
                      <a:prstDash val="solid"/>
                      <a:round/>
                      <a:headEnd type="none" w="med" len="med"/>
                      <a:tailEnd type="none" w="med" len="med"/>
                    </a:lnR>
                    <a:lnT w="6350" cap="flat" cmpd="sng" algn="ctr">
                      <a:solidFill>
                        <a:srgbClr val="006482"/>
                      </a:solidFill>
                      <a:prstDash val="solid"/>
                      <a:round/>
                      <a:headEnd type="none" w="med" len="med"/>
                      <a:tailEnd type="none" w="med" len="med"/>
                    </a:lnT>
                    <a:lnB w="6350" cap="flat" cmpd="sng" algn="ctr">
                      <a:solidFill>
                        <a:srgbClr val="006482"/>
                      </a:solidFill>
                      <a:prstDash val="solid"/>
                      <a:round/>
                      <a:headEnd type="none" w="med" len="med"/>
                      <a:tailEnd type="none" w="med" len="med"/>
                    </a:lnB>
                  </a:tcPr>
                </a:tc>
                <a:tc>
                  <a:txBody>
                    <a:bodyPr/>
                    <a:lstStyle/>
                    <a:p>
                      <a:pPr algn="ctr" fontAlgn="base" latinLnBrk="0"/>
                      <a:r>
                        <a:rPr lang="en-US" sz="1800">
                          <a:effectLst/>
                        </a:rPr>
                        <a:t>Lower phase noise, clean signals</a:t>
                      </a:r>
                    </a:p>
                  </a:txBody>
                  <a:tcPr marL="13639" marR="13639" marT="12275" marB="12275" anchor="ctr">
                    <a:lnL w="6350" cap="flat" cmpd="sng" algn="ctr">
                      <a:solidFill>
                        <a:srgbClr val="D06682"/>
                      </a:solidFill>
                      <a:prstDash val="solid"/>
                      <a:round/>
                      <a:headEnd type="none" w="med" len="med"/>
                      <a:tailEnd type="none" w="med" len="med"/>
                    </a:lnL>
                    <a:lnR w="6350" cap="flat" cmpd="sng" algn="ctr">
                      <a:solidFill>
                        <a:srgbClr val="D06682"/>
                      </a:solidFill>
                      <a:prstDash val="solid"/>
                      <a:round/>
                      <a:headEnd type="none" w="med" len="med"/>
                      <a:tailEnd type="none" w="med" len="med"/>
                    </a:lnR>
                    <a:lnT w="6350" cap="flat" cmpd="sng" algn="ctr">
                      <a:solidFill>
                        <a:srgbClr val="D06682"/>
                      </a:solidFill>
                      <a:prstDash val="solid"/>
                      <a:round/>
                      <a:headEnd type="none" w="med" len="med"/>
                      <a:tailEnd type="none" w="med" len="med"/>
                    </a:lnT>
                    <a:lnB w="6350" cap="flat" cmpd="sng" algn="ctr">
                      <a:solidFill>
                        <a:srgbClr val="D06682"/>
                      </a:solidFill>
                      <a:prstDash val="solid"/>
                      <a:round/>
                      <a:headEnd type="none" w="med" len="med"/>
                      <a:tailEnd type="none" w="med" len="med"/>
                    </a:lnB>
                  </a:tcPr>
                </a:tc>
                <a:extLst>
                  <a:ext uri="{0D108BD9-81ED-4DB2-BD59-A6C34878D82A}">
                    <a16:rowId xmlns:a16="http://schemas.microsoft.com/office/drawing/2014/main" val="3188808164"/>
                  </a:ext>
                </a:extLst>
              </a:tr>
              <a:tr h="319155">
                <a:tc>
                  <a:txBody>
                    <a:bodyPr/>
                    <a:lstStyle/>
                    <a:p>
                      <a:pPr algn="ctr" fontAlgn="base" latinLnBrk="0"/>
                      <a:r>
                        <a:rPr lang="en-US" sz="1800">
                          <a:effectLst/>
                        </a:rPr>
                        <a:t>Integration Ease</a:t>
                      </a:r>
                    </a:p>
                  </a:txBody>
                  <a:tcPr marL="13639" marR="13639" marT="12275" marB="12275" anchor="ctr">
                    <a:lnL w="6350" cap="flat" cmpd="sng" algn="ctr">
                      <a:solidFill>
                        <a:srgbClr val="506982"/>
                      </a:solidFill>
                      <a:prstDash val="solid"/>
                      <a:round/>
                      <a:headEnd type="none" w="med" len="med"/>
                      <a:tailEnd type="none" w="med" len="med"/>
                    </a:lnL>
                    <a:lnR w="6350" cap="flat" cmpd="sng" algn="ctr">
                      <a:solidFill>
                        <a:srgbClr val="006482"/>
                      </a:solidFill>
                      <a:prstDash val="solid"/>
                      <a:round/>
                      <a:headEnd type="none" w="med" len="med"/>
                      <a:tailEnd type="none" w="med" len="med"/>
                    </a:lnR>
                    <a:lnT w="6350" cap="flat" cmpd="sng" algn="ctr">
                      <a:solidFill>
                        <a:srgbClr val="506982"/>
                      </a:solidFill>
                      <a:prstDash val="solid"/>
                      <a:round/>
                      <a:headEnd type="none" w="med" len="med"/>
                      <a:tailEnd type="none" w="med" len="med"/>
                    </a:lnT>
                    <a:lnB w="6350" cap="flat" cmpd="sng" algn="ctr">
                      <a:solidFill>
                        <a:srgbClr val="506982"/>
                      </a:solidFill>
                      <a:prstDash val="solid"/>
                      <a:round/>
                      <a:headEnd type="none" w="med" len="med"/>
                      <a:tailEnd type="none" w="med" len="med"/>
                    </a:lnB>
                  </a:tcPr>
                </a:tc>
                <a:tc>
                  <a:txBody>
                    <a:bodyPr/>
                    <a:lstStyle/>
                    <a:p>
                      <a:pPr algn="ctr" fontAlgn="base" latinLnBrk="0"/>
                      <a:r>
                        <a:rPr lang="en-US" sz="1800">
                          <a:effectLst/>
                        </a:rPr>
                        <a:t>High — all CMOS, compact</a:t>
                      </a:r>
                    </a:p>
                  </a:txBody>
                  <a:tcPr marL="13639" marR="13639" marT="12275" marB="12275" anchor="ctr">
                    <a:lnL w="6350" cap="flat" cmpd="sng" algn="ctr">
                      <a:solidFill>
                        <a:srgbClr val="006482"/>
                      </a:solidFill>
                      <a:prstDash val="solid"/>
                      <a:round/>
                      <a:headEnd type="none" w="med" len="med"/>
                      <a:tailEnd type="none" w="med" len="med"/>
                    </a:lnL>
                    <a:lnR w="6350" cap="flat" cmpd="sng" algn="ctr">
                      <a:solidFill>
                        <a:srgbClr val="D06682"/>
                      </a:solidFill>
                      <a:prstDash val="solid"/>
                      <a:round/>
                      <a:headEnd type="none" w="med" len="med"/>
                      <a:tailEnd type="none" w="med" len="med"/>
                    </a:lnR>
                    <a:lnT w="6350" cap="flat" cmpd="sng" algn="ctr">
                      <a:solidFill>
                        <a:srgbClr val="006482"/>
                      </a:solidFill>
                      <a:prstDash val="solid"/>
                      <a:round/>
                      <a:headEnd type="none" w="med" len="med"/>
                      <a:tailEnd type="none" w="med" len="med"/>
                    </a:lnT>
                    <a:lnB w="6350" cap="flat" cmpd="sng" algn="ctr">
                      <a:solidFill>
                        <a:srgbClr val="006482"/>
                      </a:solidFill>
                      <a:prstDash val="solid"/>
                      <a:round/>
                      <a:headEnd type="none" w="med" len="med"/>
                      <a:tailEnd type="none" w="med" len="med"/>
                    </a:lnB>
                  </a:tcPr>
                </a:tc>
                <a:tc>
                  <a:txBody>
                    <a:bodyPr/>
                    <a:lstStyle/>
                    <a:p>
                      <a:pPr algn="ctr" fontAlgn="base" latinLnBrk="0"/>
                      <a:r>
                        <a:rPr lang="en-US" sz="1800" dirty="0">
                          <a:effectLst/>
                        </a:rPr>
                        <a:t>Requires inductors, usually larger area</a:t>
                      </a:r>
                    </a:p>
                  </a:txBody>
                  <a:tcPr marL="13639" marR="13639" marT="12275" marB="12275" anchor="ctr">
                    <a:lnL w="6350" cap="flat" cmpd="sng" algn="ctr">
                      <a:solidFill>
                        <a:srgbClr val="D06682"/>
                      </a:solidFill>
                      <a:prstDash val="solid"/>
                      <a:round/>
                      <a:headEnd type="none" w="med" len="med"/>
                      <a:tailEnd type="none" w="med" len="med"/>
                    </a:lnL>
                    <a:lnR w="6350" cap="flat" cmpd="sng" algn="ctr">
                      <a:solidFill>
                        <a:srgbClr val="D06682"/>
                      </a:solidFill>
                      <a:prstDash val="solid"/>
                      <a:round/>
                      <a:headEnd type="none" w="med" len="med"/>
                      <a:tailEnd type="none" w="med" len="med"/>
                    </a:lnR>
                    <a:lnT w="6350" cap="flat" cmpd="sng" algn="ctr">
                      <a:solidFill>
                        <a:srgbClr val="D06682"/>
                      </a:solidFill>
                      <a:prstDash val="solid"/>
                      <a:round/>
                      <a:headEnd type="none" w="med" len="med"/>
                      <a:tailEnd type="none" w="med" len="med"/>
                    </a:lnT>
                    <a:lnB w="6350" cap="flat" cmpd="sng" algn="ctr">
                      <a:solidFill>
                        <a:srgbClr val="D06682"/>
                      </a:solidFill>
                      <a:prstDash val="solid"/>
                      <a:round/>
                      <a:headEnd type="none" w="med" len="med"/>
                      <a:tailEnd type="none" w="med" len="med"/>
                    </a:lnB>
                  </a:tcPr>
                </a:tc>
                <a:extLst>
                  <a:ext uri="{0D108BD9-81ED-4DB2-BD59-A6C34878D82A}">
                    <a16:rowId xmlns:a16="http://schemas.microsoft.com/office/drawing/2014/main" val="3417817836"/>
                  </a:ext>
                </a:extLst>
              </a:tr>
            </a:tbl>
          </a:graphicData>
        </a:graphic>
      </p:graphicFrame>
    </p:spTree>
    <p:extLst>
      <p:ext uri="{BB962C8B-B14F-4D97-AF65-F5344CB8AC3E}">
        <p14:creationId xmlns:p14="http://schemas.microsoft.com/office/powerpoint/2010/main" val="2998186707"/>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1046440"/>
          </a:xfrm>
        </p:spPr>
        <p:txBody>
          <a:bodyPr/>
          <a:lstStyle/>
          <a:p>
            <a:r>
              <a:rPr lang="en-US" dirty="0">
                <a:latin typeface="fkGrotesk"/>
              </a:rPr>
              <a:t>Intuitive </a:t>
            </a:r>
            <a:r>
              <a:rPr lang="en-US" dirty="0" smtClean="0">
                <a:latin typeface="fkGrotesk"/>
              </a:rPr>
              <a:t>Summary</a:t>
            </a:r>
            <a:r>
              <a:rPr lang="en-US" dirty="0">
                <a:latin typeface="fkGrotesk"/>
              </a:rPr>
              <a:t/>
            </a:r>
            <a:br>
              <a:rPr lang="en-US" dirty="0">
                <a:latin typeface="fkGrotesk"/>
              </a:rPr>
            </a:br>
            <a:endParaRPr lang="en-US" dirty="0"/>
          </a:p>
        </p:txBody>
      </p:sp>
      <p:sp>
        <p:nvSpPr>
          <p:cNvPr id="3" name="Text Placeholder 2"/>
          <p:cNvSpPr>
            <a:spLocks noGrp="1"/>
          </p:cNvSpPr>
          <p:nvPr>
            <p:ph type="body" idx="1"/>
          </p:nvPr>
        </p:nvSpPr>
        <p:spPr>
          <a:xfrm>
            <a:off x="920750" y="1331586"/>
            <a:ext cx="10538883" cy="2462213"/>
          </a:xfrm>
        </p:spPr>
        <p:txBody>
          <a:bodyPr/>
          <a:lstStyle/>
          <a:p>
            <a:pPr marL="342900" indent="-342900" algn="just">
              <a:buFont typeface="Arial" panose="020B0604020202020204" pitchFamily="34" charset="0"/>
              <a:buChar char="•"/>
            </a:pPr>
            <a:r>
              <a:rPr lang="en-US" dirty="0" smtClean="0">
                <a:latin typeface="fkGroteskNeue"/>
              </a:rPr>
              <a:t>Think </a:t>
            </a:r>
            <a:r>
              <a:rPr lang="en-US" dirty="0">
                <a:latin typeface="fkGroteskNeue"/>
              </a:rPr>
              <a:t>of Q as "how long the oscillator can keep ringing on its own."</a:t>
            </a:r>
          </a:p>
          <a:p>
            <a:pPr marL="342900" indent="-342900" algn="just">
              <a:buFont typeface="Arial" panose="020B0604020202020204" pitchFamily="34" charset="0"/>
              <a:buChar char="•"/>
            </a:pPr>
            <a:r>
              <a:rPr lang="en-US" dirty="0">
                <a:latin typeface="fkGroteskNeue"/>
              </a:rPr>
              <a:t>Ring oscillators "ring" less efficiently — their energy quickly slips away, so they have a low Q.</a:t>
            </a:r>
          </a:p>
          <a:p>
            <a:pPr marL="342900" indent="-342900" algn="just">
              <a:buFont typeface="Arial" panose="020B0604020202020204" pitchFamily="34" charset="0"/>
              <a:buChar char="•"/>
            </a:pPr>
            <a:r>
              <a:rPr lang="en-US" dirty="0">
                <a:latin typeface="fkGroteskNeue"/>
              </a:rPr>
              <a:t>LC oscillators hold energy in physical inductors and capacitors — their "ringing" persists longer with sharper frequency definition — they have high Q.</a:t>
            </a:r>
          </a:p>
          <a:p>
            <a:pPr marL="342900" indent="-342900" algn="just">
              <a:buFont typeface="Arial" panose="020B0604020202020204" pitchFamily="34" charset="0"/>
              <a:buChar char="•"/>
            </a:pPr>
            <a:r>
              <a:rPr lang="en-US" dirty="0">
                <a:latin typeface="fkGroteskNeue"/>
              </a:rPr>
              <a:t>Ring oscillators trade quality for simplicity and integration, while LC oscillators favor signal purity and stability.</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682036535"/>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Quality Factor and Oscillator Types: Ring vs </a:t>
            </a:r>
            <a:r>
              <a:rPr lang="en-US" dirty="0" smtClean="0"/>
              <a:t>LC</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graphicFrame>
        <p:nvGraphicFramePr>
          <p:cNvPr id="7" name="Table 6"/>
          <p:cNvGraphicFramePr>
            <a:graphicFrameLocks noGrp="1"/>
          </p:cNvGraphicFramePr>
          <p:nvPr>
            <p:extLst>
              <p:ext uri="{D42A27DB-BD31-4B8C-83A1-F6EECF244321}">
                <p14:modId xmlns:p14="http://schemas.microsoft.com/office/powerpoint/2010/main" val="285236449"/>
              </p:ext>
            </p:extLst>
          </p:nvPr>
        </p:nvGraphicFramePr>
        <p:xfrm>
          <a:off x="1058335" y="1327150"/>
          <a:ext cx="9961032" cy="3710926"/>
        </p:xfrm>
        <a:graphic>
          <a:graphicData uri="http://schemas.openxmlformats.org/drawingml/2006/table">
            <a:tbl>
              <a:tblPr/>
              <a:tblGrid>
                <a:gridCol w="3320344">
                  <a:extLst>
                    <a:ext uri="{9D8B030D-6E8A-4147-A177-3AD203B41FA5}">
                      <a16:colId xmlns:a16="http://schemas.microsoft.com/office/drawing/2014/main" val="1977476947"/>
                    </a:ext>
                  </a:extLst>
                </a:gridCol>
                <a:gridCol w="3320344">
                  <a:extLst>
                    <a:ext uri="{9D8B030D-6E8A-4147-A177-3AD203B41FA5}">
                      <a16:colId xmlns:a16="http://schemas.microsoft.com/office/drawing/2014/main" val="389442755"/>
                    </a:ext>
                  </a:extLst>
                </a:gridCol>
                <a:gridCol w="3320344">
                  <a:extLst>
                    <a:ext uri="{9D8B030D-6E8A-4147-A177-3AD203B41FA5}">
                      <a16:colId xmlns:a16="http://schemas.microsoft.com/office/drawing/2014/main" val="2506342431"/>
                    </a:ext>
                  </a:extLst>
                </a:gridCol>
              </a:tblGrid>
              <a:tr h="83690">
                <a:tc>
                  <a:txBody>
                    <a:bodyPr/>
                    <a:lstStyle/>
                    <a:p>
                      <a:pPr algn="ctr" fontAlgn="t" latinLnBrk="0"/>
                      <a:r>
                        <a:rPr lang="en-US" sz="1800" b="0" dirty="0">
                          <a:effectLst/>
                        </a:rPr>
                        <a:t>Characteristic</a:t>
                      </a:r>
                    </a:p>
                  </a:txBody>
                  <a:tcPr marL="11309" marR="11309" marT="11309" marB="11309">
                    <a:lnL w="6350" cap="flat" cmpd="sng" algn="ctr">
                      <a:solidFill>
                        <a:srgbClr val="E0356B"/>
                      </a:solidFill>
                      <a:prstDash val="solid"/>
                      <a:round/>
                      <a:headEnd type="none" w="med" len="med"/>
                      <a:tailEnd type="none" w="med" len="med"/>
                    </a:lnL>
                    <a:lnR w="6350" cap="flat" cmpd="sng" algn="ctr">
                      <a:solidFill>
                        <a:srgbClr val="90446B"/>
                      </a:solidFill>
                      <a:prstDash val="solid"/>
                      <a:round/>
                      <a:headEnd type="none" w="med" len="med"/>
                      <a:tailEnd type="none" w="med" len="med"/>
                    </a:lnR>
                    <a:lnT w="6350" cap="flat" cmpd="sng" algn="ctr">
                      <a:solidFill>
                        <a:srgbClr val="E0356B"/>
                      </a:solidFill>
                      <a:prstDash val="solid"/>
                      <a:round/>
                      <a:headEnd type="none" w="med" len="med"/>
                      <a:tailEnd type="none" w="med" len="med"/>
                    </a:lnT>
                    <a:lnB w="6350" cap="flat" cmpd="sng" algn="ctr">
                      <a:solidFill>
                        <a:srgbClr val="30406B"/>
                      </a:solidFill>
                      <a:prstDash val="solid"/>
                      <a:round/>
                      <a:headEnd type="none" w="med" len="med"/>
                      <a:tailEnd type="none" w="med" len="med"/>
                    </a:lnB>
                  </a:tcPr>
                </a:tc>
                <a:tc>
                  <a:txBody>
                    <a:bodyPr/>
                    <a:lstStyle/>
                    <a:p>
                      <a:pPr algn="ctr" fontAlgn="t" latinLnBrk="0"/>
                      <a:r>
                        <a:rPr lang="en-US" sz="1800" b="0">
                          <a:effectLst/>
                        </a:rPr>
                        <a:t>Ring Oscillator</a:t>
                      </a:r>
                    </a:p>
                  </a:txBody>
                  <a:tcPr marL="11309" marR="11309" marT="11309" marB="11309">
                    <a:lnL w="6350" cap="flat" cmpd="sng" algn="ctr">
                      <a:solidFill>
                        <a:srgbClr val="90446B"/>
                      </a:solidFill>
                      <a:prstDash val="solid"/>
                      <a:round/>
                      <a:headEnd type="none" w="med" len="med"/>
                      <a:tailEnd type="none" w="med" len="med"/>
                    </a:lnL>
                    <a:lnR w="6350" cap="flat" cmpd="sng" algn="ctr">
                      <a:solidFill>
                        <a:srgbClr val="F0436B"/>
                      </a:solidFill>
                      <a:prstDash val="solid"/>
                      <a:round/>
                      <a:headEnd type="none" w="med" len="med"/>
                      <a:tailEnd type="none" w="med" len="med"/>
                    </a:lnR>
                    <a:lnT w="6350" cap="flat" cmpd="sng" algn="ctr">
                      <a:solidFill>
                        <a:srgbClr val="90446B"/>
                      </a:solidFill>
                      <a:prstDash val="solid"/>
                      <a:round/>
                      <a:headEnd type="none" w="med" len="med"/>
                      <a:tailEnd type="none" w="med" len="med"/>
                    </a:lnT>
                    <a:lnB w="6350" cap="flat" cmpd="sng" algn="ctr">
                      <a:solidFill>
                        <a:srgbClr val="203C6B"/>
                      </a:solidFill>
                      <a:prstDash val="solid"/>
                      <a:round/>
                      <a:headEnd type="none" w="med" len="med"/>
                      <a:tailEnd type="none" w="med" len="med"/>
                    </a:lnB>
                  </a:tcPr>
                </a:tc>
                <a:tc>
                  <a:txBody>
                    <a:bodyPr/>
                    <a:lstStyle/>
                    <a:p>
                      <a:pPr algn="ctr" fontAlgn="t" latinLnBrk="0"/>
                      <a:r>
                        <a:rPr lang="en-US" sz="1800" b="0" dirty="0">
                          <a:effectLst/>
                        </a:rPr>
                        <a:t>LC Oscillator</a:t>
                      </a:r>
                    </a:p>
                  </a:txBody>
                  <a:tcPr marL="11309" marR="11309" marT="11309" marB="11309">
                    <a:lnL w="6350" cap="flat" cmpd="sng" algn="ctr">
                      <a:solidFill>
                        <a:srgbClr val="F0436B"/>
                      </a:solidFill>
                      <a:prstDash val="solid"/>
                      <a:round/>
                      <a:headEnd type="none" w="med" len="med"/>
                      <a:tailEnd type="none" w="med" len="med"/>
                    </a:lnL>
                    <a:lnR w="6350" cap="flat" cmpd="sng" algn="ctr">
                      <a:solidFill>
                        <a:srgbClr val="F0436B"/>
                      </a:solidFill>
                      <a:prstDash val="solid"/>
                      <a:round/>
                      <a:headEnd type="none" w="med" len="med"/>
                      <a:tailEnd type="none" w="med" len="med"/>
                    </a:lnR>
                    <a:lnT w="6350" cap="flat" cmpd="sng" algn="ctr">
                      <a:solidFill>
                        <a:srgbClr val="F0436B"/>
                      </a:solidFill>
                      <a:prstDash val="solid"/>
                      <a:round/>
                      <a:headEnd type="none" w="med" len="med"/>
                      <a:tailEnd type="none" w="med" len="med"/>
                    </a:lnT>
                    <a:lnB w="6350" cap="flat" cmpd="sng" algn="ctr">
                      <a:solidFill>
                        <a:srgbClr val="20326B"/>
                      </a:solidFill>
                      <a:prstDash val="solid"/>
                      <a:round/>
                      <a:headEnd type="none" w="med" len="med"/>
                      <a:tailEnd type="none" w="med" len="med"/>
                    </a:lnB>
                  </a:tcPr>
                </a:tc>
                <a:extLst>
                  <a:ext uri="{0D108BD9-81ED-4DB2-BD59-A6C34878D82A}">
                    <a16:rowId xmlns:a16="http://schemas.microsoft.com/office/drawing/2014/main" val="4093963953"/>
                  </a:ext>
                </a:extLst>
              </a:tr>
              <a:tr h="264642">
                <a:tc>
                  <a:txBody>
                    <a:bodyPr/>
                    <a:lstStyle/>
                    <a:p>
                      <a:pPr algn="ctr" fontAlgn="base" latinLnBrk="0"/>
                      <a:r>
                        <a:rPr lang="en-US" sz="1800" dirty="0">
                          <a:effectLst/>
                        </a:rPr>
                        <a:t>Energy Storage Mechanism</a:t>
                      </a:r>
                    </a:p>
                  </a:txBody>
                  <a:tcPr marL="11309" marR="11309" marT="10179" marB="10179" anchor="ctr">
                    <a:lnL w="6350" cap="flat" cmpd="sng" algn="ctr">
                      <a:solidFill>
                        <a:srgbClr val="30406B"/>
                      </a:solidFill>
                      <a:prstDash val="solid"/>
                      <a:round/>
                      <a:headEnd type="none" w="med" len="med"/>
                      <a:tailEnd type="none" w="med" len="med"/>
                    </a:lnL>
                    <a:lnR w="6350" cap="flat" cmpd="sng" algn="ctr">
                      <a:solidFill>
                        <a:srgbClr val="203C6B"/>
                      </a:solidFill>
                      <a:prstDash val="solid"/>
                      <a:round/>
                      <a:headEnd type="none" w="med" len="med"/>
                      <a:tailEnd type="none" w="med" len="med"/>
                    </a:lnR>
                    <a:lnT w="6350" cap="flat" cmpd="sng" algn="ctr">
                      <a:solidFill>
                        <a:srgbClr val="30406B"/>
                      </a:solidFill>
                      <a:prstDash val="solid"/>
                      <a:round/>
                      <a:headEnd type="none" w="med" len="med"/>
                      <a:tailEnd type="none" w="med" len="med"/>
                    </a:lnT>
                    <a:lnB w="6350" cap="flat" cmpd="sng" algn="ctr">
                      <a:solidFill>
                        <a:srgbClr val="30316B"/>
                      </a:solidFill>
                      <a:prstDash val="solid"/>
                      <a:round/>
                      <a:headEnd type="none" w="med" len="med"/>
                      <a:tailEnd type="none" w="med" len="med"/>
                    </a:lnB>
                  </a:tcPr>
                </a:tc>
                <a:tc>
                  <a:txBody>
                    <a:bodyPr/>
                    <a:lstStyle/>
                    <a:p>
                      <a:pPr algn="ctr" fontAlgn="base" latinLnBrk="0"/>
                      <a:r>
                        <a:rPr lang="en-US" sz="1800">
                          <a:effectLst/>
                        </a:rPr>
                        <a:t>Uses delay and inverter stages</a:t>
                      </a:r>
                    </a:p>
                  </a:txBody>
                  <a:tcPr marL="11309" marR="11309" marT="10179" marB="10179" anchor="ctr">
                    <a:lnL w="6350" cap="flat" cmpd="sng" algn="ctr">
                      <a:solidFill>
                        <a:srgbClr val="203C6B"/>
                      </a:solidFill>
                      <a:prstDash val="solid"/>
                      <a:round/>
                      <a:headEnd type="none" w="med" len="med"/>
                      <a:tailEnd type="none" w="med" len="med"/>
                    </a:lnL>
                    <a:lnR w="6350" cap="flat" cmpd="sng" algn="ctr">
                      <a:solidFill>
                        <a:srgbClr val="20326B"/>
                      </a:solidFill>
                      <a:prstDash val="solid"/>
                      <a:round/>
                      <a:headEnd type="none" w="med" len="med"/>
                      <a:tailEnd type="none" w="med" len="med"/>
                    </a:lnR>
                    <a:lnT w="6350" cap="flat" cmpd="sng" algn="ctr">
                      <a:solidFill>
                        <a:srgbClr val="203C6B"/>
                      </a:solidFill>
                      <a:prstDash val="solid"/>
                      <a:round/>
                      <a:headEnd type="none" w="med" len="med"/>
                      <a:tailEnd type="none" w="med" len="med"/>
                    </a:lnT>
                    <a:lnB w="6350" cap="flat" cmpd="sng" algn="ctr">
                      <a:solidFill>
                        <a:srgbClr val="B0426B"/>
                      </a:solidFill>
                      <a:prstDash val="solid"/>
                      <a:round/>
                      <a:headEnd type="none" w="med" len="med"/>
                      <a:tailEnd type="none" w="med" len="med"/>
                    </a:lnB>
                  </a:tcPr>
                </a:tc>
                <a:tc>
                  <a:txBody>
                    <a:bodyPr/>
                    <a:lstStyle/>
                    <a:p>
                      <a:pPr algn="ctr" fontAlgn="base" latinLnBrk="0"/>
                      <a:r>
                        <a:rPr lang="en-US" sz="1800">
                          <a:effectLst/>
                        </a:rPr>
                        <a:t>Real energy storage with discrete L and C</a:t>
                      </a:r>
                    </a:p>
                  </a:txBody>
                  <a:tcPr marL="11309" marR="11309" marT="10179" marB="10179" anchor="ctr">
                    <a:lnL w="6350" cap="flat" cmpd="sng" algn="ctr">
                      <a:solidFill>
                        <a:srgbClr val="20326B"/>
                      </a:solidFill>
                      <a:prstDash val="solid"/>
                      <a:round/>
                      <a:headEnd type="none" w="med" len="med"/>
                      <a:tailEnd type="none" w="med" len="med"/>
                    </a:lnL>
                    <a:lnR w="6350" cap="flat" cmpd="sng" algn="ctr">
                      <a:solidFill>
                        <a:srgbClr val="20326B"/>
                      </a:solidFill>
                      <a:prstDash val="solid"/>
                      <a:round/>
                      <a:headEnd type="none" w="med" len="med"/>
                      <a:tailEnd type="none" w="med" len="med"/>
                    </a:lnR>
                    <a:lnT w="6350" cap="flat" cmpd="sng" algn="ctr">
                      <a:solidFill>
                        <a:srgbClr val="20326B"/>
                      </a:solidFill>
                      <a:prstDash val="solid"/>
                      <a:round/>
                      <a:headEnd type="none" w="med" len="med"/>
                      <a:tailEnd type="none" w="med" len="med"/>
                    </a:lnT>
                    <a:lnB w="6350" cap="flat" cmpd="sng" algn="ctr">
                      <a:solidFill>
                        <a:srgbClr val="20376B"/>
                      </a:solidFill>
                      <a:prstDash val="solid"/>
                      <a:round/>
                      <a:headEnd type="none" w="med" len="med"/>
                      <a:tailEnd type="none" w="med" len="med"/>
                    </a:lnB>
                  </a:tcPr>
                </a:tc>
                <a:extLst>
                  <a:ext uri="{0D108BD9-81ED-4DB2-BD59-A6C34878D82A}">
                    <a16:rowId xmlns:a16="http://schemas.microsoft.com/office/drawing/2014/main" val="451586554"/>
                  </a:ext>
                </a:extLst>
              </a:tr>
              <a:tr h="264642">
                <a:tc>
                  <a:txBody>
                    <a:bodyPr/>
                    <a:lstStyle/>
                    <a:p>
                      <a:pPr algn="ctr" fontAlgn="base" latinLnBrk="0"/>
                      <a:r>
                        <a:rPr lang="en-US" sz="1800" dirty="0">
                          <a:effectLst/>
                        </a:rPr>
                        <a:t>Typical </a:t>
                      </a:r>
                      <a:r>
                        <a:rPr lang="en-US" sz="1800" i="1" dirty="0" smtClean="0">
                          <a:effectLst/>
                          <a:latin typeface="KaTeX_Math"/>
                        </a:rPr>
                        <a:t>Q</a:t>
                      </a:r>
                      <a:endParaRPr lang="en-US" sz="1800" dirty="0">
                        <a:effectLst/>
                      </a:endParaRPr>
                    </a:p>
                  </a:txBody>
                  <a:tcPr marL="11309" marR="11309" marT="10179" marB="10179" anchor="ctr">
                    <a:lnL w="6350" cap="flat" cmpd="sng" algn="ctr">
                      <a:solidFill>
                        <a:srgbClr val="30316B"/>
                      </a:solidFill>
                      <a:prstDash val="solid"/>
                      <a:round/>
                      <a:headEnd type="none" w="med" len="med"/>
                      <a:tailEnd type="none" w="med" len="med"/>
                    </a:lnL>
                    <a:lnR w="6350" cap="flat" cmpd="sng" algn="ctr">
                      <a:solidFill>
                        <a:srgbClr val="B0426B"/>
                      </a:solidFill>
                      <a:prstDash val="solid"/>
                      <a:round/>
                      <a:headEnd type="none" w="med" len="med"/>
                      <a:tailEnd type="none" w="med" len="med"/>
                    </a:lnR>
                    <a:lnT w="6350" cap="flat" cmpd="sng" algn="ctr">
                      <a:solidFill>
                        <a:srgbClr val="30316B"/>
                      </a:solidFill>
                      <a:prstDash val="solid"/>
                      <a:round/>
                      <a:headEnd type="none" w="med" len="med"/>
                      <a:tailEnd type="none" w="med" len="med"/>
                    </a:lnT>
                    <a:lnB w="6350" cap="flat" cmpd="sng" algn="ctr">
                      <a:solidFill>
                        <a:srgbClr val="403A6B"/>
                      </a:solidFill>
                      <a:prstDash val="solid"/>
                      <a:round/>
                      <a:headEnd type="none" w="med" len="med"/>
                      <a:tailEnd type="none" w="med" len="med"/>
                    </a:lnB>
                  </a:tcPr>
                </a:tc>
                <a:tc>
                  <a:txBody>
                    <a:bodyPr/>
                    <a:lstStyle/>
                    <a:p>
                      <a:pPr algn="ctr" fontAlgn="base" latinLnBrk="0"/>
                      <a:r>
                        <a:rPr lang="en-US" sz="1800" dirty="0">
                          <a:effectLst/>
                        </a:rPr>
                        <a:t>Low (around 3-10), limited by device losses and delay</a:t>
                      </a:r>
                    </a:p>
                  </a:txBody>
                  <a:tcPr marL="11309" marR="11309" marT="10179" marB="10179" anchor="ctr">
                    <a:lnL w="6350" cap="flat" cmpd="sng" algn="ctr">
                      <a:solidFill>
                        <a:srgbClr val="B0426B"/>
                      </a:solidFill>
                      <a:prstDash val="solid"/>
                      <a:round/>
                      <a:headEnd type="none" w="med" len="med"/>
                      <a:tailEnd type="none" w="med" len="med"/>
                    </a:lnL>
                    <a:lnR w="6350" cap="flat" cmpd="sng" algn="ctr">
                      <a:solidFill>
                        <a:srgbClr val="20376B"/>
                      </a:solidFill>
                      <a:prstDash val="solid"/>
                      <a:round/>
                      <a:headEnd type="none" w="med" len="med"/>
                      <a:tailEnd type="none" w="med" len="med"/>
                    </a:lnR>
                    <a:lnT w="6350" cap="flat" cmpd="sng" algn="ctr">
                      <a:solidFill>
                        <a:srgbClr val="B0426B"/>
                      </a:solidFill>
                      <a:prstDash val="solid"/>
                      <a:round/>
                      <a:headEnd type="none" w="med" len="med"/>
                      <a:tailEnd type="none" w="med" len="med"/>
                    </a:lnT>
                    <a:lnB w="6350" cap="flat" cmpd="sng" algn="ctr">
                      <a:solidFill>
                        <a:srgbClr val="90356B"/>
                      </a:solidFill>
                      <a:prstDash val="solid"/>
                      <a:round/>
                      <a:headEnd type="none" w="med" len="med"/>
                      <a:tailEnd type="none" w="med" len="med"/>
                    </a:lnB>
                  </a:tcPr>
                </a:tc>
                <a:tc>
                  <a:txBody>
                    <a:bodyPr/>
                    <a:lstStyle/>
                    <a:p>
                      <a:pPr algn="ctr" fontAlgn="base" latinLnBrk="0"/>
                      <a:r>
                        <a:rPr lang="en-US" sz="1800">
                          <a:effectLst/>
                        </a:rPr>
                        <a:t>High (often &gt;100), limited mainly by inductor loss</a:t>
                      </a:r>
                    </a:p>
                  </a:txBody>
                  <a:tcPr marL="11309" marR="11309" marT="10179" marB="10179" anchor="ctr">
                    <a:lnL w="6350" cap="flat" cmpd="sng" algn="ctr">
                      <a:solidFill>
                        <a:srgbClr val="20376B"/>
                      </a:solidFill>
                      <a:prstDash val="solid"/>
                      <a:round/>
                      <a:headEnd type="none" w="med" len="med"/>
                      <a:tailEnd type="none" w="med" len="med"/>
                    </a:lnL>
                    <a:lnR w="6350" cap="flat" cmpd="sng" algn="ctr">
                      <a:solidFill>
                        <a:srgbClr val="20376B"/>
                      </a:solidFill>
                      <a:prstDash val="solid"/>
                      <a:round/>
                      <a:headEnd type="none" w="med" len="med"/>
                      <a:tailEnd type="none" w="med" len="med"/>
                    </a:lnR>
                    <a:lnT w="6350" cap="flat" cmpd="sng" algn="ctr">
                      <a:solidFill>
                        <a:srgbClr val="20376B"/>
                      </a:solidFill>
                      <a:prstDash val="solid"/>
                      <a:round/>
                      <a:headEnd type="none" w="med" len="med"/>
                      <a:tailEnd type="none" w="med" len="med"/>
                    </a:lnT>
                    <a:lnB w="6350" cap="flat" cmpd="sng" algn="ctr">
                      <a:solidFill>
                        <a:srgbClr val="D0366B"/>
                      </a:solidFill>
                      <a:prstDash val="solid"/>
                      <a:round/>
                      <a:headEnd type="none" w="med" len="med"/>
                      <a:tailEnd type="none" w="med" len="med"/>
                    </a:lnB>
                  </a:tcPr>
                </a:tc>
                <a:extLst>
                  <a:ext uri="{0D108BD9-81ED-4DB2-BD59-A6C34878D82A}">
                    <a16:rowId xmlns:a16="http://schemas.microsoft.com/office/drawing/2014/main" val="846459086"/>
                  </a:ext>
                </a:extLst>
              </a:tr>
              <a:tr h="264642">
                <a:tc>
                  <a:txBody>
                    <a:bodyPr/>
                    <a:lstStyle/>
                    <a:p>
                      <a:pPr algn="ctr" fontAlgn="base" latinLnBrk="0"/>
                      <a:r>
                        <a:rPr lang="en-US" sz="1800">
                          <a:effectLst/>
                        </a:rPr>
                        <a:t>Frequency Control</a:t>
                      </a:r>
                    </a:p>
                  </a:txBody>
                  <a:tcPr marL="11309" marR="11309" marT="10179" marB="10179" anchor="ctr">
                    <a:lnL w="6350" cap="flat" cmpd="sng" algn="ctr">
                      <a:solidFill>
                        <a:srgbClr val="403A6B"/>
                      </a:solidFill>
                      <a:prstDash val="solid"/>
                      <a:round/>
                      <a:headEnd type="none" w="med" len="med"/>
                      <a:tailEnd type="none" w="med" len="med"/>
                    </a:lnL>
                    <a:lnR w="6350" cap="flat" cmpd="sng" algn="ctr">
                      <a:solidFill>
                        <a:srgbClr val="90356B"/>
                      </a:solidFill>
                      <a:prstDash val="solid"/>
                      <a:round/>
                      <a:headEnd type="none" w="med" len="med"/>
                      <a:tailEnd type="none" w="med" len="med"/>
                    </a:lnR>
                    <a:lnT w="6350" cap="flat" cmpd="sng" algn="ctr">
                      <a:solidFill>
                        <a:srgbClr val="403A6B"/>
                      </a:solidFill>
                      <a:prstDash val="solid"/>
                      <a:round/>
                      <a:headEnd type="none" w="med" len="med"/>
                      <a:tailEnd type="none" w="med" len="med"/>
                    </a:lnT>
                    <a:lnB w="6350" cap="flat" cmpd="sng" algn="ctr">
                      <a:solidFill>
                        <a:srgbClr val="60426B"/>
                      </a:solidFill>
                      <a:prstDash val="solid"/>
                      <a:round/>
                      <a:headEnd type="none" w="med" len="med"/>
                      <a:tailEnd type="none" w="med" len="med"/>
                    </a:lnB>
                  </a:tcPr>
                </a:tc>
                <a:tc>
                  <a:txBody>
                    <a:bodyPr/>
                    <a:lstStyle/>
                    <a:p>
                      <a:pPr algn="ctr" fontAlgn="base" latinLnBrk="0"/>
                      <a:r>
                        <a:rPr lang="en-US" sz="1800" dirty="0">
                          <a:effectLst/>
                        </a:rPr>
                        <a:t>Easily tunable via supply voltage or device sizing</a:t>
                      </a:r>
                    </a:p>
                  </a:txBody>
                  <a:tcPr marL="11309" marR="11309" marT="10179" marB="10179" anchor="ctr">
                    <a:lnL w="6350" cap="flat" cmpd="sng" algn="ctr">
                      <a:solidFill>
                        <a:srgbClr val="90356B"/>
                      </a:solidFill>
                      <a:prstDash val="solid"/>
                      <a:round/>
                      <a:headEnd type="none" w="med" len="med"/>
                      <a:tailEnd type="none" w="med" len="med"/>
                    </a:lnL>
                    <a:lnR w="6350" cap="flat" cmpd="sng" algn="ctr">
                      <a:solidFill>
                        <a:srgbClr val="D0366B"/>
                      </a:solidFill>
                      <a:prstDash val="solid"/>
                      <a:round/>
                      <a:headEnd type="none" w="med" len="med"/>
                      <a:tailEnd type="none" w="med" len="med"/>
                    </a:lnR>
                    <a:lnT w="6350" cap="flat" cmpd="sng" algn="ctr">
                      <a:solidFill>
                        <a:srgbClr val="90356B"/>
                      </a:solidFill>
                      <a:prstDash val="solid"/>
                      <a:round/>
                      <a:headEnd type="none" w="med" len="med"/>
                      <a:tailEnd type="none" w="med" len="med"/>
                    </a:lnT>
                    <a:lnB w="6350" cap="flat" cmpd="sng" algn="ctr">
                      <a:solidFill>
                        <a:srgbClr val="30406B"/>
                      </a:solidFill>
                      <a:prstDash val="solid"/>
                      <a:round/>
                      <a:headEnd type="none" w="med" len="med"/>
                      <a:tailEnd type="none" w="med" len="med"/>
                    </a:lnB>
                  </a:tcPr>
                </a:tc>
                <a:tc>
                  <a:txBody>
                    <a:bodyPr/>
                    <a:lstStyle/>
                    <a:p>
                      <a:pPr algn="ctr" fontAlgn="base" latinLnBrk="0"/>
                      <a:r>
                        <a:rPr lang="en-US" sz="1800" dirty="0">
                          <a:effectLst/>
                        </a:rPr>
                        <a:t>Frequency set by tank L and C values, more stable</a:t>
                      </a:r>
                    </a:p>
                  </a:txBody>
                  <a:tcPr marL="11309" marR="11309" marT="10179" marB="10179" anchor="ctr">
                    <a:lnL w="6350" cap="flat" cmpd="sng" algn="ctr">
                      <a:solidFill>
                        <a:srgbClr val="D0366B"/>
                      </a:solidFill>
                      <a:prstDash val="solid"/>
                      <a:round/>
                      <a:headEnd type="none" w="med" len="med"/>
                      <a:tailEnd type="none" w="med" len="med"/>
                    </a:lnL>
                    <a:lnR w="6350" cap="flat" cmpd="sng" algn="ctr">
                      <a:solidFill>
                        <a:srgbClr val="D0366B"/>
                      </a:solidFill>
                      <a:prstDash val="solid"/>
                      <a:round/>
                      <a:headEnd type="none" w="med" len="med"/>
                      <a:tailEnd type="none" w="med" len="med"/>
                    </a:lnR>
                    <a:lnT w="6350" cap="flat" cmpd="sng" algn="ctr">
                      <a:solidFill>
                        <a:srgbClr val="D0366B"/>
                      </a:solidFill>
                      <a:prstDash val="solid"/>
                      <a:round/>
                      <a:headEnd type="none" w="med" len="med"/>
                      <a:tailEnd type="none" w="med" len="med"/>
                    </a:lnT>
                    <a:lnB w="6350" cap="flat" cmpd="sng" algn="ctr">
                      <a:solidFill>
                        <a:srgbClr val="903A6B"/>
                      </a:solidFill>
                      <a:prstDash val="solid"/>
                      <a:round/>
                      <a:headEnd type="none" w="med" len="med"/>
                      <a:tailEnd type="none" w="med" len="med"/>
                    </a:lnB>
                  </a:tcPr>
                </a:tc>
                <a:extLst>
                  <a:ext uri="{0D108BD9-81ED-4DB2-BD59-A6C34878D82A}">
                    <a16:rowId xmlns:a16="http://schemas.microsoft.com/office/drawing/2014/main" val="4269325799"/>
                  </a:ext>
                </a:extLst>
              </a:tr>
              <a:tr h="264642">
                <a:tc>
                  <a:txBody>
                    <a:bodyPr/>
                    <a:lstStyle/>
                    <a:p>
                      <a:pPr algn="ctr" fontAlgn="base" latinLnBrk="0"/>
                      <a:r>
                        <a:rPr lang="en-US" sz="1800">
                          <a:effectLst/>
                        </a:rPr>
                        <a:t>Phase Noise</a:t>
                      </a:r>
                    </a:p>
                  </a:txBody>
                  <a:tcPr marL="11309" marR="11309" marT="10179" marB="10179" anchor="ctr">
                    <a:lnL w="6350" cap="flat" cmpd="sng" algn="ctr">
                      <a:solidFill>
                        <a:srgbClr val="60426B"/>
                      </a:solidFill>
                      <a:prstDash val="solid"/>
                      <a:round/>
                      <a:headEnd type="none" w="med" len="med"/>
                      <a:tailEnd type="none" w="med" len="med"/>
                    </a:lnL>
                    <a:lnR w="6350" cap="flat" cmpd="sng" algn="ctr">
                      <a:solidFill>
                        <a:srgbClr val="30406B"/>
                      </a:solidFill>
                      <a:prstDash val="solid"/>
                      <a:round/>
                      <a:headEnd type="none" w="med" len="med"/>
                      <a:tailEnd type="none" w="med" len="med"/>
                    </a:lnR>
                    <a:lnT w="6350" cap="flat" cmpd="sng" algn="ctr">
                      <a:solidFill>
                        <a:srgbClr val="60426B"/>
                      </a:solidFill>
                      <a:prstDash val="solid"/>
                      <a:round/>
                      <a:headEnd type="none" w="med" len="med"/>
                      <a:tailEnd type="none" w="med" len="med"/>
                    </a:lnT>
                    <a:lnB w="6350" cap="flat" cmpd="sng" algn="ctr">
                      <a:solidFill>
                        <a:srgbClr val="F03E6B"/>
                      </a:solidFill>
                      <a:prstDash val="solid"/>
                      <a:round/>
                      <a:headEnd type="none" w="med" len="med"/>
                      <a:tailEnd type="none" w="med" len="med"/>
                    </a:lnB>
                  </a:tcPr>
                </a:tc>
                <a:tc>
                  <a:txBody>
                    <a:bodyPr/>
                    <a:lstStyle/>
                    <a:p>
                      <a:pPr algn="ctr" fontAlgn="base" latinLnBrk="0"/>
                      <a:r>
                        <a:rPr lang="en-US" sz="1800" dirty="0">
                          <a:effectLst/>
                        </a:rPr>
                        <a:t>Higher—lower </a:t>
                      </a:r>
                      <a:r>
                        <a:rPr lang="en-US" sz="1800" i="1" dirty="0" smtClean="0">
                          <a:effectLst/>
                          <a:latin typeface="KaTeX_Math"/>
                        </a:rPr>
                        <a:t>Q</a:t>
                      </a:r>
                      <a:r>
                        <a:rPr lang="en-US" sz="1800" dirty="0">
                          <a:effectLst/>
                        </a:rPr>
                        <a:t> implies more noise</a:t>
                      </a:r>
                    </a:p>
                  </a:txBody>
                  <a:tcPr marL="11309" marR="11309" marT="10179" marB="10179" anchor="ctr">
                    <a:lnL w="6350" cap="flat" cmpd="sng" algn="ctr">
                      <a:solidFill>
                        <a:srgbClr val="30406B"/>
                      </a:solidFill>
                      <a:prstDash val="solid"/>
                      <a:round/>
                      <a:headEnd type="none" w="med" len="med"/>
                      <a:tailEnd type="none" w="med" len="med"/>
                    </a:lnL>
                    <a:lnR w="6350" cap="flat" cmpd="sng" algn="ctr">
                      <a:solidFill>
                        <a:srgbClr val="903A6B"/>
                      </a:solidFill>
                      <a:prstDash val="solid"/>
                      <a:round/>
                      <a:headEnd type="none" w="med" len="med"/>
                      <a:tailEnd type="none" w="med" len="med"/>
                    </a:lnR>
                    <a:lnT w="6350" cap="flat" cmpd="sng" algn="ctr">
                      <a:solidFill>
                        <a:srgbClr val="30406B"/>
                      </a:solidFill>
                      <a:prstDash val="solid"/>
                      <a:round/>
                      <a:headEnd type="none" w="med" len="med"/>
                      <a:tailEnd type="none" w="med" len="med"/>
                    </a:lnT>
                    <a:lnB w="6350" cap="flat" cmpd="sng" algn="ctr">
                      <a:solidFill>
                        <a:srgbClr val="F03E6B"/>
                      </a:solidFill>
                      <a:prstDash val="solid"/>
                      <a:round/>
                      <a:headEnd type="none" w="med" len="med"/>
                      <a:tailEnd type="none" w="med" len="med"/>
                    </a:lnB>
                  </a:tcPr>
                </a:tc>
                <a:tc>
                  <a:txBody>
                    <a:bodyPr/>
                    <a:lstStyle/>
                    <a:p>
                      <a:pPr algn="ctr" fontAlgn="base" latinLnBrk="0"/>
                      <a:r>
                        <a:rPr lang="en-US" sz="1800" dirty="0">
                          <a:effectLst/>
                        </a:rPr>
                        <a:t>Lower—higher </a:t>
                      </a:r>
                      <a:r>
                        <a:rPr lang="en-US" sz="1800" i="1" dirty="0" smtClean="0">
                          <a:effectLst/>
                          <a:latin typeface="KaTeX_Math"/>
                        </a:rPr>
                        <a:t>Q</a:t>
                      </a:r>
                      <a:r>
                        <a:rPr lang="en-US" sz="1800" dirty="0">
                          <a:effectLst/>
                        </a:rPr>
                        <a:t> means better spectral purity</a:t>
                      </a:r>
                    </a:p>
                  </a:txBody>
                  <a:tcPr marL="11309" marR="11309" marT="10179" marB="10179" anchor="ctr">
                    <a:lnL w="6350" cap="flat" cmpd="sng" algn="ctr">
                      <a:solidFill>
                        <a:srgbClr val="903A6B"/>
                      </a:solidFill>
                      <a:prstDash val="solid"/>
                      <a:round/>
                      <a:headEnd type="none" w="med" len="med"/>
                      <a:tailEnd type="none" w="med" len="med"/>
                    </a:lnL>
                    <a:lnR w="6350" cap="flat" cmpd="sng" algn="ctr">
                      <a:solidFill>
                        <a:srgbClr val="903A6B"/>
                      </a:solidFill>
                      <a:prstDash val="solid"/>
                      <a:round/>
                      <a:headEnd type="none" w="med" len="med"/>
                      <a:tailEnd type="none" w="med" len="med"/>
                    </a:lnR>
                    <a:lnT w="6350" cap="flat" cmpd="sng" algn="ctr">
                      <a:solidFill>
                        <a:srgbClr val="903A6B"/>
                      </a:solidFill>
                      <a:prstDash val="solid"/>
                      <a:round/>
                      <a:headEnd type="none" w="med" len="med"/>
                      <a:tailEnd type="none" w="med" len="med"/>
                    </a:lnT>
                    <a:lnB w="6350" cap="flat" cmpd="sng" algn="ctr">
                      <a:solidFill>
                        <a:srgbClr val="20326B"/>
                      </a:solidFill>
                      <a:prstDash val="solid"/>
                      <a:round/>
                      <a:headEnd type="none" w="med" len="med"/>
                      <a:tailEnd type="none" w="med" len="med"/>
                    </a:lnB>
                  </a:tcPr>
                </a:tc>
                <a:extLst>
                  <a:ext uri="{0D108BD9-81ED-4DB2-BD59-A6C34878D82A}">
                    <a16:rowId xmlns:a16="http://schemas.microsoft.com/office/drawing/2014/main" val="53493871"/>
                  </a:ext>
                </a:extLst>
              </a:tr>
              <a:tr h="203571">
                <a:tc>
                  <a:txBody>
                    <a:bodyPr/>
                    <a:lstStyle/>
                    <a:p>
                      <a:pPr algn="ctr" fontAlgn="base" latinLnBrk="0"/>
                      <a:r>
                        <a:rPr lang="en-US" sz="1800">
                          <a:effectLst/>
                        </a:rPr>
                        <a:t>Waveform</a:t>
                      </a:r>
                    </a:p>
                  </a:txBody>
                  <a:tcPr marL="11309" marR="11309" marT="10179" marB="10179" anchor="ctr">
                    <a:lnL w="6350" cap="flat" cmpd="sng" algn="ctr">
                      <a:solidFill>
                        <a:srgbClr val="F03E6B"/>
                      </a:solidFill>
                      <a:prstDash val="solid"/>
                      <a:round/>
                      <a:headEnd type="none" w="med" len="med"/>
                      <a:tailEnd type="none" w="med" len="med"/>
                    </a:lnL>
                    <a:lnR w="6350" cap="flat" cmpd="sng" algn="ctr">
                      <a:solidFill>
                        <a:srgbClr val="F03E6B"/>
                      </a:solidFill>
                      <a:prstDash val="solid"/>
                      <a:round/>
                      <a:headEnd type="none" w="med" len="med"/>
                      <a:tailEnd type="none" w="med" len="med"/>
                    </a:lnR>
                    <a:lnT w="6350" cap="flat" cmpd="sng" algn="ctr">
                      <a:solidFill>
                        <a:srgbClr val="F03E6B"/>
                      </a:solidFill>
                      <a:prstDash val="solid"/>
                      <a:round/>
                      <a:headEnd type="none" w="med" len="med"/>
                      <a:tailEnd type="none" w="med" len="med"/>
                    </a:lnT>
                    <a:lnB w="6350" cap="flat" cmpd="sng" algn="ctr">
                      <a:solidFill>
                        <a:srgbClr val="30406B"/>
                      </a:solidFill>
                      <a:prstDash val="solid"/>
                      <a:round/>
                      <a:headEnd type="none" w="med" len="med"/>
                      <a:tailEnd type="none" w="med" len="med"/>
                    </a:lnB>
                  </a:tcPr>
                </a:tc>
                <a:tc>
                  <a:txBody>
                    <a:bodyPr/>
                    <a:lstStyle/>
                    <a:p>
                      <a:pPr algn="ctr" fontAlgn="base" latinLnBrk="0"/>
                      <a:r>
                        <a:rPr lang="en-US" sz="1800">
                          <a:effectLst/>
                        </a:rPr>
                        <a:t>Square-like due to digital transitions</a:t>
                      </a:r>
                    </a:p>
                  </a:txBody>
                  <a:tcPr marL="11309" marR="11309" marT="10179" marB="10179" anchor="ctr">
                    <a:lnL w="6350" cap="flat" cmpd="sng" algn="ctr">
                      <a:solidFill>
                        <a:srgbClr val="F03E6B"/>
                      </a:solidFill>
                      <a:prstDash val="solid"/>
                      <a:round/>
                      <a:headEnd type="none" w="med" len="med"/>
                      <a:tailEnd type="none" w="med" len="med"/>
                    </a:lnL>
                    <a:lnR w="6350" cap="flat" cmpd="sng" algn="ctr">
                      <a:solidFill>
                        <a:srgbClr val="20326B"/>
                      </a:solidFill>
                      <a:prstDash val="solid"/>
                      <a:round/>
                      <a:headEnd type="none" w="med" len="med"/>
                      <a:tailEnd type="none" w="med" len="med"/>
                    </a:lnR>
                    <a:lnT w="6350" cap="flat" cmpd="sng" algn="ctr">
                      <a:solidFill>
                        <a:srgbClr val="F03E6B"/>
                      </a:solidFill>
                      <a:prstDash val="solid"/>
                      <a:round/>
                      <a:headEnd type="none" w="med" len="med"/>
                      <a:tailEnd type="none" w="med" len="med"/>
                    </a:lnT>
                    <a:lnB w="6350" cap="flat" cmpd="sng" algn="ctr">
                      <a:solidFill>
                        <a:srgbClr val="F0346B"/>
                      </a:solidFill>
                      <a:prstDash val="solid"/>
                      <a:round/>
                      <a:headEnd type="none" w="med" len="med"/>
                      <a:tailEnd type="none" w="med" len="med"/>
                    </a:lnB>
                  </a:tcPr>
                </a:tc>
                <a:tc>
                  <a:txBody>
                    <a:bodyPr/>
                    <a:lstStyle/>
                    <a:p>
                      <a:pPr algn="ctr" fontAlgn="base" latinLnBrk="0"/>
                      <a:r>
                        <a:rPr lang="en-US" sz="1800" dirty="0">
                          <a:effectLst/>
                        </a:rPr>
                        <a:t>Sinusoidal and smooth</a:t>
                      </a:r>
                    </a:p>
                  </a:txBody>
                  <a:tcPr marL="11309" marR="11309" marT="10179" marB="10179" anchor="ctr">
                    <a:lnL w="6350" cap="flat" cmpd="sng" algn="ctr">
                      <a:solidFill>
                        <a:srgbClr val="20326B"/>
                      </a:solidFill>
                      <a:prstDash val="solid"/>
                      <a:round/>
                      <a:headEnd type="none" w="med" len="med"/>
                      <a:tailEnd type="none" w="med" len="med"/>
                    </a:lnL>
                    <a:lnR w="6350" cap="flat" cmpd="sng" algn="ctr">
                      <a:solidFill>
                        <a:srgbClr val="20326B"/>
                      </a:solidFill>
                      <a:prstDash val="solid"/>
                      <a:round/>
                      <a:headEnd type="none" w="med" len="med"/>
                      <a:tailEnd type="none" w="med" len="med"/>
                    </a:lnR>
                    <a:lnT w="6350" cap="flat" cmpd="sng" algn="ctr">
                      <a:solidFill>
                        <a:srgbClr val="20326B"/>
                      </a:solidFill>
                      <a:prstDash val="solid"/>
                      <a:round/>
                      <a:headEnd type="none" w="med" len="med"/>
                      <a:tailEnd type="none" w="med" len="med"/>
                    </a:lnT>
                    <a:lnB w="6350" cap="flat" cmpd="sng" algn="ctr">
                      <a:solidFill>
                        <a:srgbClr val="A0346B"/>
                      </a:solidFill>
                      <a:prstDash val="solid"/>
                      <a:round/>
                      <a:headEnd type="none" w="med" len="med"/>
                      <a:tailEnd type="none" w="med" len="med"/>
                    </a:lnB>
                  </a:tcPr>
                </a:tc>
                <a:extLst>
                  <a:ext uri="{0D108BD9-81ED-4DB2-BD59-A6C34878D82A}">
                    <a16:rowId xmlns:a16="http://schemas.microsoft.com/office/drawing/2014/main" val="3365828935"/>
                  </a:ext>
                </a:extLst>
              </a:tr>
              <a:tr h="203571">
                <a:tc>
                  <a:txBody>
                    <a:bodyPr/>
                    <a:lstStyle/>
                    <a:p>
                      <a:pPr algn="ctr" fontAlgn="base" latinLnBrk="0"/>
                      <a:r>
                        <a:rPr lang="en-US" sz="1800">
                          <a:effectLst/>
                        </a:rPr>
                        <a:t>Integration</a:t>
                      </a:r>
                    </a:p>
                  </a:txBody>
                  <a:tcPr marL="11309" marR="11309" marT="10179" marB="10179" anchor="ctr">
                    <a:lnL w="6350" cap="flat" cmpd="sng" algn="ctr">
                      <a:solidFill>
                        <a:srgbClr val="30406B"/>
                      </a:solidFill>
                      <a:prstDash val="solid"/>
                      <a:round/>
                      <a:headEnd type="none" w="med" len="med"/>
                      <a:tailEnd type="none" w="med" len="med"/>
                    </a:lnL>
                    <a:lnR w="6350" cap="flat" cmpd="sng" algn="ctr">
                      <a:solidFill>
                        <a:srgbClr val="F0346B"/>
                      </a:solidFill>
                      <a:prstDash val="solid"/>
                      <a:round/>
                      <a:headEnd type="none" w="med" len="med"/>
                      <a:tailEnd type="none" w="med" len="med"/>
                    </a:lnR>
                    <a:lnT w="6350" cap="flat" cmpd="sng" algn="ctr">
                      <a:solidFill>
                        <a:srgbClr val="30406B"/>
                      </a:solidFill>
                      <a:prstDash val="solid"/>
                      <a:round/>
                      <a:headEnd type="none" w="med" len="med"/>
                      <a:tailEnd type="none" w="med" len="med"/>
                    </a:lnT>
                    <a:lnB w="6350" cap="flat" cmpd="sng" algn="ctr">
                      <a:solidFill>
                        <a:srgbClr val="30406B"/>
                      </a:solidFill>
                      <a:prstDash val="solid"/>
                      <a:round/>
                      <a:headEnd type="none" w="med" len="med"/>
                      <a:tailEnd type="none" w="med" len="med"/>
                    </a:lnB>
                  </a:tcPr>
                </a:tc>
                <a:tc>
                  <a:txBody>
                    <a:bodyPr/>
                    <a:lstStyle/>
                    <a:p>
                      <a:pPr algn="ctr" fontAlgn="base" latinLnBrk="0"/>
                      <a:r>
                        <a:rPr lang="en-US" sz="1800">
                          <a:effectLst/>
                        </a:rPr>
                        <a:t>Compact and fully CMOS compatible</a:t>
                      </a:r>
                    </a:p>
                  </a:txBody>
                  <a:tcPr marL="11309" marR="11309" marT="10179" marB="10179" anchor="ctr">
                    <a:lnL w="6350" cap="flat" cmpd="sng" algn="ctr">
                      <a:solidFill>
                        <a:srgbClr val="F0346B"/>
                      </a:solidFill>
                      <a:prstDash val="solid"/>
                      <a:round/>
                      <a:headEnd type="none" w="med" len="med"/>
                      <a:tailEnd type="none" w="med" len="med"/>
                    </a:lnL>
                    <a:lnR w="6350" cap="flat" cmpd="sng" algn="ctr">
                      <a:solidFill>
                        <a:srgbClr val="A0346B"/>
                      </a:solidFill>
                      <a:prstDash val="solid"/>
                      <a:round/>
                      <a:headEnd type="none" w="med" len="med"/>
                      <a:tailEnd type="none" w="med" len="med"/>
                    </a:lnR>
                    <a:lnT w="6350" cap="flat" cmpd="sng" algn="ctr">
                      <a:solidFill>
                        <a:srgbClr val="F0346B"/>
                      </a:solidFill>
                      <a:prstDash val="solid"/>
                      <a:round/>
                      <a:headEnd type="none" w="med" len="med"/>
                      <a:tailEnd type="none" w="med" len="med"/>
                    </a:lnT>
                    <a:lnB w="6350" cap="flat" cmpd="sng" algn="ctr">
                      <a:solidFill>
                        <a:srgbClr val="F0346B"/>
                      </a:solidFill>
                      <a:prstDash val="solid"/>
                      <a:round/>
                      <a:headEnd type="none" w="med" len="med"/>
                      <a:tailEnd type="none" w="med" len="med"/>
                    </a:lnB>
                  </a:tcPr>
                </a:tc>
                <a:tc>
                  <a:txBody>
                    <a:bodyPr/>
                    <a:lstStyle/>
                    <a:p>
                      <a:pPr algn="ctr" fontAlgn="base" latinLnBrk="0"/>
                      <a:r>
                        <a:rPr lang="en-US" sz="1800" dirty="0">
                          <a:effectLst/>
                        </a:rPr>
                        <a:t>Larger area due to inductors, more precious</a:t>
                      </a:r>
                    </a:p>
                  </a:txBody>
                  <a:tcPr marL="11309" marR="11309" marT="10179" marB="10179" anchor="ctr">
                    <a:lnL w="6350" cap="flat" cmpd="sng" algn="ctr">
                      <a:solidFill>
                        <a:srgbClr val="A0346B"/>
                      </a:solidFill>
                      <a:prstDash val="solid"/>
                      <a:round/>
                      <a:headEnd type="none" w="med" len="med"/>
                      <a:tailEnd type="none" w="med" len="med"/>
                    </a:lnL>
                    <a:lnR w="6350" cap="flat" cmpd="sng" algn="ctr">
                      <a:solidFill>
                        <a:srgbClr val="A0346B"/>
                      </a:solidFill>
                      <a:prstDash val="solid"/>
                      <a:round/>
                      <a:headEnd type="none" w="med" len="med"/>
                      <a:tailEnd type="none" w="med" len="med"/>
                    </a:lnR>
                    <a:lnT w="6350" cap="flat" cmpd="sng" algn="ctr">
                      <a:solidFill>
                        <a:srgbClr val="A0346B"/>
                      </a:solidFill>
                      <a:prstDash val="solid"/>
                      <a:round/>
                      <a:headEnd type="none" w="med" len="med"/>
                      <a:tailEnd type="none" w="med" len="med"/>
                    </a:lnT>
                    <a:lnB w="6350" cap="flat" cmpd="sng" algn="ctr">
                      <a:solidFill>
                        <a:srgbClr val="A0346B"/>
                      </a:solidFill>
                      <a:prstDash val="solid"/>
                      <a:round/>
                      <a:headEnd type="none" w="med" len="med"/>
                      <a:tailEnd type="none" w="med" len="med"/>
                    </a:lnB>
                  </a:tcPr>
                </a:tc>
                <a:extLst>
                  <a:ext uri="{0D108BD9-81ED-4DB2-BD59-A6C34878D82A}">
                    <a16:rowId xmlns:a16="http://schemas.microsoft.com/office/drawing/2014/main" val="2897366573"/>
                  </a:ext>
                </a:extLst>
              </a:tr>
            </a:tbl>
          </a:graphicData>
        </a:graphic>
      </p:graphicFrame>
    </p:spTree>
    <p:extLst>
      <p:ext uri="{BB962C8B-B14F-4D97-AF65-F5344CB8AC3E}">
        <p14:creationId xmlns:p14="http://schemas.microsoft.com/office/powerpoint/2010/main" val="111206708"/>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65155"/>
          </a:xfrm>
        </p:spPr>
        <p:txBody>
          <a:bodyPr/>
          <a:lstStyle/>
          <a:p>
            <a:pPr marL="0" marR="0" lvl="0" indent="0" defTabSz="914400" eaLnBrk="1" fontAlgn="auto" latinLnBrk="0" hangingPunct="1">
              <a:lnSpc>
                <a:spcPct val="150000"/>
              </a:lnSpc>
              <a:spcBef>
                <a:spcPts val="1575"/>
              </a:spcBef>
              <a:spcAft>
                <a:spcPts val="525"/>
              </a:spcAft>
              <a:tabLst/>
              <a:defRPr/>
            </a:pPr>
            <a:r>
              <a:rPr lang="en-US" sz="2800" b="1" dirty="0">
                <a:solidFill>
                  <a:srgbClr val="000000"/>
                </a:solidFill>
                <a:latin typeface="inter"/>
                <a:ea typeface="inter"/>
                <a:cs typeface="inter"/>
              </a:rPr>
              <a:t>Pedagogical </a:t>
            </a:r>
            <a:r>
              <a:rPr lang="en-US" sz="2800" b="1" dirty="0" smtClean="0">
                <a:solidFill>
                  <a:srgbClr val="000000"/>
                </a:solidFill>
                <a:latin typeface="inter"/>
                <a:ea typeface="inter"/>
                <a:cs typeface="inter"/>
              </a:rPr>
              <a:t>Conclusion</a:t>
            </a:r>
            <a:endParaRPr lang="en-US" dirty="0"/>
          </a:p>
        </p:txBody>
      </p:sp>
      <p:sp>
        <p:nvSpPr>
          <p:cNvPr id="3" name="Text Placeholder 2"/>
          <p:cNvSpPr>
            <a:spLocks noGrp="1"/>
          </p:cNvSpPr>
          <p:nvPr>
            <p:ph type="body" idx="1"/>
          </p:nvPr>
        </p:nvSpPr>
        <p:spPr>
          <a:xfrm>
            <a:off x="844550" y="1327353"/>
            <a:ext cx="10560050" cy="2769989"/>
          </a:xfrm>
        </p:spPr>
        <p:txBody>
          <a:bodyPr/>
          <a:lstStyle/>
          <a:p>
            <a:pPr marL="342900" marR="0" lvl="0" indent="-342900" algn="just">
              <a:buFont typeface="Symbol" panose="05050102010706020507" pitchFamily="18" charset="2"/>
              <a:buChar char=""/>
              <a:tabLst>
                <a:tab pos="571500" algn="l"/>
              </a:tabLst>
            </a:pPr>
            <a:r>
              <a:rPr lang="en-US" b="1" dirty="0" smtClean="0">
                <a:solidFill>
                  <a:srgbClr val="000000"/>
                </a:solidFill>
                <a:latin typeface="inter"/>
                <a:ea typeface="inter"/>
                <a:cs typeface="inter"/>
              </a:rPr>
              <a:t>Ring </a:t>
            </a:r>
            <a:r>
              <a:rPr lang="en-US" b="1" dirty="0">
                <a:solidFill>
                  <a:srgbClr val="000000"/>
                </a:solidFill>
                <a:latin typeface="inter"/>
                <a:ea typeface="inter"/>
                <a:cs typeface="inter"/>
              </a:rPr>
              <a:t>oscillators</a:t>
            </a:r>
            <a:r>
              <a:rPr lang="en-US" dirty="0">
                <a:solidFill>
                  <a:srgbClr val="000000"/>
                </a:solidFill>
                <a:latin typeface="inter"/>
                <a:ea typeface="inter"/>
                <a:cs typeface="inter"/>
              </a:rPr>
              <a:t> have lower Q due to no real energy storage, affecting phase noise and stability, but excel in </a:t>
            </a:r>
            <a:r>
              <a:rPr lang="en-US" dirty="0" err="1">
                <a:solidFill>
                  <a:srgbClr val="000000"/>
                </a:solidFill>
                <a:latin typeface="inter"/>
                <a:ea typeface="inter"/>
                <a:cs typeface="inter"/>
              </a:rPr>
              <a:t>tunability</a:t>
            </a:r>
            <a:r>
              <a:rPr lang="en-US" dirty="0">
                <a:solidFill>
                  <a:srgbClr val="000000"/>
                </a:solidFill>
                <a:latin typeface="inter"/>
                <a:ea typeface="inter"/>
                <a:cs typeface="inter"/>
              </a:rPr>
              <a:t> and integration.</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buFont typeface="Symbol" panose="05050102010706020507" pitchFamily="18" charset="2"/>
              <a:buChar char=""/>
              <a:tabLst>
                <a:tab pos="571500" algn="l"/>
              </a:tabLst>
            </a:pPr>
            <a:r>
              <a:rPr lang="en-US" b="1" dirty="0">
                <a:solidFill>
                  <a:srgbClr val="000000"/>
                </a:solidFill>
                <a:latin typeface="inter"/>
                <a:ea typeface="inter"/>
                <a:cs typeface="inter"/>
              </a:rPr>
              <a:t>LC oscillators</a:t>
            </a:r>
            <a:r>
              <a:rPr lang="en-US" dirty="0">
                <a:solidFill>
                  <a:srgbClr val="000000"/>
                </a:solidFill>
                <a:latin typeface="inter"/>
                <a:ea typeface="inter"/>
                <a:cs typeface="inter"/>
              </a:rPr>
              <a:t> provide high-Q resonance with superior phase noise performance, favored in precision timing applications.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buFont typeface="Symbol" panose="05050102010706020507" pitchFamily="18" charset="2"/>
              <a:buChar char=""/>
              <a:tabLst>
                <a:tab pos="571500" algn="l"/>
              </a:tabLst>
            </a:pPr>
            <a:r>
              <a:rPr lang="en-US" dirty="0">
                <a:solidFill>
                  <a:srgbClr val="000000"/>
                </a:solidFill>
                <a:latin typeface="inter"/>
                <a:ea typeface="inter"/>
                <a:cs typeface="inter"/>
              </a:rPr>
              <a:t>Understanding Q in both contexts helps students appreciate tradeoffs in oscillator design—compactness vs performance and </a:t>
            </a:r>
            <a:r>
              <a:rPr lang="en-US" dirty="0" err="1">
                <a:solidFill>
                  <a:srgbClr val="000000"/>
                </a:solidFill>
                <a:latin typeface="inter"/>
                <a:ea typeface="inter"/>
                <a:cs typeface="inter"/>
              </a:rPr>
              <a:t>tunability</a:t>
            </a:r>
            <a:r>
              <a:rPr lang="en-US" dirty="0">
                <a:solidFill>
                  <a:srgbClr val="000000"/>
                </a:solidFill>
                <a:latin typeface="inter"/>
                <a:ea typeface="inter"/>
                <a:cs typeface="inter"/>
              </a:rPr>
              <a:t> vs spectral purity.</a:t>
            </a: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r>
              <a:rPr lang="en-US" dirty="0">
                <a:solidFill>
                  <a:srgbClr val="000000"/>
                </a:solidFill>
                <a:latin typeface="inter"/>
                <a:ea typeface="inter"/>
                <a:cs typeface="inter"/>
              </a:rPr>
              <a:t>These insights build student intuition on oscillator device choice and performance expectations for phase-locked loops and clock generation systems.</a:t>
            </a:r>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57509951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768350" y="1105103"/>
                <a:ext cx="10788650" cy="5303696"/>
              </a:xfrm>
            </p:spPr>
            <p:txBody>
              <a:bodyPr/>
              <a:lstStyle/>
              <a:p>
                <a:pPr>
                  <a:spcAft>
                    <a:spcPts val="600"/>
                  </a:spcAft>
                </a:pPr>
                <a:r>
                  <a:rPr lang="en-US" dirty="0">
                    <a:solidFill>
                      <a:srgbClr val="000000"/>
                    </a:solidFill>
                    <a:latin typeface="inter"/>
                    <a:ea typeface="inter"/>
                    <a:cs typeface="inter"/>
                  </a:rPr>
                  <a:t>If desired, can design graphics or tables summarizing this comparison </a:t>
                </a:r>
                <a:r>
                  <a:rPr lang="en-US" dirty="0" err="1">
                    <a:solidFill>
                      <a:srgbClr val="000000"/>
                    </a:solidFill>
                    <a:latin typeface="inter"/>
                    <a:ea typeface="inter"/>
                    <a:cs typeface="inter"/>
                  </a:rPr>
                  <a:t>visually.Quality</a:t>
                </a:r>
                <a:r>
                  <a:rPr lang="en-US" dirty="0">
                    <a:solidFill>
                      <a:srgbClr val="000000"/>
                    </a:solidFill>
                    <a:latin typeface="inter"/>
                    <a:ea typeface="inter"/>
                    <a:cs typeface="inter"/>
                  </a:rPr>
                  <a:t> Factor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oMath>
                </a14:m>
                <a:r>
                  <a:rPr lang="en-US" dirty="0">
                    <a:solidFill>
                      <a:srgbClr val="000000"/>
                    </a:solidFill>
                    <a:latin typeface="inter"/>
                    <a:ea typeface="inter"/>
                    <a:cs typeface="inter"/>
                  </a:rPr>
                  <a:t> measures how good an inductor or resonator is, quantifying sharpness of resonance and losses. For an inductor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oMath>
                </a14:m>
                <a:r>
                  <a:rPr lang="en-US" dirty="0">
                    <a:solidFill>
                      <a:srgbClr val="000000"/>
                    </a:solidFill>
                    <a:latin typeface="inter"/>
                    <a:ea typeface="inter"/>
                    <a:cs typeface="inter"/>
                  </a:rPr>
                  <a:t> with series resistance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600"/>
                  </a:spcAft>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sub>
                          </m:sSub>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600"/>
                  </a:spcAft>
                </a:pPr>
                <a:r>
                  <a:rPr lang="en-US" dirty="0">
                    <a:solidFill>
                      <a:srgbClr val="000000"/>
                    </a:solidFill>
                    <a:latin typeface="inter"/>
                    <a:ea typeface="inter"/>
                    <a:cs typeface="inter"/>
                  </a:rPr>
                  <a:t>Alternatively, using the parallel tank representation with resistance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600"/>
                  </a:spcAft>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600"/>
                  </a:spcAft>
                </a:pPr>
                <a:r>
                  <a:rPr lang="en-US" dirty="0">
                    <a:solidFill>
                      <a:srgbClr val="000000"/>
                    </a:solidFill>
                    <a:latin typeface="inter"/>
                    <a:ea typeface="inter"/>
                    <a:cs typeface="inter"/>
                  </a:rPr>
                  <a:t>where larger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𝑝</m:t>
                        </m:r>
                      </m:sub>
                    </m:sSub>
                  </m:oMath>
                </a14:m>
                <a:r>
                  <a:rPr lang="en-US" dirty="0">
                    <a:solidFill>
                      <a:srgbClr val="000000"/>
                    </a:solidFill>
                    <a:latin typeface="inter"/>
                    <a:ea typeface="inter"/>
                    <a:cs typeface="inter"/>
                  </a:rPr>
                  <a:t> means higher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oMath>
                </a14:m>
                <a:r>
                  <a:rPr lang="en-US" dirty="0">
                    <a:solidFill>
                      <a:srgbClr val="000000"/>
                    </a:solidFill>
                    <a:latin typeface="inter"/>
                    <a:ea typeface="inter"/>
                    <a:cs typeface="inter"/>
                  </a:rPr>
                  <a:t> and better tank performance.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oMath>
                </a14:m>
                <a:r>
                  <a:rPr lang="en-US" dirty="0">
                    <a:solidFill>
                      <a:srgbClr val="000000"/>
                    </a:solidFill>
                    <a:latin typeface="inter"/>
                    <a:ea typeface="inter"/>
                    <a:cs typeface="inter"/>
                  </a:rPr>
                  <a:t> can also be seen as proportional to the slope of the phase response near resonance,</a:t>
                </a:r>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600"/>
                  </a:spcAft>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num>
                        <m:den>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d>
                        <m:dPr>
                          <m:begChr m:val="|"/>
                          <m:endChr m:val="|"/>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m:t>
                              </m:r>
                            </m:num>
                            <m:den>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den>
                          </m:f>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𝑍</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d>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spcAft>
                    <a:spcPts val="600"/>
                  </a:spcAft>
                </a:pPr>
                <a:r>
                  <a:rPr lang="en-US" dirty="0">
                    <a:solidFill>
                      <a:srgbClr val="000000"/>
                    </a:solidFill>
                    <a:latin typeface="inter"/>
                    <a:ea typeface="inter"/>
                    <a:cs typeface="inter"/>
                  </a:rPr>
                  <a:t>Figure 1.18 shows a common-source stage loaded with a parallel LC tank acting as a </a:t>
                </a:r>
                <a:r>
                  <a:rPr lang="en-US" dirty="0" err="1">
                    <a:solidFill>
                      <a:srgbClr val="000000"/>
                    </a:solidFill>
                    <a:latin typeface="inter"/>
                    <a:ea typeface="inter"/>
                    <a:cs typeface="inter"/>
                  </a:rPr>
                  <a:t>bandpass</a:t>
                </a:r>
                <a:r>
                  <a:rPr lang="en-US" dirty="0">
                    <a:solidFill>
                      <a:srgbClr val="000000"/>
                    </a:solidFill>
                    <a:latin typeface="inter"/>
                    <a:ea typeface="inter"/>
                    <a:cs typeface="inter"/>
                  </a:rPr>
                  <a:t> filter with sharp voltage gain peak at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768350" y="1105103"/>
                <a:ext cx="10788650" cy="5303696"/>
              </a:xfrm>
              <a:blipFill>
                <a:blip r:embed="rId2"/>
                <a:stretch>
                  <a:fillRect l="-1412" t="-1379" r="-791"/>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94344506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0900" y="0"/>
            <a:ext cx="10593196" cy="1046440"/>
          </a:xfrm>
        </p:spPr>
        <p:txBody>
          <a:bodyPr/>
          <a:lstStyle/>
          <a:p>
            <a:r>
              <a:rPr lang="en-US" dirty="0"/>
              <a:t>Comparison: Ring Oscillator vs LC Oscillator Quality Factor</a:t>
            </a: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graphicFrame>
        <p:nvGraphicFramePr>
          <p:cNvPr id="7" name="Table 6"/>
          <p:cNvGraphicFramePr>
            <a:graphicFrameLocks noGrp="1"/>
          </p:cNvGraphicFramePr>
          <p:nvPr>
            <p:extLst>
              <p:ext uri="{D42A27DB-BD31-4B8C-83A1-F6EECF244321}">
                <p14:modId xmlns:p14="http://schemas.microsoft.com/office/powerpoint/2010/main" val="3297021980"/>
              </p:ext>
            </p:extLst>
          </p:nvPr>
        </p:nvGraphicFramePr>
        <p:xfrm>
          <a:off x="2037339" y="1322772"/>
          <a:ext cx="6770112" cy="2243956"/>
        </p:xfrm>
        <a:graphic>
          <a:graphicData uri="http://schemas.openxmlformats.org/drawingml/2006/table">
            <a:tbl>
              <a:tblPr firstRow="1" firstCol="1" bandRow="1"/>
              <a:tblGrid>
                <a:gridCol w="2256704">
                  <a:extLst>
                    <a:ext uri="{9D8B030D-6E8A-4147-A177-3AD203B41FA5}">
                      <a16:colId xmlns:a16="http://schemas.microsoft.com/office/drawing/2014/main" val="3892789916"/>
                    </a:ext>
                  </a:extLst>
                </a:gridCol>
                <a:gridCol w="2256704">
                  <a:extLst>
                    <a:ext uri="{9D8B030D-6E8A-4147-A177-3AD203B41FA5}">
                      <a16:colId xmlns:a16="http://schemas.microsoft.com/office/drawing/2014/main" val="3307778920"/>
                    </a:ext>
                  </a:extLst>
                </a:gridCol>
                <a:gridCol w="2256704">
                  <a:extLst>
                    <a:ext uri="{9D8B030D-6E8A-4147-A177-3AD203B41FA5}">
                      <a16:colId xmlns:a16="http://schemas.microsoft.com/office/drawing/2014/main" val="607422921"/>
                    </a:ext>
                  </a:extLst>
                </a:gridCol>
              </a:tblGrid>
              <a:tr h="172732">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Aspect</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Ring Oscillator</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LC Oscillator</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7045474"/>
                  </a:ext>
                </a:extLst>
              </a:tr>
              <a:tr h="172732">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Energy Storage</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Uses delay and inverter phases</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Uses real L-C energy storage</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10661992"/>
                  </a:ext>
                </a:extLst>
              </a:tr>
              <a:tr h="286157">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Typical Q</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Low (3–10), limited by device delays and losses</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High (often &gt;100), limited by inductor losses</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01651718"/>
                  </a:ext>
                </a:extLst>
              </a:tr>
              <a:tr h="286157">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Frequency Control</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Tunable via supply voltage and device sizing</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Fixed by LC values; more stable</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91091521"/>
                  </a:ext>
                </a:extLst>
              </a:tr>
              <a:tr h="172732">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Phase Noise</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Higher phase noise (lower Q)</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Lower phase noise (higher Q)</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91076890"/>
                  </a:ext>
                </a:extLst>
              </a:tr>
              <a:tr h="172732">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Waveform Shape</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Square-like edges</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More sinusoidal</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82381538"/>
                  </a:ext>
                </a:extLst>
              </a:tr>
              <a:tr h="286157">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Integration</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a:solidFill>
                            <a:srgbClr val="000000"/>
                          </a:solidFill>
                          <a:effectLst/>
                          <a:latin typeface="inter"/>
                          <a:ea typeface="inter"/>
                          <a:cs typeface="inter"/>
                        </a:rPr>
                        <a:t>Compact, CMOS friendly</a:t>
                      </a:r>
                      <a:endParaRPr lang="en-US" sz="140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0000"/>
                        </a:lnSpc>
                        <a:spcBef>
                          <a:spcPts val="0"/>
                        </a:spcBef>
                        <a:spcAft>
                          <a:spcPts val="0"/>
                        </a:spcAft>
                      </a:pPr>
                      <a:r>
                        <a:rPr lang="en-US" sz="1200" dirty="0">
                          <a:solidFill>
                            <a:srgbClr val="000000"/>
                          </a:solidFill>
                          <a:effectLst/>
                          <a:latin typeface="inter"/>
                          <a:ea typeface="inter"/>
                          <a:cs typeface="inter"/>
                        </a:rPr>
                        <a:t>Requires high-quality inductors, larger chip area</a:t>
                      </a:r>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txBody>
                  <a:tcPr marL="59307" marR="59307" marT="29654" marB="2965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57456240"/>
                  </a:ext>
                </a:extLst>
              </a:tr>
            </a:tbl>
          </a:graphicData>
        </a:graphic>
      </p:graphicFrame>
      <p:sp>
        <p:nvSpPr>
          <p:cNvPr id="8" name="Rectangle 7"/>
          <p:cNvSpPr/>
          <p:nvPr/>
        </p:nvSpPr>
        <p:spPr>
          <a:xfrm>
            <a:off x="742950" y="4229145"/>
            <a:ext cx="10756900" cy="1218282"/>
          </a:xfrm>
          <a:prstGeom prst="rect">
            <a:avLst/>
          </a:prstGeom>
        </p:spPr>
        <p:txBody>
          <a:bodyPr wrap="square">
            <a:spAutoFit/>
          </a:bodyPr>
          <a:lstStyle/>
          <a:p>
            <a:pPr>
              <a:lnSpc>
                <a:spcPct val="150000"/>
              </a:lnSpc>
              <a:spcAft>
                <a:spcPts val="1050"/>
              </a:spcAft>
            </a:pPr>
            <a:r>
              <a:rPr lang="en-US" sz="1600" dirty="0">
                <a:solidFill>
                  <a:srgbClr val="000000"/>
                </a:solidFill>
                <a:latin typeface="inter"/>
                <a:ea typeface="inter"/>
                <a:cs typeface="inter"/>
              </a:rPr>
              <a:t>Ring oscillators trade spectral purity for </a:t>
            </a:r>
            <a:r>
              <a:rPr lang="en-US" sz="1600" dirty="0" err="1">
                <a:solidFill>
                  <a:srgbClr val="000000"/>
                </a:solidFill>
                <a:latin typeface="inter"/>
                <a:ea typeface="inter"/>
                <a:cs typeface="inter"/>
              </a:rPr>
              <a:t>tunability</a:t>
            </a:r>
            <a:r>
              <a:rPr lang="en-US" sz="1600" dirty="0">
                <a:solidFill>
                  <a:srgbClr val="000000"/>
                </a:solidFill>
                <a:latin typeface="inter"/>
                <a:ea typeface="inter"/>
                <a:cs typeface="inter"/>
              </a:rPr>
              <a:t> and compactness, while LC oscillators offer superior phase noise and frequency stability for precision PLL applications.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This conceptual framework guides oscillator design decisions balancing Q, integration, tuning, and noise.</a:t>
            </a:r>
            <a:endParaRPr lang="en-US" sz="3200" dirty="0"/>
          </a:p>
        </p:txBody>
      </p:sp>
    </p:spTree>
    <p:extLst>
      <p:ext uri="{BB962C8B-B14F-4D97-AF65-F5344CB8AC3E}">
        <p14:creationId xmlns:p14="http://schemas.microsoft.com/office/powerpoint/2010/main" val="29738784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Intuitive </a:t>
            </a:r>
            <a:r>
              <a:rPr lang="en-US" dirty="0" smtClean="0">
                <a:latin typeface="fkGrotesk"/>
              </a:rPr>
              <a:t>Takeaways</a:t>
            </a:r>
            <a:endParaRPr lang="en-US" dirty="0"/>
          </a:p>
        </p:txBody>
      </p:sp>
      <p:sp>
        <p:nvSpPr>
          <p:cNvPr id="3" name="Text Placeholder 2"/>
          <p:cNvSpPr>
            <a:spLocks noGrp="1"/>
          </p:cNvSpPr>
          <p:nvPr>
            <p:ph type="body" idx="1"/>
          </p:nvPr>
        </p:nvSpPr>
        <p:spPr>
          <a:xfrm>
            <a:off x="844550" y="1327353"/>
            <a:ext cx="10513483" cy="2769989"/>
          </a:xfrm>
        </p:spPr>
        <p:txBody>
          <a:bodyPr/>
          <a:lstStyle/>
          <a:p>
            <a:pPr marL="342900" indent="-342900" algn="l">
              <a:buFont typeface="Arial" panose="020B0604020202020204" pitchFamily="34" charset="0"/>
              <a:buChar char="•"/>
            </a:pPr>
            <a:r>
              <a:rPr lang="en-US" dirty="0" smtClean="0">
                <a:latin typeface="fkGroteskNeue"/>
              </a:rPr>
              <a:t>High</a:t>
            </a:r>
            <a:r>
              <a:rPr lang="en-US" dirty="0">
                <a:latin typeface="fkGroteskNeue"/>
              </a:rPr>
              <a:t> </a:t>
            </a:r>
            <a:r>
              <a:rPr lang="en-US" i="1" dirty="0" smtClean="0">
                <a:latin typeface="KaTeX_Math"/>
              </a:rPr>
              <a:t>Q</a:t>
            </a:r>
            <a:r>
              <a:rPr lang="en-US" dirty="0">
                <a:latin typeface="fkGroteskNeue"/>
              </a:rPr>
              <a:t> matters because it determines how “sharp” the resonant frequency is, impacting phase noise and oscillator stability.</a:t>
            </a:r>
          </a:p>
          <a:p>
            <a:pPr marL="342900" indent="-342900" algn="l">
              <a:buFont typeface="Arial" panose="020B0604020202020204" pitchFamily="34" charset="0"/>
              <a:buChar char="•"/>
            </a:pPr>
            <a:r>
              <a:rPr lang="en-US" dirty="0">
                <a:latin typeface="fkGroteskNeue"/>
              </a:rPr>
              <a:t>Ring oscillators trade low </a:t>
            </a:r>
            <a:r>
              <a:rPr lang="en-US" i="1" dirty="0" smtClean="0">
                <a:latin typeface="KaTeX_Math"/>
              </a:rPr>
              <a:t>Q</a:t>
            </a:r>
            <a:r>
              <a:rPr lang="en-US" dirty="0">
                <a:latin typeface="fkGroteskNeue"/>
              </a:rPr>
              <a:t> for </a:t>
            </a:r>
            <a:r>
              <a:rPr lang="en-US" dirty="0" err="1">
                <a:latin typeface="fkGroteskNeue"/>
              </a:rPr>
              <a:t>tunability</a:t>
            </a:r>
            <a:r>
              <a:rPr lang="en-US" dirty="0">
                <a:latin typeface="fkGroteskNeue"/>
              </a:rPr>
              <a:t> and integration ease—ideal for many CMOS timing applications where integration and low cost dominate.</a:t>
            </a:r>
          </a:p>
          <a:p>
            <a:pPr marL="342900" indent="-342900" algn="l">
              <a:buFont typeface="Arial" panose="020B0604020202020204" pitchFamily="34" charset="0"/>
              <a:buChar char="•"/>
            </a:pPr>
            <a:r>
              <a:rPr lang="en-US" dirty="0">
                <a:latin typeface="fkGroteskNeue"/>
              </a:rPr>
              <a:t>LC oscillators offer high </a:t>
            </a:r>
            <a:r>
              <a:rPr lang="en-US" i="1" dirty="0" smtClean="0">
                <a:latin typeface="KaTeX_Math"/>
              </a:rPr>
              <a:t>Q</a:t>
            </a:r>
            <a:r>
              <a:rPr lang="en-US" dirty="0">
                <a:latin typeface="fkGroteskNeue"/>
              </a:rPr>
              <a:t> for best spectral purity and low phase noise, commonly used in RF and precision PLL synthesis.</a:t>
            </a:r>
          </a:p>
          <a:p>
            <a:pPr marL="342900" indent="-342900" algn="l">
              <a:buFont typeface="Arial" panose="020B0604020202020204" pitchFamily="34" charset="0"/>
              <a:buChar char="•"/>
            </a:pPr>
            <a:r>
              <a:rPr lang="en-US" dirty="0">
                <a:latin typeface="fkGroteskNeue"/>
              </a:rPr>
              <a:t>Understanding and calculating </a:t>
            </a:r>
            <a:r>
              <a:rPr lang="en-US" i="1" dirty="0" smtClean="0">
                <a:latin typeface="KaTeX_Math"/>
              </a:rPr>
              <a:t>Q</a:t>
            </a:r>
            <a:r>
              <a:rPr lang="en-US" dirty="0">
                <a:latin typeface="fkGroteskNeue"/>
              </a:rPr>
              <a:t> helps designers balance these tradeoffs for desired oscillator performance.</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525845612"/>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LC Oscillators as Feedback </a:t>
            </a:r>
            <a:r>
              <a:rPr lang="en-US" dirty="0" smtClean="0">
                <a:latin typeface="fkGrotesk"/>
              </a:rPr>
              <a:t>Systems</a:t>
            </a:r>
            <a:endParaRPr lang="en-US" dirty="0"/>
          </a:p>
        </p:txBody>
      </p:sp>
      <p:sp>
        <p:nvSpPr>
          <p:cNvPr id="3" name="Text Placeholder 2"/>
          <p:cNvSpPr>
            <a:spLocks noGrp="1"/>
          </p:cNvSpPr>
          <p:nvPr>
            <p:ph type="body" idx="1"/>
          </p:nvPr>
        </p:nvSpPr>
        <p:spPr>
          <a:xfrm>
            <a:off x="844550" y="1327353"/>
            <a:ext cx="10818283" cy="3385542"/>
          </a:xfrm>
        </p:spPr>
        <p:txBody>
          <a:bodyPr/>
          <a:lstStyle/>
          <a:p>
            <a:pPr algn="l"/>
            <a:r>
              <a:rPr lang="en-US" dirty="0" smtClean="0">
                <a:latin typeface="fkGroteskNeue"/>
              </a:rPr>
              <a:t>Core </a:t>
            </a:r>
            <a:r>
              <a:rPr lang="en-US" dirty="0">
                <a:latin typeface="fkGroteskNeue"/>
              </a:rPr>
              <a:t>Concept:</a:t>
            </a:r>
          </a:p>
          <a:p>
            <a:pPr marL="342900" indent="-342900" algn="l">
              <a:buFont typeface="Arial" panose="020B0604020202020204" pitchFamily="34" charset="0"/>
              <a:buChar char="•"/>
            </a:pPr>
            <a:r>
              <a:rPr lang="en-US" dirty="0">
                <a:latin typeface="fkGroteskNeue"/>
              </a:rPr>
              <a:t>LC oscillators use amplifier stages with LC tanks, arranged in a feedback loop.</a:t>
            </a:r>
          </a:p>
          <a:p>
            <a:pPr marL="342900" indent="-342900" algn="l">
              <a:buFont typeface="Arial" panose="020B0604020202020204" pitchFamily="34" charset="0"/>
              <a:buChar char="•"/>
            </a:pPr>
            <a:r>
              <a:rPr lang="en-US" dirty="0">
                <a:latin typeface="fkGroteskNeue"/>
              </a:rPr>
              <a:t>Oscillation occurs if the total loop phase shift is 360° and loop gain is high enough.</a:t>
            </a:r>
          </a:p>
          <a:p>
            <a:pPr marL="342900" indent="-342900" algn="l">
              <a:buFont typeface="Arial" panose="020B0604020202020204" pitchFamily="34" charset="0"/>
              <a:buChar char="•"/>
            </a:pPr>
            <a:r>
              <a:rPr lang="en-US" dirty="0">
                <a:latin typeface="fkGroteskNeue"/>
              </a:rPr>
              <a:t>Typical cross-coupled setup: Two identical common-source stages, each with its own LC tank</a:t>
            </a:r>
            <a:r>
              <a:rPr lang="en-US" dirty="0" smtClean="0">
                <a:latin typeface="fkGroteskNeue"/>
              </a:rPr>
              <a:t>.</a:t>
            </a:r>
          </a:p>
          <a:p>
            <a:pPr algn="l">
              <a:buFont typeface="Arial" panose="020B0604020202020204" pitchFamily="34" charset="0"/>
              <a:buChar char="•"/>
            </a:pPr>
            <a:endParaRPr lang="en-US" dirty="0">
              <a:latin typeface="fkGroteskNeue"/>
            </a:endParaRPr>
          </a:p>
          <a:p>
            <a:pPr algn="l">
              <a:buFont typeface="Arial" panose="020B0604020202020204" pitchFamily="34" charset="0"/>
              <a:buChar char="•"/>
            </a:pPr>
            <a:endParaRPr lang="en-US" dirty="0">
              <a:latin typeface="fkGroteskNeue"/>
            </a:endParaRPr>
          </a:p>
          <a:p>
            <a:pPr algn="l"/>
            <a:r>
              <a:rPr lang="en-US" dirty="0">
                <a:latin typeface="fkGroteskNeue"/>
              </a:rPr>
              <a:t>Takeaway:</a:t>
            </a:r>
            <a:br>
              <a:rPr lang="en-US" dirty="0">
                <a:latin typeface="fkGroteskNeue"/>
              </a:rPr>
            </a:br>
            <a:r>
              <a:rPr lang="en-US" dirty="0">
                <a:latin typeface="fkGroteskNeue"/>
              </a:rPr>
              <a:t>The combination of high-Q tanks, cross-coupled feedback, and amplifier gain is the foundation for reliable, stable sinusoidal oscillation at resonance frequency</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835909898"/>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Analysis of Latch-Up in LC </a:t>
            </a:r>
            <a:r>
              <a:rPr lang="en-US" dirty="0" smtClean="0">
                <a:latin typeface="fkGrotesk"/>
              </a:rPr>
              <a:t>Oscillators</a:t>
            </a:r>
            <a:endParaRPr lang="en-US" dirty="0"/>
          </a:p>
        </p:txBody>
      </p:sp>
      <p:sp>
        <p:nvSpPr>
          <p:cNvPr id="3" name="Text Placeholder 2"/>
          <p:cNvSpPr>
            <a:spLocks noGrp="1"/>
          </p:cNvSpPr>
          <p:nvPr>
            <p:ph type="body" idx="1"/>
          </p:nvPr>
        </p:nvSpPr>
        <p:spPr>
          <a:xfrm>
            <a:off x="844550" y="1327353"/>
            <a:ext cx="10623550" cy="3385542"/>
          </a:xfrm>
        </p:spPr>
        <p:txBody>
          <a:bodyPr/>
          <a:lstStyle/>
          <a:p>
            <a:pPr algn="l"/>
            <a:r>
              <a:rPr lang="en-US" dirty="0" smtClean="0">
                <a:latin typeface="fkGroteskNeue"/>
              </a:rPr>
              <a:t>Concept</a:t>
            </a:r>
            <a:r>
              <a:rPr lang="en-US" dirty="0">
                <a:latin typeface="fkGroteskNeue"/>
              </a:rPr>
              <a:t>:</a:t>
            </a:r>
          </a:p>
          <a:p>
            <a:pPr marL="342900" indent="-342900" algn="l">
              <a:buFont typeface="Arial" panose="020B0604020202020204" pitchFamily="34" charset="0"/>
              <a:buChar char="•"/>
            </a:pPr>
            <a:r>
              <a:rPr lang="en-US" dirty="0">
                <a:latin typeface="fkGroteskNeue"/>
              </a:rPr>
              <a:t>Latch-up means the oscillator gets stuck at a DC level rather than oscillating.</a:t>
            </a:r>
          </a:p>
          <a:p>
            <a:pPr marL="342900" indent="-342900" algn="l">
              <a:buFont typeface="Arial" panose="020B0604020202020204" pitchFamily="34" charset="0"/>
              <a:buChar char="•"/>
            </a:pPr>
            <a:r>
              <a:rPr lang="en-US" dirty="0">
                <a:latin typeface="fkGroteskNeue"/>
              </a:rPr>
              <a:t>At low frequencies (near DC), the parallel tank model breaks down.</a:t>
            </a:r>
          </a:p>
          <a:p>
            <a:pPr marL="342900" indent="-342900" algn="l">
              <a:buFont typeface="Arial" panose="020B0604020202020204" pitchFamily="34" charset="0"/>
              <a:buChar char="•"/>
            </a:pPr>
            <a:r>
              <a:rPr lang="en-US" dirty="0">
                <a:latin typeface="fkGroteskNeue"/>
              </a:rPr>
              <a:t>If inductor resistance </a:t>
            </a:r>
            <a:r>
              <a:rPr lang="en-US" i="1" dirty="0" smtClean="0">
                <a:latin typeface="KaTeX_Math"/>
              </a:rPr>
              <a:t>R</a:t>
            </a:r>
            <a:r>
              <a:rPr lang="en-US" i="1" baseline="-25000" dirty="0" smtClean="0">
                <a:latin typeface="KaTeX_Math"/>
              </a:rPr>
              <a:t>S</a:t>
            </a:r>
            <a:r>
              <a:rPr lang="en-US" dirty="0">
                <a:latin typeface="fkGroteskNeue"/>
              </a:rPr>
              <a:t> is not negligible, the DC loop acts as two resistors and devices in a feedback loop</a:t>
            </a:r>
            <a:r>
              <a:rPr lang="en-US" dirty="0" smtClean="0">
                <a:latin typeface="fkGroteskNeue"/>
              </a:rPr>
              <a:t>.</a:t>
            </a:r>
          </a:p>
          <a:p>
            <a:pPr marL="342900" indent="-342900" algn="l">
              <a:buFont typeface="Arial" panose="020B0604020202020204" pitchFamily="34" charset="0"/>
              <a:buChar char="•"/>
            </a:pPr>
            <a:endParaRPr lang="en-US" dirty="0">
              <a:latin typeface="fkGroteskNeue"/>
            </a:endParaRPr>
          </a:p>
          <a:p>
            <a:pPr marL="342900" indent="-342900" algn="l">
              <a:buFont typeface="Arial" panose="020B0604020202020204" pitchFamily="34" charset="0"/>
              <a:buChar char="•"/>
            </a:pPr>
            <a:endParaRPr lang="en-US" dirty="0">
              <a:latin typeface="fkGroteskNeue"/>
            </a:endParaRPr>
          </a:p>
          <a:p>
            <a:pPr algn="l"/>
            <a:r>
              <a:rPr lang="en-US" dirty="0">
                <a:latin typeface="fkGroteskNeue"/>
              </a:rPr>
              <a:t>Takeaway:</a:t>
            </a:r>
            <a:br>
              <a:rPr lang="en-US" dirty="0">
                <a:latin typeface="fkGroteskNeue"/>
              </a:rPr>
            </a:br>
            <a:r>
              <a:rPr lang="en-US" dirty="0">
                <a:latin typeface="fkGroteskNeue"/>
              </a:rPr>
              <a:t>Latch-up is avoided if </a:t>
            </a:r>
            <a:r>
              <a:rPr lang="en-US" dirty="0" smtClean="0">
                <a:latin typeface="KaTeX_Main"/>
              </a:rPr>
              <a:t>(</a:t>
            </a:r>
            <a:r>
              <a:rPr lang="en-US" i="1" dirty="0" err="1" smtClean="0">
                <a:latin typeface="KaTeX_Math"/>
              </a:rPr>
              <a:t>g</a:t>
            </a:r>
            <a:r>
              <a:rPr lang="en-US" i="1" baseline="-25000" dirty="0" err="1" smtClean="0">
                <a:latin typeface="KaTeX_Math"/>
              </a:rPr>
              <a:t>m</a:t>
            </a:r>
            <a:r>
              <a:rPr lang="en-US" i="1" dirty="0" err="1" smtClean="0">
                <a:latin typeface="KaTeX_Math"/>
              </a:rPr>
              <a:t>R</a:t>
            </a:r>
            <a:r>
              <a:rPr lang="en-US" i="1" baseline="-25000" dirty="0" err="1" smtClean="0">
                <a:latin typeface="KaTeX_Math"/>
              </a:rPr>
              <a:t>S</a:t>
            </a:r>
            <a:r>
              <a:rPr lang="en-US" dirty="0" smtClean="0">
                <a:latin typeface="KaTeX_Main"/>
              </a:rPr>
              <a:t>)</a:t>
            </a:r>
            <a:r>
              <a:rPr lang="en-US" baseline="30000" dirty="0" smtClean="0">
                <a:latin typeface="KaTeX_Main"/>
              </a:rPr>
              <a:t>2</a:t>
            </a:r>
            <a:r>
              <a:rPr lang="en-US" dirty="0" smtClean="0">
                <a:latin typeface="KaTeX_Main"/>
              </a:rPr>
              <a:t>&lt;1</a:t>
            </a:r>
            <a:r>
              <a:rPr lang="en-US" dirty="0">
                <a:latin typeface="fkGroteskNeue"/>
              </a:rPr>
              <a:t>, ensuring the loop gain at DC is less than unity. Most practical designs meet this easily.</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83125894"/>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1118850" cy="1046440"/>
          </a:xfrm>
        </p:spPr>
        <p:txBody>
          <a:bodyPr/>
          <a:lstStyle/>
          <a:p>
            <a:r>
              <a:rPr lang="en-US" dirty="0">
                <a:latin typeface="fkGrotesk"/>
              </a:rPr>
              <a:t>Circuit Topologies and Redrawn </a:t>
            </a:r>
            <a:r>
              <a:rPr lang="en-US" dirty="0" smtClean="0">
                <a:latin typeface="fkGrotesk"/>
              </a:rPr>
              <a:t>Forms </a:t>
            </a:r>
            <a:r>
              <a:rPr lang="en-US" dirty="0" smtClean="0">
                <a:latin typeface="fkGroteskNeue"/>
              </a:rPr>
              <a:t>Figures</a:t>
            </a:r>
            <a:r>
              <a:rPr lang="en-US" dirty="0">
                <a:latin typeface="fkGroteskNeue"/>
              </a:rPr>
              <a:t>:</a:t>
            </a:r>
            <a:br>
              <a:rPr lang="en-US" dirty="0">
                <a:latin typeface="fkGroteskNeue"/>
              </a:rPr>
            </a:br>
            <a:endParaRPr lang="en-US" dirty="0"/>
          </a:p>
        </p:txBody>
      </p:sp>
      <p:sp>
        <p:nvSpPr>
          <p:cNvPr id="3" name="Text Placeholder 2"/>
          <p:cNvSpPr>
            <a:spLocks noGrp="1"/>
          </p:cNvSpPr>
          <p:nvPr>
            <p:ph type="body" idx="1"/>
          </p:nvPr>
        </p:nvSpPr>
        <p:spPr>
          <a:xfrm>
            <a:off x="844550" y="1327353"/>
            <a:ext cx="10564283" cy="2339102"/>
          </a:xfrm>
        </p:spPr>
        <p:txBody>
          <a:bodyPr/>
          <a:lstStyle/>
          <a:p>
            <a:pPr marL="800100" lvl="1" indent="-342900" algn="l">
              <a:buFont typeface="Arial" panose="020B0604020202020204" pitchFamily="34" charset="0"/>
              <a:buChar char="•"/>
            </a:pPr>
            <a:r>
              <a:rPr lang="en-US" dirty="0" smtClean="0">
                <a:latin typeface="fkGroteskNeue"/>
              </a:rPr>
              <a:t>Fig</a:t>
            </a:r>
            <a:r>
              <a:rPr lang="en-US" dirty="0">
                <a:latin typeface="fkGroteskNeue"/>
              </a:rPr>
              <a:t>. 1.20(a): Two cascaded CS stages with LC tank loads showing feedback path.</a:t>
            </a:r>
          </a:p>
          <a:p>
            <a:pPr marL="800100" lvl="1" indent="-342900" algn="l">
              <a:buFont typeface="Arial" panose="020B0604020202020204" pitchFamily="34" charset="0"/>
              <a:buChar char="•"/>
            </a:pPr>
            <a:r>
              <a:rPr lang="en-US" dirty="0">
                <a:latin typeface="fkGroteskNeue"/>
              </a:rPr>
              <a:t>Fig. 1.20(b): The same oscillator, redrawn as a symmetric cross-coupled pair—a standard for integrated designs.</a:t>
            </a:r>
          </a:p>
          <a:p>
            <a:pPr marL="800100" lvl="1" indent="-342900" algn="l">
              <a:buFont typeface="Arial" panose="020B0604020202020204" pitchFamily="34" charset="0"/>
              <a:buChar char="•"/>
            </a:pPr>
            <a:r>
              <a:rPr lang="en-US" dirty="0">
                <a:latin typeface="fkGroteskNeue"/>
              </a:rPr>
              <a:t>Fig. 1.21: Shows the low-frequency (DC) equivalent where the tanks reduce to resistors.</a:t>
            </a:r>
          </a:p>
          <a:p>
            <a:pPr algn="l"/>
            <a:r>
              <a:rPr lang="en-US" dirty="0">
                <a:latin typeface="fkGroteskNeue"/>
              </a:rPr>
              <a:t>Takeaway</a:t>
            </a:r>
            <a:r>
              <a:rPr lang="en-US" dirty="0" smtClean="0">
                <a:latin typeface="fkGroteskNeue"/>
              </a:rPr>
              <a:t>:</a:t>
            </a:r>
          </a:p>
          <a:p>
            <a:pPr algn="l"/>
            <a:r>
              <a:rPr lang="en-US" dirty="0">
                <a:latin typeface="fkGroteskNeue"/>
              </a:rPr>
              <a:t/>
            </a:r>
            <a:br>
              <a:rPr lang="en-US" dirty="0">
                <a:latin typeface="fkGroteskNeue"/>
              </a:rPr>
            </a:br>
            <a:r>
              <a:rPr lang="en-US" dirty="0">
                <a:latin typeface="fkGroteskNeue"/>
              </a:rPr>
              <a:t>The cross-coupled representation highlights differential operation and startup conditions, with X and Y nodes swinging differentially</a:t>
            </a:r>
            <a:r>
              <a:rPr lang="en-US" dirty="0" smtClean="0">
                <a:latin typeface="fkGroteskNeue"/>
              </a:rPr>
              <a:t>.</a:t>
            </a:r>
            <a:endParaRPr lang="en-US" dirty="0">
              <a:latin typeface="fkGroteskNeue"/>
            </a:endParaRPr>
          </a:p>
        </p:txBody>
      </p:sp>
      <p:pic>
        <p:nvPicPr>
          <p:cNvPr id="7" name="Picture 6"/>
          <p:cNvPicPr>
            <a:picLocks noChangeAspect="1"/>
          </p:cNvPicPr>
          <p:nvPr/>
        </p:nvPicPr>
        <p:blipFill>
          <a:blip r:embed="rId2"/>
          <a:stretch>
            <a:fillRect/>
          </a:stretch>
        </p:blipFill>
        <p:spPr>
          <a:xfrm>
            <a:off x="455992" y="3893551"/>
            <a:ext cx="5835950" cy="2254366"/>
          </a:xfrm>
          <a:prstGeom prst="rect">
            <a:avLst/>
          </a:prstGeom>
        </p:spPr>
      </p:pic>
      <p:sp>
        <p:nvSpPr>
          <p:cNvPr id="9" name="Rectangle 8"/>
          <p:cNvSpPr/>
          <p:nvPr/>
        </p:nvSpPr>
        <p:spPr>
          <a:xfrm>
            <a:off x="386539" y="6233812"/>
            <a:ext cx="5460149" cy="430887"/>
          </a:xfrm>
          <a:prstGeom prst="rect">
            <a:avLst/>
          </a:prstGeom>
        </p:spPr>
        <p:txBody>
          <a:bodyPr wrap="none">
            <a:spAutoFit/>
          </a:bodyPr>
          <a:lstStyle/>
          <a:p>
            <a:pPr algn="ctr"/>
            <a:r>
              <a:rPr lang="en-US" sz="1100" b="0" i="0" u="none" strike="noStrike" baseline="0" dirty="0" smtClean="0">
                <a:solidFill>
                  <a:srgbClr val="FF0000"/>
                </a:solidFill>
                <a:latin typeface="T3Font_273"/>
              </a:rPr>
              <a:t>Figure 1.20 </a:t>
            </a:r>
            <a:r>
              <a:rPr lang="en-US" sz="1100" b="0" i="0" u="none" strike="noStrike" baseline="0" dirty="0" smtClean="0">
                <a:solidFill>
                  <a:srgbClr val="FF0000"/>
                </a:solidFill>
                <a:latin typeface="T3Font_274"/>
              </a:rPr>
              <a:t>(a) Two cascaded tuned CS stages in a loop, and (b) the circuit redrawn </a:t>
            </a:r>
          </a:p>
          <a:p>
            <a:pPr algn="ctr"/>
            <a:r>
              <a:rPr lang="en-US" sz="1100" b="0" i="0" u="none" strike="noStrike" baseline="0" dirty="0" smtClean="0">
                <a:solidFill>
                  <a:srgbClr val="FF0000"/>
                </a:solidFill>
                <a:latin typeface="T3Font_274"/>
              </a:rPr>
              <a:t>as cross-coupled amplifiers.</a:t>
            </a:r>
            <a:endParaRPr lang="en-US" sz="3200" dirty="0">
              <a:solidFill>
                <a:srgbClr val="FF0000"/>
              </a:solidFill>
            </a:endParaRPr>
          </a:p>
        </p:txBody>
      </p:sp>
      <p:pic>
        <p:nvPicPr>
          <p:cNvPr id="10" name="Picture 9"/>
          <p:cNvPicPr>
            <a:picLocks noChangeAspect="1"/>
          </p:cNvPicPr>
          <p:nvPr/>
        </p:nvPicPr>
        <p:blipFill>
          <a:blip r:embed="rId3"/>
          <a:stretch>
            <a:fillRect/>
          </a:stretch>
        </p:blipFill>
        <p:spPr>
          <a:xfrm>
            <a:off x="7867607" y="4364531"/>
            <a:ext cx="1663786" cy="1371670"/>
          </a:xfrm>
          <a:prstGeom prst="rect">
            <a:avLst/>
          </a:prstGeom>
        </p:spPr>
      </p:pic>
      <p:sp>
        <p:nvSpPr>
          <p:cNvPr id="11" name="Rectangle 10"/>
          <p:cNvSpPr/>
          <p:nvPr/>
        </p:nvSpPr>
        <p:spPr>
          <a:xfrm>
            <a:off x="7146074" y="6233812"/>
            <a:ext cx="3853940" cy="253916"/>
          </a:xfrm>
          <a:prstGeom prst="rect">
            <a:avLst/>
          </a:prstGeom>
        </p:spPr>
        <p:txBody>
          <a:bodyPr wrap="none">
            <a:spAutoFit/>
          </a:bodyPr>
          <a:lstStyle/>
          <a:p>
            <a:r>
              <a:rPr lang="en-US" sz="1050" b="0" i="0" u="none" strike="noStrike" baseline="0" dirty="0" smtClean="0">
                <a:solidFill>
                  <a:srgbClr val="FF0000"/>
                </a:solidFill>
                <a:latin typeface="T3Font_273"/>
              </a:rPr>
              <a:t>Figure 1.21 </a:t>
            </a:r>
            <a:r>
              <a:rPr lang="en-US" sz="1050" b="0" i="0" u="none" strike="noStrike" baseline="0" dirty="0" smtClean="0">
                <a:solidFill>
                  <a:srgbClr val="FF0000"/>
                </a:solidFill>
                <a:latin typeface="T3Font_274"/>
              </a:rPr>
              <a:t>LC oscillator equivalent circuit at low frequencies.</a:t>
            </a:r>
            <a:endParaRPr lang="en-US" sz="2800" dirty="0">
              <a:solidFill>
                <a:srgbClr val="FF0000"/>
              </a:solidFill>
            </a:endParaRPr>
          </a:p>
        </p:txBody>
      </p:sp>
    </p:spTree>
    <p:extLst>
      <p:ext uri="{BB962C8B-B14F-4D97-AF65-F5344CB8AC3E}">
        <p14:creationId xmlns:p14="http://schemas.microsoft.com/office/powerpoint/2010/main" val="4004788217"/>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Oscillator Waveforms and </a:t>
            </a:r>
            <a:r>
              <a:rPr lang="en-US" dirty="0" smtClean="0">
                <a:latin typeface="fkGrotesk"/>
              </a:rPr>
              <a:t>Operation</a:t>
            </a:r>
            <a:endParaRPr lang="en-US" dirty="0"/>
          </a:p>
        </p:txBody>
      </p:sp>
      <p:sp>
        <p:nvSpPr>
          <p:cNvPr id="3" name="Text Placeholder 2"/>
          <p:cNvSpPr>
            <a:spLocks noGrp="1"/>
          </p:cNvSpPr>
          <p:nvPr>
            <p:ph type="body" idx="1"/>
          </p:nvPr>
        </p:nvSpPr>
        <p:spPr>
          <a:xfrm>
            <a:off x="543983" y="1272319"/>
            <a:ext cx="7224183" cy="5109091"/>
          </a:xfrm>
        </p:spPr>
        <p:txBody>
          <a:bodyPr/>
          <a:lstStyle/>
          <a:p>
            <a:pPr algn="l"/>
            <a:r>
              <a:rPr lang="en-US" dirty="0" smtClean="0">
                <a:latin typeface="fkGroteskNeue"/>
              </a:rPr>
              <a:t>Concept</a:t>
            </a:r>
            <a:r>
              <a:rPr lang="en-US" dirty="0">
                <a:latin typeface="fkGroteskNeue"/>
              </a:rPr>
              <a:t>:</a:t>
            </a:r>
          </a:p>
          <a:p>
            <a:pPr marL="800100" lvl="1" indent="-342900" algn="l">
              <a:buFont typeface="Arial" panose="020B0604020202020204" pitchFamily="34" charset="0"/>
              <a:buChar char="•"/>
            </a:pPr>
            <a:r>
              <a:rPr lang="en-US" dirty="0">
                <a:latin typeface="fkGroteskNeue"/>
              </a:rPr>
              <a:t>As the loop gain is set above unity, the circuit ensures large voltage swings.</a:t>
            </a:r>
          </a:p>
          <a:p>
            <a:pPr marL="800100" lvl="1" indent="-342900" algn="l">
              <a:buFont typeface="Arial" panose="020B0604020202020204" pitchFamily="34" charset="0"/>
              <a:buChar char="•"/>
            </a:pPr>
            <a:r>
              <a:rPr lang="en-US" i="1" dirty="0" smtClean="0">
                <a:latin typeface="KaTeX_Math"/>
              </a:rPr>
              <a:t>M</a:t>
            </a:r>
            <a:r>
              <a:rPr lang="en-US" baseline="-25000" dirty="0" smtClean="0">
                <a:latin typeface="KaTeX_Main"/>
              </a:rPr>
              <a:t>1</a:t>
            </a:r>
            <a:r>
              <a:rPr lang="en-US" dirty="0">
                <a:latin typeface="fkGroteskNeue"/>
              </a:rPr>
              <a:t> and </a:t>
            </a:r>
            <a:r>
              <a:rPr lang="en-US" i="1" dirty="0" smtClean="0">
                <a:latin typeface="KaTeX_Math"/>
              </a:rPr>
              <a:t>M</a:t>
            </a:r>
            <a:r>
              <a:rPr lang="en-US" baseline="-25000" dirty="0" smtClean="0">
                <a:latin typeface="KaTeX_Main"/>
              </a:rPr>
              <a:t>2</a:t>
            </a:r>
            <a:r>
              <a:rPr lang="en-US" dirty="0">
                <a:latin typeface="fkGroteskNeue"/>
              </a:rPr>
              <a:t> alternately turn on and off, switching drain currents between zero and maximum.</a:t>
            </a:r>
          </a:p>
          <a:p>
            <a:pPr marL="800100" lvl="1" indent="-342900" algn="l">
              <a:buFont typeface="Arial" panose="020B0604020202020204" pitchFamily="34" charset="0"/>
              <a:buChar char="•"/>
            </a:pPr>
            <a:r>
              <a:rPr lang="en-US" dirty="0">
                <a:latin typeface="fkGroteskNeue"/>
              </a:rPr>
              <a:t>The parallel tanks filter the square-like current waveforms into clean, sinusoidal voltages at each node.</a:t>
            </a:r>
          </a:p>
          <a:p>
            <a:pPr algn="l"/>
            <a:r>
              <a:rPr lang="en-US" dirty="0">
                <a:latin typeface="fkGroteskNeue"/>
              </a:rPr>
              <a:t>Figure 1.22:</a:t>
            </a:r>
          </a:p>
          <a:p>
            <a:pPr marL="742950" lvl="1" indent="-285750" algn="l">
              <a:buFont typeface="Arial" panose="020B0604020202020204" pitchFamily="34" charset="0"/>
              <a:buChar char="•"/>
            </a:pPr>
            <a:r>
              <a:rPr lang="en-US" i="1" dirty="0" smtClean="0">
                <a:latin typeface="KaTeX_Math"/>
              </a:rPr>
              <a:t>I</a:t>
            </a:r>
            <a:r>
              <a:rPr lang="en-US" i="1" baseline="-25000" dirty="0" smtClean="0">
                <a:latin typeface="KaTeX_Math"/>
              </a:rPr>
              <a:t>D</a:t>
            </a:r>
            <a:r>
              <a:rPr lang="en-US" baseline="-25000" dirty="0" smtClean="0">
                <a:latin typeface="KaTeX_Main"/>
              </a:rPr>
              <a:t>1</a:t>
            </a:r>
            <a:r>
              <a:rPr lang="en-US" dirty="0">
                <a:latin typeface="fkGroteskNeue"/>
              </a:rPr>
              <a:t>, </a:t>
            </a:r>
            <a:r>
              <a:rPr lang="en-US" i="1" dirty="0" smtClean="0">
                <a:latin typeface="KaTeX_Math"/>
              </a:rPr>
              <a:t>I</a:t>
            </a:r>
            <a:r>
              <a:rPr lang="en-US" i="1" baseline="-25000" dirty="0" smtClean="0">
                <a:latin typeface="KaTeX_Math"/>
              </a:rPr>
              <a:t>D</a:t>
            </a:r>
            <a:r>
              <a:rPr lang="en-US" baseline="-25000" dirty="0" smtClean="0">
                <a:latin typeface="KaTeX_Main"/>
              </a:rPr>
              <a:t>2</a:t>
            </a:r>
            <a:r>
              <a:rPr lang="en-US" dirty="0">
                <a:latin typeface="fkGroteskNeue"/>
              </a:rPr>
              <a:t>: Pulsed drain currents.</a:t>
            </a:r>
          </a:p>
          <a:p>
            <a:pPr marL="742950" lvl="1" indent="-285750" algn="l">
              <a:buFont typeface="Arial" panose="020B0604020202020204" pitchFamily="34" charset="0"/>
              <a:buChar char="•"/>
            </a:pPr>
            <a:r>
              <a:rPr lang="en-US" i="1" dirty="0" smtClean="0">
                <a:latin typeface="KaTeX_Math"/>
              </a:rPr>
              <a:t>V</a:t>
            </a:r>
            <a:r>
              <a:rPr lang="en-US" i="1" baseline="-25000" dirty="0" smtClean="0">
                <a:latin typeface="KaTeX_Math"/>
              </a:rPr>
              <a:t>X</a:t>
            </a:r>
            <a:r>
              <a:rPr lang="en-US" dirty="0">
                <a:latin typeface="fkGroteskNeue"/>
              </a:rPr>
              <a:t>, </a:t>
            </a:r>
            <a:r>
              <a:rPr lang="en-US" i="1" dirty="0" smtClean="0">
                <a:latin typeface="KaTeX_Math"/>
              </a:rPr>
              <a:t>V</a:t>
            </a:r>
            <a:r>
              <a:rPr lang="en-US" i="1" baseline="-25000" dirty="0" smtClean="0">
                <a:latin typeface="KaTeX_Math"/>
              </a:rPr>
              <a:t>Y</a:t>
            </a:r>
            <a:r>
              <a:rPr lang="en-US" baseline="-25000" dirty="0">
                <a:latin typeface="fkGroteskNeue"/>
              </a:rPr>
              <a:t> </a:t>
            </a:r>
            <a:r>
              <a:rPr lang="en-US" dirty="0" smtClean="0">
                <a:latin typeface="fkGroteskNeue"/>
              </a:rPr>
              <a:t>: </a:t>
            </a:r>
            <a:r>
              <a:rPr lang="en-US" dirty="0">
                <a:latin typeface="fkGroteskNeue"/>
              </a:rPr>
              <a:t>Out-of-phase</a:t>
            </a:r>
            <a:r>
              <a:rPr lang="en-US" dirty="0">
                <a:latin typeface="fkGroteskNeue"/>
              </a:rPr>
              <a:t>, sinusoidal voltage waveforms due to LC filtering</a:t>
            </a:r>
            <a:r>
              <a:rPr lang="en-US" dirty="0" smtClean="0">
                <a:latin typeface="fkGroteskNeue"/>
              </a:rPr>
              <a:t>.</a:t>
            </a:r>
          </a:p>
          <a:p>
            <a:pPr lvl="1" algn="l">
              <a:buFont typeface="Arial" panose="020B0604020202020204" pitchFamily="34" charset="0"/>
              <a:buChar char="•"/>
            </a:pPr>
            <a:endParaRPr lang="en-US" dirty="0">
              <a:latin typeface="fkGroteskNeue"/>
            </a:endParaRPr>
          </a:p>
          <a:p>
            <a:pPr algn="l"/>
            <a:r>
              <a:rPr lang="en-US" dirty="0">
                <a:latin typeface="fkGroteskNeue"/>
              </a:rPr>
              <a:t>Takeaway</a:t>
            </a:r>
            <a:r>
              <a:rPr lang="en-US" dirty="0" smtClean="0">
                <a:latin typeface="fkGroteskNeue"/>
              </a:rPr>
              <a:t>:</a:t>
            </a:r>
          </a:p>
          <a:p>
            <a:pPr lvl="1" algn="l"/>
            <a:r>
              <a:rPr lang="en-US" dirty="0">
                <a:latin typeface="fkGroteskNeue"/>
              </a:rPr>
              <a:t/>
            </a:r>
            <a:br>
              <a:rPr lang="en-US" dirty="0">
                <a:latin typeface="fkGroteskNeue"/>
              </a:rPr>
            </a:br>
            <a:r>
              <a:rPr lang="en-US" dirty="0">
                <a:latin typeface="fkGroteskNeue"/>
              </a:rPr>
              <a:t>Despite pulsed device currents, parallel tanks ensure sinusoidal voltage—even-order harmonics are filtered out, yielding a pure output.</a:t>
            </a:r>
          </a:p>
          <a:p>
            <a:endParaRPr lang="en-US" dirty="0"/>
          </a:p>
        </p:txBody>
      </p:sp>
      <p:sp>
        <p:nvSpPr>
          <p:cNvPr id="4" name="Footer Placeholder 3"/>
          <p:cNvSpPr>
            <a:spLocks noGrp="1"/>
          </p:cNvSpPr>
          <p:nvPr>
            <p:ph type="ftr" sz="quarter" idx="5"/>
          </p:nvPr>
        </p:nvSpPr>
        <p:spPr>
          <a:xfrm>
            <a:off x="5506210" y="6509624"/>
            <a:ext cx="1326389" cy="210820"/>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489628" y="643689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8621118" y="1819229"/>
            <a:ext cx="2552831" cy="1771741"/>
          </a:xfrm>
          <a:prstGeom prst="rect">
            <a:avLst/>
          </a:prstGeom>
        </p:spPr>
      </p:pic>
      <p:sp>
        <p:nvSpPr>
          <p:cNvPr id="8" name="Rectangle 7"/>
          <p:cNvSpPr/>
          <p:nvPr/>
        </p:nvSpPr>
        <p:spPr>
          <a:xfrm>
            <a:off x="8530120" y="3744612"/>
            <a:ext cx="3228833" cy="276999"/>
          </a:xfrm>
          <a:prstGeom prst="rect">
            <a:avLst/>
          </a:prstGeom>
        </p:spPr>
        <p:txBody>
          <a:bodyPr wrap="none">
            <a:spAutoFit/>
          </a:bodyPr>
          <a:lstStyle/>
          <a:p>
            <a:r>
              <a:rPr lang="en-US" sz="1200" b="1" dirty="0">
                <a:solidFill>
                  <a:srgbClr val="FF0000"/>
                </a:solidFill>
              </a:rPr>
              <a:t>Figure 1.22 Cross-coupled oscillator waveforms.</a:t>
            </a:r>
          </a:p>
        </p:txBody>
      </p:sp>
    </p:spTree>
    <p:extLst>
      <p:ext uri="{BB962C8B-B14F-4D97-AF65-F5344CB8AC3E}">
        <p14:creationId xmlns:p14="http://schemas.microsoft.com/office/powerpoint/2010/main" val="3781490366"/>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54408" y="3074419"/>
            <a:ext cx="7144117" cy="1505027"/>
          </a:xfrm>
          <a:prstGeom prst="rect">
            <a:avLst/>
          </a:prstGeom>
        </p:spPr>
      </p:pic>
      <p:pic>
        <p:nvPicPr>
          <p:cNvPr id="8" name="Picture 7"/>
          <p:cNvPicPr>
            <a:picLocks noChangeAspect="1"/>
          </p:cNvPicPr>
          <p:nvPr/>
        </p:nvPicPr>
        <p:blipFill>
          <a:blip r:embed="rId3"/>
          <a:stretch>
            <a:fillRect/>
          </a:stretch>
        </p:blipFill>
        <p:spPr>
          <a:xfrm>
            <a:off x="8621118" y="1819229"/>
            <a:ext cx="2552831" cy="1771741"/>
          </a:xfrm>
          <a:prstGeom prst="rect">
            <a:avLst/>
          </a:prstGeom>
        </p:spPr>
      </p:pic>
      <p:sp>
        <p:nvSpPr>
          <p:cNvPr id="9" name="Rectangle 8"/>
          <p:cNvSpPr/>
          <p:nvPr/>
        </p:nvSpPr>
        <p:spPr>
          <a:xfrm>
            <a:off x="8530120" y="3744612"/>
            <a:ext cx="3228833" cy="276999"/>
          </a:xfrm>
          <a:prstGeom prst="rect">
            <a:avLst/>
          </a:prstGeom>
        </p:spPr>
        <p:txBody>
          <a:bodyPr wrap="none">
            <a:spAutoFit/>
          </a:bodyPr>
          <a:lstStyle/>
          <a:p>
            <a:r>
              <a:rPr lang="en-US" sz="1200" b="1" dirty="0">
                <a:solidFill>
                  <a:srgbClr val="FF0000"/>
                </a:solidFill>
              </a:rPr>
              <a:t>Figure 1.22 Cross-coupled oscillator waveforms.</a:t>
            </a:r>
          </a:p>
        </p:txBody>
      </p:sp>
    </p:spTree>
    <p:extLst>
      <p:ext uri="{BB962C8B-B14F-4D97-AF65-F5344CB8AC3E}">
        <p14:creationId xmlns:p14="http://schemas.microsoft.com/office/powerpoint/2010/main" val="3755169851"/>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Key Performance and Design </a:t>
            </a:r>
            <a:r>
              <a:rPr lang="en-US" dirty="0" smtClean="0">
                <a:latin typeface="fkGrotesk"/>
              </a:rPr>
              <a:t>Considerations</a:t>
            </a:r>
            <a:endParaRPr lang="en-US" dirty="0"/>
          </a:p>
        </p:txBody>
      </p:sp>
      <p:sp>
        <p:nvSpPr>
          <p:cNvPr id="3" name="Text Placeholder 2"/>
          <p:cNvSpPr>
            <a:spLocks noGrp="1"/>
          </p:cNvSpPr>
          <p:nvPr>
            <p:ph type="body" idx="1"/>
          </p:nvPr>
        </p:nvSpPr>
        <p:spPr>
          <a:xfrm>
            <a:off x="844550" y="1327353"/>
            <a:ext cx="9611783" cy="3200876"/>
          </a:xfrm>
        </p:spPr>
        <p:txBody>
          <a:bodyPr/>
          <a:lstStyle/>
          <a:p>
            <a:pPr algn="l"/>
            <a:r>
              <a:rPr lang="en-US" dirty="0" smtClean="0">
                <a:latin typeface="fkGroteskNeue"/>
              </a:rPr>
              <a:t>Fundamental </a:t>
            </a:r>
            <a:r>
              <a:rPr lang="en-US" dirty="0">
                <a:latin typeface="fkGroteskNeue"/>
              </a:rPr>
              <a:t>Points:</a:t>
            </a:r>
          </a:p>
          <a:p>
            <a:pPr marL="742950" lvl="1" indent="-285750" algn="l">
              <a:buFont typeface="Arial" panose="020B0604020202020204" pitchFamily="34" charset="0"/>
              <a:buChar char="•"/>
            </a:pPr>
            <a:r>
              <a:rPr lang="en-US" dirty="0">
                <a:latin typeface="fkGroteskNeue"/>
              </a:rPr>
              <a:t>Common-mode output voltage ≈ </a:t>
            </a:r>
            <a:r>
              <a:rPr lang="en-US" i="1" dirty="0" smtClean="0">
                <a:latin typeface="KaTeX_Math"/>
              </a:rPr>
              <a:t>V</a:t>
            </a:r>
            <a:r>
              <a:rPr lang="en-US" i="1" baseline="-25000" dirty="0" smtClean="0">
                <a:latin typeface="KaTeX_Math"/>
              </a:rPr>
              <a:t>DD</a:t>
            </a:r>
            <a:r>
              <a:rPr lang="en-US" dirty="0">
                <a:latin typeface="fkGroteskNeue"/>
              </a:rPr>
              <a:t>.</a:t>
            </a:r>
          </a:p>
          <a:p>
            <a:pPr marL="742950" lvl="1" indent="-285750" algn="l">
              <a:buFont typeface="Arial" panose="020B0604020202020204" pitchFamily="34" charset="0"/>
              <a:buChar char="•"/>
            </a:pPr>
            <a:r>
              <a:rPr lang="en-US" dirty="0">
                <a:latin typeface="fkGroteskNeue"/>
              </a:rPr>
              <a:t>Voltage at each node is sinusoidal; current is not.</a:t>
            </a:r>
          </a:p>
          <a:p>
            <a:pPr marL="742950" lvl="1" indent="-285750" algn="l">
              <a:buFont typeface="Arial" panose="020B0604020202020204" pitchFamily="34" charset="0"/>
              <a:buChar char="•"/>
            </a:pPr>
            <a:r>
              <a:rPr lang="en-US" dirty="0">
                <a:latin typeface="fkGroteskNeue"/>
              </a:rPr>
              <a:t>The oscillator’s ability to filter harmonics and produce clean waveforms is what makes LC-based designs critical for RF and clock circuits.</a:t>
            </a:r>
          </a:p>
          <a:p>
            <a:pPr marL="742950" lvl="1" indent="-285750" algn="l">
              <a:buFont typeface="Arial" panose="020B0604020202020204" pitchFamily="34" charset="0"/>
              <a:buChar char="•"/>
            </a:pPr>
            <a:r>
              <a:rPr lang="en-US" dirty="0">
                <a:latin typeface="fkGroteskNeue"/>
              </a:rPr>
              <a:t>Maximum </a:t>
            </a:r>
            <a:r>
              <a:rPr lang="en-US" i="1" dirty="0" smtClean="0">
                <a:latin typeface="KaTeX_Math"/>
              </a:rPr>
              <a:t>V</a:t>
            </a:r>
            <a:r>
              <a:rPr lang="en-US" i="1" baseline="-25000" dirty="0" smtClean="0">
                <a:latin typeface="KaTeX_Math"/>
              </a:rPr>
              <a:t>DS</a:t>
            </a:r>
            <a:r>
              <a:rPr lang="en-US" dirty="0">
                <a:latin typeface="fkGroteskNeue"/>
              </a:rPr>
              <a:t> seen by transistors is </a:t>
            </a:r>
            <a:r>
              <a:rPr lang="en-US" i="1" dirty="0" err="1" smtClean="0">
                <a:latin typeface="KaTeX_Math"/>
              </a:rPr>
              <a:t>V</a:t>
            </a:r>
            <a:r>
              <a:rPr lang="en-US" i="1" baseline="-25000" dirty="0" err="1" smtClean="0">
                <a:latin typeface="KaTeX_Math"/>
              </a:rPr>
              <a:t>DD</a:t>
            </a:r>
            <a:r>
              <a:rPr lang="en-US" dirty="0" err="1" smtClean="0">
                <a:latin typeface="KaTeX_Main"/>
              </a:rPr>
              <a:t>+</a:t>
            </a:r>
            <a:r>
              <a:rPr lang="en-US" i="1" dirty="0" err="1" smtClean="0">
                <a:latin typeface="KaTeX_Math"/>
              </a:rPr>
              <a:t>V</a:t>
            </a:r>
            <a:r>
              <a:rPr lang="en-US" i="1" baseline="-25000" dirty="0" err="1" smtClean="0">
                <a:latin typeface="KaTeX_Math"/>
              </a:rPr>
              <a:t>p</a:t>
            </a:r>
            <a:r>
              <a:rPr lang="en-US" dirty="0">
                <a:latin typeface="fkGroteskNeue"/>
              </a:rPr>
              <a:t>, which may set constraints in process choice and reliability.</a:t>
            </a:r>
          </a:p>
          <a:p>
            <a:pPr algn="l"/>
            <a:r>
              <a:rPr lang="en-US" dirty="0">
                <a:latin typeface="fkGroteskNeue"/>
              </a:rPr>
              <a:t>Takeaway:</a:t>
            </a:r>
            <a:br>
              <a:rPr lang="en-US" dirty="0">
                <a:latin typeface="fkGroteskNeue"/>
              </a:rPr>
            </a:br>
            <a:r>
              <a:rPr lang="en-US" dirty="0">
                <a:latin typeface="fkGroteskNeue"/>
              </a:rPr>
              <a:t>Understand and balance tank Q, loop gain, and device stress—all are essential for a robust, high-performance LC oscillator.</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824583273"/>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929217" y="4561619"/>
            <a:ext cx="10593916" cy="1661993"/>
          </a:xfrm>
        </p:spPr>
        <p:txBody>
          <a:bodyPr/>
          <a:lstStyle/>
          <a:p>
            <a:pPr algn="l"/>
            <a:r>
              <a:rPr lang="en-US" sz="1800" b="1" dirty="0">
                <a:latin typeface="fkGrotesk"/>
              </a:rPr>
              <a:t>Oscillation Test Using Differential Impedance</a:t>
            </a:r>
          </a:p>
          <a:p>
            <a:pPr algn="l"/>
            <a:r>
              <a:rPr lang="en-US" sz="1800" b="1" dirty="0">
                <a:latin typeface="fkGroteskNeue"/>
              </a:rPr>
              <a:t>Concept:</a:t>
            </a:r>
            <a:r>
              <a:rPr lang="en-US" sz="1800" dirty="0">
                <a:latin typeface="fkGroteskNeue"/>
              </a:rPr>
              <a:t/>
            </a:r>
            <a:br>
              <a:rPr lang="en-US" sz="1800" dirty="0">
                <a:latin typeface="fkGroteskNeue"/>
              </a:rPr>
            </a:br>
            <a:r>
              <a:rPr lang="en-US" sz="1800" dirty="0">
                <a:latin typeface="fkGroteskNeue"/>
              </a:rPr>
              <a:t>To check if an LC oscillator will oscillate, measure the impedance between the two tank nodes (X and Y).</a:t>
            </a:r>
          </a:p>
          <a:p>
            <a:pPr marL="285750" indent="-285750" algn="l">
              <a:buFont typeface="Arial" panose="020B0604020202020204" pitchFamily="34" charset="0"/>
              <a:buChar char="•"/>
            </a:pPr>
            <a:r>
              <a:rPr lang="en-US" sz="1800" dirty="0">
                <a:latin typeface="fkGroteskNeue"/>
              </a:rPr>
              <a:t>If the impedance goes to infinity at some frequency, oscillation is possible.</a:t>
            </a:r>
          </a:p>
          <a:p>
            <a:pPr algn="l"/>
            <a:r>
              <a:rPr lang="en-US" sz="1800" b="1" dirty="0">
                <a:latin typeface="fkGroteskNeue"/>
              </a:rPr>
              <a:t>Fundamental Takeaway:</a:t>
            </a:r>
            <a:r>
              <a:rPr lang="en-US" sz="1800" dirty="0">
                <a:latin typeface="fkGroteskNeue"/>
              </a:rPr>
              <a:t/>
            </a:r>
            <a:br>
              <a:rPr lang="en-US" sz="1800" dirty="0">
                <a:latin typeface="fkGroteskNeue"/>
              </a:rPr>
            </a:br>
            <a:r>
              <a:rPr lang="en-US" sz="1800" dirty="0">
                <a:latin typeface="fkGroteskNeue"/>
              </a:rPr>
              <a:t>Testing for infinite impedance between nodes reveals if the circuit supports sustained oscillation</a:t>
            </a:r>
            <a:r>
              <a:rPr lang="en-US" sz="1800" dirty="0" smtClean="0">
                <a:latin typeface="fkGroteskNeue"/>
              </a:rPr>
              <a:t>.</a:t>
            </a:r>
            <a:endParaRPr lang="en-US" sz="1800"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1934427" y="1168327"/>
            <a:ext cx="8001411" cy="2844946"/>
          </a:xfrm>
          <a:prstGeom prst="rect">
            <a:avLst/>
          </a:prstGeom>
        </p:spPr>
      </p:pic>
      <p:sp>
        <p:nvSpPr>
          <p:cNvPr id="8" name="Rectangle 7"/>
          <p:cNvSpPr/>
          <p:nvPr/>
        </p:nvSpPr>
        <p:spPr>
          <a:xfrm>
            <a:off x="1591732" y="4068289"/>
            <a:ext cx="8881535" cy="415498"/>
          </a:xfrm>
          <a:prstGeom prst="rect">
            <a:avLst/>
          </a:prstGeom>
        </p:spPr>
        <p:txBody>
          <a:bodyPr wrap="square">
            <a:spAutoFit/>
          </a:bodyPr>
          <a:lstStyle/>
          <a:p>
            <a:r>
              <a:rPr lang="en-US" sz="1050" b="1" i="0" u="none" strike="noStrike" baseline="0" dirty="0" smtClean="0">
                <a:solidFill>
                  <a:srgbClr val="FF0000"/>
                </a:solidFill>
                <a:latin typeface="T3Font_285"/>
              </a:rPr>
              <a:t>Figure 1.23 </a:t>
            </a:r>
            <a:r>
              <a:rPr lang="en-US" sz="1050" b="1" i="0" u="none" strike="noStrike" baseline="0" dirty="0" smtClean="0">
                <a:solidFill>
                  <a:srgbClr val="FF0000"/>
                </a:solidFill>
                <a:latin typeface="T3Font_281"/>
              </a:rPr>
              <a:t>(a) Small-signal model of oscillator, (b) model with merged tanks, and (c) equivalent circuit for calculating</a:t>
            </a:r>
            <a:r>
              <a:rPr lang="en-US" sz="1050" b="1" i="0" u="none" strike="noStrike" dirty="0" smtClean="0">
                <a:solidFill>
                  <a:srgbClr val="FF0000"/>
                </a:solidFill>
                <a:latin typeface="T3Font_281"/>
              </a:rPr>
              <a:t>  </a:t>
            </a:r>
            <a:r>
              <a:rPr lang="en-US" sz="1050" b="1" i="0" u="none" strike="noStrike" baseline="0" dirty="0" smtClean="0">
                <a:solidFill>
                  <a:srgbClr val="FF0000"/>
                </a:solidFill>
                <a:latin typeface="T3Font_281"/>
              </a:rPr>
              <a:t>output resistance of cross-coupled pair.</a:t>
            </a:r>
            <a:endParaRPr lang="en-US" sz="2800" b="1" dirty="0">
              <a:solidFill>
                <a:srgbClr val="FF0000"/>
              </a:solidFill>
            </a:endParaRPr>
          </a:p>
        </p:txBody>
      </p:sp>
    </p:spTree>
    <p:extLst>
      <p:ext uri="{BB962C8B-B14F-4D97-AF65-F5344CB8AC3E}">
        <p14:creationId xmlns:p14="http://schemas.microsoft.com/office/powerpoint/2010/main" val="2167682011"/>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844550" y="1327353"/>
            <a:ext cx="11076517" cy="3016210"/>
          </a:xfrm>
        </p:spPr>
        <p:txBody>
          <a:bodyPr/>
          <a:lstStyle/>
          <a:p>
            <a:pPr algn="l"/>
            <a:r>
              <a:rPr lang="en-US" sz="1800" dirty="0">
                <a:latin typeface="fkGrotesk"/>
              </a:rPr>
              <a:t>Small-Signal Model and Merged Tank</a:t>
            </a:r>
          </a:p>
          <a:p>
            <a:pPr algn="l"/>
            <a:r>
              <a:rPr lang="en-US" sz="1800" dirty="0">
                <a:latin typeface="fkGroteskNeue"/>
              </a:rPr>
              <a:t>Concept:</a:t>
            </a:r>
          </a:p>
          <a:p>
            <a:pPr marL="342900" indent="-342900" algn="l">
              <a:buFont typeface="Arial" panose="020B0604020202020204" pitchFamily="34" charset="0"/>
              <a:buChar char="•"/>
            </a:pPr>
            <a:r>
              <a:rPr lang="en-US" sz="1800" dirty="0">
                <a:latin typeface="fkGroteskNeue"/>
              </a:rPr>
              <a:t>For differential nodes X and Y, combine both tanks as shown in Fig. 1.23(b):</a:t>
            </a:r>
          </a:p>
          <a:p>
            <a:pPr marL="742950" lvl="1" indent="-285750" algn="l">
              <a:buFont typeface="Arial" panose="020B0604020202020204" pitchFamily="34" charset="0"/>
              <a:buChar char="•"/>
            </a:pPr>
            <a:r>
              <a:rPr lang="en-US" sz="1600" dirty="0">
                <a:latin typeface="fkGroteskNeue"/>
              </a:rPr>
              <a:t>Inductance doubles: </a:t>
            </a:r>
            <a:r>
              <a:rPr lang="en-US" sz="1600" dirty="0" smtClean="0">
                <a:latin typeface="KaTeX_Main"/>
              </a:rPr>
              <a:t>2</a:t>
            </a:r>
            <a:r>
              <a:rPr lang="en-US" sz="1600" i="1" dirty="0" smtClean="0">
                <a:latin typeface="KaTeX_Math"/>
              </a:rPr>
              <a:t>L</a:t>
            </a:r>
            <a:endParaRPr lang="en-US" sz="1600" dirty="0">
              <a:latin typeface="fkGroteskNeue"/>
            </a:endParaRPr>
          </a:p>
          <a:p>
            <a:pPr marL="742950" lvl="1" indent="-285750" algn="l">
              <a:buFont typeface="Arial" panose="020B0604020202020204" pitchFamily="34" charset="0"/>
              <a:buChar char="•"/>
            </a:pPr>
            <a:r>
              <a:rPr lang="en-US" sz="1600" dirty="0">
                <a:latin typeface="fkGroteskNeue"/>
              </a:rPr>
              <a:t>Capacitance and resistance halves: </a:t>
            </a:r>
            <a:r>
              <a:rPr lang="en-US" sz="1600" dirty="0" smtClean="0">
                <a:latin typeface="KaTeX_Main"/>
              </a:rPr>
              <a:t>2</a:t>
            </a:r>
            <a:r>
              <a:rPr lang="en-US" sz="1600" i="1" dirty="0" smtClean="0">
                <a:latin typeface="KaTeX_Math"/>
              </a:rPr>
              <a:t>C</a:t>
            </a:r>
            <a:r>
              <a:rPr lang="en-US" sz="1600" dirty="0">
                <a:latin typeface="fkGroteskNeue"/>
              </a:rPr>
              <a:t>, </a:t>
            </a:r>
            <a:r>
              <a:rPr lang="en-US" sz="1600" dirty="0" smtClean="0">
                <a:latin typeface="KaTeX_Main"/>
              </a:rPr>
              <a:t>2</a:t>
            </a:r>
            <a:r>
              <a:rPr lang="en-US" sz="1600" i="1" dirty="0" smtClean="0">
                <a:latin typeface="KaTeX_Math"/>
              </a:rPr>
              <a:t>Rp</a:t>
            </a:r>
            <a:endParaRPr lang="en-US" sz="1600" dirty="0">
              <a:latin typeface="fkGroteskNeue"/>
            </a:endParaRPr>
          </a:p>
          <a:p>
            <a:pPr marL="342900" indent="-342900" algn="l">
              <a:buFont typeface="Arial" panose="020B0604020202020204" pitchFamily="34" charset="0"/>
              <a:buChar char="•"/>
            </a:pPr>
            <a:r>
              <a:rPr lang="en-US" sz="1800" dirty="0">
                <a:latin typeface="fkGroteskNeue"/>
              </a:rPr>
              <a:t>Redraws the circuit as a single tank between X and Y for easier analysis and impedance calculation</a:t>
            </a:r>
            <a:r>
              <a:rPr lang="en-US" sz="1800" dirty="0" smtClean="0">
                <a:latin typeface="fkGroteskNeue"/>
              </a:rPr>
              <a:t>.</a:t>
            </a:r>
          </a:p>
          <a:p>
            <a:pPr marL="342900" indent="-342900" algn="l">
              <a:buFont typeface="Arial" panose="020B0604020202020204" pitchFamily="34" charset="0"/>
              <a:buChar char="•"/>
            </a:pPr>
            <a:endParaRPr lang="en-US" sz="1800" dirty="0">
              <a:latin typeface="fkGroteskNeue"/>
            </a:endParaRPr>
          </a:p>
          <a:p>
            <a:pPr algn="l"/>
            <a:r>
              <a:rPr lang="en-US" sz="1800" dirty="0" smtClean="0">
                <a:latin typeface="fkGroteskNeue"/>
              </a:rPr>
              <a:t>Fundamental </a:t>
            </a:r>
            <a:r>
              <a:rPr lang="en-US" sz="1800" dirty="0">
                <a:latin typeface="fkGroteskNeue"/>
              </a:rPr>
              <a:t>Takeaway:</a:t>
            </a:r>
            <a:br>
              <a:rPr lang="en-US" sz="1800" dirty="0">
                <a:latin typeface="fkGroteskNeue"/>
              </a:rPr>
            </a:br>
            <a:r>
              <a:rPr lang="en-US" sz="1800" dirty="0">
                <a:latin typeface="fkGroteskNeue"/>
              </a:rPr>
              <a:t>Merging tanks into a single equivalent tank simplifies the math without changing the physics for differential analysis.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r="32223"/>
          <a:stretch/>
        </p:blipFill>
        <p:spPr>
          <a:xfrm>
            <a:off x="3018162" y="3890287"/>
            <a:ext cx="5423106" cy="2844946"/>
          </a:xfrm>
          <a:prstGeom prst="rect">
            <a:avLst/>
          </a:prstGeom>
        </p:spPr>
      </p:pic>
    </p:spTree>
    <p:extLst>
      <p:ext uri="{BB962C8B-B14F-4D97-AF65-F5344CB8AC3E}">
        <p14:creationId xmlns:p14="http://schemas.microsoft.com/office/powerpoint/2010/main" val="1397475578"/>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844550" y="1327353"/>
            <a:ext cx="10598150" cy="3016210"/>
          </a:xfrm>
        </p:spPr>
        <p:txBody>
          <a:bodyPr/>
          <a:lstStyle/>
          <a:p>
            <a:pPr algn="l"/>
            <a:r>
              <a:rPr lang="en-US" dirty="0">
                <a:latin typeface="fkGrotesk"/>
              </a:rPr>
              <a:t>Output Resistance of the Cross-Coupled Pair</a:t>
            </a:r>
          </a:p>
          <a:p>
            <a:pPr algn="l"/>
            <a:r>
              <a:rPr lang="en-US" dirty="0">
                <a:latin typeface="fkGroteskNeue"/>
              </a:rPr>
              <a:t>Concept:</a:t>
            </a:r>
          </a:p>
          <a:p>
            <a:pPr marL="742950" lvl="1" indent="-285750" algn="l">
              <a:buFont typeface="Arial" panose="020B0604020202020204" pitchFamily="34" charset="0"/>
              <a:buChar char="•"/>
            </a:pPr>
            <a:r>
              <a:rPr lang="en-US" dirty="0">
                <a:latin typeface="fkGroteskNeue"/>
              </a:rPr>
              <a:t>The cross-coupled transistors provide a negative resistance between X and Y.</a:t>
            </a:r>
          </a:p>
          <a:p>
            <a:pPr marL="742950" lvl="1" indent="-285750" algn="l">
              <a:buFont typeface="Arial" panose="020B0604020202020204" pitchFamily="34" charset="0"/>
              <a:buChar char="•"/>
            </a:pPr>
            <a:r>
              <a:rPr lang="en-US" dirty="0">
                <a:latin typeface="fkGroteskNeue"/>
              </a:rPr>
              <a:t>By KVL and inspection, this resistance is </a:t>
            </a:r>
            <a:r>
              <a:rPr lang="en-US" dirty="0" smtClean="0">
                <a:latin typeface="KaTeX_Main"/>
              </a:rPr>
              <a:t>−2/</a:t>
            </a:r>
            <a:r>
              <a:rPr lang="en-US" i="1" dirty="0" smtClean="0">
                <a:latin typeface="KaTeX_Math"/>
              </a:rPr>
              <a:t>gm</a:t>
            </a:r>
            <a:r>
              <a:rPr lang="en-US" dirty="0" smtClean="0">
                <a:latin typeface="fkGroteskNeue"/>
              </a:rPr>
              <a:t>.</a:t>
            </a:r>
            <a:endParaRPr lang="en-US" dirty="0">
              <a:latin typeface="fkGroteskNeue"/>
            </a:endParaRPr>
          </a:p>
          <a:p>
            <a:pPr algn="l"/>
            <a:r>
              <a:rPr lang="en-US" dirty="0">
                <a:latin typeface="fkGroteskNeue"/>
              </a:rPr>
              <a:t>Figure Integration:</a:t>
            </a:r>
            <a:br>
              <a:rPr lang="en-US" dirty="0">
                <a:latin typeface="fkGroteskNeue"/>
              </a:rPr>
            </a:br>
            <a:r>
              <a:rPr lang="en-US" dirty="0" smtClean="0">
                <a:latin typeface="fkGroteskNeue"/>
              </a:rPr>
              <a:t>Fig. 1.23(c): The tank is in parallel with the negative resistance provided by </a:t>
            </a:r>
            <a:r>
              <a:rPr lang="en-US" i="1" dirty="0" smtClean="0">
                <a:latin typeface="KaTeX_Math"/>
              </a:rPr>
              <a:t>M</a:t>
            </a:r>
            <a:r>
              <a:rPr lang="en-US" dirty="0" smtClean="0">
                <a:latin typeface="KaTeX_Main"/>
              </a:rPr>
              <a:t>1,</a:t>
            </a:r>
            <a:r>
              <a:rPr lang="en-US" i="1" dirty="0" smtClean="0">
                <a:latin typeface="KaTeX_Math"/>
              </a:rPr>
              <a:t>M</a:t>
            </a:r>
            <a:r>
              <a:rPr lang="en-US" dirty="0" smtClean="0">
                <a:latin typeface="KaTeX_Main"/>
              </a:rPr>
              <a:t>2</a:t>
            </a:r>
            <a:r>
              <a:rPr lang="en-US" dirty="0" smtClean="0">
                <a:latin typeface="fkGroteskNeue"/>
              </a:rPr>
              <a:t>.</a:t>
            </a:r>
          </a:p>
          <a:p>
            <a:pPr algn="l"/>
            <a:r>
              <a:rPr lang="en-US" dirty="0" smtClean="0">
                <a:latin typeface="fkGroteskNeue"/>
              </a:rPr>
              <a:t>Fundamental Takeaway:</a:t>
            </a:r>
            <a:br>
              <a:rPr lang="en-US" dirty="0" smtClean="0">
                <a:latin typeface="fkGroteskNeue"/>
              </a:rPr>
            </a:br>
            <a:r>
              <a:rPr lang="en-US" dirty="0" smtClean="0">
                <a:latin typeface="fkGroteskNeue"/>
              </a:rPr>
              <a:t>Cross-coupled pairs convert their gain into negative resistance, essential for overcoming tank losses and starting oscillations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l="69576" t="29317"/>
          <a:stretch/>
        </p:blipFill>
        <p:spPr>
          <a:xfrm>
            <a:off x="4233333" y="4106332"/>
            <a:ext cx="2434372" cy="2010907"/>
          </a:xfrm>
          <a:prstGeom prst="rect">
            <a:avLst/>
          </a:prstGeom>
        </p:spPr>
      </p:pic>
    </p:spTree>
    <p:extLst>
      <p:ext uri="{BB962C8B-B14F-4D97-AF65-F5344CB8AC3E}">
        <p14:creationId xmlns:p14="http://schemas.microsoft.com/office/powerpoint/2010/main" val="3087023032"/>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Oscillation Condition &amp; Mathematical </a:t>
            </a:r>
            <a:r>
              <a:rPr lang="en-US" dirty="0" smtClean="0"/>
              <a:t>Test</a:t>
            </a:r>
            <a:endParaRPr lang="en-US" dirty="0"/>
          </a:p>
        </p:txBody>
      </p:sp>
      <p:sp>
        <p:nvSpPr>
          <p:cNvPr id="3" name="Text Placeholder 2"/>
          <p:cNvSpPr>
            <a:spLocks noGrp="1"/>
          </p:cNvSpPr>
          <p:nvPr>
            <p:ph type="body" idx="1"/>
          </p:nvPr>
        </p:nvSpPr>
        <p:spPr>
          <a:xfrm>
            <a:off x="844550" y="1327353"/>
            <a:ext cx="10674350" cy="4001095"/>
          </a:xfrm>
        </p:spPr>
        <p:txBody>
          <a:bodyPr/>
          <a:lstStyle/>
          <a:p>
            <a:pPr algn="l"/>
            <a:r>
              <a:rPr lang="en-US" dirty="0">
                <a:latin typeface="fkGroteskNeue"/>
              </a:rPr>
              <a:t>Concept:</a:t>
            </a:r>
            <a:br>
              <a:rPr lang="en-US" dirty="0">
                <a:latin typeface="fkGroteskNeue"/>
              </a:rPr>
            </a:br>
            <a:r>
              <a:rPr lang="en-US" dirty="0">
                <a:latin typeface="fkGroteskNeue"/>
              </a:rPr>
              <a:t>Oscillation occurs if the parallel combination of:</a:t>
            </a:r>
          </a:p>
          <a:p>
            <a:pPr algn="l">
              <a:buFont typeface="Arial" panose="020B0604020202020204" pitchFamily="34" charset="0"/>
              <a:buChar char="•"/>
            </a:pPr>
            <a:r>
              <a:rPr lang="en-US" dirty="0">
                <a:latin typeface="fkGroteskNeue"/>
              </a:rPr>
              <a:t>The tank impedance (at resonance, very high)</a:t>
            </a:r>
          </a:p>
          <a:p>
            <a:pPr algn="l">
              <a:buFont typeface="Arial" panose="020B0604020202020204" pitchFamily="34" charset="0"/>
              <a:buChar char="•"/>
            </a:pPr>
            <a:r>
              <a:rPr lang="en-US" dirty="0">
                <a:latin typeface="fkGroteskNeue"/>
              </a:rPr>
              <a:t>The negative resistance (at the right </a:t>
            </a:r>
            <a:r>
              <a:rPr lang="en-US" i="1" dirty="0" smtClean="0">
                <a:latin typeface="KaTeX_Math"/>
              </a:rPr>
              <a:t>gm</a:t>
            </a:r>
            <a:r>
              <a:rPr lang="en-US" dirty="0">
                <a:latin typeface="fkGroteskNeue"/>
              </a:rPr>
              <a:t>)</a:t>
            </a:r>
          </a:p>
          <a:p>
            <a:pPr algn="l"/>
            <a:r>
              <a:rPr lang="en-US" dirty="0">
                <a:latin typeface="fkGroteskNeue"/>
              </a:rPr>
              <a:t>goes to infinity — this means the circuit supports </a:t>
            </a:r>
            <a:r>
              <a:rPr lang="en-US" dirty="0" err="1">
                <a:latin typeface="fkGroteskNeue"/>
              </a:rPr>
              <a:t>undamped</a:t>
            </a:r>
            <a:r>
              <a:rPr lang="en-US" dirty="0">
                <a:latin typeface="fkGroteskNeue"/>
              </a:rPr>
              <a:t> oscillations.</a:t>
            </a:r>
          </a:p>
          <a:p>
            <a:pPr algn="l">
              <a:buFont typeface="Arial" panose="020B0604020202020204" pitchFamily="34" charset="0"/>
              <a:buChar char="•"/>
            </a:pPr>
            <a:r>
              <a:rPr lang="en-US" dirty="0">
                <a:latin typeface="fkGroteskNeue"/>
              </a:rPr>
              <a:t>At resonance</a:t>
            </a:r>
            <a:r>
              <a:rPr lang="en-US" dirty="0" smtClean="0">
                <a:latin typeface="fkGroteskNeue"/>
              </a:rPr>
              <a:t>:</a:t>
            </a:r>
          </a:p>
          <a:p>
            <a:pPr algn="l">
              <a:buFont typeface="Arial" panose="020B0604020202020204" pitchFamily="34" charset="0"/>
              <a:buChar char="•"/>
            </a:pPr>
            <a:endParaRPr lang="en-US" dirty="0">
              <a:latin typeface="fkGroteskNeue"/>
            </a:endParaRPr>
          </a:p>
          <a:p>
            <a:pPr algn="l"/>
            <a:r>
              <a:rPr lang="en-US" dirty="0">
                <a:latin typeface="KaTeX_Main"/>
              </a:rPr>
              <a:t> </a:t>
            </a:r>
            <a:r>
              <a:rPr lang="en-US" dirty="0" smtClean="0">
                <a:latin typeface="KaTeX_Main"/>
              </a:rPr>
              <a:t>    </a:t>
            </a:r>
            <a:endParaRPr lang="en-US" dirty="0" smtClean="0">
              <a:latin typeface="KaTeX_Size3"/>
            </a:endParaRPr>
          </a:p>
          <a:p>
            <a:pPr algn="l"/>
            <a:r>
              <a:rPr lang="en-US" dirty="0" smtClean="0">
                <a:latin typeface="fkGroteskNeue"/>
              </a:rPr>
              <a:t>This </a:t>
            </a:r>
            <a:r>
              <a:rPr lang="en-US" dirty="0">
                <a:latin typeface="fkGroteskNeue"/>
              </a:rPr>
              <a:t>leads directly to the startup condition: </a:t>
            </a:r>
            <a:r>
              <a:rPr lang="en-US" i="1" dirty="0" err="1" smtClean="0">
                <a:latin typeface="KaTeX_Math"/>
              </a:rPr>
              <a:t>gmRp</a:t>
            </a:r>
            <a:r>
              <a:rPr lang="en-US" dirty="0" smtClean="0">
                <a:latin typeface="KaTeX_Main"/>
              </a:rPr>
              <a:t>=1</a:t>
            </a:r>
            <a:r>
              <a:rPr lang="en-US" dirty="0">
                <a:latin typeface="fkGroteskNeue"/>
              </a:rPr>
              <a:t>.</a:t>
            </a:r>
          </a:p>
          <a:p>
            <a:pPr algn="l"/>
            <a:r>
              <a:rPr lang="en-US" dirty="0">
                <a:latin typeface="fkGroteskNeue"/>
              </a:rPr>
              <a:t>Fundamental Takeaway:</a:t>
            </a:r>
            <a:br>
              <a:rPr lang="en-US" dirty="0">
                <a:latin typeface="fkGroteskNeue"/>
              </a:rPr>
            </a:br>
            <a:r>
              <a:rPr lang="en-US" dirty="0">
                <a:latin typeface="fkGroteskNeue"/>
              </a:rPr>
              <a:t>The circuit oscillates if the negative resistance cancels the tank’s loss, exactly matching at startup.</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2484873" y="3079733"/>
            <a:ext cx="3606985" cy="673135"/>
          </a:xfrm>
          <a:prstGeom prst="rect">
            <a:avLst/>
          </a:prstGeom>
        </p:spPr>
      </p:pic>
    </p:spTree>
    <p:extLst>
      <p:ext uri="{BB962C8B-B14F-4D97-AF65-F5344CB8AC3E}">
        <p14:creationId xmlns:p14="http://schemas.microsoft.com/office/powerpoint/2010/main" val="1838992558"/>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Intuitive &amp; Rigorous </a:t>
            </a:r>
            <a:r>
              <a:rPr lang="en-US" dirty="0" smtClean="0"/>
              <a:t>Perspective</a:t>
            </a:r>
            <a:endParaRPr lang="en-US" dirty="0"/>
          </a:p>
        </p:txBody>
      </p:sp>
      <p:sp>
        <p:nvSpPr>
          <p:cNvPr id="3" name="Text Placeholder 2"/>
          <p:cNvSpPr>
            <a:spLocks noGrp="1"/>
          </p:cNvSpPr>
          <p:nvPr>
            <p:ph type="body" idx="1"/>
          </p:nvPr>
        </p:nvSpPr>
        <p:spPr>
          <a:xfrm>
            <a:off x="844550" y="1327353"/>
            <a:ext cx="10670117" cy="3077766"/>
          </a:xfrm>
        </p:spPr>
        <p:txBody>
          <a:bodyPr/>
          <a:lstStyle/>
          <a:p>
            <a:pPr algn="l"/>
            <a:r>
              <a:rPr lang="en-US" dirty="0">
                <a:latin typeface="fkGroteskNeue"/>
              </a:rPr>
              <a:t>Concept:</a:t>
            </a:r>
          </a:p>
          <a:p>
            <a:pPr algn="l">
              <a:buFont typeface="Arial" panose="020B0604020202020204" pitchFamily="34" charset="0"/>
              <a:buChar char="•"/>
            </a:pPr>
            <a:r>
              <a:rPr lang="en-US" dirty="0">
                <a:latin typeface="fkGroteskNeue"/>
              </a:rPr>
              <a:t>The exact math (Eq. 1.48) confirms oscillation at  </a:t>
            </a:r>
            <a:r>
              <a:rPr lang="en-US" dirty="0" smtClean="0">
                <a:latin typeface="fkGroteskNeue"/>
              </a:rPr>
              <a:t>                   when</a:t>
            </a:r>
            <a:r>
              <a:rPr lang="en-US" dirty="0">
                <a:latin typeface="fkGroteskNeue"/>
              </a:rPr>
              <a:t> </a:t>
            </a:r>
            <a:r>
              <a:rPr lang="en-US" i="1" dirty="0" err="1" smtClean="0">
                <a:latin typeface="KaTeX_Math"/>
              </a:rPr>
              <a:t>gmRp</a:t>
            </a:r>
            <a:r>
              <a:rPr lang="en-US" dirty="0" smtClean="0">
                <a:latin typeface="KaTeX_Main"/>
              </a:rPr>
              <a:t>=1</a:t>
            </a:r>
            <a:r>
              <a:rPr lang="en-US" dirty="0">
                <a:latin typeface="fkGroteskNeue"/>
              </a:rPr>
              <a:t>, same as impedance test.</a:t>
            </a:r>
          </a:p>
          <a:p>
            <a:pPr algn="l">
              <a:buFont typeface="Arial" panose="020B0604020202020204" pitchFamily="34" charset="0"/>
              <a:buChar char="•"/>
            </a:pPr>
            <a:r>
              <a:rPr lang="en-US" dirty="0">
                <a:latin typeface="fkGroteskNeue"/>
              </a:rPr>
              <a:t>The cross-coupled pair’s negative resistance is mathematically just as valid and crucial in complex analysis as it is intuitively.</a:t>
            </a:r>
          </a:p>
          <a:p>
            <a:pPr algn="l"/>
            <a:r>
              <a:rPr lang="en-US" dirty="0">
                <a:latin typeface="fkGroteskNeue"/>
              </a:rPr>
              <a:t>Fundamental Takeaway:</a:t>
            </a:r>
            <a:br>
              <a:rPr lang="en-US" dirty="0">
                <a:latin typeface="fkGroteskNeue"/>
              </a:rPr>
            </a:br>
            <a:r>
              <a:rPr lang="en-US" dirty="0">
                <a:latin typeface="fkGroteskNeue"/>
              </a:rPr>
              <a:t>Both intuitive circuit analysis and rigorous impedance calculations point to the same requirement: negative resistance = tank loss for startup. Cross-coupled LC oscillators embody this physical principle beautifully.</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6447336" y="1629825"/>
            <a:ext cx="1143059" cy="304816"/>
          </a:xfrm>
          <a:prstGeom prst="rect">
            <a:avLst/>
          </a:prstGeom>
        </p:spPr>
      </p:pic>
    </p:spTree>
    <p:extLst>
      <p:ext uri="{BB962C8B-B14F-4D97-AF65-F5344CB8AC3E}">
        <p14:creationId xmlns:p14="http://schemas.microsoft.com/office/powerpoint/2010/main" val="3660863338"/>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Differential Pair with LC Loads</a:t>
            </a:r>
            <a:endParaRPr lang="en-US" dirty="0"/>
          </a:p>
        </p:txBody>
      </p:sp>
      <p:sp>
        <p:nvSpPr>
          <p:cNvPr id="3" name="Text Placeholder 2"/>
          <p:cNvSpPr>
            <a:spLocks noGrp="1"/>
          </p:cNvSpPr>
          <p:nvPr>
            <p:ph type="body" idx="1"/>
          </p:nvPr>
        </p:nvSpPr>
        <p:spPr>
          <a:xfrm>
            <a:off x="759882" y="1132620"/>
            <a:ext cx="6728885" cy="2462213"/>
          </a:xfrm>
        </p:spPr>
        <p:txBody>
          <a:bodyPr/>
          <a:lstStyle/>
          <a:p>
            <a:pPr marL="342900" indent="-342900" algn="l">
              <a:buFont typeface="Arial" panose="020B0604020202020204" pitchFamily="34" charset="0"/>
              <a:buChar char="•"/>
            </a:pPr>
            <a:r>
              <a:rPr lang="en-US" sz="1600" dirty="0" smtClean="0">
                <a:latin typeface="fkGroteskNeue"/>
              </a:rPr>
              <a:t>Essentials</a:t>
            </a:r>
            <a:r>
              <a:rPr lang="en-US" sz="1600" dirty="0">
                <a:latin typeface="fkGroteskNeue"/>
              </a:rPr>
              <a:t>: Two transistors (M1, M2) form a differential pair. Each drain is loaded with a parallel LC tank (L, C, </a:t>
            </a:r>
            <a:r>
              <a:rPr lang="en-US" sz="1600" dirty="0" err="1" smtClean="0">
                <a:latin typeface="fkGroteskNeue"/>
              </a:rPr>
              <a:t>Rp</a:t>
            </a:r>
            <a:r>
              <a:rPr lang="en-US" sz="1600" dirty="0">
                <a:latin typeface="fkGroteskNeue"/>
              </a:rPr>
              <a:t>) and biased with tail current </a:t>
            </a:r>
            <a:r>
              <a:rPr lang="en-US" sz="1600" dirty="0" smtClean="0">
                <a:latin typeface="fkGroteskNeue"/>
              </a:rPr>
              <a:t>ISS</a:t>
            </a:r>
            <a:r>
              <a:rPr lang="en-US" sz="1600" dirty="0">
                <a:latin typeface="fkGroteskNeue"/>
              </a:rPr>
              <a:t>.</a:t>
            </a:r>
          </a:p>
          <a:p>
            <a:pPr marL="342900" indent="-342900" algn="l">
              <a:buFont typeface="Arial" panose="020B0604020202020204" pitchFamily="34" charset="0"/>
              <a:buChar char="•"/>
            </a:pPr>
            <a:r>
              <a:rPr lang="en-US" sz="1600" dirty="0">
                <a:latin typeface="fkGroteskNeue"/>
              </a:rPr>
              <a:t>Core Idea:</a:t>
            </a:r>
            <a:br>
              <a:rPr lang="en-US" sz="1600" dirty="0">
                <a:latin typeface="fkGroteskNeue"/>
              </a:rPr>
            </a:br>
            <a:r>
              <a:rPr lang="en-US" sz="1600" dirty="0">
                <a:latin typeface="fkGroteskNeue"/>
              </a:rPr>
              <a:t>The tail current splits between the two devices according to the input, and the LC tanks set the frequency selectivity and shape the output waveform at nodes X and Y.</a:t>
            </a:r>
          </a:p>
          <a:p>
            <a:pPr marL="342900" indent="-342900" algn="l">
              <a:buFont typeface="Arial" panose="020B0604020202020204" pitchFamily="34" charset="0"/>
              <a:buChar char="•"/>
            </a:pPr>
            <a:r>
              <a:rPr lang="en-US" sz="1600" dirty="0">
                <a:latin typeface="fkGroteskNeue"/>
              </a:rPr>
              <a:t>Key Point:</a:t>
            </a:r>
            <a:br>
              <a:rPr lang="en-US" sz="1600" dirty="0">
                <a:latin typeface="fkGroteskNeue"/>
              </a:rPr>
            </a:br>
            <a:r>
              <a:rPr lang="en-US" sz="1600" dirty="0">
                <a:latin typeface="fkGroteskNeue"/>
              </a:rPr>
              <a:t>This arrangement provides differential outputs, meaning </a:t>
            </a:r>
            <a:r>
              <a:rPr lang="en-US" sz="1600" dirty="0" smtClean="0">
                <a:latin typeface="fkGroteskNeue"/>
              </a:rPr>
              <a:t>VX </a:t>
            </a:r>
            <a:r>
              <a:rPr lang="en-US" sz="1600" dirty="0">
                <a:latin typeface="fkGroteskNeue"/>
              </a:rPr>
              <a:t>and </a:t>
            </a:r>
            <a:r>
              <a:rPr lang="en-US" sz="1600" dirty="0" smtClean="0">
                <a:latin typeface="fkGroteskNeue"/>
              </a:rPr>
              <a:t>VY </a:t>
            </a:r>
            <a:r>
              <a:rPr lang="en-US" sz="1600" dirty="0">
                <a:latin typeface="fkGroteskNeue"/>
              </a:rPr>
              <a:t>always move in opposite </a:t>
            </a:r>
            <a:r>
              <a:rPr lang="en-US" sz="1600" dirty="0" smtClean="0">
                <a:latin typeface="fkGroteskNeue"/>
              </a:rPr>
              <a:t>directions</a:t>
            </a:r>
            <a:endParaRPr lang="en-US" sz="1600" dirty="0">
              <a:latin typeface="fkGroteskNeue"/>
            </a:endParaRPr>
          </a:p>
        </p:txBody>
      </p:sp>
      <p:sp>
        <p:nvSpPr>
          <p:cNvPr id="4" name="Footer Placeholder 3"/>
          <p:cNvSpPr>
            <a:spLocks noGrp="1"/>
          </p:cNvSpPr>
          <p:nvPr>
            <p:ph type="ftr" sz="quarter" idx="5"/>
          </p:nvPr>
        </p:nvSpPr>
        <p:spPr>
          <a:xfrm>
            <a:off x="5434243" y="6632391"/>
            <a:ext cx="1389889" cy="2256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2427"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418654" y="6585061"/>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97368" y="3976007"/>
            <a:ext cx="8119532" cy="2092881"/>
          </a:xfrm>
          <a:prstGeom prst="rect">
            <a:avLst/>
          </a:prstGeom>
        </p:spPr>
        <p:txBody>
          <a:bodyPr wrap="square">
            <a:spAutoFit/>
          </a:bodyPr>
          <a:lstStyle/>
          <a:p>
            <a:r>
              <a:rPr lang="en-US" b="0" i="0" dirty="0" smtClean="0">
                <a:effectLst/>
                <a:latin typeface="fkGrotesk"/>
              </a:rPr>
              <a:t>Gain/Phase Response</a:t>
            </a:r>
          </a:p>
          <a:p>
            <a:pPr marL="285750" indent="-285750">
              <a:buFont typeface="Arial" panose="020B0604020202020204" pitchFamily="34" charset="0"/>
              <a:buChar char="•"/>
            </a:pPr>
            <a:r>
              <a:rPr lang="en-US" sz="1600" b="0" i="0" dirty="0" smtClean="0">
                <a:effectLst/>
                <a:latin typeface="fkGroteskNeue"/>
              </a:rPr>
              <a:t>Gain Response:</a:t>
            </a:r>
            <a:br>
              <a:rPr lang="en-US" sz="1600" b="0" i="0" dirty="0" smtClean="0">
                <a:effectLst/>
                <a:latin typeface="fkGroteskNeue"/>
              </a:rPr>
            </a:br>
            <a:r>
              <a:rPr lang="en-US" sz="1600" b="0" i="0" dirty="0" smtClean="0">
                <a:effectLst/>
                <a:latin typeface="fkGroteskNeue"/>
              </a:rPr>
              <a:t>Shows a sharp gain peak at ω0, characteristic of resonance—thanks to high-Q tanks, output voltage is maximum at the resonance frequency.</a:t>
            </a:r>
          </a:p>
          <a:p>
            <a:pPr marL="285750" indent="-285750">
              <a:buFont typeface="Arial" panose="020B0604020202020204" pitchFamily="34" charset="0"/>
              <a:buChar char="•"/>
            </a:pPr>
            <a:r>
              <a:rPr lang="en-US" sz="1600" b="0" i="0" dirty="0" smtClean="0">
                <a:effectLst/>
                <a:latin typeface="fkGroteskNeue"/>
              </a:rPr>
              <a:t>Phase Response:</a:t>
            </a:r>
            <a:br>
              <a:rPr lang="en-US" sz="1600" b="0" i="0" dirty="0" smtClean="0">
                <a:effectLst/>
                <a:latin typeface="fkGroteskNeue"/>
              </a:rPr>
            </a:br>
            <a:r>
              <a:rPr lang="en-US" sz="1600" b="0" i="0" dirty="0" smtClean="0">
                <a:effectLst/>
                <a:latin typeface="fkGroteskNeue"/>
              </a:rPr>
              <a:t>The phase transitions rapidly near ω0, another sign of the strong filtering of the tank.</a:t>
            </a:r>
          </a:p>
          <a:p>
            <a:r>
              <a:rPr lang="en-US" sz="1600" b="0" i="0" dirty="0" smtClean="0">
                <a:effectLst/>
                <a:latin typeface="fkGroteskNeue"/>
              </a:rPr>
              <a:t>Intuitive Takeaway:</a:t>
            </a:r>
            <a:br>
              <a:rPr lang="en-US" sz="1600" b="0" i="0" dirty="0" smtClean="0">
                <a:effectLst/>
                <a:latin typeface="fkGroteskNeue"/>
              </a:rPr>
            </a:br>
            <a:r>
              <a:rPr lang="en-US" sz="1600" b="0" i="0" dirty="0" smtClean="0">
                <a:effectLst/>
                <a:latin typeface="fkGroteskNeue"/>
              </a:rPr>
              <a:t>The parallel tank acts like a narrow </a:t>
            </a:r>
            <a:r>
              <a:rPr lang="en-US" sz="1600" b="0" i="0" dirty="0" err="1" smtClean="0">
                <a:effectLst/>
                <a:latin typeface="fkGroteskNeue"/>
              </a:rPr>
              <a:t>bandpass</a:t>
            </a:r>
            <a:r>
              <a:rPr lang="en-US" sz="1600" b="0" i="0" dirty="0" smtClean="0">
                <a:effectLst/>
                <a:latin typeface="fkGroteskNeue"/>
              </a:rPr>
              <a:t> filter, allowing oscillations only at ω0.</a:t>
            </a:r>
            <a:endParaRPr lang="en-US" sz="1600" b="0" i="0" dirty="0">
              <a:effectLst/>
              <a:latin typeface="fkGroteskNeue"/>
            </a:endParaRPr>
          </a:p>
        </p:txBody>
      </p:sp>
      <p:pic>
        <p:nvPicPr>
          <p:cNvPr id="8" name="Picture 7"/>
          <p:cNvPicPr>
            <a:picLocks noChangeAspect="1"/>
          </p:cNvPicPr>
          <p:nvPr/>
        </p:nvPicPr>
        <p:blipFill rotWithShape="1">
          <a:blip r:embed="rId2"/>
          <a:srcRect r="59740"/>
          <a:stretch/>
        </p:blipFill>
        <p:spPr>
          <a:xfrm>
            <a:off x="8358547" y="1233963"/>
            <a:ext cx="2694687" cy="2044805"/>
          </a:xfrm>
          <a:prstGeom prst="rect">
            <a:avLst/>
          </a:prstGeom>
        </p:spPr>
      </p:pic>
      <p:pic>
        <p:nvPicPr>
          <p:cNvPr id="9" name="Picture 8"/>
          <p:cNvPicPr>
            <a:picLocks noChangeAspect="1"/>
          </p:cNvPicPr>
          <p:nvPr/>
        </p:nvPicPr>
        <p:blipFill rotWithShape="1">
          <a:blip r:embed="rId2"/>
          <a:srcRect l="41335"/>
          <a:stretch/>
        </p:blipFill>
        <p:spPr>
          <a:xfrm>
            <a:off x="8157632" y="3989864"/>
            <a:ext cx="3926591" cy="2044805"/>
          </a:xfrm>
          <a:prstGeom prst="rect">
            <a:avLst/>
          </a:prstGeom>
        </p:spPr>
      </p:pic>
      <p:sp>
        <p:nvSpPr>
          <p:cNvPr id="10" name="Rectangle 9"/>
          <p:cNvSpPr/>
          <p:nvPr/>
        </p:nvSpPr>
        <p:spPr>
          <a:xfrm>
            <a:off x="622300" y="1134533"/>
            <a:ext cx="10837333" cy="257386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1" name="Rectangle 10"/>
          <p:cNvSpPr/>
          <p:nvPr/>
        </p:nvSpPr>
        <p:spPr>
          <a:xfrm>
            <a:off x="105833" y="3860800"/>
            <a:ext cx="11849100" cy="257386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Tree>
    <p:extLst>
      <p:ext uri="{BB962C8B-B14F-4D97-AF65-F5344CB8AC3E}">
        <p14:creationId xmlns:p14="http://schemas.microsoft.com/office/powerpoint/2010/main" val="4021745018"/>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err="1">
                <a:latin typeface="fkGrotesk"/>
              </a:rPr>
              <a:t>Input/Output</a:t>
            </a:r>
            <a:r>
              <a:rPr lang="en-US" dirty="0">
                <a:latin typeface="fkGrotesk"/>
              </a:rPr>
              <a:t> Currents and </a:t>
            </a:r>
            <a:r>
              <a:rPr lang="en-US" dirty="0" smtClean="0">
                <a:latin typeface="fkGrotesk"/>
              </a:rPr>
              <a:t>Voltages</a:t>
            </a:r>
            <a:endParaRPr lang="en-US" dirty="0"/>
          </a:p>
        </p:txBody>
      </p:sp>
      <p:sp>
        <p:nvSpPr>
          <p:cNvPr id="3" name="Text Placeholder 2"/>
          <p:cNvSpPr>
            <a:spLocks noGrp="1"/>
          </p:cNvSpPr>
          <p:nvPr>
            <p:ph type="body" idx="1"/>
          </p:nvPr>
        </p:nvSpPr>
        <p:spPr>
          <a:xfrm>
            <a:off x="844550" y="1327353"/>
            <a:ext cx="5730875" cy="4001095"/>
          </a:xfrm>
        </p:spPr>
        <p:txBody>
          <a:bodyPr/>
          <a:lstStyle/>
          <a:p>
            <a:pPr marL="342900" indent="-342900" algn="l">
              <a:buFont typeface="Arial" panose="020B0604020202020204" pitchFamily="34" charset="0"/>
              <a:buChar char="•"/>
            </a:pPr>
            <a:r>
              <a:rPr lang="en-US" dirty="0" smtClean="0">
                <a:latin typeface="fkGroteskNeue"/>
              </a:rPr>
              <a:t>Current </a:t>
            </a:r>
            <a:r>
              <a:rPr lang="en-US" dirty="0">
                <a:latin typeface="fkGroteskNeue"/>
              </a:rPr>
              <a:t>Waveforms (</a:t>
            </a:r>
            <a:r>
              <a:rPr lang="en-US" dirty="0" smtClean="0">
                <a:latin typeface="fkGroteskNeue"/>
              </a:rPr>
              <a:t>ID1</a:t>
            </a:r>
            <a:r>
              <a:rPr lang="en-US" dirty="0">
                <a:latin typeface="fkGroteskNeue"/>
              </a:rPr>
              <a:t>, </a:t>
            </a:r>
            <a:r>
              <a:rPr lang="en-US" dirty="0" smtClean="0">
                <a:latin typeface="fkGroteskNeue"/>
              </a:rPr>
              <a:t>ID2</a:t>
            </a:r>
            <a:r>
              <a:rPr lang="en-US" dirty="0">
                <a:latin typeface="fkGroteskNeue"/>
              </a:rPr>
              <a:t>):</a:t>
            </a:r>
            <a:br>
              <a:rPr lang="en-US" dirty="0">
                <a:latin typeface="fkGroteskNeue"/>
              </a:rPr>
            </a:br>
            <a:r>
              <a:rPr lang="en-US" dirty="0">
                <a:latin typeface="fkGroteskNeue"/>
              </a:rPr>
              <a:t>With a large signal, each drain current switches sharply between 0 and </a:t>
            </a:r>
            <a:r>
              <a:rPr lang="en-US" dirty="0" smtClean="0">
                <a:latin typeface="fkGroteskNeue"/>
              </a:rPr>
              <a:t>ISS</a:t>
            </a:r>
            <a:r>
              <a:rPr lang="en-US" dirty="0">
                <a:latin typeface="fkGroteskNeue"/>
              </a:rPr>
              <a:t>, much like a square wave.</a:t>
            </a:r>
          </a:p>
          <a:p>
            <a:pPr marL="342900" indent="-342900" algn="l">
              <a:buFont typeface="Arial" panose="020B0604020202020204" pitchFamily="34" charset="0"/>
              <a:buChar char="•"/>
            </a:pPr>
            <a:r>
              <a:rPr lang="en-US" dirty="0">
                <a:latin typeface="fkGroteskNeue"/>
              </a:rPr>
              <a:t>Voltage Waveforms (</a:t>
            </a:r>
            <a:r>
              <a:rPr lang="en-US" dirty="0" smtClean="0">
                <a:latin typeface="fkGroteskNeue"/>
              </a:rPr>
              <a:t>VX</a:t>
            </a:r>
            <a:r>
              <a:rPr lang="en-US" dirty="0">
                <a:latin typeface="fkGroteskNeue"/>
              </a:rPr>
              <a:t>, </a:t>
            </a:r>
            <a:r>
              <a:rPr lang="en-US" dirty="0" smtClean="0">
                <a:latin typeface="fkGroteskNeue"/>
              </a:rPr>
              <a:t>VY</a:t>
            </a:r>
            <a:r>
              <a:rPr lang="en-US" dirty="0">
                <a:latin typeface="fkGroteskNeue"/>
              </a:rPr>
              <a:t>):</a:t>
            </a:r>
            <a:br>
              <a:rPr lang="en-US" dirty="0">
                <a:latin typeface="fkGroteskNeue"/>
              </a:rPr>
            </a:br>
            <a:r>
              <a:rPr lang="en-US" dirty="0">
                <a:latin typeface="fkGroteskNeue"/>
              </a:rPr>
              <a:t>Despite the abrupt currents, the LC filtering at each node transforms these into smooth, nearly sinusoidal voltages, with a phase difference of 180°.</a:t>
            </a:r>
          </a:p>
          <a:p>
            <a:pPr algn="l"/>
            <a:r>
              <a:rPr lang="en-US" dirty="0">
                <a:latin typeface="fkGroteskNeue"/>
              </a:rPr>
              <a:t>Intuitive Takeaway:</a:t>
            </a:r>
            <a:br>
              <a:rPr lang="en-US" dirty="0">
                <a:latin typeface="fkGroteskNeue"/>
              </a:rPr>
            </a:br>
            <a:r>
              <a:rPr lang="en-US" dirty="0">
                <a:latin typeface="fkGroteskNeue"/>
              </a:rPr>
              <a:t>The LC tanks “sculpt” the square current waves into clean sine waves, suppressing harmonics.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6945719" y="1730323"/>
            <a:ext cx="4769095" cy="2025754"/>
          </a:xfrm>
          <a:prstGeom prst="rect">
            <a:avLst/>
          </a:prstGeom>
        </p:spPr>
      </p:pic>
    </p:spTree>
    <p:extLst>
      <p:ext uri="{BB962C8B-B14F-4D97-AF65-F5344CB8AC3E}">
        <p14:creationId xmlns:p14="http://schemas.microsoft.com/office/powerpoint/2010/main" val="171583649"/>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Frequency Components in Square </a:t>
            </a:r>
            <a:r>
              <a:rPr lang="en-US" dirty="0" smtClean="0">
                <a:latin typeface="fkGrotesk"/>
              </a:rPr>
              <a:t>Wave</a:t>
            </a:r>
            <a:endParaRPr lang="en-US" dirty="0"/>
          </a:p>
        </p:txBody>
      </p:sp>
      <p:sp>
        <p:nvSpPr>
          <p:cNvPr id="3" name="Text Placeholder 2"/>
          <p:cNvSpPr>
            <a:spLocks noGrp="1"/>
          </p:cNvSpPr>
          <p:nvPr>
            <p:ph type="body" idx="1"/>
          </p:nvPr>
        </p:nvSpPr>
        <p:spPr>
          <a:xfrm>
            <a:off x="505884" y="1344286"/>
            <a:ext cx="6301316" cy="3385542"/>
          </a:xfrm>
        </p:spPr>
        <p:txBody>
          <a:bodyPr/>
          <a:lstStyle/>
          <a:p>
            <a:pPr marL="342900" indent="-342900" algn="l">
              <a:buFont typeface="Arial" panose="020B0604020202020204" pitchFamily="34" charset="0"/>
              <a:buChar char="•"/>
            </a:pPr>
            <a:r>
              <a:rPr lang="en-US" dirty="0">
                <a:latin typeface="fkGrotesk"/>
              </a:rPr>
              <a:t> </a:t>
            </a:r>
            <a:r>
              <a:rPr lang="en-US" dirty="0" smtClean="0">
                <a:latin typeface="fkGroteskNeue"/>
              </a:rPr>
              <a:t>Boxed </a:t>
            </a:r>
            <a:r>
              <a:rPr lang="en-US" dirty="0">
                <a:latin typeface="fkGroteskNeue"/>
              </a:rPr>
              <a:t>Harmonic Content:</a:t>
            </a:r>
            <a:br>
              <a:rPr lang="en-US" dirty="0">
                <a:latin typeface="fkGroteskNeue"/>
              </a:rPr>
            </a:br>
            <a:r>
              <a:rPr lang="en-US" dirty="0">
                <a:latin typeface="fkGroteskNeue"/>
              </a:rPr>
              <a:t>Magnifies the key point that a square wave toggling between +1 and –1 contains a fundamental at 4/π amplitude.</a:t>
            </a:r>
          </a:p>
          <a:p>
            <a:pPr marL="342900" indent="-342900" algn="l">
              <a:buFont typeface="Arial" panose="020B0604020202020204" pitchFamily="34" charset="0"/>
              <a:buChar char="•"/>
            </a:pPr>
            <a:r>
              <a:rPr lang="en-US" dirty="0">
                <a:latin typeface="fkGroteskNeue"/>
              </a:rPr>
              <a:t>Intuitive Use:</a:t>
            </a:r>
            <a:br>
              <a:rPr lang="en-US" dirty="0">
                <a:latin typeface="fkGroteskNeue"/>
              </a:rPr>
            </a:br>
            <a:r>
              <a:rPr lang="en-US" dirty="0">
                <a:latin typeface="fkGroteskNeue"/>
              </a:rPr>
              <a:t>The amplitude of the voltage swing from the square-like current is understood via the fundamental harmonic—explaining why the output swing is (</a:t>
            </a:r>
            <a:r>
              <a:rPr lang="en-US" dirty="0" smtClean="0">
                <a:latin typeface="fkGroteskNeue"/>
              </a:rPr>
              <a:t>2/π)ISS </a:t>
            </a:r>
            <a:r>
              <a:rPr lang="en-US" dirty="0" err="1" smtClean="0">
                <a:latin typeface="fkGroteskNeue"/>
              </a:rPr>
              <a:t>Rp</a:t>
            </a:r>
            <a:r>
              <a:rPr lang="en-US" dirty="0" smtClean="0">
                <a:latin typeface="fkGroteskNeue"/>
              </a:rPr>
              <a:t> </a:t>
            </a:r>
            <a:r>
              <a:rPr lang="en-US" dirty="0">
                <a:latin typeface="fkGroteskNeue"/>
              </a:rPr>
              <a:t>for each side, and 8/π </a:t>
            </a:r>
            <a:r>
              <a:rPr lang="en-US" dirty="0" smtClean="0">
                <a:latin typeface="fkGroteskNeue"/>
              </a:rPr>
              <a:t>ISS </a:t>
            </a:r>
            <a:r>
              <a:rPr lang="en-US" dirty="0" err="1" smtClean="0">
                <a:latin typeface="fkGroteskNeue"/>
              </a:rPr>
              <a:t>Rp</a:t>
            </a:r>
            <a:r>
              <a:rPr lang="en-US" dirty="0" smtClean="0">
                <a:latin typeface="fkGroteskNeue"/>
              </a:rPr>
              <a:t> </a:t>
            </a:r>
            <a:r>
              <a:rPr lang="en-US" dirty="0">
                <a:latin typeface="fkGroteskNeue"/>
              </a:rPr>
              <a:t>peak-to-peak differential.</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8188276" y="1676363"/>
            <a:ext cx="1911448" cy="1447874"/>
          </a:xfrm>
          <a:prstGeom prst="rect">
            <a:avLst/>
          </a:prstGeom>
        </p:spPr>
      </p:pic>
    </p:spTree>
    <p:extLst>
      <p:ext uri="{BB962C8B-B14F-4D97-AF65-F5344CB8AC3E}">
        <p14:creationId xmlns:p14="http://schemas.microsoft.com/office/powerpoint/2010/main" val="617804795"/>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Differential Pair with Negative </a:t>
            </a:r>
            <a:r>
              <a:rPr lang="en-US" dirty="0" smtClean="0">
                <a:latin typeface="fkGrotesk"/>
              </a:rPr>
              <a:t>Feedback</a:t>
            </a:r>
            <a:endParaRPr lang="en-US" dirty="0"/>
          </a:p>
        </p:txBody>
      </p:sp>
      <p:sp>
        <p:nvSpPr>
          <p:cNvPr id="3" name="Text Placeholder 2"/>
          <p:cNvSpPr>
            <a:spLocks noGrp="1"/>
          </p:cNvSpPr>
          <p:nvPr>
            <p:ph type="body" idx="1"/>
          </p:nvPr>
        </p:nvSpPr>
        <p:spPr>
          <a:xfrm>
            <a:off x="844550" y="1327353"/>
            <a:ext cx="5945717" cy="2154436"/>
          </a:xfrm>
        </p:spPr>
        <p:txBody>
          <a:bodyPr/>
          <a:lstStyle/>
          <a:p>
            <a:pPr marL="342900" indent="-342900" algn="l">
              <a:buFont typeface="Arial" panose="020B0604020202020204" pitchFamily="34" charset="0"/>
              <a:buChar char="•"/>
            </a:pPr>
            <a:r>
              <a:rPr lang="en-US" dirty="0" smtClean="0">
                <a:latin typeface="fkGroteskNeue"/>
              </a:rPr>
              <a:t>Description</a:t>
            </a:r>
            <a:r>
              <a:rPr lang="en-US" dirty="0">
                <a:latin typeface="fkGroteskNeue"/>
              </a:rPr>
              <a:t>:</a:t>
            </a:r>
            <a:br>
              <a:rPr lang="en-US" dirty="0">
                <a:latin typeface="fkGroteskNeue"/>
              </a:rPr>
            </a:br>
            <a:r>
              <a:rPr lang="en-US" dirty="0">
                <a:latin typeface="fkGroteskNeue"/>
              </a:rPr>
              <a:t>Shows a configuration where feedback opposes the motion—phase shift around loop totals 360°, but doesn't produce sustained oscillations.</a:t>
            </a:r>
          </a:p>
          <a:p>
            <a:pPr marL="342900" indent="-342900" algn="l">
              <a:buFont typeface="Arial" panose="020B0604020202020204" pitchFamily="34" charset="0"/>
              <a:buChar char="•"/>
            </a:pPr>
            <a:r>
              <a:rPr lang="en-US" dirty="0">
                <a:latin typeface="fkGroteskNeue"/>
              </a:rPr>
              <a:t>Takeaway:</a:t>
            </a:r>
            <a:br>
              <a:rPr lang="en-US" dirty="0">
                <a:latin typeface="fkGroteskNeue"/>
              </a:rPr>
            </a:br>
            <a:r>
              <a:rPr lang="en-US" dirty="0">
                <a:latin typeface="fkGroteskNeue"/>
              </a:rPr>
              <a:t>Not all feedback arrangements in this topology will result in oscillation!</a:t>
            </a: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8223208" y="1523956"/>
            <a:ext cx="1638384" cy="1701887"/>
          </a:xfrm>
          <a:prstGeom prst="rect">
            <a:avLst/>
          </a:prstGeom>
        </p:spPr>
      </p:pic>
    </p:spTree>
    <p:extLst>
      <p:ext uri="{BB962C8B-B14F-4D97-AF65-F5344CB8AC3E}">
        <p14:creationId xmlns:p14="http://schemas.microsoft.com/office/powerpoint/2010/main" val="1229292826"/>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650" y="232833"/>
            <a:ext cx="10788650" cy="523220"/>
          </a:xfrm>
        </p:spPr>
        <p:txBody>
          <a:bodyPr/>
          <a:lstStyle/>
          <a:p>
            <a:r>
              <a:rPr lang="en-US" dirty="0">
                <a:latin typeface="fkGrotesk"/>
              </a:rPr>
              <a:t>Differential Pair with Positive Feedback (Cross-Coupled</a:t>
            </a:r>
            <a:r>
              <a:rPr lang="en-US" dirty="0" smtClean="0">
                <a:latin typeface="fkGrotesk"/>
              </a:rPr>
              <a:t>)</a:t>
            </a:r>
            <a:endParaRPr lang="en-US" dirty="0"/>
          </a:p>
        </p:txBody>
      </p:sp>
      <p:sp>
        <p:nvSpPr>
          <p:cNvPr id="3" name="Text Placeholder 2"/>
          <p:cNvSpPr>
            <a:spLocks noGrp="1"/>
          </p:cNvSpPr>
          <p:nvPr>
            <p:ph type="body" idx="1"/>
          </p:nvPr>
        </p:nvSpPr>
        <p:spPr>
          <a:xfrm>
            <a:off x="645585" y="1158020"/>
            <a:ext cx="6970183" cy="2462213"/>
          </a:xfrm>
        </p:spPr>
        <p:txBody>
          <a:bodyPr/>
          <a:lstStyle/>
          <a:p>
            <a:pPr marL="342900" indent="-342900" algn="l">
              <a:buFont typeface="Arial" panose="020B0604020202020204" pitchFamily="34" charset="0"/>
              <a:buChar char="•"/>
            </a:pPr>
            <a:r>
              <a:rPr lang="en-US" dirty="0" smtClean="0">
                <a:latin typeface="fkGroteskNeue"/>
              </a:rPr>
              <a:t>Description</a:t>
            </a:r>
            <a:r>
              <a:rPr lang="en-US" dirty="0">
                <a:latin typeface="fkGroteskNeue"/>
              </a:rPr>
              <a:t>:</a:t>
            </a:r>
            <a:br>
              <a:rPr lang="en-US" dirty="0">
                <a:latin typeface="fkGroteskNeue"/>
              </a:rPr>
            </a:br>
            <a:r>
              <a:rPr lang="en-US" dirty="0">
                <a:latin typeface="fkGroteskNeue"/>
              </a:rPr>
              <a:t>Feedback lines are swapped, introducing extra 180° phase shift and providing a total of 0° (or multiples of 360°), fulfilling </a:t>
            </a:r>
            <a:r>
              <a:rPr lang="en-US" dirty="0" err="1">
                <a:latin typeface="fkGroteskNeue"/>
              </a:rPr>
              <a:t>Barkhausen's</a:t>
            </a:r>
            <a:r>
              <a:rPr lang="en-US" dirty="0">
                <a:latin typeface="fkGroteskNeue"/>
              </a:rPr>
              <a:t> criterion.</a:t>
            </a:r>
          </a:p>
          <a:p>
            <a:pPr marL="342900" indent="-342900" algn="l">
              <a:buFont typeface="Arial" panose="020B0604020202020204" pitchFamily="34" charset="0"/>
              <a:buChar char="•"/>
            </a:pPr>
            <a:r>
              <a:rPr lang="en-US" dirty="0">
                <a:latin typeface="fkGroteskNeue"/>
              </a:rPr>
              <a:t>Key Point:</a:t>
            </a:r>
            <a:br>
              <a:rPr lang="en-US" dirty="0">
                <a:latin typeface="fkGroteskNeue"/>
              </a:rPr>
            </a:br>
            <a:r>
              <a:rPr lang="en-US" dirty="0">
                <a:latin typeface="fkGroteskNeue"/>
              </a:rPr>
              <a:t>This “cross-coupled” form (with M1 and M2 feeding opposite gates) is the classic architecture for robust, startup-guaranteed LC oscillators</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722575" y="1739859"/>
            <a:ext cx="3206915" cy="1600282"/>
          </a:xfrm>
          <a:prstGeom prst="rect">
            <a:avLst/>
          </a:prstGeom>
        </p:spPr>
      </p:pic>
      <p:sp>
        <p:nvSpPr>
          <p:cNvPr id="8" name="Rectangle 7"/>
          <p:cNvSpPr/>
          <p:nvPr/>
        </p:nvSpPr>
        <p:spPr>
          <a:xfrm>
            <a:off x="431800" y="3732306"/>
            <a:ext cx="11658600" cy="2031325"/>
          </a:xfrm>
          <a:prstGeom prst="rect">
            <a:avLst/>
          </a:prstGeom>
        </p:spPr>
        <p:txBody>
          <a:bodyPr wrap="square">
            <a:spAutoFit/>
          </a:bodyPr>
          <a:lstStyle/>
          <a:p>
            <a:r>
              <a:rPr lang="en-US" b="0" i="0" dirty="0" smtClean="0">
                <a:effectLst/>
                <a:latin typeface="fkGrotesk"/>
              </a:rPr>
              <a:t>Cross-Coupled Pair Schematic</a:t>
            </a:r>
          </a:p>
          <a:p>
            <a:pPr marL="285750" indent="-285750">
              <a:buFont typeface="Arial" panose="020B0604020202020204" pitchFamily="34" charset="0"/>
              <a:buChar char="•"/>
            </a:pPr>
            <a:r>
              <a:rPr lang="en-US" b="0" i="0" dirty="0" smtClean="0">
                <a:effectLst/>
                <a:latin typeface="fkGroteskNeue"/>
              </a:rPr>
              <a:t>Simplified Schematic:</a:t>
            </a:r>
            <a:br>
              <a:rPr lang="en-US" b="0" i="0" dirty="0" smtClean="0">
                <a:effectLst/>
                <a:latin typeface="fkGroteskNeue"/>
              </a:rPr>
            </a:br>
            <a:r>
              <a:rPr lang="en-US" b="0" i="0" dirty="0" smtClean="0">
                <a:effectLst/>
                <a:latin typeface="fkGroteskNeue"/>
              </a:rPr>
              <a:t>Presents the most common modern implementation. This setup nearly always oscillates as long as gm </a:t>
            </a:r>
            <a:r>
              <a:rPr lang="en-US" b="0" i="0" dirty="0" err="1" smtClean="0">
                <a:effectLst/>
                <a:latin typeface="fkGroteskNeue"/>
              </a:rPr>
              <a:t>Rp</a:t>
            </a:r>
            <a:r>
              <a:rPr lang="en-US" b="0" i="0" dirty="0" smtClean="0">
                <a:effectLst/>
                <a:latin typeface="fkGroteskNeue"/>
              </a:rPr>
              <a:t> ≥ 1 and biasing is correct.</a:t>
            </a:r>
          </a:p>
          <a:p>
            <a:r>
              <a:rPr lang="en-US" b="0" i="0" dirty="0" smtClean="0">
                <a:effectLst/>
                <a:latin typeface="fkGroteskNeue"/>
              </a:rPr>
              <a:t>Intuitive Takeaway:</a:t>
            </a:r>
            <a:br>
              <a:rPr lang="en-US" b="0" i="0" dirty="0" smtClean="0">
                <a:effectLst/>
                <a:latin typeface="fkGroteskNeue"/>
              </a:rPr>
            </a:br>
            <a:r>
              <a:rPr lang="en-US" b="0" i="0" dirty="0" smtClean="0">
                <a:effectLst/>
                <a:latin typeface="fkGroteskNeue"/>
              </a:rPr>
              <a:t>Cross-coupled LC oscillators are “fool-proof” because their symmetry, feedback, and operating point guarantee both reliable startup and large output swing</a:t>
            </a:r>
            <a:endParaRPr lang="en-US" b="0" i="0" dirty="0">
              <a:effectLst/>
              <a:latin typeface="fkGroteskNeue"/>
            </a:endParaRPr>
          </a:p>
        </p:txBody>
      </p:sp>
    </p:spTree>
    <p:extLst>
      <p:ext uri="{BB962C8B-B14F-4D97-AF65-F5344CB8AC3E}">
        <p14:creationId xmlns:p14="http://schemas.microsoft.com/office/powerpoint/2010/main" val="42376388"/>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Overall </a:t>
            </a:r>
            <a:r>
              <a:rPr lang="en-US" dirty="0" smtClean="0">
                <a:latin typeface="fkGrotesk"/>
              </a:rPr>
              <a:t>Takeaways</a:t>
            </a:r>
            <a:endParaRPr lang="en-US" dirty="0"/>
          </a:p>
        </p:txBody>
      </p:sp>
      <p:sp>
        <p:nvSpPr>
          <p:cNvPr id="3" name="Text Placeholder 2"/>
          <p:cNvSpPr>
            <a:spLocks noGrp="1"/>
          </p:cNvSpPr>
          <p:nvPr>
            <p:ph type="body" idx="1"/>
          </p:nvPr>
        </p:nvSpPr>
        <p:spPr>
          <a:xfrm>
            <a:off x="844550" y="1327353"/>
            <a:ext cx="10560050" cy="2769989"/>
          </a:xfrm>
        </p:spPr>
        <p:txBody>
          <a:bodyPr/>
          <a:lstStyle/>
          <a:p>
            <a:pPr marL="342900" indent="-342900" algn="l">
              <a:buFont typeface="Arial" panose="020B0604020202020204" pitchFamily="34" charset="0"/>
              <a:buChar char="•"/>
            </a:pPr>
            <a:r>
              <a:rPr lang="en-US" dirty="0" smtClean="0">
                <a:latin typeface="fkGroteskNeue"/>
              </a:rPr>
              <a:t>The </a:t>
            </a:r>
            <a:r>
              <a:rPr lang="en-US" dirty="0">
                <a:latin typeface="fkGroteskNeue"/>
              </a:rPr>
              <a:t>LC tanks filter abrupt switching into sinusoidal voltages: square current in, sine voltage out.</a:t>
            </a:r>
          </a:p>
          <a:p>
            <a:pPr marL="342900" indent="-342900" algn="l">
              <a:buFont typeface="Arial" panose="020B0604020202020204" pitchFamily="34" charset="0"/>
              <a:buChar char="•"/>
            </a:pPr>
            <a:r>
              <a:rPr lang="en-US" dirty="0">
                <a:latin typeface="fkGroteskNeue"/>
              </a:rPr>
              <a:t>Output swing is maximized not by device size, but by bias current and tank resistance, with simple relationships based on waveform harmonics.</a:t>
            </a:r>
          </a:p>
          <a:p>
            <a:pPr marL="342900" indent="-342900" algn="l">
              <a:buFont typeface="Arial" panose="020B0604020202020204" pitchFamily="34" charset="0"/>
              <a:buChar char="•"/>
            </a:pPr>
            <a:r>
              <a:rPr lang="en-US" dirty="0">
                <a:latin typeface="fkGroteskNeue"/>
              </a:rPr>
              <a:t>Proper feedback is essential—cross-coupling creates the necessary phase for startup and clean oscillation.</a:t>
            </a:r>
          </a:p>
          <a:p>
            <a:pPr marL="342900" indent="-342900" algn="l">
              <a:buFont typeface="Arial" panose="020B0604020202020204" pitchFamily="34" charset="0"/>
              <a:buChar char="•"/>
            </a:pPr>
            <a:r>
              <a:rPr lang="en-US" dirty="0">
                <a:latin typeface="fkGroteskNeue"/>
              </a:rPr>
              <a:t>These topologies balance biasing, symmetry, Q, and feedback to deliver the robust oscillators found in every serious PLL or RF system.</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843915979"/>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Lossless LC Tank—Natural </a:t>
            </a:r>
            <a:r>
              <a:rPr lang="en-US" dirty="0" smtClean="0">
                <a:latin typeface="fkGrotesk"/>
              </a:rPr>
              <a:t>Oscillation</a:t>
            </a:r>
            <a:endParaRPr lang="en-US" dirty="0"/>
          </a:p>
        </p:txBody>
      </p:sp>
      <p:sp>
        <p:nvSpPr>
          <p:cNvPr id="3" name="Text Placeholder 2"/>
          <p:cNvSpPr>
            <a:spLocks noGrp="1"/>
          </p:cNvSpPr>
          <p:nvPr>
            <p:ph type="body" idx="1"/>
          </p:nvPr>
        </p:nvSpPr>
        <p:spPr>
          <a:xfrm>
            <a:off x="560916" y="1356986"/>
            <a:ext cx="6004983" cy="5016758"/>
          </a:xfrm>
        </p:spPr>
        <p:txBody>
          <a:bodyPr/>
          <a:lstStyle/>
          <a:p>
            <a:pPr algn="just"/>
            <a:r>
              <a:rPr lang="en-US" dirty="0">
                <a:latin typeface="fkGrotesk"/>
              </a:rPr>
              <a:t> </a:t>
            </a:r>
            <a:r>
              <a:rPr lang="en-US" b="1" dirty="0" smtClean="0">
                <a:solidFill>
                  <a:srgbClr val="FF0000"/>
                </a:solidFill>
                <a:latin typeface="fkGroteskNeue"/>
              </a:rPr>
              <a:t>Concept</a:t>
            </a:r>
            <a:r>
              <a:rPr lang="en-US" b="1" dirty="0">
                <a:solidFill>
                  <a:srgbClr val="FF0000"/>
                </a:solidFill>
                <a:latin typeface="fkGroteskNeue"/>
              </a:rPr>
              <a:t>:</a:t>
            </a:r>
            <a:r>
              <a:rPr lang="en-US" dirty="0">
                <a:latin typeface="fkGroteskNeue"/>
              </a:rPr>
              <a:t> Shows a basic LC oscillator with a charged capacitor </a:t>
            </a:r>
            <a:r>
              <a:rPr lang="en-US" dirty="0" smtClean="0">
                <a:latin typeface="fkGroteskNeue"/>
              </a:rPr>
              <a:t>(</a:t>
            </a:r>
            <a:r>
              <a:rPr lang="en-US" i="1" dirty="0" smtClean="0">
                <a:latin typeface="KaTeX_Math"/>
              </a:rPr>
              <a:t>C</a:t>
            </a:r>
            <a:r>
              <a:rPr lang="en-US" dirty="0" smtClean="0">
                <a:latin typeface="KaTeX_Main"/>
              </a:rPr>
              <a:t>1</a:t>
            </a:r>
            <a:r>
              <a:rPr lang="en-US" dirty="0">
                <a:latin typeface="fkGroteskNeue"/>
              </a:rPr>
              <a:t>) and an inductor </a:t>
            </a:r>
            <a:r>
              <a:rPr lang="en-US" dirty="0" smtClean="0">
                <a:latin typeface="fkGroteskNeue"/>
              </a:rPr>
              <a:t>(</a:t>
            </a:r>
            <a:r>
              <a:rPr lang="en-US" i="1" dirty="0" smtClean="0">
                <a:latin typeface="KaTeX_Math"/>
              </a:rPr>
              <a:t>L</a:t>
            </a:r>
            <a:r>
              <a:rPr lang="en-US" dirty="0" smtClean="0">
                <a:latin typeface="KaTeX_Main"/>
              </a:rPr>
              <a:t>1</a:t>
            </a:r>
            <a:r>
              <a:rPr lang="en-US" dirty="0">
                <a:latin typeface="fkGroteskNeue"/>
              </a:rPr>
              <a:t>), no losses.</a:t>
            </a:r>
          </a:p>
          <a:p>
            <a:pPr marL="342900" indent="-342900" algn="just">
              <a:buFont typeface="Arial" panose="020B0604020202020204" pitchFamily="34" charset="0"/>
              <a:buChar char="•"/>
            </a:pPr>
            <a:r>
              <a:rPr lang="en-US" dirty="0">
                <a:latin typeface="fkGroteskNeue"/>
              </a:rPr>
              <a:t>Process:</a:t>
            </a:r>
          </a:p>
          <a:p>
            <a:pPr marL="742950" lvl="1" indent="-285750" algn="just">
              <a:buFont typeface="Arial" panose="020B0604020202020204" pitchFamily="34" charset="0"/>
              <a:buChar char="•"/>
            </a:pPr>
            <a:r>
              <a:rPr lang="en-US" dirty="0">
                <a:latin typeface="fkGroteskNeue"/>
              </a:rPr>
              <a:t>Initially, all energy is in the capacitor as electric energy </a:t>
            </a:r>
            <a:r>
              <a:rPr lang="en-US" dirty="0" smtClean="0">
                <a:latin typeface="fkGroteskNeue"/>
              </a:rPr>
              <a:t>(</a:t>
            </a:r>
            <a:r>
              <a:rPr lang="en-US" i="1" dirty="0" smtClean="0">
                <a:latin typeface="KaTeX_Math"/>
              </a:rPr>
              <a:t>V</a:t>
            </a:r>
            <a:r>
              <a:rPr lang="en-US" dirty="0" smtClean="0">
                <a:latin typeface="KaTeX_Main"/>
              </a:rPr>
              <a:t>0</a:t>
            </a:r>
            <a:r>
              <a:rPr lang="en-US" dirty="0">
                <a:latin typeface="fkGroteskNeue"/>
              </a:rPr>
              <a:t> across </a:t>
            </a:r>
            <a:r>
              <a:rPr lang="en-US" i="1" dirty="0" smtClean="0">
                <a:latin typeface="KaTeX_Math"/>
              </a:rPr>
              <a:t>C</a:t>
            </a:r>
            <a:r>
              <a:rPr lang="en-US" dirty="0" smtClean="0">
                <a:latin typeface="KaTeX_Main"/>
              </a:rPr>
              <a:t>1</a:t>
            </a:r>
            <a:r>
              <a:rPr lang="en-US" dirty="0">
                <a:latin typeface="fkGroteskNeue"/>
              </a:rPr>
              <a:t>).</a:t>
            </a:r>
          </a:p>
          <a:p>
            <a:pPr marL="742950" lvl="1" indent="-285750" algn="just">
              <a:buFont typeface="Arial" panose="020B0604020202020204" pitchFamily="34" charset="0"/>
              <a:buChar char="•"/>
            </a:pPr>
            <a:r>
              <a:rPr lang="en-US" dirty="0">
                <a:latin typeface="fkGroteskNeue"/>
              </a:rPr>
              <a:t>As the circuit is released, this energy converts to magnetic form in </a:t>
            </a:r>
            <a:r>
              <a:rPr lang="en-US" i="1" dirty="0" smtClean="0">
                <a:latin typeface="KaTeX_Math"/>
              </a:rPr>
              <a:t>L</a:t>
            </a:r>
            <a:r>
              <a:rPr lang="en-US" dirty="0" smtClean="0">
                <a:latin typeface="KaTeX_Main"/>
              </a:rPr>
              <a:t>1</a:t>
            </a:r>
            <a:r>
              <a:rPr lang="en-US" dirty="0">
                <a:latin typeface="fkGroteskNeue"/>
              </a:rPr>
              <a:t>, making current flow.</a:t>
            </a:r>
          </a:p>
          <a:p>
            <a:pPr marL="742950" lvl="1" indent="-285750" algn="just">
              <a:buFont typeface="Arial" panose="020B0604020202020204" pitchFamily="34" charset="0"/>
              <a:buChar char="•"/>
            </a:pPr>
            <a:r>
              <a:rPr lang="en-US" dirty="0">
                <a:latin typeface="fkGroteskNeue"/>
              </a:rPr>
              <a:t>The process reverses cyclically, swapping energy between C and L, causing sinusoidal voltage oscillation </a:t>
            </a:r>
            <a:r>
              <a:rPr lang="en-US" dirty="0" smtClean="0">
                <a:latin typeface="fkGroteskNeue"/>
              </a:rPr>
              <a:t>(</a:t>
            </a:r>
            <a:r>
              <a:rPr lang="en-US" i="1" dirty="0" err="1" smtClean="0">
                <a:latin typeface="KaTeX_Math"/>
              </a:rPr>
              <a:t>Vout</a:t>
            </a:r>
            <a:r>
              <a:rPr lang="en-US" dirty="0">
                <a:latin typeface="fkGroteskNeue"/>
              </a:rPr>
              <a:t>).</a:t>
            </a:r>
          </a:p>
          <a:p>
            <a:pPr marL="342900" indent="-342900" algn="l">
              <a:buFont typeface="Arial" panose="020B0604020202020204" pitchFamily="34" charset="0"/>
              <a:buChar char="•"/>
            </a:pPr>
            <a:r>
              <a:rPr lang="en-US" dirty="0">
                <a:latin typeface="fkGroteskNeue"/>
              </a:rPr>
              <a:t>Key Insight:</a:t>
            </a:r>
            <a:br>
              <a:rPr lang="en-US" dirty="0">
                <a:latin typeface="fkGroteskNeue"/>
              </a:rPr>
            </a:br>
            <a:r>
              <a:rPr lang="en-US" dirty="0">
                <a:latin typeface="fkGroteskNeue"/>
              </a:rPr>
              <a:t>In a perfect LC (no loss), this oscillation would continue forever. The voltage alternates smoothly, just like an </a:t>
            </a:r>
            <a:r>
              <a:rPr lang="en-US" dirty="0" err="1">
                <a:latin typeface="fkGroteskNeue"/>
              </a:rPr>
              <a:t>undamped</a:t>
            </a:r>
            <a:r>
              <a:rPr lang="en-US" dirty="0">
                <a:latin typeface="fkGroteskNeue"/>
              </a:rPr>
              <a:t> pendulum swinging back and forth</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649558" y="1254056"/>
            <a:ext cx="2895749" cy="2673487"/>
          </a:xfrm>
          <a:prstGeom prst="rect">
            <a:avLst/>
          </a:prstGeom>
        </p:spPr>
      </p:pic>
      <p:sp>
        <p:nvSpPr>
          <p:cNvPr id="8" name="Rectangle 7"/>
          <p:cNvSpPr/>
          <p:nvPr/>
        </p:nvSpPr>
        <p:spPr>
          <a:xfrm>
            <a:off x="7555870" y="4095978"/>
            <a:ext cx="3826689" cy="253916"/>
          </a:xfrm>
          <a:prstGeom prst="rect">
            <a:avLst/>
          </a:prstGeom>
        </p:spPr>
        <p:txBody>
          <a:bodyPr wrap="none">
            <a:spAutoFit/>
          </a:bodyPr>
          <a:lstStyle/>
          <a:p>
            <a:r>
              <a:rPr lang="en-US" sz="1050" b="1" i="0" u="none" strike="noStrike" baseline="0" dirty="0" smtClean="0">
                <a:solidFill>
                  <a:srgbClr val="FF0000"/>
                </a:solidFill>
                <a:latin typeface="T3Font_336"/>
              </a:rPr>
              <a:t>(a) Response of a lossless LC tank to an initial condition,</a:t>
            </a:r>
            <a:endParaRPr lang="en-US" sz="2800" b="1" dirty="0">
              <a:solidFill>
                <a:srgbClr val="FF0000"/>
              </a:solidFill>
            </a:endParaRPr>
          </a:p>
        </p:txBody>
      </p:sp>
    </p:spTree>
    <p:extLst>
      <p:ext uri="{BB962C8B-B14F-4D97-AF65-F5344CB8AC3E}">
        <p14:creationId xmlns:p14="http://schemas.microsoft.com/office/powerpoint/2010/main" val="3435715172"/>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err="1">
                <a:latin typeface="fkGrotesk"/>
              </a:rPr>
              <a:t>Lossy</a:t>
            </a:r>
            <a:r>
              <a:rPr lang="en-US" dirty="0">
                <a:latin typeface="fkGrotesk"/>
              </a:rPr>
              <a:t> LC Tank—Oscillation </a:t>
            </a:r>
            <a:r>
              <a:rPr lang="en-US" dirty="0" smtClean="0">
                <a:latin typeface="fkGrotesk"/>
              </a:rPr>
              <a:t>Decay</a:t>
            </a:r>
            <a:endParaRPr lang="en-US" dirty="0"/>
          </a:p>
        </p:txBody>
      </p:sp>
      <p:sp>
        <p:nvSpPr>
          <p:cNvPr id="3" name="Text Placeholder 2"/>
          <p:cNvSpPr>
            <a:spLocks noGrp="1"/>
          </p:cNvSpPr>
          <p:nvPr>
            <p:ph type="body" idx="1"/>
          </p:nvPr>
        </p:nvSpPr>
        <p:spPr>
          <a:xfrm>
            <a:off x="844550" y="1327353"/>
            <a:ext cx="5730875" cy="3877985"/>
          </a:xfrm>
        </p:spPr>
        <p:txBody>
          <a:bodyPr/>
          <a:lstStyle/>
          <a:p>
            <a:pPr algn="l"/>
            <a:r>
              <a:rPr lang="en-US" dirty="0">
                <a:latin typeface="fkGrotesk"/>
              </a:rPr>
              <a:t> </a:t>
            </a:r>
            <a:r>
              <a:rPr lang="en-US" dirty="0" smtClean="0">
                <a:latin typeface="fkGroteskNeue"/>
              </a:rPr>
              <a:t>Concept</a:t>
            </a:r>
            <a:r>
              <a:rPr lang="en-US" dirty="0">
                <a:latin typeface="fkGroteskNeue"/>
              </a:rPr>
              <a:t>: Adds a resistor </a:t>
            </a:r>
            <a:r>
              <a:rPr lang="en-US" dirty="0" smtClean="0">
                <a:latin typeface="fkGroteskNeue"/>
              </a:rPr>
              <a:t>(</a:t>
            </a:r>
            <a:r>
              <a:rPr lang="en-US" i="1" dirty="0" err="1" smtClean="0">
                <a:latin typeface="KaTeX_Math"/>
              </a:rPr>
              <a:t>Rp</a:t>
            </a:r>
            <a:r>
              <a:rPr lang="en-US" dirty="0">
                <a:latin typeface="fkGroteskNeue"/>
              </a:rPr>
              <a:t>) in parallel with the LC tank to model energy loss.</a:t>
            </a:r>
          </a:p>
          <a:p>
            <a:pPr marL="342900" indent="-342900" algn="l">
              <a:buFont typeface="Arial" panose="020B0604020202020204" pitchFamily="34" charset="0"/>
              <a:buChar char="•"/>
            </a:pPr>
            <a:r>
              <a:rPr lang="en-US" dirty="0">
                <a:latin typeface="fkGroteskNeue"/>
              </a:rPr>
              <a:t>Process:</a:t>
            </a:r>
          </a:p>
          <a:p>
            <a:pPr marL="742950" lvl="1" indent="-285750" algn="l">
              <a:buFont typeface="Arial" panose="020B0604020202020204" pitchFamily="34" charset="0"/>
              <a:buChar char="•"/>
            </a:pPr>
            <a:r>
              <a:rPr lang="en-US" dirty="0">
                <a:latin typeface="fkGroteskNeue"/>
              </a:rPr>
              <a:t>Some energy is now dissipated as heat each cycle.</a:t>
            </a:r>
          </a:p>
          <a:p>
            <a:pPr marL="742950" lvl="1" indent="-285750" algn="l">
              <a:buFont typeface="Arial" panose="020B0604020202020204" pitchFamily="34" charset="0"/>
              <a:buChar char="•"/>
            </a:pPr>
            <a:r>
              <a:rPr lang="en-US" dirty="0">
                <a:latin typeface="fkGroteskNeue"/>
              </a:rPr>
              <a:t>The amplitude of the oscillation </a:t>
            </a:r>
            <a:r>
              <a:rPr lang="en-US" dirty="0" smtClean="0">
                <a:latin typeface="fkGroteskNeue"/>
              </a:rPr>
              <a:t>(</a:t>
            </a:r>
            <a:r>
              <a:rPr lang="en-US" i="1" dirty="0" err="1" smtClean="0">
                <a:latin typeface="KaTeX_Math"/>
              </a:rPr>
              <a:t>Vout</a:t>
            </a:r>
            <a:r>
              <a:rPr lang="en-US" dirty="0">
                <a:latin typeface="fkGroteskNeue"/>
              </a:rPr>
              <a:t>) decreases with time (exponential decay).</a:t>
            </a:r>
          </a:p>
          <a:p>
            <a:pPr marL="342900" indent="-342900" algn="l">
              <a:buFont typeface="Arial" panose="020B0604020202020204" pitchFamily="34" charset="0"/>
              <a:buChar char="•"/>
            </a:pPr>
            <a:r>
              <a:rPr lang="en-US" dirty="0">
                <a:latin typeface="fkGroteskNeue"/>
              </a:rPr>
              <a:t>Key Insight:</a:t>
            </a:r>
            <a:br>
              <a:rPr lang="en-US" dirty="0">
                <a:latin typeface="fkGroteskNeue"/>
              </a:rPr>
            </a:br>
            <a:r>
              <a:rPr lang="en-US" dirty="0">
                <a:latin typeface="fkGroteskNeue"/>
              </a:rPr>
              <a:t>Like a pendulum slowed by air resistance, real LC tanks lose energy. Once released, oscillations will slowly die away unless energy is “tapped in” externally.</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660143" y="1265696"/>
            <a:ext cx="2883048" cy="2768742"/>
          </a:xfrm>
          <a:prstGeom prst="rect">
            <a:avLst/>
          </a:prstGeom>
        </p:spPr>
      </p:pic>
      <p:sp>
        <p:nvSpPr>
          <p:cNvPr id="8" name="Rectangle 7"/>
          <p:cNvSpPr/>
          <p:nvPr/>
        </p:nvSpPr>
        <p:spPr>
          <a:xfrm>
            <a:off x="8061380" y="4180645"/>
            <a:ext cx="2053767" cy="253916"/>
          </a:xfrm>
          <a:prstGeom prst="rect">
            <a:avLst/>
          </a:prstGeom>
        </p:spPr>
        <p:txBody>
          <a:bodyPr wrap="none">
            <a:spAutoFit/>
          </a:bodyPr>
          <a:lstStyle/>
          <a:p>
            <a:r>
              <a:rPr lang="en-US" sz="1050" b="1" dirty="0">
                <a:solidFill>
                  <a:srgbClr val="FF0000"/>
                </a:solidFill>
                <a:latin typeface="T3Font_336"/>
              </a:rPr>
              <a:t>R</a:t>
            </a:r>
            <a:r>
              <a:rPr lang="en-US" sz="1050" b="1" i="0" u="none" strike="noStrike" baseline="0" dirty="0" smtClean="0">
                <a:solidFill>
                  <a:srgbClr val="FF0000"/>
                </a:solidFill>
                <a:latin typeface="T3Font_336"/>
              </a:rPr>
              <a:t>esponse of a </a:t>
            </a:r>
            <a:r>
              <a:rPr lang="en-US" sz="1050" b="1" i="0" u="none" strike="noStrike" baseline="0" dirty="0" err="1" smtClean="0">
                <a:solidFill>
                  <a:srgbClr val="FF0000"/>
                </a:solidFill>
                <a:latin typeface="T3Font_336"/>
              </a:rPr>
              <a:t>lossy</a:t>
            </a:r>
            <a:r>
              <a:rPr lang="en-US" sz="1050" b="1" i="0" u="none" strike="noStrike" baseline="0" dirty="0" smtClean="0">
                <a:solidFill>
                  <a:srgbClr val="FF0000"/>
                </a:solidFill>
                <a:latin typeface="T3Font_336"/>
              </a:rPr>
              <a:t> LC tank,</a:t>
            </a:r>
            <a:endParaRPr lang="en-US" sz="2800" b="1" dirty="0">
              <a:solidFill>
                <a:srgbClr val="FF0000"/>
              </a:solidFill>
            </a:endParaRPr>
          </a:p>
        </p:txBody>
      </p:sp>
    </p:spTree>
    <p:extLst>
      <p:ext uri="{BB962C8B-B14F-4D97-AF65-F5344CB8AC3E}">
        <p14:creationId xmlns:p14="http://schemas.microsoft.com/office/powerpoint/2010/main" val="616176741"/>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0316" y="0"/>
            <a:ext cx="10593196" cy="1046440"/>
          </a:xfrm>
        </p:spPr>
        <p:txBody>
          <a:bodyPr/>
          <a:lstStyle/>
          <a:p>
            <a:r>
              <a:rPr lang="en-US" dirty="0">
                <a:latin typeface="fkGrotesk"/>
              </a:rPr>
              <a:t>Tapping the Tank—Sustained Oscillation with Negative </a:t>
            </a:r>
            <a:r>
              <a:rPr lang="en-US" dirty="0" smtClean="0">
                <a:latin typeface="fkGrotesk"/>
              </a:rPr>
              <a:t>Resistance</a:t>
            </a:r>
            <a:endParaRPr lang="en-US" dirty="0"/>
          </a:p>
        </p:txBody>
      </p:sp>
      <p:sp>
        <p:nvSpPr>
          <p:cNvPr id="3" name="Text Placeholder 2"/>
          <p:cNvSpPr>
            <a:spLocks noGrp="1"/>
          </p:cNvSpPr>
          <p:nvPr>
            <p:ph type="body" idx="1"/>
          </p:nvPr>
        </p:nvSpPr>
        <p:spPr>
          <a:xfrm>
            <a:off x="844550" y="1327353"/>
            <a:ext cx="5730875" cy="4493538"/>
          </a:xfrm>
        </p:spPr>
        <p:txBody>
          <a:bodyPr/>
          <a:lstStyle/>
          <a:p>
            <a:pPr marL="342900" indent="-342900" algn="l">
              <a:buFont typeface="Arial" panose="020B0604020202020204" pitchFamily="34" charset="0"/>
              <a:buChar char="•"/>
            </a:pPr>
            <a:r>
              <a:rPr lang="en-US" dirty="0" smtClean="0">
                <a:latin typeface="fkGroteskNeue"/>
              </a:rPr>
              <a:t>Concept</a:t>
            </a:r>
            <a:r>
              <a:rPr lang="en-US" dirty="0">
                <a:latin typeface="fkGroteskNeue"/>
              </a:rPr>
              <a:t>: Shows the addition of a negative resistance </a:t>
            </a:r>
            <a:r>
              <a:rPr lang="en-US" dirty="0" smtClean="0">
                <a:latin typeface="fkGroteskNeue"/>
              </a:rPr>
              <a:t>(</a:t>
            </a:r>
            <a:r>
              <a:rPr lang="en-US" dirty="0" smtClean="0">
                <a:latin typeface="KaTeX_Main"/>
              </a:rPr>
              <a:t>−</a:t>
            </a:r>
            <a:r>
              <a:rPr lang="en-US" i="1" dirty="0" err="1">
                <a:latin typeface="KaTeX_Math"/>
              </a:rPr>
              <a:t>Rp</a:t>
            </a:r>
            <a:r>
              <a:rPr lang="en-US" dirty="0">
                <a:latin typeface="fkGroteskNeue"/>
              </a:rPr>
              <a:t>) in parallel to the tank.</a:t>
            </a:r>
          </a:p>
          <a:p>
            <a:pPr marL="342900" indent="-342900" algn="l">
              <a:buFont typeface="Arial" panose="020B0604020202020204" pitchFamily="34" charset="0"/>
              <a:buChar char="•"/>
            </a:pPr>
            <a:r>
              <a:rPr lang="en-US" dirty="0">
                <a:latin typeface="fkGroteskNeue"/>
              </a:rPr>
              <a:t>Process:</a:t>
            </a:r>
          </a:p>
          <a:p>
            <a:pPr marL="742950" lvl="1" indent="-285750" algn="l">
              <a:buFont typeface="Arial" panose="020B0604020202020204" pitchFamily="34" charset="0"/>
              <a:buChar char="•"/>
            </a:pPr>
            <a:r>
              <a:rPr lang="en-US" dirty="0">
                <a:latin typeface="fkGroteskNeue"/>
              </a:rPr>
              <a:t>This negative resistance exactly cancels out the tank loss </a:t>
            </a:r>
            <a:r>
              <a:rPr lang="en-US" dirty="0" smtClean="0">
                <a:latin typeface="fkGroteskNeue"/>
              </a:rPr>
              <a:t>(</a:t>
            </a:r>
            <a:r>
              <a:rPr lang="en-US" i="1" dirty="0" err="1" smtClean="0">
                <a:latin typeface="KaTeX_Math"/>
              </a:rPr>
              <a:t>Rp</a:t>
            </a:r>
            <a:r>
              <a:rPr lang="en-US" dirty="0">
                <a:latin typeface="fkGroteskNeue"/>
              </a:rPr>
              <a:t>), so the circuit becomes lossless.</a:t>
            </a:r>
          </a:p>
          <a:p>
            <a:pPr marL="742950" lvl="1" indent="-285750" algn="l">
              <a:buFont typeface="Arial" panose="020B0604020202020204" pitchFamily="34" charset="0"/>
              <a:buChar char="•"/>
            </a:pPr>
            <a:r>
              <a:rPr lang="en-US" dirty="0">
                <a:latin typeface="fkGroteskNeue"/>
              </a:rPr>
              <a:t>The oscillation in </a:t>
            </a:r>
            <a:r>
              <a:rPr lang="en-US" i="1" dirty="0" err="1" smtClean="0">
                <a:latin typeface="KaTeX_Math"/>
              </a:rPr>
              <a:t>Vout</a:t>
            </a:r>
            <a:r>
              <a:rPr lang="en-US" dirty="0">
                <a:latin typeface="fkGroteskNeue"/>
              </a:rPr>
              <a:t> now remains steady (constant amplitude)—no more decay.</a:t>
            </a:r>
          </a:p>
          <a:p>
            <a:pPr marL="342900" indent="-342900" algn="l">
              <a:buFont typeface="Arial" panose="020B0604020202020204" pitchFamily="34" charset="0"/>
              <a:buChar char="•"/>
            </a:pPr>
            <a:r>
              <a:rPr lang="en-US" dirty="0">
                <a:latin typeface="fkGroteskNeue"/>
              </a:rPr>
              <a:t>Key Insight:</a:t>
            </a:r>
            <a:br>
              <a:rPr lang="en-US" dirty="0">
                <a:latin typeface="fkGroteskNeue"/>
              </a:rPr>
            </a:br>
            <a:r>
              <a:rPr lang="en-US" dirty="0">
                <a:latin typeface="fkGroteskNeue"/>
              </a:rPr>
              <a:t>Negative resistance is a “mathematical tap” that replenishes lost energy each cycle. In practical LC oscillators, an active circuit (like a cross-coupled transistor pair) supplies this negative resistance, allowing continuous, </a:t>
            </a:r>
            <a:r>
              <a:rPr lang="en-US" dirty="0" err="1">
                <a:latin typeface="fkGroteskNeue"/>
              </a:rPr>
              <a:t>undamped</a:t>
            </a:r>
            <a:r>
              <a:rPr lang="en-US" dirty="0">
                <a:latin typeface="fkGroteskNeue"/>
              </a:rPr>
              <a:t> oscillation.</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311933" y="1156683"/>
            <a:ext cx="3587934" cy="2902099"/>
          </a:xfrm>
          <a:prstGeom prst="rect">
            <a:avLst/>
          </a:prstGeom>
        </p:spPr>
      </p:pic>
      <p:sp>
        <p:nvSpPr>
          <p:cNvPr id="8" name="Rectangle 7"/>
          <p:cNvSpPr/>
          <p:nvPr/>
        </p:nvSpPr>
        <p:spPr>
          <a:xfrm>
            <a:off x="7480300" y="4127556"/>
            <a:ext cx="3306233" cy="246221"/>
          </a:xfrm>
          <a:prstGeom prst="rect">
            <a:avLst/>
          </a:prstGeom>
        </p:spPr>
        <p:txBody>
          <a:bodyPr wrap="square">
            <a:spAutoFit/>
          </a:bodyPr>
          <a:lstStyle/>
          <a:p>
            <a:r>
              <a:rPr lang="en-US" sz="1000" b="1" dirty="0">
                <a:solidFill>
                  <a:srgbClr val="FF0000"/>
                </a:solidFill>
                <a:latin typeface="T3Font_336"/>
              </a:rPr>
              <a:t>U</a:t>
            </a:r>
            <a:r>
              <a:rPr lang="en-US" sz="1000" b="1" i="0" u="none" strike="noStrike" baseline="0" dirty="0" smtClean="0">
                <a:solidFill>
                  <a:srgbClr val="FF0000"/>
                </a:solidFill>
                <a:latin typeface="T3Font_336"/>
              </a:rPr>
              <a:t>se of a</a:t>
            </a:r>
            <a:r>
              <a:rPr lang="en-US" sz="1000" b="1" i="0" u="none" strike="noStrike" dirty="0" smtClean="0">
                <a:solidFill>
                  <a:srgbClr val="FF0000"/>
                </a:solidFill>
                <a:latin typeface="T3Font_336"/>
              </a:rPr>
              <a:t> </a:t>
            </a:r>
            <a:r>
              <a:rPr lang="en-US" sz="1000" b="1" i="0" u="none" strike="noStrike" baseline="0" dirty="0" smtClean="0">
                <a:solidFill>
                  <a:srgbClr val="FF0000"/>
                </a:solidFill>
                <a:latin typeface="T3Font_336"/>
              </a:rPr>
              <a:t>negative resistance to sustain</a:t>
            </a:r>
            <a:r>
              <a:rPr lang="en-US" sz="1000" b="1" i="0" u="none" strike="noStrike" dirty="0" smtClean="0">
                <a:solidFill>
                  <a:srgbClr val="FF0000"/>
                </a:solidFill>
                <a:latin typeface="T3Font_336"/>
              </a:rPr>
              <a:t> </a:t>
            </a:r>
            <a:r>
              <a:rPr lang="en-US" sz="1000" b="1" i="0" u="none" strike="noStrike" baseline="0" dirty="0" smtClean="0">
                <a:solidFill>
                  <a:srgbClr val="FF0000"/>
                </a:solidFill>
                <a:latin typeface="T3Font_336"/>
              </a:rPr>
              <a:t>oscillation.</a:t>
            </a:r>
            <a:endParaRPr lang="en-US" sz="2400" b="1" dirty="0">
              <a:solidFill>
                <a:srgbClr val="FF0000"/>
              </a:solidFill>
            </a:endParaRPr>
          </a:p>
        </p:txBody>
      </p:sp>
    </p:spTree>
    <p:extLst>
      <p:ext uri="{BB962C8B-B14F-4D97-AF65-F5344CB8AC3E}">
        <p14:creationId xmlns:p14="http://schemas.microsoft.com/office/powerpoint/2010/main" val="1744080221"/>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Circuit Exhibiting Negative </a:t>
            </a:r>
            <a:r>
              <a:rPr lang="en-US" dirty="0" smtClean="0">
                <a:latin typeface="fkGrotesk"/>
              </a:rPr>
              <a:t>Resistance</a:t>
            </a:r>
            <a:endParaRPr lang="en-US" dirty="0"/>
          </a:p>
        </p:txBody>
      </p:sp>
      <p:sp>
        <p:nvSpPr>
          <p:cNvPr id="3" name="Text Placeholder 2"/>
          <p:cNvSpPr>
            <a:spLocks noGrp="1"/>
          </p:cNvSpPr>
          <p:nvPr>
            <p:ph type="body" idx="1"/>
          </p:nvPr>
        </p:nvSpPr>
        <p:spPr>
          <a:xfrm>
            <a:off x="844550" y="1327353"/>
            <a:ext cx="5907617" cy="5232202"/>
          </a:xfrm>
        </p:spPr>
        <p:txBody>
          <a:bodyPr/>
          <a:lstStyle/>
          <a:p>
            <a:pPr marL="342900" indent="-342900" algn="l">
              <a:buFont typeface="Arial" panose="020B0604020202020204" pitchFamily="34" charset="0"/>
              <a:buChar char="•"/>
            </a:pPr>
            <a:r>
              <a:rPr lang="en-US" dirty="0" smtClean="0">
                <a:latin typeface="fkGroteskNeue"/>
              </a:rPr>
              <a:t>Concept</a:t>
            </a:r>
            <a:r>
              <a:rPr lang="en-US" dirty="0">
                <a:latin typeface="fkGroteskNeue"/>
              </a:rPr>
              <a:t>:</a:t>
            </a:r>
            <a:br>
              <a:rPr lang="en-US" dirty="0">
                <a:latin typeface="fkGroteskNeue"/>
              </a:rPr>
            </a:br>
            <a:r>
              <a:rPr lang="en-US" dirty="0">
                <a:latin typeface="fkGroteskNeue"/>
              </a:rPr>
              <a:t>A MOS transistor </a:t>
            </a:r>
            <a:r>
              <a:rPr lang="en-US" dirty="0" smtClean="0">
                <a:latin typeface="fkGroteskNeue"/>
              </a:rPr>
              <a:t>(</a:t>
            </a:r>
            <a:r>
              <a:rPr lang="en-US" i="1" dirty="0" smtClean="0">
                <a:latin typeface="KaTeX_Math"/>
              </a:rPr>
              <a:t>M</a:t>
            </a:r>
            <a:r>
              <a:rPr lang="en-US" dirty="0" smtClean="0">
                <a:latin typeface="KaTeX_Main"/>
              </a:rPr>
              <a:t>1</a:t>
            </a:r>
            <a:r>
              <a:rPr lang="en-US" dirty="0">
                <a:latin typeface="fkGroteskNeue"/>
              </a:rPr>
              <a:t>) and two capacitors </a:t>
            </a:r>
            <a:r>
              <a:rPr lang="en-US" dirty="0" smtClean="0">
                <a:latin typeface="fkGroteskNeue"/>
              </a:rPr>
              <a:t>(</a:t>
            </a:r>
            <a:r>
              <a:rPr lang="en-US" i="1" dirty="0" smtClean="0">
                <a:latin typeface="KaTeX_Math"/>
              </a:rPr>
              <a:t>C</a:t>
            </a:r>
            <a:r>
              <a:rPr lang="en-US" dirty="0" smtClean="0">
                <a:latin typeface="KaTeX_Main"/>
              </a:rPr>
              <a:t>1</a:t>
            </a:r>
            <a:r>
              <a:rPr lang="en-US" dirty="0">
                <a:latin typeface="fkGroteskNeue"/>
              </a:rPr>
              <a:t>, </a:t>
            </a:r>
            <a:r>
              <a:rPr lang="en-US" i="1" dirty="0" smtClean="0">
                <a:latin typeface="KaTeX_Math"/>
              </a:rPr>
              <a:t>C</a:t>
            </a:r>
            <a:r>
              <a:rPr lang="en-US" dirty="0" smtClean="0">
                <a:latin typeface="KaTeX_Main"/>
              </a:rPr>
              <a:t>2</a:t>
            </a:r>
            <a:r>
              <a:rPr lang="en-US" dirty="0">
                <a:latin typeface="fkGroteskNeue"/>
              </a:rPr>
              <a:t>) arranged so current between X and Y can flow either direction. No DC ground for the source.</a:t>
            </a:r>
          </a:p>
          <a:p>
            <a:pPr marL="342900" indent="-342900" algn="l">
              <a:buFont typeface="Arial" panose="020B0604020202020204" pitchFamily="34" charset="0"/>
              <a:buChar char="•"/>
            </a:pPr>
            <a:r>
              <a:rPr lang="en-US" dirty="0">
                <a:latin typeface="fkGroteskNeue"/>
              </a:rPr>
              <a:t>Fundamental Insight:</a:t>
            </a:r>
            <a:br>
              <a:rPr lang="en-US" dirty="0">
                <a:latin typeface="fkGroteskNeue"/>
              </a:rPr>
            </a:br>
            <a:r>
              <a:rPr lang="en-US" dirty="0">
                <a:latin typeface="fkGroteskNeue"/>
              </a:rPr>
              <a:t>This structure can provide a negative resistance between X and Y (as the small-signal current flows “backward” to compensate losses in a resonator).</a:t>
            </a:r>
          </a:p>
          <a:p>
            <a:pPr marL="342900" indent="-342900" algn="l">
              <a:buFont typeface="Arial" panose="020B0604020202020204" pitchFamily="34" charset="0"/>
              <a:buChar char="•"/>
            </a:pPr>
            <a:r>
              <a:rPr lang="en-US" dirty="0">
                <a:latin typeface="fkGroteskNeue"/>
              </a:rPr>
              <a:t>Key Point:</a:t>
            </a:r>
            <a:br>
              <a:rPr lang="en-US" dirty="0">
                <a:latin typeface="fkGroteskNeue"/>
              </a:rPr>
            </a:br>
            <a:r>
              <a:rPr lang="en-US" dirty="0">
                <a:latin typeface="fkGroteskNeue"/>
              </a:rPr>
              <a:t>Negative resistance allows the circuit to actively offset tank losses, making continuous oscillation possible just like the cross-coupled pair—but through a different topology</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687732" y="1242403"/>
            <a:ext cx="3093601" cy="2661045"/>
          </a:xfrm>
          <a:prstGeom prst="rect">
            <a:avLst/>
          </a:prstGeom>
        </p:spPr>
      </p:pic>
      <p:sp>
        <p:nvSpPr>
          <p:cNvPr id="8" name="Rectangle 7"/>
          <p:cNvSpPr/>
          <p:nvPr/>
        </p:nvSpPr>
        <p:spPr>
          <a:xfrm>
            <a:off x="8065006" y="4074812"/>
            <a:ext cx="2606804" cy="253916"/>
          </a:xfrm>
          <a:prstGeom prst="rect">
            <a:avLst/>
          </a:prstGeom>
        </p:spPr>
        <p:txBody>
          <a:bodyPr wrap="none">
            <a:spAutoFit/>
          </a:bodyPr>
          <a:lstStyle/>
          <a:p>
            <a:r>
              <a:rPr lang="en-US" sz="1050" b="1" i="0" u="none" strike="noStrike" baseline="0" dirty="0" smtClean="0">
                <a:solidFill>
                  <a:srgbClr val="FF0000"/>
                </a:solidFill>
                <a:latin typeface="T3Font_347"/>
              </a:rPr>
              <a:t>Circuit exhibiting negative resistance.</a:t>
            </a:r>
            <a:endParaRPr lang="en-US" sz="2800" b="1" dirty="0">
              <a:solidFill>
                <a:srgbClr val="FF0000"/>
              </a:solidFill>
            </a:endParaRPr>
          </a:p>
        </p:txBody>
      </p:sp>
    </p:spTree>
    <p:extLst>
      <p:ext uri="{BB962C8B-B14F-4D97-AF65-F5344CB8AC3E}">
        <p14:creationId xmlns:p14="http://schemas.microsoft.com/office/powerpoint/2010/main" val="1730014173"/>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Basic Three-Point </a:t>
            </a:r>
            <a:r>
              <a:rPr lang="en-US" dirty="0" smtClean="0">
                <a:latin typeface="fkGrotesk"/>
              </a:rPr>
              <a:t>Oscillator</a:t>
            </a:r>
            <a:endParaRPr lang="en-US" dirty="0"/>
          </a:p>
        </p:txBody>
      </p:sp>
      <p:sp>
        <p:nvSpPr>
          <p:cNvPr id="3" name="Text Placeholder 2"/>
          <p:cNvSpPr>
            <a:spLocks noGrp="1"/>
          </p:cNvSpPr>
          <p:nvPr>
            <p:ph type="body" idx="1"/>
          </p:nvPr>
        </p:nvSpPr>
        <p:spPr>
          <a:xfrm>
            <a:off x="641350" y="1496687"/>
            <a:ext cx="5865283" cy="4616648"/>
          </a:xfrm>
        </p:spPr>
        <p:txBody>
          <a:bodyPr/>
          <a:lstStyle/>
          <a:p>
            <a:pPr marL="342900" indent="-342900" algn="l">
              <a:buFont typeface="Arial" panose="020B0604020202020204" pitchFamily="34" charset="0"/>
              <a:buChar char="•"/>
            </a:pPr>
            <a:r>
              <a:rPr lang="en-US" dirty="0" smtClean="0">
                <a:latin typeface="fkGroteskNeue"/>
              </a:rPr>
              <a:t>Concept</a:t>
            </a:r>
            <a:r>
              <a:rPr lang="en-US" dirty="0">
                <a:latin typeface="fkGroteskNeue"/>
              </a:rPr>
              <a:t>:</a:t>
            </a:r>
            <a:br>
              <a:rPr lang="en-US" dirty="0">
                <a:latin typeface="fkGroteskNeue"/>
              </a:rPr>
            </a:br>
            <a:r>
              <a:rPr lang="en-US" dirty="0">
                <a:latin typeface="fkGroteskNeue"/>
              </a:rPr>
              <a:t>Shows a tank with inductor </a:t>
            </a:r>
            <a:r>
              <a:rPr lang="en-US" dirty="0" smtClean="0">
                <a:latin typeface="fkGroteskNeue"/>
              </a:rPr>
              <a:t>(</a:t>
            </a:r>
            <a:r>
              <a:rPr lang="en-US" i="1" dirty="0" smtClean="0">
                <a:latin typeface="KaTeX_Math"/>
              </a:rPr>
              <a:t>L</a:t>
            </a:r>
            <a:r>
              <a:rPr lang="en-US" dirty="0" smtClean="0">
                <a:latin typeface="KaTeX_Main"/>
              </a:rPr>
              <a:t>1</a:t>
            </a:r>
            <a:r>
              <a:rPr lang="en-US" dirty="0">
                <a:latin typeface="fkGroteskNeue"/>
              </a:rPr>
              <a:t>), two capacitors </a:t>
            </a:r>
            <a:r>
              <a:rPr lang="en-US" dirty="0" smtClean="0">
                <a:latin typeface="fkGroteskNeue"/>
              </a:rPr>
              <a:t>(</a:t>
            </a:r>
            <a:r>
              <a:rPr lang="en-US" i="1" dirty="0" smtClean="0">
                <a:latin typeface="KaTeX_Math"/>
              </a:rPr>
              <a:t>C</a:t>
            </a:r>
            <a:r>
              <a:rPr lang="en-US" dirty="0" smtClean="0">
                <a:latin typeface="KaTeX_Main"/>
              </a:rPr>
              <a:t>1,</a:t>
            </a:r>
            <a:r>
              <a:rPr lang="en-US" i="1" dirty="0" smtClean="0">
                <a:latin typeface="KaTeX_Math"/>
              </a:rPr>
              <a:t>C</a:t>
            </a:r>
            <a:r>
              <a:rPr lang="en-US" dirty="0" smtClean="0">
                <a:latin typeface="KaTeX_Main"/>
              </a:rPr>
              <a:t>2</a:t>
            </a:r>
            <a:r>
              <a:rPr lang="en-US" dirty="0">
                <a:latin typeface="fkGroteskNeue"/>
              </a:rPr>
              <a:t>), and one MOS transistor across the tank.</a:t>
            </a:r>
          </a:p>
          <a:p>
            <a:pPr marL="342900" indent="-342900" algn="l">
              <a:buFont typeface="Arial" panose="020B0604020202020204" pitchFamily="34" charset="0"/>
              <a:buChar char="•"/>
            </a:pPr>
            <a:r>
              <a:rPr lang="en-US" dirty="0">
                <a:latin typeface="fkGroteskNeue"/>
              </a:rPr>
              <a:t>Key Step:</a:t>
            </a:r>
            <a:br>
              <a:rPr lang="en-US" dirty="0">
                <a:latin typeface="fkGroteskNeue"/>
              </a:rPr>
            </a:br>
            <a:r>
              <a:rPr lang="en-US" dirty="0">
                <a:latin typeface="fkGroteskNeue"/>
              </a:rPr>
              <a:t>This “three-point” configuration (“Hartley” or “</a:t>
            </a:r>
            <a:r>
              <a:rPr lang="en-US" dirty="0" err="1">
                <a:latin typeface="fkGroteskNeue"/>
              </a:rPr>
              <a:t>Colpitts</a:t>
            </a:r>
            <a:r>
              <a:rPr lang="en-US" dirty="0">
                <a:latin typeface="fkGroteskNeue"/>
              </a:rPr>
              <a:t>” oscillators, depending on node connected to ground) uses transformer-like feedback for oscillation.</a:t>
            </a:r>
          </a:p>
          <a:p>
            <a:pPr marL="342900" indent="-342900" algn="l">
              <a:buFont typeface="Arial" panose="020B0604020202020204" pitchFamily="34" charset="0"/>
              <a:buChar char="•"/>
            </a:pPr>
            <a:r>
              <a:rPr lang="en-US" dirty="0">
                <a:latin typeface="fkGroteskNeue"/>
              </a:rPr>
              <a:t>Physical Explanation:</a:t>
            </a:r>
            <a:br>
              <a:rPr lang="en-US" dirty="0">
                <a:latin typeface="fkGroteskNeue"/>
              </a:rPr>
            </a:br>
            <a:r>
              <a:rPr lang="en-US" dirty="0">
                <a:latin typeface="fkGroteskNeue"/>
              </a:rPr>
              <a:t>The combination of </a:t>
            </a:r>
            <a:r>
              <a:rPr lang="en-US" i="1" dirty="0" smtClean="0">
                <a:latin typeface="KaTeX_Math"/>
              </a:rPr>
              <a:t>C</a:t>
            </a:r>
            <a:r>
              <a:rPr lang="en-US" dirty="0" smtClean="0">
                <a:latin typeface="KaTeX_Main"/>
              </a:rPr>
              <a:t>1</a:t>
            </a:r>
            <a:r>
              <a:rPr lang="en-US" dirty="0">
                <a:latin typeface="fkGroteskNeue"/>
              </a:rPr>
              <a:t> and </a:t>
            </a:r>
            <a:r>
              <a:rPr lang="en-US" i="1" dirty="0" smtClean="0">
                <a:latin typeface="KaTeX_Math"/>
              </a:rPr>
              <a:t>C</a:t>
            </a:r>
            <a:r>
              <a:rPr lang="en-US" dirty="0" smtClean="0">
                <a:latin typeface="KaTeX_Main"/>
              </a:rPr>
              <a:t>2</a:t>
            </a:r>
            <a:r>
              <a:rPr lang="en-US" dirty="0">
                <a:latin typeface="fkGroteskNeue"/>
              </a:rPr>
              <a:t> divides tank voltage and provides the necessary phase shift between gate and source/drain, enabling negative resistance to appear at the critical point.</a:t>
            </a: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6819900" y="1921386"/>
            <a:ext cx="5210410" cy="1880231"/>
          </a:xfrm>
          <a:prstGeom prst="rect">
            <a:avLst/>
          </a:prstGeom>
        </p:spPr>
      </p:pic>
      <p:sp>
        <p:nvSpPr>
          <p:cNvPr id="8" name="Rectangle 7"/>
          <p:cNvSpPr/>
          <p:nvPr/>
        </p:nvSpPr>
        <p:spPr>
          <a:xfrm>
            <a:off x="6976533" y="1896533"/>
            <a:ext cx="2137834" cy="181186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9" name="Rectangle 8"/>
          <p:cNvSpPr/>
          <p:nvPr/>
        </p:nvSpPr>
        <p:spPr>
          <a:xfrm>
            <a:off x="385232" y="1248833"/>
            <a:ext cx="6206067" cy="470323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Tree>
    <p:extLst>
      <p:ext uri="{BB962C8B-B14F-4D97-AF65-F5344CB8AC3E}">
        <p14:creationId xmlns:p14="http://schemas.microsoft.com/office/powerpoint/2010/main" val="2196429313"/>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Equivalent Loss </a:t>
            </a:r>
            <a:r>
              <a:rPr lang="en-US" dirty="0" smtClean="0">
                <a:latin typeface="fkGrotesk"/>
              </a:rPr>
              <a:t>Model</a:t>
            </a:r>
            <a:endParaRPr lang="en-US" dirty="0"/>
          </a:p>
        </p:txBody>
      </p:sp>
      <p:sp>
        <p:nvSpPr>
          <p:cNvPr id="3" name="Text Placeholder 2"/>
          <p:cNvSpPr>
            <a:spLocks noGrp="1"/>
          </p:cNvSpPr>
          <p:nvPr>
            <p:ph type="body" idx="1"/>
          </p:nvPr>
        </p:nvSpPr>
        <p:spPr>
          <a:xfrm>
            <a:off x="844550" y="1327353"/>
            <a:ext cx="4976283" cy="3077766"/>
          </a:xfrm>
        </p:spPr>
        <p:txBody>
          <a:bodyPr/>
          <a:lstStyle/>
          <a:p>
            <a:pPr algn="l">
              <a:buFont typeface="Arial" panose="020B0604020202020204" pitchFamily="34" charset="0"/>
              <a:buChar char="•"/>
            </a:pPr>
            <a:r>
              <a:rPr lang="en-US" dirty="0" smtClean="0">
                <a:latin typeface="fkGroteskNeue"/>
              </a:rPr>
              <a:t>Insight</a:t>
            </a:r>
            <a:r>
              <a:rPr lang="en-US" dirty="0">
                <a:latin typeface="fkGroteskNeue"/>
              </a:rPr>
              <a:t>:</a:t>
            </a:r>
            <a:br>
              <a:rPr lang="en-US" dirty="0">
                <a:latin typeface="fkGroteskNeue"/>
              </a:rPr>
            </a:br>
            <a:r>
              <a:rPr lang="en-US" dirty="0">
                <a:latin typeface="fkGroteskNeue"/>
              </a:rPr>
              <a:t>Loss in </a:t>
            </a:r>
            <a:r>
              <a:rPr lang="en-US" i="1" dirty="0" smtClean="0">
                <a:latin typeface="KaTeX_Math"/>
              </a:rPr>
              <a:t>L</a:t>
            </a:r>
            <a:r>
              <a:rPr lang="en-US" dirty="0" smtClean="0">
                <a:latin typeface="KaTeX_Main"/>
              </a:rPr>
              <a:t>1</a:t>
            </a:r>
            <a:r>
              <a:rPr lang="en-US" dirty="0">
                <a:latin typeface="fkGroteskNeue"/>
              </a:rPr>
              <a:t> is modeled as series </a:t>
            </a:r>
            <a:r>
              <a:rPr lang="en-US" i="1" dirty="0" smtClean="0">
                <a:latin typeface="KaTeX_Math"/>
              </a:rPr>
              <a:t>RS</a:t>
            </a:r>
            <a:r>
              <a:rPr lang="en-US" dirty="0">
                <a:latin typeface="fkGroteskNeue"/>
              </a:rPr>
              <a:t>, and the active device provides negative resistance in parallel.</a:t>
            </a:r>
          </a:p>
          <a:p>
            <a:pPr algn="l">
              <a:buFont typeface="Arial" panose="020B0604020202020204" pitchFamily="34" charset="0"/>
              <a:buChar char="•"/>
            </a:pPr>
            <a:r>
              <a:rPr lang="en-US" dirty="0">
                <a:latin typeface="fkGroteskNeue"/>
              </a:rPr>
              <a:t>Startup Condition:</a:t>
            </a:r>
            <a:br>
              <a:rPr lang="en-US" dirty="0">
                <a:latin typeface="fkGroteskNeue"/>
              </a:rPr>
            </a:br>
            <a:r>
              <a:rPr lang="en-US" dirty="0">
                <a:latin typeface="fkGroteskNeue"/>
              </a:rPr>
              <a:t>Oscillation starts if the negative resistance magnitude is at least as large as the equivalent tank loss, which in this topology depends on the ratio  </a:t>
            </a:r>
            <a:r>
              <a:rPr lang="en-US" dirty="0" smtClean="0">
                <a:latin typeface="fkGroteskNeue"/>
              </a:rPr>
              <a:t>       and </a:t>
            </a:r>
            <a:r>
              <a:rPr lang="en-US" dirty="0">
                <a:latin typeface="fkGroteskNeue"/>
              </a:rPr>
              <a:t>the tank Q.</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3174985" y="3780358"/>
            <a:ext cx="592681" cy="338675"/>
          </a:xfrm>
          <a:prstGeom prst="rect">
            <a:avLst/>
          </a:prstGeom>
        </p:spPr>
      </p:pic>
      <p:pic>
        <p:nvPicPr>
          <p:cNvPr id="8" name="Picture 7"/>
          <p:cNvPicPr>
            <a:picLocks noChangeAspect="1"/>
          </p:cNvPicPr>
          <p:nvPr/>
        </p:nvPicPr>
        <p:blipFill>
          <a:blip r:embed="rId3"/>
          <a:stretch>
            <a:fillRect/>
          </a:stretch>
        </p:blipFill>
        <p:spPr>
          <a:xfrm>
            <a:off x="6921499" y="1976419"/>
            <a:ext cx="5210410" cy="1880231"/>
          </a:xfrm>
          <a:prstGeom prst="rect">
            <a:avLst/>
          </a:prstGeom>
        </p:spPr>
      </p:pic>
      <p:sp>
        <p:nvSpPr>
          <p:cNvPr id="9" name="Rectangle 8"/>
          <p:cNvSpPr/>
          <p:nvPr/>
        </p:nvSpPr>
        <p:spPr>
          <a:xfrm>
            <a:off x="9770533" y="2311401"/>
            <a:ext cx="2226734" cy="153246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10" name="Rectangle 9"/>
          <p:cNvSpPr/>
          <p:nvPr/>
        </p:nvSpPr>
        <p:spPr>
          <a:xfrm>
            <a:off x="385232" y="1248833"/>
            <a:ext cx="6206067" cy="3175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Tree>
    <p:extLst>
      <p:ext uri="{BB962C8B-B14F-4D97-AF65-F5344CB8AC3E}">
        <p14:creationId xmlns:p14="http://schemas.microsoft.com/office/powerpoint/2010/main" val="3257108446"/>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Three Practical Oscillator </a:t>
            </a:r>
            <a:r>
              <a:rPr lang="en-US" dirty="0" smtClean="0">
                <a:latin typeface="fkGrotesk"/>
              </a:rPr>
              <a:t>Realizations</a:t>
            </a:r>
            <a:endParaRPr lang="en-US" dirty="0"/>
          </a:p>
        </p:txBody>
      </p:sp>
      <p:sp>
        <p:nvSpPr>
          <p:cNvPr id="3" name="Text Placeholder 2"/>
          <p:cNvSpPr>
            <a:spLocks noGrp="1"/>
          </p:cNvSpPr>
          <p:nvPr>
            <p:ph type="body" idx="1"/>
          </p:nvPr>
        </p:nvSpPr>
        <p:spPr>
          <a:xfrm>
            <a:off x="857250" y="1111453"/>
            <a:ext cx="10936817" cy="1846659"/>
          </a:xfrm>
        </p:spPr>
        <p:txBody>
          <a:bodyPr/>
          <a:lstStyle/>
          <a:p>
            <a:pPr marL="342900" indent="-342900" algn="l">
              <a:buFont typeface="Arial" panose="020B0604020202020204" pitchFamily="34" charset="0"/>
              <a:buChar char="•"/>
            </a:pPr>
            <a:r>
              <a:rPr lang="en-US" dirty="0" smtClean="0">
                <a:latin typeface="fkGroteskNeue"/>
              </a:rPr>
              <a:t>(</a:t>
            </a:r>
            <a:r>
              <a:rPr lang="en-US" dirty="0">
                <a:latin typeface="fkGroteskNeue"/>
              </a:rPr>
              <a:t>a): Basic three-point with source grounded (often “Hartley” or “</a:t>
            </a:r>
            <a:r>
              <a:rPr lang="en-US" dirty="0" err="1">
                <a:latin typeface="fkGroteskNeue"/>
              </a:rPr>
              <a:t>Colpitts</a:t>
            </a:r>
            <a:r>
              <a:rPr lang="en-US" dirty="0">
                <a:latin typeface="fkGroteskNeue"/>
              </a:rPr>
              <a:t>”).</a:t>
            </a:r>
          </a:p>
          <a:p>
            <a:pPr marL="342900" indent="-342900" algn="l">
              <a:buFont typeface="Arial" panose="020B0604020202020204" pitchFamily="34" charset="0"/>
              <a:buChar char="•"/>
            </a:pPr>
            <a:r>
              <a:rPr lang="en-US" dirty="0">
                <a:latin typeface="fkGroteskNeue"/>
              </a:rPr>
              <a:t>(b): Adds a bias tail current for better stability and practical operation.</a:t>
            </a:r>
          </a:p>
          <a:p>
            <a:pPr marL="342900" indent="-342900" algn="l">
              <a:buFont typeface="Arial" panose="020B0604020202020204" pitchFamily="34" charset="0"/>
              <a:buChar char="•"/>
            </a:pPr>
            <a:r>
              <a:rPr lang="en-US" dirty="0">
                <a:latin typeface="fkGroteskNeue"/>
              </a:rPr>
              <a:t>(c): Swaps which node is grounded—the “</a:t>
            </a:r>
            <a:r>
              <a:rPr lang="en-US" dirty="0" err="1">
                <a:latin typeface="fkGroteskNeue"/>
              </a:rPr>
              <a:t>Colpitts</a:t>
            </a:r>
            <a:r>
              <a:rPr lang="en-US" dirty="0">
                <a:latin typeface="fkGroteskNeue"/>
              </a:rPr>
              <a:t> oscillator” is a classic.</a:t>
            </a:r>
          </a:p>
          <a:p>
            <a:pPr algn="l"/>
            <a:r>
              <a:rPr lang="en-US" dirty="0">
                <a:latin typeface="fkGroteskNeue"/>
              </a:rPr>
              <a:t>Key Intuition:</a:t>
            </a:r>
            <a:br>
              <a:rPr lang="en-US" dirty="0">
                <a:latin typeface="fkGroteskNeue"/>
              </a:rPr>
            </a:br>
            <a:r>
              <a:rPr lang="en-US" dirty="0">
                <a:latin typeface="fkGroteskNeue"/>
              </a:rPr>
              <a:t>Each of these is a special case of providing feedback with precise phase and gain; a negative resistance is synthesized at the active device’s terminals to cancel tank loss</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1883832" y="3011723"/>
            <a:ext cx="7550453" cy="2747097"/>
          </a:xfrm>
          <a:prstGeom prst="rect">
            <a:avLst/>
          </a:prstGeom>
        </p:spPr>
      </p:pic>
      <p:sp>
        <p:nvSpPr>
          <p:cNvPr id="8" name="Rectangle 7"/>
          <p:cNvSpPr/>
          <p:nvPr/>
        </p:nvSpPr>
        <p:spPr>
          <a:xfrm>
            <a:off x="3883650" y="5759679"/>
            <a:ext cx="3804055" cy="276999"/>
          </a:xfrm>
          <a:prstGeom prst="rect">
            <a:avLst/>
          </a:prstGeom>
        </p:spPr>
        <p:txBody>
          <a:bodyPr wrap="none">
            <a:spAutoFit/>
          </a:bodyPr>
          <a:lstStyle/>
          <a:p>
            <a:r>
              <a:rPr lang="en-US" sz="1200" b="1" i="0" u="none" strike="noStrike" baseline="0" dirty="0" smtClean="0">
                <a:solidFill>
                  <a:srgbClr val="FF0000"/>
                </a:solidFill>
                <a:latin typeface="T3Font_359"/>
              </a:rPr>
              <a:t>Oscillators derived from the three-point topology.</a:t>
            </a:r>
            <a:endParaRPr lang="en-US" sz="3600" b="1" dirty="0">
              <a:solidFill>
                <a:srgbClr val="FF0000"/>
              </a:solidFill>
            </a:endParaRPr>
          </a:p>
        </p:txBody>
      </p:sp>
    </p:spTree>
    <p:extLst>
      <p:ext uri="{BB962C8B-B14F-4D97-AF65-F5344CB8AC3E}">
        <p14:creationId xmlns:p14="http://schemas.microsoft.com/office/powerpoint/2010/main" val="1025039675"/>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Key Formula </a:t>
            </a:r>
            <a:r>
              <a:rPr lang="en-US" dirty="0" smtClean="0"/>
              <a:t>Connections</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24841" y="1279468"/>
            <a:ext cx="3919126" cy="1897052"/>
          </a:xfrm>
          <a:prstGeom prst="rect">
            <a:avLst/>
          </a:prstGeom>
        </p:spPr>
      </p:pic>
      <p:pic>
        <p:nvPicPr>
          <p:cNvPr id="8" name="Picture 7"/>
          <p:cNvPicPr>
            <a:picLocks noChangeAspect="1"/>
          </p:cNvPicPr>
          <p:nvPr/>
        </p:nvPicPr>
        <p:blipFill>
          <a:blip r:embed="rId3"/>
          <a:stretch>
            <a:fillRect/>
          </a:stretch>
        </p:blipFill>
        <p:spPr>
          <a:xfrm>
            <a:off x="6058843" y="1375796"/>
            <a:ext cx="4502381" cy="1447874"/>
          </a:xfrm>
          <a:prstGeom prst="rect">
            <a:avLst/>
          </a:prstGeom>
        </p:spPr>
      </p:pic>
      <p:sp>
        <p:nvSpPr>
          <p:cNvPr id="9" name="Rectangle 8"/>
          <p:cNvSpPr/>
          <p:nvPr/>
        </p:nvSpPr>
        <p:spPr>
          <a:xfrm>
            <a:off x="448733" y="3216470"/>
            <a:ext cx="11087100" cy="1200329"/>
          </a:xfrm>
          <a:prstGeom prst="rect">
            <a:avLst/>
          </a:prstGeom>
        </p:spPr>
        <p:txBody>
          <a:bodyPr wrap="square">
            <a:spAutoFit/>
          </a:bodyPr>
          <a:lstStyle/>
          <a:p>
            <a:pPr marL="285750" indent="-285750">
              <a:buFont typeface="Arial" panose="020B0604020202020204" pitchFamily="34" charset="0"/>
              <a:buChar char="•"/>
            </a:pPr>
            <a:r>
              <a:rPr lang="en-US" b="0" i="0" dirty="0" smtClean="0">
                <a:effectLst/>
                <a:latin typeface="fkGroteskNeue"/>
              </a:rPr>
              <a:t>Design Takeaway:</a:t>
            </a:r>
            <a:br>
              <a:rPr lang="en-US" b="0" i="0" dirty="0" smtClean="0">
                <a:effectLst/>
                <a:latin typeface="fkGroteskNeue"/>
              </a:rPr>
            </a:br>
            <a:r>
              <a:rPr lang="en-US" b="0" i="0" dirty="0" smtClean="0">
                <a:effectLst/>
                <a:latin typeface="fkGroteskNeue"/>
              </a:rPr>
              <a:t>For a given Q, this “three-point” oscillator requires more </a:t>
            </a:r>
            <a:r>
              <a:rPr lang="en-US" b="0" i="0" dirty="0" err="1" smtClean="0">
                <a:effectLst/>
                <a:latin typeface="fkGroteskNeue"/>
              </a:rPr>
              <a:t>transconductance</a:t>
            </a:r>
            <a:r>
              <a:rPr lang="en-US" b="0" i="0" dirty="0" smtClean="0">
                <a:effectLst/>
                <a:latin typeface="fkGroteskNeue"/>
              </a:rPr>
              <a:t> than the cross-coupled oscillator (minimum </a:t>
            </a:r>
            <a:r>
              <a:rPr lang="en-US" b="0" i="1" dirty="0" err="1" smtClean="0">
                <a:effectLst/>
                <a:latin typeface="KaTeX_Math"/>
              </a:rPr>
              <a:t>gmRp</a:t>
            </a:r>
            <a:r>
              <a:rPr lang="en-US" b="0" i="0" dirty="0" smtClean="0">
                <a:effectLst/>
                <a:latin typeface="KaTeX_Main"/>
              </a:rPr>
              <a:t>=4</a:t>
            </a:r>
            <a:r>
              <a:rPr lang="en-US" b="0" i="0" dirty="0" smtClean="0">
                <a:effectLst/>
                <a:latin typeface="fkGroteskNeue"/>
              </a:rPr>
              <a:t> for </a:t>
            </a:r>
            <a:r>
              <a:rPr lang="en-US" b="0" i="1" dirty="0" smtClean="0">
                <a:effectLst/>
                <a:latin typeface="KaTeX_Math"/>
              </a:rPr>
              <a:t>C</a:t>
            </a:r>
            <a:r>
              <a:rPr lang="en-US" b="0" i="0" dirty="0" smtClean="0">
                <a:effectLst/>
                <a:latin typeface="KaTeX_Main"/>
              </a:rPr>
              <a:t>1=</a:t>
            </a:r>
            <a:r>
              <a:rPr lang="en-US" b="0" i="1" dirty="0" smtClean="0">
                <a:effectLst/>
                <a:latin typeface="KaTeX_Math"/>
              </a:rPr>
              <a:t>C</a:t>
            </a:r>
            <a:r>
              <a:rPr lang="en-US" b="0" i="0" dirty="0" smtClean="0">
                <a:effectLst/>
                <a:latin typeface="KaTeX_Main"/>
              </a:rPr>
              <a:t>2</a:t>
            </a:r>
            <a:r>
              <a:rPr lang="en-US" b="0" i="0" dirty="0" smtClean="0">
                <a:effectLst/>
                <a:latin typeface="fkGroteskNeue"/>
              </a:rPr>
              <a:t>).</a:t>
            </a:r>
            <a:br>
              <a:rPr lang="en-US" b="0" i="0" dirty="0" smtClean="0">
                <a:effectLst/>
                <a:latin typeface="fkGroteskNeue"/>
              </a:rPr>
            </a:br>
            <a:r>
              <a:rPr lang="en-US" b="0" i="0" dirty="0" smtClean="0">
                <a:effectLst/>
                <a:latin typeface="fkGroteskNeue"/>
              </a:rPr>
              <a:t>The </a:t>
            </a:r>
            <a:r>
              <a:rPr lang="en-US" b="0" i="0" dirty="0" err="1" smtClean="0">
                <a:effectLst/>
                <a:latin typeface="fkGroteskNeue"/>
              </a:rPr>
              <a:t>Colpitts</a:t>
            </a:r>
            <a:r>
              <a:rPr lang="en-US" b="0" i="0" dirty="0" smtClean="0">
                <a:effectLst/>
                <a:latin typeface="fkGroteskNeue"/>
              </a:rPr>
              <a:t> and Hartley are robust but need careful component scaling.</a:t>
            </a:r>
            <a:endParaRPr lang="en-US" b="0" i="0" dirty="0">
              <a:effectLst/>
              <a:latin typeface="fkGroteskNeue"/>
            </a:endParaRPr>
          </a:p>
        </p:txBody>
      </p:sp>
      <p:sp>
        <p:nvSpPr>
          <p:cNvPr id="10" name="Rectangle 9"/>
          <p:cNvSpPr/>
          <p:nvPr/>
        </p:nvSpPr>
        <p:spPr>
          <a:xfrm>
            <a:off x="706967" y="4484638"/>
            <a:ext cx="10629899" cy="1477328"/>
          </a:xfrm>
          <a:prstGeom prst="rect">
            <a:avLst/>
          </a:prstGeom>
        </p:spPr>
        <p:txBody>
          <a:bodyPr wrap="square">
            <a:spAutoFit/>
          </a:bodyPr>
          <a:lstStyle/>
          <a:p>
            <a:r>
              <a:rPr lang="en-US" b="0" i="0" dirty="0" smtClean="0">
                <a:effectLst/>
                <a:latin typeface="fkGrotesk"/>
              </a:rPr>
              <a:t>Conceptual Summary</a:t>
            </a:r>
          </a:p>
          <a:p>
            <a:pPr marL="285750" indent="-285750">
              <a:buFont typeface="Arial" panose="020B0604020202020204" pitchFamily="34" charset="0"/>
              <a:buChar char="•"/>
            </a:pPr>
            <a:r>
              <a:rPr lang="en-US" b="0" i="0" dirty="0" smtClean="0">
                <a:effectLst/>
                <a:latin typeface="fkGroteskNeue"/>
              </a:rPr>
              <a:t>Any LC oscillator fundamentally works by generating negative resistance to cancel tank loss—this can be done by a variety of active circuit arrangements.</a:t>
            </a:r>
          </a:p>
          <a:p>
            <a:pPr marL="285750" indent="-285750">
              <a:buFont typeface="Arial" panose="020B0604020202020204" pitchFamily="34" charset="0"/>
              <a:buChar char="•"/>
            </a:pPr>
            <a:r>
              <a:rPr lang="en-US" b="0" i="0" dirty="0" smtClean="0">
                <a:effectLst/>
                <a:latin typeface="fkGroteskNeue"/>
              </a:rPr>
              <a:t>The placement and proportion of tank elements control startup, frequency, and voltage swing.</a:t>
            </a:r>
          </a:p>
          <a:p>
            <a:pPr marL="285750" indent="-285750">
              <a:buFont typeface="Arial" panose="020B0604020202020204" pitchFamily="34" charset="0"/>
              <a:buChar char="•"/>
            </a:pPr>
            <a:r>
              <a:rPr lang="en-US" b="0" i="0" dirty="0" smtClean="0">
                <a:effectLst/>
                <a:latin typeface="fkGroteskNeue"/>
              </a:rPr>
              <a:t>"Three-point" oscillators are the historical basis for many practical VCOs and still widely used in RF</a:t>
            </a:r>
            <a:endParaRPr lang="en-US" b="0" i="0" dirty="0">
              <a:effectLst/>
              <a:latin typeface="fkGroteskNeue"/>
            </a:endParaRPr>
          </a:p>
        </p:txBody>
      </p:sp>
    </p:spTree>
    <p:extLst>
      <p:ext uri="{BB962C8B-B14F-4D97-AF65-F5344CB8AC3E}">
        <p14:creationId xmlns:p14="http://schemas.microsoft.com/office/powerpoint/2010/main" val="3578548084"/>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Differential Oscillator from Three-Point </a:t>
            </a:r>
            <a:r>
              <a:rPr lang="en-US" dirty="0" smtClean="0">
                <a:latin typeface="fkGrotesk"/>
              </a:rPr>
              <a:t>Topology</a:t>
            </a:r>
            <a:endParaRPr lang="en-US" dirty="0"/>
          </a:p>
        </p:txBody>
      </p:sp>
      <p:sp>
        <p:nvSpPr>
          <p:cNvPr id="3" name="Text Placeholder 2"/>
          <p:cNvSpPr>
            <a:spLocks noGrp="1"/>
          </p:cNvSpPr>
          <p:nvPr>
            <p:ph type="body" idx="1"/>
          </p:nvPr>
        </p:nvSpPr>
        <p:spPr>
          <a:xfrm>
            <a:off x="844550" y="1327353"/>
            <a:ext cx="5357283" cy="4565352"/>
          </a:xfrm>
        </p:spPr>
        <p:txBody>
          <a:bodyPr/>
          <a:lstStyle/>
          <a:p>
            <a:pPr marL="342900" marR="0" lvl="0" indent="-342900">
              <a:spcBef>
                <a:spcPts val="525"/>
              </a:spcBef>
              <a:spcAft>
                <a:spcPts val="525"/>
              </a:spcAft>
              <a:buFont typeface="Symbol" panose="05050102010706020507" pitchFamily="18" charset="2"/>
              <a:buChar char=""/>
              <a:tabLst>
                <a:tab pos="571500" algn="l"/>
              </a:tabLst>
            </a:pPr>
            <a:r>
              <a:rPr lang="en-US" b="1" dirty="0">
                <a:solidFill>
                  <a:srgbClr val="000000"/>
                </a:solidFill>
                <a:latin typeface="inter"/>
                <a:ea typeface="inter"/>
                <a:cs typeface="inter"/>
              </a:rPr>
              <a:t>Concept:</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This shows a differential oscillator using two tanks and cross-coupled MOSFETs. Bias currents ensure steady-state operation.</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Symbol" panose="05050102010706020507" pitchFamily="18" charset="2"/>
              <a:buChar char=""/>
              <a:tabLst>
                <a:tab pos="571500" algn="l"/>
              </a:tabLst>
            </a:pPr>
            <a:r>
              <a:rPr lang="en-US" b="1" dirty="0">
                <a:solidFill>
                  <a:srgbClr val="000000"/>
                </a:solidFill>
                <a:latin typeface="inter"/>
                <a:ea typeface="inter"/>
                <a:cs typeface="inter"/>
              </a:rPr>
              <a:t>Fundamental Insight:</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Each side behaves like a one-port oscillator, and the resistor and inductor network creates the conditions for negative resistance and starts oscillation in both halves.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Symbol" panose="05050102010706020507" pitchFamily="18" charset="2"/>
              <a:buChar char=""/>
              <a:tabLst>
                <a:tab pos="571500" algn="l"/>
              </a:tabLst>
            </a:pPr>
            <a:r>
              <a:rPr lang="en-US" b="1" dirty="0">
                <a:solidFill>
                  <a:srgbClr val="000000"/>
                </a:solidFill>
                <a:latin typeface="inter"/>
                <a:ea typeface="inter"/>
                <a:cs typeface="inter"/>
              </a:rPr>
              <a:t>Key Point:</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The differential structure boosts symmetry, noise immunity, and output swing—making such designs ideal for clock and RF circuits.</a:t>
            </a:r>
            <a:endParaRPr lang="en-US" dirty="0">
              <a:latin typeface="Georgia" panose="02040502050405020303" pitchFamily="18" charset="0"/>
              <a:ea typeface="Calibri" panose="020F0502020204030204" pitchFamily="34" charset="0"/>
              <a:cs typeface="Times New Roman" panose="02020603050405020304" pitchFamily="18" charset="0"/>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182802" y="1101643"/>
            <a:ext cx="4134062" cy="3181514"/>
          </a:xfrm>
          <a:prstGeom prst="rect">
            <a:avLst/>
          </a:prstGeom>
        </p:spPr>
      </p:pic>
      <p:sp>
        <p:nvSpPr>
          <p:cNvPr id="8" name="Rectangle 7"/>
          <p:cNvSpPr/>
          <p:nvPr/>
        </p:nvSpPr>
        <p:spPr>
          <a:xfrm>
            <a:off x="7999747" y="4582812"/>
            <a:ext cx="3217547" cy="253916"/>
          </a:xfrm>
          <a:prstGeom prst="rect">
            <a:avLst/>
          </a:prstGeom>
        </p:spPr>
        <p:txBody>
          <a:bodyPr wrap="none">
            <a:spAutoFit/>
          </a:bodyPr>
          <a:lstStyle/>
          <a:p>
            <a:r>
              <a:rPr lang="en-US" sz="1050" b="1" i="0" u="none" strike="noStrike" baseline="0" dirty="0" smtClean="0">
                <a:solidFill>
                  <a:srgbClr val="FF0000"/>
                </a:solidFill>
                <a:latin typeface="T3Font_380"/>
              </a:rPr>
              <a:t>Differential oscillator derived from the topology</a:t>
            </a:r>
            <a:endParaRPr lang="en-US" sz="2800" b="1" dirty="0">
              <a:solidFill>
                <a:srgbClr val="FF0000"/>
              </a:solidFill>
            </a:endParaRPr>
          </a:p>
        </p:txBody>
      </p:sp>
    </p:spTree>
    <p:extLst>
      <p:ext uri="{BB962C8B-B14F-4D97-AF65-F5344CB8AC3E}">
        <p14:creationId xmlns:p14="http://schemas.microsoft.com/office/powerpoint/2010/main" val="4163384503"/>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3315" y="152400"/>
            <a:ext cx="11080751" cy="523220"/>
          </a:xfrm>
        </p:spPr>
        <p:txBody>
          <a:bodyPr/>
          <a:lstStyle/>
          <a:p>
            <a:r>
              <a:rPr lang="en-US" dirty="0">
                <a:latin typeface="fkGrotesk"/>
              </a:rPr>
              <a:t>VCO (Voltage-Controlled Oscillator) Tuning </a:t>
            </a:r>
            <a:r>
              <a:rPr lang="en-US" dirty="0" smtClean="0">
                <a:latin typeface="fkGrotesk"/>
              </a:rPr>
              <a:t>Characteristic</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6658610" cy="4193456"/>
              </a:xfrm>
            </p:spPr>
            <p:txBody>
              <a:bodyPr/>
              <a:lstStyle/>
              <a:p>
                <a:pPr marL="342900" marR="0" lvl="0" indent="-342900">
                  <a:lnSpc>
                    <a:spcPct val="150000"/>
                  </a:lnSpc>
                  <a:spcBef>
                    <a:spcPts val="525"/>
                  </a:spcBef>
                  <a:spcAft>
                    <a:spcPts val="525"/>
                  </a:spcAft>
                  <a:buFont typeface="Wingdings" panose="05000000000000000000" pitchFamily="2" charset="2"/>
                  <a:buChar char="q"/>
                  <a:tabLst>
                    <a:tab pos="571500" algn="l"/>
                  </a:tabLst>
                </a:pPr>
                <a:r>
                  <a:rPr lang="en-US" b="1" dirty="0">
                    <a:solidFill>
                      <a:srgbClr val="000000"/>
                    </a:solidFill>
                    <a:latin typeface="inter"/>
                    <a:ea typeface="inter"/>
                    <a:cs typeface="inter"/>
                  </a:rPr>
                  <a:t>Concept:</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Displays the relationship between control voltage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𝑐𝑜𝑛𝑡</m:t>
                        </m:r>
                      </m:sub>
                    </m:sSub>
                  </m:oMath>
                </a14:m>
                <a:r>
                  <a:rPr lang="en-US" dirty="0">
                    <a:solidFill>
                      <a:srgbClr val="000000"/>
                    </a:solidFill>
                    <a:latin typeface="inter"/>
                    <a:ea typeface="inter"/>
                    <a:cs typeface="inter"/>
                  </a:rPr>
                  <a:t> and output frequency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𝑜𝑢𝑡</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Wingdings" panose="05000000000000000000" pitchFamily="2" charset="2"/>
                  <a:buChar char="q"/>
                  <a:tabLst>
                    <a:tab pos="571500" algn="l"/>
                  </a:tabLst>
                </a:pPr>
                <a:r>
                  <a:rPr lang="en-US" b="1" dirty="0">
                    <a:solidFill>
                      <a:srgbClr val="000000"/>
                    </a:solidFill>
                    <a:latin typeface="inter"/>
                    <a:ea typeface="inter"/>
                    <a:cs typeface="inter"/>
                  </a:rPr>
                  <a:t>Fundamental Principle:</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The VCO’s frequency changes linearly with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𝑐𝑜𝑛𝑡</m:t>
                        </m:r>
                      </m:sub>
                    </m:sSub>
                  </m:oMath>
                </a14:m>
                <a:r>
                  <a:rPr lang="en-US" dirty="0">
                    <a:solidFill>
                      <a:srgbClr val="000000"/>
                    </a:solidFill>
                    <a:latin typeface="inter"/>
                    <a:ea typeface="inter"/>
                    <a:cs typeface="inter"/>
                  </a:rPr>
                  <a:t>, where the slope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𝐾</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𝑉𝐶𝑂</m:t>
                        </m:r>
                      </m:sub>
                    </m:sSub>
                  </m:oMath>
                </a14:m>
                <a:r>
                  <a:rPr lang="en-US" dirty="0">
                    <a:solidFill>
                      <a:srgbClr val="000000"/>
                    </a:solidFill>
                    <a:latin typeface="inter"/>
                    <a:ea typeface="inter"/>
                    <a:cs typeface="inter"/>
                  </a:rPr>
                  <a:t> is the “VCO gain.”</a:t>
                </a:r>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b="1" dirty="0">
                    <a:solidFill>
                      <a:srgbClr val="000000"/>
                    </a:solidFill>
                    <a:latin typeface="inter"/>
                    <a:ea typeface="inter"/>
                    <a:cs typeface="inter"/>
                  </a:rPr>
                  <a:t>Takeaway:</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This linear tuning curve allows precise electronic frequency control, enabling applications like PLLs (Phase-Locked Loops).</a:t>
                </a:r>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6658610" cy="4193456"/>
              </a:xfrm>
              <a:blipFill>
                <a:blip r:embed="rId2"/>
                <a:stretch>
                  <a:fillRect l="-2381" r="-3114" b="-2762"/>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3"/>
          <a:stretch>
            <a:fillRect/>
          </a:stretch>
        </p:blipFill>
        <p:spPr>
          <a:xfrm>
            <a:off x="7424113" y="1130216"/>
            <a:ext cx="3702240" cy="3276768"/>
          </a:xfrm>
          <a:prstGeom prst="rect">
            <a:avLst/>
          </a:prstGeom>
        </p:spPr>
      </p:pic>
      <p:sp>
        <p:nvSpPr>
          <p:cNvPr id="8" name="Rectangle 7"/>
          <p:cNvSpPr/>
          <p:nvPr/>
        </p:nvSpPr>
        <p:spPr>
          <a:xfrm>
            <a:off x="8440245" y="4540478"/>
            <a:ext cx="1952779" cy="261610"/>
          </a:xfrm>
          <a:prstGeom prst="rect">
            <a:avLst/>
          </a:prstGeom>
        </p:spPr>
        <p:txBody>
          <a:bodyPr wrap="none">
            <a:spAutoFit/>
          </a:bodyPr>
          <a:lstStyle/>
          <a:p>
            <a:r>
              <a:rPr lang="en-US" sz="1100" b="1" i="0" u="none" strike="noStrike" baseline="0" dirty="0" smtClean="0">
                <a:solidFill>
                  <a:srgbClr val="FF0000"/>
                </a:solidFill>
                <a:latin typeface="T3Font_380"/>
              </a:rPr>
              <a:t>VCO tuning characteristic.</a:t>
            </a:r>
            <a:endParaRPr lang="en-US" sz="3200" b="1" dirty="0">
              <a:solidFill>
                <a:srgbClr val="FF0000"/>
              </a:solidFill>
            </a:endParaRPr>
          </a:p>
        </p:txBody>
      </p:sp>
    </p:spTree>
    <p:extLst>
      <p:ext uri="{BB962C8B-B14F-4D97-AF65-F5344CB8AC3E}">
        <p14:creationId xmlns:p14="http://schemas.microsoft.com/office/powerpoint/2010/main" val="338885747"/>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Phase Growth with Time (VCO Output</a:t>
            </a:r>
            <a:r>
              <a:rPr lang="en-US" dirty="0" smtClean="0">
                <a:latin typeface="fkGrotesk"/>
              </a:rPr>
              <a: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698500" y="1155903"/>
                <a:ext cx="7424420" cy="3077766"/>
              </a:xfrm>
            </p:spPr>
            <p:txBody>
              <a:bodyPr/>
              <a:lstStyle/>
              <a:p>
                <a:pPr marL="342900" marR="0" lvl="0" indent="-342900">
                  <a:buFont typeface="Wingdings" panose="05000000000000000000" pitchFamily="2" charset="2"/>
                  <a:buChar char="q"/>
                  <a:tabLst>
                    <a:tab pos="571500" algn="l"/>
                  </a:tabLst>
                </a:pPr>
                <a:r>
                  <a:rPr lang="en-US" b="1" dirty="0">
                    <a:solidFill>
                      <a:srgbClr val="000000"/>
                    </a:solidFill>
                    <a:latin typeface="inter"/>
                    <a:ea typeface="inter"/>
                    <a:cs typeface="inter"/>
                  </a:rPr>
                  <a:t>Concept:</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Shows phase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oMath>
                </a14:m>
                <a:r>
                  <a:rPr lang="en-US" dirty="0">
                    <a:solidFill>
                      <a:srgbClr val="000000"/>
                    </a:solidFill>
                    <a:latin typeface="inter"/>
                    <a:ea typeface="inter"/>
                    <a:cs typeface="inter"/>
                  </a:rPr>
                  <a:t> versus time for a periodic VCO output.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b="1" dirty="0">
                    <a:solidFill>
                      <a:srgbClr val="000000"/>
                    </a:solidFill>
                    <a:latin typeface="inter"/>
                    <a:ea typeface="inter"/>
                    <a:cs typeface="inter"/>
                  </a:rPr>
                  <a:t>Foundational Insight:</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For a constant frequency, phase increases linearly—each crossing of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dirty="0">
                    <a:solidFill>
                      <a:srgbClr val="000000"/>
                    </a:solidFill>
                    <a:latin typeface="inter"/>
                    <a:ea typeface="inter"/>
                    <a:cs typeface="inter"/>
                  </a:rPr>
                  <a:t> sets the oscillation’s cycles.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b="1" dirty="0">
                    <a:solidFill>
                      <a:srgbClr val="000000"/>
                    </a:solidFill>
                    <a:latin typeface="inter"/>
                    <a:ea typeface="inter"/>
                    <a:cs typeface="inter"/>
                  </a:rPr>
                  <a:t>Key Point:</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In frequency/phase modulation, any control voltage change alters the slope (frequency), hence the rate at which phase grows.</a:t>
                </a:r>
                <a:endParaRPr lang="en-US"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698500" y="1155903"/>
                <a:ext cx="7424420" cy="3077766"/>
              </a:xfrm>
              <a:blipFill>
                <a:blip r:embed="rId2"/>
                <a:stretch>
                  <a:fillRect l="-1970" t="-2381"/>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3"/>
          <a:stretch>
            <a:fillRect/>
          </a:stretch>
        </p:blipFill>
        <p:spPr>
          <a:xfrm>
            <a:off x="8220001" y="1115427"/>
            <a:ext cx="2876698" cy="2159111"/>
          </a:xfrm>
          <a:prstGeom prst="rect">
            <a:avLst/>
          </a:prstGeom>
        </p:spPr>
      </p:pic>
      <p:sp>
        <p:nvSpPr>
          <p:cNvPr id="8" name="Rectangle 7"/>
          <p:cNvSpPr/>
          <p:nvPr/>
        </p:nvSpPr>
        <p:spPr>
          <a:xfrm>
            <a:off x="8809223" y="3321278"/>
            <a:ext cx="1899879" cy="253916"/>
          </a:xfrm>
          <a:prstGeom prst="rect">
            <a:avLst/>
          </a:prstGeom>
        </p:spPr>
        <p:txBody>
          <a:bodyPr wrap="none">
            <a:spAutoFit/>
          </a:bodyPr>
          <a:lstStyle/>
          <a:p>
            <a:r>
              <a:rPr lang="en-US" sz="1050" b="1" i="0" u="none" strike="noStrike" baseline="0" dirty="0" smtClean="0">
                <a:solidFill>
                  <a:srgbClr val="FF0000"/>
                </a:solidFill>
                <a:latin typeface="T3Font_380"/>
              </a:rPr>
              <a:t>Growth of phase with time.</a:t>
            </a:r>
            <a:endParaRPr lang="en-US" sz="2800" b="1" dirty="0">
              <a:solidFill>
                <a:srgbClr val="FF0000"/>
              </a:solidFill>
            </a:endParaRPr>
          </a:p>
        </p:txBody>
      </p:sp>
    </p:spTree>
    <p:extLst>
      <p:ext uri="{BB962C8B-B14F-4D97-AF65-F5344CB8AC3E}">
        <p14:creationId xmlns:p14="http://schemas.microsoft.com/office/powerpoint/2010/main" val="2616127906"/>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Key Equations—VCO </a:t>
            </a:r>
            <a:r>
              <a:rPr lang="en-US" dirty="0" smtClean="0">
                <a:latin typeface="fkGrotesk"/>
              </a:rPr>
              <a:t>Behavior</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590530" cy="2522614"/>
              </a:xfrm>
            </p:spPr>
            <p:txBody>
              <a:bodyPr/>
              <a:lstStyle/>
              <a:p>
                <a:pPr marL="342900" marR="0" lvl="0" indent="-342900">
                  <a:spcBef>
                    <a:spcPts val="525"/>
                  </a:spcBef>
                  <a:spcAft>
                    <a:spcPts val="525"/>
                  </a:spcAft>
                  <a:buFont typeface="Wingdings" panose="05000000000000000000" pitchFamily="2" charset="2"/>
                  <a:buChar char="q"/>
                  <a:tabLst>
                    <a:tab pos="571500" algn="l"/>
                  </a:tabLst>
                </a:pP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𝑜𝑢𝑡</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𝐾</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𝑉𝐶𝑂</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𝑐𝑜𝑛𝑡</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oMath>
                </a14:m>
                <a:r>
                  <a:rPr lang="en-US" dirty="0">
                    <a:solidFill>
                      <a:srgbClr val="000000"/>
                    </a:solidFill>
                    <a:latin typeface="inter"/>
                    <a:ea typeface="inter"/>
                    <a:cs typeface="inter"/>
                  </a:rPr>
                  <a:t>:</a:t>
                </a:r>
                <a:br>
                  <a:rPr lang="en-US" dirty="0">
                    <a:solidFill>
                      <a:srgbClr val="000000"/>
                    </a:solidFill>
                    <a:latin typeface="inter"/>
                    <a:ea typeface="inter"/>
                    <a:cs typeface="inter"/>
                  </a:rPr>
                </a:br>
                <a:r>
                  <a:rPr lang="en-US" dirty="0">
                    <a:solidFill>
                      <a:srgbClr val="000000"/>
                    </a:solidFill>
                    <a:latin typeface="inter"/>
                    <a:ea typeface="inter"/>
                    <a:cs typeface="inter"/>
                  </a:rPr>
                  <a:t>Describes how control voltage tunes output frequency.</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Wingdings" panose="05000000000000000000" pitchFamily="2" charset="2"/>
                  <a:buChar char="q"/>
                  <a:tabLst>
                    <a:tab pos="571500" algn="l"/>
                  </a:tabLst>
                </a:pP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𝑜𝑢𝑡</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cos</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𝜔</m:t>
                        </m:r>
                      </m:e>
                      <m: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𝐾</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𝑉𝐶𝑂</m:t>
                        </m:r>
                      </m:sub>
                    </m:sSub>
                    <m:nary>
                      <m:naryPr>
                        <m:limLoc m:val="undOvr"/>
                        <m:subHide m:val="on"/>
                        <m:sup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naryPr>
                      <m:sub/>
                      <m:sup/>
                      <m:e>
                        <m:r>
                          <a:rPr lang="en-US" i="1">
                            <a:latin typeface="Cambria Math" panose="02040503050406030204" pitchFamily="18" charset="0"/>
                            <a:ea typeface="Calibri" panose="020F0502020204030204" pitchFamily="34" charset="0"/>
                            <a:cs typeface="Times New Roman" panose="02020603050405020304" pitchFamily="18" charset="0"/>
                          </a:rPr>
                          <m:t> </m:t>
                        </m:r>
                      </m:e>
                    </m:nary>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𝑐𝑜𝑛𝑡</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𝑑𝑡</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dirty="0">
                    <a:solidFill>
                      <a:srgbClr val="000000"/>
                    </a:solidFill>
                    <a:latin typeface="inter"/>
                    <a:ea typeface="inter"/>
                    <a:cs typeface="inter"/>
                  </a:rPr>
                  <a:t>:</a:t>
                </a:r>
                <a:br>
                  <a:rPr lang="en-US" dirty="0">
                    <a:solidFill>
                      <a:srgbClr val="000000"/>
                    </a:solidFill>
                    <a:latin typeface="inter"/>
                    <a:ea typeface="inter"/>
                    <a:cs typeface="inter"/>
                  </a:rPr>
                </a:br>
                <a:r>
                  <a:rPr lang="en-US" dirty="0">
                    <a:solidFill>
                      <a:srgbClr val="000000"/>
                    </a:solidFill>
                    <a:latin typeface="inter"/>
                    <a:ea typeface="inter"/>
                    <a:cs typeface="inter"/>
                  </a:rPr>
                  <a:t>Shows frequency and phase are controlled by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𝑐𝑜𝑛𝑡</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Wingdings" panose="05000000000000000000" pitchFamily="2" charset="2"/>
                  <a:buChar char="q"/>
                  <a:tabLst>
                    <a:tab pos="571500" algn="l"/>
                  </a:tabLst>
                </a:pPr>
                <a:r>
                  <a:rPr lang="en-US" dirty="0">
                    <a:solidFill>
                      <a:srgbClr val="000000"/>
                    </a:solidFill>
                    <a:latin typeface="inter"/>
                    <a:ea typeface="inter"/>
                    <a:cs typeface="inter"/>
                  </a:rPr>
                  <a:t>“Excess phase”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𝑒𝑥</m:t>
                        </m:r>
                      </m:sub>
                    </m:sSub>
                  </m:oMath>
                </a14:m>
                <a:r>
                  <a:rPr lang="en-US" dirty="0">
                    <a:solidFill>
                      <a:srgbClr val="000000"/>
                    </a:solidFill>
                    <a:latin typeface="inter"/>
                    <a:ea typeface="inter"/>
                    <a:cs typeface="inter"/>
                  </a:rPr>
                  <a:t>) is directly proportional to the integral of the control voltage—essential for PLL theory and design.</a:t>
                </a:r>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590530" cy="2522614"/>
              </a:xfrm>
              <a:blipFill>
                <a:blip r:embed="rId2"/>
                <a:stretch>
                  <a:fillRect l="-1382" t="-2899" r="-1727"/>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642717871"/>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Summary of Concepts Across </a:t>
            </a:r>
            <a:r>
              <a:rPr lang="en-US" dirty="0" smtClean="0">
                <a:latin typeface="fkGrotesk"/>
              </a:rPr>
              <a:t>Figures</a:t>
            </a:r>
            <a:endParaRPr lang="en-US" dirty="0"/>
          </a:p>
        </p:txBody>
      </p:sp>
      <p:sp>
        <p:nvSpPr>
          <p:cNvPr id="3" name="Text Placeholder 2"/>
          <p:cNvSpPr>
            <a:spLocks noGrp="1"/>
          </p:cNvSpPr>
          <p:nvPr>
            <p:ph type="body" idx="1"/>
          </p:nvPr>
        </p:nvSpPr>
        <p:spPr>
          <a:xfrm>
            <a:off x="844550" y="1327353"/>
            <a:ext cx="10538883" cy="4013919"/>
          </a:xfrm>
        </p:spPr>
        <p:txBody>
          <a:bodyPr/>
          <a:lstStyle/>
          <a:p>
            <a:pPr marL="342900" marR="0" lvl="0" indent="-342900">
              <a:lnSpc>
                <a:spcPct val="150000"/>
              </a:lnSpc>
              <a:spcBef>
                <a:spcPts val="525"/>
              </a:spcBef>
              <a:spcAft>
                <a:spcPts val="525"/>
              </a:spcAft>
              <a:buFont typeface="Wingdings" panose="05000000000000000000" pitchFamily="2" charset="2"/>
              <a:buChar char="q"/>
              <a:tabLst>
                <a:tab pos="571500" algn="l"/>
              </a:tabLst>
            </a:pPr>
            <a:r>
              <a:rPr lang="en-US" b="1" dirty="0" smtClean="0">
                <a:solidFill>
                  <a:srgbClr val="000000"/>
                </a:solidFill>
                <a:latin typeface="inter"/>
                <a:ea typeface="inter"/>
                <a:cs typeface="inter"/>
              </a:rPr>
              <a:t>Three-point</a:t>
            </a:r>
            <a:r>
              <a:rPr lang="en-US" dirty="0" smtClean="0">
                <a:solidFill>
                  <a:srgbClr val="000000"/>
                </a:solidFill>
                <a:latin typeface="inter"/>
                <a:ea typeface="inter"/>
                <a:cs typeface="inter"/>
              </a:rPr>
              <a:t> </a:t>
            </a:r>
            <a:r>
              <a:rPr lang="en-US" dirty="0">
                <a:solidFill>
                  <a:srgbClr val="000000"/>
                </a:solidFill>
                <a:latin typeface="inter"/>
                <a:ea typeface="inter"/>
                <a:cs typeface="inter"/>
              </a:rPr>
              <a:t>and </a:t>
            </a:r>
            <a:r>
              <a:rPr lang="en-US" b="1" dirty="0">
                <a:solidFill>
                  <a:srgbClr val="000000"/>
                </a:solidFill>
                <a:latin typeface="inter"/>
                <a:ea typeface="inter"/>
                <a:cs typeface="inter"/>
              </a:rPr>
              <a:t>cross-coupled oscillators</a:t>
            </a:r>
            <a:r>
              <a:rPr lang="en-US" dirty="0">
                <a:solidFill>
                  <a:srgbClr val="000000"/>
                </a:solidFill>
                <a:latin typeface="inter"/>
                <a:ea typeface="inter"/>
                <a:cs typeface="inter"/>
              </a:rPr>
              <a:t> transform bias current and tank Q into clean, tunable oscillations.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Wingdings" panose="05000000000000000000" pitchFamily="2" charset="2"/>
              <a:buChar char="q"/>
              <a:tabLst>
                <a:tab pos="571500" algn="l"/>
              </a:tabLst>
            </a:pPr>
            <a:r>
              <a:rPr lang="en-US" b="1" dirty="0">
                <a:solidFill>
                  <a:srgbClr val="000000"/>
                </a:solidFill>
                <a:latin typeface="inter"/>
                <a:ea typeface="inter"/>
                <a:cs typeface="inter"/>
              </a:rPr>
              <a:t>VCOs</a:t>
            </a:r>
            <a:r>
              <a:rPr lang="en-US" dirty="0">
                <a:solidFill>
                  <a:srgbClr val="000000"/>
                </a:solidFill>
                <a:latin typeface="inter"/>
                <a:ea typeface="inter"/>
                <a:cs typeface="inter"/>
              </a:rPr>
              <a:t> use a voltage to set oscillation frequency, with phase and frequency tightly linked. This is fundamental to modern communication, clocking, and control systems.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Wingdings" panose="05000000000000000000" pitchFamily="2" charset="2"/>
              <a:buChar char="q"/>
              <a:tabLst>
                <a:tab pos="571500" algn="l"/>
              </a:tabLst>
            </a:pPr>
            <a:r>
              <a:rPr lang="en-US" b="1" dirty="0">
                <a:solidFill>
                  <a:srgbClr val="000000"/>
                </a:solidFill>
                <a:latin typeface="inter"/>
                <a:ea typeface="inter"/>
                <a:cs typeface="inter"/>
              </a:rPr>
              <a:t>Differential </a:t>
            </a:r>
            <a:r>
              <a:rPr lang="en-US" b="1" dirty="0" smtClean="0">
                <a:solidFill>
                  <a:srgbClr val="000000"/>
                </a:solidFill>
                <a:latin typeface="inter"/>
                <a:ea typeface="inter"/>
                <a:cs typeface="inter"/>
              </a:rPr>
              <a:t>designs</a:t>
            </a:r>
            <a:r>
              <a:rPr lang="en-US" dirty="0" smtClean="0">
                <a:solidFill>
                  <a:srgbClr val="000000"/>
                </a:solidFill>
                <a:latin typeface="inter"/>
                <a:ea typeface="inter"/>
                <a:cs typeface="inter"/>
              </a:rPr>
              <a:t> </a:t>
            </a:r>
            <a:r>
              <a:rPr lang="en-US" dirty="0">
                <a:solidFill>
                  <a:srgbClr val="000000"/>
                </a:solidFill>
                <a:latin typeface="inter"/>
                <a:ea typeface="inter"/>
                <a:cs typeface="inter"/>
              </a:rPr>
              <a:t>are preferred for noise/coupling immunity and double-ended signal swing.</a:t>
            </a:r>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dirty="0">
                <a:solidFill>
                  <a:srgbClr val="000000"/>
                </a:solidFill>
                <a:latin typeface="inter"/>
                <a:ea typeface="inter"/>
                <a:cs typeface="inter"/>
              </a:rPr>
              <a:t>These conceptual breakdowns show how oscillator circuits are built not just for generating a signal, but for precise, voltage-programmable frequency/phase control—fundamental to all PLLs and frequency synthesizers.</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751141233"/>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VCO Sensing a Square </a:t>
            </a:r>
            <a:r>
              <a:rPr lang="en-US" dirty="0" smtClean="0">
                <a:latin typeface="fkGrotesk"/>
              </a:rPr>
              <a:t>Wave</a:t>
            </a:r>
            <a:endParaRPr lang="en-US" dirty="0"/>
          </a:p>
        </p:txBody>
      </p:sp>
      <p:sp>
        <p:nvSpPr>
          <p:cNvPr id="3" name="Text Placeholder 2"/>
          <p:cNvSpPr>
            <a:spLocks noGrp="1"/>
          </p:cNvSpPr>
          <p:nvPr>
            <p:ph type="body" idx="1"/>
          </p:nvPr>
        </p:nvSpPr>
        <p:spPr>
          <a:xfrm>
            <a:off x="492981" y="3180006"/>
            <a:ext cx="11298803" cy="3046988"/>
          </a:xfrm>
        </p:spPr>
        <p:txBody>
          <a:bodyPr/>
          <a:lstStyle/>
          <a:p>
            <a:pPr marL="342900" indent="-342900" algn="l">
              <a:buFont typeface="Wingdings" panose="05000000000000000000" pitchFamily="2" charset="2"/>
              <a:buChar char="q"/>
            </a:pPr>
            <a:r>
              <a:rPr lang="en-US" b="1" dirty="0" smtClean="0">
                <a:solidFill>
                  <a:srgbClr val="C00000"/>
                </a:solidFill>
                <a:latin typeface="fkGroteskNeue"/>
              </a:rPr>
              <a:t>Concept</a:t>
            </a:r>
            <a:r>
              <a:rPr lang="en-US" b="1" dirty="0">
                <a:solidFill>
                  <a:srgbClr val="C00000"/>
                </a:solidFill>
                <a:latin typeface="fkGroteskNeue"/>
              </a:rPr>
              <a:t>:</a:t>
            </a:r>
            <a:r>
              <a:rPr lang="en-US" dirty="0">
                <a:latin typeface="fkGroteskNeue"/>
              </a:rPr>
              <a:t/>
            </a:r>
            <a:br>
              <a:rPr lang="en-US" dirty="0">
                <a:latin typeface="fkGroteskNeue"/>
              </a:rPr>
            </a:br>
            <a:r>
              <a:rPr lang="en-US" dirty="0">
                <a:latin typeface="fkGroteskNeue"/>
              </a:rPr>
              <a:t>The control voltage </a:t>
            </a:r>
            <a:r>
              <a:rPr lang="en-US" i="1" dirty="0" err="1" smtClean="0">
                <a:latin typeface="KaTeX_Math"/>
              </a:rPr>
              <a:t>V</a:t>
            </a:r>
            <a:r>
              <a:rPr lang="en-US" i="1" baseline="-25000" dirty="0" err="1" smtClean="0">
                <a:latin typeface="KaTeX_Math"/>
              </a:rPr>
              <a:t>cont</a:t>
            </a:r>
            <a:r>
              <a:rPr lang="en-US" dirty="0" smtClean="0">
                <a:latin typeface="KaTeX_Main"/>
              </a:rPr>
              <a:t>(</a:t>
            </a:r>
            <a:r>
              <a:rPr lang="en-US" i="1" dirty="0" smtClean="0">
                <a:latin typeface="KaTeX_Math"/>
              </a:rPr>
              <a:t>t</a:t>
            </a:r>
            <a:r>
              <a:rPr lang="en-US" dirty="0">
                <a:latin typeface="KaTeX_Main"/>
              </a:rPr>
              <a:t>)</a:t>
            </a:r>
            <a:r>
              <a:rPr lang="en-US" dirty="0">
                <a:latin typeface="fkGroteskNeue"/>
              </a:rPr>
              <a:t> is a square wave, alternating between </a:t>
            </a:r>
            <a:r>
              <a:rPr lang="en-US" dirty="0" smtClean="0">
                <a:latin typeface="KaTeX_Main"/>
              </a:rPr>
              <a:t>+</a:t>
            </a:r>
            <a:r>
              <a:rPr lang="en-US" i="1" dirty="0" smtClean="0">
                <a:latin typeface="KaTeX_Math"/>
              </a:rPr>
              <a:t>V</a:t>
            </a:r>
            <a:r>
              <a:rPr lang="en-US" baseline="-25000" dirty="0" smtClean="0">
                <a:latin typeface="KaTeX_Main"/>
              </a:rPr>
              <a:t>1</a:t>
            </a:r>
            <a:r>
              <a:rPr lang="en-US" dirty="0">
                <a:latin typeface="fkGroteskNeue"/>
              </a:rPr>
              <a:t> and </a:t>
            </a:r>
            <a:r>
              <a:rPr lang="en-US" dirty="0" smtClean="0">
                <a:latin typeface="KaTeX_Main"/>
              </a:rPr>
              <a:t>−</a:t>
            </a:r>
            <a:r>
              <a:rPr lang="en-US" i="1" dirty="0">
                <a:latin typeface="KaTeX_Math"/>
              </a:rPr>
              <a:t>V</a:t>
            </a:r>
            <a:r>
              <a:rPr lang="en-US" baseline="-25000" dirty="0">
                <a:latin typeface="KaTeX_Main"/>
              </a:rPr>
              <a:t>1</a:t>
            </a:r>
            <a:r>
              <a:rPr lang="en-US" dirty="0">
                <a:latin typeface="fkGroteskNeue"/>
              </a:rPr>
              <a:t> with </a:t>
            </a:r>
            <a:r>
              <a:rPr lang="en-US" dirty="0" smtClean="0">
                <a:latin typeface="fkGroteskNeue"/>
              </a:rPr>
              <a:t>period </a:t>
            </a:r>
            <a:r>
              <a:rPr lang="en-US" i="1" dirty="0" smtClean="0">
                <a:latin typeface="KaTeX_Math"/>
              </a:rPr>
              <a:t>T</a:t>
            </a:r>
            <a:r>
              <a:rPr lang="en-US" i="1" baseline="-25000" dirty="0" smtClean="0">
                <a:latin typeface="KaTeX_Math"/>
              </a:rPr>
              <a:t>m</a:t>
            </a:r>
            <a:r>
              <a:rPr lang="en-US" dirty="0" smtClean="0">
                <a:latin typeface="fkGroteskNeue"/>
              </a:rPr>
              <a:t>.</a:t>
            </a:r>
          </a:p>
          <a:p>
            <a:pPr marL="342900" indent="-342900" algn="l">
              <a:buFont typeface="Wingdings" panose="05000000000000000000" pitchFamily="2" charset="2"/>
              <a:buChar char="q"/>
            </a:pPr>
            <a:endParaRPr lang="en-US" dirty="0">
              <a:latin typeface="fkGroteskNeue"/>
            </a:endParaRPr>
          </a:p>
          <a:p>
            <a:pPr marL="342900" indent="-342900" algn="l">
              <a:buFont typeface="Wingdings" panose="05000000000000000000" pitchFamily="2" charset="2"/>
              <a:buChar char="q"/>
            </a:pPr>
            <a:r>
              <a:rPr lang="en-US" b="1" dirty="0">
                <a:solidFill>
                  <a:srgbClr val="C00000"/>
                </a:solidFill>
                <a:latin typeface="fkGroteskNeue"/>
              </a:rPr>
              <a:t>Key Behavior</a:t>
            </a:r>
            <a:r>
              <a:rPr lang="en-US" b="1" dirty="0" smtClean="0">
                <a:solidFill>
                  <a:srgbClr val="C00000"/>
                </a:solidFill>
                <a:latin typeface="fkGroteskNeue"/>
              </a:rPr>
              <a:t>:</a:t>
            </a:r>
          </a:p>
          <a:p>
            <a:pPr lvl="1" algn="l"/>
            <a:r>
              <a:rPr lang="en-US" dirty="0">
                <a:latin typeface="fkGroteskNeue"/>
              </a:rPr>
              <a:t/>
            </a:r>
            <a:br>
              <a:rPr lang="en-US" dirty="0">
                <a:latin typeface="fkGroteskNeue"/>
              </a:rPr>
            </a:br>
            <a:r>
              <a:rPr lang="en-US" sz="2000" dirty="0">
                <a:latin typeface="fkGroteskNeue"/>
              </a:rPr>
              <a:t>As </a:t>
            </a:r>
            <a:r>
              <a:rPr lang="en-US" sz="2000" i="1" dirty="0" err="1" smtClean="0">
                <a:latin typeface="KaTeX_Math"/>
              </a:rPr>
              <a:t>V</a:t>
            </a:r>
            <a:r>
              <a:rPr lang="en-US" sz="2000" i="1" baseline="-25000" dirty="0" err="1" smtClean="0">
                <a:latin typeface="KaTeX_Math"/>
              </a:rPr>
              <a:t>cont</a:t>
            </a:r>
            <a:r>
              <a:rPr lang="en-US" sz="2000" dirty="0" smtClean="0">
                <a:latin typeface="KaTeX_Main"/>
              </a:rPr>
              <a:t>(</a:t>
            </a:r>
            <a:r>
              <a:rPr lang="en-US" sz="2000" i="1" dirty="0" smtClean="0">
                <a:latin typeface="KaTeX_Math"/>
              </a:rPr>
              <a:t>t</a:t>
            </a:r>
            <a:r>
              <a:rPr lang="en-US" sz="2000" dirty="0">
                <a:latin typeface="KaTeX_Main"/>
              </a:rPr>
              <a:t>)</a:t>
            </a:r>
            <a:r>
              <a:rPr lang="en-US" sz="2000" dirty="0">
                <a:latin typeface="fkGroteskNeue"/>
              </a:rPr>
              <a:t> switches, the VCO’s output frequency shifts between two values:</a:t>
            </a:r>
          </a:p>
          <a:p>
            <a:pPr marL="1257300" lvl="2" indent="-342900" algn="l">
              <a:buFont typeface="Wingdings" panose="05000000000000000000" pitchFamily="2" charset="2"/>
              <a:buChar char="q"/>
            </a:pPr>
            <a:r>
              <a:rPr lang="en-US" sz="2000" dirty="0">
                <a:latin typeface="fkGroteskNeue"/>
              </a:rPr>
              <a:t>For </a:t>
            </a:r>
            <a:r>
              <a:rPr lang="en-US" sz="2000" dirty="0" smtClean="0">
                <a:latin typeface="KaTeX_Main"/>
              </a:rPr>
              <a:t>+</a:t>
            </a:r>
            <a:r>
              <a:rPr lang="en-US" sz="2000" i="1" dirty="0" smtClean="0">
                <a:latin typeface="KaTeX_Math"/>
              </a:rPr>
              <a:t>V</a:t>
            </a:r>
            <a:r>
              <a:rPr lang="en-US" sz="2000" baseline="-25000" dirty="0" smtClean="0">
                <a:latin typeface="KaTeX_Main"/>
              </a:rPr>
              <a:t>1</a:t>
            </a:r>
            <a:r>
              <a:rPr lang="en-US" sz="2000" dirty="0">
                <a:latin typeface="fkGroteskNeue"/>
              </a:rPr>
              <a:t>: </a:t>
            </a:r>
            <a:r>
              <a:rPr lang="el-GR" sz="2000" i="1" dirty="0" smtClean="0">
                <a:latin typeface="KaTeX_Math"/>
              </a:rPr>
              <a:t>ω</a:t>
            </a:r>
            <a:r>
              <a:rPr lang="en-US" sz="2000" i="1" baseline="-25000" dirty="0" smtClean="0">
                <a:latin typeface="KaTeX_Math"/>
              </a:rPr>
              <a:t>out</a:t>
            </a:r>
            <a:r>
              <a:rPr lang="en-US" sz="2000" i="1" dirty="0" smtClean="0">
                <a:latin typeface="KaTeX_Math"/>
              </a:rPr>
              <a:t> </a:t>
            </a:r>
            <a:r>
              <a:rPr lang="en-US" sz="2000" dirty="0" smtClean="0">
                <a:latin typeface="KaTeX_Main"/>
              </a:rPr>
              <a:t>= </a:t>
            </a:r>
            <a:r>
              <a:rPr lang="el-GR" sz="2000" i="1" dirty="0" smtClean="0">
                <a:latin typeface="KaTeX_Math"/>
              </a:rPr>
              <a:t>ω</a:t>
            </a:r>
            <a:r>
              <a:rPr lang="el-GR" sz="2000" baseline="-25000" dirty="0" smtClean="0">
                <a:latin typeface="KaTeX_Main"/>
              </a:rPr>
              <a:t>0</a:t>
            </a:r>
            <a:r>
              <a:rPr lang="el-GR" sz="2000" dirty="0" smtClean="0">
                <a:latin typeface="KaTeX_Main"/>
              </a:rPr>
              <a:t>+</a:t>
            </a:r>
            <a:r>
              <a:rPr lang="en-US" sz="2000" i="1" dirty="0">
                <a:latin typeface="KaTeX_Math"/>
              </a:rPr>
              <a:t>K</a:t>
            </a:r>
            <a:r>
              <a:rPr lang="en-US" sz="2000" i="1" baseline="-25000" dirty="0">
                <a:latin typeface="KaTeX_Math"/>
              </a:rPr>
              <a:t>VCO</a:t>
            </a:r>
            <a:r>
              <a:rPr lang="en-US" sz="2000" i="1" dirty="0">
                <a:latin typeface="KaTeX_Math"/>
              </a:rPr>
              <a:t>V</a:t>
            </a:r>
            <a:r>
              <a:rPr lang="en-US" sz="2000" baseline="-25000" dirty="0">
                <a:latin typeface="KaTeX_Main"/>
              </a:rPr>
              <a:t>1</a:t>
            </a:r>
            <a:endParaRPr lang="en-US" sz="2000" baseline="-25000" dirty="0">
              <a:latin typeface="fkGroteskNeue"/>
            </a:endParaRPr>
          </a:p>
          <a:p>
            <a:pPr marL="1257300" lvl="2" indent="-342900" algn="l">
              <a:buFont typeface="Wingdings" panose="05000000000000000000" pitchFamily="2" charset="2"/>
              <a:buChar char="q"/>
            </a:pPr>
            <a:r>
              <a:rPr lang="en-US" sz="2000" dirty="0">
                <a:latin typeface="fkGroteskNeue"/>
              </a:rPr>
              <a:t>For </a:t>
            </a:r>
            <a:r>
              <a:rPr lang="en-US" sz="2000" dirty="0" smtClean="0">
                <a:latin typeface="KaTeX_Main"/>
              </a:rPr>
              <a:t>−</a:t>
            </a:r>
            <a:r>
              <a:rPr lang="en-US" sz="2000" i="1" dirty="0">
                <a:latin typeface="KaTeX_Math"/>
              </a:rPr>
              <a:t>V</a:t>
            </a:r>
            <a:r>
              <a:rPr lang="en-US" sz="2000" baseline="-25000" dirty="0">
                <a:latin typeface="KaTeX_Main"/>
              </a:rPr>
              <a:t>1</a:t>
            </a:r>
            <a:r>
              <a:rPr lang="en-US" sz="2000" dirty="0">
                <a:latin typeface="fkGroteskNeue"/>
              </a:rPr>
              <a:t>: </a:t>
            </a:r>
            <a:r>
              <a:rPr lang="el-GR" sz="2000" i="1" dirty="0" smtClean="0">
                <a:latin typeface="KaTeX_Math"/>
              </a:rPr>
              <a:t>ω</a:t>
            </a:r>
            <a:r>
              <a:rPr lang="en-US" sz="2000" i="1" baseline="-25000" dirty="0" smtClean="0">
                <a:latin typeface="KaTeX_Math"/>
              </a:rPr>
              <a:t>out</a:t>
            </a:r>
            <a:r>
              <a:rPr lang="en-US" sz="2000" i="1" dirty="0" smtClean="0">
                <a:latin typeface="KaTeX_Math"/>
              </a:rPr>
              <a:t> </a:t>
            </a:r>
            <a:r>
              <a:rPr lang="en-US" sz="2000" dirty="0" smtClean="0">
                <a:latin typeface="KaTeX_Main"/>
              </a:rPr>
              <a:t>= </a:t>
            </a:r>
            <a:r>
              <a:rPr lang="el-GR" sz="2000" i="1" dirty="0" smtClean="0">
                <a:latin typeface="KaTeX_Math"/>
              </a:rPr>
              <a:t>ω</a:t>
            </a:r>
            <a:r>
              <a:rPr lang="el-GR" sz="2000" baseline="-25000" dirty="0" smtClean="0">
                <a:latin typeface="KaTeX_Main"/>
              </a:rPr>
              <a:t>0</a:t>
            </a:r>
            <a:r>
              <a:rPr lang="el-GR" sz="2000" dirty="0">
                <a:latin typeface="KaTeX_Main"/>
              </a:rPr>
              <a:t>−</a:t>
            </a:r>
            <a:r>
              <a:rPr lang="en-US" sz="2000" i="1" dirty="0">
                <a:latin typeface="KaTeX_Math"/>
              </a:rPr>
              <a:t>K</a:t>
            </a:r>
            <a:r>
              <a:rPr lang="en-US" sz="2000" i="1" baseline="-25000" dirty="0">
                <a:latin typeface="KaTeX_Math"/>
              </a:rPr>
              <a:t>VCO</a:t>
            </a:r>
            <a:r>
              <a:rPr lang="en-US" sz="2000" i="1" dirty="0">
                <a:latin typeface="KaTeX_Math"/>
              </a:rPr>
              <a:t>V</a:t>
            </a:r>
            <a:r>
              <a:rPr lang="en-US" sz="2000" baseline="-25000" dirty="0">
                <a:latin typeface="KaTeX_Main"/>
              </a:rPr>
              <a:t>1</a:t>
            </a:r>
            <a:r>
              <a:rPr lang="en-US" sz="2000" dirty="0">
                <a:latin typeface="fkGroteskNeue"/>
              </a:rPr>
              <a:t/>
            </a:r>
            <a:br>
              <a:rPr lang="en-US" sz="2000" dirty="0">
                <a:latin typeface="fkGroteskNeue"/>
              </a:rPr>
            </a:br>
            <a:r>
              <a:rPr lang="en-US" sz="2000" dirty="0">
                <a:latin typeface="fkGroteskNeue"/>
              </a:rPr>
              <a:t>This means the VCO toggles rapidly between two frequencies.</a:t>
            </a:r>
          </a:p>
          <a:p>
            <a:pPr algn="l"/>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l="1584" t="15116" r="39015" b="2696"/>
          <a:stretch/>
        </p:blipFill>
        <p:spPr>
          <a:xfrm>
            <a:off x="2235199" y="1158773"/>
            <a:ext cx="6900335" cy="2126815"/>
          </a:xfrm>
          <a:prstGeom prst="rect">
            <a:avLst/>
          </a:prstGeom>
        </p:spPr>
      </p:pic>
    </p:spTree>
    <p:extLst>
      <p:ext uri="{BB962C8B-B14F-4D97-AF65-F5344CB8AC3E}">
        <p14:creationId xmlns:p14="http://schemas.microsoft.com/office/powerpoint/2010/main" val="4255479591"/>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Output </a:t>
            </a:r>
            <a:r>
              <a:rPr lang="en-US" dirty="0" smtClean="0">
                <a:latin typeface="fkGrotesk"/>
              </a:rPr>
              <a:t>Waveform</a:t>
            </a:r>
            <a:endParaRPr lang="en-US" dirty="0"/>
          </a:p>
        </p:txBody>
      </p:sp>
      <p:sp>
        <p:nvSpPr>
          <p:cNvPr id="3" name="Text Placeholder 2"/>
          <p:cNvSpPr>
            <a:spLocks noGrp="1"/>
          </p:cNvSpPr>
          <p:nvPr>
            <p:ph type="body" idx="1"/>
          </p:nvPr>
        </p:nvSpPr>
        <p:spPr>
          <a:xfrm>
            <a:off x="844550" y="1327353"/>
            <a:ext cx="6160549" cy="2769989"/>
          </a:xfrm>
        </p:spPr>
        <p:txBody>
          <a:bodyPr/>
          <a:lstStyle/>
          <a:p>
            <a:pPr marL="342900" indent="-342900" algn="l">
              <a:buFont typeface="Wingdings" panose="05000000000000000000" pitchFamily="2" charset="2"/>
              <a:buChar char="q"/>
            </a:pPr>
            <a:r>
              <a:rPr lang="en-US" b="1" dirty="0" smtClean="0">
                <a:solidFill>
                  <a:srgbClr val="C00000"/>
                </a:solidFill>
                <a:latin typeface="fkGroteskNeue"/>
              </a:rPr>
              <a:t>Signal</a:t>
            </a:r>
            <a:r>
              <a:rPr lang="en-US" b="1" dirty="0">
                <a:solidFill>
                  <a:srgbClr val="C00000"/>
                </a:solidFill>
                <a:latin typeface="fkGroteskNeue"/>
              </a:rPr>
              <a:t>:</a:t>
            </a:r>
            <a:r>
              <a:rPr lang="en-US" dirty="0">
                <a:latin typeface="fkGroteskNeue"/>
              </a:rPr>
              <a:t/>
            </a:r>
            <a:br>
              <a:rPr lang="en-US" dirty="0">
                <a:latin typeface="fkGroteskNeue"/>
              </a:rPr>
            </a:br>
            <a:r>
              <a:rPr lang="en-US" dirty="0">
                <a:latin typeface="fkGroteskNeue"/>
              </a:rPr>
              <a:t>The output is a sinusoidal signal, but its frequency switches whenever </a:t>
            </a:r>
            <a:r>
              <a:rPr lang="en-US" i="1" dirty="0" err="1" smtClean="0">
                <a:latin typeface="KaTeX_Math"/>
              </a:rPr>
              <a:t>V</a:t>
            </a:r>
            <a:r>
              <a:rPr lang="en-US" i="1" baseline="-25000" dirty="0" err="1" smtClean="0">
                <a:latin typeface="KaTeX_Math"/>
              </a:rPr>
              <a:t>cont</a:t>
            </a:r>
            <a:r>
              <a:rPr lang="en-US" dirty="0" smtClean="0">
                <a:latin typeface="KaTeX_Main"/>
              </a:rPr>
              <a:t>(</a:t>
            </a:r>
            <a:r>
              <a:rPr lang="en-US" i="1" dirty="0" smtClean="0">
                <a:latin typeface="KaTeX_Math"/>
              </a:rPr>
              <a:t>t</a:t>
            </a:r>
            <a:r>
              <a:rPr lang="en-US" dirty="0">
                <a:latin typeface="KaTeX_Main"/>
              </a:rPr>
              <a:t>)</a:t>
            </a:r>
            <a:r>
              <a:rPr lang="en-US" dirty="0">
                <a:latin typeface="fkGroteskNeue"/>
              </a:rPr>
              <a:t> changes state.</a:t>
            </a:r>
          </a:p>
          <a:p>
            <a:pPr marL="342900" indent="-342900" algn="l">
              <a:buFont typeface="Wingdings" panose="05000000000000000000" pitchFamily="2" charset="2"/>
              <a:buChar char="q"/>
            </a:pPr>
            <a:r>
              <a:rPr lang="en-US" b="1" dirty="0">
                <a:solidFill>
                  <a:srgbClr val="C00000"/>
                </a:solidFill>
                <a:latin typeface="fkGroteskNeue"/>
              </a:rPr>
              <a:t>Impact:</a:t>
            </a:r>
            <a:r>
              <a:rPr lang="en-US" dirty="0">
                <a:latin typeface="fkGroteskNeue"/>
              </a:rPr>
              <a:t/>
            </a:r>
            <a:br>
              <a:rPr lang="en-US" dirty="0">
                <a:latin typeface="fkGroteskNeue"/>
              </a:rPr>
            </a:br>
            <a:r>
              <a:rPr lang="en-US" dirty="0">
                <a:latin typeface="fkGroteskNeue"/>
              </a:rPr>
              <a:t>During each half of the square wave period, the VCO frequency stays constant, resulting in different numbers of wiggles per interval depending on whether the VCO is at the “high” or “low” frequency.</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l="61310"/>
          <a:stretch/>
        </p:blipFill>
        <p:spPr>
          <a:xfrm>
            <a:off x="7840133" y="1551397"/>
            <a:ext cx="3966818" cy="2284002"/>
          </a:xfrm>
          <a:prstGeom prst="rect">
            <a:avLst/>
          </a:prstGeom>
        </p:spPr>
      </p:pic>
    </p:spTree>
    <p:extLst>
      <p:ext uri="{BB962C8B-B14F-4D97-AF65-F5344CB8AC3E}">
        <p14:creationId xmlns:p14="http://schemas.microsoft.com/office/powerpoint/2010/main" val="2991311460"/>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Total Output Phase </a:t>
            </a:r>
            <a:r>
              <a:rPr lang="en-US" i="1" dirty="0" smtClean="0">
                <a:latin typeface="KaTeX_Math"/>
              </a:rPr>
              <a:t>ϕ</a:t>
            </a:r>
            <a:r>
              <a:rPr lang="en-US" dirty="0" smtClean="0">
                <a:latin typeface="KaTeX_Main"/>
              </a:rPr>
              <a:t>(</a:t>
            </a:r>
            <a:r>
              <a:rPr lang="en-US" i="1" dirty="0" smtClean="0">
                <a:latin typeface="KaTeX_Math"/>
              </a:rPr>
              <a:t>t</a:t>
            </a:r>
            <a:r>
              <a:rPr lang="en-US" dirty="0" smtClean="0">
                <a:latin typeface="KaTeX_Main"/>
              </a:rPr>
              <a:t>)</a:t>
            </a:r>
            <a:endParaRPr lang="en-US" dirty="0"/>
          </a:p>
        </p:txBody>
      </p:sp>
      <p:sp>
        <p:nvSpPr>
          <p:cNvPr id="3" name="Text Placeholder 2"/>
          <p:cNvSpPr>
            <a:spLocks noGrp="1"/>
          </p:cNvSpPr>
          <p:nvPr>
            <p:ph type="body" idx="1"/>
          </p:nvPr>
        </p:nvSpPr>
        <p:spPr>
          <a:xfrm>
            <a:off x="844550" y="1327353"/>
            <a:ext cx="6239107" cy="3877985"/>
          </a:xfrm>
        </p:spPr>
        <p:txBody>
          <a:bodyPr/>
          <a:lstStyle/>
          <a:p>
            <a:pPr marL="342900" indent="-342900" algn="l">
              <a:buFont typeface="Wingdings" panose="05000000000000000000" pitchFamily="2" charset="2"/>
              <a:buChar char="q"/>
            </a:pPr>
            <a:r>
              <a:rPr lang="en-US" b="1" dirty="0" smtClean="0">
                <a:solidFill>
                  <a:srgbClr val="C00000"/>
                </a:solidFill>
                <a:latin typeface="fkGroteskNeue"/>
              </a:rPr>
              <a:t>What’s </a:t>
            </a:r>
            <a:r>
              <a:rPr lang="en-US" b="1" dirty="0">
                <a:solidFill>
                  <a:srgbClr val="C00000"/>
                </a:solidFill>
                <a:latin typeface="fkGroteskNeue"/>
              </a:rPr>
              <a:t>Shown:</a:t>
            </a:r>
            <a:r>
              <a:rPr lang="en-US" dirty="0">
                <a:latin typeface="fkGroteskNeue"/>
              </a:rPr>
              <a:t/>
            </a:r>
            <a:br>
              <a:rPr lang="en-US" dirty="0">
                <a:latin typeface="fkGroteskNeue"/>
              </a:rPr>
            </a:br>
            <a:r>
              <a:rPr lang="en-US" dirty="0">
                <a:latin typeface="fkGroteskNeue"/>
              </a:rPr>
              <a:t>Plots the phase accumulated by the VCO over time.</a:t>
            </a:r>
          </a:p>
          <a:p>
            <a:pPr marL="342900" indent="-342900" algn="l">
              <a:buFont typeface="Wingdings" panose="05000000000000000000" pitchFamily="2" charset="2"/>
              <a:buChar char="q"/>
            </a:pPr>
            <a:r>
              <a:rPr lang="en-US" b="1" dirty="0">
                <a:solidFill>
                  <a:srgbClr val="C00000"/>
                </a:solidFill>
                <a:latin typeface="fkGroteskNeue"/>
              </a:rPr>
              <a:t>Mechanism:</a:t>
            </a:r>
          </a:p>
          <a:p>
            <a:pPr marL="742950" lvl="1" indent="-285750" algn="l">
              <a:buFont typeface="Arial" panose="020B0604020202020204" pitchFamily="34" charset="0"/>
              <a:buChar char="•"/>
            </a:pPr>
            <a:r>
              <a:rPr lang="en-US" dirty="0">
                <a:latin typeface="fkGroteskNeue"/>
              </a:rPr>
              <a:t>For constant </a:t>
            </a:r>
            <a:r>
              <a:rPr lang="en-US" i="1" dirty="0" err="1" smtClean="0">
                <a:latin typeface="KaTeX_Math"/>
              </a:rPr>
              <a:t>V</a:t>
            </a:r>
            <a:r>
              <a:rPr lang="en-US" i="1" baseline="-25000" dirty="0" err="1" smtClean="0">
                <a:latin typeface="KaTeX_Math"/>
              </a:rPr>
              <a:t>cont</a:t>
            </a:r>
            <a:r>
              <a:rPr lang="en-US" dirty="0">
                <a:latin typeface="fkGroteskNeue"/>
              </a:rPr>
              <a:t>, phase grows as a straight line.</a:t>
            </a:r>
          </a:p>
          <a:p>
            <a:pPr marL="742950" lvl="1" indent="-285750" algn="just">
              <a:buFont typeface="Arial" panose="020B0604020202020204" pitchFamily="34" charset="0"/>
              <a:buChar char="•"/>
            </a:pPr>
            <a:r>
              <a:rPr lang="en-US" dirty="0">
                <a:latin typeface="fkGroteskNeue"/>
              </a:rPr>
              <a:t>When </a:t>
            </a:r>
            <a:r>
              <a:rPr lang="en-US" i="1" dirty="0" err="1" smtClean="0">
                <a:latin typeface="KaTeX_Math"/>
              </a:rPr>
              <a:t>V</a:t>
            </a:r>
            <a:r>
              <a:rPr lang="en-US" i="1" baseline="-25000" dirty="0" err="1" smtClean="0">
                <a:latin typeface="KaTeX_Math"/>
              </a:rPr>
              <a:t>cont</a:t>
            </a:r>
            <a:r>
              <a:rPr lang="en-US" dirty="0" smtClean="0">
                <a:latin typeface="KaTeX_Main"/>
              </a:rPr>
              <a:t>(</a:t>
            </a:r>
            <a:r>
              <a:rPr lang="en-US" i="1" dirty="0" smtClean="0">
                <a:latin typeface="KaTeX_Math"/>
              </a:rPr>
              <a:t>t</a:t>
            </a:r>
            <a:r>
              <a:rPr lang="en-US" dirty="0">
                <a:latin typeface="KaTeX_Main"/>
              </a:rPr>
              <a:t>)</a:t>
            </a:r>
            <a:r>
              <a:rPr lang="en-US" dirty="0">
                <a:latin typeface="fkGroteskNeue"/>
              </a:rPr>
              <a:t> toggles, the </a:t>
            </a:r>
            <a:r>
              <a:rPr lang="en-US" i="1" dirty="0">
                <a:latin typeface="fkGroteskNeue"/>
              </a:rPr>
              <a:t>slope</a:t>
            </a:r>
            <a:r>
              <a:rPr lang="en-US" dirty="0">
                <a:latin typeface="fkGroteskNeue"/>
              </a:rPr>
              <a:t> of phase (i.e., frequency) also toggles. So the phase trace is a series of piecewise linear segments with alternating slopes.</a:t>
            </a:r>
          </a:p>
          <a:p>
            <a:pPr marL="342900" indent="-342900" algn="l">
              <a:buFont typeface="Wingdings" panose="05000000000000000000" pitchFamily="2" charset="2"/>
              <a:buChar char="q"/>
            </a:pPr>
            <a:r>
              <a:rPr lang="en-US" b="1" dirty="0">
                <a:solidFill>
                  <a:srgbClr val="C00000"/>
                </a:solidFill>
                <a:latin typeface="fkGroteskNeue"/>
              </a:rPr>
              <a:t>Key Point:</a:t>
            </a:r>
            <a:r>
              <a:rPr lang="en-US" dirty="0">
                <a:latin typeface="fkGroteskNeue"/>
              </a:rPr>
              <a:t/>
            </a:r>
            <a:br>
              <a:rPr lang="en-US" dirty="0">
                <a:latin typeface="fkGroteskNeue"/>
              </a:rPr>
            </a:br>
            <a:r>
              <a:rPr lang="en-US" dirty="0">
                <a:latin typeface="fkGroteskNeue"/>
              </a:rPr>
              <a:t>Phase is the time-integral of frequency. Switching between two frequencies produces a “kinked” (but continuous) phase trajectory—ramp segments of different slopes.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536525" y="1565544"/>
            <a:ext cx="3745527" cy="2413862"/>
          </a:xfrm>
          <a:prstGeom prst="rect">
            <a:avLst/>
          </a:prstGeom>
        </p:spPr>
      </p:pic>
    </p:spTree>
    <p:extLst>
      <p:ext uri="{BB962C8B-B14F-4D97-AF65-F5344CB8AC3E}">
        <p14:creationId xmlns:p14="http://schemas.microsoft.com/office/powerpoint/2010/main" val="970024975"/>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Excess Phase </a:t>
            </a:r>
            <a:r>
              <a:rPr lang="en-US" i="1" dirty="0" err="1" smtClean="0">
                <a:latin typeface="KaTeX_Math"/>
              </a:rPr>
              <a:t>ϕ</a:t>
            </a:r>
            <a:r>
              <a:rPr lang="en-US" i="1" baseline="-25000" dirty="0" err="1" smtClean="0">
                <a:latin typeface="KaTeX_Math"/>
              </a:rPr>
              <a:t>ex</a:t>
            </a:r>
            <a:r>
              <a:rPr lang="en-US" dirty="0" smtClean="0">
                <a:latin typeface="KaTeX_Main"/>
              </a:rPr>
              <a:t>(</a:t>
            </a:r>
            <a:r>
              <a:rPr lang="en-US" i="1" dirty="0" smtClean="0">
                <a:latin typeface="KaTeX_Math"/>
              </a:rPr>
              <a:t>t</a:t>
            </a:r>
            <a:r>
              <a:rPr lang="en-US" dirty="0" smtClean="0">
                <a:latin typeface="KaTeX_Main"/>
              </a:rPr>
              <a:t>)</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graphicFrame>
        <p:nvGraphicFramePr>
          <p:cNvPr id="8" name="Table 7"/>
          <p:cNvGraphicFramePr>
            <a:graphicFrameLocks noGrp="1"/>
          </p:cNvGraphicFramePr>
          <p:nvPr>
            <p:extLst>
              <p:ext uri="{D42A27DB-BD31-4B8C-83A1-F6EECF244321}">
                <p14:modId xmlns:p14="http://schemas.microsoft.com/office/powerpoint/2010/main" val="2104446066"/>
              </p:ext>
            </p:extLst>
          </p:nvPr>
        </p:nvGraphicFramePr>
        <p:xfrm>
          <a:off x="532855" y="1221998"/>
          <a:ext cx="6778421" cy="3307080"/>
        </p:xfrm>
        <a:graphic>
          <a:graphicData uri="http://schemas.openxmlformats.org/drawingml/2006/table">
            <a:tbl>
              <a:tblPr firstRow="1" bandRow="1">
                <a:tableStyleId>{5940675A-B579-460E-94D1-54222C63F5DA}</a:tableStyleId>
              </a:tblPr>
              <a:tblGrid>
                <a:gridCol w="6778421">
                  <a:extLst>
                    <a:ext uri="{9D8B030D-6E8A-4147-A177-3AD203B41FA5}">
                      <a16:colId xmlns:a16="http://schemas.microsoft.com/office/drawing/2014/main" val="4160098982"/>
                    </a:ext>
                  </a:extLst>
                </a:gridCol>
              </a:tblGrid>
              <a:tr h="370840">
                <a:tc>
                  <a:txBody>
                    <a:bodyPr/>
                    <a:lstStyle/>
                    <a:p>
                      <a:pPr marL="285750" indent="-285750">
                        <a:buFont typeface="Wingdings" panose="05000000000000000000" pitchFamily="2" charset="2"/>
                        <a:buChar char="q"/>
                      </a:pPr>
                      <a:r>
                        <a:rPr lang="en-US" b="1" dirty="0" smtClean="0">
                          <a:solidFill>
                            <a:srgbClr val="C00000"/>
                          </a:solidFill>
                          <a:latin typeface="fkGroteskNeue"/>
                        </a:rPr>
                        <a:t>Definition:</a:t>
                      </a:r>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18447383"/>
                  </a:ext>
                </a:extLst>
              </a:tr>
              <a:tr h="370840">
                <a:tc>
                  <a:txBody>
                    <a:bodyPr/>
                    <a:lstStyle/>
                    <a:p>
                      <a:pPr marL="0" marR="0" indent="0" algn="just" defTabSz="914400" eaLnBrk="1" fontAlgn="auto" latinLnBrk="0" hangingPunct="1">
                        <a:lnSpc>
                          <a:spcPct val="100000"/>
                        </a:lnSpc>
                        <a:spcBef>
                          <a:spcPts val="0"/>
                        </a:spcBef>
                        <a:spcAft>
                          <a:spcPts val="0"/>
                        </a:spcAft>
                        <a:buClrTx/>
                        <a:buSzTx/>
                        <a:buFontTx/>
                        <a:buNone/>
                        <a:tabLst/>
                        <a:defRPr/>
                      </a:pPr>
                      <a:r>
                        <a:rPr lang="en-US" dirty="0" smtClean="0">
                          <a:latin typeface="fkGroteskNeue"/>
                        </a:rPr>
                        <a:t>Excess phase is just the </a:t>
                      </a:r>
                      <a:r>
                        <a:rPr lang="en-US" i="1" dirty="0" smtClean="0">
                          <a:latin typeface="fkGroteskNeue"/>
                        </a:rPr>
                        <a:t>additional</a:t>
                      </a:r>
                      <a:r>
                        <a:rPr lang="en-US" dirty="0" smtClean="0">
                          <a:latin typeface="fkGroteskNeue"/>
                        </a:rPr>
                        <a:t> phase above what would be accumulated if frequency was always at </a:t>
                      </a:r>
                      <a:r>
                        <a:rPr lang="en-US" i="1" dirty="0" smtClean="0">
                          <a:latin typeface="KaTeX_Math"/>
                        </a:rPr>
                        <a:t>ω</a:t>
                      </a:r>
                      <a:r>
                        <a:rPr lang="en-US" baseline="-25000" dirty="0" smtClean="0">
                          <a:latin typeface="KaTeX_Main"/>
                        </a:rPr>
                        <a:t>0</a:t>
                      </a:r>
                      <a:r>
                        <a:rPr lang="en-US" dirty="0" smtClean="0">
                          <a:latin typeface="fkGroteskNeue"/>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58576301"/>
                  </a:ext>
                </a:extLst>
              </a:tr>
              <a:tr h="370840">
                <a:tc>
                  <a:txBody>
                    <a:bodyPr/>
                    <a:lstStyle/>
                    <a:p>
                      <a:pPr marL="285750" indent="-285750">
                        <a:buFont typeface="Wingdings" panose="05000000000000000000" pitchFamily="2" charset="2"/>
                        <a:buChar char="q"/>
                      </a:pPr>
                      <a:r>
                        <a:rPr lang="en-US" b="1" dirty="0" smtClean="0">
                          <a:solidFill>
                            <a:srgbClr val="C00000"/>
                          </a:solidFill>
                          <a:latin typeface="fkGroteskNeue"/>
                        </a:rPr>
                        <a:t>Shape:</a:t>
                      </a:r>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13401625"/>
                  </a:ext>
                </a:extLst>
              </a:tr>
              <a:tr h="370840">
                <a:tc>
                  <a:txBody>
                    <a:bodyPr/>
                    <a:lstStyle/>
                    <a:p>
                      <a:pPr marL="0" marR="0" indent="0" algn="just" defTabSz="914400" eaLnBrk="1" fontAlgn="auto" latinLnBrk="0" hangingPunct="1">
                        <a:lnSpc>
                          <a:spcPct val="100000"/>
                        </a:lnSpc>
                        <a:spcBef>
                          <a:spcPts val="0"/>
                        </a:spcBef>
                        <a:spcAft>
                          <a:spcPts val="0"/>
                        </a:spcAft>
                        <a:buClrTx/>
                        <a:buSzTx/>
                        <a:buFontTx/>
                        <a:buNone/>
                        <a:tabLst/>
                        <a:defRPr/>
                      </a:pPr>
                      <a:r>
                        <a:rPr lang="en-US" dirty="0" smtClean="0">
                          <a:latin typeface="fkGroteskNeue"/>
                        </a:rPr>
                        <a:t>For a square wave input, excess phase forms a triangle (a triangular waveform).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59705037"/>
                  </a:ext>
                </a:extLst>
              </a:tr>
              <a:tr h="370840">
                <a:tc>
                  <a:txBody>
                    <a:bodyPr/>
                    <a:lstStyle/>
                    <a:p>
                      <a:pPr marL="285750" indent="-285750">
                        <a:buFont typeface="Wingdings" panose="05000000000000000000" pitchFamily="2" charset="2"/>
                        <a:buChar char="q"/>
                      </a:pPr>
                      <a:r>
                        <a:rPr lang="en-US" b="1" dirty="0" smtClean="0">
                          <a:solidFill>
                            <a:srgbClr val="C00000"/>
                          </a:solidFill>
                          <a:latin typeface="fkGroteskNeue"/>
                        </a:rPr>
                        <a:t>Peak Value:</a:t>
                      </a:r>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5548855"/>
                  </a:ext>
                </a:extLst>
              </a:tr>
              <a:tr h="370840">
                <a:tc>
                  <a:txBody>
                    <a:bodyPr/>
                    <a:lstStyle/>
                    <a:p>
                      <a:pPr marL="0" marR="0" indent="0" algn="just" defTabSz="914400" eaLnBrk="1" fontAlgn="auto" latinLnBrk="0" hangingPunct="1">
                        <a:lnSpc>
                          <a:spcPct val="100000"/>
                        </a:lnSpc>
                        <a:spcBef>
                          <a:spcPts val="0"/>
                        </a:spcBef>
                        <a:spcAft>
                          <a:spcPts val="0"/>
                        </a:spcAft>
                        <a:buClrTx/>
                        <a:buSzTx/>
                        <a:buFontTx/>
                        <a:buNone/>
                        <a:tabLst/>
                        <a:defRPr/>
                      </a:pPr>
                      <a:r>
                        <a:rPr lang="en-US" dirty="0" smtClean="0">
                          <a:latin typeface="fkGroteskNeue"/>
                        </a:rPr>
                        <a:t>The triangle’s maximum is </a:t>
                      </a:r>
                      <a:r>
                        <a:rPr lang="en-US" dirty="0" smtClean="0">
                          <a:latin typeface="KaTeX_Main"/>
                        </a:rPr>
                        <a:t>(</a:t>
                      </a:r>
                      <a:r>
                        <a:rPr lang="en-US" i="1" dirty="0" smtClean="0">
                          <a:latin typeface="KaTeX_Math"/>
                        </a:rPr>
                        <a:t>K</a:t>
                      </a:r>
                      <a:r>
                        <a:rPr lang="en-US" i="1" baseline="-25000" dirty="0" smtClean="0">
                          <a:latin typeface="KaTeX_Math"/>
                        </a:rPr>
                        <a:t>VCO</a:t>
                      </a:r>
                      <a:r>
                        <a:rPr lang="en-US" i="1" dirty="0" smtClean="0">
                          <a:latin typeface="KaTeX_Math"/>
                        </a:rPr>
                        <a:t>V</a:t>
                      </a:r>
                      <a:r>
                        <a:rPr lang="en-US" baseline="-25000" dirty="0" smtClean="0">
                          <a:latin typeface="KaTeX_Main"/>
                        </a:rPr>
                        <a:t>1</a:t>
                      </a:r>
                      <a:r>
                        <a:rPr lang="en-US" i="1" dirty="0" smtClean="0">
                          <a:latin typeface="KaTeX_Math"/>
                        </a:rPr>
                        <a:t>T</a:t>
                      </a:r>
                      <a:r>
                        <a:rPr lang="en-US" i="1" baseline="-25000" dirty="0" smtClean="0">
                          <a:latin typeface="KaTeX_Math"/>
                        </a:rPr>
                        <a:t>m</a:t>
                      </a:r>
                      <a:r>
                        <a:rPr lang="en-US" dirty="0" smtClean="0">
                          <a:latin typeface="KaTeX_Main"/>
                        </a:rPr>
                        <a:t>)/2</a:t>
                      </a:r>
                      <a:r>
                        <a:rPr lang="en-US" dirty="0" smtClean="0">
                          <a:latin typeface="fkGroteskNeue"/>
                        </a:rPr>
                        <a:t>, reflecting the time the control input “pushes” phase up or down away from the carrier baseline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5829807"/>
                  </a:ext>
                </a:extLst>
              </a:tr>
            </a:tbl>
          </a:graphicData>
        </a:graphic>
      </p:graphicFrame>
      <p:pic>
        <p:nvPicPr>
          <p:cNvPr id="10" name="Picture 9"/>
          <p:cNvPicPr>
            <a:picLocks noChangeAspect="1"/>
          </p:cNvPicPr>
          <p:nvPr/>
        </p:nvPicPr>
        <p:blipFill>
          <a:blip r:embed="rId2"/>
          <a:stretch>
            <a:fillRect/>
          </a:stretch>
        </p:blipFill>
        <p:spPr>
          <a:xfrm>
            <a:off x="7605610" y="1664638"/>
            <a:ext cx="4235889" cy="1935859"/>
          </a:xfrm>
          <a:prstGeom prst="rect">
            <a:avLst/>
          </a:prstGeom>
        </p:spPr>
      </p:pic>
    </p:spTree>
    <p:extLst>
      <p:ext uri="{BB962C8B-B14F-4D97-AF65-F5344CB8AC3E}">
        <p14:creationId xmlns:p14="http://schemas.microsoft.com/office/powerpoint/2010/main" val="3880874401"/>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Conceptual </a:t>
            </a:r>
            <a:r>
              <a:rPr lang="en-US" dirty="0" smtClean="0">
                <a:latin typeface="fkGrotesk"/>
              </a:rPr>
              <a:t>Takeaways</a:t>
            </a:r>
            <a:endParaRPr lang="en-US" dirty="0"/>
          </a:p>
        </p:txBody>
      </p:sp>
      <p:sp>
        <p:nvSpPr>
          <p:cNvPr id="3" name="Text Placeholder 2"/>
          <p:cNvSpPr>
            <a:spLocks noGrp="1"/>
          </p:cNvSpPr>
          <p:nvPr>
            <p:ph type="body" idx="1"/>
          </p:nvPr>
        </p:nvSpPr>
        <p:spPr>
          <a:xfrm>
            <a:off x="844550" y="1327353"/>
            <a:ext cx="10064640" cy="4001095"/>
          </a:xfrm>
        </p:spPr>
        <p:txBody>
          <a:bodyPr/>
          <a:lstStyle/>
          <a:p>
            <a:pPr marL="342900" indent="-342900" algn="l">
              <a:buFont typeface="Wingdings" panose="05000000000000000000" pitchFamily="2" charset="2"/>
              <a:buChar char="q"/>
            </a:pPr>
            <a:r>
              <a:rPr lang="en-US" b="1" dirty="0" smtClean="0">
                <a:solidFill>
                  <a:srgbClr val="C00000"/>
                </a:solidFill>
                <a:latin typeface="fkGroteskNeue"/>
              </a:rPr>
              <a:t>VCO </a:t>
            </a:r>
            <a:r>
              <a:rPr lang="en-US" b="1" dirty="0">
                <a:solidFill>
                  <a:srgbClr val="C00000"/>
                </a:solidFill>
                <a:latin typeface="fkGroteskNeue"/>
              </a:rPr>
              <a:t>Behavior as an Integrator:</a:t>
            </a:r>
            <a:r>
              <a:rPr lang="en-US" dirty="0">
                <a:latin typeface="fkGroteskNeue"/>
              </a:rPr>
              <a:t/>
            </a:r>
            <a:br>
              <a:rPr lang="en-US" dirty="0">
                <a:latin typeface="fkGroteskNeue"/>
              </a:rPr>
            </a:br>
            <a:r>
              <a:rPr lang="en-US" dirty="0">
                <a:latin typeface="fkGroteskNeue"/>
              </a:rPr>
              <a:t>The total phase at the VCO output is always the </a:t>
            </a:r>
            <a:r>
              <a:rPr lang="en-US" i="1" dirty="0">
                <a:latin typeface="fkGroteskNeue"/>
              </a:rPr>
              <a:t>integral</a:t>
            </a:r>
            <a:r>
              <a:rPr lang="en-US" dirty="0">
                <a:latin typeface="fkGroteskNeue"/>
              </a:rPr>
              <a:t> of the instantaneous frequency, and the instantaneous frequency responds directly (and piecewise-constantly) to the control voltage.</a:t>
            </a:r>
          </a:p>
          <a:p>
            <a:pPr marL="342900" indent="-342900" algn="l">
              <a:buFont typeface="Wingdings" panose="05000000000000000000" pitchFamily="2" charset="2"/>
              <a:buChar char="q"/>
            </a:pPr>
            <a:r>
              <a:rPr lang="en-US" b="1" dirty="0">
                <a:solidFill>
                  <a:srgbClr val="C00000"/>
                </a:solidFill>
                <a:latin typeface="fkGroteskNeue"/>
              </a:rPr>
              <a:t>FM/PM Modulation:</a:t>
            </a:r>
            <a:r>
              <a:rPr lang="en-US" dirty="0">
                <a:latin typeface="fkGroteskNeue"/>
              </a:rPr>
              <a:t/>
            </a:r>
            <a:br>
              <a:rPr lang="en-US" dirty="0">
                <a:latin typeface="fkGroteskNeue"/>
              </a:rPr>
            </a:br>
            <a:r>
              <a:rPr lang="en-US" dirty="0">
                <a:latin typeface="fkGroteskNeue"/>
              </a:rPr>
              <a:t>This example shows the core of frequency and phase modulation: if the input to the VCO changes in discrete steps (square wave), the frequency toggles, and the phase follows as a ramp, integrating those toggles into a triangle.</a:t>
            </a:r>
          </a:p>
          <a:p>
            <a:pPr marL="342900" indent="-342900" algn="l">
              <a:buFont typeface="Wingdings" panose="05000000000000000000" pitchFamily="2" charset="2"/>
              <a:buChar char="q"/>
            </a:pPr>
            <a:r>
              <a:rPr lang="en-US" b="1" dirty="0">
                <a:solidFill>
                  <a:srgbClr val="C00000"/>
                </a:solidFill>
                <a:latin typeface="fkGroteskNeue"/>
              </a:rPr>
              <a:t>PLL Relevance</a:t>
            </a:r>
            <a:r>
              <a:rPr lang="en-US" b="1" dirty="0" smtClean="0">
                <a:solidFill>
                  <a:srgbClr val="C00000"/>
                </a:solidFill>
                <a:latin typeface="fkGroteskNeue"/>
              </a:rPr>
              <a:t>:</a:t>
            </a:r>
            <a:r>
              <a:rPr lang="en-US" dirty="0">
                <a:latin typeface="fkGroteskNeue"/>
              </a:rPr>
              <a:t/>
            </a:r>
            <a:br>
              <a:rPr lang="en-US" dirty="0">
                <a:latin typeface="fkGroteskNeue"/>
              </a:rPr>
            </a:br>
            <a:r>
              <a:rPr lang="en-US" dirty="0">
                <a:latin typeface="fkGroteskNeue"/>
              </a:rPr>
              <a:t>In PLLs, the </a:t>
            </a:r>
            <a:r>
              <a:rPr lang="en-US" i="1" dirty="0">
                <a:latin typeface="fkGroteskNeue"/>
              </a:rPr>
              <a:t>integral</a:t>
            </a:r>
            <a:r>
              <a:rPr lang="en-US" dirty="0">
                <a:latin typeface="fkGroteskNeue"/>
              </a:rPr>
              <a:t> relationship between phase (output) and control voltage (input) is what enables loop filtering and noise shaping, making this foundational for both understanding and design.</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689067642"/>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Summary for </a:t>
            </a:r>
            <a:r>
              <a:rPr lang="en-US" dirty="0" smtClean="0">
                <a:latin typeface="fkGrotesk"/>
              </a:rPr>
              <a:t>Teaching</a:t>
            </a:r>
            <a:endParaRPr lang="en-US" dirty="0"/>
          </a:p>
        </p:txBody>
      </p:sp>
      <p:sp>
        <p:nvSpPr>
          <p:cNvPr id="3" name="Text Placeholder 2"/>
          <p:cNvSpPr>
            <a:spLocks noGrp="1"/>
          </p:cNvSpPr>
          <p:nvPr>
            <p:ph type="body" idx="1"/>
          </p:nvPr>
        </p:nvSpPr>
        <p:spPr>
          <a:xfrm>
            <a:off x="844550" y="1327353"/>
            <a:ext cx="10494010" cy="2154436"/>
          </a:xfrm>
        </p:spPr>
        <p:txBody>
          <a:bodyPr/>
          <a:lstStyle/>
          <a:p>
            <a:pPr marL="342900" indent="-342900" algn="l">
              <a:buFont typeface="Wingdings" panose="05000000000000000000" pitchFamily="2" charset="2"/>
              <a:buChar char="q"/>
            </a:pPr>
            <a:r>
              <a:rPr lang="en-US" dirty="0" smtClean="0">
                <a:latin typeface="fkGroteskNeue"/>
              </a:rPr>
              <a:t>The </a:t>
            </a:r>
            <a:r>
              <a:rPr lang="en-US" dirty="0">
                <a:latin typeface="fkGroteskNeue"/>
              </a:rPr>
              <a:t>example visually links control voltage, output frequency, and output phase for a VCO—showing how a non-sinusoidal (digital) control input maps to phase and frequency changes.</a:t>
            </a:r>
          </a:p>
          <a:p>
            <a:pPr marL="342900" indent="-342900" algn="l">
              <a:buFont typeface="Wingdings" panose="05000000000000000000" pitchFamily="2" charset="2"/>
              <a:buChar char="q"/>
            </a:pPr>
            <a:r>
              <a:rPr lang="en-US" dirty="0">
                <a:latin typeface="fkGroteskNeue"/>
              </a:rPr>
              <a:t>The </a:t>
            </a:r>
            <a:r>
              <a:rPr lang="en-US" i="1" dirty="0">
                <a:latin typeface="fkGroteskNeue"/>
              </a:rPr>
              <a:t>output phase is always continuous</a:t>
            </a:r>
            <a:r>
              <a:rPr lang="en-US" dirty="0">
                <a:latin typeface="fkGroteskNeue"/>
              </a:rPr>
              <a:t>, even if frequency jumps.</a:t>
            </a:r>
          </a:p>
          <a:p>
            <a:pPr marL="342900" indent="-342900" algn="l">
              <a:buFont typeface="Wingdings" panose="05000000000000000000" pitchFamily="2" charset="2"/>
              <a:buChar char="q"/>
            </a:pPr>
            <a:r>
              <a:rPr lang="en-US" dirty="0">
                <a:latin typeface="fkGroteskNeue"/>
              </a:rPr>
              <a:t>The </a:t>
            </a:r>
            <a:r>
              <a:rPr lang="en-US" i="1" dirty="0">
                <a:latin typeface="fkGroteskNeue"/>
              </a:rPr>
              <a:t>excess phase</a:t>
            </a:r>
            <a:r>
              <a:rPr lang="en-US" dirty="0">
                <a:latin typeface="fkGroteskNeue"/>
              </a:rPr>
              <a:t> (over a fixed baseline) captures all modulation and is a key metric in communication and PLL design</a:t>
            </a:r>
          </a:p>
          <a:p>
            <a:endParaRPr lang="en-US" dirty="0"/>
          </a:p>
        </p:txBody>
      </p:sp>
      <p:sp>
        <p:nvSpPr>
          <p:cNvPr id="4" name="Footer Placeholder 3"/>
          <p:cNvSpPr>
            <a:spLocks noGrp="1"/>
          </p:cNvSpPr>
          <p:nvPr>
            <p:ph type="ftr" sz="quarter" idx="5"/>
          </p:nvPr>
        </p:nvSpPr>
        <p:spPr>
          <a:xfrm>
            <a:off x="5531610" y="6276791"/>
            <a:ext cx="1328351" cy="218196"/>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52988" y="6276028"/>
            <a:ext cx="467201" cy="222884"/>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733027090"/>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7227</TotalTime>
  <Words>5763</Words>
  <Application>Microsoft Office PowerPoint</Application>
  <PresentationFormat>Widescreen</PresentationFormat>
  <Paragraphs>1545</Paragraphs>
  <Slides>133</Slides>
  <Notes>0</Notes>
  <HiddenSlides>6</HiddenSlides>
  <MMClips>0</MMClips>
  <ScaleCrop>false</ScaleCrop>
  <HeadingPairs>
    <vt:vector size="6" baseType="variant">
      <vt:variant>
        <vt:lpstr>Fonts Used</vt:lpstr>
      </vt:variant>
      <vt:variant>
        <vt:i4>57</vt:i4>
      </vt:variant>
      <vt:variant>
        <vt:lpstr>Theme</vt:lpstr>
      </vt:variant>
      <vt:variant>
        <vt:i4>2</vt:i4>
      </vt:variant>
      <vt:variant>
        <vt:lpstr>Slide Titles</vt:lpstr>
      </vt:variant>
      <vt:variant>
        <vt:i4>133</vt:i4>
      </vt:variant>
    </vt:vector>
  </HeadingPairs>
  <TitlesOfParts>
    <vt:vector size="192" baseType="lpstr">
      <vt:lpstr>Arial</vt:lpstr>
      <vt:lpstr>Calibri</vt:lpstr>
      <vt:lpstr>Calibri Light</vt:lpstr>
      <vt:lpstr>Cambria Math</vt:lpstr>
      <vt:lpstr>Courier New</vt:lpstr>
      <vt:lpstr>fkGrotesk</vt:lpstr>
      <vt:lpstr>fkGroteskNeue</vt:lpstr>
      <vt:lpstr>Georgia</vt:lpstr>
      <vt:lpstr>inter</vt:lpstr>
      <vt:lpstr>KaTeX_Main</vt:lpstr>
      <vt:lpstr>KaTeX_Math</vt:lpstr>
      <vt:lpstr>KaTeX_Size3</vt:lpstr>
      <vt:lpstr>Symbol</vt:lpstr>
      <vt:lpstr>T3Font_100</vt:lpstr>
      <vt:lpstr>T3Font_104</vt:lpstr>
      <vt:lpstr>T3Font_105</vt:lpstr>
      <vt:lpstr>T3Font_116</vt:lpstr>
      <vt:lpstr>T3Font_127</vt:lpstr>
      <vt:lpstr>T3Font_128</vt:lpstr>
      <vt:lpstr>T3Font_129</vt:lpstr>
      <vt:lpstr>T3Font_130</vt:lpstr>
      <vt:lpstr>T3Font_139</vt:lpstr>
      <vt:lpstr>T3Font_140</vt:lpstr>
      <vt:lpstr>T3Font_141</vt:lpstr>
      <vt:lpstr>T3Font_142</vt:lpstr>
      <vt:lpstr>T3Font_151</vt:lpstr>
      <vt:lpstr>T3Font_153</vt:lpstr>
      <vt:lpstr>T3Font_158</vt:lpstr>
      <vt:lpstr>T3Font_159</vt:lpstr>
      <vt:lpstr>T3Font_164</vt:lpstr>
      <vt:lpstr>T3Font_165</vt:lpstr>
      <vt:lpstr>T3Font_185</vt:lpstr>
      <vt:lpstr>T3Font_189</vt:lpstr>
      <vt:lpstr>T3Font_200</vt:lpstr>
      <vt:lpstr>T3Font_206</vt:lpstr>
      <vt:lpstr>T3Font_215</vt:lpstr>
      <vt:lpstr>T3Font_216</vt:lpstr>
      <vt:lpstr>T3Font_236</vt:lpstr>
      <vt:lpstr>T3Font_237</vt:lpstr>
      <vt:lpstr>T3Font_249</vt:lpstr>
      <vt:lpstr>T3Font_258</vt:lpstr>
      <vt:lpstr>T3Font_273</vt:lpstr>
      <vt:lpstr>T3Font_274</vt:lpstr>
      <vt:lpstr>T3Font_281</vt:lpstr>
      <vt:lpstr>T3Font_285</vt:lpstr>
      <vt:lpstr>T3Font_336</vt:lpstr>
      <vt:lpstr>T3Font_347</vt:lpstr>
      <vt:lpstr>T3Font_359</vt:lpstr>
      <vt:lpstr>T3Font_380</vt:lpstr>
      <vt:lpstr>T3Font_76</vt:lpstr>
      <vt:lpstr>T3Font_83</vt:lpstr>
      <vt:lpstr>T3Font_85</vt:lpstr>
      <vt:lpstr>T3Font_88</vt:lpstr>
      <vt:lpstr>T3Font_92</vt:lpstr>
      <vt:lpstr>Times New Roman</vt:lpstr>
      <vt:lpstr>Verdana</vt:lpstr>
      <vt:lpstr>Wingdings</vt:lpstr>
      <vt:lpstr>1_Office Theme</vt:lpstr>
      <vt:lpstr>2_Office Theme</vt:lpstr>
      <vt:lpstr>PowerPoint Presentation</vt:lpstr>
      <vt:lpstr>Oscillator Essentials for PLL</vt:lpstr>
      <vt:lpstr>Oscillator Essentials</vt:lpstr>
      <vt:lpstr>Pendulum and Electronic Oscillators for PLLs</vt:lpstr>
      <vt:lpstr>Physical Setup and Energy </vt:lpstr>
      <vt:lpstr>PowerPoint Presentation</vt:lpstr>
      <vt:lpstr>PowerPoint Presentation</vt:lpstr>
      <vt:lpstr>2. How Feedback Sustains Oscillation</vt:lpstr>
      <vt:lpstr>3. Connecting Mechanical Examples with Electronic Counterparts</vt:lpstr>
      <vt:lpstr>4. Frequency Selectivity and Feedback: The Heart of Oscillators and PLLs</vt:lpstr>
      <vt:lpstr>Mechanical Analogy &amp; Oscillatory Feedback</vt:lpstr>
      <vt:lpstr>Simple feedback system:</vt:lpstr>
      <vt:lpstr>Barkhausen's Criteria &amp; Oscillatory Feedback</vt:lpstr>
      <vt:lpstr>Ocillatory Feedback System: Intuitive Understanding</vt:lpstr>
      <vt:lpstr>PowerPoint Presentation</vt:lpstr>
      <vt:lpstr>Deep Dive</vt:lpstr>
      <vt:lpstr>Cont..</vt:lpstr>
      <vt:lpstr>Cont..</vt:lpstr>
      <vt:lpstr>Cont..</vt:lpstr>
      <vt:lpstr>Cont..</vt:lpstr>
      <vt:lpstr>2. Barkhausen Criteria: The Mathematical Foundation</vt:lpstr>
      <vt:lpstr>Condition for Marginally Stable Oscillation</vt:lpstr>
      <vt:lpstr>3. Oscillation Growth Mechanism </vt:lpstr>
      <vt:lpstr>PowerPoint Presentation</vt:lpstr>
      <vt:lpstr>Cont..</vt:lpstr>
      <vt:lpstr>4. Noise-Initiated Oscillation </vt:lpstr>
      <vt:lpstr>Circuit Configuration</vt:lpstr>
      <vt:lpstr>5. Impedance Perspective</vt:lpstr>
      <vt:lpstr>Infinite Port Impedance at Oscillation Frequency</vt:lpstr>
      <vt:lpstr>Designer Application - Impedance-Based Verification </vt:lpstr>
      <vt:lpstr>6.Progression: From Mechanical to Electronic</vt:lpstr>
      <vt:lpstr>7. Stability vs. Oscillation: The Fine Line</vt:lpstr>
      <vt:lpstr>Oscillator Analysis Methods: From Fundamentals to Real Circuit Design</vt:lpstr>
      <vt:lpstr>Common Source (CS) Stage Analysis</vt:lpstr>
      <vt:lpstr>Cont..</vt:lpstr>
      <vt:lpstr>Adding Delay for Oscillation The Delay Line Solution:</vt:lpstr>
      <vt:lpstr>Circuit Configuration</vt:lpstr>
      <vt:lpstr>Output Impedance Calculation </vt:lpstr>
      <vt:lpstr>Fundamental Insights</vt:lpstr>
      <vt:lpstr>Progressive Learning Path</vt:lpstr>
      <vt:lpstr>Fundamental Intuition for Oscillator Startup, Growth, and Topologies</vt:lpstr>
      <vt:lpstr>1. Startup Condition Beyond Barkhausen</vt:lpstr>
      <vt:lpstr>Cont..</vt:lpstr>
      <vt:lpstr>2. Oscillation Growth vs. Steady-State</vt:lpstr>
      <vt:lpstr>Impulse Response</vt:lpstr>
      <vt:lpstr>Sinusoidal Input at Oscillation Frequency</vt:lpstr>
      <vt:lpstr>3. Positive Feedback at DC and Ring-Latch Behavior</vt:lpstr>
      <vt:lpstr>4. Ring Oscillator Foundations</vt:lpstr>
      <vt:lpstr>Fundamental Intuition for Ring Oscillator Operation and Scaling</vt:lpstr>
      <vt:lpstr>1. Ring Oscillator Phase Shift and Frequency: Scaling with N</vt:lpstr>
      <vt:lpstr>2. Three-Stage Ring Oscillator: Fundamental Operation</vt:lpstr>
      <vt:lpstr>2. Three-Stage Ring Oscillator: Fundamental Operation/ 3. Extracting Oscillation Frequency and Startup Condition</vt:lpstr>
      <vt:lpstr>PowerPoint Presentation</vt:lpstr>
      <vt:lpstr>3. Extracting Oscillation Frequency and Startup Condition</vt:lpstr>
      <vt:lpstr>4. Waveform Phase Separation and Capacitance Modeling</vt:lpstr>
      <vt:lpstr>5. Key Pedagogical Takeaways</vt:lpstr>
      <vt:lpstr>Key Learning Points</vt:lpstr>
      <vt:lpstr>Nonlinearity, Amplitude, and Waveform Properties in Practice</vt:lpstr>
      <vt:lpstr>1. Nonlinearity and Amplitude Stabilization</vt:lpstr>
      <vt:lpstr>2. Ideal and Practical Waveform Shapes</vt:lpstr>
      <vt:lpstr>3. Inverter-Based Rings: Supply Voltage Effects and Delay</vt:lpstr>
      <vt:lpstr>PowerPoint Presentation</vt:lpstr>
      <vt:lpstr>4. Startup and Amplitude Growth</vt:lpstr>
      <vt:lpstr>5. Key Takeaways</vt:lpstr>
      <vt:lpstr>Nonlinearity and Oscillation Amplitude</vt:lpstr>
      <vt:lpstr>Design Insights</vt:lpstr>
      <vt:lpstr>Fundamental Takeaways</vt:lpstr>
      <vt:lpstr>Fundamental Understanding of Lossy LC Tanks and Oscillator Resonance</vt:lpstr>
      <vt:lpstr>1. Basic LC Tank Behavior</vt:lpstr>
      <vt:lpstr>2. Realistic Losses in the LC Tank</vt:lpstr>
      <vt:lpstr>3. Relationship Between Lp, Rp, and L1, RS</vt:lpstr>
      <vt:lpstr>Cont..</vt:lpstr>
      <vt:lpstr>PowerPoint Presentation</vt:lpstr>
      <vt:lpstr>Frequency Dependence and Approximations in Lossy LC Tanks</vt:lpstr>
      <vt:lpstr>Cont..</vt:lpstr>
      <vt:lpstr>PowerPoint Presentation</vt:lpstr>
      <vt:lpstr>4. Visualizing the Losy Parallel LC Tank</vt:lpstr>
      <vt:lpstr>Summary for Teaching</vt:lpstr>
      <vt:lpstr>PowerPoint Presentation</vt:lpstr>
      <vt:lpstr>PowerPoint Presentation</vt:lpstr>
      <vt:lpstr>Visual Aid Explanation</vt:lpstr>
      <vt:lpstr>Summary</vt:lpstr>
      <vt:lpstr>Sharper Resonance and Phase from Higher Rp</vt:lpstr>
      <vt:lpstr>Doubling Rp </vt:lpstr>
      <vt:lpstr>Visual Intuition From Figure 1.17 </vt:lpstr>
      <vt:lpstr>Teaching Takeaway</vt:lpstr>
      <vt:lpstr>PowerPoint Presentation</vt:lpstr>
      <vt:lpstr>Quality Factor Q Fundamentals</vt:lpstr>
      <vt:lpstr>Amplifier with Tuned Load</vt:lpstr>
      <vt:lpstr>Explaining Q Factor for Ring Oscillators — Fundamental, Intuitive Approach</vt:lpstr>
      <vt:lpstr>Measuring and Visualizing Q: The Ring-Down Method</vt:lpstr>
      <vt:lpstr>Intuitive Summary </vt:lpstr>
      <vt:lpstr>Quality Factor and Oscillator Types: Ring vs LC</vt:lpstr>
      <vt:lpstr>Pedagogical Conclusion</vt:lpstr>
      <vt:lpstr>Cont..</vt:lpstr>
      <vt:lpstr>Comparison: Ring Oscillator vs LC Oscillator Quality Factor</vt:lpstr>
      <vt:lpstr>Intuitive Takeaways</vt:lpstr>
      <vt:lpstr>LC Oscillators as Feedback Systems</vt:lpstr>
      <vt:lpstr>Analysis of Latch-Up in LC Oscillators</vt:lpstr>
      <vt:lpstr>Circuit Topologies and Redrawn Forms Figures: </vt:lpstr>
      <vt:lpstr>Oscillator Waveforms and Operation</vt:lpstr>
      <vt:lpstr>PowerPoint Presentation</vt:lpstr>
      <vt:lpstr>Key Performance and Design Considerations</vt:lpstr>
      <vt:lpstr>PowerPoint Presentation</vt:lpstr>
      <vt:lpstr>PowerPoint Presentation</vt:lpstr>
      <vt:lpstr>PowerPoint Presentation</vt:lpstr>
      <vt:lpstr>Oscillation Condition &amp; Mathematical Test</vt:lpstr>
      <vt:lpstr>Intuitive &amp; Rigorous Perspective</vt:lpstr>
      <vt:lpstr>Differential Pair with LC Loads</vt:lpstr>
      <vt:lpstr>Input/Output Currents and Voltages</vt:lpstr>
      <vt:lpstr>Frequency Components in Square Wave</vt:lpstr>
      <vt:lpstr>Differential Pair with Negative Feedback</vt:lpstr>
      <vt:lpstr>Differential Pair with Positive Feedback (Cross-Coupled)</vt:lpstr>
      <vt:lpstr>Overall Takeaways</vt:lpstr>
      <vt:lpstr>Lossless LC Tank—Natural Oscillation</vt:lpstr>
      <vt:lpstr>Lossy LC Tank—Oscillation Decay</vt:lpstr>
      <vt:lpstr>Tapping the Tank—Sustained Oscillation with Negative Resistance</vt:lpstr>
      <vt:lpstr>Circuit Exhibiting Negative Resistance</vt:lpstr>
      <vt:lpstr>Basic Three-Point Oscillator</vt:lpstr>
      <vt:lpstr>Equivalent Loss Model</vt:lpstr>
      <vt:lpstr>Three Practical Oscillator Realizations</vt:lpstr>
      <vt:lpstr>Key Formula Connections</vt:lpstr>
      <vt:lpstr>Differential Oscillator from Three-Point Topology</vt:lpstr>
      <vt:lpstr>VCO (Voltage-Controlled Oscillator) Tuning Characteristic</vt:lpstr>
      <vt:lpstr>Phase Growth with Time (VCO Output)</vt:lpstr>
      <vt:lpstr>Key Equations—VCO Behavior</vt:lpstr>
      <vt:lpstr>Summary of Concepts Across Figures</vt:lpstr>
      <vt:lpstr>VCO Sensing a Square Wave</vt:lpstr>
      <vt:lpstr>Output Waveform</vt:lpstr>
      <vt:lpstr>Total Output Phase ϕ(t)</vt:lpstr>
      <vt:lpstr>Excess Phase ϕex(t)</vt:lpstr>
      <vt:lpstr>Conceptual Takeaways</vt:lpstr>
      <vt:lpstr>Summary for Teaching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Neeraj Mishra</dc:creator>
  <cp:lastModifiedBy>Neeraj Mishra</cp:lastModifiedBy>
  <cp:revision>73</cp:revision>
  <dcterms:created xsi:type="dcterms:W3CDTF">2025-10-03T04:47:07Z</dcterms:created>
  <dcterms:modified xsi:type="dcterms:W3CDTF">2025-11-12T06:11:34Z</dcterms:modified>
</cp:coreProperties>
</file>