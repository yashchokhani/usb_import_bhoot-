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71" r:id="rId15"/>
    <p:sldId id="272" r:id="rId16"/>
    <p:sldId id="273" r:id="rId17"/>
    <p:sldId id="274" r:id="rId18"/>
    <p:sldId id="280" r:id="rId19"/>
    <p:sldId id="275" r:id="rId20"/>
    <p:sldId id="281" r:id="rId21"/>
    <p:sldId id="276" r:id="rId22"/>
    <p:sldId id="282" r:id="rId23"/>
    <p:sldId id="283" r:id="rId24"/>
    <p:sldId id="284" r:id="rId25"/>
    <p:sldId id="277" r:id="rId26"/>
    <p:sldId id="285" r:id="rId27"/>
    <p:sldId id="278" r:id="rId28"/>
    <p:sldId id="279" r:id="rId29"/>
    <p:sldId id="28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0"/>
    <a:srgbClr val="FFFCE6"/>
    <a:srgbClr val="F9D1C4"/>
    <a:srgbClr val="F5F5F5"/>
    <a:srgbClr val="FF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68E172-0DC1-00E6-D267-715AC442B23D}" v="2623" dt="2025-07-14T13:29:35.516"/>
    <p1510:client id="{4120FA4C-CECD-87FE-D32A-F77941DCBDE4}" v="3056" dt="2025-07-13T13:54:16.767"/>
    <p1510:client id="{56408F52-6A4C-CA2B-5EF4-C5548E0793B2}" v="330" dt="2025-07-14T06:38:12.923"/>
    <p1510:client id="{8350E08B-82EE-F538-A843-A752A711B481}" v="3" dt="2025-07-14T18:42:46.969"/>
    <p1510:client id="{8ECD3E24-EC4C-35F2-A966-88DD5ADF1049}" v="1373" dt="2025-07-13T15:47:18.863"/>
    <p1510:client id="{B44B5371-8BE6-9750-1282-51F881E5C100}" v="3161" dt="2025-07-14T18:39:30.483"/>
    <p1510:client id="{C23046D9-E095-9251-3EE1-D4E240E074BC}" v="327" dt="2025-07-14T07:02:01.107"/>
    <p1510:client id="{CBF3898B-FD43-5A4A-BA3E-677353659B61}" v="2111" dt="2025-07-14T15:47:37.293"/>
    <p1510:client id="{EFA83856-6D34-7DBB-590D-5139B543BBF7}" v="52" dt="2025-07-14T07:08:52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158460-8064-432F-A46A-4E17D8FC2BA4}" type="datetimeFigureOut">
              <a:t>7/14/2025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F170B-00CD-43F7-B119-79616D70796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70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How does the circuit understand to adjust the frequency?</a:t>
            </a:r>
            <a:endParaRPr lang="en-US" dirty="0"/>
          </a:p>
          <a:p>
            <a:pPr marL="171450" indent="-171450">
              <a:buFont typeface="Calibri"/>
              <a:buChar char="-"/>
            </a:pPr>
            <a:r>
              <a:rPr lang="en-US" dirty="0"/>
              <a:t>New phase from delay stages=π−ϕ1  ; after the addition of phase </a:t>
            </a:r>
            <a:endParaRPr lang="en-US" b="1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Calibri"/>
              <a:buChar char="-"/>
            </a:pPr>
            <a:r>
              <a:rPr lang="en-US" dirty="0"/>
              <a:t>Total delay phase=2π⋅(TDL /</a:t>
            </a:r>
            <a:r>
              <a:rPr lang="en-US" dirty="0" err="1"/>
              <a:t>Tosc</a:t>
            </a:r>
            <a:r>
              <a:rPr lang="en-US" dirty="0"/>
              <a:t>)  = π − ϕ1</a:t>
            </a:r>
            <a:endParaRPr lang="en-US" b="1" dirty="0">
              <a:ea typeface="Calibri"/>
              <a:cs typeface="Calibri"/>
            </a:endParaRPr>
          </a:p>
          <a:p>
            <a:pPr marL="228600" indent="-228600">
              <a:buFont typeface="Calibri"/>
              <a:buChar char="-"/>
            </a:pPr>
            <a:r>
              <a:rPr lang="en-US" b="1" dirty="0">
                <a:ea typeface="Calibri"/>
                <a:cs typeface="Calibri"/>
              </a:rPr>
              <a:t>???????????????Ask sir</a:t>
            </a:r>
          </a:p>
          <a:p>
            <a:r>
              <a:rPr lang="en-US" b="1" dirty="0">
                <a:ea typeface="Calibri"/>
                <a:cs typeface="Calibri"/>
              </a:rPr>
              <a:t>2.    How does TDL change? </a:t>
            </a:r>
          </a:p>
          <a:p>
            <a:r>
              <a:rPr lang="en-US" dirty="0"/>
              <a:t>TDL is constant if measured in seconds but changes if measured in degrees relative to the new oscillation frequency. Since TDL = T0/2 = 1/(2f0)</a:t>
            </a:r>
            <a:endParaRPr lang="en-US" dirty="0">
              <a:ea typeface="Calibri"/>
              <a:cs typeface="Calibri"/>
            </a:endParaRPr>
          </a:p>
          <a:p>
            <a:endParaRPr lang="en-US" b="1">
              <a:ea typeface="Calibri"/>
              <a:cs typeface="Calibri"/>
            </a:endParaRPr>
          </a:p>
          <a:p>
            <a:r>
              <a:rPr lang="en-US" b="1" dirty="0">
                <a:ea typeface="Calibri"/>
                <a:cs typeface="Calibri"/>
              </a:rPr>
              <a:t>3. Why do the gate delays not change ?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Delay of each stage is dependent on inverter's strength and parasitic capacitances.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170B-00CD-43F7-B119-79616D70796E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977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1">
                <a:ea typeface="Calibri"/>
                <a:cs typeface="Calibri"/>
              </a:rPr>
              <a:t>Why does only NMOS contribute to noise ?</a:t>
            </a:r>
          </a:p>
          <a:p>
            <a:pPr marL="400050" lvl="1" indent="-171450">
              <a:buFont typeface="Arial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Electrons are fast-moving and in PMOS holes are major charge carriers ; they move slow</a:t>
            </a:r>
          </a:p>
          <a:p>
            <a:pPr marL="400050" lvl="1" indent="-171450">
              <a:buFont typeface="Arial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When the Vin -&gt; VDD, M2 turns off hence PMOS contributes less to noise than NMOS</a:t>
            </a:r>
            <a:r>
              <a:rPr lang="en-US" b="1">
                <a:ea typeface="Calibri" panose="020F0502020204030204"/>
                <a:cs typeface="Calibri" panose="020F0502020204030204"/>
              </a:rPr>
              <a:t> </a:t>
            </a:r>
          </a:p>
          <a:p>
            <a:r>
              <a:rPr lang="en-US" b="1"/>
              <a:t>2.   Where does the kT/C noise come from?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00050" lvl="1" indent="-171450">
              <a:buFont typeface="Arial"/>
              <a:buChar char="•"/>
            </a:pPr>
            <a:r>
              <a:rPr lang="en-US"/>
              <a:t>When Vin → VDD, M2 turns off (acts like a switch opening).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00050" lvl="1" indent="-171450">
              <a:buFont typeface="Arial"/>
              <a:buChar char="•"/>
            </a:pPr>
            <a:r>
              <a:rPr lang="en-US"/>
              <a:t>The channel thermal noise just before cutoff is "frozen" onto CL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00050" lvl="1" indent="-171450">
              <a:buFont typeface="Arial"/>
              <a:buChar char="•"/>
            </a:pPr>
            <a:r>
              <a:rPr lang="en-US"/>
              <a:t>The random voltage left behind is: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00050" lvl="1" indent="-171450">
              <a:buFont typeface="Arial"/>
              <a:buChar char="•"/>
            </a:pPr>
            <a:r>
              <a:rPr lang="en-US"/>
              <a:t>Vnoise^2=</a:t>
            </a:r>
            <a:r>
              <a:rPr lang="en-US" err="1"/>
              <a:t>kT</a:t>
            </a:r>
            <a:r>
              <a:rPr lang="en-US"/>
              <a:t>/CL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00050" lvl="1" indent="-171450">
              <a:buFont typeface="Arial"/>
              <a:buChar char="•"/>
            </a:pPr>
            <a:r>
              <a:rPr lang="en-US"/>
              <a:t>This causes a random displacement in the falling edge of </a:t>
            </a:r>
            <a:r>
              <a:rPr lang="en-US" err="1"/>
              <a:t>Vout</a:t>
            </a:r>
            <a:r>
              <a:rPr lang="en-US"/>
              <a:t> → adds phase jitter.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 b="1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170B-00CD-43F7-B119-79616D70796E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08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Offset frequency = f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170B-00CD-43F7-B119-79616D70796E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94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1">
                <a:ea typeface="Calibri"/>
                <a:cs typeface="Calibri"/>
              </a:rPr>
              <a:t>Capacitance and Time delay relation: </a:t>
            </a:r>
            <a:endParaRPr lang="en-US"/>
          </a:p>
          <a:p>
            <a:r>
              <a:rPr lang="en-US"/>
              <a:t>a capacitor with a larger capacitance stores more electrical energy, and therefore takes a longer time to charge or discharge to a certain voltage level.</a:t>
            </a:r>
          </a:p>
          <a:p>
            <a:r>
              <a:rPr lang="en-US" b="1">
                <a:ea typeface="Calibri"/>
                <a:cs typeface="Calibri"/>
              </a:rPr>
              <a:t>2. What is Fanout ?</a:t>
            </a:r>
          </a:p>
          <a:p>
            <a:r>
              <a:rPr lang="en-US"/>
              <a:t>the maximum number of inputs that the output of a inverter can reliably drive without causing the inverter to malfunction. </a:t>
            </a:r>
            <a:endParaRPr lang="en-US">
              <a:ea typeface="Calibri"/>
              <a:cs typeface="Calibri"/>
            </a:endParaRPr>
          </a:p>
          <a:p>
            <a:r>
              <a:rPr lang="en-US" b="1">
                <a:ea typeface="Calibri"/>
                <a:cs typeface="Calibri"/>
              </a:rPr>
              <a:t>3. what is KVDD?</a:t>
            </a:r>
          </a:p>
          <a:p>
            <a:r>
              <a:rPr lang="en-US">
                <a:ea typeface="Calibri"/>
                <a:cs typeface="Calibri"/>
              </a:rPr>
              <a:t>Supply sensitivity or supply gain. GHz/V</a:t>
            </a:r>
          </a:p>
          <a:p>
            <a:r>
              <a:rPr lang="en-US">
                <a:ea typeface="Calibri"/>
                <a:cs typeface="Calibri"/>
              </a:rPr>
              <a:t>Change in </a:t>
            </a:r>
            <a:r>
              <a:rPr lang="en-US" err="1">
                <a:ea typeface="Calibri"/>
                <a:cs typeface="Calibri"/>
              </a:rPr>
              <a:t>freq</a:t>
            </a:r>
            <a:r>
              <a:rPr lang="en-US">
                <a:ea typeface="Calibri"/>
                <a:cs typeface="Calibri"/>
              </a:rPr>
              <a:t> per volt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170B-00CD-43F7-B119-79616D70796E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04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AutoNum type="arabicPeriod"/>
            </a:pPr>
            <a:r>
              <a:rPr lang="en-US" b="1"/>
              <a:t>Delay prop to L^2 </a:t>
            </a:r>
            <a:r>
              <a:rPr lang="en-US"/>
              <a:t>: </a:t>
            </a:r>
            <a:r>
              <a:rPr lang="en-US" b="1"/>
              <a:t> </a:t>
            </a:r>
            <a:r>
              <a:rPr lang="en-US"/>
              <a:t>if L is increased by factor of m ; gate delay is by m^2</a:t>
            </a:r>
            <a:endParaRPr lang="en-US">
              <a:ea typeface="Calibr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170B-00CD-43F7-B119-79616D70796E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43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Calibri"/>
                <a:cs typeface="Calibri"/>
              </a:rPr>
              <a:t>Adding Signals together : </a:t>
            </a:r>
          </a:p>
          <a:p>
            <a:pPr marL="742950" lvl="1" indent="-285750">
              <a:buFont typeface="Arial"/>
              <a:buChar char="•"/>
            </a:pPr>
            <a:r>
              <a:rPr lang="en-US"/>
              <a:t>The signals add constructively but the noise addition is random.</a:t>
            </a:r>
            <a:endParaRPr lang="en-US">
              <a:solidFill>
                <a:srgbClr val="444444"/>
              </a:solidFill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/>
              <a:t>But since noise is </a:t>
            </a:r>
            <a:r>
              <a:rPr lang="en-US" b="1"/>
              <a:t>uncorrelated</a:t>
            </a:r>
            <a:r>
              <a:rPr lang="en-US"/>
              <a:t>, </a:t>
            </a:r>
            <a:r>
              <a:rPr lang="en-US" b="1"/>
              <a:t>phase noise power</a:t>
            </a:r>
            <a:r>
              <a:rPr lang="en-US"/>
              <a:t> increases only by </a:t>
            </a:r>
            <a:r>
              <a:rPr lang="en-US" b="1"/>
              <a:t>3 dB</a:t>
            </a:r>
            <a:r>
              <a:rPr lang="en-US"/>
              <a:t>, while signal increases by 6 dB (voltage squared).</a:t>
            </a:r>
            <a:endParaRPr lang="en-US">
              <a:solidFill>
                <a:srgbClr val="444444"/>
              </a:solidFill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 b="1"/>
              <a:t>SNR improves</a:t>
            </a:r>
            <a:r>
              <a:rPr lang="en-US"/>
              <a:t>, so </a:t>
            </a:r>
            <a:r>
              <a:rPr lang="en-US" b="1"/>
              <a:t>phase noise reduces by 3 </a:t>
            </a:r>
            <a:r>
              <a:rPr lang="en-US" b="1" err="1"/>
              <a:t>dB</a:t>
            </a:r>
            <a:r>
              <a:rPr lang="en-US" err="1"/>
              <a:t>.</a:t>
            </a:r>
            <a:endParaRPr lang="en-US" err="1">
              <a:solidFill>
                <a:srgbClr val="444444"/>
              </a:solidFill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b="1"/>
              <a:t>Scaling up the parameters : </a:t>
            </a:r>
            <a:endParaRPr lang="en-US" b="1">
              <a:ea typeface="Calibri"/>
              <a:cs typeface="Calibri"/>
            </a:endParaRPr>
          </a:p>
          <a:p>
            <a:pPr marL="628650" indent="-171450">
              <a:buFont typeface="Arial"/>
              <a:buChar char="•"/>
            </a:pPr>
            <a:r>
              <a:rPr lang="en-US" b="1"/>
              <a:t>Noise currents</a:t>
            </a:r>
            <a:r>
              <a:rPr lang="en-US"/>
              <a:t> double (because thermal noise ∝ current or device size)</a:t>
            </a:r>
            <a:endParaRPr lang="en-US" b="1">
              <a:ea typeface="Calibri"/>
              <a:cs typeface="Calibri"/>
            </a:endParaRPr>
          </a:p>
          <a:p>
            <a:pPr marL="628650" lvl="1" indent="-171450">
              <a:buFont typeface="Arial"/>
              <a:buChar char="•"/>
            </a:pPr>
            <a:r>
              <a:rPr lang="en-US" b="1"/>
              <a:t>Impedance</a:t>
            </a:r>
            <a:r>
              <a:rPr lang="en-US"/>
              <a:t> is halved → less noise voltage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628650" lvl="1" indent="-171450">
              <a:buFont typeface="Arial"/>
              <a:buChar char="•"/>
            </a:pPr>
            <a:r>
              <a:rPr lang="en-US"/>
              <a:t>Overall: </a:t>
            </a:r>
            <a:r>
              <a:rPr lang="en-US" b="1"/>
              <a:t>Phase noise reduces by 3 dB</a:t>
            </a:r>
            <a:r>
              <a:rPr lang="en-US"/>
              <a:t> (i.e., it is halved)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171450">
              <a:buFont typeface="Arial"/>
              <a:buChar char="•"/>
            </a:pPr>
            <a:endParaRPr lang="en-US" b="1">
              <a:ea typeface="Calibri"/>
              <a:cs typeface="Calibri"/>
            </a:endParaRPr>
          </a:p>
          <a:p>
            <a:pPr marL="742950" lvl="1" indent="-171450">
              <a:buFont typeface="Arial"/>
              <a:buChar char="•"/>
            </a:pPr>
            <a:endParaRPr lang="en-US" b="1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170B-00CD-43F7-B119-79616D70796E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22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10logFOM = FOM value in dB</a:t>
            </a:r>
          </a:p>
          <a:p>
            <a:pPr marL="171450" indent="-1714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10 because FOM is an expression of power and not voltage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170B-00CD-43F7-B119-79616D70796E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940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/>
              <a:t>The </a:t>
            </a:r>
            <a:r>
              <a:rPr lang="en-US" b="1"/>
              <a:t>square is there</a:t>
            </a:r>
            <a:r>
              <a:rPr lang="en-US"/>
              <a:t> because </a:t>
            </a:r>
            <a:r>
              <a:rPr lang="en-US" b="1"/>
              <a:t>phase noise increases with frequency squared</a:t>
            </a:r>
            <a:endParaRPr lang="en-US"/>
          </a:p>
          <a:p>
            <a:pPr marL="171450" indent="-171450">
              <a:buFont typeface="Arial"/>
              <a:buChar char="•"/>
            </a:pPr>
            <a:endParaRPr lang="en-US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170B-00CD-43F7-B119-79616D70796E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1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FOM remains the because both noise and frequency scale proportionally with M.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170B-00CD-43F7-B119-79616D70796E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69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b="1" dirty="0"/>
              <a:t>What happens if KVCO varies a lot?</a:t>
            </a:r>
          </a:p>
          <a:p>
            <a:pPr marL="800100" lvl="1" indent="-342900">
              <a:buFont typeface="Courier New"/>
              <a:buChar char="o"/>
            </a:pPr>
            <a:r>
              <a:rPr lang="en-US" dirty="0"/>
              <a:t>A non-linear KVCO complicates </a:t>
            </a:r>
            <a:r>
              <a:rPr lang="en-US" b="1" dirty="0"/>
              <a:t>filter tuning</a:t>
            </a:r>
            <a:endParaRPr lang="en-US" b="1" dirty="0">
              <a:ea typeface="Calibri"/>
              <a:cs typeface="Calibri"/>
            </a:endParaRPr>
          </a:p>
          <a:p>
            <a:pPr marL="800100" lvl="1" indent="-342900">
              <a:buFont typeface="Courier New"/>
              <a:buChar char="o"/>
            </a:pPr>
            <a:r>
              <a:rPr lang="en-US" dirty="0"/>
              <a:t>PLL bandwidth and stability depend on KVCO. -&gt; unstable behavior or poor lock performance.</a:t>
            </a:r>
          </a:p>
          <a:p>
            <a:pPr marL="800100" lvl="1" indent="-342900">
              <a:buFont typeface="Courier New"/>
              <a:buChar char="o"/>
            </a:pPr>
            <a:r>
              <a:rPr lang="en-US" b="1" dirty="0"/>
              <a:t>A 20% max variation in KVCO ensures: Predictable loop behavior and less distortion.</a:t>
            </a:r>
            <a:endParaRPr lang="en-US" b="1" dirty="0">
              <a:ea typeface="Calibri"/>
              <a:cs typeface="Calibri"/>
            </a:endParaRPr>
          </a:p>
          <a:p>
            <a:pPr indent="-342900">
              <a:buAutoNum type="arabicPeriod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170B-00CD-43F7-B119-79616D70796E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41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>
                <a:ea typeface="Calibri"/>
                <a:cs typeface="Calibri"/>
              </a:rPr>
              <a:t>WHy</a:t>
            </a:r>
            <a:r>
              <a:rPr lang="en-US" dirty="0">
                <a:ea typeface="Calibri"/>
                <a:cs typeface="Calibri"/>
              </a:rPr>
              <a:t> is the idea so specific?</a:t>
            </a:r>
            <a:endParaRPr lang="en-US" dirty="0"/>
          </a:p>
          <a:p>
            <a:pPr marL="800100" lvl="1" indent="-228600">
              <a:buFont typeface="Courier New"/>
              <a:buChar char="o"/>
            </a:pPr>
            <a:r>
              <a:rPr lang="en-US" dirty="0"/>
              <a:t>Design a </a:t>
            </a:r>
            <a:r>
              <a:rPr lang="en-US" b="1" dirty="0"/>
              <a:t>low-</a:t>
            </a:r>
            <a:r>
              <a:rPr lang="en-US" b="1" dirty="0" err="1"/>
              <a:t>Kvco</a:t>
            </a:r>
            <a:r>
              <a:rPr lang="en-US" b="1" dirty="0"/>
              <a:t> analog path</a:t>
            </a:r>
            <a:r>
              <a:rPr lang="en-US" dirty="0"/>
              <a:t> to reduce noise sensitivity, and use </a:t>
            </a:r>
            <a:r>
              <a:rPr lang="en-US" b="1" dirty="0"/>
              <a:t>digital control</a:t>
            </a:r>
            <a:r>
              <a:rPr lang="en-US" dirty="0"/>
              <a:t> to jump across frequency bands. This strategy gives </a:t>
            </a:r>
            <a:r>
              <a:rPr lang="en-US" b="1" dirty="0"/>
              <a:t>low phase noise</a:t>
            </a:r>
            <a:r>
              <a:rPr lang="en-US" dirty="0"/>
              <a:t> and </a:t>
            </a:r>
            <a:r>
              <a:rPr lang="en-US" b="1" dirty="0"/>
              <a:t>wide, controllable tuning range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170B-00CD-43F7-B119-79616D70796E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119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The inverter delay increases drastically 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 - Since, resistance if very high ; </a:t>
            </a:r>
            <a:r>
              <a:rPr lang="en-US" dirty="0"/>
              <a:t>Output node discharges very slowly.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170B-00CD-43F7-B119-79616D70796E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536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n-US" b="1" dirty="0">
                <a:ea typeface="Calibri"/>
                <a:cs typeface="Calibri"/>
              </a:rPr>
              <a:t>Un-even rise and fall times cause timing-uncertainty = phase noise.</a:t>
            </a:r>
          </a:p>
          <a:p>
            <a:pPr marL="228600" indent="-228600">
              <a:buAutoNum type="arabicParenR"/>
            </a:pPr>
            <a:endParaRPr lang="en-US" b="1" dirty="0">
              <a:ea typeface="Calibri"/>
              <a:cs typeface="Calibri"/>
            </a:endParaRPr>
          </a:p>
          <a:p>
            <a:r>
              <a:rPr lang="en-US" dirty="0">
                <a:ea typeface="Calibri" panose="020F0502020204030204"/>
                <a:cs typeface="Calibri" panose="020F0502020204030204"/>
              </a:rPr>
              <a:t>2) </a:t>
            </a:r>
            <a:r>
              <a:rPr lang="en-US" b="1" dirty="0">
                <a:ea typeface="Calibri" panose="020F0502020204030204"/>
                <a:cs typeface="Calibri" panose="020F0502020204030204"/>
              </a:rPr>
              <a:t>Why is this worse at lower frequencies.? </a:t>
            </a:r>
          </a:p>
          <a:p>
            <a:pPr marL="171450" indent="-171450">
              <a:buFont typeface="Arial,Sans-Serif"/>
              <a:buChar char="•"/>
            </a:pPr>
            <a:r>
              <a:rPr lang="en-US" dirty="0"/>
              <a:t>Inverter delay is longer → slower transitions</a:t>
            </a:r>
            <a:endParaRPr lang="en-US">
              <a:solidFill>
                <a:srgbClr val="444444"/>
              </a:solidFill>
              <a:ea typeface="Calibri"/>
              <a:cs typeface="Calibri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dirty="0"/>
              <a:t>Fall time becomes even slower due to higher NMOS resistance (as </a:t>
            </a:r>
            <a:r>
              <a:rPr lang="en-US" dirty="0" err="1"/>
              <a:t>Vcont</a:t>
            </a:r>
            <a:r>
              <a:rPr lang="en-US" dirty="0"/>
              <a:t> ↓)</a:t>
            </a:r>
            <a:endParaRPr lang="en-US">
              <a:solidFill>
                <a:srgbClr val="444444"/>
              </a:solidFill>
              <a:ea typeface="Calibri"/>
              <a:cs typeface="Calibri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dirty="0"/>
              <a:t>So, jitter </a:t>
            </a:r>
            <a:r>
              <a:rPr lang="en-US" b="1" dirty="0"/>
              <a:t>accumulates </a:t>
            </a:r>
            <a:r>
              <a:rPr lang="en-US" dirty="0"/>
              <a:t>more on the slow falling edge → </a:t>
            </a:r>
            <a:r>
              <a:rPr lang="en-US" b="1" dirty="0"/>
              <a:t>more phase noise.</a:t>
            </a:r>
            <a:endParaRPr lang="en-US" b="1">
              <a:solidFill>
                <a:srgbClr val="444444"/>
              </a:solidFill>
              <a:ea typeface="Calibri"/>
              <a:cs typeface="Calibri"/>
            </a:endParaRPr>
          </a:p>
          <a:p>
            <a:pPr marL="228600" indent="-228600">
              <a:buFontTx/>
              <a:buAutoNum type="arabicParenR"/>
            </a:pPr>
            <a:endParaRPr lang="en-US" b="1" dirty="0">
              <a:ea typeface="Calibri"/>
              <a:cs typeface="Calibri"/>
            </a:endParaRPr>
          </a:p>
          <a:p>
            <a:pPr marL="228600" indent="-228600">
              <a:buAutoNum type="arabicParenR"/>
            </a:pPr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170B-00CD-43F7-B119-79616D70796E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08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a typeface="Calibri"/>
                <a:cs typeface="Calibri"/>
              </a:rPr>
              <a:t>1. </a:t>
            </a:r>
            <a:r>
              <a:rPr lang="en-US" b="1" dirty="0"/>
              <a:t>Degeneration</a:t>
            </a:r>
            <a:r>
              <a:rPr lang="en-US" dirty="0"/>
              <a:t> means adding resistance in series with a transistor to weaken its effective gain or strength.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2.   </a:t>
            </a:r>
            <a:r>
              <a:rPr lang="en-US" b="1" dirty="0"/>
              <a:t>Why Are M6–M8 Chosen Weak?</a:t>
            </a:r>
            <a:endParaRPr lang="en-US" b="1" dirty="0">
              <a:ea typeface="Calibri"/>
              <a:cs typeface="Calibri"/>
            </a:endParaRPr>
          </a:p>
          <a:p>
            <a:pPr marL="285750" lvl="1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They are used as fixed resistance path and do not hinder </a:t>
            </a:r>
            <a:r>
              <a:rPr lang="en-US" dirty="0" err="1">
                <a:ea typeface="Calibri"/>
                <a:cs typeface="Calibri"/>
              </a:rPr>
              <a:t>thw</a:t>
            </a:r>
            <a:r>
              <a:rPr lang="en-US" dirty="0">
                <a:ea typeface="Calibri"/>
                <a:cs typeface="Calibri"/>
              </a:rPr>
              <a:t> fall time.</a:t>
            </a:r>
          </a:p>
          <a:p>
            <a:r>
              <a:rPr lang="en-US" dirty="0">
                <a:ea typeface="Calibri"/>
                <a:cs typeface="Calibri"/>
              </a:rPr>
              <a:t>3. </a:t>
            </a:r>
            <a:r>
              <a:rPr lang="en-US" b="1" dirty="0">
                <a:ea typeface="Calibri"/>
                <a:cs typeface="Calibri"/>
              </a:rPr>
              <a:t>Why are M3-M5 chosen strong?</a:t>
            </a:r>
          </a:p>
          <a:p>
            <a:pPr marL="285750" lvl="1" indent="-171450">
              <a:buFont typeface="Calibri"/>
              <a:buChar char="-"/>
            </a:pPr>
            <a:r>
              <a:rPr lang="en-US" dirty="0"/>
              <a:t>when </a:t>
            </a:r>
            <a:r>
              <a:rPr lang="en-US" dirty="0" err="1"/>
              <a:t>Vcont</a:t>
            </a:r>
            <a:r>
              <a:rPr lang="en-US" dirty="0"/>
              <a:t> = VDD, their resistance is very low → pull-down is fast → fall time is short → maximum frequency stays high.</a:t>
            </a:r>
            <a:endParaRPr lang="en-US" dirty="0"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170B-00CD-43F7-B119-79616D70796E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172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LDO</a:t>
            </a:r>
          </a:p>
          <a:p>
            <a:r>
              <a:rPr lang="en-US" dirty="0"/>
              <a:t>⚠️ Drawbacks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Needs headroom → VDD is lower than global supply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LDO itself adds some noise, but manageable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170B-00CD-43F7-B119-79616D70796E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68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83990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>
                <a:latin typeface="Aptos Display"/>
                <a:ea typeface="+mj-lt"/>
                <a:cs typeface="+mj-lt"/>
              </a:rPr>
              <a:t>Design of Inverter-Based Ring Oscillators</a:t>
            </a:r>
            <a:br>
              <a:rPr lang="en-US" b="1">
                <a:latin typeface="Aptos Display"/>
                <a:ea typeface="+mj-lt"/>
                <a:cs typeface="+mj-lt"/>
              </a:rPr>
            </a:br>
            <a:endParaRPr lang="en-US" sz="1600" b="1">
              <a:latin typeface="Aptos Display"/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73259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Aptos Display"/>
              </a:rPr>
              <a:t>Chapter 3 Razavi PLL </a:t>
            </a:r>
          </a:p>
          <a:p>
            <a:r>
              <a:rPr lang="en-US">
                <a:latin typeface="Aptos Display"/>
              </a:rPr>
              <a:t>Presented by Deepa Kulkarni</a:t>
            </a:r>
          </a:p>
          <a:p>
            <a:r>
              <a:rPr lang="en-US">
                <a:latin typeface="Aptos Display"/>
              </a:rPr>
              <a:t>Guided by Neeraj Mishra, BITS Pilani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FDA29-E71E-9BBD-F024-41FC68CC1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676" y="-2267"/>
            <a:ext cx="10515600" cy="1377224"/>
          </a:xfrm>
        </p:spPr>
        <p:txBody>
          <a:bodyPr/>
          <a:lstStyle/>
          <a:p>
            <a:r>
              <a:rPr lang="en-US" b="1"/>
              <a:t>Presentation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B6640-5E5A-8066-4C21-F602DD61F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370" y="1360677"/>
            <a:ext cx="10515600" cy="486794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Phase Noise in Ring Oscillators</a:t>
            </a:r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Preliminary Design Ideas</a:t>
            </a:r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Obtaining the  Desired Oscillation Frequency – 4 techniques</a:t>
            </a:r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Four 2-GHz oscillator designs. </a:t>
            </a:r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Frequency tuning </a:t>
            </a:r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Continuous and discrete tuning </a:t>
            </a:r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Tuning by Variable resistance</a:t>
            </a:r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Tuning by Variable Capacitance</a:t>
            </a:r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Discrete tuning</a:t>
            </a:r>
            <a:endParaRPr lang="en-US" sz="2400" dirty="0"/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Problem of Supply noise: LDO and Current regulation</a:t>
            </a:r>
            <a:endParaRPr lang="en-US" sz="2400" dirty="0"/>
          </a:p>
          <a:p>
            <a:pPr marL="457200" indent="-457200">
              <a:buAutoNum type="arabicPeriod"/>
            </a:pPr>
            <a:endParaRPr lang="en-US" sz="2400" dirty="0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96063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9CD62-E594-8B58-F974-D7AAC7A47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39"/>
            <a:ext cx="10515600" cy="1325563"/>
          </a:xfrm>
        </p:spPr>
        <p:txBody>
          <a:bodyPr/>
          <a:lstStyle/>
          <a:p>
            <a:r>
              <a:rPr lang="en-US" b="1"/>
              <a:t>Phase noise in Ring oscillators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04AD5-9A93-4564-8A7E-D73CEC82F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7581"/>
            <a:ext cx="10515600" cy="53600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/>
              <a:t>Establish a relationship b/w Open &amp; Closed loop phase noise of a Ring </a:t>
            </a:r>
            <a:r>
              <a:rPr lang="en-US" sz="2400" b="1" err="1"/>
              <a:t>Osc</a:t>
            </a:r>
            <a:endParaRPr lang="en-US" sz="2400" b="1"/>
          </a:p>
          <a:p>
            <a:pPr marL="0" indent="0">
              <a:buNone/>
            </a:pPr>
            <a:endParaRPr lang="en-US" sz="2400" b="1"/>
          </a:p>
          <a:p>
            <a:pPr marL="0" indent="0">
              <a:buNone/>
            </a:pPr>
            <a:r>
              <a:rPr lang="en-US" sz="2400" b="1"/>
              <a:t>Open loop phase noise: </a:t>
            </a:r>
            <a:endParaRPr lang="en-US"/>
          </a:p>
          <a:p>
            <a:r>
              <a:rPr lang="en-US" sz="2400"/>
              <a:t>Each stage in the Delay Line corrupts the signal only once.</a:t>
            </a:r>
          </a:p>
          <a:p>
            <a:r>
              <a:rPr lang="en-US" sz="2400" err="1"/>
              <a:t>Φn</a:t>
            </a:r>
            <a:r>
              <a:rPr lang="en-US" sz="2400"/>
              <a:t> = </a:t>
            </a:r>
            <a:r>
              <a:rPr lang="en-US" sz="2400" err="1"/>
              <a:t>Φout</a:t>
            </a:r>
            <a:r>
              <a:rPr lang="en-US" sz="2400"/>
              <a:t> ; no loop</a:t>
            </a:r>
          </a:p>
          <a:p>
            <a:endParaRPr lang="en-US" sz="2400"/>
          </a:p>
          <a:p>
            <a:pPr marL="0" indent="0">
              <a:buNone/>
            </a:pPr>
            <a:r>
              <a:rPr lang="en-US" sz="2400" b="1"/>
              <a:t>Closed loop Phase noise:</a:t>
            </a:r>
          </a:p>
          <a:p>
            <a:r>
              <a:rPr lang="en-US" sz="2400"/>
              <a:t>Noise circulates in the loop and the signal is corrupted multiple times.</a:t>
            </a:r>
          </a:p>
          <a:p>
            <a:r>
              <a:rPr lang="en-US" sz="2400"/>
              <a:t>This accumulates jitter indefinitely. </a:t>
            </a:r>
          </a:p>
          <a:p>
            <a:r>
              <a:rPr lang="en-US" sz="2400" err="1"/>
              <a:t>Φn</a:t>
            </a:r>
            <a:r>
              <a:rPr lang="en-US" sz="2400"/>
              <a:t> is not equal to </a:t>
            </a:r>
            <a:r>
              <a:rPr lang="en-US" sz="2400" err="1"/>
              <a:t>Φout</a:t>
            </a:r>
            <a:r>
              <a:rPr lang="en-US" sz="2400"/>
              <a:t> </a:t>
            </a:r>
          </a:p>
          <a:p>
            <a:pPr marL="0" indent="0">
              <a:buNone/>
            </a:pPr>
            <a:endParaRPr lang="en-US" sz="2400"/>
          </a:p>
        </p:txBody>
      </p:sp>
      <p:pic>
        <p:nvPicPr>
          <p:cNvPr id="4" name="Picture 3" descr="A diagram of a machine&#10;&#10;AI-generated content may be incorrect.">
            <a:extLst>
              <a:ext uri="{FF2B5EF4-FFF2-40B4-BE49-F238E27FC236}">
                <a16:creationId xmlns:a16="http://schemas.microsoft.com/office/drawing/2014/main" id="{565EA644-7DC0-A8AB-CDD7-D86BE3EFB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856" y="3173867"/>
            <a:ext cx="3343275" cy="8477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3A4E7640-0ECA-D16A-D146-70ED69FDF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8618" y="5418364"/>
            <a:ext cx="3359150" cy="10287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6867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BE76F-AD54-BB9B-D07D-910A7A48C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0371"/>
            <a:ext cx="10451024" cy="64823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/>
              <a:t>Open Loop and closed Loop Phase noise equations</a:t>
            </a:r>
          </a:p>
          <a:p>
            <a:r>
              <a:rPr lang="en-US" sz="2400" b="1"/>
              <a:t>Ring oscillator with a total delay of TDL</a:t>
            </a:r>
            <a:endParaRPr lang="en-US" sz="24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Delay of one inverter = TD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Total oscillation delay = </a:t>
            </a:r>
            <a:r>
              <a:rPr lang="en-US" err="1"/>
              <a:t>Tosc</a:t>
            </a:r>
            <a:r>
              <a:rPr lang="en-US"/>
              <a:t> = 6TD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TDL has a phase shift of : </a:t>
            </a:r>
            <a:endParaRPr lang="en-US" err="1">
              <a:solidFill>
                <a:srgbClr val="FF0000"/>
              </a:solidFill>
              <a:ea typeface="+mn-lt"/>
              <a:cs typeface="+mn-lt"/>
            </a:endParaRPr>
          </a:p>
          <a:p>
            <a:pPr marL="914400" lvl="2" indent="0">
              <a:buNone/>
            </a:pPr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2π (TDL / </a:t>
            </a:r>
            <a:r>
              <a:rPr lang="en-US" sz="2400" err="1">
                <a:solidFill>
                  <a:srgbClr val="FF0000"/>
                </a:solidFill>
                <a:ea typeface="+mn-lt"/>
                <a:cs typeface="+mn-lt"/>
              </a:rPr>
              <a:t>Tosc</a:t>
            </a:r>
            <a:r>
              <a:rPr lang="en-US" sz="2400">
                <a:solidFill>
                  <a:srgbClr val="FF0000"/>
                </a:solidFill>
                <a:ea typeface="+mn-lt"/>
                <a:cs typeface="+mn-lt"/>
              </a:rPr>
              <a:t>) = 180 degrees</a:t>
            </a:r>
            <a:endParaRPr lang="en-US" sz="2400">
              <a:solidFill>
                <a:srgbClr val="FF0000"/>
              </a:solidFill>
            </a:endParaRPr>
          </a:p>
          <a:p>
            <a:pPr lvl="2"/>
            <a:r>
              <a:rPr lang="en-US" sz="2400"/>
              <a:t>TDL = </a:t>
            </a:r>
            <a:r>
              <a:rPr lang="en-US" sz="2400" err="1"/>
              <a:t>Tosc</a:t>
            </a:r>
            <a:r>
              <a:rPr lang="en-US" sz="2400"/>
              <a:t>/2 = </a:t>
            </a:r>
            <a:r>
              <a:rPr lang="en-US" sz="2400">
                <a:ea typeface="+mn-lt"/>
                <a:cs typeface="+mn-lt"/>
              </a:rPr>
              <a:t>1/(2f0)</a:t>
            </a:r>
            <a:r>
              <a:rPr lang="en-US" sz="2400"/>
              <a:t> ; </a:t>
            </a:r>
          </a:p>
          <a:p>
            <a:r>
              <a:rPr lang="en-US" sz="2400" u="sng"/>
              <a:t>Add a constant phase of </a:t>
            </a:r>
            <a:r>
              <a:rPr lang="en-US" sz="2400" u="sng">
                <a:ea typeface="+mn-lt"/>
                <a:cs typeface="+mn-lt"/>
              </a:rPr>
              <a:t>φ1 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Phase shift has to be 180 degrees for oscillations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/>
              <a:t>Frequency Adjustment : </a:t>
            </a:r>
            <a:endParaRPr lang="en-US" b="1">
              <a:solidFill>
                <a:srgbClr val="000000"/>
              </a:solidFill>
            </a:endParaRPr>
          </a:p>
          <a:p>
            <a:pPr lvl="2"/>
            <a:r>
              <a:rPr lang="en-US" sz="2400"/>
              <a:t>2π (TDL / </a:t>
            </a:r>
            <a:r>
              <a:rPr lang="en-US" sz="2400" err="1"/>
              <a:t>Tosc</a:t>
            </a:r>
            <a:r>
              <a:rPr lang="en-US" sz="2400"/>
              <a:t>) + φ1 = π</a:t>
            </a:r>
          </a:p>
          <a:p>
            <a:pPr lvl="2"/>
            <a:r>
              <a:rPr lang="en-US" sz="2400" b="1">
                <a:ea typeface="+mn-lt"/>
                <a:cs typeface="+mn-lt"/>
              </a:rPr>
              <a:t>New </a:t>
            </a:r>
            <a:r>
              <a:rPr lang="en-US" sz="2400" b="1" err="1">
                <a:ea typeface="+mn-lt"/>
                <a:cs typeface="+mn-lt"/>
              </a:rPr>
              <a:t>freq</a:t>
            </a:r>
            <a:r>
              <a:rPr lang="en-US" sz="2400" b="1">
                <a:ea typeface="+mn-lt"/>
                <a:cs typeface="+mn-lt"/>
              </a:rPr>
              <a:t> of oscillation is  : </a:t>
            </a:r>
            <a:r>
              <a:rPr lang="en-US" sz="2400" b="1" err="1">
                <a:solidFill>
                  <a:srgbClr val="FF0000"/>
                </a:solidFill>
                <a:ea typeface="+mn-lt"/>
                <a:cs typeface="+mn-lt"/>
              </a:rPr>
              <a:t>fosc</a:t>
            </a:r>
            <a:r>
              <a:rPr lang="en-US" sz="2400" b="1">
                <a:solidFill>
                  <a:srgbClr val="FF0000"/>
                </a:solidFill>
                <a:ea typeface="+mn-lt"/>
                <a:cs typeface="+mn-lt"/>
              </a:rPr>
              <a:t> = f0 − f0 * {φ1 / π} </a:t>
            </a:r>
            <a:endParaRPr lang="en-US" sz="2400"/>
          </a:p>
          <a:p>
            <a:pPr lvl="2"/>
            <a:r>
              <a:rPr lang="en-US" sz="2400"/>
              <a:t>Freq of oscillation without added phase = f0</a:t>
            </a:r>
            <a:endParaRPr lang="en-US" b="1" i="1"/>
          </a:p>
          <a:p>
            <a:pPr marL="0" indent="-342900" algn="ctr">
              <a:buNone/>
            </a:pPr>
            <a:r>
              <a:rPr lang="en-US" sz="2400" b="1" i="1" err="1"/>
              <a:t>Osc</a:t>
            </a:r>
            <a:r>
              <a:rPr lang="en-US" sz="2400" b="1" i="1"/>
              <a:t> Freq is dependent of the phase shift.</a:t>
            </a:r>
          </a:p>
          <a:p>
            <a:pPr marL="0" indent="-342900" algn="ctr">
              <a:buNone/>
            </a:pPr>
            <a:r>
              <a:rPr lang="en-US" sz="2400" b="1" i="1"/>
              <a:t>Gate delays TD do not change. </a:t>
            </a:r>
            <a:endParaRPr lang="en-US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BAF0D-0D42-0EEF-D41A-3E1F6BF80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51" y="932163"/>
            <a:ext cx="2529775" cy="15516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D792C5AC-DC62-76DD-D758-1BED660A0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913" y="2672931"/>
            <a:ext cx="3355975" cy="1504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1799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A9A12-7F90-D0A8-4BD9-7DF8D9F8D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r>
              <a:rPr lang="en-US" b="1"/>
              <a:t>Noise sources in CMOS inverter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90635-CC79-9311-7302-7AA2B205C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384"/>
            <a:ext cx="10515600" cy="50879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sz="2400"/>
              <a:t>NMOS and PMOS produce : </a:t>
            </a:r>
            <a:r>
              <a:rPr lang="en-US" sz="2400" u="sng"/>
              <a:t>Thermal </a:t>
            </a:r>
            <a:r>
              <a:rPr lang="en-US" sz="2400"/>
              <a:t>(white) noise and </a:t>
            </a:r>
            <a:r>
              <a:rPr lang="en-US" sz="2400" u="sng"/>
              <a:t>Flicker</a:t>
            </a:r>
            <a:r>
              <a:rPr lang="en-US" sz="2400"/>
              <a:t> noise.</a:t>
            </a:r>
          </a:p>
          <a:p>
            <a:pPr marL="514350" indent="-514350">
              <a:buAutoNum type="arabicPeriod"/>
            </a:pPr>
            <a:r>
              <a:rPr lang="en-US" sz="2400"/>
              <a:t>Falling edge in </a:t>
            </a:r>
            <a:r>
              <a:rPr lang="en-US" sz="2400" err="1"/>
              <a:t>Vout</a:t>
            </a:r>
            <a:r>
              <a:rPr lang="en-US" sz="2400"/>
              <a:t> is corrupted.</a:t>
            </a:r>
          </a:p>
          <a:p>
            <a:pPr marL="514350" indent="-514350">
              <a:buAutoNum type="arabicPeriod"/>
            </a:pPr>
            <a:r>
              <a:rPr lang="en-US" sz="2400"/>
              <a:t>Noise from NMOS and PMOS is injected into the capacitance CL.</a:t>
            </a:r>
          </a:p>
          <a:p>
            <a:pPr marL="0" indent="0">
              <a:buNone/>
            </a:pPr>
            <a:r>
              <a:rPr lang="en-US" sz="2400" b="1"/>
              <a:t>WORKING</a:t>
            </a:r>
            <a:endParaRPr lang="en-US" sz="2400"/>
          </a:p>
          <a:p>
            <a:r>
              <a:rPr lang="en-US" sz="2400" u="sng"/>
              <a:t>NMOS (M1) injects:</a:t>
            </a:r>
            <a:endParaRPr lang="en-US" sz="2400"/>
          </a:p>
          <a:p>
            <a:pPr lvl="1"/>
            <a:r>
              <a:rPr lang="en-US"/>
              <a:t>Thermal noise</a:t>
            </a:r>
          </a:p>
          <a:p>
            <a:pPr lvl="1"/>
            <a:r>
              <a:rPr lang="en-US"/>
              <a:t>Flicker noise (1/f)</a:t>
            </a:r>
          </a:p>
          <a:p>
            <a:r>
              <a:rPr lang="en-US" sz="2400" u="sng"/>
              <a:t>PMOS (M2) turns off suddenly:</a:t>
            </a:r>
            <a:endParaRPr lang="en-US" sz="2400"/>
          </a:p>
          <a:p>
            <a:pPr lvl="1"/>
            <a:r>
              <a:rPr lang="en-US"/>
              <a:t>Leaves </a:t>
            </a:r>
            <a:r>
              <a:rPr lang="en-US" err="1"/>
              <a:t>kT</a:t>
            </a:r>
            <a:r>
              <a:rPr lang="en-US"/>
              <a:t>/C noise on load capacitor CL</a:t>
            </a:r>
          </a:p>
          <a:p>
            <a:pPr marL="457200" lvl="1" indent="0" algn="ctr">
              <a:buNone/>
            </a:pPr>
            <a:endParaRPr lang="en-US" b="1" i="1"/>
          </a:p>
          <a:p>
            <a:pPr marL="457200" lvl="1" indent="0" algn="ctr">
              <a:buNone/>
            </a:pPr>
            <a:r>
              <a:rPr lang="en-US" b="1" i="1"/>
              <a:t>These noise sources corrupt the output edge, </a:t>
            </a:r>
          </a:p>
          <a:p>
            <a:pPr marL="457200" lvl="1" indent="0" algn="ctr">
              <a:buNone/>
            </a:pPr>
            <a:r>
              <a:rPr lang="en-US" b="1" i="1"/>
              <a:t>causing timing jitter → which translates to phase noise in oscillation.</a:t>
            </a:r>
          </a:p>
          <a:p>
            <a:pPr marL="571500" lvl="1" indent="-342900"/>
            <a:endParaRPr lang="en-US"/>
          </a:p>
          <a:p>
            <a:pPr marL="514350" indent="-514350">
              <a:buAutoNum type="arabicPeriod"/>
            </a:pPr>
            <a:endParaRPr lang="en-US" sz="24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E53B6BF-D774-BCEE-452E-76C1B25F8DEB}"/>
              </a:ext>
            </a:extLst>
          </p:cNvPr>
          <p:cNvGrpSpPr/>
          <p:nvPr/>
        </p:nvGrpSpPr>
        <p:grpSpPr>
          <a:xfrm>
            <a:off x="5955053" y="2927861"/>
            <a:ext cx="5404229" cy="1574692"/>
            <a:chOff x="3654675" y="2970993"/>
            <a:chExt cx="5404229" cy="1574692"/>
          </a:xfrm>
        </p:grpSpPr>
        <p:pic>
          <p:nvPicPr>
            <p:cNvPr id="6" name="Picture 5" descr="A diagram of a circuit&#10;&#10;AI-generated content may be incorrect.">
              <a:extLst>
                <a:ext uri="{FF2B5EF4-FFF2-40B4-BE49-F238E27FC236}">
                  <a16:creationId xmlns:a16="http://schemas.microsoft.com/office/drawing/2014/main" id="{BD33FACD-6276-F91E-75F7-2AC2368CD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4832" y="2977911"/>
              <a:ext cx="2964072" cy="1563536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5" name="Picture 4" descr="A diagram of a circuit&#10;&#10;AI-generated content may be incorrect.">
              <a:extLst>
                <a:ext uri="{FF2B5EF4-FFF2-40B4-BE49-F238E27FC236}">
                  <a16:creationId xmlns:a16="http://schemas.microsoft.com/office/drawing/2014/main" id="{57338887-DFAA-9704-3336-A18CC66ED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54675" y="2970993"/>
              <a:ext cx="2409986" cy="1574692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527093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21D4C-7107-6BD9-F704-2E0174C8C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b="1">
                <a:ea typeface="+mj-lt"/>
                <a:cs typeface="+mj-lt"/>
              </a:rPr>
            </a:br>
            <a:r>
              <a:rPr lang="en-US" b="1">
                <a:ea typeface="+mj-lt"/>
                <a:cs typeface="+mj-lt"/>
              </a:rPr>
              <a:t>Phase Noise in CMOS Inverter Oscillators</a:t>
            </a:r>
            <a:endParaRPr lang="en-US" b="1"/>
          </a:p>
          <a:p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1DB10-94EA-34EE-AA72-32743B0A3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9456"/>
            <a:ext cx="10515600" cy="54900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Analysis result in N stage ring oscillator: 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White noise :  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Flicker noise :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400" b="1">
                <a:solidFill>
                  <a:srgbClr val="FF0000"/>
                </a:solidFill>
              </a:rPr>
              <a:t>To be observed:</a:t>
            </a:r>
          </a:p>
          <a:p>
            <a:pPr marL="1143000"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2400" b="1">
                <a:ea typeface="+mn-lt"/>
                <a:cs typeface="+mn-lt"/>
              </a:rPr>
              <a:t>White noise PN :  </a:t>
            </a:r>
            <a:endParaRPr lang="en-US">
              <a:ea typeface="+mn-lt"/>
              <a:cs typeface="+mn-lt"/>
            </a:endParaRPr>
          </a:p>
          <a:p>
            <a:pPr marL="1600200"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Independent of Number of stages (N) &amp; Capacitance CL</a:t>
            </a:r>
          </a:p>
          <a:p>
            <a:pPr marL="1600200" lvl="1">
              <a:buFont typeface="Courier New" panose="020B0604020202020204" pitchFamily="34" charset="0"/>
              <a:buChar char="o"/>
            </a:pPr>
            <a:r>
              <a:rPr lang="en-US"/>
              <a:t>Improved by higher ID, VDD, and lower VTH</a:t>
            </a:r>
          </a:p>
          <a:p>
            <a:pPr marL="1143000">
              <a:buFont typeface="Wingdings" panose="020B0604020202020204" pitchFamily="34" charset="0"/>
              <a:buChar char="§"/>
            </a:pPr>
            <a:r>
              <a:rPr lang="en-US" sz="2400" b="1">
                <a:ea typeface="+mn-lt"/>
                <a:cs typeface="+mn-lt"/>
              </a:rPr>
              <a:t>Flicker Noise Phase Noise : </a:t>
            </a:r>
          </a:p>
          <a:p>
            <a:pPr marL="1600200"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Dependent inversely on CL(</a:t>
            </a:r>
            <a:r>
              <a:rPr lang="en-US" err="1">
                <a:ea typeface="+mn-lt"/>
                <a:cs typeface="+mn-lt"/>
              </a:rPr>
              <a:t>Nmos</a:t>
            </a:r>
            <a:r>
              <a:rPr lang="en-US">
                <a:ea typeface="+mn-lt"/>
                <a:cs typeface="+mn-lt"/>
              </a:rPr>
              <a:t> &amp; </a:t>
            </a:r>
            <a:r>
              <a:rPr lang="en-US" err="1">
                <a:ea typeface="+mn-lt"/>
                <a:cs typeface="+mn-lt"/>
              </a:rPr>
              <a:t>Pmos</a:t>
            </a:r>
            <a:r>
              <a:rPr lang="en-US">
                <a:ea typeface="+mn-lt"/>
                <a:cs typeface="+mn-lt"/>
              </a:rPr>
              <a:t>) but independent of N. </a:t>
            </a:r>
          </a:p>
          <a:p>
            <a:pPr marL="1600200"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Improved by higher ID, more stages N</a:t>
            </a:r>
            <a:endParaRPr lang="en-US" sz="2800"/>
          </a:p>
          <a:p>
            <a:pPr marL="914400" indent="0">
              <a:buNone/>
            </a:pPr>
            <a:r>
              <a:rPr lang="en-US" sz="2400">
                <a:ea typeface="+mn-lt"/>
                <a:cs typeface="+mn-lt"/>
              </a:rPr>
              <a:t> </a:t>
            </a:r>
          </a:p>
          <a:p>
            <a:pPr lvl="2">
              <a:buFont typeface="Wingdings" panose="020B0604020202020204" pitchFamily="34" charset="0"/>
              <a:buChar char="§"/>
            </a:pPr>
            <a:endParaRPr lang="en-US" sz="2400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B9CF4AB-6EC0-6054-F254-9CC023230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160" y="2269462"/>
            <a:ext cx="5901620" cy="6819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E19CEF-710E-D187-5AD3-76A6B04DA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878" y="1492683"/>
            <a:ext cx="3288044" cy="67628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75BF25-748C-07F7-6DF4-13D27F6F73A7}"/>
              </a:ext>
            </a:extLst>
          </p:cNvPr>
          <p:cNvSpPr txBox="1"/>
          <p:nvPr/>
        </p:nvSpPr>
        <p:spPr>
          <a:xfrm>
            <a:off x="9400861" y="1714481"/>
            <a:ext cx="2258211" cy="19319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u="sng"/>
              <a:t>Assumptions: </a:t>
            </a:r>
            <a:endParaRPr lang="en-US" u="sng"/>
          </a:p>
          <a:p>
            <a:pPr marL="342900" indent="-342900" algn="just">
              <a:buFont typeface="Arial"/>
              <a:buChar char="•"/>
            </a:pPr>
            <a:r>
              <a:rPr lang="en-US" sz="2400" err="1"/>
              <a:t>gm,N</a:t>
            </a:r>
            <a:r>
              <a:rPr lang="en-US" sz="2400"/>
              <a:t> = </a:t>
            </a:r>
            <a:r>
              <a:rPr lang="en-US" sz="2400" err="1"/>
              <a:t>gm,P</a:t>
            </a:r>
            <a:endParaRPr lang="en-US" err="1"/>
          </a:p>
          <a:p>
            <a:pPr marL="342900" indent="-342900" algn="just">
              <a:buFont typeface="Arial"/>
              <a:buChar char="•"/>
            </a:pPr>
            <a:r>
              <a:rPr lang="en-US" sz="2400"/>
              <a:t>IDN = IDP </a:t>
            </a:r>
            <a:endParaRPr lang="en-US"/>
          </a:p>
          <a:p>
            <a:pPr marL="342900" indent="-342900" algn="just">
              <a:buFont typeface="Arial"/>
              <a:buChar char="•"/>
            </a:pPr>
            <a:r>
              <a:rPr lang="en-US" sz="2400" err="1"/>
              <a:t>Vthn</a:t>
            </a:r>
            <a:r>
              <a:rPr lang="en-US" sz="2400"/>
              <a:t> = |</a:t>
            </a:r>
            <a:r>
              <a:rPr lang="en-US" sz="2400" err="1"/>
              <a:t>Vthp</a:t>
            </a:r>
            <a:r>
              <a:rPr lang="en-US" sz="2400"/>
              <a:t>|</a:t>
            </a:r>
          </a:p>
          <a:p>
            <a:pPr marL="342900" indent="-342900" algn="just">
              <a:buFont typeface="Arial"/>
              <a:buChar char="•"/>
            </a:pPr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0725CA-7ECB-B1BB-31B4-9886DF1A381F}"/>
              </a:ext>
            </a:extLst>
          </p:cNvPr>
          <p:cNvSpPr txBox="1"/>
          <p:nvPr/>
        </p:nvSpPr>
        <p:spPr>
          <a:xfrm>
            <a:off x="285850" y="5985889"/>
            <a:ext cx="1161742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i="1"/>
              <a:t>Phase noise of N-stage Ring Oscillator calculated using Phase noise of 1 inverter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205205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930DC-8972-B4BB-4AD0-F2AB3E983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r>
              <a:rPr lang="en-US" b="1"/>
              <a:t>Effects of Variations in the width on PN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70473-4BB9-CED5-E3E9-3469FF045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9863"/>
            <a:ext cx="10515600" cy="49971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If we </a:t>
            </a:r>
            <a:r>
              <a:rPr lang="en-US" sz="2400" b="1"/>
              <a:t>double </a:t>
            </a:r>
            <a:r>
              <a:rPr lang="en-US" sz="2400"/>
              <a:t>the widths of all the transistor; </a:t>
            </a:r>
          </a:p>
          <a:p>
            <a:pPr marL="514350" indent="-514350">
              <a:buAutoNum type="arabicPeriod"/>
            </a:pPr>
            <a:r>
              <a:rPr lang="en-US" sz="2400" u="sng"/>
              <a:t>Oscillator frequency </a:t>
            </a:r>
            <a:r>
              <a:rPr lang="en-US" sz="2400"/>
              <a:t>remains Same </a:t>
            </a:r>
          </a:p>
          <a:p>
            <a:pPr marL="971550" lvl="1" indent="-514350">
              <a:buFont typeface="Courier New" panose="020B0604020202020204" pitchFamily="34" charset="0"/>
              <a:buChar char="o"/>
            </a:pPr>
            <a:r>
              <a:rPr lang="en-US"/>
              <a:t>Capacitance is increased; Strength is increased ; Delay/stage is Same</a:t>
            </a:r>
          </a:p>
          <a:p>
            <a:pPr marL="514350" indent="-514350">
              <a:buAutoNum type="arabicPeriod"/>
            </a:pPr>
            <a:r>
              <a:rPr lang="en-US" sz="2400" u="sng"/>
              <a:t>Phase Noise</a:t>
            </a:r>
            <a:r>
              <a:rPr lang="en-US" sz="2400"/>
              <a:t> :</a:t>
            </a:r>
          </a:p>
          <a:p>
            <a:pPr marL="971550" lvl="1" indent="-514350">
              <a:buFont typeface="Courier New" panose="020B0604020202020204" pitchFamily="34" charset="0"/>
              <a:buChar char="o"/>
            </a:pPr>
            <a:r>
              <a:rPr lang="en-US"/>
              <a:t>White noise is Halved </a:t>
            </a:r>
          </a:p>
          <a:p>
            <a:pPr marL="1428750" lvl="2" indent="-514350">
              <a:buFont typeface="Wingdings" panose="020B0604020202020204" pitchFamily="34" charset="0"/>
              <a:buChar char="§"/>
            </a:pPr>
            <a:r>
              <a:rPr lang="en-US" sz="2400"/>
              <a:t>Since, gm and ID doubles --&gt; Noise current doubles</a:t>
            </a:r>
            <a:endParaRPr lang="en-US"/>
          </a:p>
          <a:p>
            <a:pPr marL="971550" lvl="1" indent="-514350">
              <a:buFont typeface="Courier New" panose="020B0604020202020204" pitchFamily="34" charset="0"/>
              <a:buChar char="o"/>
            </a:pPr>
            <a:r>
              <a:rPr lang="en-US"/>
              <a:t>Flicker noise is Halved </a:t>
            </a:r>
          </a:p>
          <a:p>
            <a:pPr marL="1428750" lvl="2" indent="-514350">
              <a:buFont typeface="Wingdings" panose="020B0604020202020204" pitchFamily="34" charset="0"/>
              <a:buChar char="§"/>
            </a:pPr>
            <a:r>
              <a:rPr lang="en-US" sz="2400"/>
              <a:t>Gate area increases</a:t>
            </a:r>
          </a:p>
          <a:p>
            <a:pPr marL="914400" lvl="2" indent="0" algn="ctr">
              <a:buNone/>
            </a:pPr>
            <a:endParaRPr lang="en-US" sz="2400" i="1"/>
          </a:p>
          <a:p>
            <a:pPr marL="457200" lvl="1" indent="-514350" algn="ctr">
              <a:buNone/>
            </a:pPr>
            <a:r>
              <a:rPr lang="en-US" b="1" i="1"/>
              <a:t>Greater width translates to lower phase noise </a:t>
            </a:r>
          </a:p>
          <a:p>
            <a:pPr marL="457200" lvl="1" indent="-514350" algn="ctr">
              <a:buNone/>
            </a:pPr>
            <a:r>
              <a:rPr lang="en-US" i="1">
                <a:ea typeface="+mn-lt"/>
                <a:cs typeface="+mn-lt"/>
              </a:rPr>
              <a:t>Phase noise decreases --&gt; Power consumption increases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9467-D152-8E2D-5441-685F28AD4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8"/>
            <a:ext cx="10515600" cy="1325563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Preliminary Design Ideas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6C6FE-AE97-48ED-B401-58D09CCAF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2371"/>
            <a:ext cx="10515600" cy="56686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400" b="1"/>
              <a:t>Initial design : </a:t>
            </a:r>
            <a:endParaRPr lang="en-US"/>
          </a:p>
          <a:p>
            <a:pPr marL="914400" lvl="1" indent="-457200">
              <a:buFont typeface="Courier New"/>
              <a:buChar char="o"/>
            </a:pPr>
            <a:r>
              <a:rPr lang="en-US"/>
              <a:t>3-stage ring oscillator </a:t>
            </a:r>
          </a:p>
          <a:p>
            <a:pPr marL="914400" lvl="1" indent="-457200">
              <a:buFont typeface="Courier New"/>
              <a:buChar char="o"/>
            </a:pPr>
            <a:r>
              <a:rPr lang="en-US"/>
              <a:t>Minimum-size devices {W/L = 120nm/ 40nm} &amp; VDD= 1V</a:t>
            </a:r>
          </a:p>
          <a:p>
            <a:pPr marL="914400" lvl="1" indent="-457200">
              <a:buFont typeface="Courier New"/>
              <a:buChar char="o"/>
            </a:pPr>
            <a:r>
              <a:rPr lang="en-US" b="1"/>
              <a:t>Results </a:t>
            </a:r>
            <a:r>
              <a:rPr lang="en-US"/>
              <a:t>: </a:t>
            </a:r>
          </a:p>
          <a:p>
            <a:pPr marL="1371600" lvl="2" indent="-457200">
              <a:buFont typeface="Wingdings"/>
              <a:buChar char="§"/>
            </a:pPr>
            <a:r>
              <a:rPr lang="en-US" sz="2400"/>
              <a:t>~45GHz (very high and ideal conditions) </a:t>
            </a:r>
          </a:p>
          <a:p>
            <a:pPr marL="1371600" lvl="2" indent="-457200">
              <a:buFont typeface="Wingdings"/>
              <a:buChar char="§"/>
            </a:pPr>
            <a:r>
              <a:rPr lang="en-US" sz="2400"/>
              <a:t>No full swings (due to fast feedback).</a:t>
            </a:r>
          </a:p>
          <a:p>
            <a:pPr marL="914400" lvl="1" indent="-457200">
              <a:buFont typeface="Courier New"/>
              <a:buChar char="o"/>
            </a:pPr>
            <a:r>
              <a:rPr lang="en-US"/>
              <a:t>Problem with the design:</a:t>
            </a:r>
          </a:p>
          <a:p>
            <a:pPr marL="1371600" lvl="2" indent="-457200">
              <a:buFont typeface="Wingdings"/>
              <a:buChar char="§"/>
            </a:pPr>
            <a:r>
              <a:rPr lang="en-US" sz="2400">
                <a:ea typeface="+mn-lt"/>
                <a:cs typeface="+mn-lt"/>
              </a:rPr>
              <a:t>Doesn't include interconnect capacitances, </a:t>
            </a:r>
          </a:p>
          <a:p>
            <a:pPr marL="1371600" lvl="2" indent="-457200">
              <a:buFont typeface="Wingdings"/>
              <a:buChar char="§"/>
            </a:pPr>
            <a:r>
              <a:rPr lang="en-US" sz="2400">
                <a:ea typeface="+mn-lt"/>
                <a:cs typeface="+mn-lt"/>
              </a:rPr>
              <a:t>buffer load &amp; Worse PVT case.</a:t>
            </a:r>
            <a:endParaRPr lang="en-US" sz="2400"/>
          </a:p>
          <a:p>
            <a:pPr marL="514350" indent="-514350">
              <a:buAutoNum type="arabicPeriod"/>
            </a:pPr>
            <a:r>
              <a:rPr lang="en-US" sz="2400" b="1"/>
              <a:t>Worst case Scenario: </a:t>
            </a:r>
            <a:endParaRPr lang="en-US"/>
          </a:p>
          <a:p>
            <a:pPr marL="971550" lvl="1" indent="-457200">
              <a:buFont typeface="Courier New" panose="020B0604020202020204" pitchFamily="34" charset="0"/>
              <a:buChar char="o"/>
            </a:pPr>
            <a:r>
              <a:rPr lang="en-US"/>
              <a:t>Interconnect CL=</a:t>
            </a:r>
            <a:r>
              <a:rPr lang="en-US">
                <a:ea typeface="+mn-lt"/>
                <a:cs typeface="+mn-lt"/>
              </a:rPr>
              <a:t>0.2 </a:t>
            </a:r>
            <a:r>
              <a:rPr lang="en-US" err="1">
                <a:ea typeface="+mn-lt"/>
                <a:cs typeface="+mn-lt"/>
              </a:rPr>
              <a:t>fF</a:t>
            </a:r>
            <a:r>
              <a:rPr lang="en-US">
                <a:ea typeface="+mn-lt"/>
                <a:cs typeface="+mn-lt"/>
              </a:rPr>
              <a:t> ; Buffer (fanout = 1) </a:t>
            </a:r>
            <a:endParaRPr lang="en-US"/>
          </a:p>
          <a:p>
            <a:pPr marL="971550" lvl="1" indent="-4572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VDD = 0.95V, T = 75°C, SS corner {slow VDD, High Temp}</a:t>
            </a:r>
          </a:p>
          <a:p>
            <a:pPr marL="971550" lvl="1" indent="-457200">
              <a:buFont typeface="Courier New" panose="020B0604020202020204" pitchFamily="34" charset="0"/>
              <a:buChar char="o"/>
            </a:pPr>
            <a:r>
              <a:rPr lang="en-US"/>
              <a:t>Results:  </a:t>
            </a:r>
            <a:r>
              <a:rPr lang="en-US" u="sng">
                <a:ea typeface="+mn-lt"/>
                <a:cs typeface="+mn-lt"/>
              </a:rPr>
              <a:t>Frequency drops to </a:t>
            </a:r>
            <a:r>
              <a:rPr lang="en-US" b="1" u="sng">
                <a:ea typeface="+mn-lt"/>
                <a:cs typeface="+mn-lt"/>
              </a:rPr>
              <a:t>~21 GHz</a:t>
            </a:r>
            <a:endParaRPr lang="en-US" u="sng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060C2F91-6692-03B2-B2E8-58FFD6D12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327" y="3214473"/>
            <a:ext cx="3585114" cy="14581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6440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31D24-24A3-ECF2-4DB4-E718F6A93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3693"/>
            <a:ext cx="10515600" cy="60174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400" b="1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b="1">
                <a:ea typeface="+mn-lt"/>
                <a:cs typeface="+mn-lt"/>
              </a:rPr>
              <a:t>Simulations Done for Worse-case :</a:t>
            </a:r>
            <a:r>
              <a:rPr lang="en-US" sz="2400" b="1">
                <a:ea typeface="+mn-lt"/>
                <a:cs typeface="+mn-lt"/>
              </a:rPr>
              <a:t> </a:t>
            </a: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Improved Layout </a:t>
            </a:r>
            <a:endParaRPr lang="en-US" sz="2400"/>
          </a:p>
          <a:p>
            <a:pPr marL="685800"/>
            <a:r>
              <a:rPr lang="en-US" sz="2400">
                <a:ea typeface="+mn-lt"/>
                <a:cs typeface="+mn-lt"/>
              </a:rPr>
              <a:t>Reduces wire capacitance between last and first inverter.</a:t>
            </a:r>
            <a:endParaRPr lang="en-US" sz="2400"/>
          </a:p>
          <a:p>
            <a:pPr marL="685800"/>
            <a:r>
              <a:rPr lang="en-US" sz="2400">
                <a:ea typeface="+mn-lt"/>
                <a:cs typeface="+mn-lt"/>
              </a:rPr>
              <a:t>Equalizes delays by symmetrical layout +  wires</a:t>
            </a:r>
            <a:endParaRPr lang="en-US" sz="2400"/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Strengthened PMOS </a:t>
            </a:r>
            <a:endParaRPr lang="en-US" sz="2400" b="1"/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/>
              <a:t>PMOS is doubled ; 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/>
              <a:t>Drive current is increased. 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PMOS </a:t>
            </a:r>
            <a:r>
              <a:rPr lang="en-US" b="1">
                <a:ea typeface="+mn-lt"/>
                <a:cs typeface="+mn-lt"/>
              </a:rPr>
              <a:t>charges the load capacitance CL</a:t>
            </a:r>
            <a:r>
              <a:rPr lang="en-US">
                <a:ea typeface="+mn-lt"/>
                <a:cs typeface="+mn-lt"/>
              </a:rPr>
              <a:t> faster.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Better pull up {the voltage closer to VDD} </a:t>
            </a:r>
            <a:endParaRPr lang="en-US" b="1"/>
          </a:p>
          <a:p>
            <a:pPr marL="914400" lvl="1" indent="-457200">
              <a:buFont typeface="Courier New" panose="020B0604020202020204" pitchFamily="34" charset="0"/>
              <a:buChar char="o"/>
            </a:pPr>
            <a:endParaRPr lang="en-US"/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/>
              <a:t>Frequency increases to ~22.6 GHz</a:t>
            </a:r>
          </a:p>
          <a:p>
            <a:pPr marL="1371600" lvl="2" indent="-457200">
              <a:buFont typeface="Wingdings" panose="020B0604020202020204" pitchFamily="34" charset="0"/>
              <a:buChar char="§"/>
            </a:pPr>
            <a:r>
              <a:rPr lang="en-US" sz="2400"/>
              <a:t>The faster CL charge lowers the delay slightly</a:t>
            </a:r>
          </a:p>
          <a:p>
            <a:pPr marL="457200" lvl="1" indent="0">
              <a:buNone/>
            </a:pPr>
            <a:endParaRPr lang="en-US"/>
          </a:p>
          <a:p>
            <a:pPr marL="914400" lvl="1" indent="-457200">
              <a:buFont typeface="Courier New" panose="020B0604020202020204" pitchFamily="34" charset="0"/>
              <a:buChar char="o"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pPr marL="971550" lvl="1" indent="-457200">
              <a:buFont typeface="Courier New" panose="020B0604020202020204" pitchFamily="34" charset="0"/>
              <a:buChar char="o"/>
            </a:pPr>
            <a:endParaRPr lang="en-US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E4465386-C67B-62D8-E064-320E90C3A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2964" y="2250175"/>
            <a:ext cx="2247900" cy="12001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1852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00B0A-C67B-FF80-4E50-ADF38C856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2333"/>
            <a:ext cx="10515600" cy="1325563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Obtaining the Desired Frequency 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BB6D8-75DE-6C62-3AF3-D62F405D6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8545"/>
            <a:ext cx="10515600" cy="51133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i="1">
                <a:ea typeface="+mn-lt"/>
                <a:cs typeface="+mn-lt"/>
              </a:rPr>
              <a:t>EX: Slowing Down the Ring Oscillator to 2 GHz</a:t>
            </a:r>
          </a:p>
          <a:p>
            <a:pPr marL="514350" indent="-514350">
              <a:buAutoNum type="alphaLcParenR"/>
            </a:pPr>
            <a:r>
              <a:rPr lang="en-US">
                <a:ea typeface="+mn-lt"/>
                <a:cs typeface="+mn-lt"/>
              </a:rPr>
              <a:t>Add capacitance to each node.</a:t>
            </a:r>
            <a:endParaRPr lang="en-US"/>
          </a:p>
          <a:p>
            <a:pPr marL="514350" indent="-514350">
              <a:buAutoNum type="alphaLcParenR"/>
            </a:pPr>
            <a:r>
              <a:rPr lang="en-US">
                <a:ea typeface="+mn-lt"/>
                <a:cs typeface="+mn-lt"/>
              </a:rPr>
              <a:t>Increase the number of stages. </a:t>
            </a:r>
          </a:p>
          <a:p>
            <a:pPr marL="514350" indent="-514350">
              <a:buAutoNum type="alphaLcParenR"/>
            </a:pPr>
            <a:r>
              <a:rPr lang="en-US">
                <a:ea typeface="+mn-lt"/>
                <a:cs typeface="+mn-lt"/>
              </a:rPr>
              <a:t>Increase the length of the transistors. </a:t>
            </a:r>
          </a:p>
          <a:p>
            <a:pPr marL="514350" indent="-514350">
              <a:buAutoNum type="alphaLcParenR"/>
            </a:pPr>
            <a:r>
              <a:rPr lang="en-US">
                <a:ea typeface="+mn-lt"/>
                <a:cs typeface="+mn-lt"/>
              </a:rPr>
              <a:t>Divide the output frequency by a factor of 10 or 11.</a:t>
            </a:r>
            <a:endParaRPr lang="en-US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D5C466AA-CF3A-38BD-10F1-89A812B93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874" y="3578797"/>
            <a:ext cx="6264222" cy="29483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1884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AD1F-5338-4F7C-2C01-FB4AC956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533" y="285720"/>
            <a:ext cx="5844823" cy="605897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>
              <a:spcBef>
                <a:spcPts val="1000"/>
              </a:spcBef>
            </a:pPr>
            <a:br>
              <a:rPr lang="en-US">
                <a:latin typeface="Aptos"/>
              </a:rPr>
            </a:br>
            <a:r>
              <a:rPr lang="en-US" sz="3200" b="1">
                <a:latin typeface="Aptos"/>
              </a:rPr>
              <a:t>a. Add capacitance to each node.</a:t>
            </a:r>
            <a:endParaRPr lang="en-US" sz="3200" b="1"/>
          </a:p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6041E-B202-D4D2-9CD3-B266B3677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5921"/>
            <a:ext cx="10501489" cy="35412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u="sng">
                <a:ea typeface="+mn-lt"/>
                <a:cs typeface="+mn-lt"/>
              </a:rPr>
              <a:t>Reduce oscillation frequency from </a:t>
            </a:r>
            <a:r>
              <a:rPr lang="en-US" sz="2400" b="1" u="sng">
                <a:ea typeface="+mn-lt"/>
                <a:cs typeface="+mn-lt"/>
              </a:rPr>
              <a:t>22.6 GHz → ~1.93 GHz</a:t>
            </a:r>
            <a:endParaRPr lang="en-US" sz="2400"/>
          </a:p>
          <a:p>
            <a:pPr marL="457200" indent="-457200">
              <a:buAutoNum type="arabicPeriod"/>
            </a:pPr>
            <a:r>
              <a:rPr lang="en-US" sz="2400" b="1">
                <a:ea typeface="+mn-lt"/>
                <a:cs typeface="+mn-lt"/>
              </a:rPr>
              <a:t>Capacitance </a:t>
            </a:r>
            <a:r>
              <a:rPr lang="en-US" sz="2400">
                <a:ea typeface="+mn-lt"/>
                <a:cs typeface="+mn-lt"/>
              </a:rPr>
              <a:t>per node : From 0.93 </a:t>
            </a:r>
            <a:r>
              <a:rPr lang="en-US" sz="2400" err="1">
                <a:ea typeface="+mn-lt"/>
                <a:cs typeface="+mn-lt"/>
              </a:rPr>
              <a:t>fF</a:t>
            </a:r>
            <a:r>
              <a:rPr lang="en-US" sz="2400">
                <a:ea typeface="+mn-lt"/>
                <a:cs typeface="+mn-lt"/>
              </a:rPr>
              <a:t> → ~10.5 </a:t>
            </a:r>
            <a:r>
              <a:rPr lang="en-US" sz="2400" err="1">
                <a:ea typeface="+mn-lt"/>
                <a:cs typeface="+mn-lt"/>
              </a:rPr>
              <a:t>fF</a:t>
            </a:r>
            <a:endParaRPr lang="en-US" sz="24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increases gate delay → slows down oscillation.</a:t>
            </a:r>
            <a:endParaRPr lang="en-US"/>
          </a:p>
          <a:p>
            <a:pPr>
              <a:buAutoNum type="arabicPeriod"/>
            </a:pPr>
            <a:r>
              <a:rPr lang="en-US" sz="2400">
                <a:ea typeface="+mn-lt"/>
                <a:cs typeface="+mn-lt"/>
              </a:rPr>
              <a:t>    </a:t>
            </a:r>
            <a:r>
              <a:rPr lang="en-US" sz="2400" b="1">
                <a:ea typeface="+mn-lt"/>
                <a:cs typeface="+mn-lt"/>
              </a:rPr>
              <a:t>Power</a:t>
            </a:r>
            <a:r>
              <a:rPr lang="en-US" sz="2400">
                <a:ea typeface="+mn-lt"/>
                <a:cs typeface="+mn-lt"/>
              </a:rPr>
              <a:t> consumption stays the same : </a:t>
            </a:r>
            <a:r>
              <a:rPr lang="en-US" sz="2400" b="1">
                <a:ea typeface="+mn-lt"/>
                <a:cs typeface="+mn-lt"/>
              </a:rPr>
              <a:t>P=3*f0*</a:t>
            </a:r>
            <a:r>
              <a:rPr lang="en-US" sz="2400" b="1" err="1">
                <a:ea typeface="+mn-lt"/>
                <a:cs typeface="+mn-lt"/>
              </a:rPr>
              <a:t>Ctot</a:t>
            </a:r>
            <a:r>
              <a:rPr lang="en-US" sz="2400" b="1">
                <a:ea typeface="+mn-lt"/>
                <a:cs typeface="+mn-lt"/>
              </a:rPr>
              <a:t>*(VDD^2) </a:t>
            </a:r>
            <a:endParaRPr lang="en-US" sz="2400" b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F0 decreases &amp; </a:t>
            </a:r>
            <a:r>
              <a:rPr lang="en-US" err="1">
                <a:ea typeface="+mn-lt"/>
                <a:cs typeface="+mn-lt"/>
              </a:rPr>
              <a:t>Ctot</a:t>
            </a:r>
            <a:r>
              <a:rPr lang="en-US">
                <a:ea typeface="+mn-lt"/>
                <a:cs typeface="+mn-lt"/>
              </a:rPr>
              <a:t> increases = Nullify </a:t>
            </a:r>
          </a:p>
          <a:p>
            <a:pPr>
              <a:buAutoNum type="arabicPeriod"/>
            </a:pPr>
            <a:r>
              <a:rPr lang="en-US" sz="2400">
                <a:ea typeface="+mn-lt"/>
                <a:cs typeface="+mn-lt"/>
              </a:rPr>
              <a:t>     Supply sensitivity </a:t>
            </a:r>
            <a:r>
              <a:rPr lang="en-US" sz="2400" err="1">
                <a:ea typeface="+mn-lt"/>
                <a:cs typeface="+mn-lt"/>
              </a:rPr>
              <a:t>Kvdd</a:t>
            </a:r>
            <a:r>
              <a:rPr lang="en-US" sz="2400">
                <a:ea typeface="+mn-lt"/>
                <a:cs typeface="+mn-lt"/>
              </a:rPr>
              <a:t> and </a:t>
            </a:r>
            <a:r>
              <a:rPr lang="en-US" sz="2400" err="1">
                <a:ea typeface="+mn-lt"/>
                <a:cs typeface="+mn-lt"/>
              </a:rPr>
              <a:t>Normalised</a:t>
            </a:r>
            <a:r>
              <a:rPr lang="en-US" sz="2400">
                <a:ea typeface="+mn-lt"/>
                <a:cs typeface="+mn-lt"/>
              </a:rPr>
              <a:t> value.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err="1">
                <a:ea typeface="+mn-lt"/>
                <a:cs typeface="+mn-lt"/>
              </a:rPr>
              <a:t>KVdd</a:t>
            </a:r>
            <a:r>
              <a:rPr lang="en-US" b="1">
                <a:ea typeface="+mn-lt"/>
                <a:cs typeface="+mn-lt"/>
              </a:rPr>
              <a:t> </a:t>
            </a:r>
            <a:r>
              <a:rPr lang="en-US">
                <a:ea typeface="+mn-lt"/>
                <a:cs typeface="+mn-lt"/>
              </a:rPr>
              <a:t>decreases; lower absolute </a:t>
            </a:r>
            <a:r>
              <a:rPr lang="en-US" err="1">
                <a:ea typeface="+mn-lt"/>
                <a:cs typeface="+mn-lt"/>
              </a:rPr>
              <a:t>freq</a:t>
            </a:r>
            <a:r>
              <a:rPr lang="en-US">
                <a:ea typeface="+mn-lt"/>
                <a:cs typeface="+mn-lt"/>
              </a:rPr>
              <a:t> -&gt; less sensitive in GHz/V terms.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ea typeface="+mn-lt"/>
                <a:cs typeface="+mn-lt"/>
              </a:rPr>
              <a:t>KVDD/f0 </a:t>
            </a:r>
            <a:r>
              <a:rPr lang="en-US">
                <a:ea typeface="+mn-lt"/>
                <a:cs typeface="+mn-lt"/>
              </a:rPr>
              <a:t>fairly remains the same. </a:t>
            </a:r>
            <a:endParaRPr lang="en-US" sz="240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AutoNum type="arabicPeriod"/>
            </a:pPr>
            <a:endParaRPr lang="en-US" sz="240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sz="2400"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AutoNum type="arabicPeriod"/>
            </a:pPr>
            <a:endParaRPr lang="en-US" sz="24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2400">
              <a:ea typeface="+mn-lt"/>
              <a:cs typeface="+mn-lt"/>
            </a:endParaRPr>
          </a:p>
          <a:p>
            <a:pPr>
              <a:buAutoNum type="arabicPeriod"/>
            </a:pPr>
            <a:endParaRPr lang="en-US" sz="2400">
              <a:ea typeface="+mn-lt"/>
              <a:cs typeface="+mn-lt"/>
            </a:endParaRPr>
          </a:p>
          <a:p>
            <a:pPr>
              <a:buAutoNum type="arabicPeriod"/>
            </a:pPr>
            <a:endParaRPr lang="en-US" sz="2400">
              <a:ea typeface="+mn-lt"/>
              <a:cs typeface="+mn-lt"/>
            </a:endParaRP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31670D09-096F-9046-75EB-1E8C53B1C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861" y="885076"/>
            <a:ext cx="2878667" cy="13260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9D10180-E533-3618-8677-0BEE231AA1CF}"/>
              </a:ext>
            </a:extLst>
          </p:cNvPr>
          <p:cNvSpPr txBox="1">
            <a:spLocks/>
          </p:cNvSpPr>
          <p:nvPr/>
        </p:nvSpPr>
        <p:spPr>
          <a:xfrm>
            <a:off x="3091826" y="4362605"/>
            <a:ext cx="5958243" cy="4168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1000"/>
              </a:spcBef>
            </a:pPr>
            <a:br>
              <a:rPr lang="en-US" sz="2900">
                <a:latin typeface="Aptos"/>
              </a:rPr>
            </a:br>
            <a:r>
              <a:rPr lang="en-US" sz="2900" b="1">
                <a:latin typeface="Aptos"/>
              </a:rPr>
              <a:t>b. Add capacitance to each node.</a:t>
            </a:r>
            <a:endParaRPr lang="en-US" sz="2900" b="1"/>
          </a:p>
          <a:p>
            <a:pPr algn="ctr"/>
            <a:endParaRPr lang="en-US" sz="290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3340D79-856D-5369-118F-45E2D6FFF363}"/>
              </a:ext>
            </a:extLst>
          </p:cNvPr>
          <p:cNvSpPr txBox="1">
            <a:spLocks/>
          </p:cNvSpPr>
          <p:nvPr/>
        </p:nvSpPr>
        <p:spPr>
          <a:xfrm>
            <a:off x="832449" y="4776435"/>
            <a:ext cx="10860921" cy="157156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u="sng"/>
              <a:t>Increase inverters from </a:t>
            </a:r>
            <a:r>
              <a:rPr lang="en-US" sz="2400" b="1" u="sng"/>
              <a:t>N = 3 to 31</a:t>
            </a:r>
            <a:r>
              <a:rPr lang="en-US" sz="2400" u="sng"/>
              <a:t> : Oscillations of  </a:t>
            </a:r>
            <a:r>
              <a:rPr lang="en-US" sz="2400" b="1" u="sng"/>
              <a:t>2.3Ghz with Sharper  Edges</a:t>
            </a:r>
          </a:p>
          <a:p>
            <a:pPr marL="457200" indent="-457200">
              <a:buAutoNum type="arabicPeriod"/>
            </a:pPr>
            <a:r>
              <a:rPr lang="en-US" sz="2400">
                <a:ea typeface="+mn-lt"/>
                <a:cs typeface="+mn-lt"/>
              </a:rPr>
              <a:t>Each inverter still sees </a:t>
            </a:r>
            <a:r>
              <a:rPr lang="en-US" sz="2400" b="1">
                <a:ea typeface="+mn-lt"/>
                <a:cs typeface="+mn-lt"/>
              </a:rPr>
              <a:t>unity fanout</a:t>
            </a:r>
            <a:r>
              <a:rPr lang="en-US" sz="2400">
                <a:ea typeface="+mn-lt"/>
                <a:cs typeface="+mn-lt"/>
              </a:rPr>
              <a:t> → rise/fall times preserved.</a:t>
            </a:r>
            <a:endParaRPr lang="en-US" sz="2400"/>
          </a:p>
          <a:p>
            <a:pPr marL="457200" indent="-457200">
              <a:buAutoNum type="arabicPeriod"/>
            </a:pPr>
            <a:r>
              <a:rPr lang="en-US" sz="2400"/>
              <a:t>Power is Independent of the stage count.</a:t>
            </a:r>
            <a:r>
              <a:rPr lang="en-US" sz="2400" b="1"/>
              <a:t> </a:t>
            </a:r>
            <a:r>
              <a:rPr lang="en-US" sz="2400" b="1" i="1"/>
              <a:t>P = {</a:t>
            </a:r>
            <a:r>
              <a:rPr lang="en-US" sz="2400" b="1" i="1" err="1"/>
              <a:t>Ctot</a:t>
            </a:r>
            <a:r>
              <a:rPr lang="en-US" sz="2400" b="1" i="1"/>
              <a:t>*(Vdd^2)}/2TD</a:t>
            </a:r>
            <a:r>
              <a:rPr lang="en-US" sz="2400" i="1"/>
              <a:t> ; f0= 1/2NTD</a:t>
            </a:r>
          </a:p>
          <a:p>
            <a:pPr marL="457200" indent="-457200">
              <a:buAutoNum type="arabicPeriod"/>
            </a:pPr>
            <a:r>
              <a:rPr lang="en-US" sz="2400" err="1"/>
              <a:t>KVdd</a:t>
            </a:r>
            <a:r>
              <a:rPr lang="en-US" sz="2400"/>
              <a:t> and </a:t>
            </a:r>
            <a:r>
              <a:rPr lang="en-US" sz="2400" err="1"/>
              <a:t>KVdd</a:t>
            </a:r>
            <a:r>
              <a:rPr lang="en-US" sz="2400"/>
              <a:t>/f0 remain same. </a:t>
            </a:r>
          </a:p>
          <a:p>
            <a:pPr marL="457200" indent="-457200">
              <a:buAutoNum type="arabicPeriod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29697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96F8417-A66B-6164-8D01-238A98104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5922"/>
            <a:ext cx="10501489" cy="3181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u="sng" dirty="0">
                <a:ea typeface="+mn-lt"/>
                <a:cs typeface="+mn-lt"/>
              </a:rPr>
              <a:t>Increase Length to </a:t>
            </a:r>
            <a:r>
              <a:rPr lang="en-US" sz="2400" b="1" u="sng" dirty="0">
                <a:ea typeface="+mn-lt"/>
                <a:cs typeface="+mn-lt"/>
              </a:rPr>
              <a:t>L=240nm</a:t>
            </a:r>
            <a:r>
              <a:rPr lang="en-US" sz="2400" u="sng" dirty="0">
                <a:ea typeface="+mn-lt"/>
                <a:cs typeface="+mn-lt"/>
              </a:rPr>
              <a:t> to obtain a </a:t>
            </a:r>
            <a:r>
              <a:rPr lang="en-US" sz="2400" u="sng" dirty="0" err="1">
                <a:ea typeface="+mn-lt"/>
                <a:cs typeface="+mn-lt"/>
              </a:rPr>
              <a:t>freqency</a:t>
            </a:r>
            <a:r>
              <a:rPr lang="en-US" sz="2400" u="sng" dirty="0">
                <a:ea typeface="+mn-lt"/>
                <a:cs typeface="+mn-lt"/>
              </a:rPr>
              <a:t> of</a:t>
            </a:r>
            <a:r>
              <a:rPr lang="en-US" sz="2400" b="1" u="sng" dirty="0">
                <a:ea typeface="+mn-lt"/>
                <a:cs typeface="+mn-lt"/>
              </a:rPr>
              <a:t> ~2.5GHz</a:t>
            </a:r>
            <a:r>
              <a:rPr lang="en-US" sz="2400" u="sng" dirty="0">
                <a:ea typeface="+mn-lt"/>
                <a:cs typeface="+mn-lt"/>
              </a:rPr>
              <a:t> </a:t>
            </a:r>
            <a:endParaRPr lang="en-US" sz="2400" dirty="0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Increasing L weakens the Inverters : Less current drive; switching is slow</a:t>
            </a:r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Input </a:t>
            </a:r>
            <a:r>
              <a:rPr lang="en-US" sz="2400" b="1" dirty="0">
                <a:ea typeface="+mn-lt"/>
                <a:cs typeface="+mn-lt"/>
              </a:rPr>
              <a:t>Capacitance </a:t>
            </a:r>
            <a:r>
              <a:rPr lang="en-US" sz="2400" dirty="0">
                <a:ea typeface="+mn-lt"/>
                <a:cs typeface="+mn-lt"/>
              </a:rPr>
              <a:t>rises due to gate area increase </a:t>
            </a:r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Flicker noise decreases: due to larger channels have less Low-</a:t>
            </a:r>
            <a:r>
              <a:rPr lang="en-US" sz="2400" dirty="0" err="1">
                <a:ea typeface="+mn-lt"/>
                <a:cs typeface="+mn-lt"/>
              </a:rPr>
              <a:t>freq</a:t>
            </a:r>
            <a:r>
              <a:rPr lang="en-US" sz="2400" dirty="0">
                <a:ea typeface="+mn-lt"/>
                <a:cs typeface="+mn-lt"/>
              </a:rPr>
              <a:t> noise. </a:t>
            </a:r>
          </a:p>
          <a:p>
            <a:pPr marL="914400" lvl="1">
              <a:buFont typeface="Courier New"/>
              <a:buChar char="o"/>
            </a:pPr>
            <a:r>
              <a:rPr lang="en-US" b="1" dirty="0">
                <a:ea typeface="+mn-lt"/>
                <a:cs typeface="+mn-lt"/>
              </a:rPr>
              <a:t>Delay is proportional to L^2 </a:t>
            </a:r>
            <a:endParaRPr lang="en-US" dirty="0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ea typeface="+mn-lt"/>
                <a:cs typeface="+mn-lt"/>
              </a:rPr>
              <a:t>Power </a:t>
            </a:r>
            <a:r>
              <a:rPr lang="en-US" sz="2400" dirty="0">
                <a:ea typeface="+mn-lt"/>
                <a:cs typeface="+mn-lt"/>
              </a:rPr>
              <a:t>consumption is </a:t>
            </a:r>
            <a:r>
              <a:rPr lang="en-US" sz="2400" u="sng" dirty="0">
                <a:ea typeface="+mn-lt"/>
                <a:cs typeface="+mn-lt"/>
              </a:rPr>
              <a:t>reduced </a:t>
            </a:r>
            <a:r>
              <a:rPr lang="en-US" sz="2400" dirty="0">
                <a:ea typeface="+mn-lt"/>
                <a:cs typeface="+mn-lt"/>
              </a:rPr>
              <a:t>: weaker Inverters-&gt; weaker IDD</a:t>
            </a:r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Rounded peaks : due to weaker inverters : less pull. </a:t>
            </a:r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ea typeface="+mn-lt"/>
              <a:cs typeface="+mn-lt"/>
            </a:endParaRPr>
          </a:p>
          <a:p>
            <a:pPr>
              <a:buAutoNum type="arabicPeriod"/>
            </a:pPr>
            <a:endParaRPr lang="en-US" sz="2400">
              <a:ea typeface="+mn-lt"/>
              <a:cs typeface="+mn-lt"/>
            </a:endParaRPr>
          </a:p>
          <a:p>
            <a:pPr>
              <a:buAutoNum type="arabicPeriod"/>
            </a:pPr>
            <a:endParaRPr lang="en-US" sz="2400">
              <a:ea typeface="+mn-lt"/>
              <a:cs typeface="+mn-lt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5DF6A3B-43B8-AB87-C951-7DD5AA4F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533" y="285720"/>
            <a:ext cx="5844823" cy="605897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pPr algn="ctr">
              <a:spcBef>
                <a:spcPts val="1000"/>
              </a:spcBef>
            </a:pPr>
            <a:br>
              <a:rPr lang="en-US">
                <a:latin typeface="Aptos"/>
              </a:rPr>
            </a:br>
            <a:r>
              <a:rPr lang="en-US" sz="3200" b="1">
                <a:latin typeface="Aptos"/>
              </a:rPr>
              <a:t>C. Higher transistor lengths</a:t>
            </a:r>
            <a:endParaRPr lang="en-US" sz="3200" b="1"/>
          </a:p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24BCF1E-DC3A-CCCD-2850-254AF7091BFB}"/>
              </a:ext>
            </a:extLst>
          </p:cNvPr>
          <p:cNvSpPr txBox="1">
            <a:spLocks/>
          </p:cNvSpPr>
          <p:nvPr/>
        </p:nvSpPr>
        <p:spPr>
          <a:xfrm>
            <a:off x="3160782" y="4061213"/>
            <a:ext cx="5873577" cy="56276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1000"/>
              </a:spcBef>
            </a:pPr>
            <a:endParaRPr lang="en-US" sz="3200">
              <a:latin typeface="Aptos"/>
            </a:endParaRPr>
          </a:p>
          <a:p>
            <a:pPr algn="ctr">
              <a:spcBef>
                <a:spcPts val="1000"/>
              </a:spcBef>
            </a:pPr>
            <a:r>
              <a:rPr lang="en-US" sz="2900" b="1">
                <a:latin typeface="Aptos"/>
              </a:rPr>
              <a:t>d. Frequency division</a:t>
            </a:r>
            <a:endParaRPr lang="en-US"/>
          </a:p>
          <a:p>
            <a:pPr algn="ctr"/>
            <a:endParaRPr lang="en-US" b="1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7A0BBAB-DD41-877F-36E3-7807DE161DBC}"/>
              </a:ext>
            </a:extLst>
          </p:cNvPr>
          <p:cNvSpPr txBox="1">
            <a:spLocks/>
          </p:cNvSpPr>
          <p:nvPr/>
        </p:nvSpPr>
        <p:spPr>
          <a:xfrm>
            <a:off x="832449" y="4632662"/>
            <a:ext cx="10515866" cy="21754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u="sng"/>
              <a:t>Adding a 4th inverter to the o/p of the ring oscillator </a:t>
            </a:r>
          </a:p>
          <a:p>
            <a:pPr marL="457200" indent="-457200">
              <a:buAutoNum type="arabicPeriod"/>
            </a:pPr>
            <a:r>
              <a:rPr lang="en-US" sz="2400"/>
              <a:t>This acts as a frequency divider/counter.</a:t>
            </a:r>
          </a:p>
          <a:p>
            <a:pPr marL="457200" indent="-457200">
              <a:buAutoNum type="arabicPeriod"/>
            </a:pPr>
            <a:r>
              <a:rPr lang="en-US" sz="2400"/>
              <a:t>Counter consumes more power</a:t>
            </a:r>
          </a:p>
          <a:p>
            <a:pPr marL="457200" indent="-457200">
              <a:buAutoNum type="arabicPeriod"/>
            </a:pPr>
            <a:r>
              <a:rPr lang="en-US" sz="2400"/>
              <a:t>No change in sensitivity or </a:t>
            </a:r>
            <a:r>
              <a:rPr lang="en-US" sz="2400" err="1"/>
              <a:t>KVdd</a:t>
            </a:r>
            <a:r>
              <a:rPr lang="en-US" sz="2400"/>
              <a:t>/f0 values </a:t>
            </a:r>
          </a:p>
        </p:txBody>
      </p:sp>
    </p:spTree>
    <p:extLst>
      <p:ext uri="{BB962C8B-B14F-4D97-AF65-F5344CB8AC3E}">
        <p14:creationId xmlns:p14="http://schemas.microsoft.com/office/powerpoint/2010/main" val="1419121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0892C-A6F7-C75A-ADA0-FC3411ADF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7"/>
            <a:ext cx="10515600" cy="1325563"/>
          </a:xfrm>
        </p:spPr>
        <p:txBody>
          <a:bodyPr/>
          <a:lstStyle/>
          <a:p>
            <a:r>
              <a:rPr lang="en-US" b="1"/>
              <a:t>Phase Noise Considerations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0089B-B4D3-B944-56CE-950086D22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2589"/>
            <a:ext cx="10515600" cy="50443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We know that Power is inversely proportional to phase noise </a:t>
            </a:r>
          </a:p>
          <a:p>
            <a:r>
              <a:rPr lang="en-US" sz="2400"/>
              <a:t>And phase noise directly affects the oscillation frequency of the ring </a:t>
            </a:r>
            <a:r>
              <a:rPr lang="en-US" sz="2400" err="1"/>
              <a:t>osc</a:t>
            </a:r>
            <a:r>
              <a:rPr lang="en-US" sz="2400"/>
              <a:t>.</a:t>
            </a:r>
          </a:p>
          <a:p>
            <a:endParaRPr lang="en-US" sz="2400"/>
          </a:p>
          <a:p>
            <a:pPr marL="0" indent="0">
              <a:buNone/>
            </a:pPr>
            <a:r>
              <a:rPr lang="en-US" sz="2400" u="sng"/>
              <a:t>Example: Reducing Phase noise by 3dB  (</a:t>
            </a:r>
            <a:r>
              <a:rPr lang="en-US" sz="2400" u="sng" err="1"/>
              <a:t>approx</a:t>
            </a:r>
            <a:r>
              <a:rPr lang="en-US" sz="2400" u="sng"/>
              <a:t> a factor of 2)</a:t>
            </a:r>
          </a:p>
          <a:p>
            <a:pPr marL="0" indent="0">
              <a:buNone/>
            </a:pPr>
            <a:r>
              <a:rPr lang="en-US" sz="2400"/>
              <a:t>a) </a:t>
            </a:r>
            <a:r>
              <a:rPr lang="en-US" sz="2400" b="1"/>
              <a:t>Adding </a:t>
            </a:r>
            <a:r>
              <a:rPr lang="en-US" sz="2400"/>
              <a:t>identical oscillator outputs. Combined phase noise is HALVED.</a:t>
            </a:r>
          </a:p>
          <a:p>
            <a:pPr marL="0" indent="0">
              <a:buNone/>
            </a:pPr>
            <a:r>
              <a:rPr lang="en-US" sz="2400"/>
              <a:t>b) </a:t>
            </a:r>
            <a:r>
              <a:rPr lang="en-US" sz="2400" b="1"/>
              <a:t>Scaling up</a:t>
            </a:r>
            <a:r>
              <a:rPr lang="en-US" sz="2400"/>
              <a:t> width and capacitances; scaling down R and L;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Voltage swing &amp; frequency (RC &amp; LC don’t change) remains same.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Phase noise is HALVED.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>
                <a:ea typeface="+mn-lt"/>
                <a:cs typeface="+mn-lt"/>
              </a:rPr>
              <a:t>You get lower phase noise but use more power.</a:t>
            </a:r>
          </a:p>
        </p:txBody>
      </p:sp>
    </p:spTree>
    <p:extLst>
      <p:ext uri="{BB962C8B-B14F-4D97-AF65-F5344CB8AC3E}">
        <p14:creationId xmlns:p14="http://schemas.microsoft.com/office/powerpoint/2010/main" val="630878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61AEE-77B6-C3D9-6488-1F7228FB6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6003"/>
            <a:ext cx="10515600" cy="5860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Transistor Noise Simulation</a:t>
            </a:r>
          </a:p>
          <a:p>
            <a:r>
              <a:rPr lang="en-US" sz="2400" u="sng" dirty="0"/>
              <a:t>Transistor noise contributes to Phase noise 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Thermal noise (is flat across </a:t>
            </a:r>
            <a:r>
              <a:rPr lang="en-US" dirty="0" err="1"/>
              <a:t>freq</a:t>
            </a:r>
            <a:r>
              <a:rPr lang="en-US" dirty="0"/>
              <a:t> range).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Flicker noise (dominant at low </a:t>
            </a:r>
            <a:r>
              <a:rPr lang="en-US" dirty="0" err="1"/>
              <a:t>freq</a:t>
            </a:r>
            <a:r>
              <a:rPr lang="en-US" dirty="0"/>
              <a:t>; 1/f fall).</a:t>
            </a:r>
          </a:p>
          <a:p>
            <a:r>
              <a:rPr lang="en-US" sz="2400" u="sng" dirty="0"/>
              <a:t>Flicker noise corner in Ring </a:t>
            </a:r>
            <a:r>
              <a:rPr lang="en-US" sz="2400" u="sng" dirty="0" err="1"/>
              <a:t>Osc</a:t>
            </a:r>
            <a:r>
              <a:rPr lang="en-US" sz="2400" u="sng" dirty="0"/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We have considered contributions of NMOS devices.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Oscillator's flicker noise corner is LOWER than of a single transistor by a factor of 2N.  { </a:t>
            </a:r>
            <a:r>
              <a:rPr lang="en-US" i="1" dirty="0"/>
              <a:t>S</a:t>
            </a:r>
            <a:r>
              <a:rPr lang="en-US" sz="1600" i="1" dirty="0"/>
              <a:t>I,NMOS</a:t>
            </a:r>
            <a:r>
              <a:rPr lang="en-US" i="1" dirty="0"/>
              <a:t> = (1 / 2N) * S</a:t>
            </a:r>
            <a:r>
              <a:rPr lang="en-US" sz="1800" i="1" dirty="0"/>
              <a:t>1/</a:t>
            </a:r>
            <a:r>
              <a:rPr lang="en-US" sz="1800" i="1" dirty="0" err="1"/>
              <a:t>f,NMOS</a:t>
            </a:r>
            <a:r>
              <a:rPr lang="en-US" i="1" dirty="0"/>
              <a:t>}</a:t>
            </a:r>
            <a:endParaRPr lang="en-US" i="1"/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Figure of Merit</a:t>
            </a:r>
            <a:endParaRPr lang="en-US" dirty="0">
              <a:ea typeface="+mn-lt"/>
              <a:cs typeface="+mn-lt"/>
            </a:endParaRPr>
          </a:p>
          <a:p>
            <a:pPr marL="342900" indent="-342900"/>
            <a:r>
              <a:rPr lang="en-US" sz="2400" dirty="0"/>
              <a:t>Offset : f at which the phase noise is defined.</a:t>
            </a:r>
          </a:p>
          <a:p>
            <a:pPr marL="342900" indent="-342900"/>
            <a:r>
              <a:rPr lang="en-US" sz="2400" dirty="0"/>
              <a:t>We report 10logFOM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FOM improves as we go from the 1/f-noise regime (low f) to the white-noise regime (high f) as phase noise reduces. </a:t>
            </a:r>
            <a:endParaRPr lang="en-US" sz="2400" dirty="0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marL="457200" lvl="1" indent="0">
              <a:buNone/>
            </a:pPr>
            <a:endParaRPr lang="en-US"/>
          </a:p>
        </p:txBody>
      </p:sp>
      <p:pic>
        <p:nvPicPr>
          <p:cNvPr id="2" name="Picture 1" descr="A graph of a function&#10;&#10;AI-generated content may be incorrect.">
            <a:extLst>
              <a:ext uri="{FF2B5EF4-FFF2-40B4-BE49-F238E27FC236}">
                <a16:creationId xmlns:a16="http://schemas.microsoft.com/office/drawing/2014/main" id="{98E6DA85-86AC-F984-6FDD-6959446F3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1193" y="309742"/>
            <a:ext cx="2954367" cy="18965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96FB1623-00EE-0B50-B8AA-F58EFE98D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124" y="3248115"/>
            <a:ext cx="2950055" cy="16701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Picture 3" descr="A black line with a number and a white background&#10;&#10;AI-generated content may be incorrect.">
            <a:extLst>
              <a:ext uri="{FF2B5EF4-FFF2-40B4-BE49-F238E27FC236}">
                <a16:creationId xmlns:a16="http://schemas.microsoft.com/office/drawing/2014/main" id="{675414AF-E0C2-4AC7-42AB-9E94C76BC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4827" y="5654435"/>
            <a:ext cx="3629025" cy="6976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53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00939-4595-9268-B2C8-8510F7488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94950"/>
            <a:ext cx="10529977" cy="1325563"/>
          </a:xfrm>
        </p:spPr>
        <p:txBody>
          <a:bodyPr/>
          <a:lstStyle/>
          <a:p>
            <a:r>
              <a:rPr lang="en-US" b="1" dirty="0"/>
              <a:t>Four 2-GHz oscillator designs.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B2731-AFC0-9253-11F4-05297D115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1100"/>
            <a:ext cx="10515600" cy="583220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 dirty="0"/>
              <a:t>How do design ideas previously proposed affect phase noise and FOM?</a:t>
            </a:r>
            <a:endParaRPr lang="en-US" sz="2400" dirty="0"/>
          </a:p>
          <a:p>
            <a:pPr marL="457200" indent="-457200" algn="just">
              <a:buAutoNum type="alphaLcParenR"/>
            </a:pPr>
            <a:r>
              <a:rPr lang="en-US" sz="2400" u="sng" dirty="0"/>
              <a:t>First 2-GHz Oscillator Phase Noise : Adding CL.</a:t>
            </a:r>
            <a:endParaRPr lang="en-US" dirty="0"/>
          </a:p>
          <a:p>
            <a:pPr marL="914400" lvl="1" indent="-457200" algn="just">
              <a:buFont typeface="Courier New"/>
              <a:buChar char="o"/>
            </a:pPr>
            <a:r>
              <a:rPr lang="en-US" dirty="0"/>
              <a:t>Frequency was reduced from 22.6GHz to 1.93Ghz</a:t>
            </a:r>
          </a:p>
          <a:p>
            <a:pPr marL="914400" lvl="1" indent="-457200" algn="just">
              <a:buFont typeface="Courier New" panose="020B0604020202020204" pitchFamily="34" charset="0"/>
              <a:buChar char="o"/>
            </a:pPr>
            <a:r>
              <a:rPr lang="en-US" dirty="0"/>
              <a:t>Phase noise should fall by 10log(22.6GHz/ 1.93Ghz)^2 = </a:t>
            </a:r>
            <a:r>
              <a:rPr lang="en-US" b="1" dirty="0"/>
              <a:t>21.5 dB</a:t>
            </a:r>
            <a:endParaRPr lang="en-US" dirty="0"/>
          </a:p>
          <a:p>
            <a:pPr marL="914400" lvl="1" indent="-457200" algn="just">
              <a:buFont typeface="Courier New" panose="020B0604020202020204" pitchFamily="34" charset="0"/>
              <a:buChar char="o"/>
            </a:pPr>
            <a:r>
              <a:rPr lang="en-US" dirty="0"/>
              <a:t>Power and Phase noise scale together</a:t>
            </a:r>
          </a:p>
          <a:p>
            <a:pPr marL="914400" lvl="1" indent="-457200" algn="just">
              <a:buFont typeface="Courier New" panose="020B0604020202020204" pitchFamily="34" charset="0"/>
              <a:buChar char="o"/>
            </a:pPr>
            <a:r>
              <a:rPr lang="en-US" dirty="0"/>
              <a:t>FOM doesn’t change</a:t>
            </a:r>
          </a:p>
          <a:p>
            <a:pPr marL="457200" indent="-457200" algn="just">
              <a:buAutoNum type="alphaLcParenR"/>
            </a:pPr>
            <a:r>
              <a:rPr lang="en-US" sz="2400" u="sng" dirty="0"/>
              <a:t>Second 2-GHz Oscillator Phase Noise  : Increase No of stages.</a:t>
            </a:r>
            <a:endParaRPr lang="en-US" sz="2400" dirty="0"/>
          </a:p>
          <a:p>
            <a:pPr marL="914400" lvl="1" indent="-457200" algn="just">
              <a:buFont typeface="Courier New" panose="020B0604020202020204" pitchFamily="34" charset="0"/>
              <a:buChar char="o"/>
            </a:pPr>
            <a:r>
              <a:rPr lang="en-US" dirty="0"/>
              <a:t>Frequency was reduced from 22.6GHz to 2.3Ghz.</a:t>
            </a:r>
          </a:p>
          <a:p>
            <a:pPr marL="914400" lvl="1" indent="-457200" algn="just">
              <a:buFont typeface="Courier New" panose="020B0604020202020204" pitchFamily="34" charset="0"/>
              <a:buChar char="o"/>
            </a:pPr>
            <a:r>
              <a:rPr lang="en-US" dirty="0"/>
              <a:t>Flicker noise has improved. : 10log(31/3) = </a:t>
            </a:r>
            <a:r>
              <a:rPr lang="en-US" b="1" dirty="0"/>
              <a:t>10dB.</a:t>
            </a:r>
            <a:endParaRPr lang="en-US" dirty="0"/>
          </a:p>
          <a:p>
            <a:pPr marL="914400" lvl="1" indent="-457200" algn="just">
              <a:buFont typeface="Courier New" panose="020B0604020202020204" pitchFamily="34" charset="0"/>
              <a:buChar char="o"/>
            </a:pPr>
            <a:r>
              <a:rPr lang="en-US" dirty="0"/>
              <a:t>Comparing with (a) : 10 log(2.3 GHz/1.93 GHz)^2 = 0.8 dB</a:t>
            </a:r>
          </a:p>
          <a:p>
            <a:pPr marL="914400" lvl="1" indent="-457200" algn="just">
              <a:buFont typeface="Courier New" panose="020B0604020202020204" pitchFamily="34" charset="0"/>
              <a:buChar char="o"/>
            </a:pPr>
            <a:r>
              <a:rPr lang="en-US" dirty="0"/>
              <a:t>Expecting a </a:t>
            </a:r>
            <a:r>
              <a:rPr lang="en-US" b="1" dirty="0"/>
              <a:t>9.2B reduction</a:t>
            </a:r>
            <a:r>
              <a:rPr lang="en-US" dirty="0"/>
              <a:t> of Phase noise.</a:t>
            </a:r>
          </a:p>
          <a:p>
            <a:pPr marL="914400" lvl="1" indent="-457200" algn="just">
              <a:buFont typeface="Courier New" panose="020B0604020202020204" pitchFamily="34" charset="0"/>
              <a:buChar char="o"/>
            </a:pPr>
            <a:r>
              <a:rPr lang="en-US" dirty="0"/>
              <a:t>FOM is improved as power consumption is independent of N. </a:t>
            </a:r>
          </a:p>
          <a:p>
            <a:pPr marL="457200" lvl="1" indent="0" algn="just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400" i="1" dirty="0"/>
              <a:t>It's </a:t>
            </a:r>
            <a:r>
              <a:rPr lang="en-US" sz="2400" b="1" i="1" dirty="0"/>
              <a:t>better to increase the number of stages</a:t>
            </a:r>
            <a:r>
              <a:rPr lang="en-US" sz="2400" i="1" dirty="0"/>
              <a:t> than to </a:t>
            </a:r>
            <a:r>
              <a:rPr lang="en-US" sz="2400" b="1" i="1" dirty="0"/>
              <a:t>add capacitance</a:t>
            </a:r>
            <a:r>
              <a:rPr lang="en-US" sz="24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40488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EDF3B-709A-E021-8800-313A32944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8531"/>
            <a:ext cx="10515600" cy="60191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u="sng" dirty="0"/>
              <a:t>c) </a:t>
            </a:r>
            <a:r>
              <a:rPr lang="en-US" sz="2400" u="sng" dirty="0">
                <a:ea typeface="+mn-lt"/>
                <a:cs typeface="+mn-lt"/>
              </a:rPr>
              <a:t>Third 2-GHz Oscillator Phase Noise : Longer Length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Weaker Inverters =&gt; low power due to less node capacitances.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Obtained a frequency of ~2.5GHz. 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Phase noise is slightly higher than the increasing no. Of stages.</a:t>
            </a:r>
            <a:endParaRPr lang="en-US" sz="2400" dirty="0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b="1" dirty="0"/>
              <a:t>FOM is the highest :  by 3-dB</a:t>
            </a:r>
            <a:endParaRPr lang="en-US" sz="2400" dirty="0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Best phase noise-to-power ratio.</a:t>
            </a:r>
            <a:endParaRPr lang="en-US" sz="2400" dirty="0"/>
          </a:p>
          <a:p>
            <a:pPr marL="0" indent="0">
              <a:buNone/>
            </a:pPr>
            <a:r>
              <a:rPr lang="en-US" sz="2400" u="sng" dirty="0"/>
              <a:t>d) </a:t>
            </a:r>
            <a:r>
              <a:rPr lang="en-US" sz="2400" u="sng" dirty="0">
                <a:ea typeface="+mn-lt"/>
                <a:cs typeface="+mn-lt"/>
              </a:rPr>
              <a:t>Fourth 2-GHz Oscillator Phase Noise :  Use of frequency divider.</a:t>
            </a:r>
            <a:endParaRPr lang="en-US" sz="2400" u="sng" dirty="0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O/p frequency is divided by M 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Phase is divided by M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Phase noise is lower by a factor of M : </a:t>
            </a:r>
            <a:r>
              <a:rPr lang="en-US" sz="2400" b="1" dirty="0"/>
              <a:t>20log</a:t>
            </a:r>
            <a:r>
              <a:rPr lang="en-US" sz="2400" b="1" baseline="-25000" dirty="0"/>
              <a:t>10</a:t>
            </a:r>
            <a:r>
              <a:rPr lang="en-US" sz="2400" b="1" dirty="0"/>
              <a:t>(M) in dB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No change in FOM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No change in jitter as the divider o/p is also displaced by the same amt.</a:t>
            </a:r>
          </a:p>
          <a:p>
            <a:pPr marL="457200" lvl="1" indent="0">
              <a:buNone/>
            </a:pPr>
            <a:endParaRPr lang="en-US" i="1" dirty="0"/>
          </a:p>
          <a:p>
            <a:pPr marL="457200" lvl="1" indent="0" algn="ctr">
              <a:buNone/>
            </a:pPr>
            <a:r>
              <a:rPr lang="en-US" b="1" i="1" dirty="0"/>
              <a:t>Best solution is to increase the channel lengths of the transistors</a:t>
            </a:r>
          </a:p>
          <a:p>
            <a:pPr marL="457200" lvl="1" indent="0" algn="ctr">
              <a:buNone/>
            </a:pPr>
            <a:r>
              <a:rPr lang="en-US" b="1" i="1" dirty="0"/>
              <a:t>Next best is to increase the No of inverters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B21803-60AD-C2B6-58F9-9395C5DA4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490" y="3392068"/>
            <a:ext cx="2573547" cy="7208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7517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0388-3E7C-D132-983C-15BDAB5C4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686"/>
            <a:ext cx="10515600" cy="1325563"/>
          </a:xfrm>
        </p:spPr>
        <p:txBody>
          <a:bodyPr/>
          <a:lstStyle/>
          <a:p>
            <a:r>
              <a:rPr lang="en-US" b="1" dirty="0"/>
              <a:t>Frequency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48756-F33D-FD8E-6CCB-82A10C60E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04" y="1092381"/>
            <a:ext cx="10868377" cy="50845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u="sng" dirty="0"/>
              <a:t>Develop methods for tuning frequencies for the inverter-based ring oscillator</a:t>
            </a:r>
          </a:p>
          <a:p>
            <a:pPr marL="0" indent="0">
              <a:buNone/>
            </a:pPr>
            <a:r>
              <a:rPr lang="en-US" sz="2400" b="1" dirty="0"/>
              <a:t>Tuning Considerations: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2400" b="1" dirty="0"/>
              <a:t>Tuning frequency range: </a:t>
            </a:r>
          </a:p>
          <a:p>
            <a:pPr marL="914400" lvl="1" indent="-342900">
              <a:buFont typeface="Courier New" panose="020B0604020202020204" pitchFamily="34" charset="0"/>
              <a:buChar char="o"/>
            </a:pPr>
            <a:r>
              <a:rPr lang="en-US" dirty="0"/>
              <a:t>Wide enough to cover both PVT variations &amp; desired frequency range.</a:t>
            </a:r>
          </a:p>
          <a:p>
            <a:pPr marL="457200" indent="-457200">
              <a:buAutoNum type="arabicPeriod"/>
            </a:pPr>
            <a:r>
              <a:rPr lang="en-US" sz="2400" b="1" dirty="0"/>
              <a:t>VCO gain KVCO.</a:t>
            </a:r>
          </a:p>
          <a:p>
            <a:pPr marL="914400" lvl="1" indent="-342900">
              <a:buFont typeface="Courier New" panose="020B0604020202020204" pitchFamily="34" charset="0"/>
              <a:buChar char="o"/>
            </a:pPr>
            <a:r>
              <a:rPr lang="en-US" dirty="0"/>
              <a:t>KVCO (Hz/v) makes VCO sensitive to noise on control line.</a:t>
            </a:r>
          </a:p>
          <a:p>
            <a:pPr marL="914400" lvl="1" indent="-342900">
              <a:buFont typeface="Courier New" panose="020B0604020202020204" pitchFamily="34" charset="0"/>
              <a:buChar char="o"/>
            </a:pPr>
            <a:r>
              <a:rPr lang="en-US" dirty="0"/>
              <a:t>A high value of </a:t>
            </a:r>
            <a:r>
              <a:rPr lang="en-US" dirty="0" err="1"/>
              <a:t>Kvco</a:t>
            </a:r>
            <a:r>
              <a:rPr lang="en-US" dirty="0"/>
              <a:t> is not desired as it indicates more </a:t>
            </a:r>
            <a:r>
              <a:rPr lang="en-US" dirty="0" err="1"/>
              <a:t>freq</a:t>
            </a:r>
            <a:r>
              <a:rPr lang="en-US" dirty="0"/>
              <a:t> change in shorter voltage control range.  </a:t>
            </a:r>
            <a:r>
              <a:rPr lang="en-US" b="1" dirty="0"/>
              <a:t>KVCO must be low</a:t>
            </a:r>
          </a:p>
          <a:p>
            <a:pPr marL="914400" lvl="1" indent="-342900">
              <a:buFont typeface="Courier New" panose="020B0604020202020204" pitchFamily="34" charset="0"/>
              <a:buChar char="o"/>
            </a:pPr>
            <a:r>
              <a:rPr lang="en-US" dirty="0"/>
              <a:t>A wide voltage control range </a:t>
            </a:r>
            <a:r>
              <a:rPr lang="en-US" dirty="0">
                <a:ea typeface="+mn-lt"/>
                <a:cs typeface="+mn-lt"/>
              </a:rPr>
              <a:t>allows </a:t>
            </a:r>
            <a:r>
              <a:rPr lang="en-US" dirty="0"/>
              <a:t>us to keep lower KVCO.</a:t>
            </a:r>
          </a:p>
          <a:p>
            <a:pPr marL="914400" lvl="1" indent="-342900" algn="just">
              <a:buFont typeface="Courier New" panose="020B0604020202020204" pitchFamily="34" charset="0"/>
              <a:buChar char="o"/>
            </a:pPr>
            <a:endParaRPr lang="en-US" sz="2400" i="1" dirty="0"/>
          </a:p>
          <a:p>
            <a:pPr marL="114300" indent="0" algn="just">
              <a:buNone/>
            </a:pPr>
            <a:r>
              <a:rPr lang="en-US" sz="2400" b="1" i="1" dirty="0"/>
              <a:t>Rule of thumb</a:t>
            </a:r>
            <a:r>
              <a:rPr lang="en-US" sz="2400" i="1" dirty="0"/>
              <a:t>: We keep KVCO below rough 0.1fm Hz/V </a:t>
            </a:r>
          </a:p>
          <a:p>
            <a:pPr marL="114300" indent="0" algn="just">
              <a:buNone/>
            </a:pPr>
            <a:r>
              <a:rPr lang="en-US" sz="2400" i="1" dirty="0"/>
              <a:t>where ; </a:t>
            </a:r>
            <a:r>
              <a:rPr lang="en-US" sz="2400" i="1" err="1"/>
              <a:t>fm</a:t>
            </a:r>
            <a:r>
              <a:rPr lang="en-US" sz="2400" i="1" dirty="0"/>
              <a:t>=(fmax + </a:t>
            </a:r>
            <a:r>
              <a:rPr lang="en-US" sz="2400" i="1" err="1"/>
              <a:t>fmin</a:t>
            </a:r>
            <a:r>
              <a:rPr lang="en-US" sz="2400" i="1" dirty="0"/>
              <a:t>)/2</a:t>
            </a:r>
            <a:r>
              <a:rPr lang="en-US" i="1" dirty="0"/>
              <a:t> </a:t>
            </a:r>
            <a:endParaRPr lang="en-US" i="1"/>
          </a:p>
          <a:p>
            <a:pPr marL="0" indent="0" algn="ctr">
              <a:buNone/>
            </a:pPr>
            <a:endParaRPr lang="en-US" sz="2400" b="1" dirty="0"/>
          </a:p>
        </p:txBody>
      </p:sp>
      <p:pic>
        <p:nvPicPr>
          <p:cNvPr id="4" name="Picture 3" descr="A diagram of a line&#10;&#10;AI-generated content may be incorrect.">
            <a:extLst>
              <a:ext uri="{FF2B5EF4-FFF2-40B4-BE49-F238E27FC236}">
                <a16:creationId xmlns:a16="http://schemas.microsoft.com/office/drawing/2014/main" id="{4D36A683-A625-37CA-9D91-96BAFB714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2168" y="4861474"/>
            <a:ext cx="3000375" cy="18573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1077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6D850-DB0A-2C89-226D-E56E32BE2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4514"/>
            <a:ext cx="10515600" cy="610534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3. Linearity of tuning</a:t>
            </a:r>
            <a:endParaRPr lang="en-US" sz="2400" dirty="0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​How much is the slope of KVCO varies?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KVCO should vary by no more than 20% across the range.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F1 changes to f2 : Expect KVCO2 to change not more than 20% of KVCO1</a:t>
            </a:r>
          </a:p>
          <a:p>
            <a:pPr marL="457200" lvl="1" indent="0">
              <a:buNone/>
            </a:pPr>
            <a:r>
              <a:rPr lang="en-US" dirty="0"/>
              <a:t>   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     </a:t>
            </a:r>
          </a:p>
          <a:p>
            <a:pPr marL="0" indent="0">
              <a:buNone/>
            </a:pPr>
            <a:r>
              <a:rPr lang="en-US" sz="2400" b="1" dirty="0"/>
              <a:t>4. Constant Internal voltage swing.</a:t>
            </a:r>
            <a:endParaRPr lang="en-US" sz="2400" dirty="0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Prefer to keep the </a:t>
            </a:r>
            <a:r>
              <a:rPr lang="en-US" dirty="0" err="1"/>
              <a:t>osc</a:t>
            </a:r>
            <a:r>
              <a:rPr lang="en-US" dirty="0"/>
              <a:t> internal voltage swings constant across tuning range ; To avoid degrading the phase noise. 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Amplitude changes leak into phase noise. AM to PM conversion is min.</a:t>
            </a:r>
          </a:p>
          <a:p>
            <a:pPr marL="0" indent="0">
              <a:buNone/>
            </a:pPr>
            <a:r>
              <a:rPr lang="en-US" sz="2400" b="1" dirty="0"/>
              <a:t>5. Stable Phase noise across range. </a:t>
            </a:r>
            <a:endParaRPr lang="en-US" sz="2400" b="1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Phase noise shouldn’t change significantly as </a:t>
            </a:r>
            <a:r>
              <a:rPr lang="en-US" err="1"/>
              <a:t>freq</a:t>
            </a:r>
            <a:r>
              <a:rPr lang="en-US" dirty="0"/>
              <a:t> is tuned.</a:t>
            </a:r>
          </a:p>
          <a:p>
            <a:pPr marL="0" indent="0">
              <a:buNone/>
            </a:pPr>
            <a:r>
              <a:rPr lang="en-US" sz="2400" b="1" dirty="0"/>
              <a:t> </a:t>
            </a:r>
          </a:p>
          <a:p>
            <a:pPr marL="0" indent="0">
              <a:buNone/>
            </a:pPr>
            <a:endParaRPr lang="en-US" sz="2400" b="1" dirty="0"/>
          </a:p>
          <a:p>
            <a:endParaRPr lang="en-US" dirty="0"/>
          </a:p>
        </p:txBody>
      </p:sp>
      <p:pic>
        <p:nvPicPr>
          <p:cNvPr id="4" name="Picture 3" descr="A diagram of a curve&#10;&#10;AI-generated content may be incorrect.">
            <a:extLst>
              <a:ext uri="{FF2B5EF4-FFF2-40B4-BE49-F238E27FC236}">
                <a16:creationId xmlns:a16="http://schemas.microsoft.com/office/drawing/2014/main" id="{CE7AB096-05E9-A949-457B-3F681431E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240" y="2054225"/>
            <a:ext cx="2657475" cy="17335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2059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0A92-871D-66FD-C372-333E5EC5E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686"/>
            <a:ext cx="10515600" cy="1325563"/>
          </a:xfrm>
        </p:spPr>
        <p:txBody>
          <a:bodyPr/>
          <a:lstStyle/>
          <a:p>
            <a:r>
              <a:rPr lang="en-US" b="1" dirty="0"/>
              <a:t>Continuous and Discrete tuning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37DAF-3686-0918-00A4-54A765AAA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2380"/>
            <a:ext cx="10515600" cy="558779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Larger frequency range make VCOs sensitive to noise on its control line.</a:t>
            </a:r>
          </a:p>
          <a:p>
            <a:r>
              <a:rPr lang="en-US" sz="2400" b="1" dirty="0"/>
              <a:t>Two types</a:t>
            </a:r>
            <a:r>
              <a:rPr lang="en-US" sz="2400" dirty="0"/>
              <a:t>: Analog-continuous tuning and Digital –discrete tuning. </a:t>
            </a:r>
          </a:p>
          <a:p>
            <a:pPr marL="0" indent="0">
              <a:buNone/>
            </a:pPr>
            <a:r>
              <a:rPr lang="en-US" sz="2400" b="1" u="sng" dirty="0"/>
              <a:t>IDEA </a:t>
            </a:r>
            <a:r>
              <a:rPr lang="en-US" sz="2400" u="sng" dirty="0"/>
              <a:t>: </a:t>
            </a:r>
            <a:endParaRPr lang="en-US" sz="2400" u="sng"/>
          </a:p>
          <a:p>
            <a:pPr marL="800100" lvl="1">
              <a:lnSpc>
                <a:spcPct val="100000"/>
              </a:lnSpc>
              <a:spcBef>
                <a:spcPts val="0"/>
              </a:spcBef>
              <a:buFont typeface="Courier New,monospace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Choose a path controlled by </a:t>
            </a:r>
            <a:r>
              <a:rPr lang="en-US" b="1" dirty="0">
                <a:ea typeface="+mn-lt"/>
                <a:cs typeface="+mn-lt"/>
              </a:rPr>
              <a:t>Weak </a:t>
            </a:r>
            <a:r>
              <a:rPr lang="en-US" b="1" err="1">
                <a:ea typeface="+mn-lt"/>
                <a:cs typeface="+mn-lt"/>
              </a:rPr>
              <a:t>Vcont</a:t>
            </a:r>
            <a:r>
              <a:rPr lang="en-US" dirty="0">
                <a:ea typeface="+mn-lt"/>
                <a:cs typeface="+mn-lt"/>
              </a:rPr>
              <a:t>; to </a:t>
            </a:r>
            <a:r>
              <a:rPr lang="en-US" b="1" dirty="0">
                <a:ea typeface="+mn-lt"/>
                <a:cs typeface="+mn-lt"/>
              </a:rPr>
              <a:t>lower the </a:t>
            </a:r>
            <a:r>
              <a:rPr lang="en-US" b="1" err="1">
                <a:ea typeface="+mn-lt"/>
                <a:cs typeface="+mn-lt"/>
              </a:rPr>
              <a:t>Kvco</a:t>
            </a:r>
            <a:r>
              <a:rPr lang="en-US" dirty="0">
                <a:ea typeface="+mn-lt"/>
                <a:cs typeface="+mn-lt"/>
              </a:rPr>
              <a:t> and use </a:t>
            </a:r>
            <a:r>
              <a:rPr lang="en-US" b="1" dirty="0">
                <a:ea typeface="+mn-lt"/>
                <a:cs typeface="+mn-lt"/>
              </a:rPr>
              <a:t>digital control </a:t>
            </a:r>
            <a:r>
              <a:rPr lang="en-US" dirty="0">
                <a:ea typeface="+mn-lt"/>
                <a:cs typeface="+mn-lt"/>
              </a:rPr>
              <a:t>to jump across frequency bands to precisely control the tuning.</a:t>
            </a:r>
            <a:r>
              <a:rPr lang="en-US" dirty="0"/>
              <a:t> 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This is to</a:t>
            </a:r>
            <a:r>
              <a:rPr lang="en-US" dirty="0">
                <a:ea typeface="+mn-lt"/>
                <a:cs typeface="+mn-lt"/>
              </a:rPr>
              <a:t> get both </a:t>
            </a:r>
            <a:r>
              <a:rPr lang="en-US" b="1" dirty="0">
                <a:ea typeface="+mn-lt"/>
                <a:cs typeface="+mn-lt"/>
              </a:rPr>
              <a:t>low phase noise</a:t>
            </a:r>
            <a:r>
              <a:rPr lang="en-US" dirty="0">
                <a:ea typeface="+mn-lt"/>
                <a:cs typeface="+mn-lt"/>
              </a:rPr>
              <a:t> and </a:t>
            </a:r>
            <a:r>
              <a:rPr lang="en-US" b="1" dirty="0">
                <a:ea typeface="+mn-lt"/>
                <a:cs typeface="+mn-lt"/>
              </a:rPr>
              <a:t>wide tuning range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sz="2400" dirty="0"/>
              <a:t>1.  </a:t>
            </a:r>
            <a:r>
              <a:rPr lang="en-US" sz="2400" b="1" dirty="0"/>
              <a:t>Continuous tuning </a:t>
            </a:r>
            <a:r>
              <a:rPr lang="en-US" sz="2400" dirty="0"/>
              <a:t>: Varies  </a:t>
            </a:r>
            <a:r>
              <a:rPr lang="en-US" sz="2400" dirty="0" err="1"/>
              <a:t>freq</a:t>
            </a:r>
            <a:r>
              <a:rPr lang="en-US" sz="2400" dirty="0"/>
              <a:t> using </a:t>
            </a:r>
            <a:r>
              <a:rPr lang="en-US" sz="2400" dirty="0" err="1"/>
              <a:t>Vcont</a:t>
            </a:r>
            <a:r>
              <a:rPr lang="en-US" sz="2400" dirty="0"/>
              <a:t> (variable resistance) 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Limited range to keep </a:t>
            </a:r>
            <a:r>
              <a:rPr lang="en-US" dirty="0" err="1"/>
              <a:t>Kvco</a:t>
            </a:r>
            <a:r>
              <a:rPr lang="en-US" dirty="0"/>
              <a:t> low.   </a:t>
            </a:r>
          </a:p>
          <a:p>
            <a:pPr marL="0" indent="0">
              <a:buNone/>
            </a:pPr>
            <a:r>
              <a:rPr lang="en-US" sz="2400" dirty="0"/>
              <a:t>2.  </a:t>
            </a:r>
            <a:r>
              <a:rPr lang="en-US" sz="2400" b="1" dirty="0"/>
              <a:t>Discrete tuning :  </a:t>
            </a:r>
            <a:r>
              <a:rPr lang="en-US" sz="2400" dirty="0"/>
              <a:t>selects b/w the </a:t>
            </a:r>
            <a:r>
              <a:rPr lang="en-US" sz="2400" dirty="0" err="1"/>
              <a:t>freq</a:t>
            </a:r>
            <a:r>
              <a:rPr lang="en-US" sz="2400" dirty="0"/>
              <a:t> band. 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By switching capacitors on/off. </a:t>
            </a:r>
          </a:p>
          <a:p>
            <a:pPr marL="0" indent="0">
              <a:buNone/>
            </a:pPr>
            <a:r>
              <a:rPr lang="en-US" sz="2400" dirty="0"/>
              <a:t>3.  </a:t>
            </a:r>
            <a:r>
              <a:rPr lang="en-US" sz="2400" b="1" dirty="0"/>
              <a:t>Together : </a:t>
            </a:r>
            <a:r>
              <a:rPr lang="en-US" sz="2400" dirty="0"/>
              <a:t>Analog covers a small </a:t>
            </a:r>
            <a:r>
              <a:rPr lang="en-US" sz="2400" dirty="0" err="1"/>
              <a:t>freq</a:t>
            </a:r>
            <a:r>
              <a:rPr lang="en-US" sz="2400" dirty="0"/>
              <a:t> range for each digital setting, and the digital shifts the entire analog tuning curve into bits (1s and 0s). </a:t>
            </a:r>
          </a:p>
        </p:txBody>
      </p:sp>
    </p:spTree>
    <p:extLst>
      <p:ext uri="{BB962C8B-B14F-4D97-AF65-F5344CB8AC3E}">
        <p14:creationId xmlns:p14="http://schemas.microsoft.com/office/powerpoint/2010/main" val="3931563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152CF-3803-5FAA-DD46-618B3C2A1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9135"/>
            <a:ext cx="10515600" cy="58178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 err="1"/>
              <a:t>Vcont</a:t>
            </a:r>
            <a:r>
              <a:rPr lang="en-US" sz="2400" dirty="0"/>
              <a:t> varies : [v1, v2] : small voltage range</a:t>
            </a:r>
            <a:endParaRPr lang="en-US" sz="2400"/>
          </a:p>
          <a:p>
            <a:r>
              <a:rPr lang="en-US" sz="2400" dirty="0"/>
              <a:t>Entire Frequency range is utilized. </a:t>
            </a:r>
            <a:endParaRPr lang="en-US" sz="240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Blind Zone </a:t>
            </a:r>
            <a:endParaRPr lang="en-US" sz="2400"/>
          </a:p>
          <a:p>
            <a:pPr marL="342900" indent="-342900"/>
            <a:r>
              <a:rPr lang="en-US" sz="2400" dirty="0"/>
              <a:t>If two adjacent curves do not overlap, </a:t>
            </a:r>
            <a:endParaRPr lang="en-US" sz="2400"/>
          </a:p>
          <a:p>
            <a:pPr marL="342900" indent="-342900"/>
            <a:r>
              <a:rPr lang="en-US" sz="2400" dirty="0"/>
              <a:t>VCO fails to cover certain frequencies.</a:t>
            </a:r>
            <a:endParaRPr lang="en-US" sz="2400"/>
          </a:p>
          <a:p>
            <a:pPr marL="0" indent="0">
              <a:buNone/>
            </a:pPr>
            <a:endParaRPr lang="en-US" sz="2400" i="1" dirty="0"/>
          </a:p>
          <a:p>
            <a:pPr marL="0" indent="0">
              <a:buNone/>
            </a:pPr>
            <a:r>
              <a:rPr lang="en-US" sz="2400" b="1" i="1" dirty="0">
                <a:solidFill>
                  <a:srgbClr val="FF0000"/>
                </a:solidFill>
              </a:rPr>
              <a:t>Rule of Thumb:</a:t>
            </a:r>
            <a:r>
              <a:rPr lang="en-US" sz="2400" b="1" i="1" dirty="0"/>
              <a:t> </a:t>
            </a:r>
            <a:endParaRPr lang="en-US" sz="2400" b="1" i="1"/>
          </a:p>
          <a:p>
            <a:pPr marL="342900" indent="-342900"/>
            <a:r>
              <a:rPr lang="en-US" sz="2400" i="1" dirty="0"/>
              <a:t>Set VCO to cover </a:t>
            </a:r>
            <a:r>
              <a:rPr lang="en-US" sz="2400" dirty="0">
                <a:ea typeface="+mn-lt"/>
                <a:cs typeface="+mn-lt"/>
              </a:rPr>
              <a:t>10% to 20% of center frequency.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Choose no of steps for digital tuning to cover the full range.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Increase the steps if KVCO is high. </a:t>
            </a:r>
          </a:p>
          <a:p>
            <a:pPr marL="342900" indent="-342900"/>
            <a:endParaRPr lang="en-US" sz="2400" dirty="0">
              <a:ea typeface="+mn-lt"/>
              <a:cs typeface="+mn-lt"/>
            </a:endParaRPr>
          </a:p>
        </p:txBody>
      </p:sp>
      <p:pic>
        <p:nvPicPr>
          <p:cNvPr id="6" name="Picture 5" descr="A diagram of a blind zone&#10;&#10;AI-generated content may be incorrect.">
            <a:extLst>
              <a:ext uri="{FF2B5EF4-FFF2-40B4-BE49-F238E27FC236}">
                <a16:creationId xmlns:a16="http://schemas.microsoft.com/office/drawing/2014/main" id="{4DD0A1B7-8C56-3459-1650-C20EB243D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930" y="2682934"/>
            <a:ext cx="2476500" cy="1485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5855360A-8EC8-FA91-2479-11A2E4814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125" y="963732"/>
            <a:ext cx="2133600" cy="9048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 descr="A diagram of a graph&#10;&#10;AI-generated content may be incorrect.">
            <a:extLst>
              <a:ext uri="{FF2B5EF4-FFF2-40B4-BE49-F238E27FC236}">
                <a16:creationId xmlns:a16="http://schemas.microsoft.com/office/drawing/2014/main" id="{960C4515-A64C-6DFA-1DCD-95D936FEB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96" y="354042"/>
            <a:ext cx="3381375" cy="20955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0804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0CBFF-A282-4A3D-14B9-8082DB080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686"/>
            <a:ext cx="10515600" cy="1325563"/>
          </a:xfrm>
        </p:spPr>
        <p:txBody>
          <a:bodyPr/>
          <a:lstStyle/>
          <a:p>
            <a:r>
              <a:rPr lang="en-US" b="1" dirty="0"/>
              <a:t>Tuning by Variable Resistance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68B2F-3C3F-8D7E-F245-41F94F531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4870"/>
            <a:ext cx="10515600" cy="57603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NMOS-based Variable resistance :</a:t>
            </a:r>
          </a:p>
          <a:p>
            <a:r>
              <a:rPr lang="en-US" sz="2400" dirty="0"/>
              <a:t>M3-M5 : Voltage dependent resistors</a:t>
            </a:r>
          </a:p>
          <a:p>
            <a:r>
              <a:rPr lang="en-US" sz="2400" dirty="0"/>
              <a:t>As </a:t>
            </a:r>
            <a:r>
              <a:rPr lang="en-US" sz="2400" err="1"/>
              <a:t>Vcont</a:t>
            </a:r>
            <a:r>
              <a:rPr lang="en-US" sz="2400" dirty="0"/>
              <a:t> : [VDD--&gt; 0]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At </a:t>
            </a:r>
            <a:r>
              <a:rPr lang="en-US" dirty="0" err="1">
                <a:ea typeface="+mn-lt"/>
                <a:cs typeface="+mn-lt"/>
              </a:rPr>
              <a:t>Vcont</a:t>
            </a:r>
            <a:r>
              <a:rPr lang="en-US" dirty="0">
                <a:ea typeface="+mn-lt"/>
                <a:cs typeface="+mn-lt"/>
              </a:rPr>
              <a:t>=VDD ; NMOS are shorted giving zero resistance and high freq.</a:t>
            </a:r>
            <a:endParaRPr lang="en-US" sz="24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As </a:t>
            </a:r>
            <a:r>
              <a:rPr lang="en-US" dirty="0" err="1"/>
              <a:t>Vcont</a:t>
            </a:r>
            <a:r>
              <a:rPr lang="en-US" dirty="0"/>
              <a:t> decreases, pull-down strength of inverters decrease.</a:t>
            </a:r>
            <a:endParaRPr lang="en-US" sz="24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At </a:t>
            </a:r>
            <a:r>
              <a:rPr lang="en-US" dirty="0" err="1"/>
              <a:t>Vcont</a:t>
            </a:r>
            <a:r>
              <a:rPr lang="en-US" dirty="0"/>
              <a:t> near to zero, M3 to M5 enter deep triode region.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Resistance go very high ; On-resistance increases.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Falling edge is slowed down.</a:t>
            </a:r>
          </a:p>
          <a:p>
            <a:pPr marL="0" indent="0">
              <a:buNone/>
            </a:pPr>
            <a:r>
              <a:rPr lang="en-US" sz="2400" b="1" i="1" dirty="0"/>
              <a:t>Gate delay Increases leading to reduced Oscillation freq</a:t>
            </a:r>
            <a:r>
              <a:rPr lang="en-US" b="1" i="1" dirty="0"/>
              <a:t>.</a:t>
            </a:r>
            <a:endParaRPr lang="en-US" dirty="0"/>
          </a:p>
          <a:p>
            <a:pPr marL="0" indent="0">
              <a:buNone/>
            </a:pPr>
            <a:r>
              <a:rPr lang="en-US" sz="2400" b="1" dirty="0"/>
              <a:t>Problems?? 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a) Asymmetric Transitions </a:t>
            </a:r>
          </a:p>
          <a:p>
            <a:pPr marL="0" indent="0">
              <a:buNone/>
            </a:pPr>
            <a:r>
              <a:rPr lang="en-US" sz="2400" dirty="0"/>
              <a:t>b) Non-linear tuning </a:t>
            </a:r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8E805DF7-71F9-3CBC-935B-EF5E56931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311" y="503659"/>
            <a:ext cx="2694137" cy="16347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 descr="A diagram of a curve&#10;&#10;AI-generated content may be incorrect.">
            <a:extLst>
              <a:ext uri="{FF2B5EF4-FFF2-40B4-BE49-F238E27FC236}">
                <a16:creationId xmlns:a16="http://schemas.microsoft.com/office/drawing/2014/main" id="{543636AD-BFE1-F7F1-F14A-7421EBFB27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3177" y="3168232"/>
            <a:ext cx="2402097" cy="10103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FEB0DF-391C-CA9E-30D2-89A3CBA40B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5103" y="4493914"/>
            <a:ext cx="2667000" cy="18383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77308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88A03-B259-58D2-6E35-5C5424966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369" y="3498"/>
            <a:ext cx="10515600" cy="1325563"/>
          </a:xfrm>
        </p:spPr>
        <p:txBody>
          <a:bodyPr/>
          <a:lstStyle/>
          <a:p>
            <a:r>
              <a:rPr lang="en-US" b="1" dirty="0"/>
              <a:t>Problems?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15F56-B1A7-FBF4-806E-2ADDCE047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285" y="1024880"/>
            <a:ext cx="10515600" cy="51520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lphaLcParenR"/>
            </a:pPr>
            <a:r>
              <a:rPr lang="en-US" sz="2400" u="sng" dirty="0"/>
              <a:t>Asymmetric Transitions :</a:t>
            </a:r>
          </a:p>
          <a:p>
            <a:pPr marL="971550" lvl="1">
              <a:buFont typeface="Courier New" panose="020B0604020202020204" pitchFamily="34" charset="0"/>
              <a:buChar char="o"/>
            </a:pPr>
            <a:r>
              <a:rPr lang="en-US" dirty="0"/>
              <a:t>Falling edge is slowed down due to increased resistance.</a:t>
            </a:r>
          </a:p>
          <a:p>
            <a:pPr marL="971550" lvl="1">
              <a:buFont typeface="Courier New" panose="020B0604020202020204" pitchFamily="34" charset="0"/>
              <a:buChar char="o"/>
            </a:pPr>
            <a:r>
              <a:rPr lang="en-US" dirty="0"/>
              <a:t>Rising edge remains the same. </a:t>
            </a:r>
          </a:p>
          <a:p>
            <a:pPr marL="971550" lvl="1">
              <a:buFont typeface="Courier New" panose="020B0604020202020204" pitchFamily="34" charset="0"/>
              <a:buChar char="o"/>
            </a:pPr>
            <a:r>
              <a:rPr lang="en-US" dirty="0"/>
              <a:t>This creates higher Phase noise on one side. (on the falling edge)</a:t>
            </a:r>
          </a:p>
          <a:p>
            <a:pPr marL="971550" lvl="1">
              <a:buFont typeface="Courier New" panose="020B0604020202020204" pitchFamily="34" charset="0"/>
              <a:buChar char="o"/>
            </a:pPr>
            <a:r>
              <a:rPr lang="en-US" dirty="0"/>
              <a:t>At lower frequencies, it increases phase noise further. </a:t>
            </a:r>
          </a:p>
          <a:p>
            <a:pPr marL="514350" indent="-514350">
              <a:buAutoNum type="alphaLcParenR"/>
            </a:pPr>
            <a:r>
              <a:rPr lang="en-US" sz="2400" u="sng" dirty="0"/>
              <a:t>Non-linear tuning: </a:t>
            </a:r>
          </a:p>
          <a:p>
            <a:pPr marL="971550" lvl="1">
              <a:buFont typeface="Courier New" panose="020B0604020202020204" pitchFamily="34" charset="0"/>
              <a:buChar char="o"/>
            </a:pPr>
            <a:r>
              <a:rPr lang="en-US" dirty="0"/>
              <a:t>When </a:t>
            </a:r>
            <a:r>
              <a:rPr lang="en-US" dirty="0" err="1"/>
              <a:t>Vcont</a:t>
            </a:r>
            <a:r>
              <a:rPr lang="en-US" dirty="0"/>
              <a:t> is near to zero, resistance increases sharply.</a:t>
            </a:r>
          </a:p>
          <a:p>
            <a:pPr marL="971550" lvl="1">
              <a:buFont typeface="Courier New" panose="020B0604020202020204" pitchFamily="34" charset="0"/>
              <a:buChar char="o"/>
            </a:pPr>
            <a:r>
              <a:rPr lang="en-US" dirty="0"/>
              <a:t>This causes "sharp" drop in frequency. (as gate delay increases) </a:t>
            </a:r>
          </a:p>
          <a:p>
            <a:pPr marL="971550" lvl="1">
              <a:buFont typeface="Courier New" panose="020B0604020202020204" pitchFamily="34" charset="0"/>
              <a:buChar char="o"/>
            </a:pPr>
            <a:r>
              <a:rPr lang="en-US" i="1" dirty="0"/>
              <a:t>At </a:t>
            </a:r>
            <a:r>
              <a:rPr lang="en-US" i="1" dirty="0" err="1"/>
              <a:t>Vcont</a:t>
            </a:r>
            <a:r>
              <a:rPr lang="en-US" i="1" dirty="0"/>
              <a:t>=0 ; no oscillations</a:t>
            </a:r>
            <a:r>
              <a:rPr lang="en-US" dirty="0"/>
              <a:t> .</a:t>
            </a:r>
          </a:p>
          <a:p>
            <a:pPr marL="74295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615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FD88-AE32-D9D0-1E52-9C0701D8A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28"/>
            <a:ext cx="10515600" cy="1325563"/>
          </a:xfrm>
        </p:spPr>
        <p:txBody>
          <a:bodyPr/>
          <a:lstStyle/>
          <a:p>
            <a:r>
              <a:rPr lang="en-US" b="1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668F6-21D2-F5DF-B61B-CBC990214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1117"/>
            <a:ext cx="10429336" cy="53665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400" b="1" dirty="0"/>
              <a:t>Solving Non-linear tuning:</a:t>
            </a:r>
            <a:endParaRPr lang="en-US"/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sz="2400" dirty="0"/>
              <a:t>M6 ,M7, M8 transistors are added in parallel to M3, M4, M5.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sz="2400" dirty="0"/>
              <a:t>Ensures a min pull-down path at </a:t>
            </a:r>
            <a:r>
              <a:rPr lang="en-US" sz="2400" dirty="0" err="1"/>
              <a:t>Vcont</a:t>
            </a:r>
            <a:r>
              <a:rPr lang="en-US" sz="2400" dirty="0"/>
              <a:t>=0; Thus, oscillations sustain.</a:t>
            </a:r>
          </a:p>
          <a:p>
            <a:pPr marL="1371600" lvl="2"/>
            <a:r>
              <a:rPr lang="en-US" sz="2400" dirty="0"/>
              <a:t>M6 to M8 never switch off ; connected to VDD.</a:t>
            </a:r>
          </a:p>
          <a:p>
            <a:pPr marL="1371600" lvl="2"/>
            <a:r>
              <a:rPr lang="en-US" sz="2400" dirty="0"/>
              <a:t>Provides a path to ground.  O/p can still fall, and Oscillations sustain.</a:t>
            </a:r>
          </a:p>
          <a:p>
            <a:pPr marL="1371600" lvl="2"/>
            <a:r>
              <a:rPr lang="en-US" sz="2400" dirty="0"/>
              <a:t>M6 to M8 are weak ; provide fixed resistance. </a:t>
            </a:r>
          </a:p>
          <a:p>
            <a:pPr marL="1371600" lvl="2"/>
            <a:r>
              <a:rPr lang="en-US" sz="2400" dirty="0"/>
              <a:t>M3 to M5 are chosen strong maintain the maximum frequency. 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dirty="0"/>
              <a:t>When </a:t>
            </a:r>
            <a:r>
              <a:rPr lang="en-US" dirty="0" err="1"/>
              <a:t>Vcont</a:t>
            </a:r>
            <a:r>
              <a:rPr lang="en-US" dirty="0"/>
              <a:t> = Vth ; </a:t>
            </a:r>
          </a:p>
          <a:p>
            <a:pPr marL="1371600" lvl="2"/>
            <a:r>
              <a:rPr lang="en-US" sz="2400" dirty="0"/>
              <a:t>M6 to M8 are in triode region.</a:t>
            </a:r>
          </a:p>
          <a:p>
            <a:pPr marL="1371600" lvl="2"/>
            <a:r>
              <a:rPr lang="en-US" sz="2400" dirty="0"/>
              <a:t>They "degenerate" NMOS in the inverter. </a:t>
            </a:r>
            <a:endParaRPr lang="en-US" dirty="0"/>
          </a:p>
          <a:p>
            <a:pPr marL="1371600" lvl="2"/>
            <a:r>
              <a:rPr lang="en-US" sz="2400" dirty="0"/>
              <a:t>This is increasing the NMOS (inverter) length.</a:t>
            </a:r>
          </a:p>
          <a:p>
            <a:pPr marL="1371600" lvl="2"/>
            <a:r>
              <a:rPr lang="en-US" sz="2400" dirty="0"/>
              <a:t>They act in </a:t>
            </a:r>
            <a:r>
              <a:rPr lang="en-US" sz="2400" u="sng" dirty="0"/>
              <a:t>series </a:t>
            </a:r>
            <a:r>
              <a:rPr lang="en-US" sz="2400" dirty="0"/>
              <a:t>thus r</a:t>
            </a:r>
            <a:r>
              <a:rPr lang="en-US" sz="2400" b="1" dirty="0"/>
              <a:t>educing Phase noise.</a:t>
            </a:r>
          </a:p>
          <a:p>
            <a:pPr marL="1371600" lvl="2"/>
            <a:endParaRPr lang="en-US" b="1" dirty="0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5E16BB89-93E8-60F3-951F-E66EE6DFB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731" y="4368397"/>
            <a:ext cx="3411008" cy="21410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7F565662-C22B-5CA9-E5A3-B35A3C63A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5086" y="2404165"/>
            <a:ext cx="1476375" cy="17621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D3ABAAE6-916F-4B14-E207-BF9ED5038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5989" y="10132614"/>
            <a:ext cx="82867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555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06949-EBCF-06BA-4C83-B6BE77B59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7248"/>
            <a:ext cx="10515600" cy="58897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 Symmetric tuning</a:t>
            </a:r>
          </a:p>
          <a:p>
            <a:r>
              <a:rPr lang="en-US" sz="2400" dirty="0"/>
              <a:t>Tune NMOS &amp; PMOS strength for symmetric rise and fall. </a:t>
            </a:r>
          </a:p>
          <a:p>
            <a:r>
              <a:rPr lang="en-US" sz="2400" dirty="0"/>
              <a:t>Increase Vcont1 to weaken NMOS.</a:t>
            </a:r>
          </a:p>
          <a:p>
            <a:r>
              <a:rPr lang="en-US" sz="2400" dirty="0"/>
              <a:t>Decrease Vcont2 to weaken PMOS.</a:t>
            </a:r>
          </a:p>
          <a:p>
            <a:r>
              <a:rPr lang="en-US" sz="2400" dirty="0"/>
              <a:t>Using </a:t>
            </a:r>
            <a:r>
              <a:rPr lang="en-US" sz="2400" u="sng" dirty="0"/>
              <a:t>current mirror</a:t>
            </a:r>
            <a:r>
              <a:rPr lang="en-US" sz="2400" dirty="0"/>
              <a:t>: get Vcont1--&gt; invert it--&gt;get Vcont2.</a:t>
            </a:r>
          </a:p>
          <a:p>
            <a:r>
              <a:rPr lang="en-US" sz="2400" dirty="0"/>
              <a:t>The inverting stage (Ma and Mb) add Phase noise.</a:t>
            </a:r>
          </a:p>
          <a:p>
            <a:r>
              <a:rPr lang="en-US" sz="2400" dirty="0"/>
              <a:t>Noise at node X corrupts the </a:t>
            </a:r>
            <a:r>
              <a:rPr lang="en-US" sz="2400" err="1"/>
              <a:t>osc</a:t>
            </a:r>
            <a:r>
              <a:rPr lang="en-US" sz="2400" dirty="0"/>
              <a:t> frequency. </a:t>
            </a:r>
          </a:p>
          <a:p>
            <a:pPr marL="0" indent="0">
              <a:buNone/>
            </a:pPr>
            <a:r>
              <a:rPr lang="en-US" sz="2400" b="1" u="sng" dirty="0">
                <a:ea typeface="+mn-lt"/>
                <a:cs typeface="+mn-lt"/>
              </a:rPr>
              <a:t>Positive Feedback Tuning to reduce phase noise.</a:t>
            </a:r>
          </a:p>
          <a:p>
            <a:r>
              <a:rPr lang="en-US" sz="2400" dirty="0"/>
              <a:t>M9 PMOS as a feedback path. Controlled by </a:t>
            </a:r>
            <a:r>
              <a:rPr lang="en-US" sz="2400" dirty="0" err="1"/>
              <a:t>Vcont</a:t>
            </a:r>
            <a:r>
              <a:rPr lang="en-US" sz="2400" dirty="0"/>
              <a:t> through M10.</a:t>
            </a:r>
          </a:p>
          <a:p>
            <a:r>
              <a:rPr lang="en-US" sz="2400" dirty="0" err="1"/>
              <a:t>Vcont</a:t>
            </a:r>
            <a:r>
              <a:rPr lang="en-US" sz="2400" dirty="0"/>
              <a:t> drops ; M10 PMOS turns more "ON".</a:t>
            </a:r>
          </a:p>
          <a:p>
            <a:r>
              <a:rPr lang="en-US" sz="2400" dirty="0"/>
              <a:t>M9 feedback strengthens and slows oscillator.</a:t>
            </a:r>
          </a:p>
          <a:p>
            <a:pPr marL="0" indent="0" algn="just">
              <a:buNone/>
            </a:pPr>
            <a:r>
              <a:rPr lang="en-US" sz="2400" b="1" i="1" dirty="0"/>
              <a:t>Achieves Symmetric Tuning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2995E544-B36A-4196-E374-2DD00681E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2948" y="129427"/>
            <a:ext cx="1815261" cy="170245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B967D0A7-20A0-9F80-E670-A4D56C994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339" y="1810409"/>
            <a:ext cx="2949575" cy="17335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ABEDBF0A-06A2-399A-D25B-95F8D86B7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1352" y="4336541"/>
            <a:ext cx="2419350" cy="21875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 descr="A diagram of a positive feedback&#10;&#10;AI-generated content may be incorrect.">
            <a:extLst>
              <a:ext uri="{FF2B5EF4-FFF2-40B4-BE49-F238E27FC236}">
                <a16:creationId xmlns:a16="http://schemas.microsoft.com/office/drawing/2014/main" id="{5AFBCF2B-2E1F-28CD-CFF7-728D42E05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7613" y="4664554"/>
            <a:ext cx="1552575" cy="18478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4151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12CC5-E5D1-52D5-B5A2-52A85D81C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686"/>
            <a:ext cx="10515600" cy="1325563"/>
          </a:xfrm>
        </p:spPr>
        <p:txBody>
          <a:bodyPr/>
          <a:lstStyle/>
          <a:p>
            <a:br>
              <a:rPr lang="en-US" b="1" dirty="0"/>
            </a:br>
            <a:r>
              <a:rPr lang="en-US" b="1" dirty="0"/>
              <a:t>Tuning by Variable Capacitance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D45F2-86AA-10D2-001A-A8C847176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2381"/>
            <a:ext cx="10515600" cy="53433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Continuous tuning by means of voltage-dependent capacitors, also called </a:t>
            </a:r>
            <a:r>
              <a:rPr lang="en-US" sz="2400" b="1" dirty="0">
                <a:ea typeface="+mn-lt"/>
                <a:cs typeface="+mn-lt"/>
              </a:rPr>
              <a:t>“varactors". </a:t>
            </a:r>
            <a:endParaRPr lang="en-US"/>
          </a:p>
          <a:p>
            <a:r>
              <a:rPr lang="en-US" sz="2400" u="sng" dirty="0"/>
              <a:t>If </a:t>
            </a:r>
            <a:r>
              <a:rPr lang="en-US" sz="2400" u="sng" err="1"/>
              <a:t>Vab</a:t>
            </a:r>
            <a:r>
              <a:rPr lang="en-US" sz="2400" u="sng" dirty="0"/>
              <a:t> is negative: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en-US" dirty="0"/>
              <a:t>Electrons are repelled and form a depletion region.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en-US" dirty="0"/>
              <a:t>Cab = (Cg*</a:t>
            </a:r>
            <a:r>
              <a:rPr lang="en-US" dirty="0" err="1"/>
              <a:t>Cdep</a:t>
            </a:r>
            <a:r>
              <a:rPr lang="en-US" dirty="0"/>
              <a:t>)/ (Cg + </a:t>
            </a:r>
            <a:r>
              <a:rPr lang="en-US" dirty="0" err="1"/>
              <a:t>Cdep</a:t>
            </a:r>
            <a:r>
              <a:rPr lang="en-US" dirty="0"/>
              <a:t>) ; </a:t>
            </a:r>
          </a:p>
          <a:p>
            <a:r>
              <a:rPr lang="en-US" sz="2400" u="sng" dirty="0"/>
              <a:t>If |</a:t>
            </a:r>
            <a:r>
              <a:rPr lang="en-US" sz="2400" u="sng" err="1"/>
              <a:t>Vab</a:t>
            </a:r>
            <a:r>
              <a:rPr lang="en-US" sz="2400" u="sng" dirty="0"/>
              <a:t>| decreases: 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en-US" dirty="0"/>
              <a:t>Depletion region gets reduced. 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en-US" dirty="0"/>
              <a:t>Capacitance increases = higher Cab. </a:t>
            </a:r>
          </a:p>
          <a:p>
            <a:r>
              <a:rPr lang="en-US" sz="2400" u="sng" dirty="0"/>
              <a:t>If </a:t>
            </a:r>
            <a:r>
              <a:rPr lang="en-US" sz="2400" u="sng" err="1"/>
              <a:t>Vab</a:t>
            </a:r>
            <a:r>
              <a:rPr lang="en-US" sz="2400" u="sng" dirty="0"/>
              <a:t> is sufficiently positive: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en-US" dirty="0"/>
              <a:t>Channel of electrons forms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en-US" dirty="0"/>
              <a:t>Cab = Cg </a:t>
            </a:r>
          </a:p>
        </p:txBody>
      </p:sp>
      <p:pic>
        <p:nvPicPr>
          <p:cNvPr id="5" name="Picture 4" descr="A diagram of electrical wiring&#10;&#10;AI-generated content may be incorrect.">
            <a:extLst>
              <a:ext uri="{FF2B5EF4-FFF2-40B4-BE49-F238E27FC236}">
                <a16:creationId xmlns:a16="http://schemas.microsoft.com/office/drawing/2014/main" id="{5B14D847-465D-5B0B-F762-CEC0C5ED25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8070" y="1743526"/>
            <a:ext cx="2074653" cy="17175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 descr="A diagram of a substation&#10;&#10;AI-generated content may be incorrect.">
            <a:extLst>
              <a:ext uri="{FF2B5EF4-FFF2-40B4-BE49-F238E27FC236}">
                <a16:creationId xmlns:a16="http://schemas.microsoft.com/office/drawing/2014/main" id="{7F9E24AF-0E3E-A6D5-2535-4E946190A8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671" b="19753"/>
          <a:stretch>
            <a:fillRect/>
          </a:stretch>
        </p:blipFill>
        <p:spPr>
          <a:xfrm>
            <a:off x="9002203" y="3767048"/>
            <a:ext cx="2167098" cy="18803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5702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77CD0-503D-62E1-62CA-819DF1708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4758"/>
            <a:ext cx="10515600" cy="616240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b="1" dirty="0"/>
              <a:t>Modelling Varactor</a:t>
            </a:r>
            <a:r>
              <a:rPr lang="en-US" sz="2400" dirty="0"/>
              <a:t>: 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Integrating Varactors in Ring Oscillators</a:t>
            </a:r>
          </a:p>
          <a:p>
            <a:pPr lvl="1" indent="-457200">
              <a:buAutoNum type="alphaLcParenR"/>
            </a:pPr>
            <a:endParaRPr lang="en-US" dirty="0"/>
          </a:p>
          <a:p>
            <a:pPr lvl="1" indent="-457200">
              <a:buAutoNum type="alphaLcParenR"/>
            </a:pPr>
            <a:r>
              <a:rPr lang="en-US" err="1"/>
              <a:t>Kvco</a:t>
            </a:r>
            <a:r>
              <a:rPr lang="en-US" dirty="0"/>
              <a:t>&gt;0 : </a:t>
            </a:r>
          </a:p>
          <a:p>
            <a:pPr lvl="1" indent="-457200">
              <a:buAutoNum type="alphaLcParenR"/>
            </a:pPr>
            <a:endParaRPr lang="en-US" dirty="0"/>
          </a:p>
          <a:p>
            <a:pPr lvl="1" indent="-457200">
              <a:buAutoNum type="alphaLcParenR"/>
            </a:pPr>
            <a:endParaRPr lang="en-US" dirty="0"/>
          </a:p>
          <a:p>
            <a:pPr lvl="1" indent="-457200">
              <a:buAutoNum type="alphaLcParenR"/>
            </a:pPr>
            <a:endParaRPr lang="en-US" dirty="0"/>
          </a:p>
          <a:p>
            <a:pPr lvl="1" indent="-457200">
              <a:buAutoNum type="alphaLcParenR"/>
            </a:pPr>
            <a:r>
              <a:rPr lang="en-US" err="1"/>
              <a:t>Kvco</a:t>
            </a:r>
            <a:r>
              <a:rPr lang="en-US" dirty="0"/>
              <a:t>&lt;0:</a:t>
            </a:r>
          </a:p>
          <a:p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Behavior: </a:t>
            </a:r>
            <a:endParaRPr lang="en-US" dirty="0"/>
          </a:p>
          <a:p>
            <a:pPr lvl="1" indent="-457200">
              <a:buAutoNum type="alphaLcParenR"/>
            </a:pPr>
            <a:r>
              <a:rPr lang="en-US" dirty="0"/>
              <a:t>Vx swings from 0 to VDD</a:t>
            </a:r>
          </a:p>
          <a:p>
            <a:pPr lvl="1" indent="-457200">
              <a:buAutoNum type="alphaLcParenR"/>
            </a:pPr>
            <a:r>
              <a:rPr lang="en-US" dirty="0"/>
              <a:t>Cab goes from Cint to </a:t>
            </a:r>
            <a:r>
              <a:rPr lang="en-US" dirty="0" err="1"/>
              <a:t>Cmax</a:t>
            </a:r>
            <a:r>
              <a:rPr lang="en-US" dirty="0"/>
              <a:t>.</a:t>
            </a:r>
          </a:p>
          <a:p>
            <a:pPr lvl="1" indent="-457200">
              <a:buAutoNum type="alphaLcParenR"/>
            </a:pPr>
            <a:r>
              <a:rPr lang="en-US" dirty="0" err="1"/>
              <a:t>Cmin</a:t>
            </a:r>
            <a:r>
              <a:rPr lang="en-US" dirty="0"/>
              <a:t> to Cint : not </a:t>
            </a:r>
            <a:r>
              <a:rPr lang="en-US" dirty="0" err="1"/>
              <a:t>utilised</a:t>
            </a:r>
            <a:r>
              <a:rPr lang="en-US" dirty="0"/>
              <a:t> as Vx can't be negative. </a:t>
            </a:r>
          </a:p>
        </p:txBody>
      </p:sp>
      <p:pic>
        <p:nvPicPr>
          <p:cNvPr id="4" name="Picture 3" descr="A diagram of a depletion mode&#10;&#10;AI-generated content may be incorrect.">
            <a:extLst>
              <a:ext uri="{FF2B5EF4-FFF2-40B4-BE49-F238E27FC236}">
                <a16:creationId xmlns:a16="http://schemas.microsoft.com/office/drawing/2014/main" id="{57CD0662-FF76-BC82-A41A-C731E42E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992" y="345386"/>
            <a:ext cx="2416175" cy="15588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close-up of a number&#10;&#10;AI-generated content may be incorrect.">
            <a:extLst>
              <a:ext uri="{FF2B5EF4-FFF2-40B4-BE49-F238E27FC236}">
                <a16:creationId xmlns:a16="http://schemas.microsoft.com/office/drawing/2014/main" id="{592D7C78-AE72-34CD-3391-0DFAF5E4A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769938"/>
            <a:ext cx="6223000" cy="7207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B183EE59-C7B7-F8AE-B827-A63D0642E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063" y="2246313"/>
            <a:ext cx="2352675" cy="10191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DF311DF1-1730-20F7-67E5-4CB16A37B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0825" y="3432175"/>
            <a:ext cx="3028950" cy="11620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8CDFD1-DFFE-31BC-C619-D7B0E6D8E5EF}"/>
              </a:ext>
            </a:extLst>
          </p:cNvPr>
          <p:cNvSpPr txBox="1"/>
          <p:nvPr/>
        </p:nvSpPr>
        <p:spPr>
          <a:xfrm>
            <a:off x="6178550" y="2247900"/>
            <a:ext cx="516255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Tuning range is set by the varactor size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Advantages: </a:t>
            </a:r>
          </a:p>
          <a:p>
            <a:pPr marL="742950" lvl="1" indent="-285750">
              <a:buFont typeface="Arial"/>
              <a:buChar char="•"/>
            </a:pPr>
            <a:r>
              <a:rPr lang="en-US" b="1" dirty="0"/>
              <a:t>Very low noise compared to transistor tuning</a:t>
            </a:r>
          </a:p>
          <a:p>
            <a:pPr lvl="1"/>
            <a:endParaRPr lang="en-US" b="1" dirty="0"/>
          </a:p>
        </p:txBody>
      </p:sp>
      <p:pic>
        <p:nvPicPr>
          <p:cNvPr id="9" name="Picture 8" descr="A diagram of a function&#10;&#10;AI-generated content may be incorrect.">
            <a:extLst>
              <a:ext uri="{FF2B5EF4-FFF2-40B4-BE49-F238E27FC236}">
                <a16:creationId xmlns:a16="http://schemas.microsoft.com/office/drawing/2014/main" id="{C885B7E6-E4E6-26BB-5D0C-2E70A99D0D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3650" y="4187825"/>
            <a:ext cx="3848100" cy="15811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5737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16D79-B9C3-5F3C-C5D0-A212FFCA7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686"/>
            <a:ext cx="10515600" cy="1325563"/>
          </a:xfrm>
        </p:spPr>
        <p:txBody>
          <a:bodyPr/>
          <a:lstStyle/>
          <a:p>
            <a:r>
              <a:rPr lang="en-US" b="1" dirty="0"/>
              <a:t>Discrete tuning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575FD-6E9E-C758-E5DB-4E7832E62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2380"/>
            <a:ext cx="10515600" cy="50845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u="sng" dirty="0"/>
              <a:t>How is this implemented? </a:t>
            </a:r>
            <a:endParaRPr lang="en-US" u="sng"/>
          </a:p>
          <a:p>
            <a:r>
              <a:rPr lang="en-US" sz="2400" dirty="0"/>
              <a:t>Add programmable capacitors at each node. { C1 to C4 }</a:t>
            </a:r>
          </a:p>
          <a:p>
            <a:r>
              <a:rPr lang="en-US" sz="2400" dirty="0"/>
              <a:t>The switches are driven by "thermometer" code.</a:t>
            </a:r>
          </a:p>
          <a:p>
            <a:r>
              <a:rPr lang="en-US" sz="2400" dirty="0"/>
              <a:t>As more switches are "on" : </a:t>
            </a:r>
            <a:r>
              <a:rPr lang="en-US" sz="2400" i="1" u="sng" dirty="0"/>
              <a:t>C increases and f decreases</a:t>
            </a:r>
            <a:r>
              <a:rPr lang="en-US" sz="2400" dirty="0"/>
              <a:t>. </a:t>
            </a:r>
          </a:p>
          <a:p>
            <a:pPr marL="0" indent="0">
              <a:buNone/>
            </a:pPr>
            <a:r>
              <a:rPr lang="en-US" sz="2400" u="sng" dirty="0"/>
              <a:t>How to select Capacitance values</a:t>
            </a:r>
            <a:r>
              <a:rPr lang="en-US" sz="2400" dirty="0"/>
              <a:t>?</a:t>
            </a:r>
          </a:p>
          <a:p>
            <a:r>
              <a:rPr lang="en-US" sz="2400" dirty="0"/>
              <a:t>C1: smallest ; C4: largest and C3=C2</a:t>
            </a:r>
          </a:p>
        </p:txBody>
      </p:sp>
      <p:pic>
        <p:nvPicPr>
          <p:cNvPr id="4" name="Picture 3" descr="A diagram of a circuit&#10;&#10;AI-generated content may be incorrect.">
            <a:extLst>
              <a:ext uri="{FF2B5EF4-FFF2-40B4-BE49-F238E27FC236}">
                <a16:creationId xmlns:a16="http://schemas.microsoft.com/office/drawing/2014/main" id="{AFAC920C-CAEE-D104-29EC-325E9E3FF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927" y="4194865"/>
            <a:ext cx="4595543" cy="144438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load capacitance&#10;&#10;AI-generated content may be incorrect.">
            <a:extLst>
              <a:ext uri="{FF2B5EF4-FFF2-40B4-BE49-F238E27FC236}">
                <a16:creationId xmlns:a16="http://schemas.microsoft.com/office/drawing/2014/main" id="{6AADC6DF-A0BE-C038-33A4-B94DDE4E5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0892" y="1935163"/>
            <a:ext cx="2114550" cy="17070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F5BB5011-9726-3B22-18FC-B367DCEF537E}"/>
              </a:ext>
            </a:extLst>
          </p:cNvPr>
          <p:cNvSpPr/>
          <p:nvPr/>
        </p:nvSpPr>
        <p:spPr>
          <a:xfrm>
            <a:off x="8547693" y="2103967"/>
            <a:ext cx="367114" cy="106256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D3CC525F-CB17-D235-87E0-79E118567E5A}"/>
              </a:ext>
            </a:extLst>
          </p:cNvPr>
          <p:cNvSpPr/>
          <p:nvPr/>
        </p:nvSpPr>
        <p:spPr>
          <a:xfrm>
            <a:off x="11207750" y="2624666"/>
            <a:ext cx="287020" cy="305986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A857F6-468F-9BED-108B-9B08B12BA2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317" y="3970338"/>
            <a:ext cx="2415117" cy="19018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1327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7DAEA-00B3-44AA-9F8A-9A7747D89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68"/>
            <a:ext cx="10515600" cy="1325563"/>
          </a:xfrm>
        </p:spPr>
        <p:txBody>
          <a:bodyPr/>
          <a:lstStyle/>
          <a:p>
            <a:r>
              <a:rPr lang="en-US" b="1" dirty="0"/>
              <a:t>Problem of supply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D6777-CB5F-F34B-A0DF-AFBBB0407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2381"/>
            <a:ext cx="10587486" cy="54871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</a:pPr>
            <a:r>
              <a:rPr lang="en-US" sz="2400" dirty="0"/>
              <a:t>Ring osc. are sensitive to supply voltage </a:t>
            </a:r>
            <a:endParaRPr lang="en-US"/>
          </a:p>
          <a:p>
            <a:pPr>
              <a:buFont typeface="Arial"/>
            </a:pPr>
            <a:r>
              <a:rPr lang="en-US" sz="2400" dirty="0"/>
              <a:t>VDD noise modulates directly with frequency of </a:t>
            </a:r>
            <a:r>
              <a:rPr lang="en-US" sz="2400" dirty="0" err="1"/>
              <a:t>osc</a:t>
            </a:r>
            <a:r>
              <a:rPr lang="en-US" sz="2400" dirty="0"/>
              <a:t> and PN.</a:t>
            </a:r>
          </a:p>
          <a:p>
            <a:pPr marL="0" indent="0">
              <a:buNone/>
            </a:pPr>
            <a:r>
              <a:rPr lang="en-US" sz="2400" b="1" u="sng" dirty="0"/>
              <a:t>Use of a Regulator : to mitigate noise</a:t>
            </a:r>
          </a:p>
          <a:p>
            <a:pPr>
              <a:buFont typeface="Arial"/>
            </a:pPr>
            <a:r>
              <a:rPr lang="en-US" sz="2400" dirty="0"/>
              <a:t>Regulators o/p voltage is lower than the global VDD.</a:t>
            </a:r>
          </a:p>
          <a:p>
            <a:pPr>
              <a:buFont typeface="Arial"/>
            </a:pPr>
            <a:r>
              <a:rPr lang="en-US" sz="2400" dirty="0"/>
              <a:t>Parasitic Inductor LB current change translates to  </a:t>
            </a:r>
          </a:p>
          <a:p>
            <a:pPr marL="0" indent="0">
              <a:buNone/>
            </a:pPr>
            <a:r>
              <a:rPr lang="en-US" sz="2400" dirty="0"/>
              <a:t>large voltage change thus disturbing oscillator.</a:t>
            </a:r>
            <a:endParaRPr lang="en-US"/>
          </a:p>
          <a:p>
            <a:pPr marL="0" indent="0">
              <a:buNone/>
            </a:pPr>
            <a:r>
              <a:rPr lang="en-US" sz="2400" b="1" u="sng" dirty="0"/>
              <a:t>A. Voltage Regulation- LDO</a:t>
            </a:r>
          </a:p>
          <a:p>
            <a:pPr marL="342900" indent="-342900"/>
            <a:r>
              <a:rPr lang="en-US" sz="2400" dirty="0"/>
              <a:t>LDO generates a stable VDD for ring </a:t>
            </a:r>
            <a:r>
              <a:rPr lang="en-US" sz="2400" dirty="0" err="1"/>
              <a:t>Osc</a:t>
            </a:r>
            <a:r>
              <a:rPr lang="en-US" sz="2400" dirty="0"/>
              <a:t>.</a:t>
            </a:r>
          </a:p>
          <a:p>
            <a:pPr marL="342900" indent="-342900"/>
            <a:r>
              <a:rPr lang="en-US" sz="2400" dirty="0"/>
              <a:t>A1 ensures V1=</a:t>
            </a:r>
            <a:r>
              <a:rPr lang="en-US" sz="2400" err="1"/>
              <a:t>Vref</a:t>
            </a:r>
            <a:r>
              <a:rPr lang="en-US" sz="2400" dirty="0"/>
              <a:t>  and </a:t>
            </a:r>
            <a:r>
              <a:rPr lang="en-US" sz="2400" b="1" dirty="0"/>
              <a:t>VDD = </a:t>
            </a:r>
            <a:r>
              <a:rPr lang="en-US" sz="2400" b="1" err="1"/>
              <a:t>Vref</a:t>
            </a:r>
            <a:r>
              <a:rPr lang="en-US" sz="2400" b="1" dirty="0"/>
              <a:t> (1+R1/R2) is regulated.</a:t>
            </a:r>
          </a:p>
          <a:p>
            <a:pPr marL="0" indent="0">
              <a:buNone/>
            </a:pPr>
            <a:endParaRPr lang="en-US" sz="2400" b="1" i="1" dirty="0"/>
          </a:p>
          <a:p>
            <a:pPr marL="0" indent="0" algn="ctr">
              <a:buNone/>
            </a:pPr>
            <a:r>
              <a:rPr lang="en-US" sz="2400" b="1" i="1" dirty="0"/>
              <a:t>LDO has good supply noise rejection and tunable output range</a:t>
            </a:r>
            <a:endParaRPr lang="en-US" dirty="0"/>
          </a:p>
          <a:p>
            <a:endParaRPr lang="en-US" sz="2400"/>
          </a:p>
          <a:p>
            <a:pPr marL="0" indent="0">
              <a:buNone/>
            </a:pPr>
            <a:endParaRPr lang="en-US" sz="2400" b="1" dirty="0"/>
          </a:p>
          <a:p>
            <a:endParaRPr lang="en-US" sz="2400" dirty="0"/>
          </a:p>
        </p:txBody>
      </p:sp>
      <p:pic>
        <p:nvPicPr>
          <p:cNvPr id="4" name="Picture 3" descr="A diagram of a device&#10;&#10;AI-generated content may be incorrect.">
            <a:extLst>
              <a:ext uri="{FF2B5EF4-FFF2-40B4-BE49-F238E27FC236}">
                <a16:creationId xmlns:a16="http://schemas.microsoft.com/office/drawing/2014/main" id="{E5133851-C2E6-B6D5-672E-CFCCFD05E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209" y="511295"/>
            <a:ext cx="2991210" cy="16849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2036E65C-C92B-58C7-C1A1-AE10B7297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963" y="2853907"/>
            <a:ext cx="4090718" cy="18834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0914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F66D8-784B-50D0-BB6D-F4128AFDF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2267"/>
            <a:ext cx="10515600" cy="57746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B . Current Regulation  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dirty="0"/>
              <a:t>Isolate the ring </a:t>
            </a:r>
            <a:r>
              <a:rPr lang="en-US" dirty="0" err="1"/>
              <a:t>osc</a:t>
            </a:r>
            <a:r>
              <a:rPr lang="en-US" dirty="0"/>
              <a:t> from supply. 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dirty="0"/>
              <a:t>Add a Current source in between. 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dirty="0"/>
              <a:t>Idd consumes some voltage headroom. 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dirty="0" err="1"/>
              <a:t>Vdd</a:t>
            </a:r>
            <a:r>
              <a:rPr lang="en-US" dirty="0"/>
              <a:t> = Idd/(3*f0*</a:t>
            </a:r>
            <a:r>
              <a:rPr lang="en-US" dirty="0" err="1"/>
              <a:t>Ctot</a:t>
            </a:r>
            <a:r>
              <a:rPr lang="en-US" dirty="0"/>
              <a:t>)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r>
              <a:rPr lang="en-US" i="1" dirty="0"/>
              <a:t>Change f0 using current</a:t>
            </a:r>
          </a:p>
          <a:p>
            <a:pPr marL="457200" indent="-457200"/>
            <a:r>
              <a:rPr lang="en-US" sz="2400" dirty="0"/>
              <a:t>Noise in </a:t>
            </a:r>
            <a:r>
              <a:rPr lang="en-US" sz="2400" dirty="0" err="1"/>
              <a:t>Vdd,g</a:t>
            </a:r>
            <a:r>
              <a:rPr lang="en-US" sz="2400" dirty="0"/>
              <a:t> modules </a:t>
            </a:r>
            <a:r>
              <a:rPr lang="en-US" sz="2400" dirty="0" err="1"/>
              <a:t>Vgs</a:t>
            </a:r>
            <a:r>
              <a:rPr lang="en-US" sz="2400" dirty="0"/>
              <a:t> and IDD</a:t>
            </a:r>
          </a:p>
          <a:p>
            <a:pPr marL="457200" indent="-457200"/>
            <a:r>
              <a:rPr lang="en-US" sz="2400" dirty="0"/>
              <a:t>M1 has flicker and thermal noise. </a:t>
            </a:r>
          </a:p>
          <a:p>
            <a:pPr marL="457200" indent="-457200"/>
            <a:r>
              <a:rPr lang="en-US" sz="2400" dirty="0" err="1"/>
              <a:t>Vcont</a:t>
            </a:r>
            <a:r>
              <a:rPr lang="en-US" sz="2400" dirty="0"/>
              <a:t> can't reach </a:t>
            </a:r>
            <a:r>
              <a:rPr lang="en-US" sz="2400" dirty="0" err="1"/>
              <a:t>Vdd,g</a:t>
            </a:r>
            <a:r>
              <a:rPr lang="en-US" sz="2400" dirty="0"/>
              <a:t> -&gt; m1 off.</a:t>
            </a:r>
          </a:p>
          <a:p>
            <a:pPr marL="457200" indent="-457200"/>
            <a:endParaRPr lang="en-US" sz="2400" dirty="0"/>
          </a:p>
          <a:p>
            <a:pPr marL="0" indent="0" algn="ctr">
              <a:buNone/>
            </a:pPr>
            <a:r>
              <a:rPr lang="en-US" sz="2400" b="1" i="1" dirty="0"/>
              <a:t>Using a current mirror gives worse tuning range and noise than LDO.</a:t>
            </a:r>
          </a:p>
        </p:txBody>
      </p:sp>
      <p:pic>
        <p:nvPicPr>
          <p:cNvPr id="4" name="Picture 3" descr="A drawing of a diagram&#10;&#10;AI-generated content may be incorrect.">
            <a:extLst>
              <a:ext uri="{FF2B5EF4-FFF2-40B4-BE49-F238E27FC236}">
                <a16:creationId xmlns:a16="http://schemas.microsoft.com/office/drawing/2014/main" id="{3E9006BB-4F94-32E6-2E97-90235F49C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616" y="396186"/>
            <a:ext cx="2392392" cy="199683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EF7D9FEE-6E74-1271-DF23-FD703C0F0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453" y="2624408"/>
            <a:ext cx="2379093" cy="202612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2033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29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Design of Inverter-Based Ring Oscillators </vt:lpstr>
      <vt:lpstr>Presentation Topics</vt:lpstr>
      <vt:lpstr>Phase noise in Ring oscillators</vt:lpstr>
      <vt:lpstr>PowerPoint Presentation</vt:lpstr>
      <vt:lpstr>Noise sources in CMOS inverter</vt:lpstr>
      <vt:lpstr> Phase Noise in CMOS Inverter Oscillators </vt:lpstr>
      <vt:lpstr>Effects of Variations in the width on PN</vt:lpstr>
      <vt:lpstr>Preliminary Design Ideas</vt:lpstr>
      <vt:lpstr>PowerPoint Presentation</vt:lpstr>
      <vt:lpstr>Obtaining the Desired Frequency </vt:lpstr>
      <vt:lpstr> a. Add capacitance to each node. </vt:lpstr>
      <vt:lpstr> C. Higher transistor lengths </vt:lpstr>
      <vt:lpstr>Phase Noise Considerations </vt:lpstr>
      <vt:lpstr>PowerPoint Presentation</vt:lpstr>
      <vt:lpstr>Four 2-GHz oscillator designs. </vt:lpstr>
      <vt:lpstr>PowerPoint Presentation</vt:lpstr>
      <vt:lpstr>Frequency tuning</vt:lpstr>
      <vt:lpstr>PowerPoint Presentation</vt:lpstr>
      <vt:lpstr>Continuous and Discrete tuning</vt:lpstr>
      <vt:lpstr>PowerPoint Presentation</vt:lpstr>
      <vt:lpstr>Tuning by Variable Resistance</vt:lpstr>
      <vt:lpstr>Problems? </vt:lpstr>
      <vt:lpstr>Solutions</vt:lpstr>
      <vt:lpstr>PowerPoint Presentation</vt:lpstr>
      <vt:lpstr> Tuning by Variable Capacitance </vt:lpstr>
      <vt:lpstr>PowerPoint Presentation</vt:lpstr>
      <vt:lpstr>Discrete tuning</vt:lpstr>
      <vt:lpstr>Problem of supply Noise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1744</cp:revision>
  <dcterms:created xsi:type="dcterms:W3CDTF">2025-07-11T07:38:24Z</dcterms:created>
  <dcterms:modified xsi:type="dcterms:W3CDTF">2025-07-14T19:54:12Z</dcterms:modified>
</cp:coreProperties>
</file>