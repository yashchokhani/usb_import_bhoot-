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55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8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3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4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1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7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2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7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8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#fn10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Tutorial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ADVD</a:t>
            </a:r>
          </a:p>
          <a:p>
            <a:r>
              <a:rPr lang="en-US" dirty="0" smtClean="0"/>
              <a:t>Neeraj Mishra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7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17" y="0"/>
            <a:ext cx="10515600" cy="1325563"/>
          </a:xfrm>
        </p:spPr>
        <p:txBody>
          <a:bodyPr/>
          <a:lstStyle/>
          <a:p>
            <a:r>
              <a:rPr lang="en-US" dirty="0" smtClean="0"/>
              <a:t>PROBLEM 1: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74" t="1334" r="8611"/>
          <a:stretch/>
        </p:blipFill>
        <p:spPr>
          <a:xfrm>
            <a:off x="6373327" y="1754235"/>
            <a:ext cx="5482477" cy="3314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05961" y="989901"/>
                <a:ext cx="11973538" cy="3994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600" b="1" dirty="0" smtClean="0">
                    <a:solidFill>
                      <a:srgbClr val="0F4761"/>
                    </a:solidFill>
                    <a:effectLst/>
                    <a:latin typeface="Aptos Display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COMMON SOURCE AMPLIFIER - HIGH FREQUENCY ANALYSIS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4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Overview</a:t>
                </a:r>
              </a:p>
              <a:p>
                <a:pPr marL="171450" marR="0" lvl="0" indent="-171450">
                  <a:spcBef>
                    <a:spcPts val="180"/>
                  </a:spcBef>
                  <a:spcAft>
                    <a:spcPts val="18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Circuit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: Common-source MOSFET amplifier with single stage</a:t>
                </a:r>
              </a:p>
              <a:p>
                <a:pPr marL="171450" marR="0" lvl="0" indent="-171450">
                  <a:spcBef>
                    <a:spcPts val="180"/>
                  </a:spcBef>
                  <a:spcAft>
                    <a:spcPts val="18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Goal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: Find </a:t>
                </a:r>
                <a:r>
                  <a:rPr lang="en-US" sz="12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midband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 gain (A</a:t>
                </a:r>
                <a:r>
                  <a:rPr lang="en-US" sz="1200" baseline="-250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m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) and upper 3-dB frequency (</a:t>
                </a:r>
                <a:r>
                  <a:rPr lang="en-US" sz="12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f</a:t>
                </a:r>
                <a:r>
                  <a:rPr lang="en-US" sz="1200" baseline="-250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H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)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4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Parameters</a:t>
                </a: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Signal source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=100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=4.7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Drain and load resistances: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 err="1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Transconductance</a:t>
                </a: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mA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Output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=150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Gate-source capacitance: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pF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Gate-drain capacitance: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=0.4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pF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1" y="989901"/>
                <a:ext cx="11973538" cy="3994620"/>
              </a:xfrm>
              <a:prstGeom prst="rect">
                <a:avLst/>
              </a:prstGeom>
              <a:blipFill>
                <a:blip r:embed="rId3"/>
                <a:stretch>
                  <a:fillRect l="-254" t="-457" b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26606" y="5304870"/>
                <a:ext cx="11189954" cy="11596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At high frequencies, the behavior of the common-source amplifier changes dramatically compared to </a:t>
                </a:r>
                <a:r>
                  <a:rPr lang="en-US" sz="1400" dirty="0" err="1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midband</a:t>
                </a: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operation. 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coupling capacitors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) have impedances that approach zero, effectively becoming short circuits. </a:t>
                </a:r>
                <a:endParaRPr lang="en-US" sz="1400" dirty="0" smtClean="0">
                  <a:solidFill>
                    <a:srgbClr val="000000"/>
                  </a:solidFill>
                  <a:effectLst/>
                  <a:latin typeface="inter"/>
                  <a:ea typeface="inter"/>
                  <a:cs typeface="inter"/>
                </a:endParaRP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This 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means they no longer influence the circuit behavior—their role was primarily at low frequencies where they blocked DC components while passing AC signals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06" y="5304870"/>
                <a:ext cx="11189954" cy="1159613"/>
              </a:xfrm>
              <a:prstGeom prst="rect">
                <a:avLst/>
              </a:prstGeom>
              <a:blipFill>
                <a:blip r:embed="rId4"/>
                <a:stretch>
                  <a:fillRect l="-109" t="-105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33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Identify High-Frequency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970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3200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2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At high frequencies, coupling capacitors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→ short circuit (negligible) - Parasitic device capacitances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become dominant -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creates feedback path between input and output → MILLER EFFECT</a:t>
            </a:r>
          </a:p>
          <a:p>
            <a:pPr algn="just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32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Physical Intuition: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Small feedback capacitance appears much larger due to voltage amplification - This limits high-frequency gain and bandwidth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185" y="4081997"/>
            <a:ext cx="7283824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5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15"/>
          <a:stretch/>
        </p:blipFill>
        <p:spPr>
          <a:xfrm>
            <a:off x="25400" y="455987"/>
            <a:ext cx="6515178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521060" y="141704"/>
                <a:ext cx="5615907" cy="1585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just">
                  <a:buFont typeface="Wingdings" panose="05000000000000000000" pitchFamily="2" charset="2"/>
                  <a:buChar char="q"/>
                </a:pPr>
                <a:r>
                  <a:rPr lang="en-US" sz="12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</a:t>
                </a:r>
                <a:r>
                  <a:rPr lang="en-US" sz="12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 high frequencies, the </a:t>
                </a:r>
                <a:r>
                  <a:rPr lang="en-US" sz="12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parasitic capacitances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inherent to the MOSFET device become dominant. These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(gate-to-source capacitance)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(gate-to-drain capacitance). </a:t>
                </a:r>
                <a:endParaRPr lang="en-US" sz="1200" dirty="0" smtClean="0">
                  <a:solidFill>
                    <a:srgbClr val="000000"/>
                  </a:solidFill>
                  <a:effectLst/>
                  <a:latin typeface="inter"/>
                  <a:ea typeface="inter"/>
                  <a:cs typeface="inter"/>
                </a:endParaRPr>
              </a:p>
              <a:p>
                <a:pPr marL="171450" indent="-171450" algn="just">
                  <a:buFont typeface="Wingdings" panose="05000000000000000000" pitchFamily="2" charset="2"/>
                  <a:buChar char="q"/>
                </a:pPr>
                <a:r>
                  <a:rPr lang="en-US" sz="12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represents a direct capacitance from input to ground,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particularly troublesome because it bridges the input and output nodes, creating a </a:t>
                </a:r>
                <a:r>
                  <a:rPr lang="en-US" sz="12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feedback path</a:t>
                </a:r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0" y="141704"/>
                <a:ext cx="5615907" cy="1585690"/>
              </a:xfrm>
              <a:prstGeom prst="rect">
                <a:avLst/>
              </a:prstGeom>
              <a:blipFill>
                <a:blip r:embed="rId3"/>
                <a:stretch>
                  <a:fillRect t="-38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557432" y="1752889"/>
                <a:ext cx="5333999" cy="4826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Miller effect is one of the most important concepts in understanding high-frequency amplifier limitations. It describes how a small feedback capacitance between input and output appears </a:t>
                </a:r>
                <a:r>
                  <a:rPr lang="en-US" sz="11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much larger</a:t>
                </a: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at the input due to voltage amplification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Here's the physical reasoning: When you apply an input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at the gate, the output voltage changes by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(negative because of the inverting nature of the common-source amplifier). The voltage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therefore: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current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From the input terminal's perspective, this looks like a capacitor with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(1+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connected directly to ground. This is the </a:t>
                </a:r>
                <a:r>
                  <a:rPr lang="en-US" sz="11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Miller capacitance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the effective load resistance seen by the 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drain</a:t>
                </a:r>
                <a:r>
                  <a:rPr lang="en-US" sz="11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432" y="1752889"/>
                <a:ext cx="5333999" cy="48267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39700" y="4869059"/>
                <a:ext cx="6096000" cy="18264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n-US" sz="16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Miller effect </a:t>
                </a:r>
                <a:r>
                  <a:rPr lang="en-US" sz="16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amplifies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the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capacitance by the voltage gain factor, making it appear as a much larger capacitance at the input. This increased effective input capacitance forms a low-pass RC filter with the source resistance, which </a:t>
                </a:r>
                <a:r>
                  <a:rPr lang="en-US" sz="16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limits the high-frequency response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of the amplifier.</a:t>
                </a:r>
                <a:endParaRPr lang="en-US" sz="3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4869059"/>
                <a:ext cx="6096000" cy="1826462"/>
              </a:xfrm>
              <a:prstGeom prst="rect">
                <a:avLst/>
              </a:prstGeom>
              <a:blipFill>
                <a:blip r:embed="rId5"/>
                <a:stretch>
                  <a:fillRect l="-600" r="-500" b="-3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40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2: Calculate Effective Load Resistance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5031" y="1601931"/>
                <a:ext cx="10198936" cy="435133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The drain of the MOSFET sees three resistances in parallel: the MOSFET's output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the drain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the load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</a:t>
                </a:r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0.00667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0.1400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7.14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Represents actual AC load impedance seen by drain - Three resistances in parallel reduce effective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5031" y="1601931"/>
                <a:ext cx="10198936" cy="4351338"/>
              </a:xfrm>
              <a:blipFill>
                <a:blip r:embed="rId2"/>
                <a:stretch>
                  <a:fillRect l="-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78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3: Calculate Intrinsic Voltage Gain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5500" y="1622424"/>
                <a:ext cx="10515600" cy="503237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/>
                  <a:t>The intrinsic gain of the amplifier (before considering the input voltage division) is</a:t>
                </a:r>
                <a:r>
                  <a:rPr lang="en-US" dirty="0" smtClean="0"/>
                  <a:t>:</a:t>
                </a:r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7.14 V/V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Gain from gate-source voltage to drain output -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converts gate voltage to drain current - Current flows through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produce voltage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the gain from gate-to-source voltage to the drain output. The </a:t>
                </a:r>
                <a:r>
                  <a:rPr lang="en-US" dirty="0" err="1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transconductance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converts the gate voltage into drain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), and this current flows through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to produce the output voltage</a:t>
                </a:r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5500" y="1622424"/>
                <a:ext cx="10515600" cy="5032375"/>
              </a:xfrm>
              <a:blipFill>
                <a:blip r:embed="rId2"/>
                <a:stretch>
                  <a:fillRect l="-580" t="-2179" r="-638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03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1052924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>
                <a:latin typeface="Aptos"/>
              </a:rPr>
              <a:t>STEP 4: Account for Input Voltage Divider (</a:t>
            </a:r>
            <a:r>
              <a:rPr lang="en-US" sz="3200" dirty="0" err="1" smtClean="0">
                <a:latin typeface="Aptos"/>
              </a:rPr>
              <a:t>Midband</a:t>
            </a:r>
            <a:r>
              <a:rPr lang="en-US" sz="3200" dirty="0" smtClean="0">
                <a:latin typeface="Aptos"/>
              </a:rPr>
              <a:t> Gain)</a:t>
            </a:r>
            <a:endParaRPr lang="en-US" sz="3200" dirty="0"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7168"/>
                <a:ext cx="10515600" cy="5820832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600" dirty="0"/>
                  <a:t>The signal source has internal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/>
                        </m:ctrlPr>
                      </m:sSubPr>
                      <m:e>
                        <m:r>
                          <a:rPr lang="en-US" sz="1600" i="1"/>
                          <m:t>𝑅</m:t>
                        </m:r>
                      </m:e>
                      <m:sub>
                        <m:r>
                          <a:rPr lang="en-US" sz="1600" i="1"/>
                          <m:t>𝑠𝑖𝑔</m:t>
                        </m:r>
                      </m:sub>
                    </m:sSub>
                  </m:oMath>
                </a14:m>
                <a:r>
                  <a:rPr lang="en-US" sz="1600" dirty="0"/>
                  <a:t> which forms a voltage divider with the gate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/>
                        </m:ctrlPr>
                      </m:sSubPr>
                      <m:e>
                        <m:r>
                          <a:rPr lang="en-US" sz="1600" i="1"/>
                          <m:t>𝑅</m:t>
                        </m:r>
                      </m:e>
                      <m:sub>
                        <m:r>
                          <a:rPr lang="en-US" sz="1600" i="1"/>
                          <m:t>𝐺</m:t>
                        </m:r>
                      </m:sub>
                    </m:sSub>
                  </m:oMath>
                </a14:m>
                <a:r>
                  <a:rPr lang="en-US" sz="1600" dirty="0" smtClean="0"/>
                  <a:t>:</a:t>
                </a:r>
                <a:endParaRPr lang="en-US" sz="1400" b="1" dirty="0" smtClean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−4.7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 sz="1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num>
                      <m:den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4.8</m:t>
                        </m:r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−0.979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−7.0</m:t>
                    </m:r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7.0 V/V (with 180° phase shift)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Negative sign: inverted output (180° phase shift) - Resistive divider: ~98% of signal reaches gate - Very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minimizes voltage division </a:t>
                </a:r>
                <a:r>
                  <a:rPr lang="en-US" sz="14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</a:p>
              <a:p>
                <a:pPr marL="0" marR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None/>
                </a:pPr>
                <a:r>
                  <a:rPr lang="en-US" sz="1400" b="1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Intuition: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The negative sign indicates phase inversion (180° phase shift). The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represents the fraction of the source voltage that actually appears at the gate due to the resistive voltage divider. In this case, about 98% of the signal reaches the gate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much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</m:oMath>
                </a14:m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7168"/>
                <a:ext cx="10515600" cy="5820832"/>
              </a:xfrm>
              <a:blipFill>
                <a:blip r:embed="rId2"/>
                <a:stretch>
                  <a:fillRect l="-348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22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5831" cy="1325563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STEP 5: Apply Miller Effect to Calculate Equivalent Input Capacitance</a:t>
            </a:r>
            <a:endParaRPr lang="en-US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Principle - Miller Effect: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Feedback capacitance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multiplies by gain factor - Appears as larger capacitance at input - Creates dominant high-frequency pole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 for Miller Capacitance: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600" baseline="-25000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Miller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3.26 pF</a:t>
                </a:r>
              </a:p>
              <a:p>
                <a:pPr marL="0" indent="0"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Critical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insight: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Notice that the 0.4 pF feedback capacitance becomes 3.26 pF—more than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8 times larger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—due to the Miller effect. This dramatically increases the input capacitance and is the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dominant factor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limiting high-frequency performance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754" t="-242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83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6: Calculate Total Input Capacitance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3.26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4.26 pF</a:t>
                </a:r>
              </a:p>
              <a:p>
                <a:pPr algn="just"/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Composition: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Direct gate capacitance: 1 pF (23%) - Miller-effect capacitance: 3.26 pF (77%) - Miller effect dominates!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15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7: Calculate Effective Source Resistance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0.47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4.8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0.098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MΩ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98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98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Thevenin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equivalent source resistance -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source resistance dominated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66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37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ptos"/>
              </a:rPr>
              <a:t>STEP 8: Calculate Upper 3-dB Frequency (High-Frequency Pole)</a:t>
            </a:r>
            <a:endParaRPr lang="en-US" sz="3200" dirty="0"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2634"/>
                <a:ext cx="10515600" cy="5685366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 indent="0"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Mechanism: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Input RC network forms low-pass filter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cutoff frequency - Gain rolls off at -20 dB/decade beyond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4.26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98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4.17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2.62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−6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382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kHz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382 kHz</a:t>
                </a:r>
              </a:p>
              <a:p>
                <a:pPr marL="0" marR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Interpretation: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Above 382 kHz, the impedance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becomes low enough to significantly shunt the input signal to ground through the capacitor, reducing the gate voltage and hence the overall gain. The gain rolls off at -20 dB/decade beyond this frequency, typical of a single-pole (first-order) low-pass response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2634"/>
                <a:ext cx="10515600" cy="5685366"/>
              </a:xfrm>
              <a:blipFill>
                <a:blip r:embed="rId2"/>
                <a:stretch>
                  <a:fillRect l="-522" t="-1715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55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9: Complete Frequency Response </a:t>
            </a:r>
            <a:r>
              <a:rPr lang="en-US" sz="32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2π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Characteristics: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Gain at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midband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-7.0 V/V - Gain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-7.0/√2 = -4.95 V/V (3 dB down) - Roll-off rate: -20 dB/decade above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136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4086602"/>
                  </p:ext>
                </p:extLst>
              </p:nvPr>
            </p:nvGraphicFramePr>
            <p:xfrm>
              <a:off x="791106" y="2029643"/>
              <a:ext cx="9467442" cy="2438400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76822">
                      <a:extLst>
                        <a:ext uri="{9D8B030D-6E8A-4147-A177-3AD203B41FA5}">
                          <a16:colId xmlns:a16="http://schemas.microsoft.com/office/drawing/2014/main" val="2811061013"/>
                        </a:ext>
                      </a:extLst>
                    </a:gridCol>
                    <a:gridCol w="1975445">
                      <a:extLst>
                        <a:ext uri="{9D8B030D-6E8A-4147-A177-3AD203B41FA5}">
                          <a16:colId xmlns:a16="http://schemas.microsoft.com/office/drawing/2014/main" val="1662063005"/>
                        </a:ext>
                      </a:extLst>
                    </a:gridCol>
                    <a:gridCol w="3915175">
                      <a:extLst>
                        <a:ext uri="{9D8B030D-6E8A-4147-A177-3AD203B41FA5}">
                          <a16:colId xmlns:a16="http://schemas.microsoft.com/office/drawing/2014/main" val="267293713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7784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Load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27815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Intrinsic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48779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Midband</a:t>
                          </a: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Gain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-7.0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20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66731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Miller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48053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Input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0860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2795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3-dB Frequency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382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kHz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51762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4086602"/>
                  </p:ext>
                </p:extLst>
              </p:nvPr>
            </p:nvGraphicFramePr>
            <p:xfrm>
              <a:off x="791106" y="2029643"/>
              <a:ext cx="9467442" cy="2438400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76822">
                      <a:extLst>
                        <a:ext uri="{9D8B030D-6E8A-4147-A177-3AD203B41FA5}">
                          <a16:colId xmlns:a16="http://schemas.microsoft.com/office/drawing/2014/main" val="2811061013"/>
                        </a:ext>
                      </a:extLst>
                    </a:gridCol>
                    <a:gridCol w="1975445">
                      <a:extLst>
                        <a:ext uri="{9D8B030D-6E8A-4147-A177-3AD203B41FA5}">
                          <a16:colId xmlns:a16="http://schemas.microsoft.com/office/drawing/2014/main" val="1662063005"/>
                        </a:ext>
                      </a:extLst>
                    </a:gridCol>
                    <a:gridCol w="3915175">
                      <a:extLst>
                        <a:ext uri="{9D8B030D-6E8A-4147-A177-3AD203B41FA5}">
                          <a16:colId xmlns:a16="http://schemas.microsoft.com/office/drawing/2014/main" val="267293713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778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Load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27815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Intrinsic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487798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" t="-315686" r="-165077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-7.0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20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66731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Miller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48053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Input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086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27953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" t="-724000" r="-165077" b="-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382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kHz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51762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881695" y="5209347"/>
            <a:ext cx="106091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US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Miller effect multiplies feedback capacitance by gain factor 2. Input RC time constant dominates high-frequency response 3. Trade-off: higher gain → larger Miller effect → lower bandwidth 4. Reducing source resistance improves bandwidth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98985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6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NMOS DIFFERENTIAL PAIR - CMRR ANALYSIS</a:t>
                </a:r>
              </a:p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Overview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Circuit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NMOS differential pair with tail current source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Goal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Find differential gain, common-mode gain, and CMRR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Two configurations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sz="2600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Single-ended output</a:t>
                </a:r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CMRR</a:t>
                </a:r>
                <a:endParaRPr lang="en-US" sz="26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sz="2600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Differential output with 1% mismatch in drain resistances</a:t>
                </a:r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CMRR</a:t>
                </a:r>
                <a:endParaRPr lang="en-US" sz="26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Parameters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Tail current: I = 0.2 mA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Tail current source resistance: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SS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100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Drain resistance (each):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10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Process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baseline="-25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(W/L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3 mA/V²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Output resistance: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≈ ∞ (assumed very large)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98985" cy="4351338"/>
              </a:xfrm>
              <a:blipFill>
                <a:blip r:embed="rId2"/>
                <a:stretch>
                  <a:fillRect l="-1069" t="-3501" r="-189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856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FUNDAMENTAL </a:t>
            </a:r>
            <a:r>
              <a:rPr lang="en-US" sz="30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8356"/>
                <a:ext cx="5033433" cy="5549191"/>
              </a:xfrm>
            </p:spPr>
            <p:txBody>
              <a:bodyPr>
                <a:normAutofit fontScale="47500" lnSpcReduction="20000"/>
              </a:bodyPr>
              <a:lstStyle/>
              <a:p>
                <a:pPr marL="0" marR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Differential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Pair Operation: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endParaRPr lang="en-US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Two Types of Signals: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Differential-mode signal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The difference between the two inputs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what we want to amplify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Applied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=+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Common-mode signal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The average of the two inputs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unwanted (noise, power supply variations, etc.)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Applied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endParaRPr lang="en-US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Goal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High CMRR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     CMRR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5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Differential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Gain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Common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-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Mode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Gain</m:t>
                        </m:r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It Matters: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Rejects noise and power supply variations - Essential for low-noise analog amplification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8356"/>
                <a:ext cx="5033433" cy="5549191"/>
              </a:xfrm>
              <a:blipFill>
                <a:blip r:embed="rId2"/>
                <a:stretch>
                  <a:fillRect l="-242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233575" y="981831"/>
                <a:ext cx="6096000" cy="55233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b="1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 vs. Real Behavior: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 an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differential pair with perfect symmetry: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Differential signals are amplified: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Common-mode signals are completely rejected: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CMRR (Common-Mode Rejection Ratio) = ∞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reality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component mismatches and finite tail resistance cause: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Some common-mode signal to be amplified: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Finite CMRR, which we want to </a:t>
                </a:r>
                <a:r>
                  <a:rPr lang="en-US" sz="105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maximize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Role of the Tail Current Source: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tail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with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critical. When a common-mode signal is applied to both gates</a:t>
                </a:r>
                <a:r>
                  <a:rPr lang="en-US" sz="105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Both transistors try to conduct more (or less) current simultaneously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tail current source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opposes this change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by maintaining constant total current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means better rejection of common-mode signals</a:t>
                </a:r>
                <a:r>
                  <a:rPr lang="en-US" sz="1050" baseline="30000" dirty="0">
                    <a:effectLst/>
                    <a:latin typeface="inter"/>
                    <a:ea typeface="inter"/>
                    <a:cs typeface="inter"/>
                    <a:hlinkClick r:id="rId3" action="ppaction://hlinkfile"/>
                  </a:rPr>
                  <a:t>[10]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gives perfect common-mode rejection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575" y="981831"/>
                <a:ext cx="6096000" cy="5523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12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1: Calculate Device Operating </a:t>
            </a:r>
            <a:r>
              <a:rPr lang="en-US" sz="32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endParaRPr lang="en-US" sz="6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Overdrive Voltage: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I (total bias current)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0.2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0.258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0.26 V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Gate-</a:t>
                </a:r>
                <a:r>
                  <a:rPr lang="en-US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souce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voltage above threshold - Determines device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higher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efficiency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176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2: Calculate </a:t>
            </a:r>
            <a:r>
              <a:rPr lang="en-US" sz="3200" b="1" dirty="0" err="1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Transconductance</a:t>
            </a:r>
            <a:endParaRPr lang="en-US" sz="5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𝑜𝑣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𝑜𝑣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0.26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0.26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0.77 mA/V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Converts gate-source voltage to drain current -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stronger amplification - Critical parameter for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7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PART (</a:t>
            </a:r>
            <a:r>
              <a:rPr lang="en-US" sz="2800" b="1" dirty="0" err="1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): SINGLE-ENDED </a:t>
            </a:r>
            <a:r>
              <a:rPr lang="en-US" sz="28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5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7800"/>
                <a:ext cx="10515600" cy="4729163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</a:t>
                </a:r>
                <a:r>
                  <a:rPr lang="en-US" sz="3200" b="1" dirty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3a: Calculate Differential Gain (Single-Ended)</a:t>
                </a:r>
              </a:p>
              <a:p>
                <a:pPr marL="74295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=+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2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9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Each transistor sees half the differential voltage - Single output taken from one drain only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Why the factor of 1/2? When we apply a differential signal, each transistor sees only half of the total differential voltage (one gate goes up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the other goes down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). Since we're looking at only one output, we get half the gain compared to a differential output</a:t>
                </a:r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u="sng" baseline="30000" dirty="0" smtClean="0">
                  <a:solidFill>
                    <a:srgbClr val="0563C1"/>
                  </a:solidFill>
                  <a:latin typeface="inter"/>
                  <a:ea typeface="inter"/>
                  <a:cs typeface="inter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7.7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3.85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3.85 V/V (single-ended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7800"/>
                <a:ext cx="10515600" cy="4729163"/>
              </a:xfrm>
              <a:blipFill>
                <a:blip r:embed="rId2"/>
                <a:stretch>
                  <a:fillRect l="-522" t="-25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338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4a: Calculate Common-Mode Gain (Single-Ended)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8832"/>
                <a:ext cx="10515600" cy="5609167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both gates - Both transistors increase/decrease current together - Tail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provides negative feedback</a:t>
                </a: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Mechanism - Source Degeneration: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When both gates rise, both drain currents try to increase - Tail current source opposes this → source node voltage rises - Rise in source voltage reduces gate-source voltage - This negative feedback reduces gain for common-mode signals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𝑆𝑆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Factor 2: each transistor sees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other transistor in series - Effective tail resistance = 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transistor -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better rejection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0.05 V/V (single-ended)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8832"/>
                <a:ext cx="10515600" cy="5609167"/>
              </a:xfrm>
              <a:blipFill>
                <a:blip r:embed="rId2"/>
                <a:stretch>
                  <a:fillRect l="-406" t="-652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02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5a: Calculate CMRR (Single-Ended Output)</a:t>
            </a:r>
            <a:b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1862" y="935567"/>
                <a:ext cx="10515600" cy="2859389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400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3.85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0.05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77</m:t>
                    </m:r>
                  </m:oMath>
                </a14:m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dB:</a:t>
                </a:r>
                <a:endParaRPr lang="en-US" sz="2400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dB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77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37.7</m:t>
                    </m:r>
                  </m:oMath>
                </a14:m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dB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CMRR = 77 V/V = 37.7 dB</a:t>
                </a: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Interpretation:</a:t>
                </a:r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Differential signals amplified 77× more than common-mode signals - Provides reasonable but not exceptional rejection - Practical target: CMRR &gt; 60 </a:t>
                </a:r>
                <a:r>
                  <a:rPr lang="en-US" sz="24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dB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1862" y="935567"/>
                <a:ext cx="10515600" cy="2859389"/>
              </a:xfrm>
              <a:blipFill>
                <a:blip r:embed="rId2"/>
                <a:stretch>
                  <a:fillRect l="-174" t="-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238375"/>
              </p:ext>
            </p:extLst>
          </p:nvPr>
        </p:nvGraphicFramePr>
        <p:xfrm>
          <a:off x="665524" y="3787411"/>
          <a:ext cx="10515600" cy="1371600"/>
        </p:xfrm>
        <a:graphic>
          <a:graphicData uri="http://schemas.openxmlformats.org/drawingml/2006/table">
            <a:tbl>
              <a:tblPr firstRow="1" bandRow="1" bandCol="1"/>
              <a:tblGrid>
                <a:gridCol w="3505200">
                  <a:extLst>
                    <a:ext uri="{9D8B030D-6E8A-4147-A177-3AD203B41FA5}">
                      <a16:colId xmlns:a16="http://schemas.microsoft.com/office/drawing/2014/main" val="7056310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84352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8261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27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Differential Gain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20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Common-Mode Gain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99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CMRR (Linear)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43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CMRR (dB)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37.7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78359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65702" y="5698051"/>
                <a:ext cx="111036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16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Point:</a:t>
                </a:r>
                <a:r>
                  <a:rPr lang="en-US" sz="16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 output provides moderate CMRR - Limited by finite tail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endParaRPr lang="en-US" sz="16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02" y="5698051"/>
                <a:ext cx="11103615" cy="338554"/>
              </a:xfrm>
              <a:prstGeom prst="rect">
                <a:avLst/>
              </a:prstGeom>
              <a:blipFill>
                <a:blip r:embed="rId3"/>
                <a:stretch>
                  <a:fillRect l="-27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21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PART (ii): DIFFERENTIAL OUTPUT WITH 1% </a:t>
            </a:r>
            <a:r>
              <a:rPr lang="en-US" sz="20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MISMATCH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067"/>
                <a:ext cx="10515600" cy="4923896"/>
              </a:xfrm>
            </p:spPr>
            <p:txBody>
              <a:bodyPr>
                <a:normAutofit fontScale="77500" lnSpcReduction="20000"/>
              </a:bodyPr>
              <a:lstStyle/>
              <a:p>
                <a:pPr marL="0" marR="0"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</a:t>
                </a:r>
                <a:r>
                  <a:rPr lang="en-US" sz="3200" b="1" dirty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3b: Calculate Differential Gain (Differential Output)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Output taken as difference: 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</m:sub>
                    </m:sSub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 smtClean="0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  <m:r>
                          <a:rPr lang="en-US"/>
                          <m:t>1</m:t>
                        </m:r>
                      </m:sub>
                    </m:sSub>
                    <m:r>
                      <a:rPr lang="en-US" i="1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  <m:r>
                          <a:rPr lang="en-US"/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Both drains contribute to output with opposite polarity - Differential signals add constructively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Double the Gain?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one drain swing contributes - Differential: both drain swings contribute with opposite sign - Net effect: gain is doubled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7.7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7.7 V/V (differential output)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Comparison: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3.85 V/V - Differential: 7.7 V/V (exactly 2× higher)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067"/>
                <a:ext cx="10515600" cy="4923896"/>
              </a:xfrm>
              <a:blipFill>
                <a:blip r:embed="rId2"/>
                <a:stretch>
                  <a:fillRect l="-870" t="-3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148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4" y="0"/>
            <a:ext cx="10515600" cy="1325563"/>
          </a:xfrm>
        </p:spPr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4b: Calculate Common-Mode Gain (With 1% Mismatch</a:t>
            </a:r>
            <a:r>
              <a:rPr lang="en-US" sz="28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97467"/>
                <a:ext cx="10515600" cy="5960533"/>
              </a:xfrm>
            </p:spPr>
            <p:txBody>
              <a:bodyPr>
                <a:normAutofit fontScale="55000" lnSpcReduction="20000"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Critical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Physics - Why Mismatch Matters: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Perfect Matching: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Both drains swing identically for common-mode input - Differential output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0 -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 (perfect rejection)</a:t>
                </a:r>
              </a:p>
              <a:p>
                <a:pPr marL="0" marR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 Mismatch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1%):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One drain swings more than the other - Differential output ≠ 0 even for common-mode input - Common-mode “leaks” into differential output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becomes finite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 with Mismatch: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𝑆𝑆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First term: ideal CMRR denominator - Second term: fraction of mismatch that leaks through - Direct proportionality: larger mismatch →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5 ×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baseline="300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-4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V/V = 0.5 mV/V</a:t>
                </a:r>
              </a:p>
              <a:p>
                <a:pPr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Insight: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- 1% resistor mismatch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reduced by factor of 100 - Even small mismatches significantly degrade CMRR - Precision matching is critical for high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performance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97467"/>
                <a:ext cx="10515600" cy="5960533"/>
              </a:xfrm>
              <a:blipFill>
                <a:blip r:embed="rId2"/>
                <a:stretch>
                  <a:fillRect l="-232" t="-1227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866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7" y="-274109"/>
            <a:ext cx="11298766" cy="1325563"/>
          </a:xfrm>
        </p:spPr>
        <p:txBody>
          <a:bodyPr/>
          <a:lstStyle/>
          <a:p>
            <a:pPr lvl="0" indent="-228600" algn="just">
              <a:spcBef>
                <a:spcPts val="800"/>
              </a:spcBef>
              <a:spcAft>
                <a:spcPts val="400"/>
              </a:spcAft>
            </a:pPr>
            <a:r>
              <a:rPr lang="en-US" sz="26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5b: Calculate CMRR (Differential Output with Mismatch</a:t>
            </a:r>
            <a:r>
              <a:rPr lang="en-US" sz="26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3978" y="711200"/>
                <a:ext cx="10515600" cy="4745567"/>
              </a:xfrm>
            </p:spPr>
            <p:txBody>
              <a:bodyPr>
                <a:normAutofit fontScale="92500" lnSpcReduction="1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7.7</m:t>
                        </m:r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sup>
                        </m:sSup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</m:t>
                    </m:r>
                  </m:oMath>
                </a14:m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dB: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dB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83.7</m:t>
                    </m:r>
                  </m:oMath>
                </a14:m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dB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CMRR = 15,400 V/V = 83.7 dB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Dramatic Improvement:</a:t>
                </a:r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37.7 dB - Differential with 1% mismatch: 83.7 dB - Improvement: 46 dB (factor of ~200</a:t>
                </a:r>
                <a:r>
                  <a:rPr lang="en-US" sz="24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!)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/>
                  <a:t>The CMRR improved from 37.7 dB to 83.7 dB (a factor of 200!) simply by using differential output instead of single-ended. This shows why differential topologies are preferred in high-performance applications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978" y="711200"/>
                <a:ext cx="10515600" cy="4745567"/>
              </a:xfrm>
              <a:blipFill>
                <a:blip r:embed="rId2"/>
                <a:stretch>
                  <a:fillRect l="-870" t="-2185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173304"/>
                  </p:ext>
                </p:extLst>
              </p:nvPr>
            </p:nvGraphicFramePr>
            <p:xfrm>
              <a:off x="840489" y="5554110"/>
              <a:ext cx="10515600" cy="125012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27717420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4506003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852870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42822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46063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 (1% mismatch)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kumimoji="0" lang="en-US" sz="16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b="1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86133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(Linear)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6628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16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42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173304"/>
                  </p:ext>
                </p:extLst>
              </p:nvPr>
            </p:nvGraphicFramePr>
            <p:xfrm>
              <a:off x="840489" y="5554110"/>
              <a:ext cx="10515600" cy="125012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27717420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4506003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8528707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428224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4606313"/>
                      </a:ext>
                    </a:extLst>
                  </a:tr>
                  <a:tr h="2747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 (1% mismatch)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95652" r="-100174" b="-2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861339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(Linear)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662895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16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42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483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94565278"/>
                  </p:ext>
                </p:extLst>
              </p:nvPr>
            </p:nvGraphicFramePr>
            <p:xfrm>
              <a:off x="532092" y="1820078"/>
              <a:ext cx="10515600" cy="220281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192224">
                      <a:extLst>
                        <a:ext uri="{9D8B030D-6E8A-4147-A177-3AD203B41FA5}">
                          <a16:colId xmlns:a16="http://schemas.microsoft.com/office/drawing/2014/main" val="3956526428"/>
                        </a:ext>
                      </a:extLst>
                    </a:gridCol>
                    <a:gridCol w="2892329">
                      <a:extLst>
                        <a:ext uri="{9D8B030D-6E8A-4147-A177-3AD203B41FA5}">
                          <a16:colId xmlns:a16="http://schemas.microsoft.com/office/drawing/2014/main" val="3387244586"/>
                        </a:ext>
                      </a:extLst>
                    </a:gridCol>
                    <a:gridCol w="4431047">
                      <a:extLst>
                        <a:ext uri="{9D8B030D-6E8A-4147-A177-3AD203B41FA5}">
                          <a16:colId xmlns:a16="http://schemas.microsoft.com/office/drawing/2014/main" val="279373265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Single-Ended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(1% mismatch)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2716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6340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  <m:r>
                                <a:rPr kumimoji="0" lang="en-US" sz="2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05269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(V/V)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7963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3065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Advantage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Simpler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Much better CMRR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46567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94565278"/>
                  </p:ext>
                </p:extLst>
              </p:nvPr>
            </p:nvGraphicFramePr>
            <p:xfrm>
              <a:off x="532092" y="1820078"/>
              <a:ext cx="10515600" cy="220281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192224">
                      <a:extLst>
                        <a:ext uri="{9D8B030D-6E8A-4147-A177-3AD203B41FA5}">
                          <a16:colId xmlns:a16="http://schemas.microsoft.com/office/drawing/2014/main" val="3956526428"/>
                        </a:ext>
                      </a:extLst>
                    </a:gridCol>
                    <a:gridCol w="2892329">
                      <a:extLst>
                        <a:ext uri="{9D8B030D-6E8A-4147-A177-3AD203B41FA5}">
                          <a16:colId xmlns:a16="http://schemas.microsoft.com/office/drawing/2014/main" val="3387244586"/>
                        </a:ext>
                      </a:extLst>
                    </a:gridCol>
                    <a:gridCol w="4431047">
                      <a:extLst>
                        <a:ext uri="{9D8B030D-6E8A-4147-A177-3AD203B41FA5}">
                          <a16:colId xmlns:a16="http://schemas.microsoft.com/office/drawing/2014/main" val="279373265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Single-Ended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(1% mismatch)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2716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634012"/>
                      </a:ext>
                    </a:extLst>
                  </a:tr>
                  <a:tr h="3740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7552" t="-216129" r="-275" b="-34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05269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(V/V)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7963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3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Advantage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Simpler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Much better CMRR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46567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105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765</Words>
  <Application>Microsoft Office PowerPoint</Application>
  <PresentationFormat>Widescreen</PresentationFormat>
  <Paragraphs>292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Calibri Light</vt:lpstr>
      <vt:lpstr>Cambria Math</vt:lpstr>
      <vt:lpstr>Courier New</vt:lpstr>
      <vt:lpstr>Georgia</vt:lpstr>
      <vt:lpstr>inter</vt:lpstr>
      <vt:lpstr>Symbol</vt:lpstr>
      <vt:lpstr>Times New Roman</vt:lpstr>
      <vt:lpstr>Wingdings</vt:lpstr>
      <vt:lpstr>Office Theme</vt:lpstr>
      <vt:lpstr>Tutorial 12</vt:lpstr>
      <vt:lpstr>PROBLEM 1: </vt:lpstr>
      <vt:lpstr>STEP 1: Identify High-Frequency Effect</vt:lpstr>
      <vt:lpstr>PowerPoint Presentation</vt:lpstr>
      <vt:lpstr>STEP 2: Calculate Effective Load Resistance</vt:lpstr>
      <vt:lpstr>STEP 3: Calculate Intrinsic Voltage Gain</vt:lpstr>
      <vt:lpstr>STEP 4: Account for Input Voltage Divider (Midband Gain)</vt:lpstr>
      <vt:lpstr>STEP 5: Apply Miller Effect to Calculate Equivalent Input Capacitance</vt:lpstr>
      <vt:lpstr>STEP 6: Calculate Total Input Capacitance</vt:lpstr>
      <vt:lpstr>STEP 7: Calculate Effective Source Resistance</vt:lpstr>
      <vt:lpstr>STEP 8: Calculate Upper 3-dB Frequency (High-Frequency Pole)</vt:lpstr>
      <vt:lpstr>STEP 9: Complete Frequency Response Expression</vt:lpstr>
      <vt:lpstr>Summary</vt:lpstr>
      <vt:lpstr>Problem 2</vt:lpstr>
      <vt:lpstr>FUNDAMENTAL CONCEPTS</vt:lpstr>
      <vt:lpstr>STEP 1: Calculate Device Operating Point</vt:lpstr>
      <vt:lpstr>STEP 2: Calculate Transconductance</vt:lpstr>
      <vt:lpstr>PART (i): SINGLE-ENDED OUTPUT</vt:lpstr>
      <vt:lpstr>STEP 4a: Calculate Common-Mode Gain (Single-Ended)</vt:lpstr>
      <vt:lpstr>STEP 5a: Calculate CMRR (Single-Ended Output) </vt:lpstr>
      <vt:lpstr>PART (ii): DIFFERENTIAL OUTPUT WITH 1% MISMATCH</vt:lpstr>
      <vt:lpstr>STEP 4b: Calculate Common-Mode Gain (With 1% Mismatch)</vt:lpstr>
      <vt:lpstr>STEP 5b: Calculate CMRR (Differential Output with Mismatch)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12</cp:revision>
  <dcterms:created xsi:type="dcterms:W3CDTF">2025-11-11T05:24:00Z</dcterms:created>
  <dcterms:modified xsi:type="dcterms:W3CDTF">2025-11-11T08:31:29Z</dcterms:modified>
</cp:coreProperties>
</file>