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3"/>
  </p:notesMasterIdLst>
  <p:sldIdLst>
    <p:sldId id="256" r:id="rId2"/>
    <p:sldId id="259" r:id="rId3"/>
    <p:sldId id="260" r:id="rId4"/>
    <p:sldId id="267" r:id="rId5"/>
    <p:sldId id="268" r:id="rId6"/>
    <p:sldId id="257" r:id="rId7"/>
    <p:sldId id="261" r:id="rId8"/>
    <p:sldId id="270" r:id="rId9"/>
    <p:sldId id="271" r:id="rId10"/>
    <p:sldId id="269" r:id="rId11"/>
    <p:sldId id="273" r:id="rId12"/>
    <p:sldId id="274" r:id="rId13"/>
    <p:sldId id="275" r:id="rId14"/>
    <p:sldId id="272" r:id="rId15"/>
    <p:sldId id="276" r:id="rId16"/>
    <p:sldId id="277" r:id="rId17"/>
    <p:sldId id="262" r:id="rId18"/>
    <p:sldId id="278" r:id="rId19"/>
    <p:sldId id="279" r:id="rId20"/>
    <p:sldId id="263" r:id="rId21"/>
    <p:sldId id="280" r:id="rId22"/>
    <p:sldId id="281" r:id="rId23"/>
    <p:sldId id="282" r:id="rId24"/>
    <p:sldId id="283" r:id="rId25"/>
    <p:sldId id="284" r:id="rId26"/>
    <p:sldId id="285" r:id="rId27"/>
    <p:sldId id="264" r:id="rId28"/>
    <p:sldId id="286" r:id="rId29"/>
    <p:sldId id="287" r:id="rId30"/>
    <p:sldId id="288" r:id="rId31"/>
    <p:sldId id="289" r:id="rId32"/>
    <p:sldId id="265" r:id="rId33"/>
    <p:sldId id="290" r:id="rId34"/>
    <p:sldId id="291" r:id="rId35"/>
    <p:sldId id="292" r:id="rId36"/>
    <p:sldId id="293" r:id="rId37"/>
    <p:sldId id="294" r:id="rId38"/>
    <p:sldId id="295" r:id="rId39"/>
    <p:sldId id="296" r:id="rId40"/>
    <p:sldId id="266" r:id="rId41"/>
    <p:sldId id="297" r:id="rId4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E8BA9DB-6781-024C-7D41-6FF9D25FC5F5}" v="3880" dt="2025-08-02T17:42:12.291"/>
    <p1510:client id="{7882FAD1-68CC-BFD5-1964-4A6E614695B2}" v="1935" dt="2025-08-01T19:42:37.235"/>
    <p1510:client id="{91E463A8-DD8B-FB1B-E4A6-8EA7DC400DE7}" v="1109" dt="2025-08-02T18:38:21.400"/>
    <p1510:client id="{ADE859A5-C40D-1FDE-C2AB-8730BCFF560D}" v="2370" dt="2025-08-02T07:46:03.628"/>
    <p1510:client id="{ECE85DF1-7F30-A4D1-6B19-ACE499C3EB00}" v="2302" dt="2025-08-02T10:54:40.997"/>
    <p1510:client id="{F0D0F5D9-5A62-F1DE-F10F-4B683DB41145}" v="2981" dt="2025-08-01T18:50:57.48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48" Type="http://schemas.microsoft.com/office/2015/10/relationships/revisionInfo" Target="revisionInfo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B304DC-D51E-43C1-ACE3-4DE136E5DF9B}" type="datetimeFigureOut">
              <a:t>8/2/2025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499BDD2-A1C4-486E-A3E6-040AF793BDF0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67343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US"/>
              <a:t>Supply noise tends to appear as a common-mode signal on both sides of the differential pair. The differential stages inherently suppress this common-mode noise.</a:t>
            </a:r>
            <a:endParaRPr lang="en-US">
              <a:ea typeface="Calibri"/>
              <a:cs typeface="Calibri"/>
            </a:endParaRPr>
          </a:p>
          <a:p>
            <a:pPr marL="228600" indent="-228600">
              <a:buAutoNum type="arabicPeriod"/>
            </a:pPr>
            <a:endParaRPr lang="en-US">
              <a:ea typeface="Calibri"/>
              <a:cs typeface="Calibri"/>
            </a:endParaRPr>
          </a:p>
          <a:p>
            <a:pPr marL="228600" indent="-228600">
              <a:buAutoNum type="arabicPeriod"/>
            </a:pPr>
            <a:r>
              <a:rPr lang="en-US"/>
              <a:t>What is high impedance?  </a:t>
            </a:r>
            <a:endParaRPr lang="en-US">
              <a:solidFill>
                <a:srgbClr val="444444"/>
              </a:solidFill>
            </a:endParaRPr>
          </a:p>
          <a:p>
            <a:pPr marL="628650" lvl="1" indent="-228600">
              <a:buFont typeface="Courier New,monospace"/>
              <a:buChar char="o"/>
            </a:pPr>
            <a:r>
              <a:rPr lang="en-US"/>
              <a:t>Means high resistance to current flow.</a:t>
            </a:r>
            <a:endParaRPr lang="en-US">
              <a:solidFill>
                <a:srgbClr val="444444"/>
              </a:solidFill>
            </a:endParaRPr>
          </a:p>
          <a:p>
            <a:pPr marL="628650" lvl="1" indent="-228600">
              <a:buFont typeface="Courier New,monospace"/>
              <a:buChar char="o"/>
            </a:pPr>
            <a:r>
              <a:rPr lang="en-US"/>
              <a:t>High Imp path is like an open-circuit. </a:t>
            </a:r>
            <a:r>
              <a:rPr lang="en-US" b="1"/>
              <a:t>Ideally </a:t>
            </a:r>
            <a:r>
              <a:rPr lang="en-US"/>
              <a:t>it should be infinite resistance. </a:t>
            </a:r>
            <a:endParaRPr lang="en-US">
              <a:solidFill>
                <a:srgbClr val="444444"/>
              </a:solidFill>
            </a:endParaRPr>
          </a:p>
          <a:p>
            <a:pPr marL="628650" lvl="1" indent="-228600">
              <a:buFont typeface="Courier New,monospace"/>
              <a:buChar char="o"/>
            </a:pPr>
            <a:r>
              <a:rPr lang="en-US"/>
              <a:t>IN </a:t>
            </a:r>
            <a:r>
              <a:rPr lang="en-US" b="1"/>
              <a:t>TAIL CURRENT</a:t>
            </a:r>
            <a:r>
              <a:rPr lang="en-US"/>
              <a:t>, the high impedance means the current it supplies is almost independent of the voltage across it. </a:t>
            </a:r>
            <a:endParaRPr lang="en-US">
              <a:solidFill>
                <a:srgbClr val="444444"/>
              </a:solidFill>
            </a:endParaRPr>
          </a:p>
          <a:p>
            <a:pPr marL="228600" indent="-228600">
              <a:buAutoNum type="arabicPeriod"/>
            </a:pPr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99BDD2-A1C4-486E-A3E6-040AF793BDF0}" type="slidenum"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72604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“Self-biased inverters with capacitive sensing”</a:t>
            </a:r>
            <a:r>
              <a:rPr lang="en-US"/>
              <a:t> means:</a:t>
            </a:r>
          </a:p>
          <a:p>
            <a:pPr marL="285750" indent="-285750">
              <a:buFont typeface="Arial"/>
              <a:buChar char="•"/>
            </a:pPr>
            <a:r>
              <a:rPr lang="en-US"/>
              <a:t>Inverters are designed to </a:t>
            </a:r>
            <a:r>
              <a:rPr lang="en-US" b="1"/>
              <a:t>bias themselves</a:t>
            </a:r>
            <a:r>
              <a:rPr lang="en-US"/>
              <a:t> without needing an external bias circuit.</a:t>
            </a:r>
            <a:endParaRPr lang="en-US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/>
              <a:t>They </a:t>
            </a:r>
            <a:r>
              <a:rPr lang="en-US" b="1"/>
              <a:t>sense the differential output</a:t>
            </a:r>
            <a:r>
              <a:rPr lang="en-US"/>
              <a:t> of the ring oscillator </a:t>
            </a:r>
            <a:r>
              <a:rPr lang="en-US" b="1"/>
              <a:t>through capacitors</a:t>
            </a:r>
            <a:r>
              <a:rPr lang="en-US"/>
              <a:t>, rather than directly connecting to it.</a:t>
            </a:r>
            <a:br>
              <a:rPr lang="en-US">
                <a:cs typeface="+mn-lt"/>
              </a:rPr>
            </a:br>
            <a:r>
              <a:rPr lang="en-US"/>
              <a:t> → This avoids loading the oscillator too much</a:t>
            </a:r>
            <a:endParaRPr lang="en-US">
              <a:ea typeface="Calibri"/>
              <a:cs typeface="Calibri"/>
            </a:endParaRPr>
          </a:p>
          <a:p>
            <a:r>
              <a:rPr lang="en-US" b="1"/>
              <a:t>How does it help in achieving full swing?</a:t>
            </a:r>
          </a:p>
          <a:p>
            <a:r>
              <a:rPr lang="en-US"/>
              <a:t>These inverters amplify small differential swings to full logic levels using capacitive coupling and internal biasing.</a:t>
            </a:r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99BDD2-A1C4-486E-A3E6-040AF793BDF0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17084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>
                <a:ea typeface="Calibri"/>
                <a:cs typeface="Calibri"/>
              </a:rPr>
              <a:t>How does ISS being high impedance path help in injection locking?</a:t>
            </a:r>
          </a:p>
          <a:p>
            <a:pPr marL="171450" indent="-171450">
              <a:buFont typeface="Calibri"/>
              <a:buChar char="-"/>
            </a:pPr>
            <a:r>
              <a:rPr lang="en-US"/>
              <a:t>it prevents signal loss to ground.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r>
              <a:rPr lang="en-US" b="1">
                <a:solidFill>
                  <a:srgbClr val="FF0000"/>
                </a:solidFill>
                <a:ea typeface="Calibri"/>
                <a:cs typeface="Calibri"/>
              </a:rPr>
              <a:t>Source follower? </a:t>
            </a:r>
          </a:p>
          <a:p>
            <a:pPr>
              <a:buFont typeface="Calibri"/>
              <a:buChar char="-"/>
            </a:pPr>
            <a:r>
              <a:rPr lang="en-US">
                <a:solidFill>
                  <a:srgbClr val="000000"/>
                </a:solidFill>
                <a:ea typeface="Calibri"/>
                <a:cs typeface="Calibri"/>
              </a:rPr>
              <a:t>The input is at the gate. The output is at the source. (Connected to ISS)</a:t>
            </a:r>
          </a:p>
          <a:p>
            <a:pPr>
              <a:buFont typeface="Calibri"/>
              <a:buChar char="-"/>
            </a:pPr>
            <a:r>
              <a:rPr lang="en-US">
                <a:solidFill>
                  <a:srgbClr val="000000"/>
                </a:solidFill>
                <a:ea typeface="Calibri"/>
                <a:cs typeface="Calibri"/>
              </a:rPr>
              <a:t>The drain is connected to a supply or load (Rd here) </a:t>
            </a:r>
          </a:p>
          <a:p>
            <a:r>
              <a:rPr lang="en-US" b="1">
                <a:solidFill>
                  <a:srgbClr val="000000"/>
                </a:solidFill>
                <a:ea typeface="Calibri"/>
                <a:cs typeface="Calibri"/>
              </a:rPr>
              <a:t>The output follows the input. </a:t>
            </a:r>
            <a:endParaRPr lang="en-US"/>
          </a:p>
          <a:p>
            <a:r>
              <a:rPr lang="en-US" b="1">
                <a:solidFill>
                  <a:srgbClr val="FF0000"/>
                </a:solidFill>
                <a:ea typeface="Calibri"/>
                <a:cs typeface="Calibri"/>
              </a:rPr>
              <a:t>Common gate?</a:t>
            </a:r>
            <a:endParaRPr lang="en-US">
              <a:solidFill>
                <a:srgbClr val="FF0000"/>
              </a:solidFill>
              <a:ea typeface="Calibri"/>
              <a:cs typeface="Calibri"/>
            </a:endParaRPr>
          </a:p>
          <a:p>
            <a:pPr marL="171450" indent="-171450">
              <a:buFont typeface="Calibri"/>
              <a:buChar char="-"/>
            </a:pPr>
            <a:r>
              <a:rPr lang="en-US">
                <a:solidFill>
                  <a:srgbClr val="000000"/>
                </a:solidFill>
                <a:ea typeface="Calibri"/>
                <a:cs typeface="Calibri"/>
              </a:rPr>
              <a:t>Gate is fixed (usually biased at a DC level).</a:t>
            </a:r>
          </a:p>
          <a:p>
            <a:pPr marL="171450" indent="-171450">
              <a:buFont typeface="Calibri"/>
              <a:buChar char="-"/>
            </a:pPr>
            <a:r>
              <a:rPr lang="en-US">
                <a:solidFill>
                  <a:srgbClr val="000000"/>
                </a:solidFill>
                <a:ea typeface="Calibri"/>
                <a:cs typeface="Calibri"/>
              </a:rPr>
              <a:t>Input is at the source.</a:t>
            </a:r>
          </a:p>
          <a:p>
            <a:pPr marL="171450" indent="-171450">
              <a:buFont typeface="Calibri"/>
              <a:buChar char="-"/>
            </a:pPr>
            <a:r>
              <a:rPr lang="en-US">
                <a:solidFill>
                  <a:srgbClr val="000000"/>
                </a:solidFill>
                <a:ea typeface="Calibri"/>
                <a:cs typeface="Calibri"/>
              </a:rPr>
              <a:t>Output is at the drain.</a:t>
            </a:r>
            <a:endParaRPr lang="en-US">
              <a:solidFill>
                <a:srgbClr val="FF0000"/>
              </a:solidFill>
              <a:ea typeface="Calibri"/>
              <a:cs typeface="Calibri"/>
            </a:endParaRPr>
          </a:p>
          <a:p>
            <a:r>
              <a:rPr lang="en-US" b="1">
                <a:solidFill>
                  <a:srgbClr val="FF0000"/>
                </a:solidFill>
                <a:ea typeface="Calibri"/>
                <a:cs typeface="Calibri"/>
              </a:rPr>
              <a:t>Working?</a:t>
            </a:r>
          </a:p>
          <a:p>
            <a:r>
              <a:rPr lang="en-US" u="sng">
                <a:ea typeface="Calibri"/>
                <a:cs typeface="Calibri"/>
              </a:rPr>
              <a:t>M1 is "ON" --&gt; acts a source follower.</a:t>
            </a:r>
          </a:p>
          <a:p>
            <a:pPr marL="171450" indent="-171450">
              <a:buFont typeface="Calibri"/>
              <a:buChar char="-"/>
            </a:pPr>
            <a:r>
              <a:rPr lang="en-US" err="1">
                <a:ea typeface="Calibri"/>
                <a:cs typeface="Calibri"/>
              </a:rPr>
              <a:t>Vgs</a:t>
            </a:r>
            <a:r>
              <a:rPr lang="en-US">
                <a:ea typeface="Calibri"/>
                <a:cs typeface="Calibri"/>
              </a:rPr>
              <a:t> of M1 increases and M1 starts conducting.</a:t>
            </a:r>
          </a:p>
          <a:p>
            <a:pPr marL="171450" indent="-171450">
              <a:buFont typeface="Calibri"/>
              <a:buChar char="-"/>
            </a:pPr>
            <a:r>
              <a:rPr lang="en-US"/>
              <a:t>M1’s source voltage (shared node) to rise. </a:t>
            </a:r>
            <a:endParaRPr lang="en-US">
              <a:ea typeface="Calibri"/>
              <a:cs typeface="Calibri"/>
            </a:endParaRPr>
          </a:p>
          <a:p>
            <a:pPr marL="171450" indent="-171450">
              <a:buFont typeface="Calibri"/>
              <a:buChar char="-"/>
            </a:pPr>
            <a:r>
              <a:rPr lang="en-US"/>
              <a:t>M1’s gate is controlling its source. Source follows the gate.</a:t>
            </a:r>
            <a:endParaRPr lang="en-US">
              <a:ea typeface="Calibri"/>
              <a:cs typeface="Calibri"/>
            </a:endParaRPr>
          </a:p>
          <a:p>
            <a:pPr marL="171450" indent="-171450">
              <a:buFont typeface="Calibri"/>
              <a:buChar char="-"/>
            </a:pPr>
            <a:r>
              <a:rPr lang="en-US">
                <a:ea typeface="Calibri"/>
                <a:cs typeface="Calibri"/>
              </a:rPr>
              <a:t>M1 pushes current into the shared source node. </a:t>
            </a:r>
          </a:p>
          <a:p>
            <a:r>
              <a:rPr lang="en-US" u="sng">
                <a:ea typeface="Calibri"/>
                <a:cs typeface="Calibri"/>
              </a:rPr>
              <a:t>M2 acts as a common gate stage.</a:t>
            </a:r>
          </a:p>
          <a:p>
            <a:pPr marL="171450" indent="-171450">
              <a:buFont typeface="Calibri"/>
              <a:buChar char="-"/>
            </a:pPr>
            <a:r>
              <a:rPr lang="en-US">
                <a:ea typeface="Calibri"/>
                <a:cs typeface="Calibri"/>
              </a:rPr>
              <a:t>Because </a:t>
            </a:r>
            <a:r>
              <a:rPr lang="en-US" err="1">
                <a:ea typeface="Calibri"/>
                <a:cs typeface="Calibri"/>
              </a:rPr>
              <a:t>Vgs</a:t>
            </a:r>
            <a:r>
              <a:rPr lang="en-US">
                <a:ea typeface="Calibri"/>
                <a:cs typeface="Calibri"/>
              </a:rPr>
              <a:t> of M2 is fixed and source voltage of m2 rises. </a:t>
            </a:r>
          </a:p>
          <a:p>
            <a:pPr marL="171450" indent="-171450">
              <a:buFont typeface="Calibri"/>
              <a:buChar char="-"/>
            </a:pPr>
            <a:r>
              <a:rPr lang="en-US">
                <a:ea typeface="Calibri"/>
                <a:cs typeface="Calibri"/>
              </a:rPr>
              <a:t>M2 accepts current from M1 and passes it to its drain. </a:t>
            </a:r>
          </a:p>
          <a:p>
            <a:pPr marL="171450" indent="-171450">
              <a:buFont typeface="Calibri"/>
              <a:buChar char="-"/>
            </a:pPr>
            <a:r>
              <a:rPr lang="en-US">
                <a:ea typeface="Calibri"/>
                <a:cs typeface="Calibri"/>
              </a:rPr>
              <a:t>This generates Voltage swing at the output.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99BDD2-A1C4-486E-A3E6-040AF793BDF0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04750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>
                <a:ea typeface="Calibri"/>
                <a:cs typeface="Calibri"/>
              </a:rPr>
              <a:t>Why do differential rings have higher phase noise?</a:t>
            </a:r>
          </a:p>
          <a:p>
            <a:r>
              <a:rPr lang="en-US"/>
              <a:t>Because:</a:t>
            </a:r>
            <a:endParaRPr lang="en-US">
              <a:ea typeface="Calibri"/>
              <a:cs typeface="Calibri"/>
            </a:endParaRPr>
          </a:p>
          <a:p>
            <a:pPr marL="171450" indent="-171450">
              <a:buFont typeface="Arial"/>
              <a:buChar char="•"/>
            </a:pPr>
            <a:r>
              <a:rPr lang="en-US"/>
              <a:t>They use current sources and operate with lower signal swings,</a:t>
            </a:r>
            <a:endParaRPr lang="en-US">
              <a:ea typeface="Calibri"/>
              <a:cs typeface="Calibri"/>
            </a:endParaRPr>
          </a:p>
          <a:p>
            <a:pPr marL="171450" indent="-171450">
              <a:buFont typeface="Arial"/>
              <a:buChar char="•"/>
            </a:pPr>
            <a:r>
              <a:rPr lang="en-US"/>
              <a:t>Which makes them more sensitive to thermal noise from transistors and bias circuits.</a:t>
            </a:r>
            <a:endParaRPr lang="en-US">
              <a:ea typeface="Calibri"/>
              <a:cs typeface="Calibri"/>
            </a:endParaRPr>
          </a:p>
          <a:p>
            <a:pPr marL="171450" indent="-171450">
              <a:buFont typeface="Arial"/>
              <a:buChar char="•"/>
            </a:pPr>
            <a:r>
              <a:rPr lang="en-US"/>
              <a:t>Even though differential design helps with common-mode noise rejection,</a:t>
            </a:r>
            <a:br>
              <a:rPr lang="en-US">
                <a:cs typeface="+mn-lt"/>
              </a:rPr>
            </a:br>
            <a:r>
              <a:rPr lang="en-US"/>
              <a:t> it still amplifies internal noise.</a:t>
            </a:r>
            <a:endParaRPr lang="en-US">
              <a:ea typeface="Calibri"/>
              <a:cs typeface="Calibri"/>
            </a:endParaRPr>
          </a:p>
          <a:p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99BDD2-A1C4-486E-A3E6-040AF793BDF0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313184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  <a:spcBef>
                <a:spcPts val="1000"/>
              </a:spcBef>
            </a:pPr>
            <a:endParaRPr lang="en-US">
              <a:ea typeface="Calibri"/>
              <a:cs typeface="Calibri"/>
            </a:endParaRPr>
          </a:p>
          <a:p>
            <a:pPr>
              <a:lnSpc>
                <a:spcPct val="90000"/>
              </a:lnSpc>
              <a:spcBef>
                <a:spcPts val="1000"/>
              </a:spcBef>
            </a:pPr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99BDD2-A1C4-486E-A3E6-040AF793BDF0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44385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b="1"/>
              <a:t>Up-conversion?</a:t>
            </a:r>
            <a:endParaRPr lang="en-US"/>
          </a:p>
          <a:p>
            <a:pPr marL="171450" indent="-171450">
              <a:lnSpc>
                <a:spcPct val="90000"/>
              </a:lnSpc>
              <a:spcBef>
                <a:spcPts val="1000"/>
              </a:spcBef>
              <a:buFont typeface="Calibri"/>
              <a:buChar char="-"/>
            </a:pPr>
            <a:r>
              <a:rPr lang="en-US">
                <a:ea typeface="Calibri" panose="020F0502020204030204"/>
                <a:cs typeface="Calibri" panose="020F0502020204030204"/>
              </a:rPr>
              <a:t>Low frequency noise(1/f) is converted to phase noise at higher freq. near oscillation output frequency.</a:t>
            </a: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b="1">
                <a:solidFill>
                  <a:srgbClr val="FF0000"/>
                </a:solidFill>
              </a:rPr>
              <a:t>Headroom?</a:t>
            </a:r>
            <a:endParaRPr lang="en-US">
              <a:solidFill>
                <a:srgbClr val="FF0000"/>
              </a:solidFill>
              <a:ea typeface="Calibri" panose="020F0502020204030204"/>
              <a:cs typeface="Calibri" panose="020F0502020204030204"/>
            </a:endParaRPr>
          </a:p>
          <a:p>
            <a:pPr marL="171450" indent="-171450">
              <a:lnSpc>
                <a:spcPct val="90000"/>
              </a:lnSpc>
              <a:spcBef>
                <a:spcPts val="1000"/>
              </a:spcBef>
              <a:buFont typeface="Calibri"/>
              <a:buChar char="-"/>
            </a:pPr>
            <a:r>
              <a:rPr lang="en-US">
                <a:ea typeface="Calibri" panose="020F0502020204030204"/>
                <a:cs typeface="Calibri" panose="020F0502020204030204"/>
              </a:rPr>
              <a:t>The tail current source (typically NMOS) needs MINIMUM </a:t>
            </a:r>
            <a:r>
              <a:rPr lang="en-US" err="1">
                <a:ea typeface="Calibri" panose="020F0502020204030204"/>
                <a:cs typeface="Calibri" panose="020F0502020204030204"/>
              </a:rPr>
              <a:t>Vds</a:t>
            </a:r>
            <a:r>
              <a:rPr lang="en-US">
                <a:ea typeface="Calibri" panose="020F0502020204030204"/>
                <a:cs typeface="Calibri" panose="020F0502020204030204"/>
              </a:rPr>
              <a:t> to be in Saturation.</a:t>
            </a:r>
          </a:p>
          <a:p>
            <a:pPr marL="171450" indent="-171450">
              <a:lnSpc>
                <a:spcPct val="90000"/>
              </a:lnSpc>
              <a:spcBef>
                <a:spcPts val="1000"/>
              </a:spcBef>
              <a:buFont typeface="Calibri"/>
              <a:buChar char="-"/>
            </a:pPr>
            <a:r>
              <a:rPr lang="en-US">
                <a:ea typeface="Calibri" panose="020F0502020204030204"/>
                <a:cs typeface="Calibri" panose="020F0502020204030204"/>
              </a:rPr>
              <a:t>If </a:t>
            </a:r>
            <a:r>
              <a:rPr lang="en-US" err="1">
                <a:ea typeface="Calibri" panose="020F0502020204030204"/>
                <a:cs typeface="Calibri" panose="020F0502020204030204"/>
              </a:rPr>
              <a:t>Vp</a:t>
            </a:r>
            <a:r>
              <a:rPr lang="en-US">
                <a:ea typeface="Calibri" panose="020F0502020204030204"/>
                <a:cs typeface="Calibri" panose="020F0502020204030204"/>
              </a:rPr>
              <a:t> is very high, m1 and m2 may leave SR.</a:t>
            </a:r>
          </a:p>
          <a:p>
            <a:pPr marL="171450" indent="-171450">
              <a:lnSpc>
                <a:spcPct val="90000"/>
              </a:lnSpc>
              <a:spcBef>
                <a:spcPts val="1000"/>
              </a:spcBef>
              <a:buFont typeface="Calibri"/>
              <a:buChar char="-"/>
            </a:pPr>
            <a:r>
              <a:rPr lang="en-US" u="sng">
                <a:ea typeface="Calibri" panose="020F0502020204030204"/>
                <a:cs typeface="Calibri" panose="020F0502020204030204"/>
              </a:rPr>
              <a:t>Headroom = VDD- </a:t>
            </a:r>
            <a:r>
              <a:rPr lang="en-US" u="sng" err="1">
                <a:ea typeface="Calibri" panose="020F0502020204030204"/>
                <a:cs typeface="Calibri" panose="020F0502020204030204"/>
              </a:rPr>
              <a:t>Vp</a:t>
            </a:r>
            <a:r>
              <a:rPr lang="en-US" u="sng">
                <a:ea typeface="Calibri" panose="020F0502020204030204"/>
                <a:cs typeface="Calibri" panose="020F0502020204030204"/>
              </a:rPr>
              <a:t>.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pPr marL="171450" indent="-171450">
              <a:lnSpc>
                <a:spcPct val="90000"/>
              </a:lnSpc>
              <a:spcBef>
                <a:spcPts val="1000"/>
              </a:spcBef>
              <a:buFont typeface="Calibri"/>
              <a:buChar char="-"/>
            </a:pPr>
            <a:r>
              <a:rPr lang="en-US">
                <a:ea typeface="Calibri" panose="020F0502020204030204"/>
                <a:cs typeface="Calibri" panose="020F0502020204030204"/>
              </a:rPr>
              <a:t>Here, </a:t>
            </a:r>
            <a:r>
              <a:rPr lang="en-US" err="1">
                <a:ea typeface="Calibri" panose="020F0502020204030204"/>
                <a:cs typeface="Calibri" panose="020F0502020204030204"/>
              </a:rPr>
              <a:t>Vp</a:t>
            </a:r>
            <a:r>
              <a:rPr lang="en-US">
                <a:ea typeface="Calibri" panose="020F0502020204030204"/>
                <a:cs typeface="Calibri" panose="020F0502020204030204"/>
              </a:rPr>
              <a:t> = 80mV and VDD=0.95V =&gt; </a:t>
            </a:r>
          </a:p>
          <a:p>
            <a:pPr marL="171450" indent="-171450">
              <a:lnSpc>
                <a:spcPct val="90000"/>
              </a:lnSpc>
              <a:spcBef>
                <a:spcPts val="1000"/>
              </a:spcBef>
              <a:buFont typeface="Calibri"/>
              <a:buChar char="-"/>
            </a:pPr>
            <a:r>
              <a:rPr lang="en-US">
                <a:ea typeface="Calibri" panose="020F0502020204030204"/>
                <a:cs typeface="Calibri" panose="020F0502020204030204"/>
              </a:rPr>
              <a:t>Headroom is 0.87V which is very low to maintain stable ISS</a:t>
            </a: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b="1">
                <a:solidFill>
                  <a:srgbClr val="FF0000"/>
                </a:solidFill>
                <a:ea typeface="Calibri"/>
                <a:cs typeface="Calibri"/>
              </a:rPr>
              <a:t>Overdrive?</a:t>
            </a:r>
            <a:r>
              <a:rPr lang="en-US" b="1">
                <a:ea typeface="Calibri"/>
                <a:cs typeface="Calibri"/>
              </a:rPr>
              <a:t> </a:t>
            </a:r>
          </a:p>
          <a:p>
            <a:pPr marL="171450" indent="-171450">
              <a:lnSpc>
                <a:spcPct val="90000"/>
              </a:lnSpc>
              <a:spcBef>
                <a:spcPts val="1000"/>
              </a:spcBef>
              <a:buFont typeface="Calibri"/>
              <a:buChar char="-"/>
            </a:pPr>
            <a:r>
              <a:rPr lang="en-US" u="sng" err="1">
                <a:ea typeface="Calibri"/>
                <a:cs typeface="Calibri"/>
              </a:rPr>
              <a:t>Vgs</a:t>
            </a:r>
            <a:r>
              <a:rPr lang="en-US" u="sng">
                <a:ea typeface="Calibri"/>
                <a:cs typeface="Calibri"/>
              </a:rPr>
              <a:t>-Vth is the overdrive voltage. </a:t>
            </a:r>
            <a:r>
              <a:rPr lang="en-US" u="sng"/>
              <a:t>: </a:t>
            </a:r>
            <a:r>
              <a:rPr lang="en-US"/>
              <a:t>Controls how strongly a MOSFET turns ON</a:t>
            </a:r>
            <a:endParaRPr lang="en-US">
              <a:ea typeface="Calibri"/>
              <a:cs typeface="Calibri"/>
            </a:endParaRPr>
          </a:p>
          <a:p>
            <a:pPr marL="171450" indent="-171450">
              <a:lnSpc>
                <a:spcPct val="90000"/>
              </a:lnSpc>
              <a:spcBef>
                <a:spcPts val="1000"/>
              </a:spcBef>
              <a:buFont typeface="Calibri"/>
              <a:buChar char="-"/>
            </a:pPr>
            <a:r>
              <a:rPr lang="en-US"/>
              <a:t>Higher overdrive voltage → more current drive.</a:t>
            </a:r>
            <a:endParaRPr lang="en-US">
              <a:ea typeface="Calibri"/>
              <a:cs typeface="Calibri"/>
            </a:endParaRPr>
          </a:p>
          <a:p>
            <a:pPr marL="171450" indent="-171450">
              <a:lnSpc>
                <a:spcPct val="90000"/>
              </a:lnSpc>
              <a:spcBef>
                <a:spcPts val="1000"/>
              </a:spcBef>
              <a:buFont typeface="Calibri"/>
              <a:buChar char="-"/>
            </a:pPr>
            <a:r>
              <a:rPr lang="en-US">
                <a:ea typeface="Calibri"/>
                <a:cs typeface="Calibri"/>
              </a:rPr>
              <a:t>But, it reduced VDS headroom. </a:t>
            </a:r>
            <a:r>
              <a:rPr lang="en-US"/>
              <a:t>→ less voltage left across the transistor.</a:t>
            </a:r>
            <a:endParaRPr lang="en-US">
              <a:ea typeface="Calibri"/>
              <a:cs typeface="Calibri"/>
            </a:endParaRPr>
          </a:p>
          <a:p>
            <a:pPr marL="171450" indent="-171450">
              <a:lnSpc>
                <a:spcPct val="90000"/>
              </a:lnSpc>
              <a:spcBef>
                <a:spcPts val="1000"/>
              </a:spcBef>
              <a:buFont typeface="Calibri"/>
              <a:buChar char="-"/>
            </a:pPr>
            <a:r>
              <a:rPr lang="en-US" err="1">
                <a:ea typeface="Calibri"/>
                <a:cs typeface="Calibri"/>
              </a:rPr>
              <a:t>Vp</a:t>
            </a:r>
            <a:r>
              <a:rPr lang="en-US">
                <a:ea typeface="Calibri"/>
                <a:cs typeface="Calibri"/>
              </a:rPr>
              <a:t> is dependent on </a:t>
            </a:r>
            <a:r>
              <a:rPr lang="en-US" err="1">
                <a:ea typeface="Calibri"/>
                <a:cs typeface="Calibri"/>
              </a:rPr>
              <a:t>Vgs</a:t>
            </a:r>
            <a:r>
              <a:rPr lang="en-US">
                <a:ea typeface="Calibri"/>
                <a:cs typeface="Calibri"/>
              </a:rPr>
              <a:t>. So </a:t>
            </a:r>
            <a:r>
              <a:rPr lang="en-US" err="1">
                <a:ea typeface="Calibri"/>
                <a:cs typeface="Calibri"/>
              </a:rPr>
              <a:t>Vp</a:t>
            </a:r>
            <a:r>
              <a:rPr lang="en-US">
                <a:ea typeface="Calibri"/>
                <a:cs typeface="Calibri"/>
              </a:rPr>
              <a:t> increases </a:t>
            </a:r>
            <a:r>
              <a:rPr lang="en-US" err="1">
                <a:ea typeface="Calibri"/>
                <a:cs typeface="Calibri"/>
              </a:rPr>
              <a:t>Vgs</a:t>
            </a:r>
            <a:r>
              <a:rPr lang="en-US">
                <a:ea typeface="Calibri"/>
                <a:cs typeface="Calibri"/>
              </a:rPr>
              <a:t> increases, reducing </a:t>
            </a:r>
            <a:r>
              <a:rPr lang="en-US" err="1">
                <a:ea typeface="Calibri"/>
                <a:cs typeface="Calibri"/>
              </a:rPr>
              <a:t>Vds</a:t>
            </a:r>
            <a:r>
              <a:rPr lang="en-US">
                <a:ea typeface="Calibri"/>
                <a:cs typeface="Calibri"/>
              </a:rPr>
              <a:t>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99BDD2-A1C4-486E-A3E6-040AF793BDF0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302479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>
                <a:ea typeface="Calibri"/>
                <a:cs typeface="Calibri"/>
              </a:rPr>
              <a:t>What happens if low </a:t>
            </a:r>
            <a:r>
              <a:rPr lang="en-US" b="1" err="1">
                <a:ea typeface="Calibri"/>
                <a:cs typeface="Calibri"/>
              </a:rPr>
              <a:t>upconversion</a:t>
            </a:r>
            <a:r>
              <a:rPr lang="en-US" b="1">
                <a:ea typeface="Calibri"/>
                <a:cs typeface="Calibri"/>
              </a:rPr>
              <a:t> is observed?</a:t>
            </a:r>
          </a:p>
          <a:p>
            <a:pPr marL="171450" indent="-171450">
              <a:buFont typeface="Arial"/>
              <a:buChar char="•"/>
            </a:pPr>
            <a:r>
              <a:rPr lang="en-US"/>
              <a:t>It is good.</a:t>
            </a:r>
          </a:p>
          <a:p>
            <a:pPr marL="171450" indent="-171450">
              <a:buFont typeface="Arial"/>
              <a:buChar char="•"/>
            </a:pPr>
            <a:r>
              <a:rPr lang="en-US"/>
              <a:t>The flicker noise stays at low frequencies and </a:t>
            </a:r>
            <a:r>
              <a:rPr lang="en-US" b="1"/>
              <a:t>doesn’t degrade</a:t>
            </a:r>
            <a:r>
              <a:rPr lang="en-US"/>
              <a:t> the oscillator’s </a:t>
            </a:r>
            <a:r>
              <a:rPr lang="en-US" b="1"/>
              <a:t>phase noise</a:t>
            </a:r>
            <a:r>
              <a:rPr lang="en-US"/>
              <a:t> near the carrier – </a:t>
            </a:r>
            <a:r>
              <a:rPr lang="en-US" u="sng"/>
              <a:t>better signal quality, lower jitter and clearer spectrum. </a:t>
            </a:r>
            <a:endParaRPr lang="en-US" u="sng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99BDD2-A1C4-486E-A3E6-040AF793BDF0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940538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>
                <a:ea typeface="Calibri"/>
                <a:cs typeface="Calibri"/>
              </a:rPr>
              <a:t>How does </a:t>
            </a:r>
            <a:r>
              <a:rPr lang="en-US" b="1" err="1">
                <a:ea typeface="Calibri"/>
                <a:cs typeface="Calibri"/>
              </a:rPr>
              <a:t>Vp</a:t>
            </a:r>
            <a:r>
              <a:rPr lang="en-US" b="1">
                <a:ea typeface="Calibri"/>
                <a:cs typeface="Calibri"/>
              </a:rPr>
              <a:t> swing increasing affect the 2nd harmonics?</a:t>
            </a:r>
          </a:p>
          <a:p>
            <a:pPr marL="171450" indent="-171450">
              <a:buFont typeface="Arial"/>
              <a:buChar char="•"/>
            </a:pPr>
            <a:r>
              <a:rPr lang="en-US" err="1">
                <a:ea typeface="Calibri"/>
                <a:cs typeface="Calibri"/>
              </a:rPr>
              <a:t>Vp</a:t>
            </a:r>
            <a:r>
              <a:rPr lang="en-US">
                <a:ea typeface="Calibri"/>
                <a:cs typeface="Calibri"/>
              </a:rPr>
              <a:t> swing increases.</a:t>
            </a:r>
          </a:p>
          <a:p>
            <a:pPr marL="171450" indent="-171450">
              <a:buFont typeface="Arial"/>
              <a:buChar char="•"/>
            </a:pPr>
            <a:r>
              <a:rPr lang="en-US">
                <a:ea typeface="Calibri"/>
                <a:cs typeface="Calibri"/>
              </a:rPr>
              <a:t>This swing interacts with the tail capacitances</a:t>
            </a:r>
          </a:p>
          <a:p>
            <a:pPr marL="171450" indent="-171450">
              <a:buFont typeface="Arial"/>
              <a:buChar char="•"/>
            </a:pPr>
            <a:r>
              <a:rPr lang="en-US">
                <a:ea typeface="Calibri"/>
                <a:cs typeface="Calibri"/>
              </a:rPr>
              <a:t>This generates current at 2f0 frequency. {2nd harmonic of </a:t>
            </a:r>
            <a:r>
              <a:rPr lang="en-US" err="1">
                <a:ea typeface="Calibri"/>
                <a:cs typeface="Calibri"/>
              </a:rPr>
              <a:t>osc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freq</a:t>
            </a:r>
            <a:r>
              <a:rPr lang="en-US">
                <a:ea typeface="Calibri"/>
                <a:cs typeface="Calibri"/>
              </a:rPr>
              <a:t>}.</a:t>
            </a:r>
          </a:p>
          <a:p>
            <a:pPr marL="171450" indent="-171450">
              <a:buFont typeface="Arial"/>
              <a:buChar char="•"/>
            </a:pPr>
            <a:r>
              <a:rPr lang="en-US">
                <a:ea typeface="Calibri"/>
                <a:cs typeface="Calibri"/>
              </a:rPr>
              <a:t>This current flows through the differential circuit distorting the drain voltages.</a:t>
            </a:r>
          </a:p>
          <a:p>
            <a:pPr marL="171450" indent="-171450">
              <a:buFont typeface="Arial"/>
              <a:buChar char="•"/>
            </a:pPr>
            <a:r>
              <a:rPr lang="en-US">
                <a:ea typeface="Calibri"/>
                <a:cs typeface="Calibri"/>
              </a:rPr>
              <a:t>-23dB is more than –37dB in the last circuit. </a:t>
            </a:r>
            <a:r>
              <a:rPr lang="en-US" b="1">
                <a:solidFill>
                  <a:srgbClr val="FF0000"/>
                </a:solidFill>
                <a:ea typeface="Calibri"/>
                <a:cs typeface="Calibri"/>
              </a:rPr>
              <a:t>It becomes dominant!</a:t>
            </a:r>
            <a:r>
              <a:rPr lang="en-US">
                <a:ea typeface="Calibri"/>
                <a:cs typeface="Calibri"/>
              </a:rPr>
              <a:t> </a:t>
            </a:r>
          </a:p>
          <a:p>
            <a:pPr marL="171450" indent="-171450">
              <a:buFont typeface="Arial"/>
              <a:buChar char="•"/>
            </a:pPr>
            <a:r>
              <a:rPr lang="en-US">
                <a:ea typeface="Calibri"/>
                <a:cs typeface="Calibri"/>
              </a:rPr>
              <a:t>LES Symmetry and less linearity.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99BDD2-A1C4-486E-A3E6-040AF793BDF0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153227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Wingdings"/>
              <a:buChar char="ü"/>
            </a:pPr>
            <a:r>
              <a:rPr lang="en-US"/>
              <a:t>An </a:t>
            </a:r>
            <a:r>
              <a:rPr lang="en-US" b="1"/>
              <a:t>integrator</a:t>
            </a:r>
            <a:r>
              <a:rPr lang="en-US"/>
              <a:t> is a system whose output is the </a:t>
            </a:r>
            <a:r>
              <a:rPr lang="en-US" b="1"/>
              <a:t>integral of its input</a:t>
            </a:r>
            <a:r>
              <a:rPr lang="en-US"/>
              <a:t>—in Laplace domain, its transfer function is: H(s)=1/s;</a:t>
            </a:r>
            <a:endParaRPr lang="en-US">
              <a:ea typeface="Calibri"/>
              <a:cs typeface="Calibri"/>
            </a:endParaRPr>
          </a:p>
          <a:p>
            <a:pPr lvl="1" indent="-171450">
              <a:buFont typeface="Wingdings"/>
              <a:buChar char="Ø"/>
            </a:pPr>
            <a:r>
              <a:rPr lang="en-US"/>
              <a:t>when you have</a:t>
            </a:r>
            <a:r>
              <a:rPr lang="en-US" b="1"/>
              <a:t> two ideal integrators in cascade:</a:t>
            </a:r>
            <a:r>
              <a:rPr lang="en-US"/>
              <a:t> H(s)= 1/s^2 :</a:t>
            </a:r>
            <a:endParaRPr lang="en-US">
              <a:ea typeface="Calibri"/>
              <a:cs typeface="Calibri"/>
            </a:endParaRPr>
          </a:p>
          <a:p>
            <a:pPr lvl="1" indent="-171450">
              <a:buFont typeface="Wingdings"/>
              <a:buChar char="Ø"/>
            </a:pPr>
            <a:r>
              <a:rPr lang="en-US"/>
              <a:t>This gives a −180° phase shift. </a:t>
            </a:r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99BDD2-A1C4-486E-A3E6-040AF793BDF0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573867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>
                <a:ea typeface="Calibri"/>
                <a:cs typeface="Calibri"/>
              </a:rPr>
              <a:t>Why keep gm1,2 and ISS large? </a:t>
            </a:r>
          </a:p>
          <a:p>
            <a:pPr marL="171450" indent="-171450">
              <a:buFont typeface="Calibri"/>
              <a:buChar char="-"/>
            </a:pPr>
            <a:r>
              <a:rPr lang="en-US">
                <a:ea typeface="Calibri"/>
                <a:cs typeface="Calibri"/>
              </a:rPr>
              <a:t>To inject enough current into differential circuit</a:t>
            </a:r>
          </a:p>
          <a:p>
            <a:pPr marL="171450" indent="-171450">
              <a:buFont typeface="Calibri"/>
              <a:buChar char="-"/>
            </a:pPr>
            <a:r>
              <a:rPr lang="en-US">
                <a:ea typeface="Calibri"/>
                <a:cs typeface="Calibri"/>
              </a:rPr>
              <a:t>Periodically kick the latched pair 3&amp;4 back into active mode</a:t>
            </a:r>
          </a:p>
          <a:p>
            <a:pPr marL="171450" indent="-171450">
              <a:buFont typeface="Calibri"/>
              <a:buChar char="-"/>
            </a:pPr>
            <a:r>
              <a:rPr lang="en-US" dirty="0">
                <a:ea typeface="Calibri"/>
                <a:cs typeface="Calibri"/>
              </a:rPr>
              <a:t>So to have negative resistance and oscillate!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99BDD2-A1C4-486E-A3E6-040AF793BDF0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248361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NMOS is not constrained by a gate-source voltage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99BDD2-A1C4-486E-A3E6-040AF793BDF0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126147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2f₀ components from differential and cross-coupled pairs cancel at the shared tail node, </a:t>
            </a:r>
          </a:p>
          <a:p>
            <a:r>
              <a:rPr lang="en-US"/>
              <a:t>making it an AC ground. This:</a:t>
            </a:r>
            <a:endParaRPr lang="en-US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/>
              <a:t>Prevents source node voltage modulation</a:t>
            </a:r>
          </a:p>
          <a:p>
            <a:pPr marL="285750" indent="-285750">
              <a:buFont typeface="Arial"/>
              <a:buChar char="•"/>
            </a:pPr>
            <a:r>
              <a:rPr lang="en-US"/>
              <a:t>Removes beneficial degeneration</a:t>
            </a:r>
          </a:p>
          <a:p>
            <a:pPr marL="285750" indent="-285750">
              <a:buFont typeface="Arial"/>
              <a:buChar char="•"/>
            </a:pPr>
            <a:r>
              <a:rPr lang="en-US"/>
              <a:t>Increases second-order nonlinearity</a:t>
            </a:r>
          </a:p>
          <a:p>
            <a:pPr marL="285750" indent="-285750">
              <a:buFont typeface="Arial"/>
              <a:buChar char="•"/>
            </a:pPr>
            <a:r>
              <a:rPr lang="en-US"/>
              <a:t>Worsens flicker noise up-conversion</a:t>
            </a:r>
            <a:endParaRPr lang="en-US">
              <a:ea typeface="Calibri"/>
              <a:cs typeface="Calibri"/>
            </a:endParaRPr>
          </a:p>
          <a:p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99BDD2-A1C4-486E-A3E6-040AF793BDF0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64397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Calibri"/>
                <a:cs typeface="Calibri"/>
              </a:rPr>
              <a:t>Talk about how negative resistance is being created here?</a:t>
            </a:r>
          </a:p>
          <a:p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99BDD2-A1C4-486E-A3E6-040AF793BDF0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419007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>
                <a:ea typeface="Calibri"/>
                <a:cs typeface="Calibri"/>
              </a:rPr>
              <a:t>How does Varactor operate across most of its cv curve?</a:t>
            </a:r>
            <a:endParaRPr lang="en-US">
              <a:ea typeface="Calibri"/>
              <a:cs typeface="Calibri"/>
            </a:endParaRPr>
          </a:p>
          <a:p>
            <a:pPr marL="171450" indent="-171450">
              <a:buFont typeface="Arial"/>
              <a:buChar char="•"/>
            </a:pPr>
            <a:r>
              <a:rPr lang="en-US"/>
              <a:t>At low </a:t>
            </a:r>
            <a:r>
              <a:rPr lang="en-US" err="1"/>
              <a:t>Vcont</a:t>
            </a:r>
            <a:r>
              <a:rPr lang="en-US"/>
              <a:t> , VGSV  is positive → Capacitance is high (accumulation).</a:t>
            </a:r>
            <a:endParaRPr lang="en-US">
              <a:ea typeface="Calibri"/>
              <a:cs typeface="Calibri"/>
            </a:endParaRPr>
          </a:p>
          <a:p>
            <a:pPr marL="171450" indent="-171450">
              <a:buFont typeface="Arial"/>
              <a:buChar char="•"/>
            </a:pPr>
            <a:r>
              <a:rPr lang="en-US"/>
              <a:t>At high </a:t>
            </a:r>
            <a:r>
              <a:rPr lang="en-US" err="1"/>
              <a:t>VcontV</a:t>
            </a:r>
            <a:r>
              <a:rPr lang="en-US"/>
              <a:t>, VGSV becomes negative → Capacitance is low (depletion/inversion).</a:t>
            </a:r>
            <a:endParaRPr lang="en-US">
              <a:ea typeface="Calibri"/>
              <a:cs typeface="Calibri"/>
            </a:endParaRPr>
          </a:p>
          <a:p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99BDD2-A1C4-486E-A3E6-040AF793BDF0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41715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628650" lvl="1" indent="-171450">
              <a:lnSpc>
                <a:spcPct val="90000"/>
              </a:lnSpc>
              <a:spcBef>
                <a:spcPts val="500"/>
              </a:spcBef>
              <a:buFont typeface="Arial"/>
              <a:buChar char="•"/>
            </a:pPr>
            <a:r>
              <a:rPr lang="en-US" u="sng" dirty="0"/>
              <a:t>In-phase operation is 2/3 and out-of-phase is 1/3 of the times. </a:t>
            </a:r>
            <a:endParaRPr lang="en-US" dirty="0">
              <a:ea typeface="Calibri" panose="020F0502020204030204"/>
              <a:cs typeface="Calibri" panose="020F0502020204030204"/>
            </a:endParaRPr>
          </a:p>
          <a:p>
            <a:pPr marL="628650" lvl="1" indent="-171450" algn="just">
              <a:lnSpc>
                <a:spcPct val="90000"/>
              </a:lnSpc>
              <a:spcBef>
                <a:spcPts val="500"/>
              </a:spcBef>
              <a:buFont typeface="Arial"/>
              <a:buChar char="•"/>
            </a:pPr>
            <a:r>
              <a:rPr lang="en-US" dirty="0">
                <a:ea typeface="Calibri" panose="020F0502020204030204"/>
                <a:cs typeface="Calibri" panose="020F0502020204030204"/>
              </a:rPr>
              <a:t>How is this possible? </a:t>
            </a:r>
          </a:p>
          <a:p>
            <a:pPr lvl="1" algn="just">
              <a:lnSpc>
                <a:spcPct val="90000"/>
              </a:lnSpc>
              <a:spcBef>
                <a:spcPts val="500"/>
              </a:spcBef>
            </a:pPr>
            <a:endParaRPr lang="en-US" dirty="0">
              <a:ea typeface="Calibri" panose="020F0502020204030204"/>
              <a:cs typeface="Calibri" panose="020F0502020204030204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99BDD2-A1C4-486E-A3E6-040AF793BDF0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09473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Calibri"/>
              <a:cs typeface="Calibri"/>
            </a:endParaRPr>
          </a:p>
          <a:p>
            <a:r>
              <a:rPr lang="en-US" dirty="0">
                <a:ea typeface="Calibri"/>
                <a:cs typeface="Calibri"/>
              </a:rPr>
              <a:t>How does static current flow?</a:t>
            </a:r>
            <a:endParaRPr lang="en-US" dirty="0"/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99BDD2-A1C4-486E-A3E6-040AF793BDF0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61816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8/2/2025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>
                <a:ea typeface="+mj-lt"/>
                <a:cs typeface="+mj-lt"/>
              </a:rPr>
              <a:t>Design of Differential and Multiphase Ring Oscillators</a:t>
            </a:r>
            <a:endParaRPr lang="en-US" b="1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968927"/>
            <a:ext cx="9144000" cy="165576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latin typeface="Aptos Display"/>
              </a:rPr>
              <a:t>Chapter 4 Razavi PLL </a:t>
            </a:r>
          </a:p>
          <a:p>
            <a:r>
              <a:rPr lang="en-US">
                <a:latin typeface="Aptos Display"/>
              </a:rPr>
              <a:t>Presented by Deepa Kulkarni</a:t>
            </a:r>
          </a:p>
          <a:p>
            <a:r>
              <a:rPr lang="en-US">
                <a:latin typeface="Aptos Display"/>
              </a:rPr>
              <a:t>Guided by Neeraj Mishra, BITS Pilani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FFD037-6F5A-D9A2-5719-E1571477C1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22333"/>
            <a:ext cx="10515600" cy="1325563"/>
          </a:xfrm>
        </p:spPr>
        <p:txBody>
          <a:bodyPr/>
          <a:lstStyle/>
          <a:p>
            <a:br>
              <a:rPr lang="en-US" b="1"/>
            </a:br>
            <a:r>
              <a:rPr lang="en-US" b="1"/>
              <a:t>Presentation Topics</a:t>
            </a:r>
            <a:endParaRPr lang="en-US"/>
          </a:p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A0A139-CA45-965B-2C4D-CEDA337FA0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02610"/>
            <a:ext cx="10515600" cy="5074353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514350" indent="-514350">
              <a:buAutoNum type="arabicPeriod"/>
            </a:pPr>
            <a:r>
              <a:rPr lang="en-US" sz="2400">
                <a:ea typeface="+mn-lt"/>
                <a:cs typeface="+mn-lt"/>
              </a:rPr>
              <a:t>Differential Ring Oscillators.</a:t>
            </a:r>
          </a:p>
          <a:p>
            <a:pPr marL="514350" indent="-514350">
              <a:buAutoNum type="arabicPeriod"/>
            </a:pPr>
            <a:r>
              <a:rPr lang="en-US" sz="2400">
                <a:ea typeface="+mn-lt"/>
                <a:cs typeface="+mn-lt"/>
              </a:rPr>
              <a:t>Phase consideration &amp; 2nd harmonics</a:t>
            </a:r>
          </a:p>
          <a:p>
            <a:pPr marL="514350" indent="-514350">
              <a:buAutoNum type="arabicPeriod"/>
            </a:pPr>
            <a:r>
              <a:rPr lang="en-US" sz="2400">
                <a:ea typeface="+mn-lt"/>
                <a:cs typeface="+mn-lt"/>
              </a:rPr>
              <a:t>Basic Differential Ring Design &amp; Improvements.</a:t>
            </a:r>
          </a:p>
          <a:p>
            <a:pPr marL="514350" indent="-514350">
              <a:buAutoNum type="arabicPeriod"/>
            </a:pPr>
            <a:r>
              <a:rPr lang="en-US" sz="2400">
                <a:ea typeface="+mn-lt"/>
                <a:cs typeface="+mn-lt"/>
              </a:rPr>
              <a:t>Methods for Obtaining Desired Frequency.</a:t>
            </a:r>
          </a:p>
          <a:p>
            <a:pPr marL="514350" indent="-514350">
              <a:buAutoNum type="arabicPeriod"/>
            </a:pPr>
            <a:r>
              <a:rPr lang="en-US" sz="2400">
                <a:ea typeface="+mn-lt"/>
                <a:cs typeface="+mn-lt"/>
              </a:rPr>
              <a:t>Two-Stage Ring Oscillators.</a:t>
            </a:r>
          </a:p>
          <a:p>
            <a:pPr marL="514350" indent="-514350">
              <a:buAutoNum type="arabicPeriod"/>
            </a:pPr>
            <a:r>
              <a:rPr lang="en-US" sz="2400">
                <a:ea typeface="+mn-lt"/>
                <a:cs typeface="+mn-lt"/>
              </a:rPr>
              <a:t>Tuning Techniques for Differential Rings.</a:t>
            </a:r>
          </a:p>
          <a:p>
            <a:pPr marL="514350" indent="-514350">
              <a:buAutoNum type="arabicPeriod"/>
            </a:pPr>
            <a:r>
              <a:rPr lang="en-US" sz="2400">
                <a:ea typeface="+mn-lt"/>
                <a:cs typeface="+mn-lt"/>
              </a:rPr>
              <a:t>Inverter-Based Oscillators with Complementary or Quadrature Outputs.</a:t>
            </a:r>
          </a:p>
          <a:p>
            <a:pPr marL="514350" indent="-514350">
              <a:buAutoNum type="arabicPeriod"/>
            </a:pPr>
            <a:r>
              <a:rPr lang="en-US" sz="2400">
                <a:ea typeface="+mn-lt"/>
                <a:cs typeface="+mn-lt"/>
              </a:rPr>
              <a:t>Ring Oscillators with LC Loads. </a:t>
            </a:r>
          </a:p>
          <a:p>
            <a:pPr marL="0" indent="0">
              <a:buNone/>
            </a:pPr>
            <a:endParaRPr lang="en-US" sz="240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3927681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A0B4E7-50B9-7E77-B698-87C19E34EB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458"/>
            <a:ext cx="10515600" cy="1325563"/>
          </a:xfrm>
        </p:spPr>
        <p:txBody>
          <a:bodyPr/>
          <a:lstStyle/>
          <a:p>
            <a:pPr>
              <a:spcBef>
                <a:spcPts val="1000"/>
              </a:spcBef>
            </a:pPr>
            <a:br>
              <a:rPr lang="en-US" b="1">
                <a:ea typeface="+mj-lt"/>
                <a:cs typeface="+mj-lt"/>
              </a:rPr>
            </a:br>
            <a:r>
              <a:rPr lang="en-US" b="1">
                <a:ea typeface="+mj-lt"/>
                <a:cs typeface="+mj-lt"/>
              </a:rPr>
              <a:t>Differential Ring Oscillators.</a:t>
            </a:r>
            <a:endParaRPr lang="en-US" b="1"/>
          </a:p>
          <a:p>
            <a:endParaRPr lang="en-US" b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A14D05-377C-3448-5F42-DF9F2023D0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91848"/>
            <a:ext cx="10515600" cy="5430171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400" b="1"/>
              <a:t>Why Differential Circuits? </a:t>
            </a:r>
          </a:p>
          <a:p>
            <a:pPr marL="457200" indent="-457200">
              <a:buAutoNum type="arabicPeriod"/>
            </a:pPr>
            <a:r>
              <a:rPr lang="en-US" sz="2400" u="sng"/>
              <a:t>They are less sensitive to supply noise than single-ended rings because: </a:t>
            </a:r>
          </a:p>
          <a:p>
            <a:pPr lvl="1"/>
            <a:r>
              <a:rPr lang="en-US" sz="2400" b="1"/>
              <a:t>Common-mode rejection :  </a:t>
            </a:r>
            <a:endParaRPr lang="en-US" b="1"/>
          </a:p>
          <a:p>
            <a:pPr lvl="2"/>
            <a:r>
              <a:rPr lang="en-US" sz="2400">
                <a:ea typeface="+mn-lt"/>
                <a:cs typeface="+mn-lt"/>
              </a:rPr>
              <a:t>They amplify the difference between two signals while rejecting signals that are common to both. </a:t>
            </a:r>
            <a:endParaRPr lang="en-US" sz="2400">
              <a:latin typeface="Aptos" panose="020B0004020202020204"/>
              <a:ea typeface="Calibri"/>
              <a:cs typeface="Calibri"/>
            </a:endParaRPr>
          </a:p>
          <a:p>
            <a:pPr lvl="2"/>
            <a:r>
              <a:rPr lang="en-US" sz="2400">
                <a:latin typeface="Aptos" panose="020B0004020202020204"/>
                <a:ea typeface="Calibri"/>
                <a:cs typeface="Calibri"/>
              </a:rPr>
              <a:t>Supply noise is common to both and gets rejected in the process. </a:t>
            </a:r>
            <a:endParaRPr lang="en-US" sz="2400">
              <a:ea typeface="+mn-lt"/>
              <a:cs typeface="+mn-lt"/>
            </a:endParaRPr>
          </a:p>
          <a:p>
            <a:pPr lvl="1"/>
            <a:r>
              <a:rPr lang="en-US" b="1">
                <a:ea typeface="+mn-lt"/>
                <a:cs typeface="+mn-lt"/>
              </a:rPr>
              <a:t>Constant Current Source:</a:t>
            </a:r>
            <a:r>
              <a:rPr lang="en-US">
                <a:ea typeface="+mn-lt"/>
                <a:cs typeface="+mn-lt"/>
              </a:rPr>
              <a:t> </a:t>
            </a:r>
            <a:endParaRPr lang="en-US" sz="2400"/>
          </a:p>
          <a:p>
            <a:pPr lvl="2"/>
            <a:r>
              <a:rPr lang="en-US" sz="2400">
                <a:ea typeface="+mn-lt"/>
                <a:cs typeface="+mn-lt"/>
              </a:rPr>
              <a:t>A high-impedance tail current source ensures the total current (ISS ) remains constant despite VDD changes.</a:t>
            </a:r>
          </a:p>
          <a:p>
            <a:pPr lvl="2"/>
            <a:r>
              <a:rPr lang="en-US" sz="2400">
                <a:ea typeface="+mn-lt"/>
                <a:cs typeface="+mn-lt"/>
              </a:rPr>
              <a:t>This stabilizes the common-mode voltage (</a:t>
            </a:r>
            <a:r>
              <a:rPr lang="en-US" sz="2400" err="1">
                <a:ea typeface="+mn-lt"/>
                <a:cs typeface="+mn-lt"/>
              </a:rPr>
              <a:t>Vp</a:t>
            </a:r>
            <a:r>
              <a:rPr lang="en-US" sz="2400">
                <a:ea typeface="+mn-lt"/>
                <a:cs typeface="+mn-lt"/>
              </a:rPr>
              <a:t>) and prevents supply noise from directly altering the charging currents, which keeps the oscillation frequency stable.</a:t>
            </a:r>
          </a:p>
          <a:p>
            <a:pPr marL="914400" lvl="2" indent="0">
              <a:buNone/>
            </a:pPr>
            <a:endParaRPr lang="en-US" sz="2400"/>
          </a:p>
          <a:p>
            <a:pPr marL="914400" lvl="2" indent="0" algn="ctr">
              <a:buNone/>
            </a:pPr>
            <a:r>
              <a:rPr lang="en-US" sz="2400" i="1"/>
              <a:t>We will look into ISS impacts later in the presentation</a:t>
            </a:r>
            <a:endParaRPr lang="en-US" i="1"/>
          </a:p>
          <a:p>
            <a:pPr lvl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89815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07362A-47B8-DE83-BC5F-1CB6A8FA57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58493"/>
            <a:ext cx="10515600" cy="6234771"/>
          </a:xfrm>
        </p:spPr>
        <p:txBody>
          <a:bodyPr vert="horz" lIns="91440" tIns="45720" rIns="91440" bIns="45720" rtlCol="0" anchor="t">
            <a:normAutofit/>
          </a:bodyPr>
          <a:lstStyle/>
          <a:p>
            <a:pPr lvl="1">
              <a:buFont typeface="Courier New,monospace" panose="020B0604020202020204" pitchFamily="34" charset="0"/>
              <a:buChar char="o"/>
            </a:pPr>
            <a:r>
              <a:rPr lang="en-US" b="1">
                <a:ea typeface="+mn-lt"/>
                <a:cs typeface="+mn-lt"/>
              </a:rPr>
              <a:t>Drain Resistance Dominance: </a:t>
            </a:r>
          </a:p>
          <a:p>
            <a:pPr lvl="2">
              <a:buFont typeface="Wingdings" panose="020B0604020202020204" pitchFamily="34" charset="0"/>
              <a:buChar char="§"/>
            </a:pPr>
            <a:r>
              <a:rPr lang="en-US" sz="2400">
                <a:ea typeface="+mn-lt"/>
                <a:cs typeface="+mn-lt"/>
              </a:rPr>
              <a:t>The resistors at the drain are less sensitive to supply noise than the CMOS "on" resistance in the simple-ended inverters. </a:t>
            </a:r>
          </a:p>
          <a:p>
            <a:pPr lvl="1">
              <a:buFont typeface="Courier New,monospace" panose="020B0604020202020204" pitchFamily="34" charset="0"/>
              <a:buChar char="o"/>
            </a:pPr>
            <a:r>
              <a:rPr lang="en-US" b="1">
                <a:ea typeface="+mn-lt"/>
                <a:cs typeface="+mn-lt"/>
              </a:rPr>
              <a:t>Reduced Voltage Swing:</a:t>
            </a:r>
          </a:p>
          <a:p>
            <a:pPr lvl="2">
              <a:buFont typeface="Wingdings" panose="020B0604020202020204" pitchFamily="34" charset="0"/>
              <a:buChar char="§"/>
            </a:pPr>
            <a:r>
              <a:rPr lang="en-US" sz="2400"/>
              <a:t>Smaller single-ended voltage swings. Faster transitions and </a:t>
            </a:r>
            <a:r>
              <a:rPr lang="en-US" sz="2600"/>
              <a:t>less sensitivity to noise. </a:t>
            </a:r>
          </a:p>
          <a:p>
            <a:pPr marL="0" indent="0">
              <a:buNone/>
            </a:pPr>
            <a:r>
              <a:rPr lang="en-US" sz="2400"/>
              <a:t>2. </a:t>
            </a:r>
            <a:r>
              <a:rPr lang="en-US" sz="2400" u="sng"/>
              <a:t>Multiphase O/p generation: </a:t>
            </a:r>
          </a:p>
          <a:p>
            <a:pPr lvl="1">
              <a:buFont typeface="Courier New,monospace" panose="020B0604020202020204" pitchFamily="34" charset="0"/>
              <a:buChar char="o"/>
            </a:pPr>
            <a:r>
              <a:rPr lang="en-US"/>
              <a:t>3-stage diff ring have 6 output phases with 60 degrees separation.</a:t>
            </a:r>
          </a:p>
          <a:p>
            <a:pPr lvl="1">
              <a:buFont typeface="Courier New,monospace" panose="020B0604020202020204" pitchFamily="34" charset="0"/>
              <a:buChar char="o"/>
            </a:pPr>
            <a:r>
              <a:rPr lang="en-US"/>
              <a:t>4 -stage diff ring have 8 output phases with 45 degrees separation.</a:t>
            </a:r>
          </a:p>
          <a:p>
            <a:pPr lvl="1">
              <a:buFont typeface="Courier New,monospace" panose="020B0604020202020204" pitchFamily="34" charset="0"/>
              <a:buChar char="o"/>
            </a:pPr>
            <a:r>
              <a:rPr lang="en-US"/>
              <a:t>Every stage has V1+ and V1- </a:t>
            </a:r>
          </a:p>
          <a:p>
            <a:pPr lvl="1">
              <a:buFont typeface="Courier New,monospace" panose="020B0604020202020204" pitchFamily="34" charset="0"/>
              <a:buChar char="o"/>
            </a:pPr>
            <a:r>
              <a:rPr lang="en-US"/>
              <a:t>N stages have 2N output nodes. </a:t>
            </a:r>
          </a:p>
          <a:p>
            <a:pPr marL="457200" lvl="1" indent="0">
              <a:buNone/>
            </a:pPr>
            <a:endParaRPr lang="en-US"/>
          </a:p>
          <a:p>
            <a:pPr marL="457200" lvl="1" indent="0">
              <a:buNone/>
            </a:pPr>
            <a:r>
              <a:rPr lang="en-US" i="1"/>
              <a:t>Applications:</a:t>
            </a:r>
            <a:r>
              <a:rPr lang="en-US"/>
              <a:t> Modulators, Mixers, Multiphase clocks.</a:t>
            </a:r>
          </a:p>
          <a:p>
            <a:pPr marL="457200" lvl="1" indent="0" algn="ctr">
              <a:buNone/>
            </a:pPr>
            <a:endParaRPr lang="en-US" i="1"/>
          </a:p>
          <a:p>
            <a:pPr marL="457200" lvl="1" indent="0" algn="ctr">
              <a:buNone/>
            </a:pPr>
            <a:r>
              <a:rPr lang="en-US" i="1"/>
              <a:t>In inverters, transistors have only 1 output phase per input. </a:t>
            </a:r>
          </a:p>
        </p:txBody>
      </p:sp>
      <p:pic>
        <p:nvPicPr>
          <p:cNvPr id="4" name="Picture 3" descr="A white board with black text&#10;&#10;AI-generated content may be incorrect.">
            <a:extLst>
              <a:ext uri="{FF2B5EF4-FFF2-40B4-BE49-F238E27FC236}">
                <a16:creationId xmlns:a16="http://schemas.microsoft.com/office/drawing/2014/main" id="{92FCCE22-D6E2-3931-325A-EAE744FE19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13017" y="3961312"/>
            <a:ext cx="3124200" cy="142875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6691076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07FC76-983F-56A5-48E2-C543E09366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73512"/>
            <a:ext cx="10515600" cy="5803451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400"/>
              <a:t>3. </a:t>
            </a:r>
            <a:r>
              <a:rPr lang="en-US" sz="2400" u="sng"/>
              <a:t>Higher Speed: 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Delay per stage is less than CMOS inverters.</a:t>
            </a:r>
          </a:p>
          <a:p>
            <a:pPr lvl="2">
              <a:buFont typeface="Wingdings" panose="020B0604020202020204" pitchFamily="34" charset="0"/>
              <a:buChar char="§"/>
            </a:pPr>
            <a:r>
              <a:rPr lang="en-US" sz="2400" b="1"/>
              <a:t>Reduced Voltage Swings</a:t>
            </a:r>
            <a:r>
              <a:rPr lang="en-US" sz="2400"/>
              <a:t>.: Faster transistors because voltage swing does not reach ISS X Rd.  </a:t>
            </a:r>
          </a:p>
          <a:p>
            <a:pPr lvl="2">
              <a:buFont typeface="Wingdings" panose="020B0604020202020204" pitchFamily="34" charset="0"/>
              <a:buChar char="§"/>
            </a:pPr>
            <a:r>
              <a:rPr lang="en-US" sz="2400" b="1"/>
              <a:t>Lower capacitance load:</a:t>
            </a:r>
            <a:r>
              <a:rPr lang="en-US" sz="2400"/>
              <a:t> Differential rings use resistors and not PMOS. Resistors add very little capacitance than PMOS. Resistors charge and discharge very quickly at X and Y nodes. </a:t>
            </a:r>
          </a:p>
          <a:p>
            <a:pPr marL="0" indent="0">
              <a:buNone/>
            </a:pPr>
            <a:r>
              <a:rPr lang="en-US" sz="2400" b="1">
                <a:solidFill>
                  <a:srgbClr val="FF0000"/>
                </a:solidFill>
              </a:rPr>
              <a:t>Disadvantages of Differential Rings:</a:t>
            </a:r>
          </a:p>
          <a:p>
            <a:pPr marL="0" indent="0">
              <a:buNone/>
            </a:pPr>
            <a:r>
              <a:rPr lang="en-US" sz="2400" b="1"/>
              <a:t>Lower Voltage swings : 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Low rail-to-rail voltage swings.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To achieve full swing, </a:t>
            </a:r>
            <a:r>
              <a:rPr lang="en-US">
                <a:ea typeface="+mn-lt"/>
                <a:cs typeface="+mn-lt"/>
              </a:rPr>
              <a:t>a separate circuit called a </a:t>
            </a:r>
            <a:r>
              <a:rPr lang="en-US" b="1">
                <a:ea typeface="+mn-lt"/>
                <a:cs typeface="+mn-lt"/>
              </a:rPr>
              <a:t>level converter </a:t>
            </a:r>
            <a:r>
              <a:rPr lang="en-US">
                <a:ea typeface="+mn-lt"/>
                <a:cs typeface="+mn-lt"/>
              </a:rPr>
              <a:t>is added.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It is a </a:t>
            </a:r>
            <a:r>
              <a:rPr lang="en-US" b="1"/>
              <a:t>Self-biased capacitive sensing inverter</a:t>
            </a:r>
            <a:r>
              <a:rPr lang="en-US"/>
              <a:t>. </a:t>
            </a:r>
          </a:p>
          <a:p>
            <a:pPr marL="457200" lvl="1" indent="0">
              <a:buNone/>
            </a:pPr>
            <a:endParaRPr lang="en-US"/>
          </a:p>
          <a:p>
            <a:pPr marL="457200" lvl="1" indent="0" algn="just">
              <a:buNone/>
            </a:pPr>
            <a:r>
              <a:rPr lang="en-US" i="1"/>
              <a:t>They also consume more power!</a:t>
            </a:r>
          </a:p>
          <a:p>
            <a:pPr lvl="1">
              <a:buFont typeface="Courier New" panose="020B0604020202020204" pitchFamily="34" charset="0"/>
              <a:buChar char="o"/>
            </a:pPr>
            <a:endParaRPr lang="en-US"/>
          </a:p>
        </p:txBody>
      </p:sp>
      <p:pic>
        <p:nvPicPr>
          <p:cNvPr id="4" name="Picture 3" descr="A diagram of a circuit&#10;&#10;AI-generated content may be incorrect.">
            <a:extLst>
              <a:ext uri="{FF2B5EF4-FFF2-40B4-BE49-F238E27FC236}">
                <a16:creationId xmlns:a16="http://schemas.microsoft.com/office/drawing/2014/main" id="{0E125F7B-FB3F-00C2-FDC7-9DC4CEDB68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47595" y="4678543"/>
            <a:ext cx="3743325" cy="180022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9838957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A9E6B9-7E90-8AEB-4CF6-23ADFC24D4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87514"/>
            <a:ext cx="10903788" cy="624888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400" b="1"/>
              <a:t>Role of Tail Current source (ISS):</a:t>
            </a:r>
          </a:p>
          <a:p>
            <a:r>
              <a:rPr lang="en-US" sz="2400" u="sng"/>
              <a:t>Without the Tail current source: 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The circuit effectively splits into </a:t>
            </a:r>
            <a:r>
              <a:rPr lang="en-US" b="1"/>
              <a:t>2 simple single ended rings</a:t>
            </a:r>
            <a:r>
              <a:rPr lang="en-US"/>
              <a:t> independently working on their own oscillation frequency and phase shifts.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ea typeface="+mn-lt"/>
                <a:cs typeface="+mn-lt"/>
              </a:rPr>
              <a:t>This happens when the </a:t>
            </a:r>
            <a:r>
              <a:rPr lang="en-US" b="1">
                <a:ea typeface="+mn-lt"/>
                <a:cs typeface="+mn-lt"/>
              </a:rPr>
              <a:t>tail current source is replaced with resistors </a:t>
            </a:r>
            <a:r>
              <a:rPr lang="en-US">
                <a:ea typeface="+mn-lt"/>
                <a:cs typeface="+mn-lt"/>
              </a:rPr>
              <a:t>of low value.</a:t>
            </a:r>
            <a:endParaRPr lang="en-US"/>
          </a:p>
          <a:p>
            <a:pPr lvl="2">
              <a:buFont typeface="Wingdings" panose="020B0604020202020204" pitchFamily="34" charset="0"/>
              <a:buChar char="§"/>
            </a:pPr>
            <a:r>
              <a:rPr lang="en-US" sz="2400" b="1">
                <a:ea typeface="+mn-lt"/>
                <a:cs typeface="+mn-lt"/>
              </a:rPr>
              <a:t>Low-value resistors</a:t>
            </a:r>
            <a:r>
              <a:rPr lang="en-US" sz="2400">
                <a:ea typeface="+mn-lt"/>
                <a:cs typeface="+mn-lt"/>
              </a:rPr>
              <a:t> allow signals to go to ground easily. </a:t>
            </a:r>
          </a:p>
          <a:p>
            <a:pPr lvl="2">
              <a:buFont typeface="Wingdings" panose="020B0604020202020204" pitchFamily="34" charset="0"/>
              <a:buChar char="§"/>
            </a:pPr>
            <a:r>
              <a:rPr lang="en-US" sz="2400">
                <a:ea typeface="+mn-lt"/>
                <a:cs typeface="+mn-lt"/>
              </a:rPr>
              <a:t>Weak coupling between the two sides cause them to oscillate separately</a:t>
            </a:r>
          </a:p>
          <a:p>
            <a:r>
              <a:rPr lang="en-US" sz="2400" u="sng"/>
              <a:t>With Tail current source: </a:t>
            </a:r>
          </a:p>
          <a:p>
            <a:pPr marL="0" indent="0">
              <a:buNone/>
            </a:pPr>
            <a:r>
              <a:rPr lang="en-US" sz="2400" b="1">
                <a:solidFill>
                  <a:srgbClr val="000000"/>
                </a:solidFill>
              </a:rPr>
              <a:t>Injection Locking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solidFill>
                  <a:srgbClr val="000000"/>
                </a:solidFill>
                <a:ea typeface="+mn-lt"/>
                <a:cs typeface="+mn-lt"/>
              </a:rPr>
              <a:t>ISS is a high-impedance tail current source.</a:t>
            </a:r>
            <a:endParaRPr lang="en-US" b="1">
              <a:solidFill>
                <a:srgbClr val="000000"/>
              </a:solidFill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solidFill>
                  <a:srgbClr val="000000"/>
                </a:solidFill>
                <a:ea typeface="+mn-lt"/>
                <a:cs typeface="+mn-lt"/>
              </a:rPr>
              <a:t>One side can </a:t>
            </a:r>
            <a:r>
              <a:rPr lang="en-US" b="1">
                <a:solidFill>
                  <a:srgbClr val="000000"/>
                </a:solidFill>
                <a:ea typeface="+mn-lt"/>
                <a:cs typeface="+mn-lt"/>
              </a:rPr>
              <a:t>inject current</a:t>
            </a:r>
            <a:r>
              <a:rPr lang="en-US">
                <a:solidFill>
                  <a:srgbClr val="000000"/>
                </a:solidFill>
                <a:ea typeface="+mn-lt"/>
                <a:cs typeface="+mn-lt"/>
              </a:rPr>
              <a:t> into the other through </a:t>
            </a:r>
          </a:p>
          <a:p>
            <a:pPr marL="457200" lvl="1" indent="0">
              <a:buNone/>
            </a:pPr>
            <a:r>
              <a:rPr lang="en-US">
                <a:solidFill>
                  <a:srgbClr val="000000"/>
                </a:solidFill>
                <a:ea typeface="+mn-lt"/>
                <a:cs typeface="+mn-lt"/>
              </a:rPr>
              <a:t>        shared source nodes. (point 'P'). </a:t>
            </a:r>
            <a:endParaRPr lang="en-US">
              <a:solidFill>
                <a:srgbClr val="000000"/>
              </a:solidFill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solidFill>
                  <a:srgbClr val="000000"/>
                </a:solidFill>
              </a:rPr>
              <a:t>M1 and M2 act as </a:t>
            </a:r>
            <a:r>
              <a:rPr lang="en-US" b="1">
                <a:solidFill>
                  <a:srgbClr val="000000"/>
                </a:solidFill>
              </a:rPr>
              <a:t>Source Follower</a:t>
            </a:r>
            <a:r>
              <a:rPr lang="en-US">
                <a:solidFill>
                  <a:srgbClr val="000000"/>
                </a:solidFill>
              </a:rPr>
              <a:t> and </a:t>
            </a:r>
            <a:r>
              <a:rPr lang="en-US" b="1">
                <a:solidFill>
                  <a:srgbClr val="000000"/>
                </a:solidFill>
              </a:rPr>
              <a:t>CG stage</a:t>
            </a:r>
            <a:r>
              <a:rPr lang="en-US">
                <a:solidFill>
                  <a:srgbClr val="000000"/>
                </a:solidFill>
              </a:rPr>
              <a:t> alternatively. </a:t>
            </a:r>
          </a:p>
          <a:p>
            <a:pPr lvl="1">
              <a:buFont typeface="Courier New" panose="020B0604020202020204" pitchFamily="34" charset="0"/>
              <a:buChar char="o"/>
            </a:pPr>
            <a:endParaRPr lang="en-US" b="1">
              <a:solidFill>
                <a:srgbClr val="000000"/>
              </a:solidFill>
            </a:endParaRPr>
          </a:p>
        </p:txBody>
      </p:sp>
      <p:pic>
        <p:nvPicPr>
          <p:cNvPr id="4" name="Picture 3" descr="A diagram of an injection path&#10;&#10;AI-generated content may be incorrect.">
            <a:extLst>
              <a:ext uri="{FF2B5EF4-FFF2-40B4-BE49-F238E27FC236}">
                <a16:creationId xmlns:a16="http://schemas.microsoft.com/office/drawing/2014/main" id="{354CBE66-C222-4493-E74D-D38DD0ACE0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46608" y="4853194"/>
            <a:ext cx="1308160" cy="1417428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5" name="Picture 4" descr="A diagram of a circuit&#10;&#10;AI-generated content may be incorrect.">
            <a:extLst>
              <a:ext uri="{FF2B5EF4-FFF2-40B4-BE49-F238E27FC236}">
                <a16:creationId xmlns:a16="http://schemas.microsoft.com/office/drawing/2014/main" id="{9C0C8BD9-3245-9E8F-6F81-BD20AB447E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56849" y="3482600"/>
            <a:ext cx="3364283" cy="130679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1624138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18B251-7318-1C4D-C3A1-E96AE6AA11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764"/>
            <a:ext cx="10515600" cy="1325563"/>
          </a:xfrm>
        </p:spPr>
        <p:txBody>
          <a:bodyPr>
            <a:normAutofit/>
          </a:bodyPr>
          <a:lstStyle/>
          <a:p>
            <a:r>
              <a:rPr lang="en-US" b="1">
                <a:ea typeface="+mj-lt"/>
                <a:cs typeface="+mj-lt"/>
              </a:rPr>
              <a:t>Phase consideration 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03C2C0-AB1B-D0B2-6E1B-8B90D9199C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75871"/>
            <a:ext cx="10515600" cy="5593813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400" b="1"/>
              <a:t>Principal drawback : </a:t>
            </a:r>
            <a:r>
              <a:rPr lang="en-US" sz="2400"/>
              <a:t>Differential rings have higher phase noise due to less voltage swings. </a:t>
            </a:r>
            <a:endParaRPr lang="en-US" sz="2400" u="sng"/>
          </a:p>
          <a:p>
            <a:pPr marL="457200" indent="-457200">
              <a:buAutoNum type="arabicPeriod"/>
            </a:pPr>
            <a:r>
              <a:rPr lang="en-US" sz="2400" u="sng"/>
              <a:t>Thermal Phase noise :</a:t>
            </a:r>
          </a:p>
          <a:p>
            <a:pPr marL="914400" lvl="1">
              <a:buFont typeface="Courier New" panose="020B0604020202020204" pitchFamily="34" charset="0"/>
              <a:buChar char="o"/>
            </a:pPr>
            <a:r>
              <a:rPr lang="en-US"/>
              <a:t>Inversely related to tail current.</a:t>
            </a:r>
          </a:p>
          <a:p>
            <a:pPr marL="914400" lvl="1">
              <a:buFont typeface="Courier New" panose="020B0604020202020204" pitchFamily="34" charset="0"/>
              <a:buChar char="o"/>
            </a:pPr>
            <a:r>
              <a:rPr lang="en-US" b="1"/>
              <a:t>Example</a:t>
            </a:r>
            <a:r>
              <a:rPr lang="en-US"/>
              <a:t>: If we increase the no. Of stages, how will it affect phase noise?</a:t>
            </a:r>
          </a:p>
          <a:p>
            <a:pPr marL="1371600" lvl="2">
              <a:buFont typeface="Wingdings" panose="020B0604020202020204" pitchFamily="34" charset="0"/>
              <a:buChar char="§"/>
            </a:pPr>
            <a:r>
              <a:rPr lang="en-US" sz="2400"/>
              <a:t>As N increase, </a:t>
            </a:r>
            <a:r>
              <a:rPr lang="en-US" sz="2400">
                <a:ea typeface="+mn-lt"/>
                <a:cs typeface="+mn-lt"/>
              </a:rPr>
              <a:t>Reduce ISS, W/L, and increase RD to keep power &amp; frequency constant.</a:t>
            </a:r>
          </a:p>
          <a:p>
            <a:pPr marL="1371600" lvl="2">
              <a:buFont typeface="Wingdings" panose="020B0604020202020204" pitchFamily="34" charset="0"/>
              <a:buChar char="§"/>
            </a:pPr>
            <a:r>
              <a:rPr lang="en-US" sz="2400">
                <a:ea typeface="+mn-lt"/>
                <a:cs typeface="+mn-lt"/>
              </a:rPr>
              <a:t>But phase noise increases proportional to ISS.</a:t>
            </a:r>
          </a:p>
          <a:p>
            <a:pPr marL="457200" indent="-457200">
              <a:buAutoNum type="arabicPeriod"/>
            </a:pPr>
            <a:r>
              <a:rPr lang="en-US" sz="2400" u="sng">
                <a:ea typeface="+mn-lt"/>
                <a:cs typeface="+mn-lt"/>
              </a:rPr>
              <a:t>Flicker Noise contributions:</a:t>
            </a:r>
          </a:p>
          <a:p>
            <a:pPr marL="914400" lvl="1">
              <a:buFont typeface="Courier New" panose="020B0604020202020204" pitchFamily="34" charset="0"/>
              <a:buChar char="o"/>
            </a:pPr>
            <a:r>
              <a:rPr lang="en-US">
                <a:ea typeface="+mn-lt"/>
                <a:cs typeface="+mn-lt"/>
              </a:rPr>
              <a:t>Flicker noise adds to phase noise when : </a:t>
            </a:r>
          </a:p>
          <a:p>
            <a:pPr marL="1371600" lvl="2" indent="-342900">
              <a:buFont typeface="Wingdings" panose="020B0604020202020204" pitchFamily="34" charset="0"/>
              <a:buChar char="§"/>
            </a:pPr>
            <a:r>
              <a:rPr lang="en-US" sz="2400">
                <a:ea typeface="+mn-lt"/>
                <a:cs typeface="+mn-lt"/>
              </a:rPr>
              <a:t>Rise and fall edges are </a:t>
            </a:r>
            <a:r>
              <a:rPr lang="en-US" sz="2400" b="1">
                <a:ea typeface="+mn-lt"/>
                <a:cs typeface="+mn-lt"/>
              </a:rPr>
              <a:t>asymmetric. </a:t>
            </a:r>
            <a:r>
              <a:rPr lang="en-US" sz="2400">
                <a:ea typeface="+mn-lt"/>
                <a:cs typeface="+mn-lt"/>
              </a:rPr>
              <a:t>(at X and Y nodes).</a:t>
            </a:r>
          </a:p>
          <a:p>
            <a:pPr marL="1371600" lvl="2" indent="-342900">
              <a:buFont typeface="Wingdings" panose="020B0604020202020204" pitchFamily="34" charset="0"/>
              <a:buChar char="§"/>
            </a:pPr>
            <a:r>
              <a:rPr lang="en-US" sz="2400">
                <a:ea typeface="+mn-lt"/>
                <a:cs typeface="+mn-lt"/>
              </a:rPr>
              <a:t>Non-cancellation of these →cause more phase jitter.</a:t>
            </a:r>
          </a:p>
          <a:p>
            <a:pPr lvl="2" indent="0">
              <a:buNone/>
            </a:pPr>
            <a:endParaRPr lang="en-US" sz="2400">
              <a:ea typeface="+mn-lt"/>
              <a:cs typeface="+mn-lt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70E45A3-D440-8321-8003-7171770DF8B8}"/>
              </a:ext>
            </a:extLst>
          </p:cNvPr>
          <p:cNvGrpSpPr/>
          <p:nvPr/>
        </p:nvGrpSpPr>
        <p:grpSpPr>
          <a:xfrm>
            <a:off x="6341792" y="1542643"/>
            <a:ext cx="4419742" cy="914972"/>
            <a:chOff x="4468303" y="1720251"/>
            <a:chExt cx="3600450" cy="685800"/>
          </a:xfrm>
        </p:grpSpPr>
        <p:pic>
          <p:nvPicPr>
            <p:cNvPr id="4" name="Picture 3" descr="A black text with black letters&#10;&#10;AI-generated content may be incorrect.">
              <a:extLst>
                <a:ext uri="{FF2B5EF4-FFF2-40B4-BE49-F238E27FC236}">
                  <a16:creationId xmlns:a16="http://schemas.microsoft.com/office/drawing/2014/main" id="{E1B1894C-D702-4FAA-FF93-576F293ACD4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468303" y="1720251"/>
              <a:ext cx="3600450" cy="685800"/>
            </a:xfrm>
            <a:prstGeom prst="rect">
              <a:avLst/>
            </a:prstGeom>
            <a:ln>
              <a:noFill/>
            </a:ln>
            <a:effectLst>
              <a:outerShdw blurRad="190500" algn="tl" rotWithShape="0">
                <a:srgbClr val="000000">
                  <a:alpha val="70000"/>
                </a:srgbClr>
              </a:outerShdw>
            </a:effectLst>
          </p:spPr>
        </p:pic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69A8D5BF-744F-0A0E-2E01-F4558CC0906A}"/>
                </a:ext>
              </a:extLst>
            </p:cNvPr>
            <p:cNvCxnSpPr/>
            <p:nvPr/>
          </p:nvCxnSpPr>
          <p:spPr>
            <a:xfrm flipV="1">
              <a:off x="5329343" y="2103046"/>
              <a:ext cx="455579" cy="5668"/>
            </a:xfrm>
            <a:prstGeom prst="straightConnector1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DF2A4FF7-3D49-5DFB-9EFD-0F58BFC9C0B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30922" y="2103046"/>
              <a:ext cx="724857" cy="5668"/>
            </a:xfrm>
            <a:prstGeom prst="straightConnector1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A88D53C9-7ED9-0F31-E526-57B660DE4EF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39283" y="2097317"/>
              <a:ext cx="547248" cy="5668"/>
            </a:xfrm>
            <a:prstGeom prst="straightConnector1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76955851-42C6-FBA5-9DFA-848E1784EDC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609614" y="2097317"/>
              <a:ext cx="335264" cy="5668"/>
            </a:xfrm>
            <a:prstGeom prst="straightConnector1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1156011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6B974A-E82B-4361-ECBF-E9EC2ACE2A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691"/>
            <a:ext cx="10515600" cy="1325563"/>
          </a:xfrm>
        </p:spPr>
        <p:txBody>
          <a:bodyPr/>
          <a:lstStyle/>
          <a:p>
            <a:r>
              <a:rPr lang="en-US" b="1"/>
              <a:t>2nd harmonics &amp; Its origins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CA06ED-C6AB-A1DE-9638-D726F96188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06116"/>
            <a:ext cx="11033184" cy="5587789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457200" indent="-457200"/>
            <a:r>
              <a:rPr lang="en-US" sz="2400">
                <a:ea typeface="+mn-lt"/>
                <a:cs typeface="+mn-lt"/>
              </a:rPr>
              <a:t>2nd harmonics in Vx and Vy leads to unequal slopes.</a:t>
            </a:r>
            <a:endParaRPr lang="en-US"/>
          </a:p>
          <a:p>
            <a:pPr marL="457200" indent="-457200"/>
            <a:r>
              <a:rPr lang="en-US" sz="2400">
                <a:ea typeface="+mn-lt"/>
                <a:cs typeface="+mn-lt"/>
              </a:rPr>
              <a:t>Suppose, Vx (t) = V</a:t>
            </a:r>
            <a:r>
              <a:rPr lang="en-US" sz="2400" baseline="-25000">
                <a:ea typeface="+mn-lt"/>
                <a:cs typeface="+mn-lt"/>
              </a:rPr>
              <a:t>1</a:t>
            </a:r>
            <a:r>
              <a:rPr lang="en-US" sz="2400">
                <a:ea typeface="+mn-lt"/>
                <a:cs typeface="+mn-lt"/>
              </a:rPr>
              <a:t> sin(ω0t) + </a:t>
            </a:r>
            <a:r>
              <a:rPr lang="en-US" sz="2400" b="1">
                <a:solidFill>
                  <a:srgbClr val="FF0000"/>
                </a:solidFill>
                <a:ea typeface="+mn-lt"/>
                <a:cs typeface="+mn-lt"/>
              </a:rPr>
              <a:t>V</a:t>
            </a:r>
            <a:r>
              <a:rPr lang="en-US" sz="2400" b="1" baseline="-25000">
                <a:solidFill>
                  <a:srgbClr val="FF0000"/>
                </a:solidFill>
                <a:ea typeface="+mn-lt"/>
                <a:cs typeface="+mn-lt"/>
              </a:rPr>
              <a:t>2</a:t>
            </a:r>
            <a:r>
              <a:rPr lang="en-US" sz="2400" b="1">
                <a:solidFill>
                  <a:srgbClr val="FF0000"/>
                </a:solidFill>
                <a:ea typeface="+mn-lt"/>
                <a:cs typeface="+mn-lt"/>
              </a:rPr>
              <a:t> sin(2ω0t)</a:t>
            </a:r>
            <a:r>
              <a:rPr lang="en-US" sz="2400">
                <a:ea typeface="+mn-lt"/>
                <a:cs typeface="+mn-lt"/>
              </a:rPr>
              <a:t> + V</a:t>
            </a:r>
            <a:r>
              <a:rPr lang="en-US" sz="2400" baseline="-25000">
                <a:ea typeface="+mn-lt"/>
                <a:cs typeface="+mn-lt"/>
              </a:rPr>
              <a:t>CM</a:t>
            </a:r>
            <a:endParaRPr lang="en-US">
              <a:ea typeface="+mn-lt"/>
              <a:cs typeface="+mn-lt"/>
            </a:endParaRPr>
          </a:p>
          <a:p>
            <a:pPr marL="457200" indent="-457200"/>
            <a:r>
              <a:rPr lang="en-US" sz="2400">
                <a:ea typeface="+mn-lt"/>
                <a:cs typeface="+mn-lt"/>
              </a:rPr>
              <a:t>V</a:t>
            </a:r>
            <a:r>
              <a:rPr lang="en-US" sz="2400" baseline="-25000">
                <a:ea typeface="+mn-lt"/>
                <a:cs typeface="+mn-lt"/>
              </a:rPr>
              <a:t>CM</a:t>
            </a:r>
            <a:r>
              <a:rPr lang="en-US" sz="2400">
                <a:ea typeface="+mn-lt"/>
                <a:cs typeface="+mn-lt"/>
              </a:rPr>
              <a:t> alternates between (V</a:t>
            </a:r>
            <a:r>
              <a:rPr lang="en-US" sz="2400" baseline="-25000">
                <a:ea typeface="+mn-lt"/>
                <a:cs typeface="+mn-lt"/>
              </a:rPr>
              <a:t>1ω0</a:t>
            </a:r>
            <a:r>
              <a:rPr lang="en-US" sz="2400">
                <a:ea typeface="+mn-lt"/>
                <a:cs typeface="+mn-lt"/>
              </a:rPr>
              <a:t> + 2V</a:t>
            </a:r>
            <a:r>
              <a:rPr lang="en-US" sz="2400" baseline="-25000">
                <a:ea typeface="+mn-lt"/>
                <a:cs typeface="+mn-lt"/>
              </a:rPr>
              <a:t>2ω0</a:t>
            </a:r>
            <a:r>
              <a:rPr lang="en-US" sz="2400">
                <a:ea typeface="+mn-lt"/>
                <a:cs typeface="+mn-lt"/>
              </a:rPr>
              <a:t>) and (−V</a:t>
            </a:r>
            <a:r>
              <a:rPr lang="en-US" sz="2400" baseline="-25000">
                <a:ea typeface="+mn-lt"/>
                <a:cs typeface="+mn-lt"/>
              </a:rPr>
              <a:t>1ω0</a:t>
            </a:r>
            <a:r>
              <a:rPr lang="en-US" sz="2400">
                <a:ea typeface="+mn-lt"/>
                <a:cs typeface="+mn-lt"/>
              </a:rPr>
              <a:t> + 2V</a:t>
            </a:r>
            <a:r>
              <a:rPr lang="en-US" sz="2400" baseline="-25000">
                <a:ea typeface="+mn-lt"/>
                <a:cs typeface="+mn-lt"/>
              </a:rPr>
              <a:t>2ω0 </a:t>
            </a:r>
            <a:r>
              <a:rPr lang="en-US" sz="2400">
                <a:ea typeface="+mn-lt"/>
                <a:cs typeface="+mn-lt"/>
              </a:rPr>
              <a:t>).</a:t>
            </a:r>
          </a:p>
          <a:p>
            <a:pPr marL="0" indent="0">
              <a:buNone/>
            </a:pPr>
            <a:r>
              <a:rPr lang="en-US" sz="2400" b="1"/>
              <a:t>Origins of 2nd harmonics:</a:t>
            </a:r>
          </a:p>
          <a:p>
            <a:pPr marL="0" indent="0">
              <a:buNone/>
            </a:pPr>
            <a:r>
              <a:rPr lang="en-US" sz="2400">
                <a:ea typeface="+mn-lt"/>
                <a:cs typeface="+mn-lt"/>
              </a:rPr>
              <a:t>A)   </a:t>
            </a:r>
            <a:r>
              <a:rPr lang="en-US" sz="2400" err="1">
                <a:ea typeface="+mn-lt"/>
                <a:cs typeface="+mn-lt"/>
              </a:rPr>
              <a:t>Vp</a:t>
            </a:r>
            <a:r>
              <a:rPr lang="en-US" sz="2400">
                <a:ea typeface="+mn-lt"/>
                <a:cs typeface="+mn-lt"/>
              </a:rPr>
              <a:t> drops around crossing of Vin1 and Vin2.</a:t>
            </a:r>
            <a:endParaRPr lang="en-US" sz="2400"/>
          </a:p>
          <a:p>
            <a:pPr marL="457200" indent="-457200"/>
            <a:r>
              <a:rPr lang="en-US" sz="2400"/>
              <a:t>This is due to switching of M1/M2 which</a:t>
            </a:r>
            <a:r>
              <a:rPr lang="en-US" sz="2400" b="1"/>
              <a:t> cause C</a:t>
            </a:r>
            <a:r>
              <a:rPr lang="en-US" sz="2400" b="1" baseline="-25000"/>
              <a:t>T</a:t>
            </a:r>
            <a:r>
              <a:rPr lang="en-US" sz="2400" b="1"/>
              <a:t> fluctuations.</a:t>
            </a:r>
            <a:endParaRPr lang="en-US" b="1"/>
          </a:p>
          <a:p>
            <a:pPr marL="914400" lvl="1">
              <a:buFont typeface="Courier New" panose="020B0604020202020204" pitchFamily="34" charset="0"/>
              <a:buChar char="o"/>
            </a:pPr>
            <a:r>
              <a:rPr lang="en-US" err="1">
                <a:ea typeface="+mn-lt"/>
                <a:cs typeface="+mn-lt"/>
              </a:rPr>
              <a:t>Vp</a:t>
            </a:r>
            <a:r>
              <a:rPr lang="en-US">
                <a:ea typeface="+mn-lt"/>
                <a:cs typeface="+mn-lt"/>
              </a:rPr>
              <a:t> is pulled up twice per cycle by M1 and M2 (as source followers).</a:t>
            </a:r>
          </a:p>
          <a:p>
            <a:pPr marL="914400" lvl="1">
              <a:buFont typeface="Courier New" panose="020B0604020202020204" pitchFamily="34" charset="0"/>
              <a:buChar char="o"/>
            </a:pPr>
            <a:r>
              <a:rPr lang="en-US">
                <a:ea typeface="+mn-lt"/>
                <a:cs typeface="+mn-lt"/>
              </a:rPr>
              <a:t>So, </a:t>
            </a:r>
            <a:r>
              <a:rPr lang="en-US" b="1" err="1">
                <a:solidFill>
                  <a:srgbClr val="000000"/>
                </a:solidFill>
                <a:ea typeface="+mn-lt"/>
                <a:cs typeface="+mn-lt"/>
              </a:rPr>
              <a:t>Vp</a:t>
            </a:r>
            <a:r>
              <a:rPr lang="en-US" b="1">
                <a:solidFill>
                  <a:srgbClr val="000000"/>
                </a:solidFill>
                <a:ea typeface="+mn-lt"/>
                <a:cs typeface="+mn-lt"/>
              </a:rPr>
              <a:t> oscillates at 2ω₀</a:t>
            </a:r>
            <a:r>
              <a:rPr lang="en-US">
                <a:solidFill>
                  <a:srgbClr val="000000"/>
                </a:solidFill>
                <a:ea typeface="+mn-lt"/>
                <a:cs typeface="+mn-lt"/>
              </a:rPr>
              <a:t>.</a:t>
            </a:r>
          </a:p>
          <a:p>
            <a:pPr marL="457200"/>
            <a:r>
              <a:rPr lang="en-US" sz="2400">
                <a:solidFill>
                  <a:srgbClr val="000000"/>
                </a:solidFill>
                <a:ea typeface="+mn-lt"/>
                <a:cs typeface="+mn-lt"/>
              </a:rPr>
              <a:t>This generates current in CT, leading to </a:t>
            </a:r>
            <a:r>
              <a:rPr lang="en-US" sz="2400" b="1">
                <a:solidFill>
                  <a:srgbClr val="000000"/>
                </a:solidFill>
                <a:ea typeface="+mn-lt"/>
                <a:cs typeface="+mn-lt"/>
              </a:rPr>
              <a:t>unequal slopes</a:t>
            </a:r>
            <a:r>
              <a:rPr lang="en-US" sz="2400">
                <a:solidFill>
                  <a:srgbClr val="000000"/>
                </a:solidFill>
                <a:ea typeface="+mn-lt"/>
                <a:cs typeface="+mn-lt"/>
              </a:rPr>
              <a:t> in Vx and Vy.</a:t>
            </a:r>
            <a:endParaRPr lang="en-US" sz="2400">
              <a:solidFill>
                <a:srgbClr val="000000"/>
              </a:solidFill>
            </a:endParaRPr>
          </a:p>
          <a:p>
            <a:pPr marL="457200"/>
            <a:r>
              <a:rPr lang="en-US" sz="2400"/>
              <a:t>If Transistor widths are increased in the ring </a:t>
            </a:r>
            <a:r>
              <a:rPr lang="en-US" sz="2400" err="1"/>
              <a:t>osc</a:t>
            </a:r>
            <a:r>
              <a:rPr lang="en-US" sz="2400"/>
              <a:t>, </a:t>
            </a:r>
          </a:p>
          <a:p>
            <a:pPr marL="914400" lvl="1">
              <a:buFont typeface="Courier New" panose="020B0604020202020204" pitchFamily="34" charset="0"/>
              <a:buChar char="o"/>
            </a:pPr>
            <a:r>
              <a:rPr lang="en-US"/>
              <a:t>Signal Swing V0 rises, CT increases and VGS-VTH falls. </a:t>
            </a:r>
          </a:p>
          <a:p>
            <a:pPr marL="914400" lvl="1">
              <a:buFont typeface="Courier New" panose="020B0604020202020204" pitchFamily="34" charset="0"/>
              <a:buChar char="o"/>
            </a:pPr>
            <a:r>
              <a:rPr lang="en-US"/>
              <a:t>which enhances 2nd harmonics.</a:t>
            </a:r>
          </a:p>
        </p:txBody>
      </p:sp>
      <p:pic>
        <p:nvPicPr>
          <p:cNvPr id="4" name="Picture 3" descr="A diagram of a graph&#10;&#10;AI-generated content may be incorrect.">
            <a:extLst>
              <a:ext uri="{FF2B5EF4-FFF2-40B4-BE49-F238E27FC236}">
                <a16:creationId xmlns:a16="http://schemas.microsoft.com/office/drawing/2014/main" id="{93162EE0-8BF1-3AD1-BA4B-FB4EE417F23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711" t="728" r="237" b="-243"/>
          <a:stretch>
            <a:fillRect/>
          </a:stretch>
        </p:blipFill>
        <p:spPr>
          <a:xfrm>
            <a:off x="9481529" y="282001"/>
            <a:ext cx="2393703" cy="211621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6" name="Picture 5" descr="A diagram of a circuit&#10;&#10;AI-generated content may be incorrect.">
            <a:extLst>
              <a:ext uri="{FF2B5EF4-FFF2-40B4-BE49-F238E27FC236}">
                <a16:creationId xmlns:a16="http://schemas.microsoft.com/office/drawing/2014/main" id="{5711C75B-7D41-3E27-8905-4A4F7161EC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40596" y="2485305"/>
            <a:ext cx="1483564" cy="1326671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C151E17-2EFD-F68A-46A3-7DDAFE05CD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46526" y="5077812"/>
            <a:ext cx="2089929" cy="151878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8200721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E2FC86-691F-6473-5592-BAF8912C2D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30380"/>
            <a:ext cx="11063616" cy="6273111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/>
              <a:t>B) </a:t>
            </a:r>
            <a:r>
              <a:rPr lang="en-US" u="sng"/>
              <a:t>Flicker noise corner frequency f</a:t>
            </a:r>
            <a:r>
              <a:rPr lang="en-US" u="sng" baseline="-25000"/>
              <a:t>1/f</a:t>
            </a:r>
            <a:r>
              <a:rPr lang="en-US" u="sng" baseline="30000"/>
              <a:t>3</a:t>
            </a:r>
          </a:p>
          <a:p>
            <a:pPr marL="457200" indent="-457200"/>
            <a:r>
              <a:rPr lang="en-US"/>
              <a:t>Ratio of positive and negative slopes is alpha.(Asymmetric ratio).</a:t>
            </a:r>
          </a:p>
          <a:p>
            <a:pPr marL="457200" indent="-457200"/>
            <a:r>
              <a:rPr lang="en-US"/>
              <a:t>If </a:t>
            </a:r>
            <a:r>
              <a:rPr lang="en-US">
                <a:ea typeface="+mn-lt"/>
                <a:cs typeface="+mn-lt"/>
              </a:rPr>
              <a:t> α = (V</a:t>
            </a:r>
            <a:r>
              <a:rPr lang="en-US" baseline="-25000">
                <a:ea typeface="+mn-lt"/>
                <a:cs typeface="+mn-lt"/>
              </a:rPr>
              <a:t>1</a:t>
            </a:r>
            <a:r>
              <a:rPr lang="en-US">
                <a:ea typeface="+mn-lt"/>
                <a:cs typeface="+mn-lt"/>
              </a:rPr>
              <a:t>+2V</a:t>
            </a:r>
            <a:r>
              <a:rPr lang="en-US" baseline="-25000">
                <a:ea typeface="+mn-lt"/>
                <a:cs typeface="+mn-lt"/>
              </a:rPr>
              <a:t>2</a:t>
            </a:r>
            <a:r>
              <a:rPr lang="en-US">
                <a:ea typeface="+mn-lt"/>
                <a:cs typeface="+mn-lt"/>
              </a:rPr>
              <a:t>)/(V</a:t>
            </a:r>
            <a:r>
              <a:rPr lang="en-US" baseline="-25000">
                <a:ea typeface="+mn-lt"/>
                <a:cs typeface="+mn-lt"/>
              </a:rPr>
              <a:t>1</a:t>
            </a:r>
            <a:r>
              <a:rPr lang="en-US">
                <a:ea typeface="+mn-lt"/>
                <a:cs typeface="+mn-lt"/>
              </a:rPr>
              <a:t>−2V</a:t>
            </a:r>
            <a:r>
              <a:rPr lang="en-US" baseline="-25000">
                <a:ea typeface="+mn-lt"/>
                <a:cs typeface="+mn-lt"/>
              </a:rPr>
              <a:t>2</a:t>
            </a:r>
            <a:r>
              <a:rPr lang="en-US">
                <a:ea typeface="+mn-lt"/>
                <a:cs typeface="+mn-lt"/>
              </a:rPr>
              <a:t>). </a:t>
            </a:r>
          </a:p>
          <a:p>
            <a:pPr marL="457200" indent="-457200"/>
            <a:r>
              <a:rPr lang="en-US"/>
              <a:t> Larger asymmetry increases corner frequency.  </a:t>
            </a:r>
          </a:p>
          <a:p>
            <a:pPr marL="0" indent="0">
              <a:buNone/>
            </a:pPr>
            <a:r>
              <a:rPr lang="en-US" b="1">
                <a:ea typeface="+mn-lt"/>
                <a:cs typeface="+mn-lt"/>
              </a:rPr>
              <a:t>Example: </a:t>
            </a:r>
            <a:r>
              <a:rPr lang="en-US">
                <a:ea typeface="+mn-lt"/>
                <a:cs typeface="+mn-lt"/>
              </a:rPr>
              <a:t>M1 switching frequency is f0. It acts as a mixer and 2nd harmonic current drawn by CT is mixed with f0 to produce f0, and 3f0.</a:t>
            </a:r>
          </a:p>
          <a:p>
            <a:pPr marL="0" indent="0">
              <a:buNone/>
            </a:pPr>
            <a:r>
              <a:rPr lang="en-US">
                <a:ea typeface="+mn-lt"/>
                <a:cs typeface="+mn-lt"/>
              </a:rPr>
              <a:t>Thus, tail-induced 2nd harmonic doesn’t create asymmetry. </a:t>
            </a:r>
          </a:p>
          <a:p>
            <a:pPr marL="0" indent="0">
              <a:buNone/>
            </a:pPr>
            <a:r>
              <a:rPr lang="en-US" b="1">
                <a:ea typeface="+mn-lt"/>
                <a:cs typeface="+mn-lt"/>
              </a:rPr>
              <a:t>Why is this wrong? </a:t>
            </a:r>
          </a:p>
          <a:p>
            <a:pPr marL="171450" indent="-171450">
              <a:buFont typeface="Calibri,Sans-Serif"/>
              <a:buChar char="-"/>
            </a:pPr>
            <a:r>
              <a:rPr lang="en-US">
                <a:ea typeface="+mn-lt"/>
                <a:cs typeface="+mn-lt"/>
              </a:rPr>
              <a:t>M1 multiplies tail current with a square wave S(t) (0 to 1).</a:t>
            </a:r>
          </a:p>
          <a:p>
            <a:pPr marL="171450" indent="-171450">
              <a:buFont typeface="Calibri,Sans-Serif"/>
              <a:buChar char="-"/>
            </a:pPr>
            <a:r>
              <a:rPr lang="en-US">
                <a:ea typeface="+mn-lt"/>
                <a:cs typeface="+mn-lt"/>
              </a:rPr>
              <a:t>Fourier series of S(t) is 0.5</a:t>
            </a:r>
          </a:p>
          <a:p>
            <a:pPr marL="171450" indent="-171450">
              <a:buFont typeface="Calibri,Sans-Serif"/>
              <a:buChar char="-"/>
            </a:pPr>
            <a:r>
              <a:rPr lang="en-US">
                <a:ea typeface="+mn-lt"/>
                <a:cs typeface="+mn-lt"/>
              </a:rPr>
              <a:t>It is not fully canceled; Part of ID1 still has 2nd harmonics.</a:t>
            </a:r>
          </a:p>
          <a:p>
            <a:pPr marL="171450" indent="-171450">
              <a:buFont typeface="Calibri,Sans-Serif"/>
              <a:buChar char="-"/>
            </a:pPr>
            <a:r>
              <a:rPr lang="en-US">
                <a:ea typeface="+mn-lt"/>
                <a:cs typeface="+mn-lt"/>
              </a:rPr>
              <a:t>Causes asymmetry in rise/fall of VX and VY. </a:t>
            </a:r>
            <a:endParaRPr lang="en-US"/>
          </a:p>
        </p:txBody>
      </p:sp>
      <p:pic>
        <p:nvPicPr>
          <p:cNvPr id="5" name="Picture 4" descr="A close-up of a math problem&#10;&#10;AI-generated content may be incorrect.">
            <a:extLst>
              <a:ext uri="{FF2B5EF4-FFF2-40B4-BE49-F238E27FC236}">
                <a16:creationId xmlns:a16="http://schemas.microsoft.com/office/drawing/2014/main" id="{2D6BAA09-33FD-7B08-0A9E-D623A94196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01716" y="1524989"/>
            <a:ext cx="2940530" cy="760024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6" name="Picture 5" descr="A diagram of a mathematical equation&#10;&#10;AI-generated content may be incorrect.">
            <a:extLst>
              <a:ext uri="{FF2B5EF4-FFF2-40B4-BE49-F238E27FC236}">
                <a16:creationId xmlns:a16="http://schemas.microsoft.com/office/drawing/2014/main" id="{A6DDEC71-360C-C9FC-5C1C-70161D5D65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72920" y="3755097"/>
            <a:ext cx="1876425" cy="159067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3050975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7EFD33-70EF-2196-2017-F6D8CE0D63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F4061E-4FC4-C233-5F45-5F9C57A675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613"/>
            <a:ext cx="10515600" cy="1325563"/>
          </a:xfrm>
        </p:spPr>
        <p:txBody>
          <a:bodyPr>
            <a:normAutofit/>
          </a:bodyPr>
          <a:lstStyle/>
          <a:p>
            <a:r>
              <a:rPr lang="en-US" b="1">
                <a:ea typeface="+mj-lt"/>
                <a:cs typeface="+mj-lt"/>
              </a:rPr>
              <a:t>Basic Differential Ring Design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4AB239-2C86-85E5-8ABB-0385F13D70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32739"/>
            <a:ext cx="10803147" cy="5403016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2400" i="1"/>
              <a:t>Focuses on performance and phase noise</a:t>
            </a:r>
          </a:p>
          <a:p>
            <a:pPr marL="0" indent="0" algn="just">
              <a:buNone/>
            </a:pPr>
            <a:r>
              <a:rPr lang="en-US" sz="2400" u="sng"/>
              <a:t>Requirements to ensure proper oscillation.</a:t>
            </a:r>
          </a:p>
          <a:p>
            <a:pPr marL="457200" indent="-457200" algn="just"/>
            <a:r>
              <a:rPr lang="en-US" sz="2400"/>
              <a:t>Start-up condition: Small-signal low frequency voltage gain </a:t>
            </a:r>
            <a:r>
              <a:rPr lang="en-US" sz="2400" b="1"/>
              <a:t>(</a:t>
            </a:r>
            <a:r>
              <a:rPr lang="en-US" sz="2400" b="1" err="1"/>
              <a:t>gmRd</a:t>
            </a:r>
            <a:r>
              <a:rPr lang="en-US" sz="2400" b="1"/>
              <a:t>) ≥ 2.</a:t>
            </a:r>
          </a:p>
          <a:p>
            <a:pPr marL="342900" indent="-342900" algn="just"/>
            <a:r>
              <a:rPr lang="en-US" sz="2400"/>
              <a:t>  Voltage swings for low phase noise: Bigger swings help reduce phase noise. </a:t>
            </a:r>
            <a:endParaRPr lang="en-US"/>
          </a:p>
          <a:p>
            <a:pPr marL="800100" lvl="1" indent="-342900" algn="just">
              <a:buFont typeface="Courier New" panose="020B0604020202020204" pitchFamily="34" charset="0"/>
              <a:buChar char="o"/>
            </a:pPr>
            <a:r>
              <a:rPr lang="en-US"/>
              <a:t>Voltage swing, V= IDD x Rd ; </a:t>
            </a:r>
          </a:p>
          <a:p>
            <a:pPr marL="0" indent="0" algn="just">
              <a:buNone/>
            </a:pPr>
            <a:r>
              <a:rPr lang="en-US" sz="2400" b="1">
                <a:ea typeface="+mn-lt"/>
                <a:cs typeface="+mn-lt"/>
              </a:rPr>
              <a:t>Why Single-Ended Swing is less than ISS·RD in 3-Stage </a:t>
            </a:r>
            <a:endParaRPr lang="en-US" b="1">
              <a:ea typeface="+mn-lt"/>
              <a:cs typeface="+mn-lt"/>
            </a:endParaRPr>
          </a:p>
          <a:p>
            <a:pPr marL="0" indent="0" algn="just">
              <a:buNone/>
            </a:pPr>
            <a:r>
              <a:rPr lang="en-US" sz="2400" b="1">
                <a:ea typeface="+mn-lt"/>
                <a:cs typeface="+mn-lt"/>
              </a:rPr>
              <a:t>differential Ring even if we steer all current ?</a:t>
            </a:r>
            <a:endParaRPr lang="en-US" b="1"/>
          </a:p>
          <a:p>
            <a:pPr algn="just"/>
            <a:r>
              <a:rPr lang="en-US" sz="2400"/>
              <a:t>Oscillation frequency = f0 </a:t>
            </a:r>
          </a:p>
          <a:p>
            <a:pPr algn="just"/>
            <a:r>
              <a:rPr lang="en-US" sz="2400"/>
              <a:t>For a 3-stage ring, </a:t>
            </a:r>
            <a:r>
              <a:rPr lang="en-US" sz="2400">
                <a:ea typeface="+mn-lt"/>
                <a:cs typeface="+mn-lt"/>
              </a:rPr>
              <a:t>T0 = 1/ f0 = (2π/ √3)*Rd*CL. </a:t>
            </a:r>
            <a:r>
              <a:rPr lang="en-US" sz="2400"/>
              <a:t>  </a:t>
            </a:r>
          </a:p>
          <a:p>
            <a:pPr algn="just"/>
            <a:r>
              <a:rPr lang="en-US" sz="2400" b="1"/>
              <a:t>Working: </a:t>
            </a:r>
            <a:endParaRPr lang="en-US" sz="2400"/>
          </a:p>
          <a:p>
            <a:pPr lvl="1" algn="just">
              <a:buFont typeface="Courier New" panose="020B0604020202020204" pitchFamily="34" charset="0"/>
              <a:buChar char="o"/>
            </a:pPr>
            <a:r>
              <a:rPr lang="en-US"/>
              <a:t>Vx &amp; Vy are complimentary. VCM is common-mode level of Vx and Vy.</a:t>
            </a:r>
          </a:p>
          <a:p>
            <a:pPr lvl="1" algn="just">
              <a:buFont typeface="Courier New" panose="020B0604020202020204" pitchFamily="34" charset="0"/>
              <a:buChar char="o"/>
            </a:pPr>
            <a:r>
              <a:rPr lang="en-US"/>
              <a:t>Voltage swing is limited by charging/discharging rates of CL through Rd.</a:t>
            </a:r>
          </a:p>
          <a:p>
            <a:pPr lvl="1" algn="just">
              <a:buFont typeface="Courier New" panose="020B0604020202020204" pitchFamily="34" charset="0"/>
              <a:buChar char="o"/>
            </a:pPr>
            <a:r>
              <a:rPr lang="en-US"/>
              <a:t>Voltage swing at one end (Vx or Vy) never reaches VDD (VDD= ISS*Rd).</a:t>
            </a:r>
          </a:p>
          <a:p>
            <a:pPr lvl="1" algn="just">
              <a:buFont typeface="Courier New" panose="020B0604020202020204" pitchFamily="34" charset="0"/>
              <a:buChar char="o"/>
            </a:pPr>
            <a:endParaRPr lang="en-US" sz="2400"/>
          </a:p>
          <a:p>
            <a:pPr marL="342900" indent="-342900" algn="just"/>
            <a:endParaRPr lang="en-US" sz="2400"/>
          </a:p>
          <a:p>
            <a:pPr marL="0" indent="0" algn="just">
              <a:buNone/>
            </a:pPr>
            <a:endParaRPr lang="en-US" sz="2400" b="1"/>
          </a:p>
        </p:txBody>
      </p:sp>
      <p:pic>
        <p:nvPicPr>
          <p:cNvPr id="4" name="Picture 3" descr="A diagram of a function&#10;&#10;AI-generated content may be incorrect.">
            <a:extLst>
              <a:ext uri="{FF2B5EF4-FFF2-40B4-BE49-F238E27FC236}">
                <a16:creationId xmlns:a16="http://schemas.microsoft.com/office/drawing/2014/main" id="{CFF6C46F-D4D1-51E0-30B0-6AB9D12A08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25068" y="3023199"/>
            <a:ext cx="2389338" cy="1717374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5385584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A2CF72-2C82-315C-F46F-47FDB62E2E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44758"/>
            <a:ext cx="10515600" cy="617726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400" u="sng"/>
              <a:t>Single-ended voltage swing calculation: </a:t>
            </a:r>
            <a:endParaRPr lang="en-US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Current through RD reaches CL and charges it.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This is a ramp function u(t) : 0 to ISS in T0/2 seconds:</a:t>
            </a:r>
          </a:p>
          <a:p>
            <a:pPr lvl="2">
              <a:buFont typeface="Wingdings" panose="020B0604020202020204" pitchFamily="34" charset="0"/>
              <a:buChar char="§"/>
            </a:pPr>
            <a:r>
              <a:rPr lang="en-US" sz="2400"/>
              <a:t> </a:t>
            </a:r>
            <a:r>
              <a:rPr lang="en-US" sz="2400">
                <a:ea typeface="+mn-lt"/>
                <a:cs typeface="+mn-lt"/>
              </a:rPr>
              <a:t>I</a:t>
            </a:r>
            <a:r>
              <a:rPr lang="en-US" sz="2400" baseline="-25000">
                <a:ea typeface="+mn-lt"/>
                <a:cs typeface="+mn-lt"/>
              </a:rPr>
              <a:t>1</a:t>
            </a:r>
            <a:r>
              <a:rPr lang="en-US" sz="2400">
                <a:ea typeface="+mn-lt"/>
                <a:cs typeface="+mn-lt"/>
              </a:rPr>
              <a:t>(t) = ISS*t*(1/0.5*T0) u(t)</a:t>
            </a:r>
          </a:p>
          <a:p>
            <a:pPr lvl="2">
              <a:buFont typeface="Wingdings" panose="020B0604020202020204" pitchFamily="34" charset="0"/>
              <a:buChar char="§"/>
            </a:pPr>
            <a:r>
              <a:rPr lang="en-US" sz="2400">
                <a:ea typeface="+mn-lt"/>
                <a:cs typeface="+mn-lt"/>
              </a:rPr>
              <a:t>Peak-to-peak single-ended voltage swing  =</a:t>
            </a:r>
            <a:r>
              <a:rPr lang="en-US" sz="2400">
                <a:solidFill>
                  <a:srgbClr val="FF0000"/>
                </a:solidFill>
                <a:ea typeface="+mn-lt"/>
                <a:cs typeface="+mn-lt"/>
              </a:rPr>
              <a:t> </a:t>
            </a:r>
            <a:r>
              <a:rPr lang="en-US" sz="2400" b="1">
                <a:solidFill>
                  <a:srgbClr val="FF0000"/>
                </a:solidFill>
                <a:ea typeface="+mn-lt"/>
                <a:cs typeface="+mn-lt"/>
              </a:rPr>
              <a:t>0.54 *Rd *ISS</a:t>
            </a:r>
          </a:p>
          <a:p>
            <a:pPr marL="0" indent="0">
              <a:buNone/>
            </a:pPr>
            <a:r>
              <a:rPr lang="en-US" sz="2400" b="1">
                <a:solidFill>
                  <a:srgbClr val="FF0000"/>
                </a:solidFill>
                <a:ea typeface="+mn-lt"/>
                <a:cs typeface="+mn-lt"/>
              </a:rPr>
              <a:t>Things to observe:</a:t>
            </a:r>
          </a:p>
          <a:p>
            <a:pPr marL="0" indent="0">
              <a:buNone/>
            </a:pPr>
            <a:r>
              <a:rPr lang="en-US" sz="2400">
                <a:ea typeface="+mn-lt"/>
                <a:cs typeface="+mn-lt"/>
              </a:rPr>
              <a:t>1. </a:t>
            </a:r>
            <a:r>
              <a:rPr lang="en-US" sz="2400" u="sng">
                <a:ea typeface="+mn-lt"/>
                <a:cs typeface="+mn-lt"/>
              </a:rPr>
              <a:t>VCM doesn’t change.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ea typeface="+mn-lt"/>
                <a:cs typeface="+mn-lt"/>
              </a:rPr>
              <a:t>VCM = VDD - (Rd*ISS)/2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ea typeface="+mn-lt"/>
                <a:cs typeface="+mn-lt"/>
              </a:rPr>
              <a:t>Balanced Resistors on both sides give the same voltage drop across them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ea typeface="+mn-lt"/>
                <a:cs typeface="+mn-lt"/>
              </a:rPr>
              <a:t>Vx=Vy</a:t>
            </a:r>
            <a:r>
              <a:rPr lang="en-US" sz="2000">
                <a:ea typeface="+mn-lt"/>
                <a:cs typeface="+mn-lt"/>
              </a:rPr>
              <a:t>  </a:t>
            </a:r>
            <a:endParaRPr lang="en-US"/>
          </a:p>
          <a:p>
            <a:pPr marL="0" indent="0">
              <a:buNone/>
            </a:pPr>
            <a:r>
              <a:rPr lang="en-US" sz="2400">
                <a:ea typeface="+mn-lt"/>
                <a:cs typeface="+mn-lt"/>
              </a:rPr>
              <a:t>2. </a:t>
            </a:r>
            <a:r>
              <a:rPr lang="en-US" sz="2400" u="sng">
                <a:ea typeface="+mn-lt"/>
                <a:cs typeface="+mn-lt"/>
              </a:rPr>
              <a:t>Increase N-stages to reach full swing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ea typeface="+mn-lt"/>
                <a:cs typeface="+mn-lt"/>
              </a:rPr>
              <a:t>More N-stages slows down transitions : better pull/push towards VDD.</a:t>
            </a:r>
          </a:p>
          <a:p>
            <a:pPr marL="0" indent="0">
              <a:buNone/>
            </a:pPr>
            <a:r>
              <a:rPr lang="en-US" sz="2400">
                <a:ea typeface="+mn-lt"/>
                <a:cs typeface="+mn-lt"/>
              </a:rPr>
              <a:t>3. </a:t>
            </a:r>
            <a:r>
              <a:rPr lang="en-US" sz="2400" u="sng">
                <a:ea typeface="+mn-lt"/>
                <a:cs typeface="+mn-lt"/>
              </a:rPr>
              <a:t>Small signal estimate of T0 still valid for large signal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b="1">
                <a:ea typeface="+mn-lt"/>
                <a:cs typeface="+mn-lt"/>
              </a:rPr>
              <a:t>ω0 = √3 / (Rd*CL)</a:t>
            </a:r>
            <a:r>
              <a:rPr lang="en-US">
                <a:ea typeface="+mn-lt"/>
                <a:cs typeface="+mn-lt"/>
              </a:rPr>
              <a:t> ;  Is based on 60-degree phase shift and is required.</a:t>
            </a:r>
          </a:p>
        </p:txBody>
      </p:sp>
      <p:pic>
        <p:nvPicPr>
          <p:cNvPr id="4" name="Picture 3" descr="A diagram of a circuit&#10;&#10;AI-generated content may be incorrect.">
            <a:extLst>
              <a:ext uri="{FF2B5EF4-FFF2-40B4-BE49-F238E27FC236}">
                <a16:creationId xmlns:a16="http://schemas.microsoft.com/office/drawing/2014/main" id="{22E267D0-9E17-71D7-3229-8B5A81B8DE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20791" y="346944"/>
            <a:ext cx="2171700" cy="136207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6488698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D34C5E-BD58-7429-019B-5890670DA7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0984"/>
            <a:ext cx="10515600" cy="6654376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 algn="ctr">
              <a:buNone/>
            </a:pPr>
            <a:r>
              <a:rPr lang="en-US" sz="2400" b="1"/>
              <a:t>Sample circuit and Simulation results</a:t>
            </a:r>
            <a:endParaRPr lang="en-US" sz="2400"/>
          </a:p>
          <a:p>
            <a:pPr marL="0" indent="0" algn="just">
              <a:buNone/>
            </a:pPr>
            <a:r>
              <a:rPr lang="en-US" sz="2400" b="1"/>
              <a:t>Specs: </a:t>
            </a:r>
          </a:p>
          <a:p>
            <a:pPr marL="342900" indent="-342900" algn="just"/>
            <a:r>
              <a:rPr lang="en-US" sz="2400"/>
              <a:t>ISS=100uA, Rd = </a:t>
            </a:r>
            <a:r>
              <a:rPr lang="en-US" sz="2400">
                <a:ea typeface="+mn-lt"/>
                <a:cs typeface="+mn-lt"/>
              </a:rPr>
              <a:t>6 </a:t>
            </a:r>
            <a:r>
              <a:rPr lang="en-US" sz="2400" err="1">
                <a:ea typeface="+mn-lt"/>
                <a:cs typeface="+mn-lt"/>
              </a:rPr>
              <a:t>kΩ</a:t>
            </a:r>
            <a:endParaRPr lang="en-US" sz="2400"/>
          </a:p>
          <a:p>
            <a:pPr marL="800100" lvl="1" indent="-342900" algn="just">
              <a:buFont typeface="Courier New" panose="020B0604020202020204" pitchFamily="34" charset="0"/>
              <a:buChar char="o"/>
            </a:pPr>
            <a:r>
              <a:rPr lang="en-US">
                <a:ea typeface="+mn-lt"/>
                <a:cs typeface="+mn-lt"/>
              </a:rPr>
              <a:t> Expected swing = 0.54·ISS·Rd ≈ </a:t>
            </a:r>
            <a:r>
              <a:rPr lang="en-US" b="1">
                <a:ea typeface="+mn-lt"/>
                <a:cs typeface="+mn-lt"/>
              </a:rPr>
              <a:t>320 mV.</a:t>
            </a:r>
            <a:endParaRPr lang="en-US" b="1"/>
          </a:p>
          <a:p>
            <a:pPr marL="342900" indent="-342900" algn="just"/>
            <a:r>
              <a:rPr lang="en-US" sz="2400">
                <a:ea typeface="+mn-lt"/>
                <a:cs typeface="+mn-lt"/>
              </a:rPr>
              <a:t>W/L = 400 nm / 40 nm : Ensures </a:t>
            </a:r>
            <a:r>
              <a:rPr lang="en-US" sz="2400" b="1" err="1">
                <a:ea typeface="+mn-lt"/>
                <a:cs typeface="+mn-lt"/>
              </a:rPr>
              <a:t>gmRd</a:t>
            </a:r>
            <a:r>
              <a:rPr lang="en-US" sz="2400" b="1">
                <a:ea typeface="+mn-lt"/>
                <a:cs typeface="+mn-lt"/>
              </a:rPr>
              <a:t> ≥ 2</a:t>
            </a:r>
            <a:r>
              <a:rPr lang="en-US" sz="2400">
                <a:ea typeface="+mn-lt"/>
                <a:cs typeface="+mn-lt"/>
              </a:rPr>
              <a:t> for startup.</a:t>
            </a:r>
            <a:endParaRPr lang="en-US" sz="2400"/>
          </a:p>
          <a:p>
            <a:pPr marL="342900" indent="-342900" algn="just"/>
            <a:r>
              <a:rPr lang="en-US" sz="2400">
                <a:ea typeface="+mn-lt"/>
                <a:cs typeface="+mn-lt"/>
              </a:rPr>
              <a:t>Process corner: </a:t>
            </a:r>
            <a:r>
              <a:rPr lang="en-US" sz="2400" b="1">
                <a:ea typeface="+mn-lt"/>
                <a:cs typeface="+mn-lt"/>
              </a:rPr>
              <a:t>Slow-Slow </a:t>
            </a:r>
            <a:r>
              <a:rPr lang="en-US" sz="2400">
                <a:ea typeface="+mn-lt"/>
                <a:cs typeface="+mn-lt"/>
              </a:rPr>
              <a:t>; 75 °C ; VDD=0.95V ; CL= 0.6fF.</a:t>
            </a:r>
            <a:endParaRPr lang="en-US" sz="2400"/>
          </a:p>
          <a:p>
            <a:pPr marL="0" indent="0" algn="just">
              <a:buNone/>
            </a:pPr>
            <a:r>
              <a:rPr lang="en-US" sz="2400" b="1">
                <a:solidFill>
                  <a:srgbClr val="FF0000"/>
                </a:solidFill>
              </a:rPr>
              <a:t>Results:</a:t>
            </a:r>
            <a:endParaRPr lang="en-US" sz="2400">
              <a:solidFill>
                <a:srgbClr val="FF0000"/>
              </a:solidFill>
            </a:endParaRPr>
          </a:p>
          <a:p>
            <a:pPr marL="342900" indent="-342900" algn="just"/>
            <a:r>
              <a:rPr lang="en-US" sz="2400">
                <a:ea typeface="+mn-lt"/>
                <a:cs typeface="+mn-lt"/>
              </a:rPr>
              <a:t>Single-ended swing: Only ~</a:t>
            </a:r>
            <a:r>
              <a:rPr lang="en-US" sz="2400" b="1">
                <a:ea typeface="+mn-lt"/>
                <a:cs typeface="+mn-lt"/>
              </a:rPr>
              <a:t>150 mV </a:t>
            </a:r>
            <a:r>
              <a:rPr lang="en-US" sz="2400">
                <a:ea typeface="+mn-lt"/>
                <a:cs typeface="+mn-lt"/>
              </a:rPr>
              <a:t>(≈ 0.25*ISS*Rd)</a:t>
            </a:r>
          </a:p>
          <a:p>
            <a:pPr marL="800100" lvl="1" indent="-342900" algn="just">
              <a:buFont typeface="Courier New" panose="020B0604020202020204" pitchFamily="34" charset="0"/>
              <a:buChar char="o"/>
            </a:pPr>
            <a:r>
              <a:rPr lang="en-US">
                <a:ea typeface="+mn-lt"/>
                <a:cs typeface="+mn-lt"/>
              </a:rPr>
              <a:t>Less than expected due to: </a:t>
            </a:r>
            <a:endParaRPr lang="en-US" b="1">
              <a:ea typeface="+mn-lt"/>
              <a:cs typeface="+mn-lt"/>
            </a:endParaRPr>
          </a:p>
          <a:p>
            <a:pPr marL="1257300" lvl="2" indent="-342900" algn="just">
              <a:buFont typeface="Wingdings" panose="020B0604020202020204" pitchFamily="34" charset="0"/>
              <a:buChar char="§"/>
            </a:pPr>
            <a:r>
              <a:rPr lang="en-US" sz="2400">
                <a:ea typeface="+mn-lt"/>
                <a:cs typeface="+mn-lt"/>
              </a:rPr>
              <a:t>Short loop delay (faster transitions).</a:t>
            </a:r>
            <a:endParaRPr lang="en-US" sz="2400"/>
          </a:p>
          <a:p>
            <a:pPr marL="1257300" lvl="2" indent="-342900">
              <a:buFont typeface="Wingdings" panose="020B0604020202020204" pitchFamily="34" charset="0"/>
              <a:buChar char="§"/>
            </a:pPr>
            <a:r>
              <a:rPr lang="en-US" sz="2400">
                <a:ea typeface="+mn-lt"/>
                <a:cs typeface="+mn-lt"/>
              </a:rPr>
              <a:t>Incomplete current steering (ID1, ID2  swing from </a:t>
            </a:r>
            <a:r>
              <a:rPr lang="en-US" sz="2400" b="1">
                <a:ea typeface="+mn-lt"/>
                <a:cs typeface="+mn-lt"/>
              </a:rPr>
              <a:t>30 µA to 70 µA</a:t>
            </a:r>
            <a:r>
              <a:rPr lang="en-US" sz="2400">
                <a:ea typeface="+mn-lt"/>
                <a:cs typeface="+mn-lt"/>
              </a:rPr>
              <a:t>).</a:t>
            </a:r>
          </a:p>
          <a:p>
            <a:pPr marL="342900" indent="-342900"/>
            <a:r>
              <a:rPr lang="en-US" sz="2400">
                <a:ea typeface="+mn-lt"/>
                <a:cs typeface="+mn-lt"/>
              </a:rPr>
              <a:t>Oscillation frequency: 42 GHz (2x faster than inverter-based rings).</a:t>
            </a:r>
          </a:p>
          <a:p>
            <a:pPr marL="342900" indent="-342900"/>
            <a:r>
              <a:rPr lang="en-US" sz="2400">
                <a:ea typeface="+mn-lt"/>
                <a:cs typeface="+mn-lt"/>
              </a:rPr>
              <a:t>Tail node voltage (</a:t>
            </a:r>
            <a:r>
              <a:rPr lang="en-US" sz="2400" err="1">
                <a:ea typeface="+mn-lt"/>
                <a:cs typeface="+mn-lt"/>
              </a:rPr>
              <a:t>Vp</a:t>
            </a:r>
            <a:r>
              <a:rPr lang="en-US" sz="2400">
                <a:ea typeface="+mn-lt"/>
                <a:cs typeface="+mn-lt"/>
              </a:rPr>
              <a:t>) =</a:t>
            </a:r>
            <a:r>
              <a:rPr lang="en-US" sz="2400" b="1">
                <a:ea typeface="+mn-lt"/>
                <a:cs typeface="+mn-lt"/>
              </a:rPr>
              <a:t> 80 mV is low</a:t>
            </a:r>
          </a:p>
          <a:p>
            <a:pPr marL="800100" lvl="1" indent="-342900">
              <a:buFont typeface="Courier New" panose="020B0604020202020204" pitchFamily="34" charset="0"/>
              <a:buChar char="o"/>
            </a:pPr>
            <a:r>
              <a:rPr lang="en-US">
                <a:ea typeface="+mn-lt"/>
                <a:cs typeface="+mn-lt"/>
              </a:rPr>
              <a:t>Low due to large transistor </a:t>
            </a:r>
            <a:r>
              <a:rPr lang="en-US">
                <a:solidFill>
                  <a:srgbClr val="FF0000"/>
                </a:solidFill>
                <a:ea typeface="+mn-lt"/>
                <a:cs typeface="+mn-lt"/>
              </a:rPr>
              <a:t>overdrive</a:t>
            </a:r>
            <a:r>
              <a:rPr lang="en-US">
                <a:ea typeface="+mn-lt"/>
                <a:cs typeface="+mn-lt"/>
              </a:rPr>
              <a:t> (</a:t>
            </a:r>
            <a:r>
              <a:rPr lang="en-US" err="1">
                <a:ea typeface="+mn-lt"/>
                <a:cs typeface="+mn-lt"/>
              </a:rPr>
              <a:t>Vgs</a:t>
            </a:r>
            <a:r>
              <a:rPr lang="en-US">
                <a:ea typeface="+mn-lt"/>
                <a:cs typeface="+mn-lt"/>
              </a:rPr>
              <a:t>- Vth = 0.3V).</a:t>
            </a:r>
          </a:p>
          <a:p>
            <a:pPr marL="800100" lvl="1" indent="-342900">
              <a:buFont typeface="Courier New" panose="020B0604020202020204" pitchFamily="34" charset="0"/>
              <a:buChar char="o"/>
            </a:pPr>
            <a:r>
              <a:rPr lang="en-US">
                <a:ea typeface="+mn-lt"/>
                <a:cs typeface="+mn-lt"/>
              </a:rPr>
              <a:t>Leaving limited </a:t>
            </a:r>
            <a:r>
              <a:rPr lang="en-US">
                <a:solidFill>
                  <a:srgbClr val="FF0000"/>
                </a:solidFill>
                <a:ea typeface="+mn-lt"/>
                <a:cs typeface="+mn-lt"/>
              </a:rPr>
              <a:t>Headroom</a:t>
            </a:r>
            <a:r>
              <a:rPr lang="en-US">
                <a:ea typeface="+mn-lt"/>
                <a:cs typeface="+mn-lt"/>
              </a:rPr>
              <a:t> for tail current source (= VDD-</a:t>
            </a:r>
            <a:r>
              <a:rPr lang="en-US" err="1">
                <a:ea typeface="+mn-lt"/>
                <a:cs typeface="+mn-lt"/>
              </a:rPr>
              <a:t>Vp</a:t>
            </a:r>
            <a:r>
              <a:rPr lang="en-US">
                <a:ea typeface="+mn-lt"/>
                <a:cs typeface="+mn-lt"/>
              </a:rPr>
              <a:t> = 0.87V).</a:t>
            </a:r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F383FDAB-91AA-E1A7-885B-0FF46404C8A6}"/>
              </a:ext>
            </a:extLst>
          </p:cNvPr>
          <p:cNvGrpSpPr/>
          <p:nvPr/>
        </p:nvGrpSpPr>
        <p:grpSpPr>
          <a:xfrm>
            <a:off x="9083436" y="633682"/>
            <a:ext cx="2838452" cy="3380657"/>
            <a:chOff x="8724002" y="562384"/>
            <a:chExt cx="3082866" cy="3581351"/>
          </a:xfrm>
        </p:grpSpPr>
        <p:pic>
          <p:nvPicPr>
            <p:cNvPr id="4" name="Picture 3" descr="A graph of a voltage&#10;&#10;AI-generated content may be incorrect.">
              <a:extLst>
                <a:ext uri="{FF2B5EF4-FFF2-40B4-BE49-F238E27FC236}">
                  <a16:creationId xmlns:a16="http://schemas.microsoft.com/office/drawing/2014/main" id="{3E34B6CE-FD0F-C985-A703-0D026688213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724002" y="1707851"/>
              <a:ext cx="3082866" cy="2435884"/>
            </a:xfrm>
            <a:prstGeom prst="rect">
              <a:avLst/>
            </a:prstGeom>
            <a:ln>
              <a:noFill/>
            </a:ln>
            <a:effectLst>
              <a:outerShdw blurRad="190500" algn="tl" rotWithShape="0">
                <a:srgbClr val="000000">
                  <a:alpha val="70000"/>
                </a:srgbClr>
              </a:outerShdw>
            </a:effectLst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D0947AB2-B884-8EBB-D4FE-E8E6141AAD7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846102" y="562384"/>
              <a:ext cx="2820299" cy="946750"/>
            </a:xfrm>
            <a:prstGeom prst="rect">
              <a:avLst/>
            </a:prstGeom>
            <a:ln>
              <a:noFill/>
            </a:ln>
            <a:effectLst>
              <a:outerShdw blurRad="190500" algn="tl" rotWithShape="0">
                <a:srgbClr val="000000">
                  <a:alpha val="70000"/>
                </a:srgbClr>
              </a:outerShdw>
            </a:effectLst>
          </p:spPr>
        </p:pic>
      </p:grpSp>
    </p:spTree>
    <p:extLst>
      <p:ext uri="{BB962C8B-B14F-4D97-AF65-F5344CB8AC3E}">
        <p14:creationId xmlns:p14="http://schemas.microsoft.com/office/powerpoint/2010/main" val="19323051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8B7B35-1936-6CF4-5AC9-75F8EA9DCD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78694"/>
            <a:ext cx="10515600" cy="603348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400" b="1"/>
              <a:t>Phase noise Analysis</a:t>
            </a:r>
          </a:p>
          <a:p>
            <a:pPr marL="342900" indent="-342900"/>
            <a:r>
              <a:rPr lang="en-US" sz="2400" u="sng">
                <a:ea typeface="+mn-lt"/>
                <a:cs typeface="+mn-lt"/>
              </a:rPr>
              <a:t>Flicker noise</a:t>
            </a:r>
            <a:r>
              <a:rPr lang="en-US" sz="2400">
                <a:ea typeface="+mn-lt"/>
                <a:cs typeface="+mn-lt"/>
              </a:rPr>
              <a:t> dominant &lt; 1 MHz</a:t>
            </a:r>
            <a:r>
              <a:rPr lang="en-US" sz="2400" b="1">
                <a:ea typeface="+mn-lt"/>
                <a:cs typeface="+mn-lt"/>
              </a:rPr>
              <a:t>:</a:t>
            </a:r>
          </a:p>
          <a:p>
            <a:pPr marL="800100" lvl="1" indent="-342900">
              <a:buFont typeface="Courier New" panose="020B0604020202020204" pitchFamily="34" charset="0"/>
              <a:buChar char="o"/>
            </a:pPr>
            <a:r>
              <a:rPr lang="en-US" b="1">
                <a:ea typeface="+mn-lt"/>
                <a:cs typeface="+mn-lt"/>
              </a:rPr>
              <a:t>26 dB drop</a:t>
            </a:r>
            <a:r>
              <a:rPr lang="en-US">
                <a:ea typeface="+mn-lt"/>
                <a:cs typeface="+mn-lt"/>
              </a:rPr>
              <a:t> from 100 kHz to 1 MHz</a:t>
            </a:r>
            <a:endParaRPr lang="en-US" b="1">
              <a:ea typeface="+mn-lt"/>
              <a:cs typeface="+mn-lt"/>
            </a:endParaRPr>
          </a:p>
          <a:p>
            <a:pPr marL="342900" indent="-342900"/>
            <a:r>
              <a:rPr lang="en-US" sz="2400" u="sng">
                <a:ea typeface="+mn-lt"/>
                <a:cs typeface="+mn-lt"/>
              </a:rPr>
              <a:t>Thermal noise</a:t>
            </a:r>
            <a:r>
              <a:rPr lang="en-US" sz="2400">
                <a:ea typeface="+mn-lt"/>
                <a:cs typeface="+mn-lt"/>
              </a:rPr>
              <a:t> dominates at 100 MHz:</a:t>
            </a:r>
          </a:p>
          <a:p>
            <a:pPr marL="800100" lvl="1">
              <a:buFont typeface="Courier New" panose="020B0604020202020204" pitchFamily="34" charset="0"/>
              <a:buChar char="o"/>
            </a:pPr>
            <a:r>
              <a:rPr lang="en-US">
                <a:ea typeface="+mn-lt"/>
                <a:cs typeface="+mn-lt"/>
              </a:rPr>
              <a:t>Theoretical </a:t>
            </a:r>
            <a:r>
              <a:rPr lang="en-US" err="1">
                <a:ea typeface="+mn-lt"/>
                <a:cs typeface="+mn-lt"/>
              </a:rPr>
              <a:t>Sφn</a:t>
            </a:r>
            <a:r>
              <a:rPr lang="en-US">
                <a:ea typeface="+mn-lt"/>
                <a:cs typeface="+mn-lt"/>
              </a:rPr>
              <a:t> ≈ −99.5 dBc/Hz</a:t>
            </a:r>
          </a:p>
          <a:p>
            <a:pPr marL="800100" lvl="1">
              <a:buFont typeface="Courier New" panose="020B0604020202020204" pitchFamily="34" charset="0"/>
              <a:buChar char="o"/>
            </a:pPr>
            <a:r>
              <a:rPr lang="en-US">
                <a:ea typeface="+mn-lt"/>
                <a:cs typeface="+mn-lt"/>
              </a:rPr>
              <a:t>Simulated </a:t>
            </a:r>
            <a:r>
              <a:rPr lang="en-US" err="1">
                <a:ea typeface="+mn-lt"/>
                <a:cs typeface="+mn-lt"/>
              </a:rPr>
              <a:t>Sφn</a:t>
            </a:r>
            <a:r>
              <a:rPr lang="en-US">
                <a:ea typeface="+mn-lt"/>
                <a:cs typeface="+mn-lt"/>
              </a:rPr>
              <a:t>  ≈</a:t>
            </a:r>
            <a:r>
              <a:rPr lang="en-US" b="1">
                <a:ea typeface="+mn-lt"/>
                <a:cs typeface="+mn-lt"/>
              </a:rPr>
              <a:t> −90 </a:t>
            </a:r>
            <a:r>
              <a:rPr lang="en-US" b="1" err="1">
                <a:ea typeface="+mn-lt"/>
                <a:cs typeface="+mn-lt"/>
              </a:rPr>
              <a:t>dBc</a:t>
            </a:r>
            <a:r>
              <a:rPr lang="en-US" b="1">
                <a:ea typeface="+mn-lt"/>
                <a:cs typeface="+mn-lt"/>
              </a:rPr>
              <a:t>/Hz :  </a:t>
            </a:r>
            <a:r>
              <a:rPr lang="en-US">
                <a:ea typeface="+mn-lt"/>
                <a:cs typeface="+mn-lt"/>
              </a:rPr>
              <a:t>worse due to </a:t>
            </a:r>
            <a:r>
              <a:rPr lang="en-US" b="1">
                <a:ea typeface="+mn-lt"/>
                <a:cs typeface="+mn-lt"/>
              </a:rPr>
              <a:t>incomplete switching</a:t>
            </a:r>
          </a:p>
          <a:p>
            <a:pPr marL="1257300" lvl="2">
              <a:buFont typeface="Wingdings" panose="020B0604020202020204" pitchFamily="34" charset="0"/>
              <a:buChar char="§"/>
            </a:pPr>
            <a:r>
              <a:rPr lang="en-US" sz="2400"/>
              <a:t>Ideal derivation assumes full swing.</a:t>
            </a:r>
          </a:p>
          <a:p>
            <a:pPr marL="342900" indent="-342900"/>
            <a:r>
              <a:rPr lang="en-US" sz="2400" u="sng">
                <a:ea typeface="+mn-lt"/>
                <a:cs typeface="+mn-lt"/>
              </a:rPr>
              <a:t>Low 1/f </a:t>
            </a:r>
            <a:r>
              <a:rPr lang="en-US" sz="2400" u="sng" err="1">
                <a:solidFill>
                  <a:srgbClr val="FF0000"/>
                </a:solidFill>
                <a:ea typeface="+mn-lt"/>
                <a:cs typeface="+mn-lt"/>
              </a:rPr>
              <a:t>upconversion</a:t>
            </a:r>
            <a:r>
              <a:rPr lang="en-US" sz="2400">
                <a:ea typeface="+mn-lt"/>
                <a:cs typeface="+mn-lt"/>
              </a:rPr>
              <a:t> due to : </a:t>
            </a:r>
            <a:endParaRPr lang="en-US" sz="3200">
              <a:ea typeface="+mn-lt"/>
              <a:cs typeface="+mn-lt"/>
            </a:endParaRPr>
          </a:p>
          <a:p>
            <a:pPr marL="800100" lvl="1" indent="-342900">
              <a:buFont typeface="Courier New" panose="020B0604020202020204" pitchFamily="34" charset="0"/>
              <a:buChar char="o"/>
            </a:pPr>
            <a:r>
              <a:rPr lang="en-US"/>
              <a:t>Small swing</a:t>
            </a:r>
          </a:p>
          <a:p>
            <a:pPr marL="800100" lvl="1" indent="-342900">
              <a:buFont typeface="Courier New" panose="020B0604020202020204" pitchFamily="34" charset="0"/>
              <a:buChar char="o"/>
            </a:pPr>
            <a:r>
              <a:rPr lang="en-US"/>
              <a:t>Large </a:t>
            </a:r>
            <a:r>
              <a:rPr lang="en-US" err="1"/>
              <a:t>Vgs</a:t>
            </a:r>
            <a:r>
              <a:rPr lang="en-US"/>
              <a:t>-Vth (overdrive) </a:t>
            </a:r>
          </a:p>
          <a:p>
            <a:pPr marL="800100" lvl="1" indent="-342900">
              <a:buFont typeface="Courier New" panose="020B0604020202020204" pitchFamily="34" charset="0"/>
              <a:buChar char="o"/>
            </a:pPr>
            <a:r>
              <a:rPr lang="en-US"/>
              <a:t>2nd harmonic in Vx and Vy is –</a:t>
            </a:r>
            <a:r>
              <a:rPr lang="en-US" b="1"/>
              <a:t>37dB </a:t>
            </a:r>
            <a:r>
              <a:rPr lang="en-US" i="1"/>
              <a:t>(is low and good!)</a:t>
            </a:r>
          </a:p>
          <a:p>
            <a:pPr marL="457200" lvl="1" indent="0">
              <a:buNone/>
            </a:pPr>
            <a:endParaRPr lang="en-US" b="1">
              <a:solidFill>
                <a:srgbClr val="000000"/>
              </a:solidFill>
            </a:endParaRPr>
          </a:p>
          <a:p>
            <a:pPr marL="0" indent="0">
              <a:buNone/>
            </a:pPr>
            <a:endParaRPr lang="en-US" sz="2400" b="1"/>
          </a:p>
          <a:p>
            <a:pPr marL="0" indent="0">
              <a:buNone/>
            </a:pPr>
            <a:endParaRPr lang="en-US" sz="2400" b="1"/>
          </a:p>
          <a:p>
            <a:pPr marL="457200" lvl="1" indent="0">
              <a:buNone/>
            </a:pPr>
            <a:endParaRPr lang="en-US" b="1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3EE96C9B-BD6C-9F16-DCEA-58F5E0ADCA21}"/>
              </a:ext>
            </a:extLst>
          </p:cNvPr>
          <p:cNvGrpSpPr/>
          <p:nvPr/>
        </p:nvGrpSpPr>
        <p:grpSpPr>
          <a:xfrm>
            <a:off x="8011604" y="364509"/>
            <a:ext cx="2926153" cy="1879692"/>
            <a:chOff x="7795943" y="278245"/>
            <a:chExt cx="3285586" cy="2296635"/>
          </a:xfrm>
        </p:grpSpPr>
        <p:pic>
          <p:nvPicPr>
            <p:cNvPr id="4" name="Picture 3" descr="A graph of a frequency&#10;&#10;AI-generated content may be incorrect.">
              <a:extLst>
                <a:ext uri="{FF2B5EF4-FFF2-40B4-BE49-F238E27FC236}">
                  <a16:creationId xmlns:a16="http://schemas.microsoft.com/office/drawing/2014/main" id="{7E6F72E6-8E43-3B94-4A8F-F233B94E406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795943" y="278245"/>
              <a:ext cx="3285586" cy="2296635"/>
            </a:xfrm>
            <a:prstGeom prst="rect">
              <a:avLst/>
            </a:prstGeom>
            <a:ln>
              <a:noFill/>
            </a:ln>
            <a:effectLst>
              <a:outerShdw blurRad="190500" algn="tl" rotWithShape="0">
                <a:srgbClr val="000000">
                  <a:alpha val="70000"/>
                </a:srgbClr>
              </a:outerShdw>
            </a:effectLst>
          </p:spPr>
        </p:pic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AE152F90-417B-4CEE-AAAD-3C73D1EE7038}"/>
                </a:ext>
              </a:extLst>
            </p:cNvPr>
            <p:cNvSpPr/>
            <p:nvPr/>
          </p:nvSpPr>
          <p:spPr>
            <a:xfrm>
              <a:off x="8388131" y="491059"/>
              <a:ext cx="922129" cy="1679202"/>
            </a:xfrm>
            <a:prstGeom prst="roundRect">
              <a:avLst/>
            </a:prstGeom>
            <a:noFill/>
            <a:ln w="28575">
              <a:solidFill>
                <a:srgbClr val="FF0000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8405998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3218EB-569E-B9D4-B20D-6798F0C23C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8686"/>
            <a:ext cx="10515600" cy="1325563"/>
          </a:xfrm>
        </p:spPr>
        <p:txBody>
          <a:bodyPr/>
          <a:lstStyle/>
          <a:p>
            <a:br>
              <a:rPr lang="en-US" b="1"/>
            </a:br>
            <a:r>
              <a:rPr lang="en-US" b="1"/>
              <a:t>Design Improvements.</a:t>
            </a:r>
            <a:endParaRPr lang="en-US"/>
          </a:p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7F944C-2DA2-E248-0482-272071D291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06757"/>
            <a:ext cx="10515600" cy="541526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400" b="1"/>
              <a:t>Performance comparison between differential ring and single-ended: </a:t>
            </a:r>
          </a:p>
          <a:p>
            <a:pPr marL="0" indent="0">
              <a:buNone/>
            </a:pPr>
            <a:endParaRPr lang="en-US" sz="2400" b="1"/>
          </a:p>
          <a:p>
            <a:pPr marL="0" indent="0">
              <a:buNone/>
            </a:pPr>
            <a:endParaRPr lang="en-US" sz="2400" b="1"/>
          </a:p>
          <a:p>
            <a:pPr marL="0" indent="0">
              <a:buNone/>
            </a:pPr>
            <a:endParaRPr lang="en-US" sz="2400" b="1"/>
          </a:p>
          <a:p>
            <a:pPr marL="0" indent="0">
              <a:buNone/>
            </a:pPr>
            <a:endParaRPr lang="en-US" sz="2400" b="1"/>
          </a:p>
          <a:p>
            <a:pPr marL="0" indent="0">
              <a:buNone/>
            </a:pPr>
            <a:endParaRPr lang="en-US" sz="2400" b="1"/>
          </a:p>
          <a:p>
            <a:pPr marL="0" indent="0">
              <a:buNone/>
            </a:pPr>
            <a:endParaRPr lang="en-US" sz="2400" b="1"/>
          </a:p>
          <a:p>
            <a:pPr marL="0" indent="0">
              <a:buNone/>
            </a:pPr>
            <a:endParaRPr lang="en-US" sz="2400" b="1"/>
          </a:p>
          <a:p>
            <a:pPr marL="342900" indent="-342900"/>
            <a:r>
              <a:rPr lang="en-US" sz="2400"/>
              <a:t>Differential rings have </a:t>
            </a:r>
            <a:r>
              <a:rPr lang="en-US" sz="2400" u="sng"/>
              <a:t>high power consumption</a:t>
            </a:r>
            <a:r>
              <a:rPr lang="en-US" sz="2400"/>
              <a:t> and</a:t>
            </a:r>
            <a:r>
              <a:rPr lang="en-US" sz="2400" u="sng"/>
              <a:t> higher phase noise</a:t>
            </a:r>
            <a:r>
              <a:rPr lang="en-US" sz="2400"/>
              <a:t> but produce a </a:t>
            </a:r>
            <a:r>
              <a:rPr lang="en-US" sz="2400" u="sng"/>
              <a:t>higher oscillation frequency.</a:t>
            </a:r>
            <a:r>
              <a:rPr lang="en-US" sz="2400"/>
              <a:t> </a:t>
            </a:r>
          </a:p>
          <a:p>
            <a:pPr marL="342900" indent="-342900"/>
            <a:r>
              <a:rPr lang="en-US" sz="2400"/>
              <a:t>We modify the circuit to get :- better headroom for ISS and complete switching. 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54BE242-DC32-2C7B-424D-0DCEA2080B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8673"/>
              </p:ext>
            </p:extLst>
          </p:nvPr>
        </p:nvGraphicFramePr>
        <p:xfrm>
          <a:off x="1365848" y="1710905"/>
          <a:ext cx="9463364" cy="265176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4731682">
                  <a:extLst>
                    <a:ext uri="{9D8B030D-6E8A-4147-A177-3AD203B41FA5}">
                      <a16:colId xmlns:a16="http://schemas.microsoft.com/office/drawing/2014/main" val="2548323765"/>
                    </a:ext>
                  </a:extLst>
                </a:gridCol>
                <a:gridCol w="4731682">
                  <a:extLst>
                    <a:ext uri="{9D8B030D-6E8A-4147-A177-3AD203B41FA5}">
                      <a16:colId xmlns:a16="http://schemas.microsoft.com/office/drawing/2014/main" val="2631719884"/>
                    </a:ext>
                  </a:extLst>
                </a:gridCol>
              </a:tblGrid>
              <a:tr h="430615">
                <a:tc>
                  <a:txBody>
                    <a:bodyPr/>
                    <a:lstStyle/>
                    <a:p>
                      <a:pPr algn="ctr"/>
                      <a:r>
                        <a:rPr lang="en-US" sz="2400"/>
                        <a:t>Differential 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/>
                        <a:t>Single-ended ring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4963178"/>
                  </a:ext>
                </a:extLst>
              </a:tr>
              <a:tr h="430615">
                <a:tc>
                  <a:txBody>
                    <a:bodyPr/>
                    <a:lstStyle/>
                    <a:p>
                      <a:pPr marL="285750" indent="-285750">
                        <a:buFont typeface="Arial"/>
                        <a:buChar char="•"/>
                      </a:pPr>
                      <a:r>
                        <a:rPr lang="en-US" sz="2400"/>
                        <a:t>Fosc = 42GHz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/>
                        <a:buChar char="•"/>
                      </a:pPr>
                      <a:r>
                        <a:rPr lang="en-US" sz="2400" err="1"/>
                        <a:t>Fosc</a:t>
                      </a:r>
                      <a:r>
                        <a:rPr lang="en-US" sz="2400"/>
                        <a:t> = 22.6GHz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9322153"/>
                  </a:ext>
                </a:extLst>
              </a:tr>
              <a:tr h="782935">
                <a:tc>
                  <a:txBody>
                    <a:bodyPr/>
                    <a:lstStyle/>
                    <a:p>
                      <a:pPr marL="285750" indent="-285750">
                        <a:buFont typeface="Arial"/>
                        <a:buChar char="•"/>
                      </a:pPr>
                      <a:r>
                        <a:rPr lang="en-US" sz="2400"/>
                        <a:t>Thermal noise at 100MHz= -90dBc/Hz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/>
                        <a:buChar char="•"/>
                      </a:pPr>
                      <a:r>
                        <a:rPr lang="en-US" sz="2400"/>
                        <a:t>Thermal noise at 100Mhz = -104dBc/Hz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6947945"/>
                  </a:ext>
                </a:extLst>
              </a:tr>
              <a:tr h="430615">
                <a:tc>
                  <a:txBody>
                    <a:bodyPr/>
                    <a:lstStyle/>
                    <a:p>
                      <a:pPr marL="342900" indent="-342900">
                        <a:buFont typeface="Arial"/>
                        <a:buChar char="•"/>
                      </a:pPr>
                      <a:r>
                        <a:rPr lang="en-US" sz="2400"/>
                        <a:t>Power = 285uW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indent="-342900">
                        <a:buFont typeface="Arial"/>
                        <a:buChar char="•"/>
                      </a:pPr>
                      <a:r>
                        <a:rPr lang="en-US" sz="2400"/>
                        <a:t>Power= 57uW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8441012"/>
                  </a:ext>
                </a:extLst>
              </a:tr>
              <a:tr h="430615">
                <a:tc>
                  <a:txBody>
                    <a:bodyPr/>
                    <a:lstStyle/>
                    <a:p>
                      <a:pPr marL="342900" indent="-342900">
                        <a:buFont typeface="Arial"/>
                        <a:buChar char="•"/>
                      </a:pPr>
                      <a:r>
                        <a:rPr lang="en-US" sz="2400"/>
                        <a:t>FOM = less comparatively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indent="-342900">
                        <a:buFont typeface="Arial"/>
                        <a:buChar char="•"/>
                      </a:pPr>
                      <a:r>
                        <a:rPr lang="en-US" sz="2400"/>
                        <a:t>FOM = 15.6dB better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96272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414541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F41347-1164-AFFE-0F36-404AB3F3C6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56608"/>
            <a:ext cx="10799735" cy="6133641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400" b="1" u="sng">
                <a:solidFill>
                  <a:srgbClr val="FF0000"/>
                </a:solidFill>
              </a:rPr>
              <a:t>Improvement 1</a:t>
            </a:r>
            <a:r>
              <a:rPr lang="en-US" sz="2400" b="1" u="sng"/>
              <a:t>: </a:t>
            </a:r>
            <a:r>
              <a:rPr lang="en-US" sz="2400" u="sng"/>
              <a:t>Increase the widt</a:t>
            </a:r>
            <a:r>
              <a:rPr lang="en-US" sz="2400"/>
              <a:t>h (double them to improve current steering).</a:t>
            </a:r>
          </a:p>
          <a:p>
            <a:pPr marL="342900" indent="-342900"/>
            <a:r>
              <a:rPr lang="en-US" sz="2400"/>
              <a:t>W/L = 800nm/40nm</a:t>
            </a:r>
          </a:p>
          <a:p>
            <a:pPr marL="342900" indent="-342900"/>
            <a:r>
              <a:rPr lang="en-US" sz="2400" b="1">
                <a:ea typeface="+mn-lt"/>
                <a:cs typeface="+mn-lt"/>
              </a:rPr>
              <a:t>Results</a:t>
            </a:r>
            <a:r>
              <a:rPr lang="en-US" sz="2400">
                <a:ea typeface="+mn-lt"/>
                <a:cs typeface="+mn-lt"/>
              </a:rPr>
              <a:t>:</a:t>
            </a:r>
            <a:endParaRPr lang="en-US" sz="2400"/>
          </a:p>
          <a:p>
            <a:pPr marL="800100" lvl="1" indent="-342900">
              <a:buFont typeface="Courier New" panose="020B0604020202020204" pitchFamily="34" charset="0"/>
              <a:buChar char="o"/>
            </a:pPr>
            <a:r>
              <a:rPr lang="en-US">
                <a:ea typeface="+mn-lt"/>
                <a:cs typeface="+mn-lt"/>
              </a:rPr>
              <a:t>Drain swing increases to </a:t>
            </a:r>
            <a:r>
              <a:rPr lang="en-US" b="1">
                <a:ea typeface="+mn-lt"/>
                <a:cs typeface="+mn-lt"/>
              </a:rPr>
              <a:t>250 mV </a:t>
            </a:r>
            <a:r>
              <a:rPr lang="en-US">
                <a:ea typeface="+mn-lt"/>
                <a:cs typeface="+mn-lt"/>
              </a:rPr>
              <a:t>(from 150mVpp).</a:t>
            </a:r>
          </a:p>
          <a:p>
            <a:pPr marL="800100" lvl="1" indent="-342900">
              <a:buFont typeface="Courier New" panose="020B0604020202020204" pitchFamily="34" charset="0"/>
              <a:buChar char="o"/>
            </a:pPr>
            <a:r>
              <a:rPr lang="en-US">
                <a:ea typeface="+mn-lt"/>
                <a:cs typeface="+mn-lt"/>
              </a:rPr>
              <a:t>Tail current swings from </a:t>
            </a:r>
            <a:r>
              <a:rPr lang="en-US" b="1">
                <a:ea typeface="+mn-lt"/>
                <a:cs typeface="+mn-lt"/>
              </a:rPr>
              <a:t>17.5 µA to 87 µA</a:t>
            </a:r>
            <a:r>
              <a:rPr lang="en-US">
                <a:ea typeface="+mn-lt"/>
                <a:cs typeface="+mn-lt"/>
              </a:rPr>
              <a:t>.</a:t>
            </a:r>
            <a:endParaRPr lang="en-US"/>
          </a:p>
          <a:p>
            <a:pPr marL="800100" lvl="1" indent="-342900">
              <a:buFont typeface="Courier New" panose="020B0604020202020204" pitchFamily="34" charset="0"/>
              <a:buChar char="o"/>
            </a:pPr>
            <a:r>
              <a:rPr lang="en-US">
                <a:ea typeface="+mn-lt"/>
                <a:cs typeface="+mn-lt"/>
              </a:rPr>
              <a:t>Frequency decreases to </a:t>
            </a:r>
            <a:r>
              <a:rPr lang="en-US" b="1">
                <a:ea typeface="+mn-lt"/>
                <a:cs typeface="+mn-lt"/>
              </a:rPr>
              <a:t>31.3 GHz.</a:t>
            </a:r>
            <a:endParaRPr lang="en-US" sz="2400" b="1"/>
          </a:p>
          <a:p>
            <a:pPr marL="800100" lvl="1" indent="-342900">
              <a:buFont typeface="Courier New" panose="020B0604020202020204" pitchFamily="34" charset="0"/>
              <a:buChar char="o"/>
            </a:pPr>
            <a:r>
              <a:rPr lang="en-US">
                <a:ea typeface="+mn-lt"/>
                <a:cs typeface="+mn-lt"/>
              </a:rPr>
              <a:t>Tail voltage swing increases : </a:t>
            </a:r>
            <a:r>
              <a:rPr lang="en-US" b="1" err="1">
                <a:ea typeface="+mn-lt"/>
                <a:cs typeface="+mn-lt"/>
              </a:rPr>
              <a:t>Vp</a:t>
            </a:r>
            <a:r>
              <a:rPr lang="en-US" b="1">
                <a:ea typeface="+mn-lt"/>
                <a:cs typeface="+mn-lt"/>
              </a:rPr>
              <a:t> peak-to-peak is 35mV</a:t>
            </a:r>
          </a:p>
          <a:p>
            <a:pPr marL="800100" lvl="1" indent="-342900">
              <a:buFont typeface="Courier New" panose="020B0604020202020204" pitchFamily="34" charset="0"/>
              <a:buChar char="o"/>
            </a:pPr>
            <a:r>
              <a:rPr lang="en-US">
                <a:ea typeface="+mn-lt"/>
                <a:cs typeface="+mn-lt"/>
              </a:rPr>
              <a:t>Leading to higher </a:t>
            </a:r>
            <a:r>
              <a:rPr lang="en-US" u="sng">
                <a:ea typeface="+mn-lt"/>
                <a:cs typeface="+mn-lt"/>
              </a:rPr>
              <a:t>2f0 curren</a:t>
            </a:r>
            <a:r>
              <a:rPr lang="en-US">
                <a:ea typeface="+mn-lt"/>
                <a:cs typeface="+mn-lt"/>
              </a:rPr>
              <a:t>t due to tail capacitance = </a:t>
            </a:r>
            <a:r>
              <a:rPr lang="en-US" b="1">
                <a:ea typeface="+mn-lt"/>
                <a:cs typeface="+mn-lt"/>
              </a:rPr>
              <a:t>−23 </a:t>
            </a:r>
            <a:r>
              <a:rPr lang="en-US" b="1" err="1">
                <a:ea typeface="+mn-lt"/>
                <a:cs typeface="+mn-lt"/>
              </a:rPr>
              <a:t>dB.</a:t>
            </a:r>
            <a:endParaRPr lang="en-US" sz="2400" b="1" err="1"/>
          </a:p>
          <a:p>
            <a:pPr marL="342900" indent="-342900"/>
            <a:r>
              <a:rPr lang="en-US" sz="2400" b="1">
                <a:ea typeface="+mn-lt"/>
                <a:cs typeface="+mn-lt"/>
              </a:rPr>
              <a:t>Phase Noise:</a:t>
            </a:r>
            <a:endParaRPr lang="en-US" sz="2400" b="1"/>
          </a:p>
          <a:p>
            <a:pPr marL="800100" lvl="1" indent="-342900">
              <a:buFont typeface="Courier New" panose="020B0604020202020204" pitchFamily="34" charset="0"/>
              <a:buChar char="o"/>
            </a:pPr>
            <a:r>
              <a:rPr lang="en-US">
                <a:ea typeface="+mn-lt"/>
                <a:cs typeface="+mn-lt"/>
              </a:rPr>
              <a:t>Expected drop at 100 MHz: ~7 dB, </a:t>
            </a:r>
            <a:r>
              <a:rPr lang="en-US" b="1">
                <a:ea typeface="+mn-lt"/>
                <a:cs typeface="+mn-lt"/>
              </a:rPr>
              <a:t>actual drop: 8 </a:t>
            </a:r>
            <a:r>
              <a:rPr lang="en-US" b="1" err="1">
                <a:ea typeface="+mn-lt"/>
                <a:cs typeface="+mn-lt"/>
              </a:rPr>
              <a:t>dB.</a:t>
            </a:r>
            <a:endParaRPr lang="en-US" b="1" err="1"/>
          </a:p>
          <a:p>
            <a:pPr marL="800100" lvl="1" indent="-342900">
              <a:buFont typeface="Courier New" panose="020B0604020202020204" pitchFamily="34" charset="0"/>
              <a:buChar char="o"/>
            </a:pPr>
            <a:r>
              <a:rPr lang="en-US">
                <a:ea typeface="+mn-lt"/>
                <a:cs typeface="+mn-lt"/>
              </a:rPr>
              <a:t>When overdrive voltage = 220 mV</a:t>
            </a:r>
            <a:endParaRPr lang="en-US" b="1">
              <a:ea typeface="+mn-lt"/>
              <a:cs typeface="+mn-lt"/>
            </a:endParaRPr>
          </a:p>
          <a:p>
            <a:pPr marL="1257300" lvl="2" indent="-342900">
              <a:buFont typeface="Wingdings" panose="020B0604020202020204" pitchFamily="34" charset="0"/>
              <a:buChar char="§"/>
            </a:pPr>
            <a:r>
              <a:rPr lang="en-US" sz="2400">
                <a:ea typeface="+mn-lt"/>
                <a:cs typeface="+mn-lt"/>
              </a:rPr>
              <a:t>Theoretical phase noise = −101 </a:t>
            </a:r>
            <a:r>
              <a:rPr lang="en-US" sz="2400" err="1">
                <a:ea typeface="+mn-lt"/>
                <a:cs typeface="+mn-lt"/>
              </a:rPr>
              <a:t>dBc</a:t>
            </a:r>
            <a:r>
              <a:rPr lang="en-US" sz="2400">
                <a:ea typeface="+mn-lt"/>
                <a:cs typeface="+mn-lt"/>
              </a:rPr>
              <a:t>/Hz. </a:t>
            </a:r>
            <a:endParaRPr lang="en-US" sz="2400" b="1"/>
          </a:p>
          <a:p>
            <a:pPr marL="1257300" lvl="2" indent="-342900">
              <a:buFont typeface="Wingdings" panose="020B0604020202020204" pitchFamily="34" charset="0"/>
              <a:buChar char="§"/>
            </a:pPr>
            <a:r>
              <a:rPr lang="en-US" sz="2400"/>
              <a:t>4dB lower than simulated. </a:t>
            </a:r>
            <a:r>
              <a:rPr lang="en-US" sz="2400" b="1"/>
              <a:t>Actual= -97dBc/Hz</a:t>
            </a:r>
          </a:p>
          <a:p>
            <a:pPr marL="457200" lvl="1" indent="0" algn="ctr">
              <a:buNone/>
            </a:pPr>
            <a:r>
              <a:rPr lang="en-US" i="1" u="sng"/>
              <a:t>Due to asymmetry and 2nd harmonics, Flicker noise </a:t>
            </a:r>
            <a:r>
              <a:rPr lang="en-US" i="1" u="sng" err="1"/>
              <a:t>upconversion</a:t>
            </a:r>
            <a:r>
              <a:rPr lang="en-US" i="1" u="sng"/>
              <a:t> increases.</a:t>
            </a:r>
            <a:endParaRPr lang="en-US" sz="2400" i="1" u="sng"/>
          </a:p>
          <a:p>
            <a:pPr marL="800100" lvl="1" indent="-342900">
              <a:buFont typeface="Courier New" panose="020B0604020202020204" pitchFamily="34" charset="0"/>
              <a:buChar char="o"/>
            </a:pPr>
            <a:endParaRPr lang="en-US" sz="2400" b="1"/>
          </a:p>
          <a:p>
            <a:pPr marL="342900" indent="-342900"/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17876556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E45037-2DD5-8F9F-E653-F3C2D1DDDB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1219"/>
            <a:ext cx="10515600" cy="643069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400" b="1" u="sng">
                <a:solidFill>
                  <a:srgbClr val="FF0000"/>
                </a:solidFill>
                <a:ea typeface="+mn-lt"/>
                <a:cs typeface="+mn-lt"/>
              </a:rPr>
              <a:t>Improvement 2</a:t>
            </a:r>
            <a:r>
              <a:rPr lang="en-US" sz="2400" b="1" u="sng">
                <a:ea typeface="+mn-lt"/>
                <a:cs typeface="+mn-lt"/>
              </a:rPr>
              <a:t> – </a:t>
            </a:r>
            <a:r>
              <a:rPr lang="en-US" sz="2400" u="sng">
                <a:ea typeface="+mn-lt"/>
                <a:cs typeface="+mn-lt"/>
              </a:rPr>
              <a:t>Again, double</a:t>
            </a:r>
            <a:r>
              <a:rPr lang="en-US" sz="2400">
                <a:ea typeface="+mn-lt"/>
                <a:cs typeface="+mn-lt"/>
              </a:rPr>
              <a:t> transistor size to enhance switching.</a:t>
            </a:r>
          </a:p>
          <a:p>
            <a:pPr marL="342900" indent="-342900"/>
            <a:r>
              <a:rPr lang="en-US" sz="2400">
                <a:ea typeface="+mn-lt"/>
                <a:cs typeface="+mn-lt"/>
              </a:rPr>
              <a:t>W/L = 1600nm/40nm</a:t>
            </a:r>
          </a:p>
          <a:p>
            <a:pPr marL="342900" indent="-342900"/>
            <a:r>
              <a:rPr lang="en-US" sz="2400" b="1">
                <a:ea typeface="+mn-lt"/>
                <a:cs typeface="+mn-lt"/>
              </a:rPr>
              <a:t>Results</a:t>
            </a:r>
            <a:r>
              <a:rPr lang="en-US" sz="2400">
                <a:ea typeface="+mn-lt"/>
                <a:cs typeface="+mn-lt"/>
              </a:rPr>
              <a:t>: </a:t>
            </a:r>
          </a:p>
          <a:p>
            <a:pPr marL="800100" lvl="1" indent="-342900">
              <a:buFont typeface="Courier New" panose="020B0604020202020204" pitchFamily="34" charset="0"/>
              <a:buChar char="o"/>
            </a:pPr>
            <a:r>
              <a:rPr lang="en-US">
                <a:ea typeface="+mn-lt"/>
                <a:cs typeface="+mn-lt"/>
              </a:rPr>
              <a:t>Swing increases to </a:t>
            </a:r>
            <a:r>
              <a:rPr lang="en-US" b="1">
                <a:ea typeface="+mn-lt"/>
                <a:cs typeface="+mn-lt"/>
              </a:rPr>
              <a:t>270 </a:t>
            </a:r>
            <a:r>
              <a:rPr lang="en-US" b="1" err="1">
                <a:ea typeface="+mn-lt"/>
                <a:cs typeface="+mn-lt"/>
              </a:rPr>
              <a:t>mVpp</a:t>
            </a:r>
            <a:r>
              <a:rPr lang="en-US" b="1">
                <a:ea typeface="+mn-lt"/>
                <a:cs typeface="+mn-lt"/>
              </a:rPr>
              <a:t> </a:t>
            </a:r>
            <a:r>
              <a:rPr lang="en-US">
                <a:ea typeface="+mn-lt"/>
                <a:cs typeface="+mn-lt"/>
              </a:rPr>
              <a:t>(from 250mVpp). </a:t>
            </a:r>
            <a:r>
              <a:rPr lang="en-US" i="1">
                <a:ea typeface="+mn-lt"/>
                <a:cs typeface="+mn-lt"/>
              </a:rPr>
              <a:t>Closer to 0.54*ISS*Rd.</a:t>
            </a:r>
          </a:p>
          <a:p>
            <a:pPr marL="800100" lvl="1" indent="-342900">
              <a:buFont typeface="Courier New" panose="020B0604020202020204" pitchFamily="34" charset="0"/>
              <a:buChar char="o"/>
            </a:pPr>
            <a:r>
              <a:rPr lang="en-US">
                <a:ea typeface="+mn-lt"/>
                <a:cs typeface="+mn-lt"/>
              </a:rPr>
              <a:t>Frequency decreases to </a:t>
            </a:r>
            <a:r>
              <a:rPr lang="en-US" b="1">
                <a:ea typeface="+mn-lt"/>
                <a:cs typeface="+mn-lt"/>
              </a:rPr>
              <a:t>20.8 GHz</a:t>
            </a:r>
            <a:r>
              <a:rPr lang="en-US">
                <a:ea typeface="+mn-lt"/>
                <a:cs typeface="+mn-lt"/>
              </a:rPr>
              <a:t>. (from 31.3GHz)</a:t>
            </a:r>
          </a:p>
          <a:p>
            <a:pPr marL="800100" lvl="1" indent="-342900">
              <a:buFont typeface="Courier New" panose="020B0604020202020204" pitchFamily="34" charset="0"/>
              <a:buChar char="o"/>
            </a:pPr>
            <a:r>
              <a:rPr lang="en-US">
                <a:ea typeface="+mn-lt"/>
                <a:cs typeface="+mn-lt"/>
              </a:rPr>
              <a:t> Larger Voltage swing increases 2nd harmonic </a:t>
            </a:r>
            <a:r>
              <a:rPr lang="en-US" b="1">
                <a:ea typeface="+mn-lt"/>
                <a:cs typeface="+mn-lt"/>
              </a:rPr>
              <a:t>−19 </a:t>
            </a:r>
            <a:r>
              <a:rPr lang="en-US" b="1" err="1">
                <a:ea typeface="+mn-lt"/>
                <a:cs typeface="+mn-lt"/>
              </a:rPr>
              <a:t>dB.</a:t>
            </a:r>
            <a:endParaRPr lang="en-US" b="1">
              <a:ea typeface="+mn-lt"/>
              <a:cs typeface="+mn-lt"/>
            </a:endParaRPr>
          </a:p>
          <a:p>
            <a:pPr marL="800100" lvl="1" indent="-342900">
              <a:buFont typeface="Courier New" panose="020B0604020202020204" pitchFamily="34" charset="0"/>
              <a:buChar char="o"/>
            </a:pPr>
            <a:r>
              <a:rPr lang="en-US">
                <a:ea typeface="+mn-lt"/>
                <a:cs typeface="+mn-lt"/>
              </a:rPr>
              <a:t>Rise/fall times: </a:t>
            </a:r>
            <a:r>
              <a:rPr lang="en-US" b="1">
                <a:ea typeface="+mn-lt"/>
                <a:cs typeface="+mn-lt"/>
              </a:rPr>
              <a:t>21 </a:t>
            </a:r>
            <a:r>
              <a:rPr lang="en-US" b="1" err="1">
                <a:ea typeface="+mn-lt"/>
                <a:cs typeface="+mn-lt"/>
              </a:rPr>
              <a:t>ps</a:t>
            </a:r>
            <a:r>
              <a:rPr lang="en-US" b="1">
                <a:ea typeface="+mn-lt"/>
                <a:cs typeface="+mn-lt"/>
              </a:rPr>
              <a:t> / 28 </a:t>
            </a:r>
            <a:r>
              <a:rPr lang="en-US" b="1" err="1">
                <a:ea typeface="+mn-lt"/>
                <a:cs typeface="+mn-lt"/>
              </a:rPr>
              <a:t>ps</a:t>
            </a:r>
            <a:r>
              <a:rPr lang="en-US">
                <a:ea typeface="+mn-lt"/>
                <a:cs typeface="+mn-lt"/>
              </a:rPr>
              <a:t> (still asymmetric).</a:t>
            </a:r>
            <a:endParaRPr lang="en-US"/>
          </a:p>
          <a:p>
            <a:r>
              <a:rPr lang="en-US" sz="2400" b="1">
                <a:ea typeface="+mn-lt"/>
                <a:cs typeface="+mn-lt"/>
              </a:rPr>
              <a:t>Phase Noise:</a:t>
            </a:r>
            <a:endParaRPr lang="en-US" sz="2400">
              <a:ea typeface="+mn-lt"/>
              <a:cs typeface="+mn-lt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ea typeface="+mn-lt"/>
                <a:cs typeface="+mn-lt"/>
              </a:rPr>
              <a:t>Thermal noise drop at 100 MHz: </a:t>
            </a:r>
            <a:r>
              <a:rPr lang="en-US" b="1">
                <a:ea typeface="+mn-lt"/>
                <a:cs typeface="+mn-lt"/>
              </a:rPr>
              <a:t>4.5 dB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sz="2400">
                <a:ea typeface="+mn-lt"/>
                <a:cs typeface="+mn-lt"/>
              </a:rPr>
              <a:t>(due to freq. &amp; swing increase ).</a:t>
            </a:r>
            <a:endParaRPr lang="en-US" sz="240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ea typeface="+mn-lt"/>
                <a:cs typeface="+mn-lt"/>
              </a:rPr>
              <a:t>Theoretical noise predicts = −103.7 </a:t>
            </a:r>
            <a:r>
              <a:rPr lang="en-US" err="1">
                <a:ea typeface="+mn-lt"/>
                <a:cs typeface="+mn-lt"/>
              </a:rPr>
              <a:t>dBc</a:t>
            </a:r>
            <a:r>
              <a:rPr lang="en-US">
                <a:ea typeface="+mn-lt"/>
                <a:cs typeface="+mn-lt"/>
              </a:rPr>
              <a:t>/Hz. </a:t>
            </a:r>
          </a:p>
          <a:p>
            <a:pPr lvl="2">
              <a:buFont typeface="Wingdings" panose="020B0604020202020204" pitchFamily="34" charset="0"/>
              <a:buChar char="§"/>
            </a:pPr>
            <a:r>
              <a:rPr lang="en-US" sz="2400" b="1">
                <a:ea typeface="+mn-lt"/>
                <a:cs typeface="+mn-lt"/>
              </a:rPr>
              <a:t>Actual : 1.2dB lower</a:t>
            </a:r>
            <a:r>
              <a:rPr lang="en-US" sz="2400">
                <a:ea typeface="+mn-lt"/>
                <a:cs typeface="+mn-lt"/>
              </a:rPr>
              <a:t> than expected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ea typeface="+mn-lt"/>
                <a:cs typeface="+mn-lt"/>
              </a:rPr>
              <a:t>Flicker noise reduction: </a:t>
            </a:r>
            <a:r>
              <a:rPr lang="en-US" b="1">
                <a:ea typeface="+mn-lt"/>
                <a:cs typeface="+mn-lt"/>
              </a:rPr>
              <a:t>only 6 dB</a:t>
            </a:r>
            <a:r>
              <a:rPr lang="en-US">
                <a:ea typeface="+mn-lt"/>
                <a:cs typeface="+mn-lt"/>
              </a:rPr>
              <a:t> (expected: 7.25 dB from area increase).</a:t>
            </a:r>
            <a:endParaRPr lang="en-US"/>
          </a:p>
          <a:p>
            <a:pPr lvl="2">
              <a:buFont typeface="Wingdings" panose="020B0604020202020204" pitchFamily="34" charset="0"/>
              <a:buChar char="§"/>
            </a:pPr>
            <a:r>
              <a:rPr lang="en-US" sz="2400"/>
              <a:t>Low Due to asymmetry and increased 2nd harmonics</a:t>
            </a:r>
          </a:p>
          <a:p>
            <a:pPr marL="0" indent="0" algn="ctr">
              <a:buNone/>
            </a:pPr>
            <a:r>
              <a:rPr lang="en-US" sz="2400" i="1" u="sng">
                <a:ea typeface="+mn-lt"/>
                <a:cs typeface="+mn-lt"/>
              </a:rPr>
              <a:t>Increase W to increase Swings and reduce thermal phase noise.</a:t>
            </a:r>
          </a:p>
          <a:p>
            <a:pPr marL="0" indent="0" algn="ctr">
              <a:buNone/>
            </a:pPr>
            <a:r>
              <a:rPr lang="en-US" sz="2400" i="1" u="sng">
                <a:ea typeface="+mn-lt"/>
                <a:cs typeface="+mn-lt"/>
              </a:rPr>
              <a:t>It reduces </a:t>
            </a:r>
            <a:r>
              <a:rPr lang="en-US" sz="2400" i="1" u="sng" err="1">
                <a:ea typeface="+mn-lt"/>
                <a:cs typeface="+mn-lt"/>
              </a:rPr>
              <a:t>Osc</a:t>
            </a:r>
            <a:r>
              <a:rPr lang="en-US" sz="2400" i="1" u="sng">
                <a:ea typeface="+mn-lt"/>
                <a:cs typeface="+mn-lt"/>
              </a:rPr>
              <a:t> Freq, increases 2nd harmonics, consumes more power.</a:t>
            </a:r>
          </a:p>
        </p:txBody>
      </p:sp>
    </p:spTree>
    <p:extLst>
      <p:ext uri="{BB962C8B-B14F-4D97-AF65-F5344CB8AC3E}">
        <p14:creationId xmlns:p14="http://schemas.microsoft.com/office/powerpoint/2010/main" val="36268399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9E5EB0-4A39-77F0-6DF3-83E73CC425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498"/>
            <a:ext cx="10515600" cy="1325563"/>
          </a:xfrm>
        </p:spPr>
        <p:txBody>
          <a:bodyPr/>
          <a:lstStyle/>
          <a:p>
            <a:br>
              <a:rPr lang="en-US" b="1"/>
            </a:br>
            <a:r>
              <a:rPr lang="en-US" b="1"/>
              <a:t>Methods for Obtaining Desired Frequency.</a:t>
            </a:r>
          </a:p>
          <a:p>
            <a:endParaRPr lang="en-US" b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7A2809-1EFA-8526-4283-CB3EFCF69C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41117"/>
            <a:ext cx="10515600" cy="537164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ctr">
              <a:buNone/>
            </a:pPr>
            <a:r>
              <a:rPr lang="en-US" sz="2400" i="1"/>
              <a:t>Aim is to produce oscillations of frequency 2GHz</a:t>
            </a:r>
            <a:endParaRPr lang="en-US" sz="2400"/>
          </a:p>
          <a:p>
            <a:pPr marL="0" indent="0">
              <a:buNone/>
            </a:pPr>
            <a:r>
              <a:rPr lang="en-US" sz="2400" b="1">
                <a:solidFill>
                  <a:srgbClr val="FF0000"/>
                </a:solidFill>
              </a:rPr>
              <a:t>1. Adding capacitance</a:t>
            </a:r>
          </a:p>
          <a:p>
            <a:pPr marL="342900" indent="-342900"/>
            <a:r>
              <a:rPr lang="en-US" sz="2400">
                <a:ea typeface="+mn-lt"/>
                <a:cs typeface="+mn-lt"/>
              </a:rPr>
              <a:t>Large external load capacitance (CL = 25 </a:t>
            </a:r>
            <a:r>
              <a:rPr lang="en-US" sz="2400" err="1">
                <a:ea typeface="+mn-lt"/>
                <a:cs typeface="+mn-lt"/>
              </a:rPr>
              <a:t>fF</a:t>
            </a:r>
            <a:r>
              <a:rPr lang="en-US" sz="2400">
                <a:ea typeface="+mn-lt"/>
                <a:cs typeface="+mn-lt"/>
              </a:rPr>
              <a:t>) is added to lower frequency.</a:t>
            </a:r>
            <a:endParaRPr lang="en-US" sz="2400"/>
          </a:p>
          <a:p>
            <a:pPr marL="342900" indent="-342900"/>
            <a:r>
              <a:rPr lang="en-US" sz="2400">
                <a:ea typeface="+mn-lt"/>
                <a:cs typeface="+mn-lt"/>
              </a:rPr>
              <a:t>This increases total node (X, Y) capacitance ; reduces f0, as per: </a:t>
            </a:r>
          </a:p>
          <a:p>
            <a:r>
              <a:rPr lang="en-US" sz="2400" b="1">
                <a:ea typeface="+mn-lt"/>
                <a:cs typeface="+mn-lt"/>
              </a:rPr>
              <a:t>Result:</a:t>
            </a:r>
            <a:endParaRPr lang="en-US" sz="2400" b="1"/>
          </a:p>
          <a:p>
            <a:pPr lvl="1"/>
            <a:r>
              <a:rPr lang="en-US">
                <a:ea typeface="+mn-lt"/>
                <a:cs typeface="+mn-lt"/>
              </a:rPr>
              <a:t>f0 drops to </a:t>
            </a:r>
            <a:r>
              <a:rPr lang="en-US" b="1"/>
              <a:t>2.14 GHz</a:t>
            </a:r>
            <a:r>
              <a:rPr lang="en-US"/>
              <a:t> from 20.89Ghz.</a:t>
            </a:r>
          </a:p>
          <a:p>
            <a:pPr lvl="1"/>
            <a:r>
              <a:rPr lang="en-US">
                <a:ea typeface="+mn-lt"/>
                <a:cs typeface="+mn-lt"/>
              </a:rPr>
              <a:t>Phase noise improves by</a:t>
            </a:r>
            <a:r>
              <a:rPr lang="en-US" b="1">
                <a:ea typeface="+mn-lt"/>
                <a:cs typeface="+mn-lt"/>
              </a:rPr>
              <a:t> ~18 dB </a:t>
            </a:r>
            <a:r>
              <a:rPr lang="en-US">
                <a:ea typeface="+mn-lt"/>
                <a:cs typeface="+mn-lt"/>
              </a:rPr>
              <a:t>(close to the expected 19.8 dB drop)</a:t>
            </a:r>
            <a:endParaRPr lang="en-US"/>
          </a:p>
          <a:p>
            <a:pPr lvl="1"/>
            <a:r>
              <a:rPr lang="en-US">
                <a:ea typeface="+mn-lt"/>
                <a:cs typeface="+mn-lt"/>
              </a:rPr>
              <a:t>Supply sensitivity improves to </a:t>
            </a:r>
            <a:r>
              <a:rPr lang="en-US" b="1">
                <a:ea typeface="+mn-lt"/>
                <a:cs typeface="+mn-lt"/>
              </a:rPr>
              <a:t>74 MHz/V</a:t>
            </a:r>
            <a:r>
              <a:rPr lang="en-US">
                <a:ea typeface="+mn-lt"/>
                <a:cs typeface="+mn-lt"/>
              </a:rPr>
              <a:t> (because CL dominates over nonlinear intrinsic capacitance C</a:t>
            </a:r>
            <a:r>
              <a:rPr lang="en-US" baseline="-25000">
                <a:ea typeface="+mn-lt"/>
                <a:cs typeface="+mn-lt"/>
              </a:rPr>
              <a:t>DB</a:t>
            </a:r>
            <a:r>
              <a:rPr lang="en-US">
                <a:ea typeface="+mn-lt"/>
                <a:cs typeface="+mn-lt"/>
              </a:rPr>
              <a:t>)</a:t>
            </a:r>
            <a:endParaRPr lang="en-US"/>
          </a:p>
          <a:p>
            <a:pPr marL="0" indent="0" algn="just">
              <a:buNone/>
            </a:pPr>
            <a:endParaRPr lang="en-US" sz="2400" i="1"/>
          </a:p>
          <a:p>
            <a:pPr marL="0" indent="0" algn="just">
              <a:buNone/>
            </a:pPr>
            <a:r>
              <a:rPr lang="en-US" sz="2400" i="1" u="sng"/>
              <a:t>Lower phase noise as oscillation frequency decreases.</a:t>
            </a:r>
            <a:endParaRPr lang="en-US" u="sng"/>
          </a:p>
          <a:p>
            <a:pPr marL="0" indent="0" algn="just">
              <a:buNone/>
            </a:pPr>
            <a:r>
              <a:rPr lang="en-US" sz="2400" i="1" u="sng"/>
              <a:t>Lower flicker noise as CL increases and </a:t>
            </a:r>
            <a:r>
              <a:rPr lang="en-US" sz="2400" i="1" u="sng" err="1"/>
              <a:t>Osc</a:t>
            </a:r>
            <a:r>
              <a:rPr lang="en-US" sz="2400" i="1" u="sng"/>
              <a:t>. </a:t>
            </a:r>
            <a:r>
              <a:rPr lang="en-US" sz="2400" i="1" u="sng" err="1"/>
              <a:t>freq</a:t>
            </a:r>
            <a:r>
              <a:rPr lang="en-US" sz="2400" i="1" u="sng"/>
              <a:t> decreases.</a:t>
            </a:r>
          </a:p>
          <a:p>
            <a:pPr marL="0" indent="0" algn="just">
              <a:buNone/>
            </a:pPr>
            <a:endParaRPr lang="en-US" sz="2400" b="1" i="1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E07D556-C9D8-8F66-9FD5-8CDB3AD781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1850" y="2519676"/>
            <a:ext cx="1283000" cy="64141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5" name="Picture 4" descr="A diagram of a circuit&#10;&#10;AI-generated content may be incorrect.">
            <a:extLst>
              <a:ext uri="{FF2B5EF4-FFF2-40B4-BE49-F238E27FC236}">
                <a16:creationId xmlns:a16="http://schemas.microsoft.com/office/drawing/2014/main" id="{3F5AE6DC-C5B4-555B-3CE4-74BB322EA7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7102" y="4648380"/>
            <a:ext cx="2882421" cy="170355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65381916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323870-A91F-40F1-692B-E8102C9F9F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53287"/>
            <a:ext cx="10515600" cy="619821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400" b="1">
                <a:solidFill>
                  <a:srgbClr val="FF0000"/>
                </a:solidFill>
              </a:rPr>
              <a:t>2</a:t>
            </a:r>
            <a:r>
              <a:rPr lang="en-US" sz="2400"/>
              <a:t>. </a:t>
            </a:r>
            <a:r>
              <a:rPr lang="en-US" sz="2400" b="1">
                <a:solidFill>
                  <a:srgbClr val="FF0000"/>
                </a:solidFill>
              </a:rPr>
              <a:t>Larger transistors : Increase width and length.</a:t>
            </a:r>
          </a:p>
          <a:p>
            <a:r>
              <a:rPr lang="en-US" sz="2400"/>
              <a:t>W/L increased: from 1600 nm/40 nm → 8 </a:t>
            </a:r>
            <a:r>
              <a:rPr lang="en-US" sz="2400" err="1"/>
              <a:t>μm</a:t>
            </a:r>
            <a:r>
              <a:rPr lang="en-US" sz="2400"/>
              <a:t>/240 nm</a:t>
            </a:r>
          </a:p>
          <a:p>
            <a:r>
              <a:rPr lang="en-US" sz="2400" b="1"/>
              <a:t>Result</a:t>
            </a:r>
            <a:r>
              <a:rPr lang="en-US" sz="2400"/>
              <a:t>: </a:t>
            </a:r>
            <a:endParaRPr lang="en-US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f0 drops to </a:t>
            </a:r>
            <a:r>
              <a:rPr lang="en-US" b="1"/>
              <a:t>2.27 GHz</a:t>
            </a:r>
            <a:r>
              <a:rPr lang="en-US"/>
              <a:t> from 20.89Ghz.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ea typeface="+mn-lt"/>
                <a:cs typeface="+mn-lt"/>
              </a:rPr>
              <a:t>Voltage swing increases to</a:t>
            </a:r>
            <a:r>
              <a:rPr lang="en-US" b="1">
                <a:ea typeface="+mn-lt"/>
                <a:cs typeface="+mn-lt"/>
              </a:rPr>
              <a:t> 360 mV</a:t>
            </a:r>
            <a:r>
              <a:rPr lang="en-US">
                <a:ea typeface="+mn-lt"/>
                <a:cs typeface="+mn-lt"/>
              </a:rPr>
              <a:t> from 270mV.</a:t>
            </a:r>
          </a:p>
          <a:p>
            <a:pPr lvl="2">
              <a:buFont typeface="Wingdings" panose="020B0604020202020204" pitchFamily="34" charset="0"/>
              <a:buChar char="§"/>
            </a:pPr>
            <a:r>
              <a:rPr lang="en-US" sz="2400">
                <a:ea typeface="+mn-lt"/>
                <a:cs typeface="+mn-lt"/>
              </a:rPr>
              <a:t>Due to complete switching producing full current steering. 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b="1">
                <a:ea typeface="+mn-lt"/>
                <a:cs typeface="+mn-lt"/>
              </a:rPr>
              <a:t>Phase noise improves:</a:t>
            </a:r>
            <a:endParaRPr lang="en-US">
              <a:ea typeface="+mn-lt"/>
              <a:cs typeface="+mn-lt"/>
            </a:endParaRPr>
          </a:p>
          <a:p>
            <a:pPr lvl="2">
              <a:buFont typeface="Wingdings" panose="020B0604020202020204" pitchFamily="34" charset="0"/>
              <a:buChar char="§"/>
            </a:pPr>
            <a:r>
              <a:rPr lang="en-US" sz="2400">
                <a:ea typeface="+mn-lt"/>
                <a:cs typeface="+mn-lt"/>
              </a:rPr>
              <a:t>100 MHz offset: decreases by </a:t>
            </a:r>
            <a:r>
              <a:rPr lang="en-US" sz="2400" b="1">
                <a:ea typeface="+mn-lt"/>
                <a:cs typeface="+mn-lt"/>
              </a:rPr>
              <a:t>21.5 dB</a:t>
            </a:r>
          </a:p>
          <a:p>
            <a:pPr lvl="2">
              <a:buFont typeface="Wingdings" panose="020B0604020202020204" pitchFamily="34" charset="0"/>
              <a:buChar char="§"/>
            </a:pPr>
            <a:r>
              <a:rPr lang="en-US" sz="2400">
                <a:ea typeface="+mn-lt"/>
                <a:cs typeface="+mn-lt"/>
              </a:rPr>
              <a:t>Flicker noise decreases by </a:t>
            </a:r>
            <a:r>
              <a:rPr lang="en-US" sz="2400" b="1">
                <a:ea typeface="+mn-lt"/>
                <a:cs typeface="+mn-lt"/>
              </a:rPr>
              <a:t> 6.8 dB</a:t>
            </a:r>
            <a:r>
              <a:rPr lang="en-US" sz="2400">
                <a:ea typeface="+mn-lt"/>
                <a:cs typeface="+mn-lt"/>
              </a:rPr>
              <a:t> : expected is 26dB. </a:t>
            </a:r>
            <a:endParaRPr lang="en-US" sz="2400"/>
          </a:p>
          <a:p>
            <a:pPr lvl="3">
              <a:buFont typeface="Wingdings,Sans-Serif" panose="020B0604020202020204" pitchFamily="34" charset="0"/>
              <a:buChar char="§"/>
            </a:pPr>
            <a:r>
              <a:rPr lang="en-US" sz="2400">
                <a:ea typeface="+mn-lt"/>
                <a:cs typeface="+mn-lt"/>
              </a:rPr>
              <a:t>Less than due to waveform asymmetry, rise of 2nd harmonics. 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ea typeface="+mn-lt"/>
                <a:cs typeface="+mn-lt"/>
              </a:rPr>
              <a:t>Supply sensitivity </a:t>
            </a:r>
            <a:r>
              <a:rPr lang="en-US" u="sng">
                <a:ea typeface="+mn-lt"/>
                <a:cs typeface="+mn-lt"/>
              </a:rPr>
              <a:t>worsens</a:t>
            </a:r>
            <a:r>
              <a:rPr lang="en-US">
                <a:ea typeface="+mn-lt"/>
                <a:cs typeface="+mn-lt"/>
              </a:rPr>
              <a:t>: </a:t>
            </a:r>
            <a:r>
              <a:rPr lang="en-US" b="1">
                <a:ea typeface="+mn-lt"/>
                <a:cs typeface="+mn-lt"/>
              </a:rPr>
              <a:t>228 MHz/V </a:t>
            </a:r>
            <a:br>
              <a:rPr lang="en-US">
                <a:ea typeface="+mn-lt"/>
                <a:cs typeface="+mn-lt"/>
              </a:rPr>
            </a:br>
            <a:r>
              <a:rPr lang="en-US">
                <a:ea typeface="+mn-lt"/>
                <a:cs typeface="+mn-lt"/>
              </a:rPr>
              <a:t>           - (It is worse because larger transistors → bigger parasitic caps)</a:t>
            </a:r>
            <a:endParaRPr lang="en-US"/>
          </a:p>
          <a:p>
            <a:pPr marL="457200" lvl="1" indent="0">
              <a:buNone/>
            </a:pPr>
            <a:endParaRPr lang="en-US">
              <a:ea typeface="+mn-lt"/>
              <a:cs typeface="+mn-lt"/>
            </a:endParaRPr>
          </a:p>
          <a:p>
            <a:pPr marL="457200" lvl="1" indent="0" algn="ctr">
              <a:buNone/>
            </a:pPr>
            <a:r>
              <a:rPr lang="en-US" i="1" u="sng">
                <a:ea typeface="+mn-lt"/>
                <a:cs typeface="+mn-lt"/>
              </a:rPr>
              <a:t>Larger Transistors are superior in phase noise but </a:t>
            </a:r>
            <a:r>
              <a:rPr lang="en-US" i="1" u="sng" err="1">
                <a:ea typeface="+mn-lt"/>
                <a:cs typeface="+mn-lt"/>
              </a:rPr>
              <a:t>KVdd</a:t>
            </a:r>
            <a:r>
              <a:rPr lang="en-US" i="1" u="sng">
                <a:ea typeface="+mn-lt"/>
                <a:cs typeface="+mn-lt"/>
              </a:rPr>
              <a:t> gets worse</a:t>
            </a:r>
            <a:endParaRPr lang="en-US" sz="2400" i="1" u="sng">
              <a:ea typeface="+mn-lt"/>
              <a:cs typeface="+mn-lt"/>
            </a:endParaRPr>
          </a:p>
          <a:p>
            <a:pPr marL="914400" lvl="2" indent="0" algn="ctr">
              <a:buNone/>
            </a:pPr>
            <a:r>
              <a:rPr lang="en-US" sz="2400" i="1" u="sng">
                <a:ea typeface="+mn-lt"/>
                <a:cs typeface="+mn-lt"/>
              </a:rPr>
              <a:t>Compared to 1</a:t>
            </a:r>
          </a:p>
        </p:txBody>
      </p:sp>
    </p:spTree>
    <p:extLst>
      <p:ext uri="{BB962C8B-B14F-4D97-AF65-F5344CB8AC3E}">
        <p14:creationId xmlns:p14="http://schemas.microsoft.com/office/powerpoint/2010/main" val="299184440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E5634B-F8DF-80C9-FBC1-A71EE30400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62880"/>
            <a:ext cx="11033184" cy="6598071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400" b="1">
                <a:solidFill>
                  <a:srgbClr val="FF0000"/>
                </a:solidFill>
              </a:rPr>
              <a:t>3. Greater No. Of stages</a:t>
            </a:r>
          </a:p>
          <a:p>
            <a:pPr marL="0" indent="0">
              <a:buNone/>
            </a:pPr>
            <a:r>
              <a:rPr lang="en-US" sz="2400" u="sng"/>
              <a:t>Two opposing trends: </a:t>
            </a:r>
          </a:p>
          <a:p>
            <a:pPr marL="457200" indent="-457200"/>
            <a:r>
              <a:rPr lang="en-US" sz="2400"/>
              <a:t>Higher N translates to Higher phase noise for constant power.</a:t>
            </a:r>
          </a:p>
          <a:p>
            <a:pPr marL="457200" indent="-457200"/>
            <a:r>
              <a:rPr lang="en-US" sz="2400"/>
              <a:t>Higher N : Larger swings but lowering normalized phase noise. </a:t>
            </a:r>
          </a:p>
          <a:p>
            <a:pPr algn="just">
              <a:buFont typeface="Arial"/>
              <a:buChar char="•"/>
            </a:pPr>
            <a:r>
              <a:rPr lang="en-US" sz="2400">
                <a:ea typeface="+mn-lt"/>
                <a:cs typeface="+mn-lt"/>
              </a:rPr>
              <a:t>The opposing trends mentioned above partly cancel each other out if N= 3 to 4</a:t>
            </a:r>
          </a:p>
          <a:p>
            <a:pPr marL="0" indent="0">
              <a:buNone/>
            </a:pPr>
            <a:r>
              <a:rPr lang="en-US" sz="2400">
                <a:ea typeface="+mn-lt"/>
                <a:cs typeface="+mn-lt"/>
              </a:rPr>
              <a:t>-  Transistor dimensions (W/L): </a:t>
            </a:r>
            <a:r>
              <a:rPr lang="en-US" sz="2400" b="1">
                <a:ea typeface="+mn-lt"/>
                <a:cs typeface="+mn-lt"/>
              </a:rPr>
              <a:t>4 µm / 240 nm</a:t>
            </a:r>
            <a:r>
              <a:rPr lang="en-US" sz="2400">
                <a:ea typeface="+mn-lt"/>
                <a:cs typeface="+mn-lt"/>
              </a:rPr>
              <a:t> and </a:t>
            </a:r>
            <a:r>
              <a:rPr lang="en-US" sz="2400" b="1">
                <a:ea typeface="+mn-lt"/>
                <a:cs typeface="+mn-lt"/>
              </a:rPr>
              <a:t>N=4 </a:t>
            </a:r>
            <a:endParaRPr lang="en-US" sz="2400"/>
          </a:p>
          <a:p>
            <a:pPr>
              <a:buFont typeface="Arial"/>
              <a:buChar char="•"/>
            </a:pPr>
            <a:r>
              <a:rPr lang="en-US" sz="2400" b="1"/>
              <a:t>Results</a:t>
            </a:r>
            <a:endParaRPr lang="en-US" sz="2400"/>
          </a:p>
          <a:p>
            <a:pPr lvl="1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Oscillation frequency (f₀): </a:t>
            </a:r>
            <a:r>
              <a:rPr lang="en-US" b="1">
                <a:ea typeface="+mn-lt"/>
                <a:cs typeface="+mn-lt"/>
              </a:rPr>
              <a:t>2.16 GHz</a:t>
            </a:r>
            <a:endParaRPr lang="en-US" b="1"/>
          </a:p>
          <a:p>
            <a:pPr lvl="1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Voltage swing (Vx, Vy):</a:t>
            </a:r>
            <a:r>
              <a:rPr lang="en-US" b="1">
                <a:ea typeface="+mn-lt"/>
                <a:cs typeface="+mn-lt"/>
              </a:rPr>
              <a:t> ~420 mV peak-to-peak</a:t>
            </a:r>
            <a:endParaRPr lang="en-US" b="1"/>
          </a:p>
          <a:p>
            <a:pPr lvl="1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Improved Supply sensitivity (</a:t>
            </a:r>
            <a:r>
              <a:rPr lang="en-US" err="1">
                <a:ea typeface="+mn-lt"/>
                <a:cs typeface="+mn-lt"/>
              </a:rPr>
              <a:t>KVdd</a:t>
            </a:r>
            <a:r>
              <a:rPr lang="en-US">
                <a:ea typeface="+mn-lt"/>
                <a:cs typeface="+mn-lt"/>
              </a:rPr>
              <a:t>): </a:t>
            </a:r>
            <a:r>
              <a:rPr lang="en-US" b="1">
                <a:ea typeface="+mn-lt"/>
                <a:cs typeface="+mn-lt"/>
              </a:rPr>
              <a:t>194 MHz/V</a:t>
            </a:r>
            <a:endParaRPr lang="en-US" b="1"/>
          </a:p>
          <a:p>
            <a:pPr lvl="1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Phase noise:</a:t>
            </a:r>
            <a:endParaRPr lang="en-US"/>
          </a:p>
          <a:p>
            <a:pPr lvl="2">
              <a:buFont typeface="Wingdings"/>
              <a:buChar char="§"/>
            </a:pPr>
            <a:r>
              <a:rPr lang="en-US" sz="2400" b="1">
                <a:ea typeface="+mn-lt"/>
                <a:cs typeface="+mn-lt"/>
              </a:rPr>
              <a:t>About 1 dB worse</a:t>
            </a:r>
            <a:r>
              <a:rPr lang="en-US" sz="2400">
                <a:ea typeface="+mn-lt"/>
                <a:cs typeface="+mn-lt"/>
              </a:rPr>
              <a:t> than large-transistor 3-stage design.</a:t>
            </a:r>
            <a:endParaRPr lang="en-US" sz="2400"/>
          </a:p>
          <a:p>
            <a:pPr marL="0" indent="0" algn="ctr">
              <a:buNone/>
            </a:pPr>
            <a:r>
              <a:rPr lang="en-US" sz="2400" i="1" u="sng"/>
              <a:t>Larger transistor case : have the best FOM </a:t>
            </a:r>
          </a:p>
          <a:p>
            <a:pPr marL="0" indent="0" algn="ctr">
              <a:buNone/>
            </a:pPr>
            <a:r>
              <a:rPr lang="en-US" sz="2400" i="1" u="sng"/>
              <a:t> 4-stage case : has More phases &amp; larger swings.</a:t>
            </a:r>
            <a:endParaRPr lang="en-US" i="1" u="sng"/>
          </a:p>
        </p:txBody>
      </p:sp>
    </p:spTree>
    <p:extLst>
      <p:ext uri="{BB962C8B-B14F-4D97-AF65-F5344CB8AC3E}">
        <p14:creationId xmlns:p14="http://schemas.microsoft.com/office/powerpoint/2010/main" val="49994997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B83806-300E-88FB-AD51-AD3D8F48AF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3CF2B6-D9F1-3B5A-2FF3-90DA7392C0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498"/>
            <a:ext cx="10515600" cy="1325563"/>
          </a:xfrm>
        </p:spPr>
        <p:txBody>
          <a:bodyPr/>
          <a:lstStyle/>
          <a:p>
            <a:br>
              <a:rPr lang="en-US" b="1"/>
            </a:br>
            <a:r>
              <a:rPr lang="en-US" b="1"/>
              <a:t>Two-Stage Ring Oscillators.</a:t>
            </a:r>
          </a:p>
          <a:p>
            <a:endParaRPr lang="en-US" b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77DB7F-DC41-237F-2DCC-54477E0E6B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92380"/>
            <a:ext cx="10655300" cy="5760504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2400" b="1"/>
              <a:t>Initial challenge: </a:t>
            </a:r>
          </a:p>
          <a:p>
            <a:pPr marL="342900" indent="-342900"/>
            <a:r>
              <a:rPr lang="en-US" sz="2400"/>
              <a:t>Two simple differential pairs cannot oscillate on their own. </a:t>
            </a:r>
          </a:p>
          <a:p>
            <a:pPr marL="342900" indent="-342900"/>
            <a:r>
              <a:rPr lang="en-US" sz="2400"/>
              <a:t>They provide only  2 poles and fail to provide 180 phase shift at any finite f.</a:t>
            </a:r>
          </a:p>
          <a:p>
            <a:pPr marL="0" indent="0">
              <a:buNone/>
            </a:pPr>
            <a:r>
              <a:rPr lang="en-US" sz="2400" b="1"/>
              <a:t>Proposed Solution: </a:t>
            </a:r>
            <a:r>
              <a:rPr lang="en-US" sz="2400" b="1">
                <a:solidFill>
                  <a:srgbClr val="FF0000"/>
                </a:solidFill>
              </a:rPr>
              <a:t>Negative resistance</a:t>
            </a:r>
            <a:r>
              <a:rPr lang="en-US" sz="2400" b="1"/>
              <a:t> concept: </a:t>
            </a:r>
          </a:p>
          <a:p>
            <a:pPr marL="342900" indent="-342900"/>
            <a:r>
              <a:rPr lang="en-US" sz="2400"/>
              <a:t>-Rp is connected from each o/p of the differential pair to the ground.</a:t>
            </a:r>
          </a:p>
          <a:p>
            <a:pPr marL="342900" indent="-342900"/>
            <a:r>
              <a:rPr lang="en-US" sz="2400"/>
              <a:t>This cancels loss and initiates oscillation.</a:t>
            </a:r>
          </a:p>
          <a:p>
            <a:pPr marL="342900" indent="-342900"/>
            <a:r>
              <a:rPr lang="en-US" sz="2400"/>
              <a:t>Each stage is a differential pair + negative resistance to ensure sufficient loop gain and phase shift.</a:t>
            </a:r>
          </a:p>
          <a:p>
            <a:pPr marL="342900" indent="-342900"/>
            <a:r>
              <a:rPr lang="en-US" sz="2400" u="sng">
                <a:solidFill>
                  <a:srgbClr val="FF0000"/>
                </a:solidFill>
              </a:rPr>
              <a:t>Loop gain for 2 stages</a:t>
            </a:r>
            <a:r>
              <a:rPr lang="en-US" sz="2400"/>
              <a:t> is square of gain of 1 stage :- </a:t>
            </a:r>
          </a:p>
          <a:p>
            <a:pPr marL="800100" lvl="1" indent="-342900">
              <a:buFont typeface="Courier New" panose="020B0604020202020204" pitchFamily="34" charset="0"/>
              <a:buChar char="o"/>
            </a:pPr>
            <a:r>
              <a:rPr lang="en-US"/>
              <a:t>Solving for s that makes H(s)=-1:</a:t>
            </a:r>
            <a:endParaRPr lang="en-US">
              <a:ea typeface="+mn-lt"/>
              <a:cs typeface="+mn-lt"/>
            </a:endParaRPr>
          </a:p>
          <a:p>
            <a:pPr marL="800100" lvl="1" indent="-342900">
              <a:buFont typeface="Courier New" panose="020B0604020202020204" pitchFamily="34" charset="0"/>
              <a:buChar char="o"/>
            </a:pPr>
            <a:r>
              <a:rPr lang="en-US" sz="2400">
                <a:ea typeface="+mn-lt"/>
                <a:cs typeface="+mn-lt"/>
              </a:rPr>
              <a:t>This means:</a:t>
            </a:r>
            <a:endParaRPr lang="en-US" b="1">
              <a:ea typeface="+mn-lt"/>
              <a:cs typeface="+mn-lt"/>
            </a:endParaRPr>
          </a:p>
          <a:p>
            <a:pPr marL="1257300" lvl="2">
              <a:buFont typeface="Wingdings" panose="020B0604020202020204" pitchFamily="34" charset="0"/>
              <a:buChar char="§"/>
            </a:pPr>
            <a:r>
              <a:rPr lang="en-US" sz="2400">
                <a:ea typeface="+mn-lt"/>
                <a:cs typeface="+mn-lt"/>
              </a:rPr>
              <a:t>Right-half-plane poles (i.e., unstable)</a:t>
            </a:r>
            <a:endParaRPr lang="en-US" sz="2400" b="1">
              <a:ea typeface="+mn-lt"/>
              <a:cs typeface="+mn-lt"/>
            </a:endParaRPr>
          </a:p>
          <a:p>
            <a:pPr marL="1257300" lvl="2">
              <a:buFont typeface="Wingdings" panose="020B0604020202020204" pitchFamily="34" charset="0"/>
              <a:buChar char="§"/>
            </a:pPr>
            <a:r>
              <a:rPr lang="en-US" sz="2400">
                <a:ea typeface="+mn-lt"/>
                <a:cs typeface="+mn-lt"/>
              </a:rPr>
              <a:t>The system naturally amplifies noise </a:t>
            </a:r>
            <a:endParaRPr lang="en-US" sz="2400" b="1">
              <a:ea typeface="+mn-lt"/>
              <a:cs typeface="+mn-lt"/>
            </a:endParaRPr>
          </a:p>
          <a:p>
            <a:pPr marL="1257300" lvl="2">
              <a:buFont typeface="Wingdings" panose="020B0604020202020204" pitchFamily="34" charset="0"/>
              <a:buChar char="§"/>
            </a:pPr>
            <a:r>
              <a:rPr lang="en-US" sz="2400">
                <a:ea typeface="+mn-lt"/>
                <a:cs typeface="+mn-lt"/>
              </a:rPr>
              <a:t>grows exponentially until nonlinearity (saturation) limits the amplitude.</a:t>
            </a:r>
            <a:endParaRPr lang="en-US" sz="2400" b="1"/>
          </a:p>
          <a:p>
            <a:pPr marL="800100" lvl="1" indent="-342900">
              <a:buFont typeface="Courier New" panose="020B0604020202020204" pitchFamily="34" charset="0"/>
              <a:buChar char="o"/>
            </a:pPr>
            <a:endParaRPr lang="en-US"/>
          </a:p>
        </p:txBody>
      </p:sp>
      <p:pic>
        <p:nvPicPr>
          <p:cNvPr id="4" name="Picture 3" descr="A diagram of a circuit&#10;&#10;AI-generated content may be incorrect.">
            <a:extLst>
              <a:ext uri="{FF2B5EF4-FFF2-40B4-BE49-F238E27FC236}">
                <a16:creationId xmlns:a16="http://schemas.microsoft.com/office/drawing/2014/main" id="{E74B6E92-3524-2A12-E690-340E06AED5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6376" y="363601"/>
            <a:ext cx="2610450" cy="146074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06D405E-DAFF-811B-9DB3-249B751701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1098" y="4158123"/>
            <a:ext cx="2382675" cy="59335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4B2B805-EE3C-8E99-29BA-EA4F2C8FDF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15744" y="4719298"/>
            <a:ext cx="1278674" cy="46282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89606348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3B9612-7645-9872-572D-D35FF0660F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59135"/>
            <a:ext cx="10515600" cy="643605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F0000"/>
                </a:solidFill>
                <a:ea typeface="+mn-lt"/>
                <a:cs typeface="+mn-lt"/>
              </a:rPr>
              <a:t>What does the circuit predict if (a) Rp = ∞, or (b) Rp = RD? </a:t>
            </a:r>
          </a:p>
          <a:p>
            <a:pPr marL="0" indent="0">
              <a:buNone/>
            </a:pPr>
            <a:r>
              <a:rPr lang="en-US" sz="2400" dirty="0">
                <a:ea typeface="+mn-lt"/>
                <a:cs typeface="+mn-lt"/>
              </a:rPr>
              <a:t>(a</a:t>
            </a:r>
            <a:r>
              <a:rPr lang="en-US" sz="2400" u="sng" dirty="0">
                <a:ea typeface="+mn-lt"/>
                <a:cs typeface="+mn-lt"/>
              </a:rPr>
              <a:t>) Rp = ∞: </a:t>
            </a:r>
            <a:endParaRPr lang="en-US" u="sng" dirty="0"/>
          </a:p>
          <a:p>
            <a:pPr marL="342900" indent="-342900"/>
            <a:r>
              <a:rPr lang="en-US" sz="2400" dirty="0">
                <a:ea typeface="+mn-lt"/>
                <a:cs typeface="+mn-lt"/>
              </a:rPr>
              <a:t>RL = (RD⋅∞ ) / (RD−∞) = −RD</a:t>
            </a:r>
          </a:p>
          <a:p>
            <a:pPr marL="342900" indent="-342900"/>
            <a:r>
              <a:rPr lang="en-US" sz="2400" dirty="0">
                <a:ea typeface="+mn-lt"/>
                <a:cs typeface="+mn-lt"/>
              </a:rPr>
              <a:t>Poles are in the </a:t>
            </a:r>
            <a:r>
              <a:rPr lang="en-US" sz="2400" b="1" dirty="0">
                <a:ea typeface="+mn-lt"/>
                <a:cs typeface="+mn-lt"/>
              </a:rPr>
              <a:t>left half plane</a:t>
            </a:r>
            <a:r>
              <a:rPr lang="en-US" sz="2400" dirty="0">
                <a:ea typeface="+mn-lt"/>
                <a:cs typeface="+mn-lt"/>
              </a:rPr>
              <a:t> ; </a:t>
            </a:r>
            <a:r>
              <a:rPr lang="en-US" sz="2400" b="1" dirty="0">
                <a:ea typeface="+mn-lt"/>
                <a:cs typeface="+mn-lt"/>
              </a:rPr>
              <a:t>no oscillation</a:t>
            </a:r>
            <a:r>
              <a:rPr lang="en-US" sz="2400" dirty="0">
                <a:ea typeface="+mn-lt"/>
                <a:cs typeface="+mn-lt"/>
              </a:rPr>
              <a:t> (system is stable).</a:t>
            </a:r>
          </a:p>
          <a:p>
            <a:pPr marL="0" indent="0">
              <a:buNone/>
            </a:pPr>
            <a:r>
              <a:rPr lang="en-US" sz="2400" dirty="0"/>
              <a:t>(b)</a:t>
            </a:r>
            <a:r>
              <a:rPr lang="en-US" sz="2400" u="sng" dirty="0"/>
              <a:t> Rp=RD: also true if Rp&gt;RD</a:t>
            </a:r>
          </a:p>
          <a:p>
            <a:pPr marL="342900" indent="-342900"/>
            <a:r>
              <a:rPr lang="en-US" sz="2400" dirty="0"/>
              <a:t>RL = ∞ :</a:t>
            </a:r>
          </a:p>
          <a:p>
            <a:pPr marL="342900" indent="-342900"/>
            <a:r>
              <a:rPr lang="en-US" sz="2400" dirty="0"/>
              <a:t>Load resistance for NMOS and PMOS is same</a:t>
            </a:r>
            <a:endParaRPr lang="en-US" dirty="0"/>
          </a:p>
          <a:p>
            <a:pPr marL="342900" indent="-342900"/>
            <a:r>
              <a:rPr lang="en-US" sz="2400" dirty="0">
                <a:ea typeface="+mn-lt"/>
                <a:cs typeface="+mn-lt"/>
              </a:rPr>
              <a:t>Poles are on the </a:t>
            </a:r>
            <a:r>
              <a:rPr lang="en-US" sz="2400" dirty="0" err="1">
                <a:ea typeface="+mn-lt"/>
                <a:cs typeface="+mn-lt"/>
              </a:rPr>
              <a:t>jω</a:t>
            </a:r>
            <a:r>
              <a:rPr lang="en-US" sz="2400" dirty="0">
                <a:ea typeface="+mn-lt"/>
                <a:cs typeface="+mn-lt"/>
              </a:rPr>
              <a:t>-axis ; ideal sustained oscillation. </a:t>
            </a:r>
          </a:p>
          <a:p>
            <a:pPr marL="342900" indent="-342900"/>
            <a:r>
              <a:rPr lang="en-US" sz="2400" dirty="0">
                <a:ea typeface="+mn-lt"/>
                <a:cs typeface="+mn-lt"/>
              </a:rPr>
              <a:t>Circuit behaves like </a:t>
            </a:r>
            <a:r>
              <a:rPr lang="en-US" sz="2400" b="1" dirty="0">
                <a:ea typeface="+mn-lt"/>
                <a:cs typeface="+mn-lt"/>
              </a:rPr>
              <a:t>two ideal integrators</a:t>
            </a:r>
            <a:r>
              <a:rPr lang="en-US" sz="2400" dirty="0">
                <a:ea typeface="+mn-lt"/>
                <a:cs typeface="+mn-lt"/>
              </a:rPr>
              <a:t> ; perfectly satisfies </a:t>
            </a:r>
            <a:r>
              <a:rPr lang="en-US" sz="2400" dirty="0" err="1">
                <a:ea typeface="+mn-lt"/>
                <a:cs typeface="+mn-lt"/>
              </a:rPr>
              <a:t>Barkhausen</a:t>
            </a:r>
            <a:r>
              <a:rPr lang="en-US" sz="2400" dirty="0">
                <a:ea typeface="+mn-lt"/>
                <a:cs typeface="+mn-lt"/>
              </a:rPr>
              <a:t> criterion.</a:t>
            </a:r>
            <a:endParaRPr lang="en-US" sz="2400" dirty="0"/>
          </a:p>
          <a:p>
            <a:pPr marL="0" indent="0">
              <a:buNone/>
            </a:pPr>
            <a:r>
              <a:rPr lang="en-US" sz="2400" b="1" dirty="0">
                <a:solidFill>
                  <a:srgbClr val="FF0000"/>
                </a:solidFill>
              </a:rPr>
              <a:t>Practical Realization of Negative resistance:</a:t>
            </a:r>
          </a:p>
          <a:p>
            <a:pPr marL="342900" indent="-342900"/>
            <a:r>
              <a:rPr lang="en-US" sz="2400" dirty="0"/>
              <a:t>To physically implement the negative resistance Rp&lt;RD.</a:t>
            </a:r>
          </a:p>
          <a:p>
            <a:pPr marL="342900" indent="-342900"/>
            <a:r>
              <a:rPr lang="en-US" sz="2400" dirty="0">
                <a:ea typeface="+mn-lt"/>
                <a:cs typeface="+mn-lt"/>
              </a:rPr>
              <a:t>Use a </a:t>
            </a:r>
            <a:r>
              <a:rPr lang="en-US" sz="2400" b="1" dirty="0">
                <a:ea typeface="+mn-lt"/>
                <a:cs typeface="+mn-lt"/>
              </a:rPr>
              <a:t>cross-coupled </a:t>
            </a:r>
            <a:r>
              <a:rPr lang="en-US" sz="2400" dirty="0">
                <a:ea typeface="+mn-lt"/>
                <a:cs typeface="+mn-lt"/>
              </a:rPr>
              <a:t>pair (M3, M4) between outputs X and Y. </a:t>
            </a:r>
            <a:r>
              <a:rPr lang="en-US" sz="2400" b="1" dirty="0">
                <a:solidFill>
                  <a:srgbClr val="000000"/>
                </a:solidFill>
                <a:ea typeface="+mn-lt"/>
                <a:cs typeface="+mn-lt"/>
              </a:rPr>
              <a:t>Rp =1/ gm3,4.</a:t>
            </a:r>
          </a:p>
          <a:p>
            <a:pPr marL="342900" indent="-342900"/>
            <a:r>
              <a:rPr lang="en-US" sz="2400" dirty="0">
                <a:ea typeface="+mn-lt"/>
                <a:cs typeface="+mn-lt"/>
              </a:rPr>
              <a:t>So, RL =RD / (gm</a:t>
            </a:r>
            <a:r>
              <a:rPr lang="en-US" sz="2400" baseline="-25000" dirty="0">
                <a:ea typeface="+mn-lt"/>
                <a:cs typeface="+mn-lt"/>
              </a:rPr>
              <a:t>3,4</a:t>
            </a:r>
            <a:r>
              <a:rPr lang="en-US" sz="2400" dirty="0">
                <a:ea typeface="+mn-lt"/>
                <a:cs typeface="+mn-lt"/>
              </a:rPr>
              <a:t>*RD−1) </a:t>
            </a:r>
          </a:p>
        </p:txBody>
      </p:sp>
      <p:pic>
        <p:nvPicPr>
          <p:cNvPr id="4" name="Picture 3" descr="A diagram of a circuit&#10;&#10;AI-generated content may be incorrect.">
            <a:extLst>
              <a:ext uri="{FF2B5EF4-FFF2-40B4-BE49-F238E27FC236}">
                <a16:creationId xmlns:a16="http://schemas.microsoft.com/office/drawing/2014/main" id="{9EDD03C7-C0E4-EC7C-D9DD-CC031DC1A8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99" y="552090"/>
            <a:ext cx="2135936" cy="2260121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6" name="Picture 5" descr="A black and white background with black text&#10;&#10;AI-generated content may be incorrect.">
            <a:extLst>
              <a:ext uri="{FF2B5EF4-FFF2-40B4-BE49-F238E27FC236}">
                <a16:creationId xmlns:a16="http://schemas.microsoft.com/office/drawing/2014/main" id="{959DD636-E1AF-9EC6-85F9-AC3B5C3E95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85179" y="3152167"/>
            <a:ext cx="1494334" cy="563466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396154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FDD7BE-54AC-7278-CF7C-FDB1430B34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73512"/>
            <a:ext cx="10515600" cy="609099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F0000"/>
                </a:solidFill>
              </a:rPr>
              <a:t>Example: Can gm1,2 be chosen arbitrarily?</a:t>
            </a:r>
          </a:p>
          <a:p>
            <a:r>
              <a:rPr lang="en-US" sz="2400" dirty="0"/>
              <a:t>If </a:t>
            </a:r>
            <a:r>
              <a:rPr lang="en-US" sz="2400" b="1" dirty="0"/>
              <a:t>gm1,2 = 0: 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/>
              <a:t>M1/M2 differential pair reduced to 2-uncoupled cross-coupled pairs.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/>
              <a:t>M3 and M4 act as negative resistance.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/>
              <a:t>These cannot oscillate. This cause </a:t>
            </a:r>
            <a:r>
              <a:rPr lang="en-US" b="1" dirty="0"/>
              <a:t>Latch-up.</a:t>
            </a:r>
          </a:p>
          <a:p>
            <a:r>
              <a:rPr lang="en-US" sz="2400" dirty="0"/>
              <a:t>The</a:t>
            </a:r>
            <a:r>
              <a:rPr lang="en-US" sz="2400" b="1" dirty="0"/>
              <a:t> latch-up problem</a:t>
            </a:r>
            <a:r>
              <a:rPr lang="en-US" sz="2400" dirty="0"/>
              <a:t>: </a:t>
            </a:r>
            <a:endParaRPr lang="en-US" sz="2400" b="1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/>
              <a:t>Gm3,4 must be above unity for poles to be created on RHS.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/>
              <a:t>Positive feedback in cross-coupled circuit around the loop pushed Vx and Vy in opposite directions preventing latch-up.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/>
              <a:t>Forcing Vx &amp; Vy to diverge completely until one </a:t>
            </a:r>
            <a:r>
              <a:rPr lang="en-US" err="1"/>
              <a:t>mosfet</a:t>
            </a:r>
            <a:r>
              <a:rPr lang="en-US" dirty="0"/>
              <a:t> switches off and the other conducts all current. 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/>
              <a:t>NO negative resistance to help oscillate. </a:t>
            </a:r>
          </a:p>
          <a:p>
            <a:r>
              <a:rPr lang="en-US" sz="2400" b="1" dirty="0"/>
              <a:t>Solution: </a:t>
            </a:r>
            <a:r>
              <a:rPr lang="en-US" sz="2400" dirty="0"/>
              <a:t>keep gm1,2 large and ISS large</a:t>
            </a:r>
          </a:p>
          <a:p>
            <a:pPr lvl="1">
              <a:buFont typeface="Courier New" panose="020B0604020202020204" pitchFamily="34" charset="0"/>
              <a:buChar char="o"/>
            </a:pPr>
            <a:endParaRPr lang="en-US" dirty="0"/>
          </a:p>
          <a:p>
            <a:pPr lvl="1">
              <a:buFont typeface="Courier New" panose="020B0604020202020204" pitchFamily="34" charset="0"/>
              <a:buChar char="o"/>
            </a:pPr>
            <a:endParaRPr lang="en-US" b="1" dirty="0"/>
          </a:p>
        </p:txBody>
      </p:sp>
      <p:pic>
        <p:nvPicPr>
          <p:cNvPr id="4" name="Picture 3" descr="A diagram of a circuit&#10;&#10;AI-generated content may be incorrect.">
            <a:extLst>
              <a:ext uri="{FF2B5EF4-FFF2-40B4-BE49-F238E27FC236}">
                <a16:creationId xmlns:a16="http://schemas.microsoft.com/office/drawing/2014/main" id="{3B23F97F-A6FE-0B92-4E21-1839A08B5A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1698" y="1617903"/>
            <a:ext cx="1524000" cy="166687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46278421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957549-85B0-B228-D45F-0A7284B857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73512"/>
            <a:ext cx="10515600" cy="5803451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400" b="1">
                <a:solidFill>
                  <a:srgbClr val="FF0000"/>
                </a:solidFill>
              </a:rPr>
              <a:t>PMOS cross-coupled pair</a:t>
            </a:r>
            <a:endParaRPr lang="en-US">
              <a:solidFill>
                <a:srgbClr val="FF0000"/>
              </a:solidFill>
            </a:endParaRPr>
          </a:p>
          <a:p>
            <a:r>
              <a:rPr lang="en-US" sz="2400"/>
              <a:t>PMOS M3, M4 draw current from VDD through RD.</a:t>
            </a:r>
            <a:endParaRPr lang="en-US"/>
          </a:p>
          <a:p>
            <a:r>
              <a:rPr lang="en-US" sz="2400"/>
              <a:t>For M3 &amp; M4 to be "ON" and providing negative resistance,</a:t>
            </a:r>
            <a:endParaRPr lang="en-US"/>
          </a:p>
          <a:p>
            <a:pPr lvl="1" indent="-342900">
              <a:buFont typeface="Courier New" panose="020B0604020202020204" pitchFamily="34" charset="0"/>
              <a:buChar char="o"/>
            </a:pPr>
            <a:r>
              <a:rPr lang="en-US"/>
              <a:t>|Vgs3,4| must be there.</a:t>
            </a:r>
          </a:p>
          <a:p>
            <a:pPr lvl="1" indent="-342900">
              <a:buFont typeface="Courier New" panose="020B0604020202020204" pitchFamily="34" charset="0"/>
              <a:buChar char="o"/>
            </a:pPr>
            <a:r>
              <a:rPr lang="en-US"/>
              <a:t>Common-mode : Vx and Vy = VDD - |Vgs3,4| </a:t>
            </a:r>
          </a:p>
          <a:p>
            <a:r>
              <a:rPr lang="en-US" sz="2400"/>
              <a:t>VDD needs to accommodate for voltage drop across </a:t>
            </a:r>
            <a:r>
              <a:rPr lang="en-US" sz="2400">
                <a:solidFill>
                  <a:srgbClr val="FF0000"/>
                </a:solidFill>
              </a:rPr>
              <a:t>PMOS</a:t>
            </a:r>
            <a:r>
              <a:rPr lang="en-US" sz="2400"/>
              <a:t>, VDS, V:</a:t>
            </a:r>
            <a:endParaRPr lang="en-US"/>
          </a:p>
          <a:p>
            <a:pPr lvl="1" indent="-342900">
              <a:buFont typeface="Courier New" panose="020B0604020202020204" pitchFamily="34" charset="0"/>
              <a:buChar char="o"/>
            </a:pPr>
            <a:r>
              <a:rPr lang="en-US" b="1"/>
              <a:t>VDD ≥ |Vgs3,4| +VDS</a:t>
            </a:r>
            <a:r>
              <a:rPr lang="en-US" b="1" baseline="-25000"/>
              <a:t>1,2</a:t>
            </a:r>
            <a:r>
              <a:rPr lang="en-US" b="1"/>
              <a:t> + V</a:t>
            </a:r>
            <a:r>
              <a:rPr lang="en-US" b="1" baseline="-25000"/>
              <a:t>ISS,</a:t>
            </a:r>
            <a:endParaRPr lang="en-US"/>
          </a:p>
          <a:p>
            <a:pPr>
              <a:buFont typeface="Arial"/>
              <a:buChar char="•"/>
            </a:pPr>
            <a:r>
              <a:rPr lang="en-US" sz="2400"/>
              <a:t>Comparision to </a:t>
            </a:r>
            <a:r>
              <a:rPr lang="en-US" sz="2400">
                <a:solidFill>
                  <a:srgbClr val="FF0000"/>
                </a:solidFill>
              </a:rPr>
              <a:t>NMOS</a:t>
            </a:r>
            <a:r>
              <a:rPr lang="en-US" sz="2400"/>
              <a:t>: </a:t>
            </a:r>
            <a:r>
              <a:rPr lang="en-US" sz="2400" b="1"/>
              <a:t>VDD = (ISS + I1)RD/2 + VDS</a:t>
            </a:r>
            <a:r>
              <a:rPr lang="en-US" sz="2400" b="1" baseline="-25000"/>
              <a:t>1,2</a:t>
            </a:r>
            <a:r>
              <a:rPr lang="en-US" sz="2400" b="1"/>
              <a:t> + V</a:t>
            </a:r>
            <a:r>
              <a:rPr lang="en-US" sz="2400" b="1" baseline="-25000"/>
              <a:t>ISS  </a:t>
            </a:r>
            <a:endParaRPr lang="en-US" sz="2400"/>
          </a:p>
          <a:p>
            <a:pPr marL="0" indent="0">
              <a:buNone/>
            </a:pPr>
            <a:r>
              <a:rPr lang="en-US" sz="2400" b="1">
                <a:solidFill>
                  <a:srgbClr val="FF0000"/>
                </a:solidFill>
                <a:ea typeface="+mn-lt"/>
                <a:cs typeface="+mn-lt"/>
              </a:rPr>
              <a:t>Why is PMOS worse for headroom? </a:t>
            </a:r>
          </a:p>
          <a:p>
            <a:r>
              <a:rPr lang="en-US" sz="2400">
                <a:ea typeface="+mn-lt"/>
                <a:cs typeface="+mn-lt"/>
              </a:rPr>
              <a:t>PMOS adds |Vgs3,4| to VDD drops. This is a fixed threshold-like voltage. </a:t>
            </a:r>
          </a:p>
          <a:p>
            <a:r>
              <a:rPr lang="en-US" sz="2400">
                <a:solidFill>
                  <a:srgbClr val="000000"/>
                </a:solidFill>
                <a:ea typeface="+mn-lt"/>
                <a:cs typeface="+mn-lt"/>
              </a:rPr>
              <a:t>It forces VDD to be higher. Consumes more headroom. </a:t>
            </a:r>
          </a:p>
        </p:txBody>
      </p:sp>
    </p:spTree>
    <p:extLst>
      <p:ext uri="{BB962C8B-B14F-4D97-AF65-F5344CB8AC3E}">
        <p14:creationId xmlns:p14="http://schemas.microsoft.com/office/powerpoint/2010/main" val="383762037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8C60FD-1449-79C0-1E18-5BDE29E181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73512"/>
            <a:ext cx="10972800" cy="609099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400" b="1">
                <a:solidFill>
                  <a:srgbClr val="FF0000"/>
                </a:solidFill>
              </a:rPr>
              <a:t>Two-stage differential ring and positive feedback</a:t>
            </a:r>
          </a:p>
          <a:p>
            <a:r>
              <a:rPr lang="en-US" sz="2400"/>
              <a:t>Why does it not latch up due to positive feedback?</a:t>
            </a:r>
          </a:p>
          <a:p>
            <a:pPr lvl="1" indent="-342900">
              <a:buFont typeface="Courier New" panose="020B0604020202020204" pitchFamily="34" charset="0"/>
              <a:buChar char="o"/>
            </a:pPr>
            <a:r>
              <a:rPr lang="en-US" u="sng"/>
              <a:t>Anti-phase inputs</a:t>
            </a:r>
            <a:r>
              <a:rPr lang="en-US"/>
              <a:t> due to differential operation force the output to change. </a:t>
            </a:r>
          </a:p>
          <a:p>
            <a:pPr lvl="1" indent="-342900">
              <a:buFont typeface="Courier New" panose="020B0604020202020204" pitchFamily="34" charset="0"/>
              <a:buChar char="o"/>
            </a:pPr>
            <a:r>
              <a:rPr lang="en-US" u="sng"/>
              <a:t>Impossible Symmetric Latch-up:</a:t>
            </a:r>
            <a:r>
              <a:rPr lang="en-US"/>
              <a:t> </a:t>
            </a:r>
          </a:p>
          <a:p>
            <a:pPr lvl="2">
              <a:buFont typeface="Wingdings" panose="020B0604020202020204" pitchFamily="34" charset="0"/>
              <a:buChar char="§"/>
            </a:pPr>
            <a:r>
              <a:rPr lang="en-US" sz="2400">
                <a:ea typeface="+mn-lt"/>
                <a:cs typeface="+mn-lt"/>
              </a:rPr>
              <a:t>The assumed latch-up state (e.g., A = B = 1, C = D = 0) is not physically valid.</a:t>
            </a:r>
          </a:p>
          <a:p>
            <a:pPr lvl="2">
              <a:buFont typeface="Wingdings" panose="020B0604020202020204" pitchFamily="34" charset="0"/>
              <a:buChar char="§"/>
            </a:pPr>
            <a:r>
              <a:rPr lang="en-US" sz="2400">
                <a:ea typeface="+mn-lt"/>
                <a:cs typeface="+mn-lt"/>
              </a:rPr>
              <a:t>It implies some differential pairs are fully on while others are fully off in a ring.</a:t>
            </a:r>
            <a:r>
              <a:rPr lang="en-US" sz="2400"/>
              <a:t> (e.g., M1,M2 are off and M3, M4 are ON). </a:t>
            </a:r>
          </a:p>
          <a:p>
            <a:pPr lvl="1" indent="-342900">
              <a:buFont typeface="Courier New" panose="020B0604020202020204" pitchFamily="34" charset="0"/>
              <a:buChar char="o"/>
            </a:pPr>
            <a:r>
              <a:rPr lang="en-US">
                <a:ea typeface="+mn-lt"/>
                <a:cs typeface="+mn-lt"/>
              </a:rPr>
              <a:t>All nodes start at the same voltage; </a:t>
            </a:r>
            <a:r>
              <a:rPr lang="en-US" u="sng">
                <a:ea typeface="+mn-lt"/>
                <a:cs typeface="+mn-lt"/>
              </a:rPr>
              <a:t>oscillation starts due to device noise</a:t>
            </a:r>
            <a:r>
              <a:rPr lang="en-US">
                <a:ea typeface="+mn-lt"/>
                <a:cs typeface="+mn-lt"/>
              </a:rPr>
              <a:t>, not positive feedback.</a:t>
            </a:r>
          </a:p>
          <a:p>
            <a:pPr lvl="1" indent="-342900">
              <a:buFont typeface="Courier New" panose="020B0604020202020204" pitchFamily="34" charset="0"/>
              <a:buChar char="o"/>
            </a:pPr>
            <a:r>
              <a:rPr lang="en-US">
                <a:ea typeface="+mn-lt"/>
                <a:cs typeface="+mn-lt"/>
              </a:rPr>
              <a:t>Unlike latch circuits, the </a:t>
            </a:r>
            <a:r>
              <a:rPr lang="en-US" u="sng">
                <a:ea typeface="+mn-lt"/>
                <a:cs typeface="+mn-lt"/>
              </a:rPr>
              <a:t>tail nodes are connected to ISS</a:t>
            </a:r>
            <a:r>
              <a:rPr lang="en-US">
                <a:ea typeface="+mn-lt"/>
                <a:cs typeface="+mn-lt"/>
              </a:rPr>
              <a:t>, not ground.</a:t>
            </a:r>
            <a:endParaRPr lang="en-US"/>
          </a:p>
          <a:p>
            <a:pPr lvl="1" indent="-342900">
              <a:buFont typeface="Courier New" panose="020B0604020202020204" pitchFamily="34" charset="0"/>
              <a:buChar char="o"/>
            </a:pPr>
            <a:endParaRPr lang="en-US"/>
          </a:p>
        </p:txBody>
      </p:sp>
      <p:pic>
        <p:nvPicPr>
          <p:cNvPr id="4" name="Picture 3" descr="A diagram of a circuit&#10;&#10;AI-generated content may be incorrect.">
            <a:extLst>
              <a:ext uri="{FF2B5EF4-FFF2-40B4-BE49-F238E27FC236}">
                <a16:creationId xmlns:a16="http://schemas.microsoft.com/office/drawing/2014/main" id="{DD1155D0-9AAA-D623-88B1-F63A2D135B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52654" y="4791974"/>
            <a:ext cx="3162300" cy="182880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79672252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E6385A-6126-082D-DEFD-7623C97EA7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44758"/>
            <a:ext cx="10515600" cy="5832205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400" b="1">
                <a:solidFill>
                  <a:srgbClr val="FF0000"/>
                </a:solidFill>
              </a:rPr>
              <a:t>Design Examples</a:t>
            </a:r>
          </a:p>
          <a:p>
            <a:pPr marL="457200" indent="-457200"/>
            <a:r>
              <a:rPr lang="en-US" sz="2400" b="1"/>
              <a:t>Initial Design: </a:t>
            </a:r>
            <a:endParaRPr lang="en-US">
              <a:ea typeface="+mn-lt"/>
              <a:cs typeface="+mn-lt"/>
            </a:endParaRPr>
          </a:p>
          <a:p>
            <a:pPr marL="914400" lvl="1" indent="-457200">
              <a:buFont typeface="Courier New" panose="020B0604020202020204" pitchFamily="34" charset="0"/>
              <a:buChar char="o"/>
            </a:pPr>
            <a:r>
              <a:rPr lang="en-US">
                <a:ea typeface="+mn-lt"/>
                <a:cs typeface="+mn-lt"/>
              </a:rPr>
              <a:t>W/L ratios: M1,2: </a:t>
            </a:r>
            <a:r>
              <a:rPr lang="en-US" b="1">
                <a:ea typeface="+mn-lt"/>
                <a:cs typeface="+mn-lt"/>
              </a:rPr>
              <a:t>8 µm / 120 nm  </a:t>
            </a:r>
            <a:r>
              <a:rPr lang="en-US">
                <a:ea typeface="+mn-lt"/>
                <a:cs typeface="+mn-lt"/>
              </a:rPr>
              <a:t>M3,4: </a:t>
            </a:r>
            <a:r>
              <a:rPr lang="en-US" b="1">
                <a:ea typeface="+mn-lt"/>
                <a:cs typeface="+mn-lt"/>
              </a:rPr>
              <a:t>4 µm / 120 nm</a:t>
            </a:r>
            <a:endParaRPr lang="en-US"/>
          </a:p>
          <a:p>
            <a:pPr marL="914400" lvl="1" indent="-457200">
              <a:buFont typeface="Courier New" panose="020B0604020202020204" pitchFamily="34" charset="0"/>
              <a:buChar char="o"/>
            </a:pPr>
            <a:r>
              <a:rPr lang="en-US">
                <a:ea typeface="+mn-lt"/>
                <a:cs typeface="+mn-lt"/>
              </a:rPr>
              <a:t>Per stage: 150 µA total → 100 µA (differential pair)</a:t>
            </a:r>
          </a:p>
          <a:p>
            <a:pPr marL="457200" lvl="1" indent="0">
              <a:buNone/>
            </a:pPr>
            <a:r>
              <a:rPr lang="en-US">
                <a:ea typeface="+mn-lt"/>
                <a:cs typeface="+mn-lt"/>
              </a:rPr>
              <a:t>    + 50 µA (cross-coupled pair)</a:t>
            </a:r>
            <a:endParaRPr lang="en-US"/>
          </a:p>
          <a:p>
            <a:pPr marL="914400" lvl="1" indent="-457200">
              <a:buFont typeface="Courier New" panose="020B0604020202020204" pitchFamily="34" charset="0"/>
              <a:buChar char="o"/>
            </a:pPr>
            <a:r>
              <a:rPr lang="en-US"/>
              <a:t>Results: </a:t>
            </a:r>
            <a:endParaRPr lang="en-US">
              <a:ea typeface="+mn-lt"/>
              <a:cs typeface="+mn-lt"/>
            </a:endParaRPr>
          </a:p>
          <a:p>
            <a:pPr marL="1371600" lvl="2" indent="-457200">
              <a:buFont typeface="Wingdings" panose="020B0604020202020204" pitchFamily="34" charset="0"/>
              <a:buChar char="§"/>
            </a:pPr>
            <a:r>
              <a:rPr lang="en-US" sz="2400">
                <a:ea typeface="+mn-lt"/>
                <a:cs typeface="+mn-lt"/>
              </a:rPr>
              <a:t>Oscillation frequency: </a:t>
            </a:r>
            <a:r>
              <a:rPr lang="en-US" sz="2400" b="1">
                <a:ea typeface="+mn-lt"/>
                <a:cs typeface="+mn-lt"/>
              </a:rPr>
              <a:t>2.14 GHz </a:t>
            </a:r>
          </a:p>
          <a:p>
            <a:pPr marL="1371600" lvl="2" indent="-457200">
              <a:buFont typeface="Wingdings" panose="020B0604020202020204" pitchFamily="34" charset="0"/>
              <a:buChar char="§"/>
            </a:pPr>
            <a:r>
              <a:rPr lang="en-US" sz="2400">
                <a:ea typeface="+mn-lt"/>
                <a:cs typeface="+mn-lt"/>
              </a:rPr>
              <a:t>Swing: </a:t>
            </a:r>
            <a:r>
              <a:rPr lang="en-US" sz="2400" b="1">
                <a:ea typeface="+mn-lt"/>
                <a:cs typeface="+mn-lt"/>
              </a:rPr>
              <a:t>~250 </a:t>
            </a:r>
            <a:r>
              <a:rPr lang="en-US" sz="2400" b="1" err="1">
                <a:ea typeface="+mn-lt"/>
                <a:cs typeface="+mn-lt"/>
              </a:rPr>
              <a:t>mVpp</a:t>
            </a:r>
            <a:r>
              <a:rPr lang="en-US" sz="2400">
                <a:ea typeface="+mn-lt"/>
                <a:cs typeface="+mn-lt"/>
              </a:rPr>
              <a:t> (less than 3-stage ring: 360mVpp).</a:t>
            </a:r>
          </a:p>
          <a:p>
            <a:pPr marL="1371600" lvl="2" indent="-457200">
              <a:buFont typeface="Wingdings" panose="020B0604020202020204" pitchFamily="34" charset="0"/>
              <a:buChar char="§"/>
            </a:pPr>
            <a:r>
              <a:rPr lang="en-US" sz="2400">
                <a:ea typeface="+mn-lt"/>
                <a:cs typeface="+mn-lt"/>
              </a:rPr>
              <a:t>Phase noise: </a:t>
            </a:r>
            <a:r>
              <a:rPr lang="en-US" sz="2400" b="1">
                <a:ea typeface="+mn-lt"/>
                <a:cs typeface="+mn-lt"/>
              </a:rPr>
              <a:t>3–4 dB</a:t>
            </a:r>
            <a:r>
              <a:rPr lang="en-US" sz="2400">
                <a:ea typeface="+mn-lt"/>
                <a:cs typeface="+mn-lt"/>
              </a:rPr>
              <a:t> worse than 3-stage design due to </a:t>
            </a:r>
            <a:r>
              <a:rPr lang="en-US" sz="2400" u="sng">
                <a:ea typeface="+mn-lt"/>
                <a:cs typeface="+mn-lt"/>
              </a:rPr>
              <a:t>lower </a:t>
            </a:r>
            <a:r>
              <a:rPr lang="en-US" sz="2400">
                <a:ea typeface="+mn-lt"/>
                <a:cs typeface="+mn-lt"/>
              </a:rPr>
              <a:t>swing.</a:t>
            </a:r>
            <a:endParaRPr lang="en-US" sz="2400"/>
          </a:p>
          <a:p>
            <a:pPr marL="0" indent="0">
              <a:buNone/>
            </a:pPr>
            <a:r>
              <a:rPr lang="en-US" sz="2400" b="1"/>
              <a:t>2.   Shared tail: </a:t>
            </a:r>
          </a:p>
          <a:p>
            <a:pPr marL="800100" lvl="1" indent="-342900">
              <a:buFont typeface="Courier New" panose="020B0604020202020204" pitchFamily="34" charset="0"/>
              <a:buChar char="o"/>
            </a:pPr>
            <a:r>
              <a:rPr lang="en-US">
                <a:ea typeface="+mn-lt"/>
                <a:cs typeface="+mn-lt"/>
              </a:rPr>
              <a:t>This enables automatic current splitting. </a:t>
            </a:r>
            <a:endParaRPr lang="en-US" b="1">
              <a:ea typeface="+mn-lt"/>
              <a:cs typeface="+mn-lt"/>
            </a:endParaRPr>
          </a:p>
          <a:p>
            <a:pPr marL="800100" lvl="1" indent="-342900">
              <a:buFont typeface="Courier New" panose="020B0604020202020204" pitchFamily="34" charset="0"/>
              <a:buChar char="o"/>
            </a:pPr>
            <a:r>
              <a:rPr lang="en-US">
                <a:ea typeface="+mn-lt"/>
                <a:cs typeface="+mn-lt"/>
              </a:rPr>
              <a:t>Advantage: </a:t>
            </a:r>
            <a:r>
              <a:rPr lang="en-US" u="sng">
                <a:ea typeface="+mn-lt"/>
                <a:cs typeface="+mn-lt"/>
              </a:rPr>
              <a:t>higher voltage swing </a:t>
            </a:r>
            <a:endParaRPr lang="en-US" u="sng"/>
          </a:p>
          <a:p>
            <a:pPr marL="800100" lvl="1" indent="-342900">
              <a:buFont typeface="Courier New" panose="020B0604020202020204" pitchFamily="34" charset="0"/>
              <a:buChar char="o"/>
            </a:pPr>
            <a:r>
              <a:rPr lang="en-US">
                <a:ea typeface="+mn-lt"/>
                <a:cs typeface="+mn-lt"/>
              </a:rPr>
              <a:t>Disadvantage: </a:t>
            </a:r>
            <a:r>
              <a:rPr lang="en-US" b="1">
                <a:ea typeface="+mn-lt"/>
                <a:cs typeface="+mn-lt"/>
              </a:rPr>
              <a:t>10–15 dB</a:t>
            </a:r>
            <a:r>
              <a:rPr lang="en-US">
                <a:ea typeface="+mn-lt"/>
                <a:cs typeface="+mn-lt"/>
              </a:rPr>
              <a:t> higher flicker noise up-conversion.</a:t>
            </a:r>
            <a:endParaRPr lang="en-US" b="1"/>
          </a:p>
          <a:p>
            <a:pPr marL="800100" lvl="1" indent="-342900">
              <a:buFont typeface="Courier New" panose="020B0604020202020204" pitchFamily="34" charset="0"/>
              <a:buChar char="o"/>
            </a:pPr>
            <a:endParaRPr lang="en-US"/>
          </a:p>
        </p:txBody>
      </p:sp>
      <p:pic>
        <p:nvPicPr>
          <p:cNvPr id="4" name="Picture 3" descr="A diagram of a circuit&#10;&#10;AI-generated content may be incorrect.">
            <a:extLst>
              <a:ext uri="{FF2B5EF4-FFF2-40B4-BE49-F238E27FC236}">
                <a16:creationId xmlns:a16="http://schemas.microsoft.com/office/drawing/2014/main" id="{FF8BCDFE-4A72-F491-AA26-40A54195E6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79776" y="686159"/>
            <a:ext cx="2359505" cy="1704436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57998397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5C7A1F-5578-5E22-1DA6-3C74481989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01625"/>
            <a:ext cx="10918166" cy="634979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400" b="1">
                <a:solidFill>
                  <a:srgbClr val="FF0000"/>
                </a:solidFill>
              </a:rPr>
              <a:t>Tail node waveforms of differential and cross-coupled pairs.</a:t>
            </a:r>
          </a:p>
          <a:p>
            <a:pPr marL="342900" indent="-342900"/>
            <a:r>
              <a:rPr lang="en-US" sz="2400"/>
              <a:t>Of one stage, tail nodes are off by 90 degrees input/</a:t>
            </a:r>
            <a:r>
              <a:rPr lang="en-US" sz="2400" err="1"/>
              <a:t>ouput</a:t>
            </a:r>
            <a:r>
              <a:rPr lang="en-US" sz="2400"/>
              <a:t>. </a:t>
            </a:r>
          </a:p>
          <a:p>
            <a:pPr marL="342900" indent="-342900"/>
            <a:r>
              <a:rPr lang="en-US" sz="2400" b="1" u="sng"/>
              <a:t>Separate Tails</a:t>
            </a:r>
            <a:r>
              <a:rPr lang="en-US" sz="2400" b="1"/>
              <a:t>: </a:t>
            </a:r>
          </a:p>
          <a:p>
            <a:pPr marL="800100" lvl="1" indent="-342900">
              <a:buFont typeface="Courier New" panose="020B0604020202020204" pitchFamily="34" charset="0"/>
              <a:buChar char="o"/>
            </a:pPr>
            <a:r>
              <a:rPr lang="en-US"/>
              <a:t>P generates 2f0 voltage waveform.</a:t>
            </a:r>
          </a:p>
          <a:p>
            <a:pPr marL="800100" lvl="1" indent="-342900">
              <a:buFont typeface="Courier New" panose="020B0604020202020204" pitchFamily="34" charset="0"/>
              <a:buChar char="o"/>
            </a:pPr>
            <a:r>
              <a:rPr lang="en-US"/>
              <a:t>Q node receives 90 degree shifted o/p. Also generates 2f0 waveforms.</a:t>
            </a:r>
          </a:p>
          <a:p>
            <a:pPr marL="800100" lvl="1" indent="-342900">
              <a:buFont typeface="Courier New" panose="020B0604020202020204" pitchFamily="34" charset="0"/>
              <a:buChar char="o"/>
            </a:pPr>
            <a:r>
              <a:rPr lang="en-US" err="1"/>
              <a:t>Vp</a:t>
            </a:r>
            <a:r>
              <a:rPr lang="en-US"/>
              <a:t> and VQ are 180 degree out of phase. </a:t>
            </a:r>
          </a:p>
          <a:p>
            <a:pPr marL="342900" indent="-342900"/>
            <a:r>
              <a:rPr lang="en-US" sz="2400" b="1" u="sng"/>
              <a:t>Shared tails:</a:t>
            </a:r>
            <a:r>
              <a:rPr lang="en-US" sz="2400" u="sng"/>
              <a:t> </a:t>
            </a:r>
          </a:p>
          <a:p>
            <a:pPr marL="800100" lvl="1" indent="-342900">
              <a:buFont typeface="Courier New" panose="020B0604020202020204" pitchFamily="34" charset="0"/>
              <a:buChar char="o"/>
            </a:pPr>
            <a:r>
              <a:rPr lang="en-US"/>
              <a:t>P and Q are shorted 180 degree out of phase.</a:t>
            </a:r>
          </a:p>
          <a:p>
            <a:pPr marL="800100" lvl="1" indent="-342900">
              <a:buFont typeface="Courier New" panose="020B0604020202020204" pitchFamily="34" charset="0"/>
              <a:buChar char="o"/>
            </a:pPr>
            <a:r>
              <a:rPr lang="en-US"/>
              <a:t>2f0 waveforms get partially cancelled out. </a:t>
            </a:r>
          </a:p>
          <a:p>
            <a:pPr marL="800100" lvl="1" indent="-342900">
              <a:buFont typeface="Courier New" panose="020B0604020202020204" pitchFamily="34" charset="0"/>
              <a:buChar char="o"/>
            </a:pPr>
            <a:r>
              <a:rPr lang="en-US"/>
              <a:t>If they cancel out exactly: </a:t>
            </a:r>
          </a:p>
          <a:p>
            <a:pPr marL="1257300" lvl="2" indent="-342900">
              <a:buFont typeface="Wingdings" panose="020B0604020202020204" pitchFamily="34" charset="0"/>
              <a:buChar char="§"/>
            </a:pPr>
            <a:r>
              <a:rPr lang="en-US" sz="2400"/>
              <a:t>The shared node becomes an </a:t>
            </a:r>
            <a:r>
              <a:rPr lang="en-US" sz="2400" b="1"/>
              <a:t>AC ground</a:t>
            </a:r>
            <a:r>
              <a:rPr lang="en-US" sz="2400"/>
              <a:t>. (The voltage remains same).</a:t>
            </a:r>
          </a:p>
          <a:p>
            <a:pPr marL="1257300" lvl="2" indent="-342900">
              <a:buFont typeface="Wingdings" panose="020B0604020202020204" pitchFamily="34" charset="0"/>
              <a:buChar char="§"/>
            </a:pPr>
            <a:r>
              <a:rPr lang="en-US" sz="2400"/>
              <a:t>This</a:t>
            </a:r>
            <a:r>
              <a:rPr lang="en-US" sz="2400" u="sng"/>
              <a:t> increases 2nd order non-linearity and flicker noise</a:t>
            </a:r>
            <a:r>
              <a:rPr lang="en-US" sz="2400"/>
              <a:t> due to absence of common source node voltage. </a:t>
            </a:r>
          </a:p>
          <a:p>
            <a:pPr marL="457200" lvl="1" indent="-342900" algn="ctr">
              <a:buNone/>
            </a:pPr>
            <a:r>
              <a:rPr lang="en-US" i="1" u="sng"/>
              <a:t>This occurs even without tail capacitance. </a:t>
            </a:r>
            <a:r>
              <a:rPr lang="en-US" i="1" u="sng">
                <a:ea typeface="+mn-lt"/>
                <a:cs typeface="+mn-lt"/>
              </a:rPr>
              <a:t>The cancellation itself—</a:t>
            </a:r>
            <a:r>
              <a:rPr lang="en-US" b="1" i="1" u="sng">
                <a:ea typeface="+mn-lt"/>
                <a:cs typeface="+mn-lt"/>
              </a:rPr>
              <a:t>not capacitance</a:t>
            </a:r>
            <a:r>
              <a:rPr lang="en-US" i="1" u="sng">
                <a:ea typeface="+mn-lt"/>
                <a:cs typeface="+mn-lt"/>
              </a:rPr>
              <a:t>—causes the issue</a:t>
            </a:r>
            <a:endParaRPr lang="en-US" u="sng"/>
          </a:p>
        </p:txBody>
      </p:sp>
    </p:spTree>
    <p:extLst>
      <p:ext uri="{BB962C8B-B14F-4D97-AF65-F5344CB8AC3E}">
        <p14:creationId xmlns:p14="http://schemas.microsoft.com/office/powerpoint/2010/main" val="69154974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EA2B6E-820D-1A05-B561-2C91466362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D61F3C-DECC-2812-F23E-745555AAC7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498"/>
            <a:ext cx="10515600" cy="1325563"/>
          </a:xfrm>
        </p:spPr>
        <p:txBody>
          <a:bodyPr/>
          <a:lstStyle/>
          <a:p>
            <a:br>
              <a:rPr lang="en-US" b="1"/>
            </a:br>
            <a:r>
              <a:rPr lang="en-US" b="1"/>
              <a:t>Tuning Techniques for Differential Rings.</a:t>
            </a:r>
          </a:p>
          <a:p>
            <a:endParaRPr lang="en-US" b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878BA8-1951-F0AB-0A2F-F6FD10BE91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48607"/>
            <a:ext cx="10515600" cy="5936681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400"/>
              <a:t>The 3 types of tuning techniques are: </a:t>
            </a:r>
          </a:p>
          <a:p>
            <a:pPr marL="457200" indent="-457200">
              <a:buAutoNum type="arabicPeriod"/>
            </a:pPr>
            <a:r>
              <a:rPr lang="en-US" sz="2400" b="1"/>
              <a:t>Resistive Tuning</a:t>
            </a:r>
          </a:p>
          <a:p>
            <a:pPr marL="914400" lvl="1" indent="-342900">
              <a:buFont typeface="Arial"/>
              <a:buChar char="•"/>
            </a:pPr>
            <a:r>
              <a:rPr lang="en-US">
                <a:solidFill>
                  <a:srgbClr val="FF0000"/>
                </a:solidFill>
                <a:ea typeface="+mn-lt"/>
                <a:cs typeface="+mn-lt"/>
              </a:rPr>
              <a:t>PMOS Load Tuning: </a:t>
            </a:r>
            <a:endParaRPr lang="en-US">
              <a:solidFill>
                <a:srgbClr val="FF0000"/>
              </a:solidFill>
            </a:endParaRPr>
          </a:p>
          <a:p>
            <a:pPr marL="1371600" lvl="2" indent="-342900">
              <a:buFont typeface="Wingdings"/>
              <a:buChar char="§"/>
            </a:pPr>
            <a:r>
              <a:rPr lang="en-US" sz="2400">
                <a:ea typeface="+mn-lt"/>
                <a:cs typeface="+mn-lt"/>
              </a:rPr>
              <a:t>PMOS in </a:t>
            </a:r>
            <a:r>
              <a:rPr lang="en-US" sz="2400" b="1">
                <a:ea typeface="+mn-lt"/>
                <a:cs typeface="+mn-lt"/>
              </a:rPr>
              <a:t>triode </a:t>
            </a:r>
            <a:r>
              <a:rPr lang="en-US" sz="2400">
                <a:ea typeface="+mn-lt"/>
                <a:cs typeface="+mn-lt"/>
              </a:rPr>
              <a:t>acts as voltage-controlled resistor.</a:t>
            </a:r>
          </a:p>
          <a:p>
            <a:pPr marL="1371600" lvl="2" indent="-342900">
              <a:buFont typeface="Wingdings"/>
              <a:buChar char="§"/>
            </a:pPr>
            <a:r>
              <a:rPr lang="en-US" sz="2400" u="sng">
                <a:ea typeface="+mn-lt"/>
                <a:cs typeface="+mn-lt"/>
              </a:rPr>
              <a:t>Issues faced: </a:t>
            </a:r>
            <a:endParaRPr lang="en-US" u="sng">
              <a:ea typeface="+mn-lt"/>
              <a:cs typeface="+mn-lt"/>
            </a:endParaRPr>
          </a:p>
          <a:p>
            <a:pPr marL="1828800" lvl="3" indent="-342900">
              <a:buFont typeface="Courier New"/>
              <a:buChar char="o"/>
            </a:pPr>
            <a:r>
              <a:rPr lang="en-US" sz="2400">
                <a:ea typeface="+mn-lt"/>
                <a:cs typeface="+mn-lt"/>
              </a:rPr>
              <a:t>Voltage swings changes with resistance. </a:t>
            </a:r>
          </a:p>
          <a:p>
            <a:pPr marL="1828800" lvl="3" indent="-342900">
              <a:buFont typeface="Courier New"/>
              <a:buChar char="o"/>
            </a:pPr>
            <a:r>
              <a:rPr lang="en-US" sz="2400">
                <a:ea typeface="+mn-lt"/>
                <a:cs typeface="+mn-lt"/>
              </a:rPr>
              <a:t>Range of </a:t>
            </a:r>
            <a:r>
              <a:rPr lang="en-US" sz="2400" err="1">
                <a:ea typeface="+mn-lt"/>
                <a:cs typeface="+mn-lt"/>
              </a:rPr>
              <a:t>Vcont</a:t>
            </a:r>
            <a:r>
              <a:rPr lang="en-US" sz="2400">
                <a:ea typeface="+mn-lt"/>
                <a:cs typeface="+mn-lt"/>
              </a:rPr>
              <a:t> is limited to keep PMOS in triode.</a:t>
            </a:r>
          </a:p>
          <a:p>
            <a:pPr marL="1828800" lvl="3" indent="-342900">
              <a:buFont typeface="Courier New"/>
              <a:buChar char="o"/>
            </a:pPr>
            <a:r>
              <a:rPr lang="en-US" sz="2400">
                <a:ea typeface="+mn-lt"/>
                <a:cs typeface="+mn-lt"/>
              </a:rPr>
              <a:t>Leads to nonlinear frequency tuning.</a:t>
            </a:r>
            <a:endParaRPr lang="en-US" sz="2400"/>
          </a:p>
          <a:p>
            <a:pPr marL="914400" lvl="1" indent="-342900">
              <a:buFont typeface="Arial"/>
              <a:buChar char="•"/>
            </a:pPr>
            <a:r>
              <a:rPr lang="en-US">
                <a:solidFill>
                  <a:srgbClr val="FF0000"/>
                </a:solidFill>
                <a:ea typeface="+mn-lt"/>
                <a:cs typeface="+mn-lt"/>
              </a:rPr>
              <a:t>Negative Resistance Tuning :</a:t>
            </a:r>
          </a:p>
          <a:p>
            <a:pPr marL="1371600" lvl="2" indent="-342900">
              <a:buFont typeface="Wingdings"/>
              <a:buChar char="§"/>
            </a:pPr>
            <a:r>
              <a:rPr lang="en-US" sz="2400">
                <a:ea typeface="+mn-lt"/>
                <a:cs typeface="+mn-lt"/>
              </a:rPr>
              <a:t>Cross-coupled pair M3 &amp; M4 parallel with Rd introduces tunable –2/gm resistance.  </a:t>
            </a:r>
          </a:p>
          <a:p>
            <a:pPr marL="1371600" lvl="2" indent="-342900">
              <a:buFont typeface="Wingdings"/>
              <a:buChar char="§"/>
            </a:pPr>
            <a:r>
              <a:rPr lang="en-US" sz="2400">
                <a:ea typeface="+mn-lt"/>
                <a:cs typeface="+mn-lt"/>
              </a:rPr>
              <a:t>I1 current sets the strength of the negative resistance. </a:t>
            </a:r>
            <a:endParaRPr lang="en-US"/>
          </a:p>
          <a:p>
            <a:pPr marL="1371600" lvl="2" indent="-342900">
              <a:buFont typeface="Wingdings"/>
              <a:buChar char="§"/>
            </a:pPr>
            <a:r>
              <a:rPr lang="en-US" sz="2400">
                <a:ea typeface="+mn-lt"/>
                <a:cs typeface="+mn-lt"/>
              </a:rPr>
              <a:t>Allows continuous tuning of 10–20% f₀</a:t>
            </a:r>
          </a:p>
          <a:p>
            <a:pPr marL="1028700" lvl="2" indent="0">
              <a:buNone/>
            </a:pPr>
            <a:endParaRPr lang="en-US" sz="2400"/>
          </a:p>
          <a:p>
            <a:pPr marL="457200" indent="-457200">
              <a:buAutoNum type="arabicPeriod"/>
            </a:pPr>
            <a:endParaRPr lang="en-US" sz="2400"/>
          </a:p>
        </p:txBody>
      </p:sp>
      <p:pic>
        <p:nvPicPr>
          <p:cNvPr id="4" name="Picture 3" descr="A diagram of a circuit&#10;&#10;AI-generated content may be incorrect.">
            <a:extLst>
              <a:ext uri="{FF2B5EF4-FFF2-40B4-BE49-F238E27FC236}">
                <a16:creationId xmlns:a16="http://schemas.microsoft.com/office/drawing/2014/main" id="{709D49E6-3D33-1EF9-12AE-68D4EACC39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1432" y="951482"/>
            <a:ext cx="1507826" cy="1569649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5" name="Picture 4" descr="A diagram of a circuit&#10;&#10;AI-generated content may be incorrect.">
            <a:extLst>
              <a:ext uri="{FF2B5EF4-FFF2-40B4-BE49-F238E27FC236}">
                <a16:creationId xmlns:a16="http://schemas.microsoft.com/office/drawing/2014/main" id="{9E77ADBF-662B-97DD-219A-D7AB8CBCE5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0017" y="2634652"/>
            <a:ext cx="2671133" cy="1958196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14462448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BA0238-8E22-13EA-A0A1-BAC2DCD452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16644"/>
            <a:ext cx="10515600" cy="6258999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en-US" sz="2400" b="1">
                <a:solidFill>
                  <a:srgbClr val="FF0000"/>
                </a:solidFill>
              </a:rPr>
              <a:t>Design Example:</a:t>
            </a:r>
          </a:p>
          <a:p>
            <a:r>
              <a:rPr lang="en-US" sz="2400">
                <a:ea typeface="+mn-lt"/>
                <a:cs typeface="+mn-lt"/>
              </a:rPr>
              <a:t>f₀: 2.2 GHz → </a:t>
            </a:r>
            <a:r>
              <a:rPr lang="en-US" sz="2400" b="1">
                <a:ea typeface="+mn-lt"/>
                <a:cs typeface="+mn-lt"/>
              </a:rPr>
              <a:t>1.83 GHz</a:t>
            </a:r>
            <a:r>
              <a:rPr lang="en-US" sz="2400">
                <a:ea typeface="+mn-lt"/>
                <a:cs typeface="+mn-lt"/>
              </a:rPr>
              <a:t> as </a:t>
            </a:r>
            <a:r>
              <a:rPr lang="en-US" sz="2400" err="1">
                <a:ea typeface="+mn-lt"/>
                <a:cs typeface="+mn-lt"/>
              </a:rPr>
              <a:t>Vcont</a:t>
            </a:r>
            <a:r>
              <a:rPr lang="en-US" sz="2400">
                <a:ea typeface="+mn-lt"/>
                <a:cs typeface="+mn-lt"/>
              </a:rPr>
              <a:t> increases. </a:t>
            </a:r>
          </a:p>
          <a:p>
            <a:r>
              <a:rPr lang="en-US" sz="2400">
                <a:ea typeface="+mn-lt"/>
                <a:cs typeface="+mn-lt"/>
              </a:rPr>
              <a:t>Swings: 360 mV → </a:t>
            </a:r>
            <a:r>
              <a:rPr lang="en-US" sz="2400" b="1">
                <a:ea typeface="+mn-lt"/>
                <a:cs typeface="+mn-lt"/>
              </a:rPr>
              <a:t>480 mV</a:t>
            </a:r>
            <a:endParaRPr lang="en-US" sz="2400" b="1"/>
          </a:p>
          <a:p>
            <a:r>
              <a:rPr lang="en-US" sz="2400">
                <a:ea typeface="+mn-lt"/>
                <a:cs typeface="+mn-lt"/>
              </a:rPr>
              <a:t>KVCO ≈ </a:t>
            </a:r>
            <a:r>
              <a:rPr lang="en-US" sz="2400" b="1">
                <a:ea typeface="+mn-lt"/>
                <a:cs typeface="+mn-lt"/>
              </a:rPr>
              <a:t>1 GHz/V</a:t>
            </a:r>
            <a:endParaRPr lang="en-US" sz="2400" b="1"/>
          </a:p>
          <a:p>
            <a:r>
              <a:rPr lang="en-US" sz="2400">
                <a:ea typeface="+mn-lt"/>
                <a:cs typeface="+mn-lt"/>
              </a:rPr>
              <a:t>Keep M5 in saturation by limiting </a:t>
            </a:r>
            <a:r>
              <a:rPr lang="en-US" sz="2400" err="1">
                <a:ea typeface="+mn-lt"/>
                <a:cs typeface="+mn-lt"/>
              </a:rPr>
              <a:t>Vcont</a:t>
            </a:r>
            <a:r>
              <a:rPr lang="en-US" sz="2400">
                <a:ea typeface="+mn-lt"/>
                <a:cs typeface="+mn-lt"/>
              </a:rPr>
              <a:t>.</a:t>
            </a:r>
            <a:endParaRPr lang="en-US" sz="2400"/>
          </a:p>
          <a:p>
            <a:pPr marL="0" indent="0">
              <a:buNone/>
            </a:pPr>
            <a:r>
              <a:rPr lang="en-US" sz="2400" u="sng"/>
              <a:t>What if M5 enters triode region?</a:t>
            </a:r>
          </a:p>
          <a:p>
            <a:r>
              <a:rPr lang="en-US" sz="2400">
                <a:ea typeface="+mn-lt"/>
                <a:cs typeface="+mn-lt"/>
              </a:rPr>
              <a:t>It behaves more like a </a:t>
            </a:r>
            <a:r>
              <a:rPr lang="en-US" sz="2400" b="1">
                <a:ea typeface="+mn-lt"/>
                <a:cs typeface="+mn-lt"/>
              </a:rPr>
              <a:t>resistor</a:t>
            </a:r>
            <a:r>
              <a:rPr lang="en-US" sz="2400">
                <a:ea typeface="+mn-lt"/>
                <a:cs typeface="+mn-lt"/>
              </a:rPr>
              <a:t> than a current source.</a:t>
            </a:r>
            <a:endParaRPr lang="en-US" sz="2400"/>
          </a:p>
          <a:p>
            <a:r>
              <a:rPr lang="en-US" sz="2400">
                <a:ea typeface="+mn-lt"/>
                <a:cs typeface="+mn-lt"/>
              </a:rPr>
              <a:t>When </a:t>
            </a:r>
            <a:r>
              <a:rPr lang="en-US" sz="2400" b="1">
                <a:ea typeface="+mn-lt"/>
                <a:cs typeface="+mn-lt"/>
              </a:rPr>
              <a:t>VX = VY</a:t>
            </a:r>
            <a:r>
              <a:rPr lang="en-US" sz="2400">
                <a:ea typeface="+mn-lt"/>
                <a:cs typeface="+mn-lt"/>
              </a:rPr>
              <a:t>, the voltage across M5 depends on VDD.</a:t>
            </a:r>
            <a:endParaRPr lang="en-US" sz="240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ea typeface="+mn-lt"/>
                <a:cs typeface="+mn-lt"/>
              </a:rPr>
              <a:t>Specifically: </a:t>
            </a:r>
            <a:r>
              <a:rPr lang="en-US" b="1">
                <a:ea typeface="+mn-lt"/>
                <a:cs typeface="+mn-lt"/>
              </a:rPr>
              <a:t>Vds5 = VDD − V</a:t>
            </a:r>
            <a:r>
              <a:rPr lang="en-US" b="1" baseline="-25000">
                <a:ea typeface="+mn-lt"/>
                <a:cs typeface="+mn-lt"/>
              </a:rPr>
              <a:t>RD</a:t>
            </a:r>
            <a:r>
              <a:rPr lang="en-US" b="1">
                <a:ea typeface="+mn-lt"/>
                <a:cs typeface="+mn-lt"/>
              </a:rPr>
              <a:t> − </a:t>
            </a:r>
            <a:r>
              <a:rPr lang="en-US" b="1" err="1">
                <a:ea typeface="+mn-lt"/>
                <a:cs typeface="+mn-lt"/>
              </a:rPr>
              <a:t>Vgs</a:t>
            </a:r>
            <a:r>
              <a:rPr lang="en-US" b="1">
                <a:ea typeface="+mn-lt"/>
                <a:cs typeface="+mn-lt"/>
              </a:rPr>
              <a:t> of M3/M4</a:t>
            </a:r>
            <a:endParaRPr lang="en-US"/>
          </a:p>
          <a:p>
            <a:r>
              <a:rPr lang="en-US" sz="2400">
                <a:ea typeface="+mn-lt"/>
                <a:cs typeface="+mn-lt"/>
              </a:rPr>
              <a:t>Any fluctuation in VDD affects the current through M3 and M4 (</a:t>
            </a:r>
            <a:r>
              <a:rPr lang="en-US" sz="2400" b="1">
                <a:ea typeface="+mn-lt"/>
                <a:cs typeface="+mn-lt"/>
              </a:rPr>
              <a:t>ID3,4)</a:t>
            </a:r>
            <a:endParaRPr lang="en-US" sz="2400" b="1"/>
          </a:p>
          <a:p>
            <a:r>
              <a:rPr lang="en-US" sz="2400">
                <a:ea typeface="+mn-lt"/>
                <a:cs typeface="+mn-lt"/>
              </a:rPr>
              <a:t>That changes their </a:t>
            </a:r>
            <a:r>
              <a:rPr lang="en-US" sz="2400" b="1">
                <a:ea typeface="+mn-lt"/>
                <a:cs typeface="+mn-lt"/>
              </a:rPr>
              <a:t>gm</a:t>
            </a:r>
            <a:r>
              <a:rPr lang="en-US" sz="2400">
                <a:ea typeface="+mn-lt"/>
                <a:cs typeface="+mn-lt"/>
              </a:rPr>
              <a:t>, which controls the </a:t>
            </a:r>
            <a:r>
              <a:rPr lang="en-US" sz="2400" b="1">
                <a:ea typeface="+mn-lt"/>
                <a:cs typeface="+mn-lt"/>
              </a:rPr>
              <a:t>negative resistance.</a:t>
            </a:r>
            <a:endParaRPr lang="en-US" sz="2400" b="1"/>
          </a:p>
          <a:p>
            <a:r>
              <a:rPr lang="en-US" sz="2400"/>
              <a:t>Thereby modulating oscillation frequency.</a:t>
            </a:r>
          </a:p>
          <a:p>
            <a:pPr marL="0" indent="0" algn="ctr">
              <a:buNone/>
            </a:pPr>
            <a:r>
              <a:rPr lang="en-US" sz="2400" i="1"/>
              <a:t>Supply rejection gets worse</a:t>
            </a:r>
            <a:endParaRPr lang="en-US" i="1"/>
          </a:p>
          <a:p>
            <a:pPr marL="0" indent="0">
              <a:buNone/>
            </a:pPr>
            <a:endParaRPr lang="en-US" sz="2400" b="1"/>
          </a:p>
          <a:p>
            <a:pPr>
              <a:buNone/>
            </a:pPr>
            <a:endParaRPr lang="en-US" sz="2400" b="1"/>
          </a:p>
        </p:txBody>
      </p:sp>
      <p:pic>
        <p:nvPicPr>
          <p:cNvPr id="2" name="Picture 1" descr="A diagram of a circuit&#10;&#10;AI-generated content may be incorrect.">
            <a:extLst>
              <a:ext uri="{FF2B5EF4-FFF2-40B4-BE49-F238E27FC236}">
                <a16:creationId xmlns:a16="http://schemas.microsoft.com/office/drawing/2014/main" id="{CB0AFDF4-ADFC-E74A-64F7-F735E1D2CC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5544" y="599723"/>
            <a:ext cx="2593995" cy="155914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21FA693-B35F-5CE4-3C03-90AF71F558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71939" y="772873"/>
            <a:ext cx="1492955" cy="1340908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68145988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2B7579-5432-AD6B-DC9E-B7380483AF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44758"/>
            <a:ext cx="10515600" cy="6481315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400" b="1">
                <a:ea typeface="+mn-lt"/>
                <a:cs typeface="+mn-lt"/>
              </a:rPr>
              <a:t>Phase Noise Behavior with Negative-Resistance Tuning</a:t>
            </a:r>
          </a:p>
          <a:p>
            <a:r>
              <a:rPr lang="en-US" sz="2400">
                <a:ea typeface="+mn-lt"/>
                <a:cs typeface="+mn-lt"/>
              </a:rPr>
              <a:t>Thermal noise f₀ = 2.2 GHz to 1.83 GHz, 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ea typeface="+mn-lt"/>
                <a:cs typeface="+mn-lt"/>
              </a:rPr>
              <a:t>phase noise is </a:t>
            </a:r>
            <a:r>
              <a:rPr lang="en-US" u="sng">
                <a:ea typeface="+mn-lt"/>
                <a:cs typeface="+mn-lt"/>
              </a:rPr>
              <a:t>expected to be 1.6 dB</a:t>
            </a:r>
            <a:r>
              <a:rPr lang="en-US">
                <a:ea typeface="+mn-lt"/>
                <a:cs typeface="+mn-lt"/>
              </a:rPr>
              <a:t> due to reduced frequency. </a:t>
            </a:r>
            <a:endParaRPr lang="en-US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ea typeface="+mn-lt"/>
                <a:cs typeface="+mn-lt"/>
              </a:rPr>
              <a:t>Actual drop is </a:t>
            </a:r>
            <a:r>
              <a:rPr lang="en-US" b="1">
                <a:ea typeface="+mn-lt"/>
                <a:cs typeface="+mn-lt"/>
              </a:rPr>
              <a:t> 3 dB </a:t>
            </a:r>
            <a:r>
              <a:rPr lang="en-US">
                <a:ea typeface="+mn-lt"/>
                <a:cs typeface="+mn-lt"/>
              </a:rPr>
              <a:t>at 100 MHz offset</a:t>
            </a:r>
          </a:p>
          <a:p>
            <a:r>
              <a:rPr lang="en-US" sz="2400">
                <a:ea typeface="+mn-lt"/>
                <a:cs typeface="+mn-lt"/>
              </a:rPr>
              <a:t>At </a:t>
            </a:r>
            <a:r>
              <a:rPr lang="en-US" sz="2400" b="1">
                <a:ea typeface="+mn-lt"/>
                <a:cs typeface="+mn-lt"/>
              </a:rPr>
              <a:t>100 kHz offset</a:t>
            </a:r>
            <a:r>
              <a:rPr lang="en-US" sz="2400">
                <a:ea typeface="+mn-lt"/>
                <a:cs typeface="+mn-lt"/>
              </a:rPr>
              <a:t>, phase noise remains at </a:t>
            </a:r>
            <a:r>
              <a:rPr lang="en-US" sz="2400" b="1">
                <a:ea typeface="+mn-lt"/>
                <a:cs typeface="+mn-lt"/>
              </a:rPr>
              <a:t>−62 </a:t>
            </a:r>
            <a:r>
              <a:rPr lang="en-US" sz="2400" b="1" err="1">
                <a:ea typeface="+mn-lt"/>
                <a:cs typeface="+mn-lt"/>
              </a:rPr>
              <a:t>dBc</a:t>
            </a:r>
            <a:r>
              <a:rPr lang="en-US" sz="2400" b="1">
                <a:ea typeface="+mn-lt"/>
                <a:cs typeface="+mn-lt"/>
              </a:rPr>
              <a:t>/Hz</a:t>
            </a:r>
            <a:r>
              <a:rPr lang="en-US" sz="2400">
                <a:ea typeface="+mn-lt"/>
                <a:cs typeface="+mn-lt"/>
              </a:rPr>
              <a:t>.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u="sng">
                <a:ea typeface="+mn-lt"/>
                <a:cs typeface="+mn-lt"/>
              </a:rPr>
              <a:t>Reason</a:t>
            </a:r>
            <a:r>
              <a:rPr lang="en-US">
                <a:ea typeface="+mn-lt"/>
                <a:cs typeface="+mn-lt"/>
              </a:rPr>
              <a:t>: Flicker noise from tuning transistor M5 is dominant, as its noise directly affects </a:t>
            </a:r>
            <a:r>
              <a:rPr lang="en-US" err="1">
                <a:ea typeface="+mn-lt"/>
                <a:cs typeface="+mn-lt"/>
              </a:rPr>
              <a:t>Vcont</a:t>
            </a:r>
            <a:r>
              <a:rPr lang="en-US">
                <a:ea typeface="+mn-lt"/>
                <a:cs typeface="+mn-lt"/>
              </a:rPr>
              <a:t>.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400">
                <a:ea typeface="+mn-lt"/>
                <a:cs typeface="+mn-lt"/>
              </a:rPr>
              <a:t>Doubling M5’s W and L reduces phase noise by 1 </a:t>
            </a:r>
            <a:r>
              <a:rPr lang="en-US" sz="2400" err="1">
                <a:ea typeface="+mn-lt"/>
                <a:cs typeface="+mn-lt"/>
              </a:rPr>
              <a:t>dB.</a:t>
            </a:r>
            <a:endParaRPr lang="en-US" sz="2400">
              <a:ea typeface="+mn-lt"/>
              <a:cs typeface="+mn-lt"/>
            </a:endParaRPr>
          </a:p>
          <a:p>
            <a:r>
              <a:rPr lang="en-US" sz="2400" b="1">
                <a:ea typeface="+mn-lt"/>
                <a:cs typeface="+mn-lt"/>
              </a:rPr>
              <a:t>Observations: </a:t>
            </a:r>
            <a:endParaRPr lang="en-US" sz="2400" b="1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u="sng">
                <a:ea typeface="+mn-lt"/>
                <a:cs typeface="+mn-lt"/>
              </a:rPr>
              <a:t>Flat zone</a:t>
            </a:r>
            <a:r>
              <a:rPr lang="en-US">
                <a:ea typeface="+mn-lt"/>
                <a:cs typeface="+mn-lt"/>
              </a:rPr>
              <a:t> in tuning curve for </a:t>
            </a:r>
            <a:r>
              <a:rPr lang="en-US" err="1">
                <a:ea typeface="+mn-lt"/>
                <a:cs typeface="+mn-lt"/>
              </a:rPr>
              <a:t>Vcont</a:t>
            </a:r>
            <a:r>
              <a:rPr lang="en-US">
                <a:ea typeface="+mn-lt"/>
                <a:cs typeface="+mn-lt"/>
              </a:rPr>
              <a:t> = 0 to 400 mV.</a:t>
            </a:r>
            <a:endParaRPr lang="en-US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u="sng">
                <a:ea typeface="+mn-lt"/>
                <a:cs typeface="+mn-lt"/>
              </a:rPr>
              <a:t>High KVCO</a:t>
            </a:r>
            <a:r>
              <a:rPr lang="en-US">
                <a:ea typeface="+mn-lt"/>
                <a:cs typeface="+mn-lt"/>
              </a:rPr>
              <a:t> in the range 400 mV &lt; </a:t>
            </a:r>
            <a:r>
              <a:rPr lang="en-US" err="1">
                <a:ea typeface="+mn-lt"/>
                <a:cs typeface="+mn-lt"/>
              </a:rPr>
              <a:t>Vcont</a:t>
            </a:r>
            <a:r>
              <a:rPr lang="en-US">
                <a:ea typeface="+mn-lt"/>
                <a:cs typeface="+mn-lt"/>
              </a:rPr>
              <a:t> &lt; 900 mV.</a:t>
            </a:r>
          </a:p>
          <a:p>
            <a:pPr lvl="2">
              <a:buFont typeface="Wingdings" panose="020B0604020202020204" pitchFamily="34" charset="0"/>
              <a:buChar char="§"/>
            </a:pPr>
            <a:r>
              <a:rPr lang="en-US" sz="2400">
                <a:ea typeface="+mn-lt"/>
                <a:cs typeface="+mn-lt"/>
              </a:rPr>
              <a:t>Can be Reduced KVCO by scaling down M3–M5.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u="sng">
                <a:ea typeface="+mn-lt"/>
                <a:cs typeface="+mn-lt"/>
              </a:rPr>
              <a:t>Lower PVT </a:t>
            </a:r>
            <a:r>
              <a:rPr lang="en-US">
                <a:ea typeface="+mn-lt"/>
                <a:cs typeface="+mn-lt"/>
              </a:rPr>
              <a:t>variations compared to </a:t>
            </a:r>
            <a:r>
              <a:rPr lang="en-US" err="1">
                <a:ea typeface="+mn-lt"/>
                <a:cs typeface="+mn-lt"/>
              </a:rPr>
              <a:t>invt</a:t>
            </a:r>
            <a:r>
              <a:rPr lang="en-US">
                <a:ea typeface="+mn-lt"/>
                <a:cs typeface="+mn-lt"/>
              </a:rPr>
              <a:t> rings.</a:t>
            </a:r>
          </a:p>
          <a:p>
            <a:pPr lvl="2">
              <a:buFont typeface="Wingdings" panose="020B0604020202020204" pitchFamily="34" charset="0"/>
              <a:buChar char="§"/>
            </a:pPr>
            <a:r>
              <a:rPr lang="en-US" sz="2400"/>
              <a:t>Frequency depends on Rd and CL ; </a:t>
            </a:r>
            <a:r>
              <a:rPr lang="en-US" sz="2400" u="sng"/>
              <a:t>More stable than transistors.</a:t>
            </a:r>
          </a:p>
          <a:p>
            <a:pPr lvl="2">
              <a:buFont typeface="Wingdings" panose="020B0604020202020204" pitchFamily="34" charset="0"/>
              <a:buChar char="§"/>
            </a:pPr>
            <a:r>
              <a:rPr lang="en-US" sz="2400">
                <a:ea typeface="+mn-lt"/>
                <a:cs typeface="+mn-lt"/>
              </a:rPr>
              <a:t>RD: ±15%, CL: ±5% for frequency ±20%.</a:t>
            </a:r>
            <a:endParaRPr lang="en-US" sz="2400"/>
          </a:p>
          <a:p>
            <a:endParaRPr lang="en-US"/>
          </a:p>
          <a:p>
            <a:endParaRPr lang="en-US"/>
          </a:p>
        </p:txBody>
      </p:sp>
      <p:pic>
        <p:nvPicPr>
          <p:cNvPr id="4" name="Picture 3" descr="A graph of a function&#10;&#10;AI-generated content may be incorrect.">
            <a:extLst>
              <a:ext uri="{FF2B5EF4-FFF2-40B4-BE49-F238E27FC236}">
                <a16:creationId xmlns:a16="http://schemas.microsoft.com/office/drawing/2014/main" id="{B4D72202-D3DB-73CE-E2E2-E2F276E00F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46494" y="3064463"/>
            <a:ext cx="2008012" cy="1778001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22206182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C550AD-CFAA-7B5B-90D9-A0D37B84A5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9739"/>
            <a:ext cx="10946920" cy="6476071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2400" b="1" dirty="0"/>
              <a:t>2. Varactor tuning:</a:t>
            </a:r>
          </a:p>
          <a:p>
            <a:r>
              <a:rPr lang="en-US" sz="2400" dirty="0">
                <a:ea typeface="+mn-lt"/>
                <a:cs typeface="+mn-lt"/>
              </a:rPr>
              <a:t>Uses MOS varactors for frequency tuning.</a:t>
            </a:r>
          </a:p>
          <a:p>
            <a:r>
              <a:rPr lang="en-US" sz="2400" dirty="0">
                <a:ea typeface="+mn-lt"/>
                <a:cs typeface="+mn-lt"/>
              </a:rPr>
              <a:t>Varactor network adds</a:t>
            </a:r>
            <a:r>
              <a:rPr lang="en-US" sz="2400" u="sng" dirty="0">
                <a:ea typeface="+mn-lt"/>
                <a:cs typeface="+mn-lt"/>
              </a:rPr>
              <a:t> negligible phase noise</a:t>
            </a:r>
            <a:r>
              <a:rPr lang="en-US" sz="2400" dirty="0">
                <a:ea typeface="+mn-lt"/>
                <a:cs typeface="+mn-lt"/>
              </a:rPr>
              <a:t>: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ea typeface="+mn-lt"/>
                <a:cs typeface="+mn-lt"/>
              </a:rPr>
              <a:t>much cleaner control compared to transistor-based tuning</a:t>
            </a:r>
          </a:p>
          <a:p>
            <a:r>
              <a:rPr lang="en-US" sz="2400" u="sng" dirty="0">
                <a:ea typeface="+mn-lt"/>
                <a:cs typeface="+mn-lt"/>
              </a:rPr>
              <a:t>Preferred technique due to: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ea typeface="+mn-lt"/>
                <a:cs typeface="+mn-lt"/>
              </a:rPr>
              <a:t>low flicker noise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ea typeface="+mn-lt"/>
                <a:cs typeface="+mn-lt"/>
              </a:rPr>
              <a:t>stable tuning range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ea typeface="+mn-lt"/>
                <a:cs typeface="+mn-lt"/>
              </a:rPr>
              <a:t>no direct transistor in control path → less noise injection.</a:t>
            </a:r>
          </a:p>
          <a:p>
            <a:r>
              <a:rPr lang="en-US" sz="2400" dirty="0">
                <a:ea typeface="+mn-lt"/>
                <a:cs typeface="+mn-lt"/>
              </a:rPr>
              <a:t>Relies on accurate varactor models to set tuning range.</a:t>
            </a:r>
          </a:p>
          <a:p>
            <a:pPr marL="0" indent="0">
              <a:buNone/>
            </a:pPr>
            <a:r>
              <a:rPr lang="en-US" sz="2400" b="1" dirty="0">
                <a:ea typeface="+mn-lt"/>
                <a:cs typeface="+mn-lt"/>
              </a:rPr>
              <a:t>EXAMPLE: Varactor Tuning Range</a:t>
            </a:r>
          </a:p>
          <a:p>
            <a:pPr marL="342900" indent="-342900"/>
            <a:r>
              <a:rPr lang="en-US" sz="2400" dirty="0">
                <a:ea typeface="+mn-lt"/>
                <a:cs typeface="+mn-lt"/>
              </a:rPr>
              <a:t>As the control voltage </a:t>
            </a:r>
            <a:r>
              <a:rPr lang="en-US" sz="2400" dirty="0" err="1">
                <a:ea typeface="+mn-lt"/>
                <a:cs typeface="+mn-lt"/>
              </a:rPr>
              <a:t>Vcont</a:t>
            </a:r>
            <a:r>
              <a:rPr lang="en-US" sz="2400" dirty="0">
                <a:ea typeface="+mn-lt"/>
                <a:cs typeface="+mn-lt"/>
              </a:rPr>
              <a:t> varies from 0 to VDD:</a:t>
            </a:r>
          </a:p>
          <a:p>
            <a:pPr marL="342900" indent="-342900"/>
            <a:r>
              <a:rPr lang="en-US" sz="2400" dirty="0" err="1">
                <a:ea typeface="+mn-lt"/>
                <a:cs typeface="+mn-lt"/>
              </a:rPr>
              <a:t>Vcont</a:t>
            </a:r>
            <a:r>
              <a:rPr lang="en-US" sz="2400" dirty="0">
                <a:ea typeface="+mn-lt"/>
                <a:cs typeface="+mn-lt"/>
              </a:rPr>
              <a:t> goes from V1 to V2, the varactors’ voltage varies from VDD −ISSRD/2− V1 to VDD −ISSRD/2−V2.</a:t>
            </a:r>
          </a:p>
          <a:p>
            <a:pPr marL="342900" indent="-342900"/>
            <a:r>
              <a:rPr lang="en-US" sz="2400" dirty="0">
                <a:ea typeface="+mn-lt"/>
                <a:cs typeface="+mn-lt"/>
              </a:rPr>
              <a:t>This causes the varactor to operate across most of its C-V curve. </a:t>
            </a:r>
            <a:endParaRPr lang="en-US" sz="2400" dirty="0"/>
          </a:p>
          <a:p>
            <a:pPr marL="342900" indent="-342900"/>
            <a:r>
              <a:rPr lang="en-US" sz="2400" dirty="0">
                <a:ea typeface="+mn-lt"/>
                <a:cs typeface="+mn-lt"/>
              </a:rPr>
              <a:t>If capacitance doesn’t flatten at high VGS, f₀ keeps changing as </a:t>
            </a:r>
            <a:r>
              <a:rPr lang="en-US" sz="2400" dirty="0" err="1">
                <a:ea typeface="+mn-lt"/>
                <a:cs typeface="+mn-lt"/>
              </a:rPr>
              <a:t>Vcont</a:t>
            </a:r>
            <a:r>
              <a:rPr lang="en-US" sz="2400" dirty="0">
                <a:ea typeface="+mn-lt"/>
                <a:cs typeface="+mn-lt"/>
              </a:rPr>
              <a:t> decreases.</a:t>
            </a:r>
            <a:endParaRPr lang="en-US" sz="2400" dirty="0"/>
          </a:p>
          <a:p>
            <a:pPr marL="342900" indent="-342900"/>
            <a:endParaRPr lang="en-US" sz="2400"/>
          </a:p>
        </p:txBody>
      </p:sp>
      <p:pic>
        <p:nvPicPr>
          <p:cNvPr id="4" name="Picture 3" descr="A diagram of a circuit&#10;&#10;AI-generated content may be incorrect.">
            <a:extLst>
              <a:ext uri="{FF2B5EF4-FFF2-40B4-BE49-F238E27FC236}">
                <a16:creationId xmlns:a16="http://schemas.microsoft.com/office/drawing/2014/main" id="{63D19E46-17FE-7CBC-AC9D-C4FEFDA7F2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45308" y="406160"/>
            <a:ext cx="2647950" cy="190500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5" name="Picture 4" descr="A graph of a function&#10;&#10;AI-generated content may be incorrect.">
            <a:extLst>
              <a:ext uri="{FF2B5EF4-FFF2-40B4-BE49-F238E27FC236}">
                <a16:creationId xmlns:a16="http://schemas.microsoft.com/office/drawing/2014/main" id="{0899062B-6CC1-F263-33AA-B51C5C9CBB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62421" y="2873315"/>
            <a:ext cx="2809875" cy="160020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5074102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4449F5-6C49-9A96-4D70-C9522DCFD6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45399"/>
            <a:ext cx="10515600" cy="6119753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400" b="1" dirty="0"/>
              <a:t>3. Tuning the number of stages:</a:t>
            </a:r>
          </a:p>
          <a:p>
            <a:r>
              <a:rPr lang="en-US" sz="2400" dirty="0">
                <a:ea typeface="+mn-lt"/>
                <a:cs typeface="+mn-lt"/>
              </a:rPr>
              <a:t>Each stage has a slow path and a fast path.</a:t>
            </a:r>
            <a:endParaRPr lang="en-US" sz="2400" dirty="0"/>
          </a:p>
          <a:p>
            <a:r>
              <a:rPr lang="en-US" sz="2400" dirty="0" err="1">
                <a:ea typeface="+mn-lt"/>
                <a:cs typeface="+mn-lt"/>
              </a:rPr>
              <a:t>Vcont</a:t>
            </a:r>
            <a:r>
              <a:rPr lang="en-US" sz="2400" dirty="0">
                <a:ea typeface="+mn-lt"/>
                <a:cs typeface="+mn-lt"/>
              </a:rPr>
              <a:t> controls the strength of the fast path.</a:t>
            </a:r>
            <a:endParaRPr lang="en-US" dirty="0"/>
          </a:p>
          <a:p>
            <a:r>
              <a:rPr lang="en-US" sz="2400" dirty="0">
                <a:ea typeface="+mn-lt"/>
                <a:cs typeface="+mn-lt"/>
              </a:rPr>
              <a:t>If</a:t>
            </a:r>
            <a:r>
              <a:rPr lang="en-US" sz="2400" u="sng" dirty="0">
                <a:ea typeface="+mn-lt"/>
                <a:cs typeface="+mn-lt"/>
              </a:rPr>
              <a:t> fast path is off</a:t>
            </a:r>
            <a:r>
              <a:rPr lang="en-US" sz="2400" dirty="0">
                <a:ea typeface="+mn-lt"/>
                <a:cs typeface="+mn-lt"/>
              </a:rPr>
              <a:t> → only slow path → lowest frequency.</a:t>
            </a:r>
            <a:endParaRPr lang="en-US" dirty="0"/>
          </a:p>
          <a:p>
            <a:r>
              <a:rPr lang="en-US" sz="2400" dirty="0">
                <a:ea typeface="+mn-lt"/>
                <a:cs typeface="+mn-lt"/>
              </a:rPr>
              <a:t>If </a:t>
            </a:r>
            <a:r>
              <a:rPr lang="en-US" sz="2400" u="sng" dirty="0">
                <a:ea typeface="+mn-lt"/>
                <a:cs typeface="+mn-lt"/>
              </a:rPr>
              <a:t>fast path is fully on</a:t>
            </a:r>
            <a:r>
              <a:rPr lang="en-US" sz="2400" dirty="0">
                <a:ea typeface="+mn-lt"/>
                <a:cs typeface="+mn-lt"/>
              </a:rPr>
              <a:t> → signal bypasses slow path → highest frequency.</a:t>
            </a:r>
            <a:endParaRPr lang="en-US" dirty="0"/>
          </a:p>
          <a:p>
            <a:r>
              <a:rPr lang="en-US" sz="2400" u="sng" dirty="0">
                <a:ea typeface="+mn-lt"/>
                <a:cs typeface="+mn-lt"/>
              </a:rPr>
              <a:t>Intermediate </a:t>
            </a:r>
            <a:r>
              <a:rPr lang="en-US" sz="2400" u="sng" dirty="0" err="1">
                <a:ea typeface="+mn-lt"/>
                <a:cs typeface="+mn-lt"/>
              </a:rPr>
              <a:t>Vcont</a:t>
            </a:r>
            <a:r>
              <a:rPr lang="en-US" sz="2400" dirty="0">
                <a:ea typeface="+mn-lt"/>
                <a:cs typeface="+mn-lt"/>
              </a:rPr>
              <a:t> → circuit </a:t>
            </a:r>
            <a:r>
              <a:rPr lang="en-US" sz="2400" b="1" dirty="0">
                <a:ea typeface="+mn-lt"/>
                <a:cs typeface="+mn-lt"/>
              </a:rPr>
              <a:t>interpolates </a:t>
            </a:r>
            <a:r>
              <a:rPr lang="en-US" sz="2400" dirty="0">
                <a:ea typeface="+mn-lt"/>
                <a:cs typeface="+mn-lt"/>
              </a:rPr>
              <a:t>between both paths.</a:t>
            </a:r>
            <a:endParaRPr lang="en-US" dirty="0"/>
          </a:p>
          <a:p>
            <a:r>
              <a:rPr lang="en-US" sz="2400" dirty="0">
                <a:ea typeface="+mn-lt"/>
                <a:cs typeface="+mn-lt"/>
              </a:rPr>
              <a:t>Effectively changes the number of active stages from 6 to 3.</a:t>
            </a:r>
            <a:endParaRPr lang="en-US" dirty="0"/>
          </a:p>
          <a:p>
            <a:pPr marL="0" indent="0" algn="ctr">
              <a:buNone/>
            </a:pPr>
            <a:endParaRPr lang="en-US" sz="2400" b="1" dirty="0"/>
          </a:p>
          <a:p>
            <a:pPr marL="0" indent="0">
              <a:buNone/>
            </a:pPr>
            <a:r>
              <a:rPr lang="en-US" sz="2400" b="1" dirty="0"/>
              <a:t>Overall</a:t>
            </a:r>
            <a:endParaRPr lang="en-US" dirty="0"/>
          </a:p>
          <a:p>
            <a:r>
              <a:rPr lang="en-US" sz="2400" dirty="0"/>
              <a:t>Resistive : poor linearity/noise</a:t>
            </a:r>
          </a:p>
          <a:p>
            <a:r>
              <a:rPr lang="en-US" sz="2400" dirty="0"/>
              <a:t>N-stages: wide range and high Phase noise</a:t>
            </a:r>
          </a:p>
          <a:p>
            <a:r>
              <a:rPr lang="en-US" sz="2400" dirty="0"/>
              <a:t>Varactor : Best case </a:t>
            </a:r>
          </a:p>
          <a:p>
            <a:pPr marL="0" indent="0">
              <a:buNone/>
            </a:pPr>
            <a:endParaRPr lang="en-US" sz="2400" b="1"/>
          </a:p>
          <a:p>
            <a:pPr marL="0" indent="0">
              <a:buNone/>
            </a:pPr>
            <a:endParaRPr lang="en-US" sz="2400" b="1"/>
          </a:p>
          <a:p>
            <a:pPr marL="0" indent="0">
              <a:buNone/>
            </a:pPr>
            <a:endParaRPr lang="en-US" sz="2400"/>
          </a:p>
        </p:txBody>
      </p:sp>
      <p:pic>
        <p:nvPicPr>
          <p:cNvPr id="4" name="Picture 3" descr="A diagram of a path&#10;&#10;AI-generated content may be incorrect.">
            <a:extLst>
              <a:ext uri="{FF2B5EF4-FFF2-40B4-BE49-F238E27FC236}">
                <a16:creationId xmlns:a16="http://schemas.microsoft.com/office/drawing/2014/main" id="{A679CA74-6310-753B-571C-BCC5DFA576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95556" y="261668"/>
            <a:ext cx="3292774" cy="1848928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78140556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E0EF2A-7AA4-8D6E-4176-04CB56E4C4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7135E2-F593-1483-7934-892915AD0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6630"/>
            <a:ext cx="10515600" cy="1325563"/>
          </a:xfrm>
        </p:spPr>
        <p:txBody>
          <a:bodyPr>
            <a:normAutofit fontScale="90000"/>
          </a:bodyPr>
          <a:lstStyle/>
          <a:p>
            <a:pPr>
              <a:spcBef>
                <a:spcPts val="1000"/>
              </a:spcBef>
            </a:pPr>
            <a:br>
              <a:rPr lang="en-US">
                <a:ea typeface="+mj-lt"/>
                <a:cs typeface="+mj-lt"/>
              </a:rPr>
            </a:br>
            <a:r>
              <a:rPr lang="en-US" b="1" dirty="0">
                <a:ea typeface="+mj-lt"/>
                <a:cs typeface="+mj-lt"/>
              </a:rPr>
              <a:t>Inverter-Based Oscillators with Complementary or Quadrature Outputs.</a:t>
            </a:r>
            <a:endParaRPr lang="en-US" b="1" dirty="0"/>
          </a:p>
          <a:p>
            <a:endParaRPr lang="en-US" b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B28EB1-F5F2-5C81-9726-A365FE7EE9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79927"/>
            <a:ext cx="10875033" cy="5429639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400" b="1" dirty="0">
                <a:ea typeface="+mn-lt"/>
                <a:cs typeface="+mn-lt"/>
              </a:rPr>
              <a:t>Coupled oscillator: </a:t>
            </a:r>
            <a:r>
              <a:rPr lang="en-US" sz="2400" dirty="0">
                <a:ea typeface="+mn-lt"/>
                <a:cs typeface="+mn-lt"/>
              </a:rPr>
              <a:t>Single-ended rings require odd no of stages for oscillations. Coupled </a:t>
            </a:r>
            <a:r>
              <a:rPr lang="en-US" sz="2400" err="1">
                <a:ea typeface="+mn-lt"/>
                <a:cs typeface="+mn-lt"/>
              </a:rPr>
              <a:t>osc</a:t>
            </a:r>
            <a:r>
              <a:rPr lang="en-US" sz="2400" dirty="0">
                <a:ea typeface="+mn-lt"/>
                <a:cs typeface="+mn-lt"/>
              </a:rPr>
              <a:t> can generate oscillations which are 180 degree shifted.</a:t>
            </a:r>
          </a:p>
          <a:p>
            <a:pPr marL="457200" indent="-457200">
              <a:buAutoNum type="arabicPeriod"/>
            </a:pPr>
            <a:r>
              <a:rPr lang="en-US" sz="2400" u="sng" dirty="0"/>
              <a:t>Single Resister (Ri)</a:t>
            </a:r>
          </a:p>
          <a:p>
            <a:pPr marL="914400" lvl="1" indent="-457200">
              <a:buFont typeface="Courier New" panose="020B0604020202020204" pitchFamily="34" charset="0"/>
              <a:buChar char="o"/>
            </a:pPr>
            <a:r>
              <a:rPr lang="en-US" dirty="0"/>
              <a:t>They operate in-phase.</a:t>
            </a:r>
          </a:p>
          <a:p>
            <a:pPr marL="914400" lvl="1" indent="-457200">
              <a:buFont typeface="Courier New" panose="020B0604020202020204" pitchFamily="34" charset="0"/>
              <a:buChar char="o"/>
            </a:pPr>
            <a:r>
              <a:rPr lang="en-US" dirty="0"/>
              <a:t>No current flows through Ri.</a:t>
            </a:r>
          </a:p>
          <a:p>
            <a:pPr marL="914400" lvl="1" indent="-457200">
              <a:buFont typeface="Courier New" panose="020B0604020202020204" pitchFamily="34" charset="0"/>
              <a:buChar char="o"/>
            </a:pPr>
            <a:r>
              <a:rPr lang="en-US" dirty="0"/>
              <a:t>Minimum energy exchange.</a:t>
            </a:r>
          </a:p>
          <a:p>
            <a:pPr marL="914400" lvl="1" indent="-457200">
              <a:buFont typeface="Courier New" panose="020B0604020202020204" pitchFamily="34" charset="0"/>
              <a:buChar char="o"/>
            </a:pPr>
            <a:r>
              <a:rPr lang="en-US" dirty="0"/>
              <a:t>No complimentary outputs. </a:t>
            </a:r>
          </a:p>
          <a:p>
            <a:pPr marL="457200" indent="-457200">
              <a:buAutoNum type="arabicPeriod"/>
            </a:pPr>
            <a:r>
              <a:rPr lang="en-US" sz="2400" u="sng" dirty="0"/>
              <a:t>Two resistors </a:t>
            </a:r>
          </a:p>
          <a:p>
            <a:pPr marL="914400" lvl="1" indent="-457200">
              <a:buFont typeface="Courier New"/>
              <a:buChar char="o"/>
            </a:pPr>
            <a:r>
              <a:rPr lang="en-US" dirty="0"/>
              <a:t>The outputs are 180 degree out of phase.</a:t>
            </a:r>
          </a:p>
          <a:p>
            <a:pPr marL="914400" lvl="1" indent="-457200">
              <a:buFont typeface="Courier New"/>
              <a:buChar char="o"/>
            </a:pPr>
            <a:r>
              <a:rPr lang="en-US" dirty="0"/>
              <a:t>Less energy exchange per cycle</a:t>
            </a:r>
          </a:p>
          <a:p>
            <a:pPr marL="914400" lvl="1" indent="-457200">
              <a:buFont typeface="Courier New"/>
              <a:buChar char="o"/>
            </a:pPr>
            <a:r>
              <a:rPr lang="en-US" dirty="0"/>
              <a:t>Only 0- or 180-degree phase difference is possible due to symmetry.</a:t>
            </a:r>
          </a:p>
          <a:p>
            <a:pPr marL="914400" lvl="1" indent="-457200">
              <a:buFont typeface="Courier New"/>
              <a:buChar char="o"/>
            </a:pPr>
            <a:r>
              <a:rPr lang="en-US" dirty="0"/>
              <a:t>Intermediate values lead to unbalanced energy transfer. </a:t>
            </a:r>
          </a:p>
          <a:p>
            <a:pPr marL="914400" lvl="1" indent="-457200">
              <a:buFont typeface="Courier New"/>
              <a:buChar char="o"/>
            </a:pPr>
            <a:r>
              <a:rPr lang="en-US" u="sng" dirty="0"/>
              <a:t>Energy operation for In-phase is 2/3 and out-of-phase is 1/3 of the times. </a:t>
            </a:r>
          </a:p>
        </p:txBody>
      </p:sp>
      <p:pic>
        <p:nvPicPr>
          <p:cNvPr id="4" name="Picture 3" descr="A diagram of a circuit&#10;&#10;AI-generated content may be incorrect.">
            <a:extLst>
              <a:ext uri="{FF2B5EF4-FFF2-40B4-BE49-F238E27FC236}">
                <a16:creationId xmlns:a16="http://schemas.microsoft.com/office/drawing/2014/main" id="{7CCDBB16-5001-01C9-BA38-7B8C6287B3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051" y="2405512"/>
            <a:ext cx="1949031" cy="168754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5" name="Picture 4" descr="A diagram of a circuit&#10;&#10;AI-generated content may be incorrect.">
            <a:extLst>
              <a:ext uri="{FF2B5EF4-FFF2-40B4-BE49-F238E27FC236}">
                <a16:creationId xmlns:a16="http://schemas.microsoft.com/office/drawing/2014/main" id="{5F1711B1-31FC-0CC2-CC6D-6A1951D087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30305" y="3434662"/>
            <a:ext cx="2165770" cy="165645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63208841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247160-AB9D-D0D4-A642-DE22A18754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16003"/>
            <a:ext cx="11033184" cy="6277903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400" b="1" dirty="0"/>
              <a:t>How is this possible? </a:t>
            </a:r>
            <a:endParaRPr lang="en-US" sz="2400"/>
          </a:p>
          <a:p>
            <a:pPr>
              <a:buFont typeface="Arial"/>
              <a:buChar char="•"/>
            </a:pPr>
            <a:r>
              <a:rPr lang="en-US" sz="2400" b="1" dirty="0"/>
              <a:t>Ri1</a:t>
            </a:r>
            <a:r>
              <a:rPr lang="en-US" sz="2400" dirty="0"/>
              <a:t> connects </a:t>
            </a:r>
            <a:r>
              <a:rPr lang="en-US" sz="2400" b="1" dirty="0"/>
              <a:t>B1 to C2</a:t>
            </a:r>
            <a:endParaRPr lang="en-US" sz="2400"/>
          </a:p>
          <a:p>
            <a:pPr>
              <a:buFont typeface="Arial"/>
              <a:buChar char="•"/>
            </a:pPr>
            <a:r>
              <a:rPr lang="en-US" sz="2400" b="1" dirty="0"/>
              <a:t>Ri2</a:t>
            </a:r>
            <a:r>
              <a:rPr lang="en-US" sz="2400" dirty="0"/>
              <a:t> connects </a:t>
            </a:r>
            <a:r>
              <a:rPr lang="en-US" sz="2400" b="1" dirty="0"/>
              <a:t>C1 to B2</a:t>
            </a:r>
            <a:endParaRPr lang="en-US" sz="2400"/>
          </a:p>
          <a:p>
            <a:pPr marL="0" indent="0">
              <a:buNone/>
            </a:pPr>
            <a:r>
              <a:rPr lang="en-US" sz="2400" dirty="0"/>
              <a:t>Each oscillator has 3 stages, so signals at nodes A,B, and C are </a:t>
            </a:r>
            <a:r>
              <a:rPr lang="en-US" sz="2400" b="1" dirty="0"/>
              <a:t>120 degree out of phase</a:t>
            </a:r>
            <a:r>
              <a:rPr lang="en-US" sz="2400" dirty="0"/>
              <a:t> with each other. </a:t>
            </a:r>
            <a:endParaRPr lang="en-US" sz="2400"/>
          </a:p>
          <a:p>
            <a:r>
              <a:rPr lang="en-US" sz="2400" dirty="0">
                <a:solidFill>
                  <a:srgbClr val="FF0000"/>
                </a:solidFill>
              </a:rPr>
              <a:t>In-phase : energy exchange is for 2/3rd times:</a:t>
            </a:r>
            <a:endParaRPr lang="en-US" sz="2400">
              <a:solidFill>
                <a:srgbClr val="FF0000"/>
              </a:solidFill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/>
              <a:t>When in-phase, signals at A1/A2, B1/B2 etc., rise &amp; fall together.</a:t>
            </a:r>
            <a:endParaRPr lang="en-US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/>
              <a:t>But signals at B1 and C2, C1 and B2 are not perfectly aligned.</a:t>
            </a:r>
            <a:endParaRPr lang="en-US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/>
              <a:t>Current flows through the resistors due to the voltage difference. </a:t>
            </a:r>
            <a:endParaRPr lang="en-US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/>
              <a:t>(B1 &amp; C2), (C1 &amp; B2) differ in voltage for two-thirds of the cycle. </a:t>
            </a:r>
            <a:endParaRPr lang="en-US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/>
              <a:t>So, energy exchange happens for 2/3 of the time.</a:t>
            </a:r>
            <a:endParaRPr lang="en-US"/>
          </a:p>
          <a:p>
            <a:r>
              <a:rPr lang="en-US" sz="2400" dirty="0">
                <a:solidFill>
                  <a:srgbClr val="FF0000"/>
                </a:solidFill>
              </a:rPr>
              <a:t>Out of phase : energy exchange is for 1/3rd times</a:t>
            </a:r>
            <a:r>
              <a:rPr lang="en-US" sz="2400" dirty="0"/>
              <a:t>: </a:t>
            </a:r>
            <a:endParaRPr lang="en-US" sz="240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/>
              <a:t>When out of phase by 180 degrees, signals are complementary. (A1= 1; A2=0).</a:t>
            </a:r>
            <a:endParaRPr lang="en-US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/>
              <a:t>B1 to C2 and C1 to B2 align better when out-of-phase and thus less energy exchange.  </a:t>
            </a:r>
          </a:p>
        </p:txBody>
      </p:sp>
    </p:spTree>
    <p:extLst>
      <p:ext uri="{BB962C8B-B14F-4D97-AF65-F5344CB8AC3E}">
        <p14:creationId xmlns:p14="http://schemas.microsoft.com/office/powerpoint/2010/main" val="418132545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FFD860-C719-0ED6-3E70-0BE913D666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45399"/>
            <a:ext cx="10515600" cy="5975979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en-US" sz="2400" dirty="0"/>
              <a:t>3. </a:t>
            </a:r>
            <a:r>
              <a:rPr lang="en-US" sz="2400" u="sng" dirty="0"/>
              <a:t>Inverter based: </a:t>
            </a:r>
            <a:endParaRPr lang="en-US" dirty="0"/>
          </a:p>
          <a:p>
            <a:pPr marL="0" indent="0">
              <a:buNone/>
            </a:pPr>
            <a:r>
              <a:rPr lang="en-US" sz="2400" dirty="0"/>
              <a:t>     A)</a:t>
            </a:r>
            <a:r>
              <a:rPr lang="en-US" sz="2400" b="1" u="sng" dirty="0"/>
              <a:t> Inv1 and Inv2 are </a:t>
            </a:r>
            <a:r>
              <a:rPr lang="en-US" sz="2400" b="1" u="sng" dirty="0">
                <a:solidFill>
                  <a:srgbClr val="FF0000"/>
                </a:solidFill>
              </a:rPr>
              <a:t>anti-parallel</a:t>
            </a:r>
            <a:r>
              <a:rPr lang="en-US" sz="2400" b="1" u="sng" dirty="0"/>
              <a:t>.</a:t>
            </a:r>
          </a:p>
          <a:p>
            <a:pPr marL="342900" indent="-342900"/>
            <a:r>
              <a:rPr lang="en-US" sz="2400" dirty="0"/>
              <a:t>They inject a fraction of one oscillation signal into another.</a:t>
            </a:r>
            <a:endParaRPr lang="en-US" dirty="0"/>
          </a:p>
          <a:p>
            <a:pPr marL="342900" indent="-342900"/>
            <a:endParaRPr lang="en-US" sz="2400" u="sng" dirty="0"/>
          </a:p>
          <a:p>
            <a:pPr marL="342900" indent="-342900"/>
            <a:r>
              <a:rPr lang="en-US" sz="2400" u="sng" dirty="0"/>
              <a:t>A1 and A2 are </a:t>
            </a:r>
            <a:r>
              <a:rPr lang="en-US" sz="2400" b="1" u="sng" dirty="0"/>
              <a:t>out of phase</a:t>
            </a:r>
            <a:r>
              <a:rPr lang="en-US" sz="2400" dirty="0"/>
              <a:t> by 180 degrees </a:t>
            </a:r>
            <a:r>
              <a:rPr lang="en-US" sz="2400" u="sng" dirty="0"/>
              <a:t>is encouraged.</a:t>
            </a:r>
            <a:endParaRPr lang="en-US"/>
          </a:p>
          <a:p>
            <a:pPr marL="800100" lvl="1" indent="-342900">
              <a:buFont typeface="Courier New" panose="020B0604020202020204" pitchFamily="34" charset="0"/>
              <a:buChar char="o"/>
            </a:pPr>
            <a:r>
              <a:rPr lang="en-US" dirty="0"/>
              <a:t>Inverters only inject current (transient), minimizing disruption.</a:t>
            </a:r>
          </a:p>
          <a:p>
            <a:pPr marL="342900" indent="-342900"/>
            <a:r>
              <a:rPr lang="en-US" sz="2400" u="sng" dirty="0"/>
              <a:t>A1 and A2 are </a:t>
            </a:r>
            <a:r>
              <a:rPr lang="en-US" sz="2400" b="1" u="sng" dirty="0"/>
              <a:t>in-phase</a:t>
            </a:r>
            <a:r>
              <a:rPr lang="en-US" sz="2400" dirty="0"/>
              <a:t> disrupts the </a:t>
            </a:r>
            <a:r>
              <a:rPr lang="en-US" sz="2400" dirty="0" err="1"/>
              <a:t>the</a:t>
            </a:r>
            <a:r>
              <a:rPr lang="en-US" sz="2400" dirty="0"/>
              <a:t> operation.</a:t>
            </a:r>
            <a:endParaRPr lang="en-US"/>
          </a:p>
          <a:p>
            <a:pPr marL="800100" lvl="1" indent="-342900">
              <a:buFont typeface="Courier New" panose="020B0604020202020204" pitchFamily="34" charset="0"/>
              <a:buChar char="o"/>
            </a:pPr>
            <a:r>
              <a:rPr lang="en-US" dirty="0"/>
              <a:t>Inv1 and Inv2 are </a:t>
            </a:r>
            <a:r>
              <a:rPr lang="en-US" b="1" dirty="0"/>
              <a:t>weak </a:t>
            </a:r>
            <a:r>
              <a:rPr lang="en-US" dirty="0"/>
              <a:t>: </a:t>
            </a:r>
          </a:p>
          <a:p>
            <a:pPr marL="1257300" lvl="2">
              <a:buFont typeface="Wingdings" panose="020B0604020202020204" pitchFamily="34" charset="0"/>
              <a:buChar char="§"/>
            </a:pPr>
            <a:r>
              <a:rPr lang="en-US" sz="2400" dirty="0">
                <a:ea typeface="+mn-lt"/>
                <a:cs typeface="+mn-lt"/>
              </a:rPr>
              <a:t>Oscillator suffers from a frequency mismatch</a:t>
            </a:r>
          </a:p>
          <a:p>
            <a:pPr marL="1257300" lvl="2">
              <a:buFont typeface="Wingdings" panose="020B0604020202020204" pitchFamily="34" charset="0"/>
              <a:buChar char="§"/>
            </a:pPr>
            <a:r>
              <a:rPr lang="en-US" sz="2400" dirty="0">
                <a:ea typeface="+mn-lt"/>
                <a:cs typeface="+mn-lt"/>
              </a:rPr>
              <a:t>Synchronization (“injection locking”) does not occur.</a:t>
            </a:r>
          </a:p>
          <a:p>
            <a:pPr marL="800100" lvl="1">
              <a:buFont typeface="Courier New" panose="020B0604020202020204" pitchFamily="34" charset="0"/>
              <a:buChar char="o"/>
            </a:pPr>
            <a:r>
              <a:rPr lang="en-US" dirty="0"/>
              <a:t>Inv1 and Inv2 are </a:t>
            </a:r>
            <a:r>
              <a:rPr lang="en-US" b="1" dirty="0"/>
              <a:t>strong</a:t>
            </a:r>
            <a:r>
              <a:rPr lang="en-US" dirty="0"/>
              <a:t>: </a:t>
            </a:r>
          </a:p>
          <a:p>
            <a:pPr marL="1257300" lvl="2">
              <a:buFont typeface="Wingdings" panose="020B0604020202020204" pitchFamily="34" charset="0"/>
              <a:buChar char="§"/>
            </a:pPr>
            <a:r>
              <a:rPr lang="en-US" sz="2400" dirty="0">
                <a:ea typeface="+mn-lt"/>
                <a:cs typeface="+mn-lt"/>
              </a:rPr>
              <a:t>They act as a regenerative latch : circuit locks into ONE/ZERO.</a:t>
            </a:r>
            <a:endParaRPr lang="en-US" sz="2400" dirty="0"/>
          </a:p>
          <a:p>
            <a:pPr marL="114300" indent="0" algn="ctr">
              <a:buNone/>
            </a:pPr>
            <a:r>
              <a:rPr lang="en-US" sz="2400" i="1" u="sng" dirty="0"/>
              <a:t>Strength of these inverters should be 20% of the main inverters.</a:t>
            </a:r>
          </a:p>
          <a:p>
            <a:pPr marL="114300" indent="0" algn="just">
              <a:buNone/>
            </a:pPr>
            <a:endParaRPr lang="en-US" sz="2400" i="1" dirty="0"/>
          </a:p>
        </p:txBody>
      </p:sp>
      <p:pic>
        <p:nvPicPr>
          <p:cNvPr id="4" name="Picture 3" descr="A diagram of a circuit&#10;&#10;AI-generated content may be incorrect.">
            <a:extLst>
              <a:ext uri="{FF2B5EF4-FFF2-40B4-BE49-F238E27FC236}">
                <a16:creationId xmlns:a16="http://schemas.microsoft.com/office/drawing/2014/main" id="{AA0433C0-FC79-A46D-CA6F-CA1B9BEB71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7647" y="448844"/>
            <a:ext cx="2688746" cy="157522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76318166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2B75FD-B165-F096-25ED-B4640AD3CA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9445" y="215362"/>
            <a:ext cx="11033184" cy="640729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400" dirty="0"/>
              <a:t>    B)  </a:t>
            </a:r>
            <a:r>
              <a:rPr lang="en-US" sz="2400" b="1" u="sng" dirty="0"/>
              <a:t>Solving phase mismatch from coupling inverters.</a:t>
            </a:r>
          </a:p>
          <a:p>
            <a:r>
              <a:rPr lang="en-US" sz="2400" dirty="0">
                <a:ea typeface="+mn-lt"/>
                <a:cs typeface="+mn-lt"/>
              </a:rPr>
              <a:t>Coupling inverters </a:t>
            </a:r>
            <a:r>
              <a:rPr lang="en-US" sz="2400" b="1" dirty="0">
                <a:ea typeface="+mn-lt"/>
                <a:cs typeface="+mn-lt"/>
              </a:rPr>
              <a:t>load only A1 and A2</a:t>
            </a:r>
            <a:r>
              <a:rPr lang="en-US" sz="2400" dirty="0">
                <a:ea typeface="+mn-lt"/>
                <a:cs typeface="+mn-lt"/>
              </a:rPr>
              <a:t>, causing </a:t>
            </a:r>
            <a:r>
              <a:rPr lang="en-US" sz="2400" b="1" dirty="0">
                <a:ea typeface="+mn-lt"/>
                <a:cs typeface="+mn-lt"/>
              </a:rPr>
              <a:t>phase mismatches</a:t>
            </a:r>
            <a:r>
              <a:rPr lang="en-US" sz="2400" dirty="0">
                <a:ea typeface="+mn-lt"/>
                <a:cs typeface="+mn-lt"/>
              </a:rPr>
              <a:t> across the ring.</a:t>
            </a:r>
          </a:p>
          <a:p>
            <a:r>
              <a:rPr lang="en-US" sz="2400" dirty="0"/>
              <a:t>Applications that need all phase outputs, this is a problem.</a:t>
            </a:r>
          </a:p>
          <a:p>
            <a:r>
              <a:rPr lang="en-US" sz="2400" dirty="0">
                <a:solidFill>
                  <a:srgbClr val="FF0000"/>
                </a:solidFill>
              </a:rPr>
              <a:t>Solution</a:t>
            </a:r>
            <a:r>
              <a:rPr lang="en-US" sz="2400" dirty="0"/>
              <a:t> is to add similar coupling inverters at other nodes to balance loading. </a:t>
            </a:r>
          </a:p>
          <a:p>
            <a:r>
              <a:rPr lang="en-US" sz="2400" dirty="0">
                <a:ea typeface="+mn-lt"/>
                <a:cs typeface="+mn-lt"/>
              </a:rPr>
              <a:t>Resulting phase steps become 60° (not 180°/2M).</a:t>
            </a:r>
          </a:p>
          <a:p>
            <a:pPr marL="0" indent="0">
              <a:buNone/>
            </a:pPr>
            <a:r>
              <a:rPr lang="en-US" sz="2400" b="1" dirty="0">
                <a:solidFill>
                  <a:srgbClr val="FF0000"/>
                </a:solidFill>
              </a:rPr>
              <a:t>Phase noise consideration</a:t>
            </a:r>
          </a:p>
          <a:p>
            <a:pPr marL="0" indent="0">
              <a:buNone/>
            </a:pPr>
            <a:r>
              <a:rPr lang="en-US" sz="2400" u="sng" dirty="0"/>
              <a:t>Design goal</a:t>
            </a:r>
            <a:r>
              <a:rPr lang="en-US" sz="2400" dirty="0"/>
              <a:t>: To design coupled </a:t>
            </a:r>
            <a:r>
              <a:rPr lang="en-US" sz="2400" err="1"/>
              <a:t>osc</a:t>
            </a:r>
            <a:r>
              <a:rPr lang="en-US" sz="2400" dirty="0"/>
              <a:t> topology for 2GHz</a:t>
            </a:r>
          </a:p>
          <a:p>
            <a:pPr marL="342900" indent="-342900"/>
            <a:r>
              <a:rPr lang="en-US" sz="2400" dirty="0"/>
              <a:t>Uses stages derived from 2.5GHz 3-stage ring from chapter 3.</a:t>
            </a:r>
          </a:p>
          <a:p>
            <a:pPr marL="342900" indent="-342900"/>
            <a:r>
              <a:rPr lang="en-US" sz="2400" dirty="0"/>
              <a:t>Results: </a:t>
            </a:r>
            <a:r>
              <a:rPr lang="en-US" sz="2400" b="1" dirty="0"/>
              <a:t>2.3GHz</a:t>
            </a:r>
          </a:p>
          <a:p>
            <a:pPr marL="342900" indent="-342900"/>
            <a:r>
              <a:rPr lang="en-US" sz="2400" u="sng" dirty="0"/>
              <a:t>This coupled design</a:t>
            </a:r>
            <a:r>
              <a:rPr lang="en-US" sz="2400" dirty="0"/>
              <a:t>  has 30 "unit" inverters {6 main 4xstrength+ 6coupling}</a:t>
            </a:r>
          </a:p>
          <a:p>
            <a:pPr marL="342900" indent="-342900"/>
            <a:r>
              <a:rPr lang="en-US" sz="2400" u="sng" dirty="0"/>
              <a:t>Expected</a:t>
            </a:r>
            <a:r>
              <a:rPr lang="en-US" sz="2400" dirty="0"/>
              <a:t> power/noise tradeoff: 10xpower should reduce 10dB Phase noise.</a:t>
            </a:r>
          </a:p>
          <a:p>
            <a:pPr marL="342900" indent="-342900"/>
            <a:r>
              <a:rPr lang="en-US" sz="2400" u="sng" dirty="0"/>
              <a:t>Observed:</a:t>
            </a:r>
            <a:r>
              <a:rPr lang="en-US" sz="2400" dirty="0"/>
              <a:t> 115uA of supply current. Lower frequency &amp; 10db Reduction in PN!</a:t>
            </a:r>
          </a:p>
          <a:p>
            <a:pPr marL="0" indent="0" algn="ctr">
              <a:buNone/>
            </a:pPr>
            <a:r>
              <a:rPr lang="en-US" sz="2400" i="1" u="sng" dirty="0"/>
              <a:t>This generates Complementary o/</a:t>
            </a:r>
            <a:r>
              <a:rPr lang="en-US" sz="2400" i="1" u="sng" dirty="0" err="1"/>
              <a:t>ps'</a:t>
            </a:r>
            <a:r>
              <a:rPr lang="en-US" sz="2400" i="1" u="sng" dirty="0"/>
              <a:t> with little penalty to FOM </a:t>
            </a:r>
          </a:p>
        </p:txBody>
      </p:sp>
      <p:pic>
        <p:nvPicPr>
          <p:cNvPr id="4" name="Picture 3" descr="A diagram of a circuit&#10;&#10;AI-generated content may be incorrect.">
            <a:extLst>
              <a:ext uri="{FF2B5EF4-FFF2-40B4-BE49-F238E27FC236}">
                <a16:creationId xmlns:a16="http://schemas.microsoft.com/office/drawing/2014/main" id="{76EDECC8-D9DA-BA89-D1CF-6E445AF36A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97312" y="2452059"/>
            <a:ext cx="2469491" cy="1752599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96538874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EB1AC0-ED0A-7A87-94DB-5344C92EBF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45399"/>
            <a:ext cx="10831901" cy="616288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F0000"/>
                </a:solidFill>
              </a:rPr>
              <a:t>Example: Does Differential o/p reduce supply sensitivity?</a:t>
            </a:r>
          </a:p>
          <a:p>
            <a:pPr marL="342900" indent="-342900"/>
            <a:r>
              <a:rPr lang="en-US" sz="2400" dirty="0"/>
              <a:t>In true differential oscillators, supply noise affects both sides and gets cancelled off.</a:t>
            </a:r>
          </a:p>
          <a:p>
            <a:pPr marL="342900" indent="-342900"/>
            <a:r>
              <a:rPr lang="en-US" sz="2400" dirty="0"/>
              <a:t>But, in </a:t>
            </a:r>
            <a:r>
              <a:rPr lang="en-US" sz="2400" u="sng" dirty="0"/>
              <a:t>coupled inverter rings,</a:t>
            </a:r>
            <a:r>
              <a:rPr lang="en-US" sz="2400" dirty="0"/>
              <a:t> though outputs are complimentary, all inverters depend on VDD for switching.</a:t>
            </a:r>
          </a:p>
          <a:p>
            <a:pPr marL="342900" indent="-342900"/>
            <a:r>
              <a:rPr lang="en-US" sz="2400" dirty="0"/>
              <a:t>So,</a:t>
            </a:r>
            <a:r>
              <a:rPr lang="en-US" sz="2400" u="sng" dirty="0"/>
              <a:t> if VDD changes, all inverter delays change</a:t>
            </a:r>
            <a:r>
              <a:rPr lang="en-US" sz="2400" dirty="0"/>
              <a:t>.</a:t>
            </a:r>
          </a:p>
          <a:p>
            <a:pPr marL="800100" lvl="1" indent="-342900">
              <a:buFont typeface="Courier New" panose="020B0604020202020204" pitchFamily="34" charset="0"/>
              <a:buChar char="o"/>
            </a:pPr>
            <a:r>
              <a:rPr lang="en-US" dirty="0"/>
              <a:t>Affects frequency of operation</a:t>
            </a:r>
          </a:p>
          <a:p>
            <a:pPr marL="800100" lvl="1" indent="-342900">
              <a:buFont typeface="Courier New" panose="020B0604020202020204" pitchFamily="34" charset="0"/>
              <a:buChar char="o"/>
            </a:pPr>
            <a:r>
              <a:rPr lang="en-US" dirty="0"/>
              <a:t>Shifts frequency for both rings (top &amp; bottom) in the same direction.</a:t>
            </a:r>
          </a:p>
          <a:p>
            <a:pPr marL="800100" lvl="1" indent="-342900">
              <a:buFont typeface="Courier New" panose="020B0604020202020204" pitchFamily="34" charset="0"/>
              <a:buChar char="o"/>
            </a:pPr>
            <a:r>
              <a:rPr lang="en-US" dirty="0"/>
              <a:t>Thus, No cancellation of this effect. </a:t>
            </a:r>
            <a:endParaRPr lang="en-US" sz="2400" dirty="0"/>
          </a:p>
          <a:p>
            <a:pPr marL="0" indent="0">
              <a:buNone/>
            </a:pPr>
            <a:r>
              <a:rPr lang="en-US" sz="2400" b="1" dirty="0"/>
              <a:t>Result: </a:t>
            </a:r>
            <a:r>
              <a:rPr lang="en-US" sz="2400" dirty="0"/>
              <a:t>Only ~15% reduction in supply sensitivity vs. a single ring</a:t>
            </a:r>
            <a:r>
              <a:rPr lang="en-US" sz="2400" b="1" dirty="0"/>
              <a:t>.</a:t>
            </a:r>
            <a:endParaRPr lang="en-US" dirty="0"/>
          </a:p>
        </p:txBody>
      </p:sp>
      <p:pic>
        <p:nvPicPr>
          <p:cNvPr id="8" name="Picture 7" descr="A diagram of a circuit&#10;&#10;AI-generated content may be incorrect.">
            <a:extLst>
              <a:ext uri="{FF2B5EF4-FFF2-40B4-BE49-F238E27FC236}">
                <a16:creationId xmlns:a16="http://schemas.microsoft.com/office/drawing/2014/main" id="{41DCE02E-9405-D146-6594-A0C841E0EF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16440" y="2188504"/>
            <a:ext cx="1811728" cy="1057636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34108947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90B007-8AB5-3B8C-30FA-B73E23E5FD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30380"/>
            <a:ext cx="10803146" cy="617726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F0000"/>
                </a:solidFill>
              </a:rPr>
              <a:t>Direct Quadrature Generation (4-stage)</a:t>
            </a:r>
          </a:p>
          <a:p>
            <a:pPr marL="342900" indent="-342900"/>
            <a:r>
              <a:rPr lang="en-US" sz="2400" dirty="0"/>
              <a:t>Get A,B,C,D waveforms. </a:t>
            </a:r>
          </a:p>
          <a:p>
            <a:pPr marL="342900" indent="-342900"/>
            <a:r>
              <a:rPr lang="en-US" sz="2400" dirty="0"/>
              <a:t>A&amp;B, and C&amp;D are complimentary, but A&amp;C are 90 degrees apart {</a:t>
            </a:r>
            <a:r>
              <a:rPr lang="en-US" sz="2400" u="sng" dirty="0"/>
              <a:t>Quadrature</a:t>
            </a:r>
            <a:r>
              <a:rPr lang="en-US" sz="2400" dirty="0"/>
              <a:t>}</a:t>
            </a:r>
          </a:p>
          <a:p>
            <a:pPr marL="342900" indent="-342900"/>
            <a:r>
              <a:rPr lang="en-US" sz="2400" dirty="0"/>
              <a:t>Each inverter adds delay which are 90 degrees apart. </a:t>
            </a:r>
          </a:p>
          <a:p>
            <a:pPr marL="342900" indent="-342900"/>
            <a:r>
              <a:rPr lang="en-US" sz="2400" b="1" dirty="0"/>
              <a:t>Problem</a:t>
            </a:r>
            <a:r>
              <a:rPr lang="en-US" sz="2400" dirty="0"/>
              <a:t>: Latch-up possible</a:t>
            </a:r>
          </a:p>
          <a:p>
            <a:pPr marL="342900" indent="-342900"/>
            <a:r>
              <a:rPr lang="en-US" sz="2400" b="1" dirty="0"/>
              <a:t>Solution: </a:t>
            </a:r>
            <a:r>
              <a:rPr lang="en-US" sz="2400" dirty="0"/>
              <a:t>Add a cross-coupled inverter (</a:t>
            </a:r>
            <a:r>
              <a:rPr lang="en-US" sz="2400" dirty="0" err="1"/>
              <a:t>invt</a:t>
            </a:r>
            <a:r>
              <a:rPr lang="en-US" sz="2400" dirty="0"/>
              <a:t> : 5 to 8).</a:t>
            </a:r>
          </a:p>
          <a:p>
            <a:pPr marL="800100" lvl="1" indent="-342900">
              <a:buFont typeface="Courier New" panose="020B0604020202020204" pitchFamily="34" charset="0"/>
              <a:buChar char="o"/>
            </a:pPr>
            <a:r>
              <a:rPr lang="en-US" dirty="0"/>
              <a:t>This will fight equal states and forces transitions to occur. </a:t>
            </a:r>
          </a:p>
          <a:p>
            <a:pPr marL="800100" lvl="1" indent="-342900">
              <a:buFont typeface="Courier New" panose="020B0604020202020204" pitchFamily="34" charset="0"/>
              <a:buChar char="o"/>
            </a:pPr>
            <a:r>
              <a:rPr lang="en-US" dirty="0"/>
              <a:t>Keep Inverter 5 to 8 weaker than the main ones to prevent latch-up.</a:t>
            </a:r>
          </a:p>
          <a:p>
            <a:pPr marL="800100" lvl="1" indent="-342900">
              <a:buFont typeface="Courier New" panose="020B0604020202020204" pitchFamily="34" charset="0"/>
              <a:buChar char="o"/>
            </a:pPr>
            <a:r>
              <a:rPr lang="en-US" b="1" dirty="0"/>
              <a:t>Results: </a:t>
            </a:r>
            <a:endParaRPr lang="en-US" dirty="0"/>
          </a:p>
          <a:p>
            <a:pPr marL="1257300" lvl="2">
              <a:buFont typeface="Wingdings" panose="020B0604020202020204" pitchFamily="34" charset="0"/>
              <a:buChar char="§"/>
            </a:pPr>
            <a:r>
              <a:rPr lang="en-US" sz="2400" dirty="0"/>
              <a:t>Higher frequency than 3-stage, slightly worse FOM</a:t>
            </a:r>
          </a:p>
          <a:p>
            <a:pPr marL="1257300" lvl="2">
              <a:buFont typeface="Wingdings" panose="020B0604020202020204" pitchFamily="34" charset="0"/>
              <a:buChar char="§"/>
            </a:pPr>
            <a:r>
              <a:rPr lang="en-US" sz="2400" dirty="0">
                <a:ea typeface="+mn-lt"/>
                <a:cs typeface="+mn-lt"/>
              </a:rPr>
              <a:t>Higher power consumption.</a:t>
            </a:r>
          </a:p>
          <a:p>
            <a:pPr marL="114300" indent="0">
              <a:buNone/>
            </a:pPr>
            <a:endParaRPr lang="en-US" sz="2400" dirty="0">
              <a:ea typeface="+mn-lt"/>
              <a:cs typeface="+mn-lt"/>
            </a:endParaRPr>
          </a:p>
          <a:p>
            <a:pPr marL="114300" indent="0">
              <a:buNone/>
            </a:pPr>
            <a:endParaRPr lang="en-US" sz="2400" dirty="0">
              <a:ea typeface="+mn-lt"/>
              <a:cs typeface="+mn-lt"/>
            </a:endParaRPr>
          </a:p>
          <a:p>
            <a:pPr marL="114300" indent="0">
              <a:buNone/>
            </a:pPr>
            <a:r>
              <a:rPr lang="en-US" sz="2400" dirty="0">
                <a:ea typeface="+mn-lt"/>
                <a:cs typeface="+mn-lt"/>
              </a:rPr>
              <a:t>Quadrature generation trades </a:t>
            </a:r>
            <a:r>
              <a:rPr lang="en-US" sz="2400" b="1" dirty="0">
                <a:ea typeface="+mn-lt"/>
                <a:cs typeface="+mn-lt"/>
              </a:rPr>
              <a:t>power efficiency</a:t>
            </a:r>
            <a:r>
              <a:rPr lang="en-US" sz="2400" dirty="0">
                <a:ea typeface="+mn-lt"/>
                <a:cs typeface="+mn-lt"/>
              </a:rPr>
              <a:t> for </a:t>
            </a:r>
            <a:r>
              <a:rPr lang="en-US" sz="2400" b="1" dirty="0">
                <a:ea typeface="+mn-lt"/>
                <a:cs typeface="+mn-lt"/>
              </a:rPr>
              <a:t>multi-phase outputs</a:t>
            </a:r>
            <a:r>
              <a:rPr lang="en-US" sz="2400" dirty="0">
                <a:ea typeface="+mn-lt"/>
                <a:cs typeface="+mn-lt"/>
              </a:rPr>
              <a:t>.</a:t>
            </a:r>
            <a:endParaRPr lang="en-US" sz="2400" b="1"/>
          </a:p>
        </p:txBody>
      </p:sp>
      <p:pic>
        <p:nvPicPr>
          <p:cNvPr id="4" name="Picture 3" descr="A diagram of a circuit&#10;&#10;AI-generated content may be incorrect.">
            <a:extLst>
              <a:ext uri="{FF2B5EF4-FFF2-40B4-BE49-F238E27FC236}">
                <a16:creationId xmlns:a16="http://schemas.microsoft.com/office/drawing/2014/main" id="{855ACBC8-BB43-D6A3-E2B5-8B0A25AC9A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89581" y="1709020"/>
            <a:ext cx="1573782" cy="1355246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5" name="Picture 4" descr="A diagram of a circuit&#10;&#10;AI-generated content may be incorrect.">
            <a:extLst>
              <a:ext uri="{FF2B5EF4-FFF2-40B4-BE49-F238E27FC236}">
                <a16:creationId xmlns:a16="http://schemas.microsoft.com/office/drawing/2014/main" id="{A9E5362C-1537-7019-20DB-ACB746EE73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50263" y="3838666"/>
            <a:ext cx="1992343" cy="181172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10002030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2BD796-3DA5-940D-4D3B-C9A2E3079C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16644"/>
            <a:ext cx="11004430" cy="611975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F0000"/>
                </a:solidFill>
              </a:rPr>
              <a:t>Quadrature Generation by interpolation</a:t>
            </a:r>
          </a:p>
          <a:p>
            <a:pPr marL="342900" indent="-342900"/>
            <a:r>
              <a:rPr lang="en-US" sz="2400" b="1" dirty="0">
                <a:ea typeface="+mn-lt"/>
                <a:cs typeface="+mn-lt"/>
              </a:rPr>
              <a:t>Goal:</a:t>
            </a:r>
            <a:r>
              <a:rPr lang="en-US" sz="2400" dirty="0">
                <a:ea typeface="+mn-lt"/>
                <a:cs typeface="+mn-lt"/>
              </a:rPr>
              <a:t> Generate quadrature outputs from a simple ring oscillator using </a:t>
            </a:r>
            <a:r>
              <a:rPr lang="en-US" sz="2400" b="1" dirty="0">
                <a:ea typeface="+mn-lt"/>
                <a:cs typeface="+mn-lt"/>
              </a:rPr>
              <a:t>phase interpolation</a:t>
            </a:r>
            <a:r>
              <a:rPr lang="en-US" sz="2400" dirty="0">
                <a:ea typeface="+mn-lt"/>
                <a:cs typeface="+mn-lt"/>
              </a:rPr>
              <a:t>. </a:t>
            </a:r>
          </a:p>
          <a:p>
            <a:pPr marL="342900" indent="-342900"/>
            <a:r>
              <a:rPr lang="en-US" sz="2400" dirty="0">
                <a:ea typeface="+mn-lt"/>
                <a:cs typeface="+mn-lt"/>
              </a:rPr>
              <a:t>To create intermediate phases without special topology.</a:t>
            </a:r>
          </a:p>
          <a:p>
            <a:pPr marL="0" indent="0">
              <a:buNone/>
            </a:pPr>
            <a:r>
              <a:rPr lang="en-US" sz="2400" b="1" dirty="0">
                <a:ea typeface="+mn-lt"/>
                <a:cs typeface="+mn-lt"/>
              </a:rPr>
              <a:t>Working and Implementation:</a:t>
            </a:r>
            <a:endParaRPr lang="en-US" sz="2400" dirty="0">
              <a:ea typeface="+mn-lt"/>
              <a:cs typeface="+mn-lt"/>
            </a:endParaRPr>
          </a:p>
          <a:p>
            <a:pPr marL="342900" indent="-342900"/>
            <a:r>
              <a:rPr lang="en-US" sz="2400" dirty="0">
                <a:ea typeface="+mn-lt"/>
                <a:cs typeface="+mn-lt"/>
              </a:rPr>
              <a:t>Add outputs from two stages with different phases (e.g., B1 + C2) → result is ~90° shifted.</a:t>
            </a:r>
          </a:p>
          <a:p>
            <a:pPr>
              <a:buFont typeface="Arial"/>
              <a:buChar char="•"/>
            </a:pPr>
            <a:r>
              <a:rPr lang="en-US" sz="2400" dirty="0">
                <a:ea typeface="+mn-lt"/>
                <a:cs typeface="+mn-lt"/>
              </a:rPr>
              <a:t>Use two inverters and short their outputs to compute (B1 + C2)/2. </a:t>
            </a:r>
            <a:r>
              <a:rPr lang="en-US" sz="2400" i="1" dirty="0">
                <a:ea typeface="+mn-lt"/>
                <a:cs typeface="+mn-lt"/>
              </a:rPr>
              <a:t>-A quadrature.</a:t>
            </a:r>
          </a:p>
          <a:p>
            <a:pPr>
              <a:buFont typeface="Arial"/>
            </a:pPr>
            <a:r>
              <a:rPr lang="en-US" sz="2400" dirty="0">
                <a:ea typeface="+mn-lt"/>
                <a:cs typeface="+mn-lt"/>
              </a:rPr>
              <a:t>Output approximates</a:t>
            </a:r>
            <a:r>
              <a:rPr lang="en-US" sz="2400" u="sng" dirty="0">
                <a:ea typeface="+mn-lt"/>
                <a:cs typeface="+mn-lt"/>
              </a:rPr>
              <a:t> interpolated phase D1,D2, etc.</a:t>
            </a:r>
          </a:p>
          <a:p>
            <a:pPr marL="342900" indent="-342900"/>
            <a:r>
              <a:rPr lang="en-US" sz="2400" dirty="0">
                <a:ea typeface="+mn-lt"/>
                <a:cs typeface="+mn-lt"/>
              </a:rPr>
              <a:t>When B1 and C2 are both high or both low → output is clean, no extra power used in changing the o/p when B1 and C2 do not match.</a:t>
            </a:r>
          </a:p>
          <a:p>
            <a:pPr marL="342900" indent="-342900"/>
            <a:r>
              <a:rPr lang="en-US" sz="2400" dirty="0">
                <a:ea typeface="+mn-lt"/>
                <a:cs typeface="+mn-lt"/>
              </a:rPr>
              <a:t>During switching :  one inverter pulls up, the other pulls down : </a:t>
            </a:r>
            <a:r>
              <a:rPr lang="en-US" sz="2400" b="1" dirty="0">
                <a:ea typeface="+mn-lt"/>
                <a:cs typeface="+mn-lt"/>
              </a:rPr>
              <a:t>Static current</a:t>
            </a:r>
          </a:p>
          <a:p>
            <a:pPr marL="342900" indent="-342900"/>
            <a:r>
              <a:rPr lang="en-US" sz="2400" dirty="0">
                <a:ea typeface="+mn-lt"/>
                <a:cs typeface="+mn-lt"/>
              </a:rPr>
              <a:t>This causes power loss and some error in output.</a:t>
            </a:r>
          </a:p>
          <a:p>
            <a:pPr marL="0" indent="0" algn="ctr">
              <a:buNone/>
            </a:pPr>
            <a:endParaRPr lang="en-US" sz="2400" i="1" u="sng" dirty="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64742569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FABA2F-4727-F386-9345-ACF6B7A795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01625"/>
            <a:ext cx="10515600" cy="6076621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400" b="1" dirty="0"/>
              <a:t>Issues: </a:t>
            </a:r>
          </a:p>
          <a:p>
            <a:pPr marL="457200" indent="-457200">
              <a:buAutoNum type="arabicPeriod"/>
            </a:pPr>
            <a:r>
              <a:rPr lang="en-US" sz="2400" dirty="0"/>
              <a:t>The load cap introduced by the interpolating inverters creates a phase mismatch between B1 and A1 (and B2 and A2).</a:t>
            </a:r>
          </a:p>
          <a:p>
            <a:pPr marL="457200" indent="-457200">
              <a:buAutoNum type="arabicPeriod"/>
            </a:pPr>
            <a:r>
              <a:rPr lang="en-US" sz="2400" dirty="0"/>
              <a:t>Finite delay of Inv1 and Inv2 lead to mismatch between D1 and A1, D2 and A2. </a:t>
            </a:r>
          </a:p>
          <a:p>
            <a:pPr marL="0" indent="0">
              <a:buNone/>
            </a:pPr>
            <a:r>
              <a:rPr lang="en-US" sz="2400" u="sng" dirty="0"/>
              <a:t>Figure b alleviates these issues.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22B79E2C-2243-6DFA-B55A-B754A5128C15}"/>
              </a:ext>
            </a:extLst>
          </p:cNvPr>
          <p:cNvGrpSpPr/>
          <p:nvPr/>
        </p:nvGrpSpPr>
        <p:grpSpPr>
          <a:xfrm>
            <a:off x="526571" y="3235984"/>
            <a:ext cx="2892726" cy="3137154"/>
            <a:chOff x="831371" y="3578884"/>
            <a:chExt cx="2549826" cy="2667254"/>
          </a:xfrm>
        </p:grpSpPr>
        <p:pic>
          <p:nvPicPr>
            <p:cNvPr id="5" name="Picture 4" descr="A diagram of a network&#10;&#10;AI-generated content may be incorrect.">
              <a:extLst>
                <a:ext uri="{FF2B5EF4-FFF2-40B4-BE49-F238E27FC236}">
                  <a16:creationId xmlns:a16="http://schemas.microsoft.com/office/drawing/2014/main" id="{28F8E1C6-3C83-61A1-D77F-21A31B81A5E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31371" y="3578884"/>
              <a:ext cx="2549826" cy="2302535"/>
            </a:xfrm>
            <a:prstGeom prst="rect">
              <a:avLst/>
            </a:prstGeom>
            <a:ln>
              <a:noFill/>
            </a:ln>
            <a:effectLst>
              <a:outerShdw blurRad="190500" algn="tl" rotWithShape="0">
                <a:srgbClr val="000000">
                  <a:alpha val="70000"/>
                </a:srgbClr>
              </a:outerShdw>
            </a:effectLst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BFEF8C23-F123-C8B8-A2D5-6BDF5C4E66A6}"/>
                </a:ext>
              </a:extLst>
            </p:cNvPr>
            <p:cNvSpPr txBox="1"/>
            <p:nvPr/>
          </p:nvSpPr>
          <p:spPr>
            <a:xfrm>
              <a:off x="1141944" y="5876806"/>
              <a:ext cx="1904682" cy="369332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en-US" dirty="0"/>
                <a:t>Fig A : Original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7FF141C5-BA4F-78CA-1F04-A77B1F895534}"/>
              </a:ext>
            </a:extLst>
          </p:cNvPr>
          <p:cNvGrpSpPr/>
          <p:nvPr/>
        </p:nvGrpSpPr>
        <p:grpSpPr>
          <a:xfrm>
            <a:off x="3792537" y="3196536"/>
            <a:ext cx="3161042" cy="3179896"/>
            <a:chOff x="3919537" y="3094936"/>
            <a:chExt cx="3161042" cy="3179896"/>
          </a:xfrm>
        </p:grpSpPr>
        <p:pic>
          <p:nvPicPr>
            <p:cNvPr id="10" name="Picture 9" descr="A diagram of a circuit&#10;&#10;AI-generated content may be incorrect.">
              <a:extLst>
                <a:ext uri="{FF2B5EF4-FFF2-40B4-BE49-F238E27FC236}">
                  <a16:creationId xmlns:a16="http://schemas.microsoft.com/office/drawing/2014/main" id="{AD1E508B-01BD-1CA9-95A0-67112719AA6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919537" y="3094936"/>
              <a:ext cx="3161042" cy="2794061"/>
            </a:xfrm>
            <a:prstGeom prst="rect">
              <a:avLst/>
            </a:prstGeom>
            <a:ln>
              <a:noFill/>
            </a:ln>
            <a:effectLst>
              <a:outerShdw blurRad="190500" algn="tl" rotWithShape="0">
                <a:srgbClr val="000000">
                  <a:alpha val="70000"/>
                </a:srgbClr>
              </a:outerShdw>
            </a:effectLst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EA685BDC-05C3-5615-F277-48A018E1AE21}"/>
                </a:ext>
              </a:extLst>
            </p:cNvPr>
            <p:cNvSpPr txBox="1"/>
            <p:nvPr/>
          </p:nvSpPr>
          <p:spPr>
            <a:xfrm>
              <a:off x="4610100" y="5905500"/>
              <a:ext cx="1885950" cy="369332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en-US" dirty="0"/>
                <a:t>Fig B: modified</a:t>
              </a: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52685F26-3AAE-020F-FA45-3DC9BE5828C1}"/>
              </a:ext>
            </a:extLst>
          </p:cNvPr>
          <p:cNvGrpSpPr/>
          <p:nvPr/>
        </p:nvGrpSpPr>
        <p:grpSpPr>
          <a:xfrm>
            <a:off x="7242893" y="4233565"/>
            <a:ext cx="3008104" cy="1761867"/>
            <a:chOff x="8754193" y="4512965"/>
            <a:chExt cx="3008104" cy="1761867"/>
          </a:xfrm>
        </p:grpSpPr>
        <p:pic>
          <p:nvPicPr>
            <p:cNvPr id="6" name="Picture 5" descr="A graph of a function&#10;&#10;AI-generated content may be incorrect.">
              <a:extLst>
                <a:ext uri="{FF2B5EF4-FFF2-40B4-BE49-F238E27FC236}">
                  <a16:creationId xmlns:a16="http://schemas.microsoft.com/office/drawing/2014/main" id="{85A24736-C82B-713E-D7F2-DAF0C3B0BC2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754193" y="4512965"/>
              <a:ext cx="3008104" cy="1368906"/>
            </a:xfrm>
            <a:prstGeom prst="rect">
              <a:avLst/>
            </a:prstGeom>
            <a:ln>
              <a:noFill/>
            </a:ln>
            <a:effectLst>
              <a:outerShdw blurRad="190500" algn="tl" rotWithShape="0">
                <a:srgbClr val="000000">
                  <a:alpha val="70000"/>
                </a:srgbClr>
              </a:outerShdw>
            </a:effectLst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80649703-0F28-60F5-7127-9735C331C0A8}"/>
                </a:ext>
              </a:extLst>
            </p:cNvPr>
            <p:cNvSpPr txBox="1"/>
            <p:nvPr/>
          </p:nvSpPr>
          <p:spPr>
            <a:xfrm>
              <a:off x="9220200" y="5905500"/>
              <a:ext cx="2133600" cy="369332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en-US" dirty="0">
                  <a:ea typeface="+mn-lt"/>
                  <a:cs typeface="+mn-lt"/>
                </a:rPr>
                <a:t>interpolated waves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50ADCBCF-B4C6-69DD-B058-1BFC4036801E}"/>
              </a:ext>
            </a:extLst>
          </p:cNvPr>
          <p:cNvGrpSpPr/>
          <p:nvPr/>
        </p:nvGrpSpPr>
        <p:grpSpPr>
          <a:xfrm>
            <a:off x="10350500" y="3617614"/>
            <a:ext cx="1587500" cy="2756417"/>
            <a:chOff x="10477500" y="3617614"/>
            <a:chExt cx="1587500" cy="2756417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6C41B64D-52EA-7C60-A05A-0323D8EB2C9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0538095" y="3617614"/>
              <a:ext cx="1479971" cy="2072677"/>
            </a:xfrm>
            <a:prstGeom prst="rect">
              <a:avLst/>
            </a:prstGeom>
            <a:ln>
              <a:noFill/>
            </a:ln>
            <a:effectLst>
              <a:outerShdw blurRad="190500" algn="tl" rotWithShape="0">
                <a:srgbClr val="000000">
                  <a:alpha val="70000"/>
                </a:srgbClr>
              </a:outerShdw>
            </a:effectLst>
          </p:spPr>
        </p:pic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E952E3E5-B3EF-69FF-BAFB-574D6D32F37F}"/>
                </a:ext>
              </a:extLst>
            </p:cNvPr>
            <p:cNvSpPr txBox="1"/>
            <p:nvPr/>
          </p:nvSpPr>
          <p:spPr>
            <a:xfrm>
              <a:off x="10477500" y="5727700"/>
              <a:ext cx="1587500" cy="646331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US" dirty="0">
                  <a:ea typeface="+mn-lt"/>
                  <a:cs typeface="+mn-lt"/>
                </a:rPr>
                <a:t>Quadrature </a:t>
              </a:r>
              <a:endParaRPr lang="en-US">
                <a:ea typeface="+mn-lt"/>
                <a:cs typeface="+mn-lt"/>
              </a:endParaRPr>
            </a:p>
            <a:p>
              <a:pPr algn="ctr"/>
              <a:r>
                <a:rPr lang="en-US" dirty="0">
                  <a:ea typeface="+mn-lt"/>
                  <a:cs typeface="+mn-lt"/>
                </a:rPr>
                <a:t>phasor</a:t>
              </a:r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55139456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37D1B5-2660-DFBD-997C-40957A09EA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BEBA88-53B6-742B-84E6-715AD2B5C0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498"/>
            <a:ext cx="10515600" cy="1325563"/>
          </a:xfrm>
        </p:spPr>
        <p:txBody>
          <a:bodyPr>
            <a:normAutofit/>
          </a:bodyPr>
          <a:lstStyle/>
          <a:p>
            <a:pPr>
              <a:spcBef>
                <a:spcPts val="1000"/>
              </a:spcBef>
            </a:pPr>
            <a:r>
              <a:rPr lang="en-US" b="1">
                <a:ea typeface="+mj-lt"/>
                <a:cs typeface="+mj-lt"/>
              </a:rPr>
              <a:t>Ring Oscillators with LC Loads. 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A34B1B-BBE7-8BB5-0876-E431A769AC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06758"/>
            <a:ext cx="10803147" cy="5501525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400" b="1" dirty="0"/>
              <a:t>Why LC loads? </a:t>
            </a:r>
            <a:endParaRPr lang="en-US"/>
          </a:p>
          <a:p>
            <a:r>
              <a:rPr lang="en-US" sz="2400" dirty="0">
                <a:ea typeface="+mn-lt"/>
                <a:cs typeface="+mn-lt"/>
              </a:rPr>
              <a:t>Traditional ring oscillators are limited by stage count and load capacitance  especially when generating multiple phases.</a:t>
            </a:r>
          </a:p>
          <a:p>
            <a:pPr marL="0" indent="0">
              <a:buNone/>
            </a:pPr>
            <a:r>
              <a:rPr lang="en-US" sz="2400" b="1" dirty="0">
                <a:ea typeface="+mn-lt"/>
                <a:cs typeface="+mn-lt"/>
              </a:rPr>
              <a:t>LC Tank per Stage</a:t>
            </a:r>
            <a:r>
              <a:rPr lang="en-US" sz="2400" dirty="0">
                <a:ea typeface="+mn-lt"/>
                <a:cs typeface="+mn-lt"/>
              </a:rPr>
              <a:t>:</a:t>
            </a:r>
          </a:p>
          <a:p>
            <a:r>
              <a:rPr lang="en-US" sz="2400" dirty="0">
                <a:ea typeface="+mn-lt"/>
                <a:cs typeface="+mn-lt"/>
              </a:rPr>
              <a:t>Each stage includes an inductor (L) and capacitor (C) that form a resonant (RLC) circuit.</a:t>
            </a:r>
          </a:p>
          <a:p>
            <a:pPr marL="0" indent="0">
              <a:buNone/>
            </a:pPr>
            <a:r>
              <a:rPr lang="en-US" sz="2400" b="1" dirty="0">
                <a:ea typeface="+mn-lt"/>
                <a:cs typeface="+mn-lt"/>
              </a:rPr>
              <a:t>Oscillation Condition:</a:t>
            </a:r>
            <a:endParaRPr lang="en-US" b="1">
              <a:ea typeface="+mn-lt"/>
              <a:cs typeface="+mn-lt"/>
            </a:endParaRPr>
          </a:p>
          <a:p>
            <a:r>
              <a:rPr lang="en-US" sz="2400" dirty="0">
                <a:ea typeface="+mn-lt"/>
                <a:cs typeface="+mn-lt"/>
              </a:rPr>
              <a:t>Each stage must provide </a:t>
            </a:r>
            <a:r>
              <a:rPr lang="en-US" sz="2400" b="1" dirty="0">
                <a:ea typeface="+mn-lt"/>
                <a:cs typeface="+mn-lt"/>
              </a:rPr>
              <a:t>45° phase shift</a:t>
            </a:r>
            <a:r>
              <a:rPr lang="en-US" sz="2400" dirty="0">
                <a:ea typeface="+mn-lt"/>
                <a:cs typeface="+mn-lt"/>
              </a:rPr>
              <a:t>, so the ring (4 stages) achieves total 180° shift  thus </a:t>
            </a:r>
            <a:r>
              <a:rPr lang="en-US" sz="2400" u="sng" dirty="0">
                <a:ea typeface="+mn-lt"/>
                <a:cs typeface="+mn-lt"/>
              </a:rPr>
              <a:t>satisfies </a:t>
            </a:r>
            <a:r>
              <a:rPr lang="en-US" sz="2400" u="sng" err="1">
                <a:ea typeface="+mn-lt"/>
                <a:cs typeface="+mn-lt"/>
              </a:rPr>
              <a:t>Barkhausen’s</a:t>
            </a:r>
            <a:r>
              <a:rPr lang="en-US" sz="2400" u="sng" dirty="0">
                <a:ea typeface="+mn-lt"/>
                <a:cs typeface="+mn-lt"/>
              </a:rPr>
              <a:t> criterion</a:t>
            </a:r>
            <a:r>
              <a:rPr lang="en-US" sz="2400" dirty="0">
                <a:ea typeface="+mn-lt"/>
                <a:cs typeface="+mn-lt"/>
              </a:rPr>
              <a:t>.</a:t>
            </a:r>
          </a:p>
          <a:p>
            <a:pPr marL="0" indent="0">
              <a:buNone/>
            </a:pPr>
            <a:r>
              <a:rPr lang="en-US" sz="2400" b="1" dirty="0">
                <a:ea typeface="+mn-lt"/>
                <a:cs typeface="+mn-lt"/>
              </a:rPr>
              <a:t>Oscillation Frequency (approx.) : </a:t>
            </a:r>
          </a:p>
          <a:p>
            <a:r>
              <a:rPr lang="en-US" sz="2400" dirty="0"/>
              <a:t>But no phase shift at w0</a:t>
            </a:r>
          </a:p>
          <a:p>
            <a:r>
              <a:rPr lang="en-US" sz="2400" dirty="0" err="1"/>
              <a:t>Osc</a:t>
            </a:r>
            <a:r>
              <a:rPr lang="en-US" sz="2400" dirty="0"/>
              <a:t> </a:t>
            </a:r>
            <a:r>
              <a:rPr lang="en-US" sz="2400" dirty="0" err="1"/>
              <a:t>freq</a:t>
            </a:r>
            <a:r>
              <a:rPr lang="en-US" sz="2400" dirty="0"/>
              <a:t> must depart from w0 so as to yield a phase shift of 45 degrees.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0A42BFF-E79A-9F4D-6E41-504758CB40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1483" y="4821627"/>
            <a:ext cx="2061714" cy="636558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97017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20D7D0-1733-8972-9456-FEADF3F358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02267"/>
            <a:ext cx="10515600" cy="5774696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400" b="1" dirty="0"/>
              <a:t>Advantages:</a:t>
            </a:r>
          </a:p>
          <a:p>
            <a:pPr marL="457200" indent="-457200">
              <a:buAutoNum type="arabicPeriod"/>
            </a:pPr>
            <a:r>
              <a:rPr lang="en-US" sz="2400" u="sng" dirty="0">
                <a:ea typeface="+mn-lt"/>
                <a:cs typeface="+mn-lt"/>
              </a:rPr>
              <a:t>Low Supply Voltage:</a:t>
            </a:r>
            <a:br>
              <a:rPr lang="en-US" sz="2400" dirty="0">
                <a:ea typeface="+mn-lt"/>
                <a:cs typeface="+mn-lt"/>
              </a:rPr>
            </a:br>
            <a:r>
              <a:rPr lang="en-US" sz="2400" dirty="0">
                <a:ea typeface="+mn-lt"/>
                <a:cs typeface="+mn-lt"/>
              </a:rPr>
              <a:t> Inductive loads have small DC voltage drop → allows operation near VDD.</a:t>
            </a:r>
            <a:endParaRPr lang="en-US" dirty="0"/>
          </a:p>
          <a:p>
            <a:pPr marL="457200" indent="-457200">
              <a:buAutoNum type="arabicPeriod"/>
            </a:pPr>
            <a:r>
              <a:rPr lang="en-US" sz="2400" u="sng" dirty="0">
                <a:ea typeface="+mn-lt"/>
                <a:cs typeface="+mn-lt"/>
              </a:rPr>
              <a:t>Frequency Less Dependent on-Stage Count</a:t>
            </a:r>
            <a:r>
              <a:rPr lang="en-US" sz="2400" dirty="0">
                <a:ea typeface="+mn-lt"/>
                <a:cs typeface="+mn-lt"/>
              </a:rPr>
              <a:t>:</a:t>
            </a:r>
            <a:br>
              <a:rPr lang="en-US" sz="2400" dirty="0">
                <a:ea typeface="+mn-lt"/>
                <a:cs typeface="+mn-lt"/>
              </a:rPr>
            </a:br>
            <a:r>
              <a:rPr lang="en-US" sz="2400" dirty="0">
                <a:ea typeface="+mn-lt"/>
                <a:cs typeface="+mn-lt"/>
              </a:rPr>
              <a:t> Oscillation frequency remains stable even with more stages.</a:t>
            </a:r>
            <a:endParaRPr lang="en-US" dirty="0"/>
          </a:p>
          <a:p>
            <a:pPr marL="457200" indent="-457200">
              <a:buAutoNum type="arabicPeriod"/>
            </a:pPr>
            <a:r>
              <a:rPr lang="en-US" sz="2400" u="sng" dirty="0">
                <a:ea typeface="+mn-lt"/>
                <a:cs typeface="+mn-lt"/>
              </a:rPr>
              <a:t>Higher Frequency</a:t>
            </a:r>
            <a:r>
              <a:rPr lang="en-US" sz="2400" dirty="0">
                <a:ea typeface="+mn-lt"/>
                <a:cs typeface="+mn-lt"/>
              </a:rPr>
              <a:t>:</a:t>
            </a:r>
            <a:br>
              <a:rPr lang="en-US" sz="2400" dirty="0">
                <a:ea typeface="+mn-lt"/>
                <a:cs typeface="+mn-lt"/>
              </a:rPr>
            </a:br>
            <a:r>
              <a:rPr lang="en-US" sz="2400" dirty="0">
                <a:ea typeface="+mn-lt"/>
                <a:cs typeface="+mn-lt"/>
              </a:rPr>
              <a:t>Load capacitance merges with LC tank → achieves higher oscillation frequency.</a:t>
            </a:r>
            <a:endParaRPr lang="en-US" dirty="0"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sz="2400" b="1" dirty="0"/>
              <a:t>Disadvantages: </a:t>
            </a:r>
          </a:p>
          <a:p>
            <a:pPr marL="0" indent="0">
              <a:buNone/>
            </a:pPr>
            <a:r>
              <a:rPr lang="en-US" sz="2400" u="sng" dirty="0"/>
              <a:t>Area overhead: </a:t>
            </a:r>
          </a:p>
          <a:p>
            <a:pPr marL="0" indent="0">
              <a:buNone/>
            </a:pPr>
            <a:r>
              <a:rPr lang="en-US" sz="2400" dirty="0">
                <a:ea typeface="+mn-lt"/>
                <a:cs typeface="+mn-lt"/>
              </a:rPr>
              <a:t>Requires many spiral inductors. </a:t>
            </a:r>
            <a:endParaRPr lang="en-US" dirty="0"/>
          </a:p>
          <a:p>
            <a:pPr marL="0" indent="0">
              <a:buNone/>
            </a:pPr>
            <a:endParaRPr lang="en-US" sz="2400" b="1" dirty="0"/>
          </a:p>
        </p:txBody>
      </p:sp>
      <p:pic>
        <p:nvPicPr>
          <p:cNvPr id="4" name="Picture 3" descr="A diagram of a circuit&#10;&#10;AI-generated content may be incorrect.">
            <a:extLst>
              <a:ext uri="{FF2B5EF4-FFF2-40B4-BE49-F238E27FC236}">
                <a16:creationId xmlns:a16="http://schemas.microsoft.com/office/drawing/2014/main" id="{B3C1545A-1237-E7F9-68B8-7846B0D896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9674" y="3455598"/>
            <a:ext cx="2904766" cy="193088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5" name="Picture 4" descr="A graph of a function&#10;&#10;AI-generated content may be incorrect.">
            <a:extLst>
              <a:ext uri="{FF2B5EF4-FFF2-40B4-BE49-F238E27FC236}">
                <a16:creationId xmlns:a16="http://schemas.microsoft.com/office/drawing/2014/main" id="{127DB7E5-4E91-63E5-02D4-3A00ED8CD8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01524" y="3574032"/>
            <a:ext cx="2378914" cy="172276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5683840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41</Slides>
  <Notes>16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2" baseType="lpstr">
      <vt:lpstr>office theme</vt:lpstr>
      <vt:lpstr>Design of Differential and Multiphase Ring Oscillators</vt:lpstr>
      <vt:lpstr> Presentation Topics </vt:lpstr>
      <vt:lpstr> Differential Ring Oscillators. </vt:lpstr>
      <vt:lpstr>PowerPoint Presentation</vt:lpstr>
      <vt:lpstr>PowerPoint Presentation</vt:lpstr>
      <vt:lpstr>PowerPoint Presentation</vt:lpstr>
      <vt:lpstr>Phase consideration </vt:lpstr>
      <vt:lpstr>2nd harmonics &amp; Its origins</vt:lpstr>
      <vt:lpstr>PowerPoint Presentation</vt:lpstr>
      <vt:lpstr>Basic Differential Ring Design </vt:lpstr>
      <vt:lpstr>PowerPoint Presentation</vt:lpstr>
      <vt:lpstr>PowerPoint Presentation</vt:lpstr>
      <vt:lpstr>PowerPoint Presentation</vt:lpstr>
      <vt:lpstr> Design Improvements. </vt:lpstr>
      <vt:lpstr>PowerPoint Presentation</vt:lpstr>
      <vt:lpstr>PowerPoint Presentation</vt:lpstr>
      <vt:lpstr> Methods for Obtaining Desired Frequency. </vt:lpstr>
      <vt:lpstr>PowerPoint Presentation</vt:lpstr>
      <vt:lpstr>PowerPoint Presentation</vt:lpstr>
      <vt:lpstr> Two-Stage Ring Oscillators.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Tuning Techniques for Differential Rings. </vt:lpstr>
      <vt:lpstr>PowerPoint Presentation</vt:lpstr>
      <vt:lpstr>PowerPoint Presentation</vt:lpstr>
      <vt:lpstr>PowerPoint Presentation</vt:lpstr>
      <vt:lpstr>PowerPoint Presentation</vt:lpstr>
      <vt:lpstr> Inverter-Based Oscillators with Complementary or Quadrature Outputs.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Ring Oscillators with LC Loads. 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952</cp:revision>
  <dcterms:created xsi:type="dcterms:W3CDTF">2025-07-27T12:54:34Z</dcterms:created>
  <dcterms:modified xsi:type="dcterms:W3CDTF">2025-08-02T18:40:01Z</dcterms:modified>
</cp:coreProperties>
</file>