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878678-7FAC-450F-B0A9-23F6BD9462F9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057" autoAdjust="0"/>
  </p:normalViewPr>
  <p:slideViewPr>
    <p:cSldViewPr snapToGrid="0">
      <p:cViewPr varScale="1">
        <p:scale>
          <a:sx n="66" d="100"/>
          <a:sy n="66" d="100"/>
        </p:scale>
        <p:origin x="7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4F08F-61F8-4465-97E9-EB4D542909D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43D16-9FFD-4F73-9526-8E023CB09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22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43D16-9FFD-4F73-9526-8E023CB09F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6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43D16-9FFD-4F73-9526-8E023CB09F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86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43D16-9FFD-4F73-9526-8E023CB09F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2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2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4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2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9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3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37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6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6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0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129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5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36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64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32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5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291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730" y="1404197"/>
            <a:ext cx="9571355" cy="2421464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Oscillator </a:t>
            </a:r>
            <a:r>
              <a:rPr lang="en-US" b="1" dirty="0" smtClean="0">
                <a:solidFill>
                  <a:srgbClr val="FFFF00"/>
                </a:solidFill>
              </a:rPr>
              <a:t>FUNDAMENTALS</a:t>
            </a:r>
            <a:br>
              <a:rPr lang="en-US" b="1" dirty="0" smtClean="0">
                <a:solidFill>
                  <a:srgbClr val="FFFF00"/>
                </a:solidFill>
              </a:rPr>
            </a:br>
            <a:r>
              <a:rPr lang="en-US" b="1" dirty="0" smtClean="0">
                <a:solidFill>
                  <a:srgbClr val="FFFF00"/>
                </a:solidFill>
              </a:rPr>
              <a:t>CHAP-1 Razavi PLL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3769" y="4019972"/>
            <a:ext cx="7197726" cy="1405467"/>
          </a:xfrm>
        </p:spPr>
        <p:txBody>
          <a:bodyPr>
            <a:noAutofit/>
          </a:bodyPr>
          <a:lstStyle/>
          <a:p>
            <a:r>
              <a:rPr lang="en-US" sz="2400" dirty="0" smtClean="0"/>
              <a:t>Deepa Kulkarni</a:t>
            </a:r>
          </a:p>
          <a:p>
            <a:endParaRPr lang="en-US" sz="2400" dirty="0"/>
          </a:p>
          <a:p>
            <a:r>
              <a:rPr lang="en-US" sz="2400" dirty="0" smtClean="0"/>
              <a:t>Guided by: </a:t>
            </a:r>
            <a:r>
              <a:rPr lang="en-US" sz="2400" dirty="0">
                <a:effectLst/>
              </a:rPr>
              <a:t>Neeraj </a:t>
            </a:r>
            <a:r>
              <a:rPr lang="en-US" sz="2400" smtClean="0">
                <a:effectLst/>
              </a:rPr>
              <a:t>Mishra sir, </a:t>
            </a:r>
            <a:r>
              <a:rPr lang="en-US" sz="2400" dirty="0" smtClean="0">
                <a:effectLst/>
              </a:rPr>
              <a:t>BITS PILANI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703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403860"/>
            <a:ext cx="10131425" cy="1456267"/>
          </a:xfrm>
        </p:spPr>
        <p:txBody>
          <a:bodyPr/>
          <a:lstStyle/>
          <a:p>
            <a:r>
              <a:rPr lang="en-US" b="1" dirty="0" smtClean="0"/>
              <a:t>Presentation agenda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244" y="1727898"/>
            <a:ext cx="10131425" cy="3649133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Basic Oscillator Concepts</a:t>
            </a:r>
          </a:p>
          <a:p>
            <a:r>
              <a:rPr lang="en-US" dirty="0"/>
              <a:t>Oscillatory Feedback Systems</a:t>
            </a:r>
          </a:p>
          <a:p>
            <a:r>
              <a:rPr lang="en-US" dirty="0"/>
              <a:t>Ring Oscillators</a:t>
            </a:r>
          </a:p>
          <a:p>
            <a:r>
              <a:rPr lang="en-US" dirty="0"/>
              <a:t>LC Oscillators</a:t>
            </a:r>
          </a:p>
          <a:p>
            <a:r>
              <a:rPr lang="en-US" dirty="0"/>
              <a:t>Voltage-Controlled Oscillators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44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024" y="0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/>
              <a:t>Basic Oscillator </a:t>
            </a:r>
            <a:r>
              <a:rPr lang="en-US" b="1" dirty="0" smtClean="0"/>
              <a:t>Concepts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254" y="1343109"/>
            <a:ext cx="9808605" cy="4657641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Oscillators</a:t>
            </a:r>
            <a:r>
              <a:rPr lang="en-US" b="1" dirty="0" smtClean="0">
                <a:solidFill>
                  <a:srgbClr val="FF0000"/>
                </a:solidFill>
              </a:rPr>
              <a:t>? </a:t>
            </a:r>
            <a:r>
              <a:rPr lang="en-US" dirty="0" smtClean="0"/>
              <a:t>– A system that produces repeated motion.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Oscillatory system</a:t>
            </a:r>
            <a:r>
              <a:rPr lang="en-US" b="1" u="sng" dirty="0" smtClean="0">
                <a:solidFill>
                  <a:srgbClr val="FF0000"/>
                </a:solidFill>
              </a:rPr>
              <a:t>: </a:t>
            </a:r>
          </a:p>
          <a:p>
            <a:pPr marL="514350" indent="-514350">
              <a:buAutoNum type="arabicPeriod"/>
            </a:pPr>
            <a:r>
              <a:rPr lang="en-US" dirty="0" smtClean="0"/>
              <a:t>Initial Imbalance- an </a:t>
            </a:r>
            <a:r>
              <a:rPr lang="en-US" dirty="0"/>
              <a:t>initial condition</a:t>
            </a:r>
            <a:r>
              <a:rPr lang="en-US" dirty="0" smtClean="0"/>
              <a:t> - To start the motion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Energy Conversion</a:t>
            </a:r>
          </a:p>
          <a:p>
            <a:pPr marL="514350" indent="-514350">
              <a:buAutoNum type="arabicPeriod"/>
            </a:pPr>
            <a:r>
              <a:rPr lang="en-US" dirty="0" smtClean="0"/>
              <a:t>Sustaining – to sustain the Oscillations- requires periodic Pushes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Lossless Oscillators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Ideal case -&gt; no friction -&gt; no loss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 gentle push can increase/decrease Osc </a:t>
            </a:r>
            <a:r>
              <a:rPr lang="en-US" dirty="0" err="1" smtClean="0"/>
              <a:t>freq</a:t>
            </a:r>
            <a:r>
              <a:rPr lang="en-US" dirty="0" smtClean="0"/>
              <a:t> based on the frequency with which push is generated.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734" y="765338"/>
            <a:ext cx="4024994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0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289" y="-158977"/>
            <a:ext cx="9905998" cy="1478570"/>
          </a:xfrm>
        </p:spPr>
        <p:txBody>
          <a:bodyPr/>
          <a:lstStyle/>
          <a:p>
            <a:r>
              <a:rPr lang="en-US" b="1" dirty="0" smtClean="0"/>
              <a:t>Oscillatory Feedback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108" y="987324"/>
            <a:ext cx="10457029" cy="5408917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Feedback System: </a:t>
            </a:r>
          </a:p>
          <a:p>
            <a:pPr marL="0" indent="0">
              <a:buNone/>
            </a:pPr>
            <a:r>
              <a:rPr lang="en-US" dirty="0" smtClean="0"/>
              <a:t>		Amplifier(or any block) </a:t>
            </a:r>
            <a:r>
              <a:rPr lang="en-US" dirty="0"/>
              <a:t>→ Output → Feedback Network → Input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 smtClean="0"/>
              <a:t>Negative Feedback</a:t>
            </a:r>
            <a:r>
              <a:rPr lang="en-US" dirty="0" smtClean="0"/>
              <a:t>: A </a:t>
            </a:r>
            <a:r>
              <a:rPr lang="en-US" dirty="0"/>
              <a:t>block with transfer function H(s</a:t>
            </a:r>
            <a:r>
              <a:rPr lang="en-US" dirty="0" smtClean="0"/>
              <a:t>), o/p is Fed </a:t>
            </a:r>
            <a:r>
              <a:rPr lang="en-US" dirty="0"/>
              <a:t>back to the </a:t>
            </a:r>
            <a:r>
              <a:rPr lang="en-US" dirty="0" smtClean="0"/>
              <a:t>input, 										but it opposes the input creating a negative feedback. </a:t>
            </a:r>
            <a:endParaRPr lang="pt-BR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b="1" u="sng" dirty="0" smtClean="0">
                <a:solidFill>
                  <a:srgbClr val="FF0000"/>
                </a:solidFill>
              </a:rPr>
              <a:t>Oscillation condition: (Barkhausen Criterion) : </a:t>
            </a:r>
          </a:p>
          <a:p>
            <a:r>
              <a:rPr lang="en-US" dirty="0" smtClean="0"/>
              <a:t>Oscillation </a:t>
            </a:r>
            <a:r>
              <a:rPr lang="en-US" dirty="0"/>
              <a:t>occurs when the system outputs a sinusoid without </a:t>
            </a:r>
            <a:r>
              <a:rPr lang="en-US" dirty="0" smtClean="0"/>
              <a:t>input                      						 i.e</a:t>
            </a:r>
            <a:r>
              <a:rPr lang="en-US" dirty="0"/>
              <a:t>., X(s) = 0, but Y(s) ≠ </a:t>
            </a:r>
            <a:r>
              <a:rPr lang="en-US" dirty="0" smtClean="0"/>
              <a:t>0 }.  </a:t>
            </a:r>
          </a:p>
          <a:p>
            <a:r>
              <a:rPr lang="en-US" dirty="0" smtClean="0"/>
              <a:t>Denominator: 1+H(s</a:t>
            </a:r>
            <a:r>
              <a:rPr lang="en-US" dirty="0"/>
              <a:t>)=</a:t>
            </a:r>
            <a:r>
              <a:rPr lang="en-US" dirty="0" smtClean="0"/>
              <a:t>0 =&gt; </a:t>
            </a:r>
            <a:r>
              <a:rPr lang="en-US" b="1" dirty="0" smtClean="0"/>
              <a:t>H(s</a:t>
            </a:r>
            <a:r>
              <a:rPr lang="en-US" b="1" dirty="0"/>
              <a:t>)=−1 			Infinite gain at </a:t>
            </a:r>
            <a:r>
              <a:rPr lang="el-GR" b="1" dirty="0"/>
              <a:t>ω₀ </a:t>
            </a:r>
            <a:r>
              <a:rPr lang="en-US" b="1" dirty="0"/>
              <a:t>. 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 </a:t>
            </a:r>
            <a:r>
              <a:rPr lang="en-US" dirty="0"/>
              <a:t>= </a:t>
            </a:r>
            <a:r>
              <a:rPr lang="en-US" dirty="0" err="1"/>
              <a:t>jω</a:t>
            </a:r>
            <a:r>
              <a:rPr lang="en-US" dirty="0"/>
              <a:t>₀, this means: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|H(</a:t>
            </a:r>
            <a:r>
              <a:rPr lang="en-US" b="1" dirty="0" err="1"/>
              <a:t>jω</a:t>
            </a:r>
            <a:r>
              <a:rPr lang="en-US" b="1" dirty="0"/>
              <a:t>₀)| = 1</a:t>
            </a:r>
            <a:r>
              <a:rPr lang="en-US" dirty="0"/>
              <a:t> (unity gain</a:t>
            </a:r>
            <a:r>
              <a:rPr lang="en-US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∠H(</a:t>
            </a:r>
            <a:r>
              <a:rPr lang="en-US" b="1" dirty="0" err="1" smtClean="0"/>
              <a:t>jω</a:t>
            </a:r>
            <a:r>
              <a:rPr lang="en-US" b="1" dirty="0"/>
              <a:t>₀) = 180°</a:t>
            </a:r>
            <a:r>
              <a:rPr lang="en-US" dirty="0"/>
              <a:t> (phase shift)</a:t>
            </a:r>
          </a:p>
          <a:p>
            <a:pPr>
              <a:buFontTx/>
              <a:buChar char="-"/>
            </a:pPr>
            <a:endParaRPr lang="en-US" b="1" dirty="0" smtClean="0"/>
          </a:p>
          <a:p>
            <a:pPr>
              <a:buFontTx/>
              <a:buChar char="-"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260" y="385769"/>
            <a:ext cx="2475696" cy="2025225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9050816" y="3243941"/>
            <a:ext cx="2924014" cy="1733267"/>
            <a:chOff x="9796587" y="5170573"/>
            <a:chExt cx="2501647" cy="135814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5820" y="5170573"/>
              <a:ext cx="1903184" cy="76127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9796587" y="5882389"/>
              <a:ext cx="25016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linear feedback </a:t>
              </a:r>
              <a:r>
                <a:rPr lang="en-US" b="1" dirty="0" smtClean="0"/>
                <a:t>system</a:t>
              </a:r>
              <a:r>
                <a:rPr lang="en-US" dirty="0" smtClean="0"/>
                <a:t>: </a:t>
              </a:r>
            </a:p>
            <a:p>
              <a:pPr algn="ctr"/>
              <a:r>
                <a:rPr lang="en-US" dirty="0" smtClean="0"/>
                <a:t>transfer function</a:t>
              </a:r>
              <a:endParaRPr lang="en-US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183630" y="5174289"/>
            <a:ext cx="4692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IDEALLY, 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Any small input/noise</a:t>
            </a:r>
            <a:r>
              <a:rPr lang="el-GR" b="1" dirty="0" smtClean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→ </a:t>
            </a:r>
            <a:r>
              <a:rPr lang="en-US" b="1" dirty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noise gets amplified </a:t>
            </a:r>
            <a:endParaRPr lang="en-US" b="1" dirty="0" smtClean="0">
              <a:solidFill>
                <a:srgbClr val="FFFF00"/>
              </a:solidFill>
              <a:effectLst>
                <a:outerShdw blurRad="152400" dist="38100" dir="2700000" algn="tl" rotWithShape="0">
                  <a:srgbClr val="000000">
                    <a:alpha val="36000"/>
                  </a:srgbClr>
                </a:outerShdw>
              </a:effectLst>
            </a:endParaRPr>
          </a:p>
          <a:p>
            <a:pPr algn="ctr"/>
            <a:r>
              <a:rPr lang="en-US" b="1" dirty="0" smtClean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→ </a:t>
            </a:r>
            <a:r>
              <a:rPr lang="en-US" b="1" dirty="0">
                <a:solidFill>
                  <a:srgbClr val="FFFF00"/>
                </a:solidFill>
                <a:effectLst>
                  <a:outerShdw blurRad="152400" dist="38100" dir="2700000" algn="tl" rotWithShape="0">
                    <a:srgbClr val="000000">
                      <a:alpha val="36000"/>
                    </a:srgbClr>
                  </a:outerShdw>
                </a:effectLst>
              </a:rPr>
              <a:t>self-sustaining oscillation.</a:t>
            </a:r>
            <a:endParaRPr lang="en-US" dirty="0">
              <a:solidFill>
                <a:srgbClr val="FFFF00"/>
              </a:solidFill>
            </a:endParaRPr>
          </a:p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674870" y="3714750"/>
            <a:ext cx="880110" cy="1143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74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74" y="-169406"/>
            <a:ext cx="9905998" cy="1478570"/>
          </a:xfrm>
        </p:spPr>
        <p:txBody>
          <a:bodyPr/>
          <a:lstStyle/>
          <a:p>
            <a:r>
              <a:rPr lang="en-US" b="1" dirty="0" smtClean="0"/>
              <a:t>Deeper Understanding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041" y="922911"/>
            <a:ext cx="10853309" cy="6144056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At lower frequencies, Op-amp is exceptionally stable and has negligible </a:t>
            </a:r>
            <a:r>
              <a:rPr lang="en-US" dirty="0"/>
              <a:t>	</a:t>
            </a:r>
            <a:r>
              <a:rPr lang="en-US" dirty="0" smtClean="0"/>
              <a:t>							phase shift.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/>
              <a:t> Analysis of oscillators using Small signal model conditions to check </a:t>
            </a:r>
            <a:r>
              <a:rPr lang="en-US" b="1" dirty="0" smtClean="0"/>
              <a:t>:-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Oscillation </a:t>
            </a:r>
            <a:r>
              <a:rPr lang="en-US" b="1" dirty="0">
                <a:solidFill>
                  <a:srgbClr val="FF0000"/>
                </a:solidFill>
              </a:rPr>
              <a:t>Test via </a:t>
            </a:r>
            <a:r>
              <a:rPr lang="en-US" b="1" dirty="0" smtClean="0">
                <a:solidFill>
                  <a:srgbClr val="FF0000"/>
                </a:solidFill>
              </a:rPr>
              <a:t>Impedance:</a:t>
            </a:r>
          </a:p>
          <a:p>
            <a:r>
              <a:rPr lang="en-US" dirty="0"/>
              <a:t>I</a:t>
            </a:r>
            <a:r>
              <a:rPr lang="en-US" dirty="0" smtClean="0"/>
              <a:t>nject </a:t>
            </a:r>
            <a:r>
              <a:rPr lang="en-US" dirty="0"/>
              <a:t>a </a:t>
            </a:r>
            <a:r>
              <a:rPr lang="en-US" u="sng" dirty="0">
                <a:solidFill>
                  <a:srgbClr val="FFFF00"/>
                </a:solidFill>
              </a:rPr>
              <a:t>sinusoid </a:t>
            </a:r>
            <a:r>
              <a:rPr lang="en-US" u="sng" dirty="0" err="1" smtClean="0">
                <a:solidFill>
                  <a:srgbClr val="FFFF00"/>
                </a:solidFill>
              </a:rPr>
              <a:t>Vn</a:t>
            </a:r>
            <a:r>
              <a:rPr lang="en-US" u="sng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rgbClr val="FFFF00"/>
                </a:solidFill>
              </a:rPr>
              <a:t>, </a:t>
            </a:r>
            <a:r>
              <a:rPr lang="en-US" dirty="0" smtClean="0"/>
              <a:t>anywhere </a:t>
            </a:r>
            <a:r>
              <a:rPr lang="en-US" dirty="0"/>
              <a:t>inside the </a:t>
            </a:r>
            <a:r>
              <a:rPr lang="en-US" dirty="0" smtClean="0"/>
              <a:t>loop </a:t>
            </a:r>
            <a:r>
              <a:rPr lang="en-US" dirty="0"/>
              <a:t>and observe </a:t>
            </a:r>
            <a:r>
              <a:rPr lang="en-US" dirty="0" smtClean="0"/>
              <a:t>the										 </a:t>
            </a:r>
            <a:r>
              <a:rPr lang="en-US" dirty="0"/>
              <a:t>response </a:t>
            </a:r>
            <a:r>
              <a:rPr lang="en-US" dirty="0" smtClean="0"/>
              <a:t>at </a:t>
            </a:r>
            <a:r>
              <a:rPr lang="en-US" dirty="0"/>
              <a:t>any other point in the loop</a:t>
            </a:r>
            <a:r>
              <a:rPr lang="en-US" dirty="0" smtClean="0"/>
              <a:t>.</a:t>
            </a:r>
          </a:p>
          <a:p>
            <a:r>
              <a:rPr lang="en-US" dirty="0"/>
              <a:t>If the </a:t>
            </a:r>
            <a:r>
              <a:rPr lang="en-US" b="1" dirty="0">
                <a:solidFill>
                  <a:srgbClr val="FFFF00"/>
                </a:solidFill>
              </a:rPr>
              <a:t>impedance → ∞ </a:t>
            </a:r>
            <a:r>
              <a:rPr lang="en-US" b="1" dirty="0"/>
              <a:t>at some frequency ω₀, </a:t>
            </a:r>
            <a:r>
              <a:rPr lang="en-US" dirty="0" smtClean="0"/>
              <a:t> </a:t>
            </a:r>
            <a:r>
              <a:rPr lang="en-US" u="sng" dirty="0" smtClean="0">
                <a:solidFill>
                  <a:srgbClr val="FFFF00"/>
                </a:solidFill>
              </a:rPr>
              <a:t>the </a:t>
            </a:r>
            <a:r>
              <a:rPr lang="en-US" u="sng" dirty="0">
                <a:solidFill>
                  <a:srgbClr val="FFFF00"/>
                </a:solidFill>
              </a:rPr>
              <a:t>circuit is capable of oscillation</a:t>
            </a:r>
            <a:r>
              <a:rPr lang="en-US" u="sng" dirty="0" smtClean="0">
                <a:solidFill>
                  <a:srgbClr val="FFFF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Open Loop gain Analysis: </a:t>
            </a:r>
          </a:p>
          <a:p>
            <a:r>
              <a:rPr lang="en-US" dirty="0" smtClean="0"/>
              <a:t>Gain at </a:t>
            </a:r>
            <a:r>
              <a:rPr lang="en-US" dirty="0" err="1" smtClean="0"/>
              <a:t>freq</a:t>
            </a:r>
            <a:r>
              <a:rPr lang="en-US" dirty="0" smtClean="0"/>
              <a:t> ‘w’ is 1</a:t>
            </a:r>
          </a:p>
          <a:p>
            <a:r>
              <a:rPr lang="en-US" dirty="0" smtClean="0"/>
              <a:t>Total phase shift is 180 degrees</a:t>
            </a:r>
          </a:p>
          <a:p>
            <a:r>
              <a:rPr lang="en-US" dirty="0" smtClean="0"/>
              <a:t>Feedback’s inherent phase shift is 180 degrees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Initial Condition response ( Impulse/start from rest)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Goal is to check if the circuit naturally oscillates.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 signal is injected/ capacitor value is assumed. </a:t>
            </a:r>
            <a:endParaRPr lang="en-US" dirty="0"/>
          </a:p>
          <a:p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8932292" y="481184"/>
            <a:ext cx="2968058" cy="2028930"/>
            <a:chOff x="6954348" y="1797959"/>
            <a:chExt cx="2610214" cy="178317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4348" y="1797959"/>
              <a:ext cx="2610214" cy="97168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990847" y="2769645"/>
              <a:ext cx="2573715" cy="811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effectLst>
                    <a:outerShdw blurRad="152400" dist="38100" dir="2700000" algn="tl" rotWithShape="0">
                      <a:srgbClr val="000000">
                        <a:alpha val="36000"/>
                      </a:srgbClr>
                    </a:outerShdw>
                  </a:effectLst>
                </a:rPr>
                <a:t>Noise is inserted </a:t>
              </a:r>
            </a:p>
            <a:p>
              <a:pPr algn="ctr"/>
              <a:r>
                <a:rPr lang="en-US" b="1" dirty="0" smtClean="0">
                  <a:effectLst>
                    <a:outerShdw blurRad="152400" dist="38100" dir="2700000" algn="tl" rotWithShape="0">
                      <a:srgbClr val="000000">
                        <a:alpha val="36000"/>
                      </a:srgbClr>
                    </a:outerShdw>
                  </a:effectLst>
                </a:rPr>
                <a:t>into the circuit</a:t>
              </a:r>
              <a:endParaRPr lang="en-US" dirty="0"/>
            </a:p>
            <a:p>
              <a:pPr algn="ctr"/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558331" y="2689832"/>
            <a:ext cx="2573715" cy="3323665"/>
            <a:chOff x="9558331" y="2689832"/>
            <a:chExt cx="2573715" cy="332366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8331" y="2689832"/>
              <a:ext cx="2343477" cy="2610214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9558331" y="5367166"/>
              <a:ext cx="25737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effectLst>
                    <a:outerShdw blurRad="152400" dist="38100" dir="2700000" algn="tl" rotWithShape="0">
                      <a:srgbClr val="000000">
                        <a:alpha val="36000"/>
                      </a:srgbClr>
                    </a:outerShdw>
                  </a:effectLst>
                </a:rPr>
                <a:t>Phase and mag </a:t>
              </a:r>
              <a:r>
                <a:rPr lang="en-US" sz="1600" b="1" dirty="0" smtClean="0">
                  <a:effectLst>
                    <a:outerShdw blurRad="152400" dist="38100" dir="2700000" algn="tl" rotWithShape="0">
                      <a:srgbClr val="000000">
                        <a:alpha val="36000"/>
                      </a:srgbClr>
                    </a:outerShdw>
                  </a:effectLst>
                </a:rPr>
                <a:t>graph</a:t>
              </a:r>
              <a:endParaRPr lang="en-US" dirty="0"/>
            </a:p>
            <a:p>
              <a:pPr algn="ctr"/>
              <a:endParaRPr lang="en-US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97" y="3835283"/>
            <a:ext cx="2314898" cy="1676634"/>
          </a:xfrm>
          <a:prstGeom prst="rect">
            <a:avLst/>
          </a:prstGeom>
        </p:spPr>
      </p:pic>
      <p:sp>
        <p:nvSpPr>
          <p:cNvPr id="11" name="Right Brace 10"/>
          <p:cNvSpPr/>
          <p:nvPr/>
        </p:nvSpPr>
        <p:spPr>
          <a:xfrm>
            <a:off x="6103738" y="3994939"/>
            <a:ext cx="462161" cy="9851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8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8639" y="204884"/>
            <a:ext cx="3026593" cy="1301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917090" y="443962"/>
                <a:ext cx="9346181" cy="57827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285750" indent="-28575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0"/>
                  </a:spcBef>
                  <a:spcAft>
                    <a:spcPts val="1000"/>
                  </a:spcAft>
                  <a:buClr>
                    <a:schemeClr val="tx1"/>
                  </a:buClr>
                  <a:buSzPct val="100000"/>
                  <a:buFont typeface="Arial"/>
                  <a:buChar char="•"/>
                  <a:defRPr sz="12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CS</a:t>
                </a:r>
                <a:r>
                  <a:rPr lang="en-US" u="sng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Amp with feedback </a:t>
                </a:r>
                <a:endParaRPr lang="en-US" b="1" u="sng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The transfer function :</a:t>
                </a: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The denominator : [</a:t>
                </a:r>
                <a:r>
                  <a:rPr lang="en-US" dirty="0" err="1" smtClean="0"/>
                  <a:t>RdCS</a:t>
                </a:r>
                <a:r>
                  <a:rPr lang="en-US" dirty="0" smtClean="0"/>
                  <a:t> +1 ] : indicates Only one pole.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Maximum phase shift = -90 degrees at Infinite Freq.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CS Amp with Delay Line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Insert pure delay </a:t>
                </a:r>
                <a:r>
                  <a:rPr lang="el-GR" dirty="0"/>
                  <a:t>Δ</a:t>
                </a:r>
                <a:r>
                  <a:rPr lang="en-US" dirty="0"/>
                  <a:t>T between drain and gate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u="sng" dirty="0"/>
                  <a:t>Open‑loop </a:t>
                </a:r>
                <a:r>
                  <a:rPr lang="en-US" u="sng" dirty="0" smtClean="0"/>
                  <a:t>Method: </a:t>
                </a:r>
              </a:p>
              <a:p>
                <a:r>
                  <a:rPr lang="pt-BR" b="1" dirty="0"/>
                  <a:t>H(s) = </a:t>
                </a:r>
                <a:r>
                  <a:rPr lang="pt-BR" b="1" dirty="0" smtClean="0"/>
                  <a:t>gm 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b="1" dirty="0"/>
                          <m:t>sΔT</m:t>
                        </m:r>
                      </m:sup>
                    </m:sSup>
                  </m:oMath>
                </a14:m>
                <a:r>
                  <a:rPr lang="pt-BR" b="1" dirty="0" smtClean="0"/>
                  <a:t>. </a:t>
                </a:r>
              </a:p>
              <a:p>
                <a:r>
                  <a:rPr lang="pt-BR" dirty="0" smtClean="0"/>
                  <a:t>Barkhausen at </a:t>
                </a:r>
                <a:r>
                  <a:rPr lang="el-GR" dirty="0" smtClean="0"/>
                  <a:t>ω₀</a:t>
                </a:r>
                <a:r>
                  <a:rPr lang="en-US" dirty="0" smtClean="0"/>
                  <a:t> gives </a:t>
                </a:r>
                <a:r>
                  <a:rPr lang="el-GR" dirty="0" smtClean="0"/>
                  <a:t>: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lvl="3"/>
                <a:r>
                  <a:rPr lang="en-US" sz="1800" dirty="0" smtClean="0"/>
                  <a:t>Magnitude</a:t>
                </a:r>
                <a:r>
                  <a:rPr lang="en-US" sz="1800" dirty="0"/>
                  <a:t>: </a:t>
                </a:r>
                <a:r>
                  <a:rPr lang="en-US" sz="1800" dirty="0" err="1"/>
                  <a:t>gmRD</a:t>
                </a:r>
                <a:r>
                  <a:rPr lang="en-US" sz="1800" dirty="0"/>
                  <a:t>=1 (start‑up condition)</a:t>
                </a:r>
              </a:p>
              <a:p>
                <a:pPr lvl="3"/>
                <a:r>
                  <a:rPr lang="en-US" sz="1800" dirty="0"/>
                  <a:t>Phase: ω₀ ΔT = π (gives the missing –90 </a:t>
                </a:r>
                <a:r>
                  <a:rPr lang="en-US" sz="1800" dirty="0" smtClean="0"/>
                  <a:t>°)</a:t>
                </a:r>
                <a:endParaRPr lang="el-GR" sz="1800" dirty="0" smtClean="0"/>
              </a:p>
              <a:p>
                <a:pPr lvl="3"/>
                <a:r>
                  <a:rPr lang="pt-BR" sz="1800" dirty="0" smtClean="0"/>
                  <a:t>period </a:t>
                </a:r>
                <a:r>
                  <a:rPr lang="pt-BR" sz="1800" dirty="0"/>
                  <a:t>equals 2</a:t>
                </a:r>
                <a:r>
                  <a:rPr lang="el-GR" sz="1800" dirty="0"/>
                  <a:t>Δ</a:t>
                </a:r>
                <a:r>
                  <a:rPr lang="pt-BR" sz="1800" dirty="0" smtClean="0"/>
                  <a:t>T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dirty="0" smtClean="0"/>
                  <a:t>2.   </a:t>
                </a:r>
                <a:r>
                  <a:rPr lang="en-US" u="sng" dirty="0" smtClean="0"/>
                  <a:t>Impedance Method: </a:t>
                </a:r>
              </a:p>
              <a:p>
                <a:r>
                  <a:rPr lang="en-US" dirty="0"/>
                  <a:t>The transfer function </a:t>
                </a:r>
                <a:r>
                  <a:rPr lang="en-US" dirty="0" smtClean="0"/>
                  <a:t>:             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 Z=−1/g m​  at </a:t>
                </a:r>
                <a:r>
                  <a:rPr lang="el-GR" dirty="0"/>
                  <a:t>ω</a:t>
                </a:r>
                <a:r>
                  <a:rPr lang="el-GR" dirty="0" smtClean="0"/>
                  <a:t>₀</a:t>
                </a:r>
                <a:r>
                  <a:rPr lang="en-US" dirty="0" smtClean="0"/>
                  <a:t>;</a:t>
                </a:r>
              </a:p>
              <a:p>
                <a:r>
                  <a:rPr lang="en-US" dirty="0" smtClean="0"/>
                  <a:t>Loop acts like –RD</a:t>
                </a:r>
                <a:r>
                  <a:rPr lang="en-US" dirty="0"/>
                  <a:t>, canceling load loss when 𝑔𝑚𝑅𝐷=</a:t>
                </a:r>
                <a:r>
                  <a:rPr lang="en-US" dirty="0" smtClean="0"/>
                  <a:t>1</a:t>
                </a:r>
                <a:endParaRPr lang="en-US" dirty="0"/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90" y="443962"/>
                <a:ext cx="9346181" cy="5782700"/>
              </a:xfrm>
              <a:prstGeom prst="rect">
                <a:avLst/>
              </a:prstGeom>
              <a:blipFill rotWithShape="0">
                <a:blip r:embed="rId3"/>
                <a:stretch>
                  <a:fillRect l="-522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933" y="576784"/>
            <a:ext cx="2088216" cy="565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69958" y="1556518"/>
                <a:ext cx="532204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FF00"/>
                    </a:solidFill>
                  </a:rPr>
                  <a:t>WHY CS AMP CANT Oscillate ??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FF00"/>
                    </a:solidFill>
                  </a:rPr>
                  <a:t>Gain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>
                    <a:solidFill>
                      <a:srgbClr val="FFFF00"/>
                    </a:solidFill>
                  </a:rPr>
                  <a:t> 1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FF00"/>
                    </a:solidFill>
                  </a:rPr>
                  <a:t>Impedance: Never goes to Infinity at any frequency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FF00"/>
                    </a:solidFill>
                  </a:rPr>
                  <a:t>Impulse signal: CL discharges through Rd || gm-1 as soon as it is charged. 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958" y="1556518"/>
                <a:ext cx="5322042" cy="1477328"/>
              </a:xfrm>
              <a:prstGeom prst="rect">
                <a:avLst/>
              </a:prstGeom>
              <a:blipFill rotWithShape="0">
                <a:blip r:embed="rId5"/>
                <a:stretch>
                  <a:fillRect l="-1031" t="-2058" r="-1145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7985876" y="3099814"/>
            <a:ext cx="3110921" cy="1406713"/>
            <a:chOff x="6463432" y="4006417"/>
            <a:chExt cx="3543795" cy="1639389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63432" y="4006417"/>
              <a:ext cx="3543795" cy="1581371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7618814" y="5276474"/>
              <a:ext cx="11663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u="sng" dirty="0">
                  <a:solidFill>
                    <a:srgbClr val="FF0000"/>
                  </a:solidFill>
                </a:rPr>
                <a:t>Delay Line</a:t>
              </a:r>
              <a:endParaRPr lang="en-US" dirty="0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0179" y="5223059"/>
            <a:ext cx="1829055" cy="53347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0607" y="4642250"/>
            <a:ext cx="2019582" cy="107647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887500" y="5904233"/>
            <a:ext cx="3739694" cy="64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the system has enough phase shift and gain to </a:t>
            </a:r>
            <a:r>
              <a:rPr lang="en-US" b="1" dirty="0">
                <a:solidFill>
                  <a:srgbClr val="FFFF00"/>
                </a:solidFill>
              </a:rPr>
              <a:t>oscillate</a:t>
            </a:r>
            <a:r>
              <a:rPr lang="en-US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7360010" y="5656966"/>
            <a:ext cx="262890" cy="9851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/>
          <p:cNvSpPr/>
          <p:nvPr/>
        </p:nvSpPr>
        <p:spPr>
          <a:xfrm>
            <a:off x="6255467" y="859400"/>
            <a:ext cx="601928" cy="164377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29234" y="189005"/>
                <a:ext cx="11362766" cy="6427695"/>
              </a:xfrm>
            </p:spPr>
            <p:txBody>
              <a:bodyPr anchor="t"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Osc growth</a:t>
                </a:r>
                <a:endParaRPr lang="en-US" u="sng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Impulse </a:t>
                </a:r>
                <a:r>
                  <a:rPr lang="en-US" dirty="0"/>
                  <a:t>start: constant‑amplitude sinusoid (ideal lossless</a:t>
                </a:r>
                <a:r>
                  <a:rPr lang="en-US" dirty="0" smtClean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Sinusoid </a:t>
                </a:r>
                <a:r>
                  <a:rPr lang="en-US" dirty="0"/>
                  <a:t>at </a:t>
                </a:r>
                <a:r>
                  <a:rPr lang="el-GR" dirty="0"/>
                  <a:t>ω₀: </a:t>
                </a:r>
                <a:r>
                  <a:rPr lang="en-US" dirty="0" smtClean="0"/>
                  <a:t>amplitude </a:t>
                </a:r>
                <a:r>
                  <a:rPr lang="en-US" dirty="0"/>
                  <a:t>grows until limited by </a:t>
                </a:r>
                <a:r>
                  <a:rPr lang="en-US" dirty="0" smtClean="0"/>
                  <a:t>non ‑ linarites.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>
                    <a:solidFill>
                      <a:srgbClr val="FF0000"/>
                    </a:solidFill>
                  </a:rPr>
                  <a:t>Differential pair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with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feedback delay lines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n-US" dirty="0" err="1"/>
                  <a:t>gmRD</a:t>
                </a:r>
                <a:r>
                  <a:rPr lang="en-US" dirty="0"/>
                  <a:t> = </a:t>
                </a:r>
                <a:r>
                  <a:rPr lang="en-US" dirty="0" smtClean="0"/>
                  <a:t>1  	and 		</a:t>
                </a:r>
                <a:r>
                  <a:rPr lang="en-US" dirty="0" err="1" smtClean="0"/>
                  <a:t>Va</a:t>
                </a:r>
                <a:r>
                  <a:rPr lang="en-US" dirty="0" smtClean="0"/>
                  <a:t> &amp; </a:t>
                </a:r>
                <a:r>
                  <a:rPr lang="en-US" dirty="0" err="1" smtClean="0"/>
                  <a:t>Vb</a:t>
                </a:r>
                <a:r>
                  <a:rPr lang="en-US" dirty="0" smtClean="0"/>
                  <a:t> swing differentially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In small signal : Oscillations occur due to near-unity voltage gain.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In large signal : No oscillations as non-linear behavior observed reduces the gain.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Large swing Differential Oscillators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VA – VB swings fully: </a:t>
                </a:r>
                <a:r>
                  <a:rPr lang="en-US" b="1" dirty="0"/>
                  <a:t>ISS</a:t>
                </a:r>
                <a:r>
                  <a:rPr lang="en-US" dirty="0"/>
                  <a:t> </a:t>
                </a:r>
                <a:r>
                  <a:rPr lang="en-US" dirty="0" smtClean="0"/>
                  <a:t>steered </a:t>
                </a:r>
                <a:r>
                  <a:rPr lang="en-US" dirty="0"/>
                  <a:t>completely left or </a:t>
                </a:r>
                <a:r>
                  <a:rPr lang="en-US" dirty="0" smtClean="0"/>
                  <a:t>right.</a:t>
                </a:r>
              </a:p>
              <a:p>
                <a:pPr lvl="1"/>
                <a:r>
                  <a:rPr lang="en-US" sz="1800" dirty="0" smtClean="0"/>
                  <a:t>Voltage swing is 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𝐼𝑆𝑆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​ ⇒  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en-US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1800" b="1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800" dirty="0" smtClean="0">
                    <a:solidFill>
                      <a:srgbClr val="FFFF00"/>
                    </a:solidFill>
                  </a:rPr>
                  <a:t>  and there’s a 180</a:t>
                </a:r>
                <a:r>
                  <a:rPr lang="en-US" sz="1800" dirty="0">
                    <a:solidFill>
                      <a:srgbClr val="FFFF00"/>
                    </a:solidFill>
                  </a:rPr>
                  <a:t>° phase </a:t>
                </a:r>
                <a:r>
                  <a:rPr lang="en-US" sz="1800" dirty="0" smtClean="0">
                    <a:solidFill>
                      <a:srgbClr val="FFFF00"/>
                    </a:solidFill>
                  </a:rPr>
                  <a:t>shift</a:t>
                </a:r>
                <a:endParaRPr lang="en-US" sz="1800" b="1" dirty="0" smtClean="0">
                  <a:solidFill>
                    <a:srgbClr val="FFFF00"/>
                  </a:solidFill>
                  <a:sym typeface="Wingdings" panose="05000000000000000000" pitchFamily="2" charset="2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if H(j</a:t>
                </a:r>
                <a:r>
                  <a:rPr lang="el-GR" dirty="0"/>
                  <a:t>ω0)=−</a:t>
                </a:r>
                <a:r>
                  <a:rPr lang="el-GR" dirty="0" smtClean="0"/>
                  <a:t>2, </a:t>
                </a:r>
                <a:r>
                  <a:rPr lang="en-US" dirty="0"/>
                  <a:t>closed-loop </a:t>
                </a:r>
                <a:r>
                  <a:rPr lang="en-US" dirty="0" smtClean="0"/>
                  <a:t>gain</a:t>
                </a:r>
                <a:r>
                  <a:rPr lang="en-US" dirty="0"/>
                  <a:t> is 2 ; </a:t>
                </a:r>
                <a:endParaRPr lang="en-US" dirty="0" smtClean="0"/>
              </a:p>
              <a:p>
                <a:pPr lvl="1"/>
                <a:r>
                  <a:rPr lang="en-US" sz="1800" dirty="0" smtClean="0"/>
                  <a:t>no steady oscillation at ω₀ ; </a:t>
                </a:r>
                <a:r>
                  <a:rPr lang="en-US" sz="1800" dirty="0"/>
                  <a:t>H(s1) = −1, where s1 has a complex value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>
                    <a:solidFill>
                      <a:srgbClr val="FF0000"/>
                    </a:solidFill>
                  </a:rPr>
                  <a:t>Latch-up Due to Positive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Feedback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at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DC:</a:t>
                </a:r>
                <a:r>
                  <a:rPr lang="en-US" b="1" u="sng" dirty="0" smtClean="0"/>
                  <a:t> </a:t>
                </a:r>
                <a:r>
                  <a:rPr lang="en-US" b="1" dirty="0" smtClean="0"/>
                  <a:t>	</a:t>
                </a:r>
                <a:r>
                  <a:rPr lang="en-US" dirty="0" smtClean="0"/>
                  <a:t>Two CS stages </a:t>
                </a:r>
                <a:endParaRPr lang="en-US" b="1" u="sng" dirty="0" smtClean="0">
                  <a:solidFill>
                    <a:srgbClr val="FF0000"/>
                  </a:solidFill>
                </a:endParaRPr>
              </a:p>
              <a:p>
                <a:r>
                  <a:rPr lang="en-US" dirty="0" smtClean="0"/>
                  <a:t>At positive </a:t>
                </a:r>
                <a:r>
                  <a:rPr lang="en-US" dirty="0"/>
                  <a:t>DC </a:t>
                </a:r>
                <a:r>
                  <a:rPr lang="en-US" dirty="0" smtClean="0"/>
                  <a:t>feedback, </a:t>
                </a:r>
                <a:r>
                  <a:rPr lang="en-US" dirty="0"/>
                  <a:t>If Gain &gt; </a:t>
                </a:r>
                <a:r>
                  <a:rPr lang="en-US" dirty="0" smtClean="0"/>
                  <a:t>1 </a:t>
                </a:r>
                <a:r>
                  <a:rPr lang="en-US" dirty="0"/>
                  <a:t>⇒ VX↑ → VY↓ → VX↑ </a:t>
                </a:r>
                <a:r>
                  <a:rPr lang="en-US" dirty="0" smtClean="0"/>
                  <a:t>more </a:t>
                </a:r>
                <a:r>
                  <a:rPr lang="en-US" dirty="0" smtClean="0">
                    <a:sym typeface="Wingdings" panose="05000000000000000000" pitchFamily="2" charset="2"/>
                  </a:rPr>
                  <a:t></a:t>
                </a:r>
                <a:r>
                  <a:rPr lang="en-US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 Signal REGENERATES.</a:t>
                </a:r>
                <a:endParaRPr lang="en-US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US" dirty="0" smtClean="0"/>
                  <a:t>Until  VX=</a:t>
                </a:r>
                <a:r>
                  <a:rPr lang="en-US" dirty="0" err="1" smtClean="0"/>
                  <a:t>Vdd</a:t>
                </a:r>
                <a:r>
                  <a:rPr lang="en-US" dirty="0" smtClean="0"/>
                  <a:t> &amp; VY=0 turning M1 off  → 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LATCH UP </a:t>
                </a:r>
                <a:r>
                  <a:rPr lang="en-US" b="1" dirty="0" smtClean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  </a:t>
                </a:r>
                <a:r>
                  <a:rPr lang="en-US" b="1" dirty="0">
                    <a:solidFill>
                      <a:srgbClr val="FFFF00"/>
                    </a:solidFill>
                  </a:rPr>
                  <a:t>acts like SR 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latch or memory cell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234" y="189005"/>
                <a:ext cx="11362766" cy="6427695"/>
              </a:xfrm>
              <a:blipFill rotWithShape="0">
                <a:blip r:embed="rId2"/>
                <a:stretch>
                  <a:fillRect l="-429" t="-474" b="-1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063" y="325657"/>
            <a:ext cx="2571538" cy="12088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343" y="1671198"/>
            <a:ext cx="2318057" cy="13271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5797" y="3268092"/>
            <a:ext cx="3739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Complex frequency leads to </a:t>
            </a:r>
            <a:r>
              <a:rPr lang="en-US" b="1" dirty="0" smtClean="0">
                <a:solidFill>
                  <a:srgbClr val="FFFF00"/>
                </a:solidFill>
                <a:sym typeface="Wingdings" panose="05000000000000000000" pitchFamily="2" charset="2"/>
              </a:rPr>
              <a:t>OSCILLATION </a:t>
            </a: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GROWTH</a:t>
            </a:r>
            <a:endParaRPr lang="en-US" b="1" dirty="0"/>
          </a:p>
        </p:txBody>
      </p:sp>
      <p:sp>
        <p:nvSpPr>
          <p:cNvPr id="13" name="Right Brace 12"/>
          <p:cNvSpPr/>
          <p:nvPr/>
        </p:nvSpPr>
        <p:spPr>
          <a:xfrm>
            <a:off x="8101012" y="4613632"/>
            <a:ext cx="256229" cy="79687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2052" y="4304014"/>
            <a:ext cx="2520186" cy="1416105"/>
          </a:xfrm>
          <a:prstGeom prst="rect">
            <a:avLst/>
          </a:prstGeom>
        </p:spPr>
      </p:pic>
      <p:cxnSp>
        <p:nvCxnSpPr>
          <p:cNvPr id="17" name="Straight Arrow Connector 16"/>
          <p:cNvCxnSpPr>
            <a:stCxn id="13" idx="1"/>
          </p:cNvCxnSpPr>
          <p:nvPr/>
        </p:nvCxnSpPr>
        <p:spPr>
          <a:xfrm flipV="1">
            <a:off x="8357241" y="3914423"/>
            <a:ext cx="526102" cy="109764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4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15900"/>
            <a:ext cx="10131425" cy="1456267"/>
          </a:xfrm>
        </p:spPr>
        <p:txBody>
          <a:bodyPr/>
          <a:lstStyle/>
          <a:p>
            <a:r>
              <a:rPr lang="en-US" b="1" dirty="0"/>
              <a:t>Basic Ring Oscillators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799" y="850901"/>
                <a:ext cx="10131425" cy="5600700"/>
              </a:xfrm>
            </p:spPr>
            <p:txBody>
              <a:bodyPr anchor="t"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3‑Stage (and N‑Stage) Ring Oscillator Essentials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u="sng" dirty="0"/>
                  <a:t>Why 3 stages?</a:t>
                </a:r>
                <a:r>
                  <a:rPr lang="en-US" u="sng" dirty="0"/>
                  <a:t/>
                </a:r>
                <a:br>
                  <a:rPr lang="en-US" u="sng" dirty="0"/>
                </a:br>
                <a:r>
                  <a:rPr lang="en-US" dirty="0"/>
                  <a:t>1 stage → </a:t>
                </a:r>
                <a:r>
                  <a:rPr lang="en-US" dirty="0" smtClean="0"/>
                  <a:t>only -90</a:t>
                </a:r>
                <a:r>
                  <a:rPr lang="en-US" dirty="0"/>
                  <a:t> </a:t>
                </a:r>
                <a:r>
                  <a:rPr lang="en-US" dirty="0" smtClean="0"/>
                  <a:t>° ;	 2 </a:t>
                </a:r>
                <a:r>
                  <a:rPr lang="en-US" dirty="0"/>
                  <a:t>stages → −180 ° only at </a:t>
                </a:r>
                <a:r>
                  <a:rPr lang="en-US" dirty="0" smtClean="0"/>
                  <a:t>infinite frequency ; 							     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3 </a:t>
                </a:r>
                <a:r>
                  <a:rPr lang="en-US" b="1" dirty="0">
                    <a:solidFill>
                      <a:srgbClr val="FFFF00"/>
                    </a:solidFill>
                  </a:rPr>
                  <a:t>CS stages</a:t>
                </a:r>
                <a:r>
                  <a:rPr lang="en-US" dirty="0">
                    <a:solidFill>
                      <a:srgbClr val="FFFF00"/>
                    </a:solidFill>
                  </a:rPr>
                  <a:t> give −180 ° (−60 ° each + inversions) </a:t>
                </a:r>
                <a:r>
                  <a:rPr lang="en-US" dirty="0" smtClean="0"/>
                  <a:t>.	</a:t>
                </a:r>
              </a:p>
              <a:p>
                <a:r>
                  <a:rPr lang="en-US" dirty="0" smtClean="0"/>
                  <a:t>Phase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r>
                  <a:rPr lang="en-US" dirty="0" smtClean="0"/>
                  <a:t> degrees.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en-US" b="1"/>
                      <m:t> 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/>
                      <m:t>low</m:t>
                    </m:r>
                    <m:r>
                      <m:rPr>
                        <m:nor/>
                      </m:rPr>
                      <a:rPr lang="en-US"/>
                      <m:t>‑</m:t>
                    </m:r>
                    <m:r>
                      <m:rPr>
                        <m:nor/>
                      </m:rPr>
                      <a:rPr lang="en-US"/>
                      <m:t>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gain</m:t>
                    </m:r>
                    <m:r>
                      <m:rPr>
                        <m:nor/>
                      </m:rPr>
                      <a:rPr lang="en-US"/>
                      <m:t> = 2 </m:t>
                    </m:r>
                    <m:r>
                      <m:rPr>
                        <m:nor/>
                      </m:rPr>
                      <a:rPr lang="en-US"/>
                      <m:t>per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stage</m:t>
                    </m:r>
                    <m:r>
                      <m:rPr>
                        <m:nor/>
                      </m:rPr>
                      <a:rPr lang="en-US"/>
                      <m:t>).</m:t>
                    </m:r>
                  </m:oMath>
                </a14:m>
                <a:endParaRPr lang="en-US" dirty="0" smtClean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u="sng" dirty="0"/>
                  <a:t>General odd‑N </a:t>
                </a:r>
                <a:r>
                  <a:rPr lang="en-US" b="1" u="sng" dirty="0" smtClean="0"/>
                  <a:t>ring :</a:t>
                </a:r>
              </a:p>
              <a:p>
                <a:r>
                  <a:rPr lang="en-US" dirty="0"/>
                  <a:t>Phase per stage: </a:t>
                </a:r>
                <a:r>
                  <a:rPr lang="en-US" dirty="0" smtClean="0"/>
                  <a:t>−180</a:t>
                </a:r>
                <a:r>
                  <a:rPr lang="en-US" dirty="0"/>
                  <a:t>°/</a:t>
                </a:r>
                <a:r>
                  <a:rPr lang="en-US" dirty="0" smtClean="0"/>
                  <a:t>N</a:t>
                </a:r>
              </a:p>
              <a:p>
                <a:r>
                  <a:rPr lang="en-US" dirty="0" err="1" smtClean="0"/>
                  <a:t>Freq</a:t>
                </a:r>
                <a:r>
                  <a:rPr lang="en-US" dirty="0" smtClean="0"/>
                  <a:t>:				    Gain: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>
                    <a:solidFill>
                      <a:srgbClr val="FF0000"/>
                    </a:solidFill>
                  </a:rPr>
                  <a:t>Amplitude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growth : </a:t>
                </a:r>
              </a:p>
              <a:p>
                <a:r>
                  <a:rPr lang="en-US" dirty="0"/>
                  <a:t>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u="sng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u="sng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per stage; </a:t>
                </a:r>
                <a:r>
                  <a:rPr lang="en-US" dirty="0" smtClean="0"/>
                  <a:t> poles </a:t>
                </a:r>
                <a:r>
                  <a:rPr lang="en-US" dirty="0"/>
                  <a:t>move to right‑half plane → oscillation builds from noise.</a:t>
                </a:r>
              </a:p>
              <a:p>
                <a:r>
                  <a:rPr lang="en-US" dirty="0" smtClean="0"/>
                  <a:t>Using non‑</a:t>
                </a:r>
                <a:r>
                  <a:rPr lang="en-US" dirty="0" err="1" smtClean="0"/>
                  <a:t>linearities</a:t>
                </a:r>
                <a:r>
                  <a:rPr lang="en-US" dirty="0" smtClean="0"/>
                  <a:t> ; oscillations are maintained; drags </a:t>
                </a:r>
                <a:r>
                  <a:rPr lang="en-US" dirty="0"/>
                  <a:t>the average loop gain to 1.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850901"/>
                <a:ext cx="10131425" cy="5600700"/>
              </a:xfrm>
              <a:blipFill rotWithShape="0">
                <a:blip r:embed="rId2"/>
                <a:stretch>
                  <a:fillRect l="-361" t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821" y="229773"/>
            <a:ext cx="3577450" cy="1602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318" y="1883719"/>
            <a:ext cx="2572109" cy="24577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95793" y="3813720"/>
            <a:ext cx="3739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As N increases, the required low-frequency gain decreases.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443" y="3974416"/>
            <a:ext cx="1486107" cy="4477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3688" y="3962953"/>
            <a:ext cx="1781424" cy="428685"/>
          </a:xfrm>
          <a:prstGeom prst="rect">
            <a:avLst/>
          </a:prstGeom>
        </p:spPr>
      </p:pic>
      <p:sp>
        <p:nvSpPr>
          <p:cNvPr id="10" name="Right Brace 9"/>
          <p:cNvSpPr/>
          <p:nvPr/>
        </p:nvSpPr>
        <p:spPr>
          <a:xfrm>
            <a:off x="5651541" y="3778860"/>
            <a:ext cx="256229" cy="79687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5996" y="4575730"/>
            <a:ext cx="2645431" cy="11498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681388" y="5611295"/>
            <a:ext cx="76818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Design takeaway: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To </a:t>
            </a:r>
            <a:r>
              <a:rPr lang="en-US" dirty="0">
                <a:solidFill>
                  <a:srgbClr val="FFFF00"/>
                </a:solidFill>
              </a:rPr>
              <a:t>avoid latch-up, </a:t>
            </a:r>
            <a:r>
              <a:rPr lang="en-US" dirty="0" smtClean="0">
                <a:solidFill>
                  <a:srgbClr val="FFFF00"/>
                </a:solidFill>
              </a:rPr>
              <a:t>at </a:t>
            </a:r>
            <a:r>
              <a:rPr lang="en-US" dirty="0">
                <a:solidFill>
                  <a:srgbClr val="FFFF00"/>
                </a:solidFill>
              </a:rPr>
              <a:t>dc, the feedback is </a:t>
            </a:r>
            <a:r>
              <a:rPr lang="en-US" dirty="0">
                <a:solidFill>
                  <a:srgbClr val="FF0000"/>
                </a:solidFill>
              </a:rPr>
              <a:t>negative</a:t>
            </a:r>
            <a:r>
              <a:rPr lang="en-US" dirty="0">
                <a:solidFill>
                  <a:srgbClr val="FFFF00"/>
                </a:solidFill>
              </a:rPr>
              <a:t> or, </a:t>
            </a:r>
            <a:r>
              <a:rPr lang="en-US" dirty="0" smtClean="0">
                <a:solidFill>
                  <a:srgbClr val="FFFF00"/>
                </a:solidFill>
              </a:rPr>
              <a:t>if </a:t>
            </a:r>
            <a:r>
              <a:rPr lang="en-US" dirty="0" smtClean="0">
                <a:solidFill>
                  <a:srgbClr val="FF0000"/>
                </a:solidFill>
              </a:rPr>
              <a:t>positive</a:t>
            </a:r>
            <a:r>
              <a:rPr lang="en-US" dirty="0" smtClean="0">
                <a:solidFill>
                  <a:srgbClr val="FFFF00"/>
                </a:solidFill>
              </a:rPr>
              <a:t>, loop gain &lt; &lt;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For reliable start‑up </a:t>
            </a:r>
            <a:r>
              <a:rPr lang="en-US" dirty="0">
                <a:solidFill>
                  <a:srgbClr val="FFFF00"/>
                </a:solidFill>
              </a:rPr>
              <a:t>target sufficient small‑signal gain </a:t>
            </a:r>
            <a:endParaRPr lang="en-US" dirty="0" smtClean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but </a:t>
            </a:r>
            <a:r>
              <a:rPr lang="en-US" dirty="0">
                <a:solidFill>
                  <a:srgbClr val="FFFF00"/>
                </a:solidFill>
              </a:rPr>
              <a:t>rely on non‑linear limiting for full rail‑to‑rail swings and crisp transitions.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727716" y="2407257"/>
                <a:ext cx="373969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 smtClean="0"/>
                  <a:t>Derived from the conditions: 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en-US" dirty="0" smtClean="0"/>
                  <a:t>|</a:t>
                </a:r>
                <a:r>
                  <a:rPr lang="en-US" dirty="0"/>
                  <a:t>H(</a:t>
                </a:r>
                <a:r>
                  <a:rPr lang="en-US" dirty="0" err="1"/>
                  <a:t>jω</a:t>
                </a:r>
                <a:r>
                  <a:rPr lang="en-US" dirty="0"/>
                  <a:t>₀)| = 1 &amp;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nor/>
                      </m:rPr>
                      <a:rPr lang="en-US" dirty="0"/>
                      <m:t>H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dirty="0"/>
                      <m:t>jω</m:t>
                    </m:r>
                    <m:r>
                      <m:rPr>
                        <m:nor/>
                      </m:rPr>
                      <a:rPr lang="en-US" dirty="0"/>
                      <m:t>₀) = − 180</m:t>
                    </m:r>
                  </m:oMath>
                </a14:m>
                <a:r>
                  <a:rPr lang="el-GR" dirty="0" smtClean="0"/>
                  <a:t>◦</a:t>
                </a:r>
                <a:endParaRPr lang="en-US" dirty="0" smtClean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16" y="2407257"/>
                <a:ext cx="3739694" cy="923330"/>
              </a:xfrm>
              <a:prstGeom prst="rect">
                <a:avLst/>
              </a:prstGeom>
              <a:blipFill rotWithShape="0">
                <a:blip r:embed="rId8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/>
          <p:cNvSpPr/>
          <p:nvPr/>
        </p:nvSpPr>
        <p:spPr>
          <a:xfrm>
            <a:off x="5651541" y="2328003"/>
            <a:ext cx="354321" cy="757445"/>
          </a:xfrm>
          <a:prstGeom prst="leftBrace">
            <a:avLst/>
          </a:pr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/>
          <p:cNvSpPr/>
          <p:nvPr/>
        </p:nvSpPr>
        <p:spPr>
          <a:xfrm>
            <a:off x="-1689650" y="5587914"/>
            <a:ext cx="16240539" cy="5760016"/>
          </a:xfrm>
          <a:prstGeom prst="arc">
            <a:avLst>
              <a:gd name="adj1" fmla="val 11683017"/>
              <a:gd name="adj2" fmla="val 20446776"/>
            </a:avLst>
          </a:prstGeom>
          <a:ln w="38100">
            <a:solidFill>
              <a:schemeClr val="tx1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0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88900"/>
            <a:ext cx="10131425" cy="1456267"/>
          </a:xfrm>
        </p:spPr>
        <p:txBody>
          <a:bodyPr/>
          <a:lstStyle/>
          <a:p>
            <a:r>
              <a:rPr lang="en-US" b="1" dirty="0"/>
              <a:t> Inverter-Based Rings</a:t>
            </a:r>
            <a:br>
              <a:rPr lang="en-US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1" y="961520"/>
                <a:ext cx="10131425" cy="5744080"/>
              </a:xfrm>
            </p:spPr>
            <p:txBody>
              <a:bodyPr anchor="t">
                <a:normAutofit/>
              </a:bodyPr>
              <a:lstStyle/>
              <a:p>
                <a:r>
                  <a:rPr lang="en-US" dirty="0" smtClean="0"/>
                  <a:t>CMOS inverters replace CS stages with → </a:t>
                </a:r>
                <a:r>
                  <a:rPr lang="en-US" dirty="0"/>
                  <a:t>higher gain, compact </a:t>
                </a:r>
                <a:r>
                  <a:rPr lang="en-US" dirty="0" smtClean="0"/>
                  <a:t>design.</a:t>
                </a:r>
              </a:p>
              <a:p>
                <a:r>
                  <a:rPr lang="en-US" dirty="0" smtClean="0"/>
                  <a:t>Negative Feedback at DC (</a:t>
                </a:r>
                <a:r>
                  <a:rPr lang="en-US" dirty="0" err="1" smtClean="0"/>
                  <a:t>freq</a:t>
                </a:r>
                <a:r>
                  <a:rPr lang="en-US" dirty="0" smtClean="0"/>
                  <a:t>=0) prevents </a:t>
                </a:r>
                <a:r>
                  <a:rPr lang="en-US" u="sng" dirty="0" smtClean="0"/>
                  <a:t>LATCH-UP</a:t>
                </a:r>
                <a:r>
                  <a:rPr lang="en-US" dirty="0" smtClean="0"/>
                  <a:t> condition.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u="sng" dirty="0"/>
                  <a:t>Frequency Estimates</a:t>
                </a:r>
                <a:r>
                  <a:rPr lang="en-US" u="sng" dirty="0"/>
                  <a:t>:</a:t>
                </a:r>
              </a:p>
              <a:p>
                <a:pPr lvl="1"/>
                <a:r>
                  <a:rPr lang="en-US" sz="1800" dirty="0"/>
                  <a:t>Small-signal: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𝒐𝒏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𝒐𝒑</m:t>
                            </m:r>
                          </m:sub>
                        </m:sSub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b="1" dirty="0">
                    <a:solidFill>
                      <a:srgbClr val="FFFF00"/>
                    </a:solidFill>
                  </a:rPr>
                  <a:t>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 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&amp;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 </a:t>
                </a:r>
                <a:r>
                  <a:rPr lang="en-US" sz="1800" dirty="0" smtClean="0"/>
                  <a:t> Large-signal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0=</m:t>
                    </m:r>
                    <m:f>
                      <m:fPr>
                        <m:ctrlPr>
                          <a:rPr lang="en-US" sz="20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 smtClean="0"/>
                  <a:t>→ </a:t>
                </a:r>
                <a:r>
                  <a:rPr lang="en-US" sz="1800" dirty="0"/>
                  <a:t>more </a:t>
                </a:r>
                <a:r>
                  <a:rPr lang="en-US" sz="1800" dirty="0" smtClean="0"/>
                  <a:t>accurate</a:t>
                </a:r>
              </a:p>
              <a:p>
                <a:pPr lvl="1"/>
                <a:r>
                  <a:rPr lang="en-US" sz="1800" dirty="0" smtClean="0"/>
                  <a:t>Td = delay of 1 inverter</a:t>
                </a:r>
              </a:p>
              <a:p>
                <a:pPr lvl="1"/>
                <a:r>
                  <a:rPr lang="en-US" sz="1800" dirty="0" smtClean="0"/>
                  <a:t>6Td = Total oscillation. 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u="sng" dirty="0" smtClean="0"/>
                  <a:t>Properties :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smtClean="0"/>
                  <a:t>Frequency &amp; supply voltage </a:t>
                </a:r>
                <a:r>
                  <a:rPr lang="en-US" dirty="0" err="1" smtClean="0"/>
                  <a:t>Vdd</a:t>
                </a:r>
                <a:r>
                  <a:rPr lang="en-US" dirty="0" smtClean="0"/>
                  <a:t> 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1800" b="1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 ⇒</m:t>
                    </m:r>
                    <m:r>
                      <a:rPr lang="en-US" sz="1800" b="1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𝑻𝒅</m:t>
                    </m:r>
                    <m:r>
                      <a:rPr lang="en-US" sz="1800" b="1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↓ ⇒</m:t>
                    </m:r>
                    <m:r>
                      <a:rPr lang="en-US" sz="1800" b="1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𝑽𝒅𝒅</m:t>
                    </m:r>
                    <m:r>
                      <a:rPr lang="en-US" sz="1800" b="1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1800" b="1" dirty="0" smtClean="0"/>
                  <a:t> </a:t>
                </a:r>
              </a:p>
              <a:p>
                <a:pPr marL="800100" lvl="1" indent="-342900">
                  <a:buAutoNum type="arabicPeriod"/>
                </a:pPr>
                <a:r>
                  <a:rPr lang="en-US" sz="1800" dirty="0" smtClean="0"/>
                  <a:t>Average power </a:t>
                </a:r>
                <a:r>
                  <a:rPr lang="en-US" sz="1800" dirty="0" smtClean="0">
                    <a:solidFill>
                      <a:srgbClr val="FFFF00"/>
                    </a:solidFill>
                  </a:rPr>
                  <a:t>: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𝑃𝑎𝑣𝑔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0∗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𝐶𝐿</m:t>
                    </m:r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𝑉𝑑𝑑</m:t>
                        </m:r>
                      </m:e>
                      <m:sup>
                        <m: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 smtClean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𝑝𝑜𝑤𝑒𝑟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0∗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𝐶𝐿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𝑉𝑑𝑑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/>
              </a:p>
              <a:p>
                <a:endParaRPr lang="en-US" sz="2000" dirty="0" smtClean="0"/>
              </a:p>
              <a:p>
                <a:endParaRPr lang="en-US" sz="2000" dirty="0" smtClean="0"/>
              </a:p>
              <a:p>
                <a:r>
                  <a:rPr lang="en-US" sz="2000" b="1" dirty="0" smtClean="0">
                    <a:solidFill>
                      <a:srgbClr val="FFFF00"/>
                    </a:solidFill>
                  </a:rPr>
                  <a:t>NOTE</a:t>
                </a:r>
                <a:r>
                  <a:rPr lang="en-US" sz="2000" dirty="0" smtClean="0">
                    <a:solidFill>
                      <a:srgbClr val="FFFF00"/>
                    </a:solidFill>
                  </a:rPr>
                  <a:t> : No initial conditions are required, starts oscillating regardless.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961520"/>
                <a:ext cx="10131425" cy="5744080"/>
              </a:xfrm>
              <a:blipFill rotWithShape="0">
                <a:blip r:embed="rId2"/>
                <a:stretch>
                  <a:fillRect l="-542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476" y="2233509"/>
            <a:ext cx="1867161" cy="79068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37895" y="3127310"/>
            <a:ext cx="4051335" cy="2278370"/>
            <a:chOff x="8686765" y="481376"/>
            <a:chExt cx="3083508" cy="172842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765" y="481376"/>
              <a:ext cx="3083508" cy="1728424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8896765" y="728872"/>
              <a:ext cx="951669" cy="1414926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399" y="206089"/>
            <a:ext cx="3154831" cy="19243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8" name="Right Arrow 17"/>
          <p:cNvSpPr/>
          <p:nvPr/>
        </p:nvSpPr>
        <p:spPr>
          <a:xfrm>
            <a:off x="8177833" y="5415376"/>
            <a:ext cx="713131" cy="34171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9398683" y="5427582"/>
            <a:ext cx="713131" cy="34171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10532800" y="5418624"/>
            <a:ext cx="713131" cy="34171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919765" y="5809504"/>
            <a:ext cx="3775422" cy="486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 smtClean="0">
                <a:solidFill>
                  <a:srgbClr val="FFFF00"/>
                </a:solidFill>
                <a:sym typeface="Wingdings" panose="05000000000000000000" pitchFamily="2" charset="2"/>
              </a:rPr>
              <a:t>Each gain stage </a:t>
            </a:r>
            <a:r>
              <a:rPr lang="en-US" b="1" dirty="0" err="1" smtClean="0">
                <a:solidFill>
                  <a:srgbClr val="FFFF00"/>
                </a:solidFill>
                <a:sym typeface="Wingdings" panose="05000000000000000000" pitchFamily="2" charset="2"/>
              </a:rPr>
              <a:t>Ao</a:t>
            </a:r>
            <a:r>
              <a:rPr lang="en-US" b="1" dirty="0" smtClean="0">
                <a:solidFill>
                  <a:srgbClr val="FFFF00"/>
                </a:solidFill>
                <a:sym typeface="Wingdings" panose="05000000000000000000" pitchFamily="2" charset="2"/>
              </a:rPr>
              <a:t> &gt;&gt; 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961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5287"/>
            <a:ext cx="10131425" cy="1456267"/>
          </a:xfrm>
        </p:spPr>
        <p:txBody>
          <a:bodyPr/>
          <a:lstStyle/>
          <a:p>
            <a:r>
              <a:rPr lang="en-US" b="1" dirty="0" smtClean="0"/>
              <a:t>BASIC LC OSCILLATORS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973300"/>
                <a:ext cx="10843590" cy="5884700"/>
              </a:xfrm>
            </p:spPr>
            <p:txBody>
              <a:bodyPr anchor="t"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 Ideal Parallel LC Tank (Resonator): </a:t>
                </a:r>
                <a:endParaRPr lang="en-US" dirty="0" smtClean="0">
                  <a:solidFill>
                    <a:srgbClr val="FF0000"/>
                  </a:solidFill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800" dirty="0" smtClean="0"/>
                  <a:t>Capacitors: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sz="1800" dirty="0" smtClean="0"/>
              </a:p>
              <a:p>
                <a:pPr marL="800100" lvl="1" indent="-342900">
                  <a:buFont typeface="+mj-lt"/>
                  <a:buAutoNum type="arabicPeriod"/>
                </a:pPr>
                <a:endParaRPr lang="en-US" sz="1800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800" dirty="0" smtClean="0"/>
                  <a:t>Inductors 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800" dirty="0" smtClean="0"/>
                  <a:t>At Low frequency:  ​ </a:t>
                </a:r>
                <a:r>
                  <a:rPr lang="el-GR" sz="1800" dirty="0" smtClean="0"/>
                  <a:t>ω&lt;ω0</a:t>
                </a:r>
                <a:r>
                  <a:rPr lang="en-US" sz="1800" dirty="0" smtClean="0"/>
                  <a:t> </a:t>
                </a:r>
                <a:r>
                  <a:rPr lang="el-GR" sz="1800" dirty="0" smtClean="0"/>
                  <a:t> </a:t>
                </a:r>
                <a:r>
                  <a:rPr lang="el-GR" sz="1800" dirty="0"/>
                  <a:t>⇒ </a:t>
                </a:r>
                <a:r>
                  <a:rPr lang="en-US" sz="1800" dirty="0"/>
                  <a:t>tank </a:t>
                </a:r>
                <a:r>
                  <a:rPr lang="en-US" sz="1800" dirty="0" smtClean="0"/>
                  <a:t>acts like a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inductor 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800" dirty="0" smtClean="0"/>
                  <a:t>At high frequency:   </a:t>
                </a:r>
                <a:r>
                  <a:rPr lang="el-GR" sz="1800" dirty="0" smtClean="0"/>
                  <a:t>ω</a:t>
                </a:r>
                <a:r>
                  <a:rPr lang="en-US" sz="1800" dirty="0" smtClean="0"/>
                  <a:t>&gt;</a:t>
                </a:r>
                <a:r>
                  <a:rPr lang="el-GR" sz="1800" dirty="0" smtClean="0"/>
                  <a:t>ω0</a:t>
                </a:r>
                <a:r>
                  <a:rPr lang="en-US" sz="1800" dirty="0" smtClean="0"/>
                  <a:t> </a:t>
                </a:r>
                <a:r>
                  <a:rPr lang="el-GR" sz="1800" dirty="0" smtClean="0"/>
                  <a:t> </a:t>
                </a:r>
                <a:r>
                  <a:rPr lang="el-GR" sz="1800" dirty="0"/>
                  <a:t>⇒ </a:t>
                </a:r>
                <a:r>
                  <a:rPr lang="en-US" sz="1800" dirty="0"/>
                  <a:t>tank acts like a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capacitor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800" dirty="0" smtClean="0"/>
                  <a:t>At</a:t>
                </a:r>
                <a:r>
                  <a:rPr lang="en-US" sz="1800" b="1" dirty="0" smtClean="0"/>
                  <a:t> </a:t>
                </a:r>
                <a:r>
                  <a:rPr lang="el-GR" sz="1800" dirty="0" smtClean="0"/>
                  <a:t>ω</a:t>
                </a:r>
                <a:r>
                  <a:rPr lang="en-US" sz="1800" dirty="0" smtClean="0"/>
                  <a:t> = </a:t>
                </a:r>
                <a:r>
                  <a:rPr lang="el-GR" sz="1800" dirty="0" smtClean="0"/>
                  <a:t>ω0</a:t>
                </a:r>
                <a:r>
                  <a:rPr lang="en-US" sz="1800" dirty="0" smtClean="0"/>
                  <a:t> </a:t>
                </a:r>
                <a:r>
                  <a:rPr lang="el-GR" sz="1800" dirty="0" smtClean="0"/>
                  <a:t> ⇒</a:t>
                </a:r>
                <a:r>
                  <a:rPr lang="en-US" sz="1800" dirty="0" smtClean="0"/>
                  <a:t> </a:t>
                </a:r>
                <a:r>
                  <a:rPr lang="en-US" sz="1800" u="sng" dirty="0" smtClean="0"/>
                  <a:t>Resonance frequency </a:t>
                </a:r>
                <a:r>
                  <a:rPr lang="en-US" sz="1800" dirty="0" smtClean="0"/>
                  <a:t>=&gt; </a:t>
                </a:r>
                <a:r>
                  <a:rPr lang="el-GR" sz="2000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ω0</a:t>
                </a:r>
                <a:r>
                  <a:rPr lang="en-US" sz="2000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𝑳𝑪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err="1" smtClean="0">
                    <a:solidFill>
                      <a:srgbClr val="FF0000"/>
                    </a:solidFill>
                  </a:rPr>
                  <a:t>Lossy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 Parallel LC tank and quality factor: </a:t>
                </a:r>
                <a:r>
                  <a:rPr lang="en-US" sz="2200" b="1" u="sng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dirty="0"/>
                  <a:t>series loss </a:t>
                </a:r>
                <a:r>
                  <a:rPr lang="en-US" dirty="0" smtClean="0"/>
                  <a:t>𝑅s​  </a:t>
                </a:r>
                <a:r>
                  <a:rPr lang="en-US" dirty="0"/>
                  <a:t>→ “</a:t>
                </a:r>
                <a:r>
                  <a:rPr lang="en-US" dirty="0" err="1"/>
                  <a:t>lossy</a:t>
                </a:r>
                <a:r>
                  <a:rPr lang="en-US" dirty="0"/>
                  <a:t>” </a:t>
                </a:r>
                <a:r>
                  <a:rPr lang="en-US" dirty="0" smtClean="0"/>
                  <a:t>tank</a:t>
                </a:r>
              </a:p>
              <a:p>
                <a:r>
                  <a:rPr lang="en-US" dirty="0"/>
                  <a:t>a lower RS or a higher </a:t>
                </a:r>
                <a:r>
                  <a:rPr lang="en-US" dirty="0" err="1"/>
                  <a:t>Rp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translates </a:t>
                </a:r>
                <a:r>
                  <a:rPr lang="en-US" dirty="0"/>
                  <a:t>to a more ideal tank. </a:t>
                </a:r>
              </a:p>
              <a:p>
                <a:pPr marL="457200" lvl="1" indent="0">
                  <a:buNone/>
                </a:pPr>
                <a:endParaRPr lang="en-US" sz="20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73300"/>
                <a:ext cx="10843590" cy="5884700"/>
              </a:xfrm>
              <a:blipFill rotWithShape="0">
                <a:blip r:embed="rId3"/>
                <a:stretch>
                  <a:fillRect l="-394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205044" y="474238"/>
            <a:ext cx="2447981" cy="1538099"/>
            <a:chOff x="7225381" y="973300"/>
            <a:chExt cx="2123851" cy="145626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8340" y="973300"/>
              <a:ext cx="1477935" cy="1064114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7225381" y="2060235"/>
              <a:ext cx="21238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Ideal parallel LC </a:t>
              </a:r>
              <a:r>
                <a:rPr lang="en-US" dirty="0" smtClean="0"/>
                <a:t>tank</a:t>
              </a:r>
              <a:endParaRPr lang="en-US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146" y="1396879"/>
            <a:ext cx="1757349" cy="9322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0116" y="2511399"/>
            <a:ext cx="2138789" cy="940206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7725768" y="101738"/>
            <a:ext cx="2011018" cy="2948759"/>
            <a:chOff x="9349232" y="502963"/>
            <a:chExt cx="1824076" cy="2649581"/>
          </a:xfrm>
        </p:grpSpPr>
        <p:grpSp>
          <p:nvGrpSpPr>
            <p:cNvPr id="9" name="Group 8"/>
            <p:cNvGrpSpPr/>
            <p:nvPr/>
          </p:nvGrpSpPr>
          <p:grpSpPr>
            <a:xfrm>
              <a:off x="9382358" y="954157"/>
              <a:ext cx="1790950" cy="2198387"/>
              <a:chOff x="9382358" y="954157"/>
              <a:chExt cx="1790950" cy="219838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82358" y="954157"/>
                <a:ext cx="1790950" cy="182905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9382358" y="2783212"/>
                    <a:ext cx="147854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𝑃h𝑎𝑠𝑒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2358" y="2783212"/>
                    <a:ext cx="1478546" cy="36933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Rectangle 12"/>
            <p:cNvSpPr/>
            <p:nvPr/>
          </p:nvSpPr>
          <p:spPr>
            <a:xfrm>
              <a:off x="9349232" y="502963"/>
              <a:ext cx="17636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|Z1|: Magnitude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5103829" y="1871246"/>
            <a:ext cx="2808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Phase plot</a:t>
            </a:r>
            <a:r>
              <a:rPr lang="en-US" dirty="0">
                <a:solidFill>
                  <a:srgbClr val="FFFF00"/>
                </a:solidFill>
              </a:rPr>
              <a:t>: +90 ° → –90 ° </a:t>
            </a:r>
            <a:endParaRPr lang="en-US" dirty="0" smtClean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sharp </a:t>
            </a:r>
            <a:r>
              <a:rPr lang="en-US" dirty="0">
                <a:solidFill>
                  <a:srgbClr val="FFFF00"/>
                </a:solidFill>
              </a:rPr>
              <a:t>transition at </a:t>
            </a:r>
            <a:r>
              <a:rPr lang="en-US" dirty="0" smtClean="0">
                <a:solidFill>
                  <a:srgbClr val="FFFF00"/>
                </a:solidFill>
              </a:rPr>
              <a:t>ω0​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703878" y="3099989"/>
            <a:ext cx="3771569" cy="1869911"/>
            <a:chOff x="7734847" y="4310290"/>
            <a:chExt cx="3771569" cy="18699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24072" y="4310290"/>
              <a:ext cx="1982344" cy="1045899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7734847" y="5810869"/>
              <a:ext cx="21645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Lossy</a:t>
              </a:r>
              <a:r>
                <a:rPr lang="en-US" dirty="0" smtClean="0"/>
                <a:t> parallel </a:t>
              </a:r>
              <a:r>
                <a:rPr lang="en-US" dirty="0"/>
                <a:t>LC </a:t>
              </a:r>
              <a:r>
                <a:rPr lang="en-US" dirty="0" smtClean="0"/>
                <a:t>tank</a:t>
              </a:r>
              <a:endParaRPr lang="en-US" dirty="0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1830" y="3118862"/>
            <a:ext cx="1642318" cy="147151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901070" y="4099324"/>
            <a:ext cx="1166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Equivalent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62493" y="5469382"/>
            <a:ext cx="1242551" cy="60244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7259" y="4967718"/>
            <a:ext cx="2631762" cy="17279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736786" y="4866417"/>
            <a:ext cx="2312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Oscillations slowly Die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-20376" y="2981502"/>
            <a:ext cx="12212376" cy="1803732"/>
            <a:chOff x="-20376" y="2981502"/>
            <a:chExt cx="12212376" cy="180373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6970643" y="2994991"/>
              <a:ext cx="5221357" cy="132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6970643" y="2981502"/>
              <a:ext cx="13252" cy="18037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-20376" y="4785234"/>
              <a:ext cx="699101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0043133" y="144873"/>
            <a:ext cx="1944371" cy="2886122"/>
            <a:chOff x="10043133" y="144873"/>
            <a:chExt cx="1944371" cy="2886122"/>
          </a:xfrm>
        </p:grpSpPr>
        <p:grpSp>
          <p:nvGrpSpPr>
            <p:cNvPr id="38" name="Group 37"/>
            <p:cNvGrpSpPr/>
            <p:nvPr/>
          </p:nvGrpSpPr>
          <p:grpSpPr>
            <a:xfrm>
              <a:off x="10043133" y="534884"/>
              <a:ext cx="1805888" cy="2102447"/>
              <a:chOff x="10228345" y="511475"/>
              <a:chExt cx="1448002" cy="2499615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13"/>
              <a:srcRect l="46433"/>
              <a:stretch/>
            </p:blipFill>
            <p:spPr>
              <a:xfrm>
                <a:off x="10228345" y="1699609"/>
                <a:ext cx="1448002" cy="1311481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28345" y="511475"/>
                <a:ext cx="1448002" cy="1190791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10097715" y="2619960"/>
                  <a:ext cx="1630076" cy="4110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: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𝑃h𝑎𝑠𝑒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7715" y="2619960"/>
                  <a:ext cx="1630076" cy="411035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/>
            <p:cNvSpPr/>
            <p:nvPr/>
          </p:nvSpPr>
          <p:spPr>
            <a:xfrm>
              <a:off x="10043133" y="144873"/>
              <a:ext cx="1944371" cy="411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|Z1|: Magnitude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805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57016"/>
            <a:ext cx="10131425" cy="6601593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Quality Factor : </a:t>
            </a:r>
          </a:p>
          <a:p>
            <a:pPr lvl="1"/>
            <a:r>
              <a:rPr lang="en-US" sz="1800" dirty="0" smtClean="0"/>
              <a:t>Figure of “ goodness” of inductors</a:t>
            </a:r>
          </a:p>
          <a:p>
            <a:pPr lvl="1"/>
            <a:r>
              <a:rPr lang="en-US" sz="1800" dirty="0" smtClean="0"/>
              <a:t>Q : </a:t>
            </a:r>
            <a:r>
              <a:rPr lang="en-US" sz="1800" dirty="0" smtClean="0">
                <a:solidFill>
                  <a:srgbClr val="FFFF00"/>
                </a:solidFill>
              </a:rPr>
              <a:t>High</a:t>
            </a:r>
            <a:r>
              <a:rPr lang="en-US" sz="1800" dirty="0" smtClean="0"/>
              <a:t> for Ideal Inductors &amp; </a:t>
            </a:r>
            <a:r>
              <a:rPr lang="en-US" sz="1800" dirty="0" smtClean="0">
                <a:solidFill>
                  <a:srgbClr val="FFFF00"/>
                </a:solidFill>
              </a:rPr>
              <a:t>Low</a:t>
            </a:r>
            <a:r>
              <a:rPr lang="en-US" sz="1800" dirty="0" smtClean="0"/>
              <a:t> as we include Losses</a:t>
            </a:r>
          </a:p>
          <a:p>
            <a:pPr lvl="1"/>
            <a:r>
              <a:rPr lang="en-US" sz="1800" dirty="0" smtClean="0"/>
              <a:t>Series resistance =&gt;  </a:t>
            </a:r>
          </a:p>
          <a:p>
            <a:pPr lvl="1"/>
            <a:r>
              <a:rPr lang="en-US" sz="1800" dirty="0" smtClean="0"/>
              <a:t>Parallel Resistance =&gt;                     </a:t>
            </a:r>
          </a:p>
          <a:p>
            <a:pPr lvl="1"/>
            <a:endParaRPr lang="en-US" sz="1800" dirty="0" smtClean="0"/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endParaRPr lang="en-US" b="1" u="sng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rgbClr val="FF0000"/>
                </a:solidFill>
              </a:rPr>
              <a:t> LC Tank as Tuned Load / </a:t>
            </a:r>
            <a:r>
              <a:rPr lang="en-US" b="1" u="sng" dirty="0" smtClean="0">
                <a:solidFill>
                  <a:srgbClr val="FF0000"/>
                </a:solidFill>
              </a:rPr>
              <a:t>Amplifier :</a:t>
            </a:r>
          </a:p>
          <a:p>
            <a:r>
              <a:rPr lang="en-US" dirty="0" smtClean="0"/>
              <a:t>A LC-tank is used as a “ load ” to CS amplifier. </a:t>
            </a:r>
          </a:p>
          <a:p>
            <a:r>
              <a:rPr lang="en-US" dirty="0" smtClean="0"/>
              <a:t>At w0 ;        </a:t>
            </a:r>
            <a:r>
              <a:rPr lang="en-US" dirty="0" smtClean="0">
                <a:solidFill>
                  <a:srgbClr val="FFFF00"/>
                </a:solidFill>
              </a:rPr>
              <a:t>Gain</a:t>
            </a:r>
            <a:r>
              <a:rPr lang="en-US" dirty="0" smtClean="0"/>
              <a:t> : Vout</a:t>
            </a:r>
            <a:r>
              <a:rPr lang="en-US" dirty="0"/>
              <a:t>​/</a:t>
            </a:r>
            <a:r>
              <a:rPr lang="en-US" dirty="0" smtClean="0"/>
              <a:t>Vin ​= −</a:t>
            </a:r>
            <a:r>
              <a:rPr lang="en-US" dirty="0"/>
              <a:t>gm​</a:t>
            </a:r>
            <a:r>
              <a:rPr lang="en-US" dirty="0" err="1" smtClean="0"/>
              <a:t>Rp</a:t>
            </a:r>
            <a:r>
              <a:rPr lang="en-US" dirty="0" smtClean="0"/>
              <a:t>,  &amp;   </a:t>
            </a:r>
            <a:r>
              <a:rPr lang="en-US" dirty="0" smtClean="0">
                <a:solidFill>
                  <a:srgbClr val="FFFF00"/>
                </a:solidFill>
              </a:rPr>
              <a:t>phase</a:t>
            </a:r>
            <a:r>
              <a:rPr lang="en-US" dirty="0"/>
              <a:t> = 180 </a:t>
            </a:r>
            <a:r>
              <a:rPr lang="en-US" dirty="0" smtClean="0"/>
              <a:t>° </a:t>
            </a:r>
            <a:r>
              <a:rPr lang="en-US" dirty="0" smtClean="0">
                <a:solidFill>
                  <a:srgbClr val="FF0000"/>
                </a:solidFill>
              </a:rPr>
              <a:t>(by CS stage only)</a:t>
            </a:r>
          </a:p>
          <a:p>
            <a:r>
              <a:rPr lang="en-US" dirty="0"/>
              <a:t>DC </a:t>
            </a:r>
            <a:r>
              <a:rPr lang="en-US" dirty="0" smtClean="0"/>
              <a:t>behavior at </a:t>
            </a:r>
            <a:r>
              <a:rPr lang="en-US" dirty="0" err="1" smtClean="0"/>
              <a:t>freq</a:t>
            </a:r>
            <a:r>
              <a:rPr lang="en-US" dirty="0" smtClean="0"/>
              <a:t> = 0: </a:t>
            </a:r>
          </a:p>
          <a:p>
            <a:pPr lvl="1"/>
            <a:r>
              <a:rPr lang="en-US" sz="1800" dirty="0" smtClean="0"/>
              <a:t>inductor </a:t>
            </a:r>
            <a:r>
              <a:rPr lang="en-US" sz="1800" dirty="0"/>
              <a:t>≈ </a:t>
            </a:r>
            <a:r>
              <a:rPr lang="en-US" sz="1800" dirty="0" smtClean="0"/>
              <a:t>shorted </a:t>
            </a:r>
            <a:r>
              <a:rPr lang="en-US" sz="1800" dirty="0"/>
              <a:t>→ output bias ≈ </a:t>
            </a:r>
            <a:r>
              <a:rPr lang="en-US" sz="1800" dirty="0" smtClean="0"/>
              <a:t>VDD ​</a:t>
            </a:r>
            <a:r>
              <a:rPr lang="en-US" sz="1800" dirty="0"/>
              <a:t>; </a:t>
            </a:r>
            <a:endParaRPr lang="en-US" sz="1800" dirty="0" smtClean="0"/>
          </a:p>
          <a:p>
            <a:r>
              <a:rPr lang="en-US" dirty="0"/>
              <a:t>Acts like </a:t>
            </a:r>
            <a:r>
              <a:rPr lang="en-US" b="1" dirty="0"/>
              <a:t>band‑pass filter</a:t>
            </a:r>
            <a:r>
              <a:rPr lang="en-US" dirty="0"/>
              <a:t> centered at </a:t>
            </a:r>
            <a:r>
              <a:rPr lang="en-US" dirty="0" smtClean="0"/>
              <a:t>ω0. </a:t>
            </a:r>
          </a:p>
          <a:p>
            <a:endParaRPr lang="en-US" b="1" u="sng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26504" y="2600303"/>
            <a:ext cx="3257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Q at the resonance frequency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599433" y="1376348"/>
            <a:ext cx="8475112" cy="1129433"/>
            <a:chOff x="3599433" y="1376348"/>
            <a:chExt cx="8475112" cy="112943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9433" y="1376348"/>
              <a:ext cx="974846" cy="53384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0651" y="1981463"/>
              <a:ext cx="977139" cy="52431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868120" y="1981463"/>
              <a:ext cx="40383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Rp</a:t>
              </a:r>
              <a:r>
                <a:rPr lang="en-US" dirty="0"/>
                <a:t> = ∞ leads to an </a:t>
              </a:r>
              <a:r>
                <a:rPr lang="en-US" b="1" dirty="0"/>
                <a:t>ideal parallel tank.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727790" y="1376348"/>
              <a:ext cx="73467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u="sng" dirty="0" smtClean="0"/>
                <a:t>The Q </a:t>
              </a:r>
              <a:r>
                <a:rPr lang="en-US" b="1" u="sng" dirty="0"/>
                <a:t>rises linearly with ω</a:t>
              </a:r>
              <a:r>
                <a:rPr lang="en-US" dirty="0"/>
                <a:t> if </a:t>
              </a:r>
              <a:r>
                <a:rPr lang="en-US" dirty="0" err="1" smtClean="0"/>
                <a:t>Rs</a:t>
              </a:r>
              <a:r>
                <a:rPr lang="en-US" dirty="0" smtClean="0"/>
                <a:t> </a:t>
              </a:r>
              <a:r>
                <a:rPr lang="en-US" dirty="0"/>
                <a:t>is assumed independent of the frequency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383999" y="2527017"/>
            <a:ext cx="7808001" cy="646331"/>
            <a:chOff x="4383999" y="2766681"/>
            <a:chExt cx="7808001" cy="64633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3999" y="2876508"/>
              <a:ext cx="2011780" cy="506031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6096000" y="2766681"/>
              <a:ext cx="6096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Q </a:t>
              </a:r>
              <a:r>
                <a:rPr lang="en-US" dirty="0"/>
                <a:t>can be viewed as proportional to the slope of the phase response. 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867" y="3173348"/>
            <a:ext cx="1559763" cy="1674451"/>
          </a:xfrm>
          <a:prstGeom prst="rect">
            <a:avLst/>
          </a:prstGeom>
        </p:spPr>
      </p:pic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685801" y="487766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4818" y="3164952"/>
            <a:ext cx="216247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3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1476"/>
            <a:ext cx="10131425" cy="1456267"/>
          </a:xfrm>
        </p:spPr>
        <p:txBody>
          <a:bodyPr/>
          <a:lstStyle/>
          <a:p>
            <a:r>
              <a:rPr lang="en-US" b="1" dirty="0"/>
              <a:t>LC Oscillators as Feedback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1" y="927653"/>
                <a:ext cx="10131425" cy="5671930"/>
              </a:xfrm>
            </p:spPr>
            <p:txBody>
              <a:bodyPr anchor="t"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Two cascaded tuned CS stages in a loop : 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1800" dirty="0" smtClean="0">
                    <a:solidFill>
                      <a:srgbClr val="FFFF00"/>
                    </a:solidFill>
                  </a:rPr>
                  <a:t>360 degree phase shift</a:t>
                </a:r>
                <a:r>
                  <a:rPr lang="en-US" sz="1800" dirty="0">
                    <a:solidFill>
                      <a:srgbClr val="FFFF00"/>
                    </a:solidFill>
                  </a:rPr>
                  <a:t> </a:t>
                </a:r>
                <a:r>
                  <a:rPr lang="en-US" sz="1800" dirty="0" smtClean="0"/>
                  <a:t>&amp;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gmRp</m:t>
                        </m:r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)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 smtClean="0"/>
              </a:p>
              <a:p>
                <a:pPr lvl="1"/>
                <a:r>
                  <a:rPr lang="en-US" sz="1800" dirty="0" smtClean="0"/>
                  <a:t>Since, gain is </a:t>
                </a:r>
                <a:r>
                  <a:rPr lang="en-US" sz="1800" dirty="0"/>
                  <a:t>sufficiently large ; </a:t>
                </a:r>
                <a:endParaRPr lang="en-US" sz="1800" dirty="0" smtClean="0"/>
              </a:p>
              <a:p>
                <a:pPr lvl="2"/>
                <a:r>
                  <a:rPr lang="en-US" sz="1800" dirty="0" smtClean="0"/>
                  <a:t>VX </a:t>
                </a:r>
                <a:r>
                  <a:rPr lang="en-US" sz="1800" dirty="0"/>
                  <a:t>falls and VY rises, M2 begins to turn off and M1 turns on more. </a:t>
                </a:r>
                <a:r>
                  <a:rPr lang="en-US" sz="1800" dirty="0" smtClean="0"/>
                  <a:t>							The </a:t>
                </a:r>
                <a:r>
                  <a:rPr lang="en-US" sz="1800" dirty="0"/>
                  <a:t>drain currents therefore swing between 0 and </a:t>
                </a:r>
                <a:r>
                  <a:rPr lang="en-US" sz="1800" dirty="0" err="1" smtClean="0"/>
                  <a:t>Vdd</a:t>
                </a:r>
                <a:r>
                  <a:rPr lang="en-US" sz="1800" dirty="0" smtClean="0"/>
                  <a:t>.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Latch-up conditions and how to avoid them :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r>
                  <a:rPr lang="en-US" sz="1800" dirty="0" smtClean="0"/>
                  <a:t>At DC : Inductor is shorted , Has a resistance </a:t>
                </a:r>
                <a:r>
                  <a:rPr lang="en-US" sz="1800" dirty="0" err="1" smtClean="0"/>
                  <a:t>Rs</a:t>
                </a:r>
                <a:r>
                  <a:rPr lang="en-US" sz="1800" dirty="0" smtClean="0"/>
                  <a:t> </a:t>
                </a:r>
                <a:r>
                  <a:rPr lang="en-US" sz="1800" b="1" dirty="0" smtClean="0"/>
                  <a:t>,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NO oscillations !</a:t>
                </a:r>
              </a:p>
              <a:p>
                <a:r>
                  <a:rPr lang="en-US" dirty="0" smtClean="0"/>
                  <a:t>At small signals :  </a:t>
                </a:r>
              </a:p>
              <a:p>
                <a:pPr marL="457200" lvl="1" indent="0">
                  <a:buNone/>
                </a:pPr>
                <a:r>
                  <a:rPr lang="en-US" sz="1800" dirty="0" smtClean="0"/>
                  <a:t>The circuit effectively turns into a 2-stage CS amp with feedback =&gt; eventually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LATCH-UP</a:t>
                </a:r>
              </a:p>
              <a:p>
                <a:r>
                  <a:rPr lang="en-US" b="1" dirty="0" smtClean="0"/>
                  <a:t>How to avoid latch up ?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gmRp</m:t>
                        </m:r>
                        <m:r>
                          <m:rPr>
                            <m:nor/>
                          </m:rPr>
                          <a:rPr lang="en-US" sz="1800">
                            <a:solidFill>
                              <a:srgbClr val="FFFF00"/>
                            </a:solidFill>
                          </a:rPr>
                          <m:t>)</m:t>
                        </m:r>
                      </m:e>
                      <m:sup>
                        <m: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 smtClean="0"/>
                  <a:t> ; gm </a:t>
                </a:r>
                <a:r>
                  <a:rPr lang="en-US" sz="1800" dirty="0" smtClean="0">
                    <a:sym typeface="Wingdings" panose="05000000000000000000" pitchFamily="2" charset="2"/>
                  </a:rPr>
                  <a:t>chosen carefully ; </a:t>
                </a:r>
                <a:r>
                  <a:rPr lang="en-US" sz="1800" dirty="0" err="1" smtClean="0">
                    <a:sym typeface="Wingdings" panose="05000000000000000000" pitchFamily="2" charset="2"/>
                  </a:rPr>
                  <a:t>Rs</a:t>
                </a:r>
                <a:r>
                  <a:rPr lang="en-US" sz="1800" dirty="0" smtClean="0">
                    <a:sym typeface="Wingdings" panose="05000000000000000000" pitchFamily="2" charset="2"/>
                  </a:rPr>
                  <a:t> Small </a:t>
                </a:r>
                <a:r>
                  <a:rPr lang="en-US" sz="1800" dirty="0" smtClean="0"/>
                  <a:t> </a:t>
                </a:r>
                <a:endParaRPr lang="en-US" sz="1800" dirty="0"/>
              </a:p>
              <a:p>
                <a:pPr marL="800100" lvl="1" indent="-342900">
                  <a:buFont typeface="+mj-lt"/>
                  <a:buAutoNum type="arabicPeriod"/>
                </a:pPr>
                <a:endParaRPr lang="en-US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927653"/>
                <a:ext cx="10131425" cy="5671930"/>
              </a:xfrm>
              <a:blipFill rotWithShape="0">
                <a:blip r:embed="rId2"/>
                <a:stretch>
                  <a:fillRect l="-421" t="-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397" y="275451"/>
            <a:ext cx="2943502" cy="204313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9138753" y="4682922"/>
            <a:ext cx="3033459" cy="2089510"/>
            <a:chOff x="6850061" y="4768490"/>
            <a:chExt cx="3033459" cy="208951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38021" y="4768490"/>
              <a:ext cx="1857540" cy="1479152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850061" y="6211669"/>
              <a:ext cx="30334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FF00"/>
                  </a:solidFill>
                </a:rPr>
                <a:t>LC oscillator equivalent circuit </a:t>
              </a:r>
              <a:endParaRPr lang="en-US" dirty="0" smtClean="0">
                <a:solidFill>
                  <a:srgbClr val="FFFF00"/>
                </a:solidFill>
              </a:endParaRPr>
            </a:p>
            <a:p>
              <a:pPr algn="ctr"/>
              <a:r>
                <a:rPr lang="en-US" dirty="0" smtClean="0">
                  <a:solidFill>
                    <a:srgbClr val="FFFF00"/>
                  </a:solidFill>
                </a:rPr>
                <a:t>at </a:t>
              </a:r>
              <a:r>
                <a:rPr lang="en-US" dirty="0">
                  <a:solidFill>
                    <a:srgbClr val="FFFF00"/>
                  </a:solidFill>
                </a:rPr>
                <a:t>low frequencies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066" y="2390386"/>
            <a:ext cx="2734024" cy="207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0"/>
            <a:ext cx="10936356" cy="1456267"/>
          </a:xfrm>
        </p:spPr>
        <p:txBody>
          <a:bodyPr/>
          <a:lstStyle/>
          <a:p>
            <a:r>
              <a:rPr lang="en-US" b="1" dirty="0" smtClean="0"/>
              <a:t>3-stage LC Osc &amp; Differential Feedback Oscillators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5026" y="1036987"/>
                <a:ext cx="10131425" cy="5473148"/>
              </a:xfrm>
            </p:spPr>
            <p:txBody>
              <a:bodyPr anchor="t"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3-stage LC Oscillator: </a:t>
                </a:r>
              </a:p>
              <a:p>
                <a:r>
                  <a:rPr lang="en-US" dirty="0"/>
                  <a:t>each stage </a:t>
                </a:r>
                <a:r>
                  <a:rPr lang="en-US" dirty="0" smtClean="0"/>
                  <a:t>contributes −</a:t>
                </a:r>
                <a:r>
                  <a:rPr lang="en-US" dirty="0"/>
                  <a:t>120 </a:t>
                </a:r>
                <a:r>
                  <a:rPr lang="en-US" dirty="0" smtClean="0"/>
                  <a:t>◦</a:t>
                </a:r>
              </a:p>
              <a:p>
                <a:r>
                  <a:rPr lang="en-US" dirty="0"/>
                  <a:t>VB /VA = −gmZ1</a:t>
                </a:r>
                <a:r>
                  <a:rPr lang="en-US" dirty="0" smtClean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dirty="0" smtClean="0"/>
                  <a:t>(</a:t>
                </a:r>
                <a:r>
                  <a:rPr lang="en-US" dirty="0"/>
                  <a:t>−gmZ1) = −120 ◦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>
                    <a:solidFill>
                      <a:srgbClr val="FF0000"/>
                    </a:solidFill>
                  </a:rPr>
                  <a:t> Differential pair with LC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loads</a:t>
                </a:r>
              </a:p>
              <a:p>
                <a:r>
                  <a:rPr lang="en-US" dirty="0" smtClean="0"/>
                  <a:t>Small signal diff gain =&gt; 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A0 = -</a:t>
                </a:r>
                <a:r>
                  <a:rPr lang="en-US" b="1" dirty="0" err="1" smtClean="0">
                    <a:solidFill>
                      <a:srgbClr val="FFFF00"/>
                    </a:solidFill>
                  </a:rPr>
                  <a:t>gmRp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 (at w0) </a:t>
                </a:r>
              </a:p>
              <a:p>
                <a:r>
                  <a:rPr lang="en-US" dirty="0" smtClean="0"/>
                  <a:t>Large signal sine input at w0: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-</a:t>
                </a:r>
                <a:r>
                  <a:rPr lang="en-US" sz="1800" dirty="0" smtClean="0"/>
                  <a:t>M1 and M2 completely switch alternatively.</a:t>
                </a:r>
              </a:p>
              <a:p>
                <a:pPr marL="457200" lvl="1" indent="0">
                  <a:buNone/>
                </a:pPr>
                <a:r>
                  <a:rPr lang="en-US" sz="1800" dirty="0" smtClean="0"/>
                  <a:t>-Id1 and Id2 alternate b/w 0 and </a:t>
                </a:r>
                <a:r>
                  <a:rPr lang="en-US" sz="1800" dirty="0" err="1" smtClean="0"/>
                  <a:t>Iss</a:t>
                </a:r>
                <a:endParaRPr lang="en-US" sz="1800" b="1" dirty="0" smtClean="0"/>
              </a:p>
              <a:p>
                <a:pPr marL="457200" lvl="1" indent="0">
                  <a:buNone/>
                </a:pPr>
                <a:r>
                  <a:rPr lang="en-US" sz="1800" b="1" dirty="0" smtClean="0"/>
                  <a:t>-Output swing: </a:t>
                </a:r>
                <a:r>
                  <a:rPr lang="en-US" sz="1800" dirty="0" smtClean="0"/>
                  <a:t>Fundamental swing amp &gt;&gt; </a:t>
                </a:r>
                <a:r>
                  <a:rPr lang="en-US" sz="1800" dirty="0" err="1" smtClean="0"/>
                  <a:t>sq</a:t>
                </a:r>
                <a:r>
                  <a:rPr lang="en-US" sz="1800" dirty="0" smtClean="0"/>
                  <a:t> wave amp</a:t>
                </a:r>
              </a:p>
              <a:p>
                <a:pPr lvl="1">
                  <a:buFontTx/>
                  <a:buChar char="-"/>
                </a:pPr>
                <a:r>
                  <a:rPr lang="en-US" sz="1800" b="1" dirty="0" smtClean="0">
                    <a:solidFill>
                      <a:srgbClr val="FFFF00"/>
                    </a:solidFill>
                  </a:rPr>
                  <a:t>Sine Amplitude = 4 / pi</a:t>
                </a:r>
              </a:p>
              <a:p>
                <a:pPr lvl="1">
                  <a:buFontTx/>
                  <a:buChar char="-"/>
                </a:pPr>
                <a:r>
                  <a:rPr lang="en-US" sz="1800" dirty="0" smtClean="0"/>
                  <a:t>For Id1 and Id2 : </a:t>
                </a:r>
                <a:r>
                  <a:rPr lang="en-US" sz="1800" b="1" dirty="0" smtClean="0">
                    <a:solidFill>
                      <a:srgbClr val="FFFF00"/>
                    </a:solidFill>
                  </a:rPr>
                  <a:t>2 </a:t>
                </a:r>
                <a:r>
                  <a:rPr lang="en-US" sz="1800" b="1" dirty="0" err="1">
                    <a:solidFill>
                      <a:srgbClr val="FFFF00"/>
                    </a:solidFill>
                  </a:rPr>
                  <a:t>Iss</a:t>
                </a:r>
                <a:r>
                  <a:rPr lang="en-US" sz="1800" b="1" dirty="0">
                    <a:solidFill>
                      <a:srgbClr val="FFFF00"/>
                    </a:solidFill>
                  </a:rPr>
                  <a:t> / </a:t>
                </a:r>
                <a:r>
                  <a:rPr lang="en-US" sz="1800" b="1" dirty="0" err="1">
                    <a:solidFill>
                      <a:srgbClr val="FFFF00"/>
                    </a:solidFill>
                  </a:rPr>
                  <a:t>Rp</a:t>
                </a:r>
                <a:endParaRPr lang="en-US" sz="1800" b="1" dirty="0">
                  <a:solidFill>
                    <a:srgbClr val="FFFF00"/>
                  </a:solidFill>
                </a:endParaRPr>
              </a:p>
              <a:p>
                <a:pPr lvl="1">
                  <a:buFontTx/>
                  <a:buChar char="-"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026" y="1036987"/>
                <a:ext cx="10131425" cy="5473148"/>
              </a:xfrm>
              <a:blipFill rotWithShape="0">
                <a:blip r:embed="rId2"/>
                <a:stretch>
                  <a:fillRect l="-421" t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100" y="1232197"/>
            <a:ext cx="3545769" cy="136375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572603" y="961343"/>
            <a:ext cx="2294938" cy="1173046"/>
            <a:chOff x="9539253" y="1422908"/>
            <a:chExt cx="2038635" cy="92185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9253" y="1792240"/>
              <a:ext cx="2038635" cy="55252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194397" y="1422908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Gain </a:t>
              </a:r>
              <a:endParaRPr lang="en-US" dirty="0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297" y="2691211"/>
            <a:ext cx="2967138" cy="21077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522" y="5057559"/>
            <a:ext cx="2219635" cy="1409897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4598504" y="4248971"/>
            <a:ext cx="1342321" cy="323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825" y="2704267"/>
            <a:ext cx="2714856" cy="2014248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6679096" y="4864324"/>
            <a:ext cx="2599928" cy="22307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3639" y="5190524"/>
            <a:ext cx="1564105" cy="7049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7472" y="5306524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Single-ended peak Voltage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532539" y="6009613"/>
            <a:ext cx="5042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differential peak-to-peak swing =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(8/π</a:t>
            </a:r>
            <a:r>
              <a:rPr lang="en-US" b="1" dirty="0" smtClean="0">
                <a:solidFill>
                  <a:srgbClr val="FFFF00"/>
                </a:solidFill>
              </a:rPr>
              <a:t>)* ISS* </a:t>
            </a:r>
            <a:r>
              <a:rPr lang="en-US" b="1" dirty="0" err="1" smtClean="0">
                <a:solidFill>
                  <a:srgbClr val="FFFF00"/>
                </a:solidFill>
              </a:rPr>
              <a:t>Rp</a:t>
            </a:r>
            <a:endParaRPr lang="en-US" b="1" dirty="0" smtClean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>
                <a:solidFill>
                  <a:srgbClr val="FFFF00"/>
                </a:solidFill>
              </a:rPr>
              <a:t>Vpp</a:t>
            </a:r>
            <a:r>
              <a:rPr lang="en-US" b="1" dirty="0" smtClean="0">
                <a:solidFill>
                  <a:srgbClr val="FFFF00"/>
                </a:solidFill>
              </a:rPr>
              <a:t> = 2Vp +2 </a:t>
            </a:r>
            <a:r>
              <a:rPr lang="en-US" b="1" dirty="0" err="1" smtClean="0">
                <a:solidFill>
                  <a:srgbClr val="FFFF00"/>
                </a:solidFill>
              </a:rPr>
              <a:t>Vp</a:t>
            </a:r>
            <a:r>
              <a:rPr lang="en-US" b="1" dirty="0" smtClean="0">
                <a:solidFill>
                  <a:srgbClr val="FFFF00"/>
                </a:solidFill>
              </a:rPr>
              <a:t> ; </a:t>
            </a:r>
            <a:r>
              <a:rPr lang="en-US" b="1" dirty="0" smtClean="0">
                <a:solidFill>
                  <a:srgbClr val="FFFF00"/>
                </a:solidFill>
                <a:sym typeface="Wingdings" panose="05000000000000000000" pitchFamily="2" charset="2"/>
              </a:rPr>
              <a:t></a:t>
            </a:r>
            <a:r>
              <a:rPr lang="en-US" b="1" dirty="0" smtClean="0">
                <a:solidFill>
                  <a:srgbClr val="FFFF00"/>
                </a:solidFill>
              </a:rPr>
              <a:t> X&amp;Y have +/- </a:t>
            </a:r>
            <a:r>
              <a:rPr lang="en-US" b="1" dirty="0" err="1" smtClean="0">
                <a:solidFill>
                  <a:srgbClr val="FFFF00"/>
                </a:solidFill>
              </a:rPr>
              <a:t>Vp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75404" y="2182421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Alpha is a function of 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1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-238539"/>
            <a:ext cx="10131425" cy="1456267"/>
          </a:xfrm>
        </p:spPr>
        <p:txBody>
          <a:bodyPr/>
          <a:lstStyle/>
          <a:p>
            <a:r>
              <a:rPr lang="en-US" b="1" dirty="0" smtClean="0"/>
              <a:t>Cross-coupled Oscillators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1" y="821635"/>
                <a:ext cx="10131425" cy="5645426"/>
              </a:xfrm>
            </p:spPr>
            <p:txBody>
              <a:bodyPr anchor="t"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Negative feedback : 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r>
                  <a:rPr lang="en-US" dirty="0" smtClean="0"/>
                  <a:t>No phase shift</a:t>
                </a:r>
              </a:p>
              <a:p>
                <a:r>
                  <a:rPr lang="en-US" dirty="0" smtClean="0"/>
                  <a:t>No oscillations </a:t>
                </a:r>
              </a:p>
              <a:p>
                <a:r>
                  <a:rPr lang="en-US" dirty="0" smtClean="0"/>
                  <a:t>At w0, only 180 degrees phase shift.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Positive feedback / Cross Coupled osc: 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r>
                  <a:rPr lang="en-US" dirty="0" smtClean="0">
                    <a:solidFill>
                      <a:srgbClr val="FFFF00"/>
                    </a:solidFill>
                  </a:rPr>
                  <a:t>360</a:t>
                </a:r>
                <a:r>
                  <a:rPr lang="en-US" dirty="0" smtClean="0"/>
                  <a:t> degrees phase shift </a:t>
                </a:r>
              </a:p>
              <a:p>
                <a:pPr lvl="1"/>
                <a:r>
                  <a:rPr lang="en-US" sz="1800" dirty="0" smtClean="0"/>
                  <a:t>Amplifiers provide : 180</a:t>
                </a:r>
              </a:p>
              <a:p>
                <a:pPr lvl="1"/>
                <a:r>
                  <a:rPr lang="en-US" sz="1800" dirty="0" smtClean="0"/>
                  <a:t>Feedback provides : 180 </a:t>
                </a:r>
                <a:endParaRPr lang="en-US" sz="1800" dirty="0"/>
              </a:p>
              <a:p>
                <a:r>
                  <a:rPr lang="en-US" dirty="0" smtClean="0"/>
                  <a:t>VX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 smtClean="0"/>
                  <a:t>  VY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 smtClean="0"/>
                  <a:t> ……. M1 off =&gt;  ID1 drops  =&gt; VX increases more. (</a:t>
                </a:r>
                <a:r>
                  <a:rPr lang="en-US" dirty="0" err="1" smtClean="0"/>
                  <a:t>Vx</a:t>
                </a:r>
                <a:r>
                  <a:rPr lang="en-US" dirty="0" smtClean="0"/>
                  <a:t> = </a:t>
                </a:r>
                <a:r>
                  <a:rPr lang="en-US" dirty="0" err="1" smtClean="0"/>
                  <a:t>Vdd</a:t>
                </a:r>
                <a:r>
                  <a:rPr lang="en-US" dirty="0" smtClean="0"/>
                  <a:t>- Id1Rp)</a:t>
                </a:r>
              </a:p>
              <a:p>
                <a:r>
                  <a:rPr lang="en-US" dirty="0" smtClean="0"/>
                  <a:t>As Vs increases ; M2 more active = &gt; Id2 increases. </a:t>
                </a:r>
              </a:p>
              <a:p>
                <a:r>
                  <a:rPr lang="en-US" dirty="0" smtClean="0"/>
                  <a:t>Id2 decreases = &gt; </a:t>
                </a:r>
                <a:r>
                  <a:rPr lang="en-US" dirty="0" err="1" smtClean="0"/>
                  <a:t>Vy</a:t>
                </a:r>
                <a:r>
                  <a:rPr lang="en-US" dirty="0" smtClean="0"/>
                  <a:t> starts dropping more = &gt; M1 voltage drops = &gt; increases ID1 </a:t>
                </a:r>
              </a:p>
              <a:p>
                <a:r>
                  <a:rPr lang="en-US" dirty="0" smtClean="0"/>
                  <a:t>Id1 up; </a:t>
                </a:r>
                <a:r>
                  <a:rPr lang="en-US" dirty="0" err="1" smtClean="0"/>
                  <a:t>Vx</a:t>
                </a:r>
                <a:r>
                  <a:rPr lang="en-US" dirty="0" smtClean="0"/>
                  <a:t> down ; M2 down ; </a:t>
                </a:r>
                <a:r>
                  <a:rPr lang="en-US" dirty="0" err="1" smtClean="0"/>
                  <a:t>Vy</a:t>
                </a:r>
                <a:r>
                  <a:rPr lang="en-US" dirty="0" smtClean="0"/>
                  <a:t> increases and so on….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These act as Negative Resistance when Voltage decreases and the current increases (small-signal) 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821635"/>
                <a:ext cx="10131425" cy="5645426"/>
              </a:xfrm>
              <a:blipFill rotWithShape="0">
                <a:blip r:embed="rId2"/>
                <a:stretch>
                  <a:fillRect l="-542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63" y="821635"/>
            <a:ext cx="1841845" cy="20826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35" y="2934752"/>
            <a:ext cx="1558888" cy="18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82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85530"/>
            <a:ext cx="10131425" cy="1456267"/>
          </a:xfrm>
        </p:spPr>
        <p:txBody>
          <a:bodyPr/>
          <a:lstStyle/>
          <a:p>
            <a:r>
              <a:rPr lang="en-US" b="1" dirty="0" smtClean="0"/>
              <a:t>One-port systems</a:t>
            </a:r>
            <a:endParaRPr lang="en-US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1" y="821635"/>
            <a:ext cx="10131425" cy="5645426"/>
          </a:xfrm>
        </p:spPr>
        <p:txBody>
          <a:bodyPr anchor="t"/>
          <a:lstStyle/>
          <a:p>
            <a:r>
              <a:rPr lang="en-US" dirty="0" smtClean="0"/>
              <a:t>Oscillators are seen as One-port systems instead of feedback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rgbClr val="FF0000"/>
                </a:solidFill>
              </a:rPr>
              <a:t>Ideal Oscillators : </a:t>
            </a:r>
          </a:p>
          <a:p>
            <a:pPr lvl="1"/>
            <a:r>
              <a:rPr lang="en-US" sz="1800" dirty="0" smtClean="0"/>
              <a:t>At t1: Energy of cap = 0 ; energy of inductor = (½)*L*(I^2)</a:t>
            </a:r>
          </a:p>
          <a:p>
            <a:pPr lvl="1"/>
            <a:r>
              <a:rPr lang="en-US" sz="1800" dirty="0" smtClean="0"/>
              <a:t>At t2, Vout= -Vo ; Full energy in cap and zero in </a:t>
            </a:r>
            <a:r>
              <a:rPr lang="en-US" sz="1800" dirty="0" err="1" smtClean="0"/>
              <a:t>ind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err="1">
                <a:solidFill>
                  <a:srgbClr val="FF0000"/>
                </a:solidFill>
              </a:rPr>
              <a:t>Lossy</a:t>
            </a:r>
            <a:r>
              <a:rPr lang="en-US" b="1" u="sng" dirty="0">
                <a:solidFill>
                  <a:srgbClr val="FF0000"/>
                </a:solidFill>
              </a:rPr>
              <a:t> oscillators :</a:t>
            </a:r>
          </a:p>
          <a:p>
            <a:pPr lvl="1"/>
            <a:r>
              <a:rPr lang="en-US" dirty="0" err="1" smtClean="0"/>
              <a:t>Rp</a:t>
            </a:r>
            <a:r>
              <a:rPr lang="en-US" dirty="0" smtClean="0"/>
              <a:t> due to inductors </a:t>
            </a:r>
            <a:r>
              <a:rPr lang="en-US" dirty="0" smtClean="0">
                <a:sym typeface="Wingdings" panose="05000000000000000000" pitchFamily="2" charset="2"/>
              </a:rPr>
              <a:t> Dissipates energy through heat  Inductor current is less than &lt; Vo * root(C/L) </a:t>
            </a:r>
            <a:endParaRPr lang="en-US" dirty="0" smtClean="0"/>
          </a:p>
          <a:p>
            <a:pPr lvl="1"/>
            <a:r>
              <a:rPr lang="en-US" dirty="0" smtClean="0"/>
              <a:t>Oscillations die after some time.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rgbClr val="FF0000"/>
                </a:solidFill>
              </a:rPr>
              <a:t>Negative resistance : </a:t>
            </a:r>
            <a:endParaRPr lang="en-US" b="1" u="sng" dirty="0" smtClean="0">
              <a:solidFill>
                <a:srgbClr val="FF0000"/>
              </a:solidFill>
            </a:endParaRPr>
          </a:p>
          <a:p>
            <a:pPr lvl="1"/>
            <a:r>
              <a:rPr lang="en-US" sz="1800" dirty="0" smtClean="0"/>
              <a:t>A circuit property where increasing voltage leads to decreasing current.</a:t>
            </a:r>
          </a:p>
          <a:p>
            <a:pPr lvl="1"/>
            <a:r>
              <a:rPr lang="en-US" sz="1800" dirty="0" smtClean="0"/>
              <a:t>Small signal current goes down as voltage increases =&gt; </a:t>
            </a:r>
            <a:r>
              <a:rPr lang="en-US" sz="1800" b="1" dirty="0" smtClean="0">
                <a:solidFill>
                  <a:srgbClr val="FFFF00"/>
                </a:solidFill>
              </a:rPr>
              <a:t>Cross-coupled Oscillators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err="1" smtClean="0"/>
              <a:t>Lossy</a:t>
            </a:r>
            <a:r>
              <a:rPr lang="en-US" sz="1800" dirty="0" smtClean="0"/>
              <a:t> tank is “tapped” to sustain the oscillations.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If </a:t>
            </a:r>
            <a:r>
              <a:rPr lang="en-US" sz="1800" dirty="0"/>
              <a:t>we add </a:t>
            </a:r>
            <a:r>
              <a:rPr lang="en-US" sz="1800" dirty="0" smtClean="0"/>
              <a:t>a negative </a:t>
            </a:r>
            <a:r>
              <a:rPr lang="en-US" sz="1800" dirty="0"/>
              <a:t>resistance equal to −</a:t>
            </a:r>
            <a:r>
              <a:rPr lang="en-US" sz="1800" dirty="0" err="1"/>
              <a:t>Rp</a:t>
            </a:r>
            <a:r>
              <a:rPr lang="en-US" sz="1800" dirty="0"/>
              <a:t> in parallel with the </a:t>
            </a:r>
            <a:r>
              <a:rPr lang="en-US" sz="1800" dirty="0" smtClean="0"/>
              <a:t>tank</a:t>
            </a:r>
          </a:p>
          <a:p>
            <a:pPr marL="457200" lvl="1" indent="0">
              <a:buNone/>
            </a:pPr>
            <a:r>
              <a:rPr lang="en-US" sz="1800" dirty="0" smtClean="0"/>
              <a:t> 		=&gt;  </a:t>
            </a:r>
            <a:r>
              <a:rPr lang="en-US" sz="1800" dirty="0" err="1" smtClean="0"/>
              <a:t>Rp</a:t>
            </a:r>
            <a:r>
              <a:rPr lang="en-US" sz="1800" dirty="0"/>
              <a:t>||(−</a:t>
            </a:r>
            <a:r>
              <a:rPr lang="en-US" sz="1800" dirty="0" err="1"/>
              <a:t>Rp</a:t>
            </a:r>
            <a:r>
              <a:rPr lang="en-US" sz="1800" dirty="0"/>
              <a:t>)| = </a:t>
            </a:r>
            <a:r>
              <a:rPr lang="en-US" sz="1800" dirty="0" smtClean="0"/>
              <a:t>Infinity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</p:txBody>
      </p:sp>
      <p:grpSp>
        <p:nvGrpSpPr>
          <p:cNvPr id="7" name="Group 6"/>
          <p:cNvGrpSpPr/>
          <p:nvPr/>
        </p:nvGrpSpPr>
        <p:grpSpPr>
          <a:xfrm>
            <a:off x="7156173" y="452302"/>
            <a:ext cx="4346713" cy="2304149"/>
            <a:chOff x="7359156" y="452303"/>
            <a:chExt cx="3958200" cy="205989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9156" y="821635"/>
              <a:ext cx="3958200" cy="169056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858338" y="452303"/>
              <a:ext cx="2958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Ideal and </a:t>
              </a:r>
              <a:r>
                <a:rPr lang="en-US" dirty="0" err="1" smtClean="0"/>
                <a:t>Lossy</a:t>
              </a:r>
              <a:r>
                <a:rPr lang="en-US" dirty="0" smtClean="0"/>
                <a:t> LC Oscillators:</a:t>
              </a:r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764" y="4443667"/>
            <a:ext cx="2451653" cy="1882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79021" y="6326187"/>
            <a:ext cx="195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One-port oscillator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690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-106017"/>
            <a:ext cx="10131425" cy="1456267"/>
          </a:xfrm>
        </p:spPr>
        <p:txBody>
          <a:bodyPr/>
          <a:lstStyle/>
          <a:p>
            <a:r>
              <a:rPr lang="en-US" b="1" dirty="0" smtClean="0"/>
              <a:t>Three point oscillators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954157"/>
            <a:ext cx="11174895" cy="5685182"/>
          </a:xfrm>
        </p:spPr>
        <p:txBody>
          <a:bodyPr anchor="t"/>
          <a:lstStyle/>
          <a:p>
            <a:r>
              <a:rPr lang="en-US" dirty="0" smtClean="0"/>
              <a:t>Def : Series combination of C1, C2 and Negative resistance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Negative Resistance b/w X and 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M1 need not be grounded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Voltage  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Current :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C2 carries a current :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KVL  gives </a:t>
            </a:r>
            <a:r>
              <a:rPr lang="en-US" sz="1800" b="1" dirty="0" smtClean="0">
                <a:solidFill>
                  <a:srgbClr val="FFFF00"/>
                </a:solidFill>
              </a:rPr>
              <a:t>Small signal resistance between X and Y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876046" y="378946"/>
            <a:ext cx="2123145" cy="2361581"/>
            <a:chOff x="9045538" y="317527"/>
            <a:chExt cx="2123145" cy="236158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45538" y="317527"/>
              <a:ext cx="2112791" cy="1614872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9045538" y="2032777"/>
              <a:ext cx="212314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Circuit exhibiting </a:t>
              </a:r>
              <a:endParaRPr lang="en-US" b="1" dirty="0" smtClean="0"/>
            </a:p>
            <a:p>
              <a:pPr algn="ctr"/>
              <a:r>
                <a:rPr lang="en-US" b="1" dirty="0" smtClean="0"/>
                <a:t>negative </a:t>
              </a:r>
              <a:r>
                <a:rPr lang="en-US" b="1" dirty="0"/>
                <a:t>resistance. </a:t>
              </a: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308" y="2155889"/>
            <a:ext cx="2000529" cy="4001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308" y="2675738"/>
            <a:ext cx="1514686" cy="6858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8572" y="3484106"/>
            <a:ext cx="1800476" cy="7525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4072" y="4606514"/>
            <a:ext cx="3348765" cy="78794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6625362" y="897935"/>
            <a:ext cx="0" cy="5685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8111819" y="2592023"/>
            <a:ext cx="4478038" cy="1857252"/>
            <a:chOff x="6776835" y="2747104"/>
            <a:chExt cx="4478038" cy="185725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76835" y="3116436"/>
              <a:ext cx="4187159" cy="148792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637029" y="2747104"/>
              <a:ext cx="36178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Three point oscillators</a:t>
              </a:r>
              <a:endParaRPr lang="en-US" dirty="0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080565" y="2184193"/>
            <a:ext cx="2197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Vc2 : Ic2 / C2S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745208" y="4505497"/>
                <a:ext cx="5115488" cy="2077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 </a:t>
                </a:r>
                <a:r>
                  <a:rPr lang="el-GR" sz="20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ω0</a:t>
                </a:r>
                <a:r>
                  <a:rPr lang="en-US" sz="20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𝑳𝑪</m:t>
                            </m:r>
                          </m:e>
                        </m:rad>
                      </m:den>
                    </m:f>
                    <m:r>
                      <a:rPr lang="en-US" sz="2000" b="1" i="1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{</m:t>
                            </m:r>
                            <m:f>
                              <m:fPr>
                                <m:ctrlP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rad>
                      </m:den>
                    </m:f>
                  </m:oMath>
                </a14:m>
                <a:endParaRPr lang="en-US" sz="20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 err="1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Rs</a:t>
                </a:r>
                <a:r>
                  <a:rPr lang="en-US" sz="2000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sz="20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𝒈𝒎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𝒘𝒐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 smtClean="0"/>
                  <a:t> ; 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n-US" dirty="0" smtClean="0"/>
                  <a:t>Startup condition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err="1" smtClean="0">
                    <a:sym typeface="Wingdings" panose="05000000000000000000" pitchFamily="2" charset="2"/>
                  </a:rPr>
                  <a:t>Neg</a:t>
                </a:r>
                <a:r>
                  <a:rPr lang="en-US" dirty="0" smtClean="0">
                    <a:sym typeface="Wingdings" panose="05000000000000000000" pitchFamily="2" charset="2"/>
                  </a:rPr>
                  <a:t> resistance should overcome tank loss </a:t>
                </a:r>
                <a:r>
                  <a:rPr lang="en-US" dirty="0" err="1" smtClean="0">
                    <a:sym typeface="Wingdings" panose="05000000000000000000" pitchFamily="2" charset="2"/>
                  </a:rPr>
                  <a:t>Rs</a:t>
                </a:r>
                <a:endParaRPr lang="en-US" dirty="0" smtClean="0">
                  <a:sym typeface="Wingdings" panose="05000000000000000000" pitchFamily="2" charset="2"/>
                </a:endParaRP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208" y="4505497"/>
                <a:ext cx="5115488" cy="2077620"/>
              </a:xfrm>
              <a:prstGeom prst="rect">
                <a:avLst/>
              </a:prstGeom>
              <a:blipFill rotWithShape="0">
                <a:blip r:embed="rId9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375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2550" y="344556"/>
                <a:ext cx="10843590" cy="5685183"/>
              </a:xfrm>
            </p:spPr>
            <p:txBody>
              <a:bodyPr anchor="t"/>
              <a:lstStyle/>
              <a:p>
                <a:r>
                  <a:rPr lang="en-US" dirty="0" smtClean="0"/>
                  <a:t>Wkt </a:t>
                </a:r>
                <a:r>
                  <a:rPr lang="en-US" dirty="0" err="1" smtClean="0"/>
                  <a:t>Rp</a:t>
                </a:r>
                <a:r>
                  <a:rPr lang="en-US" dirty="0" smtClean="0"/>
                  <a:t> = (L1 w0)^2 / </a:t>
                </a:r>
                <a:r>
                  <a:rPr lang="en-US" dirty="0" err="1" smtClean="0"/>
                  <a:t>Rs</a:t>
                </a:r>
                <a:r>
                  <a:rPr lang="en-US" dirty="0" smtClean="0"/>
                  <a:t> ; </a:t>
                </a:r>
              </a:p>
              <a:p>
                <a:r>
                  <a:rPr lang="en-US" sz="2000" b="1" dirty="0" err="1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gmRp</a:t>
                </a:r>
                <a:r>
                  <a:rPr lang="en-US" sz="2000" b="1" dirty="0" smtClean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sz="20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𝑪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𝑪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000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 smtClean="0"/>
                  <a:t> =&gt; MINIMUM </a:t>
                </a:r>
                <a:r>
                  <a:rPr lang="en-US" b="1" dirty="0" err="1" smtClean="0">
                    <a:solidFill>
                      <a:srgbClr val="FFFF00"/>
                    </a:solidFill>
                  </a:rPr>
                  <a:t>gmRp</a:t>
                </a:r>
                <a:r>
                  <a:rPr lang="en-US" b="1" dirty="0" smtClean="0">
                    <a:solidFill>
                      <a:srgbClr val="FFFF00"/>
                    </a:solidFill>
                  </a:rPr>
                  <a:t>= 4</a:t>
                </a:r>
                <a:r>
                  <a:rPr lang="en-US" dirty="0" smtClean="0"/>
                  <a:t>  if C1=C2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b="1" u="sng" dirty="0" smtClean="0">
                    <a:solidFill>
                      <a:srgbClr val="FF0000"/>
                    </a:solidFill>
                  </a:rPr>
                  <a:t>Examples of three point oscillators : 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dirty="0" smtClean="0"/>
                  <a:t>CS with feedback 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dirty="0" smtClean="0"/>
                  <a:t>Source follower osc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dirty="0" smtClean="0"/>
                  <a:t>CG with feedback (also called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as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Colpitts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oscillator</a:t>
                </a:r>
                <a:r>
                  <a:rPr lang="en-US" dirty="0" smtClean="0"/>
                  <a:t>)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550" y="344556"/>
                <a:ext cx="10843590" cy="5685183"/>
              </a:xfrm>
              <a:blipFill rotWithShape="0">
                <a:blip r:embed="rId2"/>
                <a:stretch>
                  <a:fillRect l="-562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>
            <a:stCxn id="3" idx="1"/>
            <a:endCxn id="3" idx="3"/>
          </p:cNvCxnSpPr>
          <p:nvPr/>
        </p:nvCxnSpPr>
        <p:spPr>
          <a:xfrm>
            <a:off x="672550" y="3187148"/>
            <a:ext cx="108435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99" y="3428448"/>
            <a:ext cx="5496692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02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72278"/>
            <a:ext cx="10131425" cy="1456267"/>
          </a:xfrm>
        </p:spPr>
        <p:txBody>
          <a:bodyPr/>
          <a:lstStyle/>
          <a:p>
            <a:r>
              <a:rPr lang="en-US" b="1" dirty="0" smtClean="0"/>
              <a:t>Voltage controlled oscillators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3863"/>
            <a:ext cx="11201401" cy="5464681"/>
          </a:xfrm>
        </p:spPr>
        <p:txBody>
          <a:bodyPr anchor="t"/>
          <a:lstStyle/>
          <a:p>
            <a:r>
              <a:rPr lang="en-US" dirty="0" smtClean="0"/>
              <a:t>Oscillator’s frequency is tuned.  </a:t>
            </a:r>
            <a:r>
              <a:rPr lang="en-US" dirty="0" smtClean="0">
                <a:sym typeface="Wingdings" panose="05000000000000000000" pitchFamily="2" charset="2"/>
              </a:rPr>
              <a:t> change Voltage, temperature, process etc.,,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Electronically vary  Capacitance, Inductance or resistance. Through Voltage!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VCO Basics: </a:t>
            </a:r>
          </a:p>
          <a:p>
            <a:pPr lvl="1"/>
            <a:r>
              <a:rPr lang="en-US" sz="1800" dirty="0"/>
              <a:t>Frequency tuning : </a:t>
            </a:r>
            <a:r>
              <a:rPr lang="el-GR" sz="1800" dirty="0"/>
              <a:t>ω</a:t>
            </a:r>
            <a:r>
              <a:rPr lang="en-US" sz="1800" dirty="0"/>
              <a:t>out ​= </a:t>
            </a:r>
            <a:r>
              <a:rPr lang="el-GR" sz="1800" dirty="0"/>
              <a:t>ω0​+</a:t>
            </a:r>
            <a:r>
              <a:rPr lang="en-US" sz="1800" dirty="0" err="1"/>
              <a:t>Kvco</a:t>
            </a:r>
            <a:r>
              <a:rPr lang="en-US" sz="1800" dirty="0"/>
              <a:t>​*</a:t>
            </a:r>
            <a:r>
              <a:rPr lang="en-US" sz="1800" dirty="0" err="1"/>
              <a:t>Vcont</a:t>
            </a:r>
            <a:r>
              <a:rPr lang="en-US" sz="1800" dirty="0"/>
              <a:t>​  =&gt; </a:t>
            </a:r>
            <a:r>
              <a:rPr lang="en-US" sz="1800" dirty="0" smtClean="0"/>
              <a:t>Represents a</a:t>
            </a:r>
            <a:r>
              <a:rPr lang="en-US" sz="1800" dirty="0" smtClean="0">
                <a:solidFill>
                  <a:srgbClr val="FFFF00"/>
                </a:solidFill>
              </a:rPr>
              <a:t> Static System</a:t>
            </a:r>
            <a:endParaRPr lang="en-US" sz="1800" dirty="0">
              <a:solidFill>
                <a:srgbClr val="FFFF00"/>
              </a:solidFill>
            </a:endParaRPr>
          </a:p>
          <a:p>
            <a:pPr lvl="1"/>
            <a:r>
              <a:rPr lang="en-US" sz="1800" b="1" dirty="0" err="1"/>
              <a:t>Kvco</a:t>
            </a:r>
            <a:r>
              <a:rPr lang="en-US" sz="1800" dirty="0"/>
              <a:t> = VCO gain (rad/s/V or Hz/V</a:t>
            </a:r>
            <a:r>
              <a:rPr lang="en-US" sz="1800" dirty="0" smtClean="0"/>
              <a:t>)</a:t>
            </a:r>
            <a:endParaRPr lang="en-US" b="1" u="sng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u="sng" dirty="0" smtClean="0">
                <a:solidFill>
                  <a:srgbClr val="FF0000"/>
                </a:solidFill>
              </a:rPr>
              <a:t>VCO O/p waveform and phase : </a:t>
            </a:r>
          </a:p>
          <a:p>
            <a:pPr lvl="1"/>
            <a:r>
              <a:rPr lang="en-US" sz="1800" dirty="0" smtClean="0"/>
              <a:t>Vout = Vo Cos(</a:t>
            </a:r>
            <a:r>
              <a:rPr lang="en-US" sz="1800" dirty="0" smtClean="0">
                <a:solidFill>
                  <a:srgbClr val="FFFF00"/>
                </a:solidFill>
              </a:rPr>
              <a:t>w1*t</a:t>
            </a:r>
            <a:r>
              <a:rPr lang="en-US" sz="1800" dirty="0" smtClean="0"/>
              <a:t>)  ;           =&gt;  { w1t </a:t>
            </a:r>
            <a:r>
              <a:rPr lang="en-US" sz="1800" dirty="0"/>
              <a:t> </a:t>
            </a:r>
            <a:r>
              <a:rPr lang="en-US" sz="1800" dirty="0" smtClean="0"/>
              <a:t>: phase is linear </a:t>
            </a:r>
            <a:r>
              <a:rPr lang="en-US" sz="1800" dirty="0" err="1" smtClean="0"/>
              <a:t>wrt</a:t>
            </a:r>
            <a:r>
              <a:rPr lang="en-US" sz="1800" dirty="0" smtClean="0"/>
              <a:t> time. 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dirty="0" smtClean="0">
                <a:solidFill>
                  <a:srgbClr val="FFFF00"/>
                </a:solidFill>
              </a:rPr>
              <a:t>Vout is </a:t>
            </a:r>
            <a:r>
              <a:rPr lang="en-US" sz="1800" b="1" dirty="0" err="1" smtClean="0">
                <a:solidFill>
                  <a:srgbClr val="FFFF00"/>
                </a:solidFill>
              </a:rPr>
              <a:t>contant</a:t>
            </a:r>
            <a:r>
              <a:rPr lang="en-US" sz="1800" b="1" dirty="0" smtClean="0">
                <a:solidFill>
                  <a:srgbClr val="FFFF00"/>
                </a:solidFill>
              </a:rPr>
              <a:t> : </a:t>
            </a:r>
          </a:p>
          <a:p>
            <a:pPr lvl="2"/>
            <a:endParaRPr lang="en-US" sz="1800" dirty="0" smtClean="0">
              <a:solidFill>
                <a:srgbClr val="FFFF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b="1" dirty="0" smtClean="0">
                <a:solidFill>
                  <a:srgbClr val="FFFF00"/>
                </a:solidFill>
              </a:rPr>
              <a:t>Vout is varying </a:t>
            </a:r>
            <a:r>
              <a:rPr lang="en-US" sz="1800" b="1" dirty="0" err="1" smtClean="0">
                <a:solidFill>
                  <a:srgbClr val="FFFF00"/>
                </a:solidFill>
              </a:rPr>
              <a:t>wrt</a:t>
            </a:r>
            <a:r>
              <a:rPr lang="en-US" sz="1800" b="1" dirty="0" smtClean="0">
                <a:solidFill>
                  <a:srgbClr val="FFFF00"/>
                </a:solidFill>
              </a:rPr>
              <a:t> time : </a:t>
            </a:r>
          </a:p>
          <a:p>
            <a:pPr lvl="2"/>
            <a:r>
              <a:rPr lang="en-US" sz="1800" dirty="0" err="1" smtClean="0"/>
              <a:t>Freq</a:t>
            </a:r>
            <a:r>
              <a:rPr lang="en-US" sz="1800" dirty="0" smtClean="0"/>
              <a:t> :</a:t>
            </a:r>
          </a:p>
          <a:p>
            <a:pPr lvl="1"/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799" y="1093875"/>
            <a:ext cx="2945221" cy="696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799" y="2016854"/>
            <a:ext cx="2884995" cy="18918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43966"/>
          <a:stretch/>
        </p:blipFill>
        <p:spPr>
          <a:xfrm>
            <a:off x="3157268" y="3947419"/>
            <a:ext cx="3129231" cy="4903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27990" y="3981735"/>
            <a:ext cx="3391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: Phase Slope </a:t>
            </a:r>
            <a:r>
              <a:rPr lang="en-US" b="1" dirty="0" smtClean="0">
                <a:sym typeface="Wingdings" panose="05000000000000000000" pitchFamily="2" charset="2"/>
              </a:rPr>
              <a:t></a:t>
            </a:r>
            <a:r>
              <a:rPr lang="en-US" b="1" dirty="0" smtClean="0"/>
              <a:t> w0 + </a:t>
            </a:r>
            <a:r>
              <a:rPr lang="en-US" b="1" dirty="0" err="1" smtClean="0"/>
              <a:t>Kvco</a:t>
            </a:r>
            <a:r>
              <a:rPr lang="en-US" b="1" dirty="0" smtClean="0"/>
              <a:t>*</a:t>
            </a:r>
            <a:r>
              <a:rPr lang="en-US" b="1" dirty="0" err="1" smtClean="0"/>
              <a:t>Vcont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54" y="5009219"/>
            <a:ext cx="3010320" cy="476316"/>
          </a:xfrm>
          <a:prstGeom prst="rect">
            <a:avLst/>
          </a:prstGeom>
        </p:spPr>
      </p:pic>
      <p:cxnSp>
        <p:nvCxnSpPr>
          <p:cNvPr id="11" name="Curved Connector 10"/>
          <p:cNvCxnSpPr>
            <a:stCxn id="9" idx="3"/>
          </p:cNvCxnSpPr>
          <p:nvPr/>
        </p:nvCxnSpPr>
        <p:spPr>
          <a:xfrm flipV="1">
            <a:off x="5552374" y="4762677"/>
            <a:ext cx="1184925" cy="484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19779" y="4578011"/>
            <a:ext cx="3015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Instantaneous O/p Frequency</a:t>
            </a:r>
            <a:endParaRPr lang="en-US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l="2024" b="17508"/>
          <a:stretch/>
        </p:blipFill>
        <p:spPr>
          <a:xfrm>
            <a:off x="515547" y="5656378"/>
            <a:ext cx="2511860" cy="80125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713" y="5707211"/>
            <a:ext cx="3025066" cy="713945"/>
          </a:xfrm>
          <a:prstGeom prst="rect">
            <a:avLst/>
          </a:prstGeom>
        </p:spPr>
      </p:pic>
      <p:sp>
        <p:nvSpPr>
          <p:cNvPr id="27" name="Equal 26"/>
          <p:cNvSpPr/>
          <p:nvPr/>
        </p:nvSpPr>
        <p:spPr>
          <a:xfrm>
            <a:off x="3149857" y="5960405"/>
            <a:ext cx="322406" cy="306754"/>
          </a:xfrm>
          <a:prstGeom prst="mathEqual">
            <a:avLst>
              <a:gd name="adj1" fmla="val 23520"/>
              <a:gd name="adj2" fmla="val 1483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90032" y="5725293"/>
            <a:ext cx="3629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Kvco</a:t>
            </a:r>
            <a:r>
              <a:rPr lang="en-US" dirty="0" smtClean="0"/>
              <a:t> is constant with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 smtClean="0">
                <a:solidFill>
                  <a:srgbClr val="FF0000"/>
                </a:solidFill>
              </a:rPr>
              <a:t>VCO acts as a </a:t>
            </a:r>
            <a:r>
              <a:rPr lang="en-US" dirty="0" err="1" smtClean="0">
                <a:solidFill>
                  <a:srgbClr val="FF0000"/>
                </a:solidFill>
              </a:rPr>
              <a:t>freq</a:t>
            </a:r>
            <a:r>
              <a:rPr lang="en-US" dirty="0" smtClean="0">
                <a:solidFill>
                  <a:srgbClr val="FF0000"/>
                </a:solidFill>
              </a:rPr>
              <a:t> modulator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235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420130"/>
            <a:ext cx="10447637" cy="600538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rgbClr val="FF0000"/>
                </a:solidFill>
              </a:rPr>
              <a:t>Excess Phase </a:t>
            </a:r>
            <a:endParaRPr lang="en-US" b="1" u="sng" dirty="0" smtClean="0">
              <a:solidFill>
                <a:srgbClr val="FF0000"/>
              </a:solidFill>
            </a:endParaRPr>
          </a:p>
          <a:p>
            <a:r>
              <a:rPr lang="en-US" dirty="0"/>
              <a:t>In PLLs, we are primarily interested in </a:t>
            </a:r>
            <a:r>
              <a:rPr lang="en-US" dirty="0" err="1"/>
              <a:t>φex</a:t>
            </a:r>
            <a:r>
              <a:rPr lang="en-US" dirty="0"/>
              <a:t> as the VCO output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sz="2000" b="1" dirty="0" smtClean="0"/>
              <a:t>Definitions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 smtClean="0"/>
              <a:t>Kvco</a:t>
            </a:r>
            <a:r>
              <a:rPr lang="en-US" b="1" dirty="0" smtClean="0"/>
              <a:t> : </a:t>
            </a:r>
            <a:r>
              <a:rPr lang="en-US" dirty="0" smtClean="0"/>
              <a:t> VCO gain ; VCO sensitivity ; How much o/p </a:t>
            </a:r>
            <a:r>
              <a:rPr lang="en-US" dirty="0" err="1" smtClean="0"/>
              <a:t>freq</a:t>
            </a:r>
            <a:r>
              <a:rPr lang="en-US" dirty="0" smtClean="0"/>
              <a:t> changes in response to input voltage change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Output phase : </a:t>
            </a:r>
            <a:r>
              <a:rPr lang="en-US" dirty="0" smtClean="0"/>
              <a:t>Instantaneous Phase angle of VCO o/p signal to time ‘t’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Excess Phase : </a:t>
            </a:r>
            <a:r>
              <a:rPr lang="en-US" dirty="0" smtClean="0"/>
              <a:t>Part of the output phase ; due to only the </a:t>
            </a:r>
            <a:r>
              <a:rPr lang="en-US" dirty="0" err="1" smtClean="0"/>
              <a:t>Vcont</a:t>
            </a:r>
            <a:r>
              <a:rPr lang="en-US" dirty="0" smtClean="0"/>
              <a:t> ;  excludes reference linear phase (w0*t)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Centre </a:t>
            </a:r>
            <a:r>
              <a:rPr lang="en-US" b="1" dirty="0" err="1" smtClean="0"/>
              <a:t>freq</a:t>
            </a:r>
            <a:r>
              <a:rPr lang="en-US" b="1" dirty="0" smtClean="0"/>
              <a:t> w0 </a:t>
            </a:r>
            <a:r>
              <a:rPr lang="en-US" dirty="0" smtClean="0"/>
              <a:t>= o/p </a:t>
            </a:r>
            <a:r>
              <a:rPr lang="en-US" dirty="0" err="1" smtClean="0"/>
              <a:t>freq</a:t>
            </a:r>
            <a:r>
              <a:rPr lang="en-US" dirty="0" smtClean="0"/>
              <a:t> of VCO when </a:t>
            </a:r>
            <a:r>
              <a:rPr lang="en-US" dirty="0" err="1" smtClean="0"/>
              <a:t>Vcont</a:t>
            </a:r>
            <a:r>
              <a:rPr lang="en-US" dirty="0" smtClean="0"/>
              <a:t>=0 ; </a:t>
            </a:r>
            <a:r>
              <a:rPr lang="en-US" b="1" dirty="0" smtClean="0"/>
              <a:t>BASELINE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585" y="580766"/>
            <a:ext cx="2921636" cy="5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0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1110</TotalTime>
  <Words>1226</Words>
  <Application>Microsoft Office PowerPoint</Application>
  <PresentationFormat>Widescreen</PresentationFormat>
  <Paragraphs>290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Symbol</vt:lpstr>
      <vt:lpstr>Wingdings</vt:lpstr>
      <vt:lpstr>Celestial</vt:lpstr>
      <vt:lpstr>Oscillator FUNDAMENTALS CHAP-1 Razavi PLL</vt:lpstr>
      <vt:lpstr>Presentation agenda</vt:lpstr>
      <vt:lpstr>Basic Oscillator Concepts</vt:lpstr>
      <vt:lpstr>Oscillatory Feedback System</vt:lpstr>
      <vt:lpstr>Deeper Understanding</vt:lpstr>
      <vt:lpstr>PowerPoint Presentation</vt:lpstr>
      <vt:lpstr>PowerPoint Presentation</vt:lpstr>
      <vt:lpstr>Basic Ring Oscillators </vt:lpstr>
      <vt:lpstr> Inverter-Based Rings </vt:lpstr>
      <vt:lpstr>BASIC LC OSCILLATORS</vt:lpstr>
      <vt:lpstr>PowerPoint Presentation</vt:lpstr>
      <vt:lpstr>LC Oscillators as Feedback Systems </vt:lpstr>
      <vt:lpstr>3-stage LC Osc &amp; Differential Feedback Oscillators</vt:lpstr>
      <vt:lpstr>Cross-coupled Oscillators</vt:lpstr>
      <vt:lpstr>One-port systems</vt:lpstr>
      <vt:lpstr>Three point oscillators</vt:lpstr>
      <vt:lpstr>PowerPoint Presentation</vt:lpstr>
      <vt:lpstr>Voltage controlled oscillators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88</cp:revision>
  <dcterms:created xsi:type="dcterms:W3CDTF">2025-06-29T09:16:53Z</dcterms:created>
  <dcterms:modified xsi:type="dcterms:W3CDTF">2025-07-01T17:24:17Z</dcterms:modified>
</cp:coreProperties>
</file>