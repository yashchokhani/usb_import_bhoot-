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CE289B-6B98-7F21-FACE-4BD0DA7D58D6}" v="3984" dt="2025-08-24T09:31:43.062"/>
    <p1510:client id="{43304256-588F-1049-ED7A-B223E853DD16}" v="2181" dt="2025-08-23T21:04:24.745"/>
    <p1510:client id="{44FF8214-7DD0-5F01-29F1-E1A98067901F}" v="39" dt="2025-08-23T18:35:49.256"/>
    <p1510:client id="{8E86BCD9-4B2F-3F56-319C-B8C72C209258}" v="745" dt="2025-08-22T18:02:19.544"/>
    <p1510:client id="{D65C8F15-819C-9339-B69D-94473A6581F1}" v="264" dt="2025-08-24T06:19:17.735"/>
    <p1510:client id="{DAE30E09-8870-D62F-7ECE-8298815E0B51}" v="1256" dt="2025-08-23T18:31:17.1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Simulation Steps for gm/ID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ptos Display"/>
              </a:rPr>
              <a:t>Presented by Deepa Kulkarni</a:t>
            </a:r>
            <a:endParaRPr lang="en-US">
              <a:latin typeface="Aptos Display"/>
            </a:endParaRPr>
          </a:p>
          <a:p>
            <a:r>
              <a:rPr lang="en-US" dirty="0">
                <a:latin typeface="Aptos Display"/>
              </a:rPr>
              <a:t>Guided by Neeraj Mishra, BITS Pilani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87B5E-55BE-6D63-CAEB-74F59F68D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1325563"/>
          </a:xfrm>
        </p:spPr>
        <p:txBody>
          <a:bodyPr/>
          <a:lstStyle/>
          <a:p>
            <a:r>
              <a:rPr lang="en-US" b="1" dirty="0"/>
              <a:t>Presentation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ABB79-FBF7-9385-9FD1-CF634455A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9890"/>
            <a:ext cx="10515600" cy="55436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Generating the Look-Up Tables (LUTs)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Create a Characterization Schematic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Set up the DC Sweep in ADE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Extract and Save Key Parameters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Use Results Browser to add parameters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Create the gm/ID Curves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Parametric analysis for Different Lengths.</a:t>
            </a:r>
            <a:endParaRPr lang="en-US" dirty="0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Ocean scripting for plotting graphs w.r.t gm/ID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Parametric analysis using ocean scripting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Plotting of gm/ID graphs on MATLAB</a:t>
            </a:r>
            <a:endParaRPr lang="en-US" dirty="0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Run MATLAB &amp; Parametric Analysis</a:t>
            </a:r>
            <a:endParaRPr lang="en-US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75995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3B0F53-3826-EFBF-1210-9EBDE1457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554"/>
            <a:ext cx="10515600" cy="51677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Core of the gm/ID Method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Traditional equations fail to capture short-channel effects in modern CMOS.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gm/ID method replaces equations with </a:t>
            </a:r>
            <a:r>
              <a:rPr lang="en-US" sz="2400" b="1" dirty="0">
                <a:ea typeface="+mn-lt"/>
                <a:cs typeface="+mn-lt"/>
              </a:rPr>
              <a:t>lookup tables (LUTs)</a:t>
            </a:r>
            <a:r>
              <a:rPr lang="en-US" sz="2400" dirty="0">
                <a:ea typeface="+mn-lt"/>
                <a:cs typeface="+mn-lt"/>
              </a:rPr>
              <a:t> derived from PDK simulations.</a:t>
            </a:r>
            <a:endParaRPr lang="en-US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Transistors are characterized across: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Multiple channel </a:t>
            </a:r>
            <a:r>
              <a:rPr lang="en-US" sz="2400" dirty="0">
                <a:ea typeface="+mn-lt"/>
                <a:cs typeface="+mn-lt"/>
              </a:rPr>
              <a:t>lengths </a:t>
            </a:r>
            <a:r>
              <a:rPr lang="en-US" dirty="0">
                <a:ea typeface="+mn-lt"/>
                <a:cs typeface="+mn-lt"/>
              </a:rPr>
              <a:t>(L)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Different </a:t>
            </a:r>
            <a:r>
              <a:rPr lang="en-US" sz="2400" dirty="0">
                <a:ea typeface="+mn-lt"/>
                <a:cs typeface="+mn-lt"/>
              </a:rPr>
              <a:t>bias points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Vgs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Vds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Provides accurate data for gm/ID, gm/</a:t>
            </a:r>
            <a:r>
              <a:rPr lang="en-US" sz="2400" dirty="0" err="1">
                <a:ea typeface="+mn-lt"/>
                <a:cs typeface="+mn-lt"/>
              </a:rPr>
              <a:t>gds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fT</a:t>
            </a:r>
            <a:r>
              <a:rPr lang="en-US" sz="2400" dirty="0">
                <a:ea typeface="+mn-lt"/>
                <a:cs typeface="+mn-lt"/>
              </a:rPr>
              <a:t>, ID/W, etc.</a:t>
            </a:r>
            <a:endParaRPr lang="en-US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Enables reliable device sizing and bias selection directly from simulation data.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AF60E01-E93E-477A-4F8A-C71F679A9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68"/>
            <a:ext cx="10515600" cy="132556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Generating the Look-Up Tables (LUTs)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8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210C-AE89-4D9C-AAF1-DAE2875CD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 Create a Characterization Schematic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686FE-D0C1-A31B-E893-7513404CA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041"/>
            <a:ext cx="10515600" cy="4868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Circuit of a simple </a:t>
            </a:r>
            <a:r>
              <a:rPr lang="en-US" sz="2400" dirty="0" err="1"/>
              <a:t>Nmos</a:t>
            </a:r>
            <a:r>
              <a:rPr lang="en-US" sz="2400" dirty="0"/>
              <a:t>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Vdd</a:t>
            </a:r>
            <a:r>
              <a:rPr lang="en-US" dirty="0"/>
              <a:t>/2 = </a:t>
            </a:r>
            <a:r>
              <a:rPr lang="en-US" dirty="0" err="1"/>
              <a:t>Vgs</a:t>
            </a:r>
            <a:r>
              <a:rPr lang="en-US" dirty="0"/>
              <a:t> = 600mV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Keep length and width of the </a:t>
            </a:r>
            <a:r>
              <a:rPr lang="en-US" dirty="0" err="1"/>
              <a:t>Nmos</a:t>
            </a:r>
            <a:r>
              <a:rPr lang="en-US" dirty="0"/>
              <a:t> variable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4CE8685D-483F-7881-6238-B8B08F331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8" y="2761951"/>
            <a:ext cx="5889625" cy="3656522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870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312AA-5A60-3E7E-348D-A540F585C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7890"/>
            <a:ext cx="10515600" cy="60766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Click on </a:t>
            </a:r>
            <a:r>
              <a:rPr lang="en-US" sz="2400" dirty="0" err="1"/>
              <a:t>Nmos</a:t>
            </a:r>
            <a:r>
              <a:rPr lang="en-US" sz="2400" dirty="0"/>
              <a:t> &gt; press Q &gt; Properties.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Type "</a:t>
            </a:r>
            <a:r>
              <a:rPr lang="en-US" b="1" dirty="0"/>
              <a:t>width</a:t>
            </a:r>
            <a:r>
              <a:rPr lang="en-US" dirty="0"/>
              <a:t>" in width.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Type "</a:t>
            </a:r>
            <a:r>
              <a:rPr lang="en-US" b="1" dirty="0"/>
              <a:t>length</a:t>
            </a:r>
            <a:r>
              <a:rPr lang="en-US" dirty="0"/>
              <a:t>" in length.</a:t>
            </a:r>
          </a:p>
          <a:p>
            <a:pPr>
              <a:buFont typeface="Arial"/>
              <a:buChar char="•"/>
            </a:pPr>
            <a:r>
              <a:rPr lang="en-US" sz="2400" u="sng" dirty="0"/>
              <a:t>In ADE L window, </a:t>
            </a:r>
          </a:p>
          <a:p>
            <a:pPr lvl="1">
              <a:buFont typeface="Courier New"/>
              <a:buChar char="o"/>
            </a:pPr>
            <a:r>
              <a:rPr lang="en-US" dirty="0"/>
              <a:t>Go to the menu bar, </a:t>
            </a:r>
            <a:r>
              <a:rPr lang="en-US" dirty="0">
                <a:ea typeface="+mn-lt"/>
                <a:cs typeface="+mn-lt"/>
              </a:rPr>
              <a:t>Design Variables </a:t>
            </a:r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Right-click &gt; </a:t>
            </a:r>
            <a:r>
              <a:rPr lang="en-US" b="1" dirty="0">
                <a:ea typeface="+mn-lt"/>
                <a:cs typeface="+mn-lt"/>
              </a:rPr>
              <a:t>Copy from Cell-view.</a:t>
            </a:r>
            <a:endParaRPr lang="en-US" b="1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E121D6-A82B-5603-E1D8-5DE8719A8A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13" t="3571" r="-118" b="5420"/>
          <a:stretch>
            <a:fillRect/>
          </a:stretch>
        </p:blipFill>
        <p:spPr>
          <a:xfrm>
            <a:off x="6862634" y="432994"/>
            <a:ext cx="3881320" cy="2989328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10E6B6-6562-FB8D-CF6D-7ACBB5C567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21" r="62682" b="24384"/>
          <a:stretch>
            <a:fillRect/>
          </a:stretch>
        </p:blipFill>
        <p:spPr>
          <a:xfrm>
            <a:off x="6857480" y="3776214"/>
            <a:ext cx="1843602" cy="2512178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F8E7C8-8C95-6DE2-26B2-2D98B3C7A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986" y="3040062"/>
            <a:ext cx="4533900" cy="3406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856FF2-EDF3-F634-204E-3589E62A6D9E}"/>
              </a:ext>
            </a:extLst>
          </p:cNvPr>
          <p:cNvSpPr txBox="1"/>
          <p:nvPr/>
        </p:nvSpPr>
        <p:spPr>
          <a:xfrm>
            <a:off x="9353550" y="5295900"/>
            <a:ext cx="200025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F673F9-E2E1-62EE-45A4-ABE5891BDB0B}"/>
              </a:ext>
            </a:extLst>
          </p:cNvPr>
          <p:cNvSpPr txBox="1"/>
          <p:nvPr/>
        </p:nvSpPr>
        <p:spPr>
          <a:xfrm>
            <a:off x="8773583" y="4381499"/>
            <a:ext cx="287866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length=45nm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Width =10u</a:t>
            </a:r>
          </a:p>
        </p:txBody>
      </p:sp>
    </p:spTree>
    <p:extLst>
      <p:ext uri="{BB962C8B-B14F-4D97-AF65-F5344CB8AC3E}">
        <p14:creationId xmlns:p14="http://schemas.microsoft.com/office/powerpoint/2010/main" val="210813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0FA30-FE89-A2C3-0ED6-B70FCF883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lvl="1">
              <a:spcBef>
                <a:spcPts val="500"/>
              </a:spcBef>
            </a:pPr>
            <a:br>
              <a:rPr lang="en-US" sz="4400" dirty="0">
                <a:latin typeface="+mj-lt"/>
                <a:ea typeface="+mj-lt"/>
                <a:cs typeface="+mj-lt"/>
              </a:rPr>
            </a:br>
            <a:r>
              <a:rPr lang="en-US" sz="4400" dirty="0">
                <a:latin typeface="+mj-lt"/>
                <a:ea typeface="+mj-lt"/>
                <a:cs typeface="+mj-lt"/>
              </a:rPr>
              <a:t>Set up the DC Sweep in ADE</a:t>
            </a:r>
            <a:endParaRPr lang="en-US" sz="4400" dirty="0">
              <a:solidFill>
                <a:srgbClr val="000000"/>
              </a:solidFill>
              <a:latin typeface="Aptos Display"/>
              <a:ea typeface="+mj-lt"/>
              <a:cs typeface="+mj-l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19D4A-C0DC-DAC5-530F-A305146BB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3022"/>
            <a:ext cx="10515600" cy="49839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Analyses&gt;Choose&gt;select 'dc'. </a:t>
            </a:r>
          </a:p>
          <a:p>
            <a:r>
              <a:rPr lang="en-US" sz="2400" dirty="0"/>
              <a:t>Select 'Component parameter' &gt; Click on </a:t>
            </a:r>
            <a:r>
              <a:rPr lang="en-US" sz="2400" dirty="0" err="1"/>
              <a:t>Vgs</a:t>
            </a:r>
            <a:r>
              <a:rPr lang="en-US" sz="2400" dirty="0"/>
              <a:t> </a:t>
            </a:r>
          </a:p>
          <a:p>
            <a:r>
              <a:rPr lang="en-US" sz="2400" dirty="0"/>
              <a:t>Then select dc voltage.</a:t>
            </a:r>
          </a:p>
          <a:p>
            <a:r>
              <a:rPr lang="en-US" sz="2400" dirty="0"/>
              <a:t>Fill the dc analyses as shown. &gt; OK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E3B478-7A70-1E2D-1096-600AB14E0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617" y="1345070"/>
            <a:ext cx="2986438" cy="5035335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5" name="Picture 4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4A646FF3-C07F-F0D7-B5E8-1D8394B812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92" t="36051" r="55035" b="5410"/>
          <a:stretch>
            <a:fillRect/>
          </a:stretch>
        </p:blipFill>
        <p:spPr>
          <a:xfrm>
            <a:off x="3875617" y="3295768"/>
            <a:ext cx="3486162" cy="3085553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4180884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7ED01-2F57-6953-EAE2-D10BBB01F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Extract and Save Key Parameters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B8433-FAF3-EE9F-1167-03C18AD8C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9456"/>
            <a:ext cx="10515600" cy="50875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In the ADE L window, to add the parameters: </a:t>
            </a:r>
            <a:endParaRPr lang="en-US" dirty="0"/>
          </a:p>
          <a:p>
            <a:r>
              <a:rPr lang="en-US" sz="2400" dirty="0"/>
              <a:t>Output&gt;setup&gt; Setting Outputs window pops up.</a:t>
            </a:r>
          </a:p>
          <a:p>
            <a:r>
              <a:rPr lang="en-US" sz="2400" dirty="0"/>
              <a:t> Click on 'From Design' &gt; click on the drain of the </a:t>
            </a:r>
            <a:r>
              <a:rPr lang="en-US" sz="2400" dirty="0" err="1"/>
              <a:t>Nmos</a:t>
            </a:r>
            <a:r>
              <a:rPr lang="en-US" sz="2400" dirty="0"/>
              <a:t> as shown.</a:t>
            </a:r>
          </a:p>
          <a:p>
            <a:r>
              <a:rPr lang="en-US" sz="2400" dirty="0"/>
              <a:t>Click on Run to run the simulation. </a:t>
            </a:r>
          </a:p>
        </p:txBody>
      </p:sp>
      <p:pic>
        <p:nvPicPr>
          <p:cNvPr id="6" name="Picture 5" descr="A screen shot of a graph&#10;&#10;AI-generated content may be incorrect.">
            <a:extLst>
              <a:ext uri="{FF2B5EF4-FFF2-40B4-BE49-F238E27FC236}">
                <a16:creationId xmlns:a16="http://schemas.microsoft.com/office/drawing/2014/main" id="{DAA7704A-36D6-8812-153D-CBA4221BD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167" y="2627313"/>
            <a:ext cx="5175250" cy="2756959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301156-6DFA-8256-B63A-CBEAD25FC99D}"/>
              </a:ext>
            </a:extLst>
          </p:cNvPr>
          <p:cNvSpPr txBox="1"/>
          <p:nvPr/>
        </p:nvSpPr>
        <p:spPr>
          <a:xfrm>
            <a:off x="6974417" y="5386917"/>
            <a:ext cx="39687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Expected graph of drain current vs </a:t>
            </a:r>
            <a:r>
              <a:rPr lang="en-US" dirty="0" err="1"/>
              <a:t>Vgs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0D628D-8D8B-CD31-E204-5C8AC83A63F7}"/>
              </a:ext>
            </a:extLst>
          </p:cNvPr>
          <p:cNvGrpSpPr/>
          <p:nvPr/>
        </p:nvGrpSpPr>
        <p:grpSpPr>
          <a:xfrm>
            <a:off x="1458913" y="3090863"/>
            <a:ext cx="4638675" cy="3322109"/>
            <a:chOff x="1458913" y="3090863"/>
            <a:chExt cx="4638675" cy="3322109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75A317F1-097E-2DFC-AD93-71C8D5848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8913" y="3090863"/>
              <a:ext cx="4638675" cy="3322109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860B211-4A2C-2A7C-928E-E154C2DA882E}"/>
                </a:ext>
              </a:extLst>
            </p:cNvPr>
            <p:cNvGrpSpPr/>
            <p:nvPr/>
          </p:nvGrpSpPr>
          <p:grpSpPr>
            <a:xfrm>
              <a:off x="3536950" y="4375149"/>
              <a:ext cx="857249" cy="206376"/>
              <a:chOff x="3536950" y="4375149"/>
              <a:chExt cx="857249" cy="206376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E33B4F9-7A15-4335-94C0-2AED6D9C9726}"/>
                  </a:ext>
                </a:extLst>
              </p:cNvPr>
              <p:cNvSpPr/>
              <p:nvPr/>
            </p:nvSpPr>
            <p:spPr>
              <a:xfrm>
                <a:off x="3536950" y="4375149"/>
                <a:ext cx="501650" cy="193675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Run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1FD2E1E4-2E6E-2793-10DA-B66DD1F981C8}"/>
                  </a:ext>
                </a:extLst>
              </p:cNvPr>
              <p:cNvCxnSpPr/>
              <p:nvPr/>
            </p:nvCxnSpPr>
            <p:spPr>
              <a:xfrm>
                <a:off x="4051299" y="4524375"/>
                <a:ext cx="342900" cy="571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3047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CE80F-2122-2752-7A1A-267BDF332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864"/>
            <a:ext cx="10515600" cy="61207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Right click on the </a:t>
            </a:r>
            <a:r>
              <a:rPr lang="en-US" sz="2400" b="1" dirty="0"/>
              <a:t>'/</a:t>
            </a:r>
            <a:r>
              <a:rPr lang="en-US" sz="2400" b="1" dirty="0" err="1"/>
              <a:t>cmos</a:t>
            </a:r>
            <a:r>
              <a:rPr lang="en-US" sz="2400" b="1" dirty="0"/>
              <a:t>/D'</a:t>
            </a:r>
            <a:r>
              <a:rPr lang="en-US" sz="2400" dirty="0"/>
              <a:t> in the graph &gt; send to &gt; Calculator.</a:t>
            </a:r>
          </a:p>
          <a:p>
            <a:r>
              <a:rPr lang="en-US" sz="2400" dirty="0"/>
              <a:t>In </a:t>
            </a:r>
            <a:r>
              <a:rPr lang="en-US" sz="2400" b="1" dirty="0"/>
              <a:t>calculator</a:t>
            </a:r>
            <a:r>
              <a:rPr lang="en-US" sz="2400" dirty="0"/>
              <a:t>, </a:t>
            </a:r>
            <a:r>
              <a:rPr lang="en-US" sz="2400" u="sng" dirty="0"/>
              <a:t>copy </a:t>
            </a:r>
            <a:r>
              <a:rPr lang="en-US" sz="2400" dirty="0"/>
              <a:t>the expression of the </a:t>
            </a:r>
            <a:r>
              <a:rPr lang="en-US" sz="2400" dirty="0" err="1"/>
              <a:t>cmos</a:t>
            </a:r>
            <a:r>
              <a:rPr lang="en-US" sz="2400" dirty="0"/>
              <a:t>/D.</a:t>
            </a:r>
          </a:p>
          <a:p>
            <a:r>
              <a:rPr lang="en-US" sz="2400" dirty="0"/>
              <a:t>Go back to </a:t>
            </a:r>
            <a:r>
              <a:rPr lang="en-US" sz="2400" b="1" dirty="0"/>
              <a:t>'Outputs'</a:t>
            </a:r>
            <a:r>
              <a:rPr lang="en-US" sz="2400" dirty="0"/>
              <a:t> section in the ADE L window. </a:t>
            </a:r>
          </a:p>
          <a:p>
            <a:r>
              <a:rPr lang="en-US" sz="2400" dirty="0"/>
              <a:t>Right-click on '</a:t>
            </a:r>
            <a:r>
              <a:rPr lang="en-US" sz="2400" dirty="0" err="1"/>
              <a:t>cmos</a:t>
            </a:r>
            <a:r>
              <a:rPr lang="en-US" sz="2400" dirty="0"/>
              <a:t>/D' &gt; Edit &gt; </a:t>
            </a:r>
            <a:r>
              <a:rPr lang="en-US" sz="2400" u="sng" dirty="0"/>
              <a:t>Paste </a:t>
            </a:r>
            <a:r>
              <a:rPr lang="en-US" sz="2400" dirty="0"/>
              <a:t>the expression.</a:t>
            </a:r>
          </a:p>
          <a:p>
            <a:r>
              <a:rPr lang="en-US" sz="2400" dirty="0"/>
              <a:t>Change the name to 'ID' &gt; click OK</a:t>
            </a:r>
          </a:p>
          <a:p>
            <a:endParaRPr lang="en-US" sz="2400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7A4886-6FC3-25F2-21E4-7BDD2BABC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898" y="3030633"/>
            <a:ext cx="3390900" cy="3225800"/>
          </a:xfrm>
          <a:prstGeom prst="rect">
            <a:avLst/>
          </a:prstGeom>
          <a:ln>
            <a:solidFill>
              <a:srgbClr val="4472C4"/>
            </a:solidFill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0C4AAA3-50AA-0EEB-A42C-4F9C562AB030}"/>
              </a:ext>
            </a:extLst>
          </p:cNvPr>
          <p:cNvGrpSpPr/>
          <p:nvPr/>
        </p:nvGrpSpPr>
        <p:grpSpPr>
          <a:xfrm>
            <a:off x="7684861" y="3832074"/>
            <a:ext cx="4112684" cy="1623484"/>
            <a:chOff x="7684861" y="3832074"/>
            <a:chExt cx="4112684" cy="1623484"/>
          </a:xfrm>
        </p:grpSpPr>
        <p:pic>
          <p:nvPicPr>
            <p:cNvPr id="2" name="Picture 1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70D101E2-8E3A-AB2E-FFB0-2A3E63D09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84861" y="3832074"/>
              <a:ext cx="4112684" cy="1623484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315F2A5-613F-6B2D-C785-0DC7D84E3D8C}"/>
                </a:ext>
              </a:extLst>
            </p:cNvPr>
            <p:cNvCxnSpPr/>
            <p:nvPr/>
          </p:nvCxnSpPr>
          <p:spPr>
            <a:xfrm>
              <a:off x="7700817" y="4574885"/>
              <a:ext cx="2037772" cy="5773"/>
            </a:xfrm>
            <a:prstGeom prst="straightConnector1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6A8A6F-4B9F-DEA1-A1FB-709240D60158}"/>
              </a:ext>
            </a:extLst>
          </p:cNvPr>
          <p:cNvGrpSpPr/>
          <p:nvPr/>
        </p:nvGrpSpPr>
        <p:grpSpPr>
          <a:xfrm>
            <a:off x="459298" y="3479369"/>
            <a:ext cx="3294767" cy="2343350"/>
            <a:chOff x="459298" y="3479369"/>
            <a:chExt cx="3294767" cy="2343350"/>
          </a:xfrm>
        </p:grpSpPr>
        <p:pic>
          <p:nvPicPr>
            <p:cNvPr id="6" name="Picture 5" descr="A screen shot of a graph&#10;&#10;AI-generated content may be incorrect.">
              <a:extLst>
                <a:ext uri="{FF2B5EF4-FFF2-40B4-BE49-F238E27FC236}">
                  <a16:creationId xmlns:a16="http://schemas.microsoft.com/office/drawing/2014/main" id="{27EBA1BB-C51B-F69D-A31B-62AD13A6C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91" r="52541" b="36952"/>
            <a:stretch>
              <a:fillRect/>
            </a:stretch>
          </p:blipFill>
          <p:spPr>
            <a:xfrm>
              <a:off x="459298" y="3479369"/>
              <a:ext cx="3294767" cy="2343350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57088EF-E272-C686-AAAA-8FDFA290745D}"/>
                </a:ext>
              </a:extLst>
            </p:cNvPr>
            <p:cNvSpPr/>
            <p:nvPr/>
          </p:nvSpPr>
          <p:spPr>
            <a:xfrm>
              <a:off x="571499" y="4228522"/>
              <a:ext cx="707160" cy="228022"/>
            </a:xfrm>
            <a:prstGeom prst="roundRect">
              <a:avLst/>
            </a:prstGeom>
            <a:noFill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8099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B5D91-C897-285E-230E-BD12C60CD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17" y="301626"/>
            <a:ext cx="10811933" cy="63144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To save all the operating parameters of MOSFET, we need to make a separate file. </a:t>
            </a:r>
            <a:endParaRPr lang="en-US"/>
          </a:p>
          <a:p>
            <a:r>
              <a:rPr lang="en-US" sz="2400" dirty="0">
                <a:solidFill>
                  <a:srgbClr val="FF0000"/>
                </a:solidFill>
              </a:rPr>
              <a:t>&lt;</a:t>
            </a:r>
            <a:r>
              <a:rPr lang="en-US" sz="2400" dirty="0" err="1">
                <a:solidFill>
                  <a:srgbClr val="FF0000"/>
                </a:solidFill>
              </a:rPr>
              <a:t>name_of_file</a:t>
            </a:r>
            <a:r>
              <a:rPr lang="en-US" sz="2400" dirty="0">
                <a:solidFill>
                  <a:srgbClr val="FF0000"/>
                </a:solidFill>
              </a:rPr>
              <a:t>&gt;.</a:t>
            </a:r>
            <a:r>
              <a:rPr lang="en-US" sz="2400" dirty="0" err="1">
                <a:solidFill>
                  <a:srgbClr val="FF0000"/>
                </a:solidFill>
              </a:rPr>
              <a:t>scs</a:t>
            </a:r>
            <a:r>
              <a:rPr lang="en-US" sz="2400" dirty="0">
                <a:solidFill>
                  <a:srgbClr val="FF0000"/>
                </a:solidFill>
              </a:rPr>
              <a:t> file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Type "save </a:t>
            </a:r>
            <a:r>
              <a:rPr lang="en-US" dirty="0" err="1"/>
              <a:t>name_of_mosfet:all</a:t>
            </a:r>
            <a:r>
              <a:rPr lang="en-US" dirty="0"/>
              <a:t>"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Or type "save </a:t>
            </a:r>
            <a:r>
              <a:rPr lang="en-US" dirty="0" err="1"/>
              <a:t>name_of_nmos:all</a:t>
            </a:r>
            <a:r>
              <a:rPr lang="en-US" dirty="0"/>
              <a:t>" to save </a:t>
            </a:r>
            <a:r>
              <a:rPr lang="en-US" dirty="0" err="1"/>
              <a:t>nmos</a:t>
            </a:r>
            <a:r>
              <a:rPr lang="en-US" dirty="0"/>
              <a:t> operating parameters</a:t>
            </a:r>
          </a:p>
          <a:p>
            <a:r>
              <a:rPr lang="en-US" sz="2400" dirty="0"/>
              <a:t>Import </a:t>
            </a:r>
            <a:r>
              <a:rPr lang="en-US" sz="2400" b="1" dirty="0" err="1"/>
              <a:t>save_op_deepa.scs</a:t>
            </a:r>
            <a:r>
              <a:rPr lang="en-US" sz="2400" dirty="0"/>
              <a:t> into Cadence as </a:t>
            </a:r>
            <a:r>
              <a:rPr lang="en-US" sz="2400" b="1" dirty="0"/>
              <a:t>simulation file</a:t>
            </a:r>
            <a:r>
              <a:rPr lang="en-US" sz="2400" dirty="0"/>
              <a:t> or </a:t>
            </a:r>
            <a:r>
              <a:rPr lang="en-US" sz="2400" b="1" dirty="0"/>
              <a:t>model library file. </a:t>
            </a:r>
            <a:endParaRPr lang="en-US" sz="2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In ADE L window &gt; Setup &gt; Simulation Files &gt; </a:t>
            </a:r>
            <a:r>
              <a:rPr lang="en-US" b="1" dirty="0"/>
              <a:t>Stimulus Files</a:t>
            </a:r>
            <a:r>
              <a:rPr lang="en-US" dirty="0"/>
              <a:t> &gt; Add path to your .</a:t>
            </a:r>
            <a:r>
              <a:rPr lang="en-US" dirty="0" err="1"/>
              <a:t>scs</a:t>
            </a:r>
            <a:r>
              <a:rPr lang="en-US" dirty="0"/>
              <a:t> file. &gt; OK</a:t>
            </a:r>
          </a:p>
          <a:p>
            <a:pPr marL="0" indent="0">
              <a:buNone/>
            </a:pP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994B91-D619-BCD6-258E-BAB839262B69}"/>
              </a:ext>
            </a:extLst>
          </p:cNvPr>
          <p:cNvGrpSpPr/>
          <p:nvPr/>
        </p:nvGrpSpPr>
        <p:grpSpPr>
          <a:xfrm>
            <a:off x="542115" y="3965960"/>
            <a:ext cx="11324318" cy="2442257"/>
            <a:chOff x="542115" y="3965960"/>
            <a:chExt cx="11324318" cy="2442257"/>
          </a:xfrm>
        </p:grpSpPr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1BE072B8-837F-0C7F-A245-365F8EE1D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635" b="31977"/>
            <a:stretch>
              <a:fillRect/>
            </a:stretch>
          </p:blipFill>
          <p:spPr>
            <a:xfrm>
              <a:off x="7355255" y="4565514"/>
              <a:ext cx="4511178" cy="1235664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C65486E-74D4-EE9F-FA0A-2B7716B3AC8E}"/>
                </a:ext>
              </a:extLst>
            </p:cNvPr>
            <p:cNvGrpSpPr/>
            <p:nvPr/>
          </p:nvGrpSpPr>
          <p:grpSpPr>
            <a:xfrm>
              <a:off x="542115" y="3965960"/>
              <a:ext cx="6602489" cy="2442257"/>
              <a:chOff x="3647017" y="3758142"/>
              <a:chExt cx="6602489" cy="2442257"/>
            </a:xfrm>
          </p:grpSpPr>
          <p:pic>
            <p:nvPicPr>
              <p:cNvPr id="5" name="Picture 4" descr="A screenshot of a computer&#10;&#10;AI-generated content may be incorrect.">
                <a:extLst>
                  <a:ext uri="{FF2B5EF4-FFF2-40B4-BE49-F238E27FC236}">
                    <a16:creationId xmlns:a16="http://schemas.microsoft.com/office/drawing/2014/main" id="{F4753C80-9926-CEF4-537D-8A70838E79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6057" t="2345" r="2629" b="48535"/>
              <a:stretch>
                <a:fillRect/>
              </a:stretch>
            </p:blipFill>
            <p:spPr>
              <a:xfrm>
                <a:off x="3647017" y="3758142"/>
                <a:ext cx="6602489" cy="2442257"/>
              </a:xfrm>
              <a:prstGeom prst="rect">
                <a:avLst/>
              </a:prstGeom>
              <a:ln>
                <a:solidFill>
                  <a:srgbClr val="4472C4"/>
                </a:solidFill>
              </a:ln>
            </p:spPr>
          </p:pic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BBCD7167-AB5A-8A68-E7C7-B7DF363D5E5B}"/>
                  </a:ext>
                </a:extLst>
              </p:cNvPr>
              <p:cNvCxnSpPr/>
              <p:nvPr/>
            </p:nvCxnSpPr>
            <p:spPr>
              <a:xfrm flipV="1">
                <a:off x="4381498" y="5573888"/>
                <a:ext cx="1707446" cy="7056"/>
              </a:xfrm>
              <a:prstGeom prst="straightConnector1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187565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B278-3595-76DA-EC30-74C0E6E2D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r>
              <a:rPr lang="en-US" dirty="0"/>
              <a:t>Use Results Browser to add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B937D-75C2-2A20-25EE-4F8003251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541"/>
            <a:ext cx="10515600" cy="51004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In ADE L window, run DC analysis (deselect all the plot options). </a:t>
            </a:r>
          </a:p>
          <a:p>
            <a:r>
              <a:rPr lang="en-US" sz="2400" dirty="0"/>
              <a:t>Tools &gt; Results Browser &gt; In 'Signals' section &gt; double-click on 'dc'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All the parameters of the MOSFET are shown. 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1C02E3-28E2-23F5-F080-96684B712825}"/>
              </a:ext>
            </a:extLst>
          </p:cNvPr>
          <p:cNvGrpSpPr/>
          <p:nvPr/>
        </p:nvGrpSpPr>
        <p:grpSpPr>
          <a:xfrm>
            <a:off x="771072" y="2457450"/>
            <a:ext cx="10441213" cy="4165654"/>
            <a:chOff x="390072" y="2457450"/>
            <a:chExt cx="10441213" cy="4165654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077FA47-2118-EE80-11D2-527A7D8F0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54" t="1688" r="33796" b="325"/>
            <a:stretch>
              <a:fillRect/>
            </a:stretch>
          </p:blipFill>
          <p:spPr>
            <a:xfrm>
              <a:off x="1323748" y="2457450"/>
              <a:ext cx="3169968" cy="3340844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E00EADEA-F450-1AA4-C4EE-AA0CBFE8F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7588" y="2459264"/>
              <a:ext cx="4001861" cy="3132364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04DD4E8-3210-0F4E-4703-08FC6E3026D4}"/>
                </a:ext>
              </a:extLst>
            </p:cNvPr>
            <p:cNvSpPr txBox="1"/>
            <p:nvPr/>
          </p:nvSpPr>
          <p:spPr>
            <a:xfrm>
              <a:off x="390072" y="5792107"/>
              <a:ext cx="5025571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 dirty="0"/>
                <a:t>Before saving all parameters </a:t>
              </a:r>
              <a:r>
                <a:rPr lang="en-US" sz="2400" err="1"/>
                <a:t>seperately</a:t>
              </a:r>
              <a:r>
                <a:rPr lang="en-US" sz="2400" dirty="0"/>
                <a:t>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8F90D59-205A-0ADE-26DF-AF5B25130D4A}"/>
                </a:ext>
              </a:extLst>
            </p:cNvPr>
            <p:cNvSpPr txBox="1"/>
            <p:nvPr/>
          </p:nvSpPr>
          <p:spPr>
            <a:xfrm>
              <a:off x="5805714" y="5764893"/>
              <a:ext cx="5025571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 dirty="0"/>
                <a:t>After saving all parameters </a:t>
              </a:r>
              <a:r>
                <a:rPr lang="en-US" sz="2400" dirty="0" err="1"/>
                <a:t>seperately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4828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368AE-564B-0C80-E0A4-15054A50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0778"/>
            <a:ext cx="10515600" cy="57461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Search up </a:t>
            </a:r>
            <a:r>
              <a:rPr lang="en-US" sz="2400" b="1" dirty="0" err="1"/>
              <a:t>cmos:gm</a:t>
            </a:r>
            <a:r>
              <a:rPr lang="en-US" sz="2400" b="1" dirty="0"/>
              <a:t> </a:t>
            </a:r>
            <a:r>
              <a:rPr lang="en-US" sz="2400" dirty="0"/>
              <a:t>&gt; double click on it for </a:t>
            </a:r>
            <a:r>
              <a:rPr lang="en-US" sz="2400" u="sng" dirty="0"/>
              <a:t>gm vs </a:t>
            </a:r>
            <a:r>
              <a:rPr lang="en-US" sz="2400" u="sng" dirty="0" err="1"/>
              <a:t>Vgs</a:t>
            </a:r>
            <a:r>
              <a:rPr lang="en-US" sz="2400" u="sng" dirty="0"/>
              <a:t> graph.</a:t>
            </a:r>
          </a:p>
          <a:p>
            <a:r>
              <a:rPr lang="en-US" sz="2400" dirty="0"/>
              <a:t>Right-click on </a:t>
            </a:r>
            <a:r>
              <a:rPr lang="en-US" sz="2400" dirty="0" err="1"/>
              <a:t>cmos:gm</a:t>
            </a:r>
            <a:r>
              <a:rPr lang="en-US" sz="2400" dirty="0"/>
              <a:t> &gt; calculator &gt; Copy the expression of gm</a:t>
            </a:r>
          </a:p>
          <a:p>
            <a:r>
              <a:rPr lang="en-US" sz="2400" dirty="0"/>
              <a:t>Paste the expression in the 'Outputs' section in the ADE L window to create an output.  Name it as 'gm' .</a:t>
            </a:r>
          </a:p>
          <a:p>
            <a:endParaRPr lang="en-US" sz="24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428624-71C1-DBF5-CE16-F4B0F6643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617" y="2359133"/>
            <a:ext cx="7697169" cy="4193261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747199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058AB-3E9A-2A95-1BCE-D24811FC5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3287"/>
            <a:ext cx="10515600" cy="61594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Two ways of creating gm/ID</a:t>
            </a:r>
            <a:r>
              <a:rPr lang="en-US" sz="2400" dirty="0"/>
              <a:t> : </a:t>
            </a:r>
            <a:r>
              <a:rPr lang="en-US" sz="2400" b="1" dirty="0" err="1"/>
              <a:t>cmos:gmoverid</a:t>
            </a:r>
            <a:r>
              <a:rPr lang="en-US" sz="2400" dirty="0"/>
              <a:t> or </a:t>
            </a:r>
            <a:r>
              <a:rPr lang="en-US" sz="2400" b="1" dirty="0"/>
              <a:t>divide gm by ID</a:t>
            </a:r>
            <a:r>
              <a:rPr lang="en-US" sz="2400" dirty="0"/>
              <a:t> expressions in the calculator. </a:t>
            </a:r>
          </a:p>
          <a:p>
            <a:r>
              <a:rPr lang="en-US" sz="2400" dirty="0"/>
              <a:t>Double-click on '</a:t>
            </a:r>
            <a:r>
              <a:rPr lang="en-US" sz="2400" dirty="0" err="1"/>
              <a:t>cmos:gmoverid</a:t>
            </a:r>
            <a:r>
              <a:rPr lang="en-US" sz="2400" dirty="0"/>
              <a:t>' to plot. Gm/ID vs </a:t>
            </a:r>
            <a:r>
              <a:rPr lang="en-US" sz="2400" dirty="0" err="1"/>
              <a:t>Vgs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153563-FFF8-3F25-EC34-F9B33CE85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513" y="1715023"/>
            <a:ext cx="6342359" cy="2237084"/>
          </a:xfrm>
          <a:prstGeom prst="rect">
            <a:avLst/>
          </a:prstGeom>
          <a:ln>
            <a:solidFill>
              <a:srgbClr val="4472C4"/>
            </a:solidFill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A6D6DC-2A43-F16B-28D7-E8223F035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486935"/>
              </p:ext>
            </p:extLst>
          </p:nvPr>
        </p:nvGraphicFramePr>
        <p:xfrm>
          <a:off x="1141730" y="4178893"/>
          <a:ext cx="9902222" cy="21031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951111">
                  <a:extLst>
                    <a:ext uri="{9D8B030D-6E8A-4147-A177-3AD203B41FA5}">
                      <a16:colId xmlns:a16="http://schemas.microsoft.com/office/drawing/2014/main" val="4291204591"/>
                    </a:ext>
                  </a:extLst>
                </a:gridCol>
                <a:gridCol w="4951111">
                  <a:extLst>
                    <a:ext uri="{9D8B030D-6E8A-4147-A177-3AD203B41FA5}">
                      <a16:colId xmlns:a16="http://schemas.microsoft.com/office/drawing/2014/main" val="581505584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 dirty="0">
                          <a:latin typeface="Aptos"/>
                        </a:rPr>
                        <a:t>Total gate capacitance: 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Cgg</a:t>
                      </a:r>
                      <a:endParaRPr lang="en-US" sz="2400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 dirty="0" err="1">
                          <a:latin typeface="Aptos"/>
                        </a:rPr>
                        <a:t>getData</a:t>
                      </a:r>
                      <a:r>
                        <a:rPr lang="en-US" sz="2400" b="0" i="0" u="none" strike="noStrike" noProof="0" dirty="0">
                          <a:latin typeface="Aptos"/>
                        </a:rPr>
                        <a:t>("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cmos:cgg</a:t>
                      </a:r>
                      <a:r>
                        <a:rPr lang="en-US" sz="2400" b="0" i="0" u="none" strike="noStrike" noProof="0" dirty="0">
                          <a:latin typeface="Aptos"/>
                        </a:rPr>
                        <a:t>" ?result "dc")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863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Transit frequency: ft = gm/</a:t>
                      </a:r>
                      <a:r>
                        <a:rPr lang="en-US" sz="2400" dirty="0" err="1"/>
                        <a:t>cgg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 dirty="0">
                          <a:latin typeface="Aptos"/>
                        </a:rPr>
                        <a:t>(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getData</a:t>
                      </a:r>
                      <a:r>
                        <a:rPr lang="en-US" sz="2400" b="0" i="0" u="none" strike="noStrike" noProof="0" dirty="0">
                          <a:latin typeface="Aptos"/>
                        </a:rPr>
                        <a:t>("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cmos:gm</a:t>
                      </a:r>
                      <a:r>
                        <a:rPr lang="en-US" sz="2400" b="0" i="0" u="none" strike="noStrike" noProof="0" dirty="0">
                          <a:latin typeface="Aptos"/>
                        </a:rPr>
                        <a:t>" ?result "dc") / 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getData</a:t>
                      </a:r>
                      <a:r>
                        <a:rPr lang="en-US" sz="2400" b="0" i="0" u="none" strike="noStrike" noProof="0" dirty="0">
                          <a:latin typeface="Aptos"/>
                        </a:rPr>
                        <a:t>("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cmos:cgg</a:t>
                      </a:r>
                      <a:r>
                        <a:rPr lang="en-US" sz="2400" b="0" i="0" u="none" strike="noStrike" noProof="0" dirty="0">
                          <a:latin typeface="Aptos"/>
                        </a:rPr>
                        <a:t>" ?result "dc"))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866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 dirty="0">
                          <a:latin typeface="Aptos"/>
                        </a:rPr>
                        <a:t>Drain-to-source output conductance: 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gds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 dirty="0" err="1"/>
                        <a:t>getData</a:t>
                      </a:r>
                      <a:r>
                        <a:rPr lang="en-US" sz="2400" b="0" i="0" u="none" strike="noStrike" noProof="0" dirty="0"/>
                        <a:t>("</a:t>
                      </a:r>
                      <a:r>
                        <a:rPr lang="en-US" sz="2400" b="0" i="0" u="none" strike="noStrike" noProof="0" dirty="0" err="1"/>
                        <a:t>cmos:gds</a:t>
                      </a:r>
                      <a:r>
                        <a:rPr lang="en-US" sz="2400" b="0" i="0" u="none" strike="noStrike" noProof="0" dirty="0"/>
                        <a:t>" ?result "dc")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084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211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F1C0F-BFA9-52E5-A892-7317AA4F2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0337"/>
            <a:ext cx="10515600" cy="59786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Add in other parameters :</a:t>
            </a:r>
            <a:endParaRPr lang="en-US" dirty="0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b="1" dirty="0"/>
              <a:t>Note</a:t>
            </a:r>
            <a:r>
              <a:rPr lang="en-US" sz="2400" dirty="0"/>
              <a:t>: All the expressions are derived from the Results browser. 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B8A9C2-8262-3AF9-90AC-F71FB49EB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779408"/>
              </p:ext>
            </p:extLst>
          </p:nvPr>
        </p:nvGraphicFramePr>
        <p:xfrm>
          <a:off x="1152708" y="1400822"/>
          <a:ext cx="9997527" cy="332846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379574">
                  <a:extLst>
                    <a:ext uri="{9D8B030D-6E8A-4147-A177-3AD203B41FA5}">
                      <a16:colId xmlns:a16="http://schemas.microsoft.com/office/drawing/2014/main" val="4291204591"/>
                    </a:ext>
                  </a:extLst>
                </a:gridCol>
                <a:gridCol w="6617953">
                  <a:extLst>
                    <a:ext uri="{9D8B030D-6E8A-4147-A177-3AD203B41FA5}">
                      <a16:colId xmlns:a16="http://schemas.microsoft.com/office/drawing/2014/main" val="581505584"/>
                    </a:ext>
                  </a:extLst>
                </a:gridCol>
              </a:tblGrid>
              <a:tr h="120656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/>
                        <a:t>Ft*(gm/id)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 dirty="0">
                          <a:latin typeface="Aptos"/>
                        </a:rPr>
                        <a:t>((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getData</a:t>
                      </a:r>
                      <a:r>
                        <a:rPr lang="en-US" sz="2400" b="0" i="0" u="none" strike="noStrike" noProof="0" dirty="0">
                          <a:latin typeface="Aptos"/>
                        </a:rPr>
                        <a:t>("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cmos:gm</a:t>
                      </a:r>
                      <a:r>
                        <a:rPr lang="en-US" sz="2400" b="0" i="0" u="none" strike="noStrike" noProof="0" dirty="0">
                          <a:latin typeface="Aptos"/>
                        </a:rPr>
                        <a:t>" ?result "dc") / 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getData</a:t>
                      </a:r>
                      <a:r>
                        <a:rPr lang="en-US" sz="2400" b="0" i="0" u="none" strike="noStrike" noProof="0" dirty="0">
                          <a:latin typeface="Aptos"/>
                        </a:rPr>
                        <a:t>("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cmos:cgg</a:t>
                      </a:r>
                      <a:r>
                        <a:rPr lang="en-US" sz="2400" b="0" i="0" u="none" strike="noStrike" noProof="0" dirty="0">
                          <a:latin typeface="Aptos"/>
                        </a:rPr>
                        <a:t>" ?result "dc")) * 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getData</a:t>
                      </a:r>
                      <a:r>
                        <a:rPr lang="en-US" sz="2400" b="0" i="0" u="none" strike="noStrike" noProof="0" dirty="0">
                          <a:latin typeface="Aptos"/>
                        </a:rPr>
                        <a:t>("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cmos:gmoverid</a:t>
                      </a:r>
                      <a:r>
                        <a:rPr lang="en-US" sz="2400" b="0" i="0" u="none" strike="noStrike" noProof="0" dirty="0">
                          <a:latin typeface="Aptos"/>
                        </a:rPr>
                        <a:t>" ?result "dc"))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084964"/>
                  </a:ext>
                </a:extLst>
              </a:tr>
              <a:tr h="8321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/>
                        <a:t>Intrinsic gain : gm/</a:t>
                      </a:r>
                      <a:r>
                        <a:rPr lang="en-US" sz="2400" err="1"/>
                        <a:t>gds</a:t>
                      </a:r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 dirty="0"/>
                        <a:t>(</a:t>
                      </a:r>
                      <a:r>
                        <a:rPr lang="en-US" sz="2400" b="0" i="0" u="none" strike="noStrike" noProof="0" dirty="0" err="1"/>
                        <a:t>getData</a:t>
                      </a:r>
                      <a:r>
                        <a:rPr lang="en-US" sz="2400" b="0" i="0" u="none" strike="noStrike" noProof="0" dirty="0"/>
                        <a:t>("</a:t>
                      </a:r>
                      <a:r>
                        <a:rPr lang="en-US" sz="2400" b="0" i="0" u="none" strike="noStrike" noProof="0" dirty="0" err="1"/>
                        <a:t>cmos:gm</a:t>
                      </a:r>
                      <a:r>
                        <a:rPr lang="en-US" sz="2400" b="0" i="0" u="none" strike="noStrike" noProof="0" dirty="0"/>
                        <a:t>" ?result "dc") / </a:t>
                      </a:r>
                      <a:r>
                        <a:rPr lang="en-US" sz="2400" b="0" i="0" u="none" strike="noStrike" noProof="0" dirty="0" err="1"/>
                        <a:t>getData</a:t>
                      </a:r>
                      <a:r>
                        <a:rPr lang="en-US" sz="2400" b="0" i="0" u="none" strike="noStrike" noProof="0" dirty="0"/>
                        <a:t>("</a:t>
                      </a:r>
                      <a:r>
                        <a:rPr lang="en-US" sz="2400" b="0" i="0" u="none" strike="noStrike" noProof="0" dirty="0" err="1"/>
                        <a:t>cmos:gds</a:t>
                      </a:r>
                      <a:r>
                        <a:rPr lang="en-US" sz="2400" b="0" i="0" u="none" strike="noStrike" noProof="0" dirty="0"/>
                        <a:t>" ?result "dc"))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996632"/>
                  </a:ext>
                </a:extLst>
              </a:tr>
              <a:tr h="45766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/>
                        <a:t>ID /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 dirty="0">
                          <a:latin typeface="Aptos"/>
                        </a:rPr>
                        <a:t>(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getData</a:t>
                      </a:r>
                      <a:r>
                        <a:rPr lang="en-US" sz="2400" b="0" i="0" u="none" strike="noStrike" noProof="0" dirty="0">
                          <a:latin typeface="Aptos"/>
                        </a:rPr>
                        <a:t>("</a:t>
                      </a:r>
                      <a:r>
                        <a:rPr lang="en-US" sz="2400" b="0" i="0" u="none" strike="noStrike" noProof="0" dirty="0" err="1">
                          <a:latin typeface="Aptos"/>
                        </a:rPr>
                        <a:t>cmos:id</a:t>
                      </a:r>
                      <a:r>
                        <a:rPr lang="en-US" sz="2400" b="0" i="0" u="none" strike="noStrike" noProof="0" dirty="0">
                          <a:latin typeface="Aptos"/>
                        </a:rPr>
                        <a:t>" ?result "dc") / VAR("width"))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378751"/>
                  </a:ext>
                </a:extLst>
              </a:tr>
              <a:tr h="8321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/>
                        <a:t>Overdrive Voltage </a:t>
                      </a:r>
                      <a:r>
                        <a:rPr lang="en-US" sz="2400" dirty="0" err="1"/>
                        <a:t>Vov</a:t>
                      </a:r>
                      <a:r>
                        <a:rPr lang="en-US" sz="2400" dirty="0"/>
                        <a:t> = </a:t>
                      </a:r>
                      <a:r>
                        <a:rPr lang="en-US" sz="2400" dirty="0" err="1"/>
                        <a:t>Vgs</a:t>
                      </a:r>
                      <a:r>
                        <a:rPr lang="en-US" sz="2400" dirty="0"/>
                        <a:t>-Vth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 dirty="0"/>
                        <a:t>(v("</a:t>
                      </a:r>
                      <a:r>
                        <a:rPr lang="en-US" sz="2400" b="0" i="0" u="none" strike="noStrike" noProof="0" dirty="0" err="1"/>
                        <a:t>cmos:vgs</a:t>
                      </a:r>
                      <a:r>
                        <a:rPr lang="en-US" sz="2400" b="0" i="0" u="none" strike="noStrike" noProof="0" dirty="0"/>
                        <a:t>" ?result "dc") - v("</a:t>
                      </a:r>
                      <a:r>
                        <a:rPr lang="en-US" sz="2400" b="0" i="0" u="none" strike="noStrike" noProof="0" dirty="0" err="1"/>
                        <a:t>cmos:vth</a:t>
                      </a:r>
                      <a:r>
                        <a:rPr lang="en-US" sz="2400" b="0" i="0" u="none" strike="noStrike" noProof="0" dirty="0"/>
                        <a:t>" ?result "dc"))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412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786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FF01B-AD25-5F2A-F039-1AB966440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0778"/>
            <a:ext cx="10515600" cy="62627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Another way to find ID/W</a:t>
            </a:r>
          </a:p>
          <a:p>
            <a:r>
              <a:rPr lang="en-US" sz="2400" dirty="0"/>
              <a:t>Dc analysis of a voltage source of voltage "W".</a:t>
            </a:r>
          </a:p>
          <a:p>
            <a:r>
              <a:rPr lang="en-US" sz="2400" dirty="0"/>
              <a:t>Connect its positive terminal to "</a:t>
            </a:r>
            <a:r>
              <a:rPr lang="en-US" sz="2400" dirty="0" err="1"/>
              <a:t>noConn</a:t>
            </a:r>
            <a:r>
              <a:rPr lang="en-US" sz="2400" dirty="0"/>
              <a:t>" from "basic" library. 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342900" indent="-342900"/>
            <a:r>
              <a:rPr lang="en-US" sz="2400" dirty="0"/>
              <a:t>Run DC analysis to plot W as 10u (width is given as 10u). </a:t>
            </a:r>
          </a:p>
          <a:p>
            <a:pPr marL="342900" indent="-342900"/>
            <a:r>
              <a:rPr lang="en-US" sz="2400" dirty="0"/>
              <a:t>Right-click on the signal VS("/W") &gt; Calculator &gt; copy the Expression.</a:t>
            </a:r>
          </a:p>
          <a:p>
            <a:pPr marL="342900" indent="-342900"/>
            <a:r>
              <a:rPr lang="en-US" sz="2400" dirty="0"/>
              <a:t>Get ID/W by dividing ID by the expression obtained above. 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228B6B2-D6A4-F8A1-CF10-9826E3634353}"/>
              </a:ext>
            </a:extLst>
          </p:cNvPr>
          <p:cNvGrpSpPr/>
          <p:nvPr/>
        </p:nvGrpSpPr>
        <p:grpSpPr>
          <a:xfrm>
            <a:off x="417919" y="435477"/>
            <a:ext cx="11338884" cy="4444758"/>
            <a:chOff x="417919" y="435477"/>
            <a:chExt cx="11338884" cy="4444758"/>
          </a:xfrm>
        </p:grpSpPr>
        <p:pic>
          <p:nvPicPr>
            <p:cNvPr id="4" name="Picture 3" descr="A computer screen shot of a diagram&#10;&#10;AI-generated content may be incorrect.">
              <a:extLst>
                <a:ext uri="{FF2B5EF4-FFF2-40B4-BE49-F238E27FC236}">
                  <a16:creationId xmlns:a16="http://schemas.microsoft.com/office/drawing/2014/main" id="{ABB2D3E4-E7F9-1BB9-FA90-6007931E7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7919" y="1936865"/>
              <a:ext cx="4204510" cy="2494394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F3E4BF75-2BF3-7F9A-3B6F-6D7802B84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02735" y="435477"/>
              <a:ext cx="2354068" cy="1932962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pic>
          <p:nvPicPr>
            <p:cNvPr id="6" name="Picture 5" descr="A screen shot of a graph&#10;&#10;AI-generated content may be incorrect.">
              <a:extLst>
                <a:ext uri="{FF2B5EF4-FFF2-40B4-BE49-F238E27FC236}">
                  <a16:creationId xmlns:a16="http://schemas.microsoft.com/office/drawing/2014/main" id="{AFF82EBA-3183-9E4D-EF2B-FAB0BF66A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6197" y="2632335"/>
              <a:ext cx="4854575" cy="22479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B1DB155-9141-CA5D-202F-69BFF804C48E}"/>
              </a:ext>
            </a:extLst>
          </p:cNvPr>
          <p:cNvSpPr txBox="1"/>
          <p:nvPr/>
        </p:nvSpPr>
        <p:spPr>
          <a:xfrm>
            <a:off x="9789582" y="3561292"/>
            <a:ext cx="21431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W = 10u </a:t>
            </a:r>
          </a:p>
        </p:txBody>
      </p:sp>
    </p:spTree>
    <p:extLst>
      <p:ext uri="{BB962C8B-B14F-4D97-AF65-F5344CB8AC3E}">
        <p14:creationId xmlns:p14="http://schemas.microsoft.com/office/powerpoint/2010/main" val="2569229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9C796-EFCA-2197-0EC9-891CBB80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Create the gm/ID Curves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09F4D-7841-B701-778B-13AB64CAE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1300"/>
            <a:ext cx="10515600" cy="51856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Final ADE L window. (Enable Plot for all parameters before plotting). 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9D58EE6-412A-2E54-452C-9063BE7A750D}"/>
              </a:ext>
            </a:extLst>
          </p:cNvPr>
          <p:cNvGrpSpPr/>
          <p:nvPr/>
        </p:nvGrpSpPr>
        <p:grpSpPr>
          <a:xfrm>
            <a:off x="839258" y="1748966"/>
            <a:ext cx="10737453" cy="4640646"/>
            <a:chOff x="839258" y="1748966"/>
            <a:chExt cx="10737453" cy="4640646"/>
          </a:xfrm>
        </p:grpSpPr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23E6FD38-323C-3D52-B9D9-5D79E9DD3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9258" y="2113340"/>
              <a:ext cx="5263243" cy="4276272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DCFBF53-9EA5-AF39-EC87-BEB6BAB4EF7B}"/>
                </a:ext>
              </a:extLst>
            </p:cNvPr>
            <p:cNvGrpSpPr/>
            <p:nvPr/>
          </p:nvGrpSpPr>
          <p:grpSpPr>
            <a:xfrm>
              <a:off x="7251816" y="1748966"/>
              <a:ext cx="4324895" cy="4630064"/>
              <a:chOff x="1106487" y="1005416"/>
              <a:chExt cx="5584825" cy="5486400"/>
            </a:xfrm>
          </p:grpSpPr>
          <p:pic>
            <p:nvPicPr>
              <p:cNvPr id="6" name="Picture 5" descr="A screenshot of a computer&#10;&#10;AI-generated content may be incorrect.">
                <a:extLst>
                  <a:ext uri="{FF2B5EF4-FFF2-40B4-BE49-F238E27FC236}">
                    <a16:creationId xmlns:a16="http://schemas.microsoft.com/office/drawing/2014/main" id="{D456F534-813F-AE0F-85F5-AC3719C2AE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6487" y="1005416"/>
                <a:ext cx="5584825" cy="5486400"/>
              </a:xfrm>
              <a:prstGeom prst="rect">
                <a:avLst/>
              </a:prstGeom>
              <a:ln>
                <a:solidFill>
                  <a:srgbClr val="4472C4"/>
                </a:solidFill>
              </a:ln>
            </p:spPr>
          </p:pic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8076512-8127-8B11-2F2A-5D09908EBDC4}"/>
                  </a:ext>
                </a:extLst>
              </p:cNvPr>
              <p:cNvSpPr/>
              <p:nvPr/>
            </p:nvSpPr>
            <p:spPr>
              <a:xfrm>
                <a:off x="1808178" y="1397041"/>
                <a:ext cx="490967" cy="46341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D7533EB-FD49-7FBD-30D0-27E520561DCB}"/>
              </a:ext>
            </a:extLst>
          </p:cNvPr>
          <p:cNvSpPr txBox="1"/>
          <p:nvPr/>
        </p:nvSpPr>
        <p:spPr>
          <a:xfrm>
            <a:off x="832757" y="1349829"/>
            <a:ext cx="934266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>
                <a:cs typeface="Arial"/>
              </a:rPr>
              <a:t>Save the ADE L window before moving further. ​</a:t>
            </a:r>
          </a:p>
          <a:p>
            <a:pPr marL="228600" indent="-228600">
              <a:buFont typeface=""/>
              <a:buChar char="•"/>
            </a:pPr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6908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E4B2-F12B-64AD-2227-90F11FCB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2032"/>
            <a:ext cx="10515600" cy="61853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sz="2400" dirty="0"/>
              <a:t>For Simulations, enable Plot for parameters you want to simulate &gt; Run</a:t>
            </a:r>
            <a:endParaRPr lang="en-US" dirty="0"/>
          </a:p>
          <a:p>
            <a:pPr marL="342900" indent="-342900"/>
            <a:r>
              <a:rPr lang="en-US" sz="2400" dirty="0"/>
              <a:t>Example: ft*(gm/ID) vs </a:t>
            </a:r>
            <a:r>
              <a:rPr lang="en-US" sz="2400" dirty="0" err="1"/>
              <a:t>Vgs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FA42D8E2-3F14-F52A-9284-1D3D96EBB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268" y="1327377"/>
            <a:ext cx="10463893" cy="495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18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0F13-754A-83F3-1F23-02FE3DE1B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r>
              <a:rPr lang="en-US" dirty="0"/>
              <a:t>Parametric analysis for Different Lengths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EC648-3C43-C3D2-D7A4-A9796BD5E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202"/>
            <a:ext cx="10515600" cy="50487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Sweep all the parameters (w.r.t to </a:t>
            </a:r>
            <a:r>
              <a:rPr lang="en-US" sz="2400" dirty="0" err="1"/>
              <a:t>Vgs</a:t>
            </a:r>
            <a:r>
              <a:rPr lang="en-US" sz="2400" dirty="0"/>
              <a:t> for now) from 45n to 10u. </a:t>
            </a:r>
          </a:p>
          <a:p>
            <a:r>
              <a:rPr lang="en-US" sz="2400" dirty="0"/>
              <a:t>After saving the ADE L window,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Tools&gt;Parametric Analysis : Step-size = 80n 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r>
              <a:rPr lang="en-US" sz="2400" dirty="0"/>
              <a:t>Save the Parametric analysis: File &gt; Save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B3071D-0A1D-60C8-F8D2-266E1DB58E68}"/>
              </a:ext>
            </a:extLst>
          </p:cNvPr>
          <p:cNvGrpSpPr/>
          <p:nvPr/>
        </p:nvGrpSpPr>
        <p:grpSpPr>
          <a:xfrm>
            <a:off x="816504" y="2521300"/>
            <a:ext cx="10832572" cy="3888495"/>
            <a:chOff x="816504" y="2521300"/>
            <a:chExt cx="10832572" cy="3888495"/>
          </a:xfrm>
        </p:grpSpPr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B3A6E8C-A063-E107-19AB-5C53B2B3C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0088" b="48485"/>
            <a:stretch>
              <a:fillRect/>
            </a:stretch>
          </p:blipFill>
          <p:spPr>
            <a:xfrm>
              <a:off x="816504" y="2521300"/>
              <a:ext cx="6343512" cy="1476392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95A0028-2096-7BB5-244F-2AD56A245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7792" y="3257020"/>
              <a:ext cx="4341284" cy="31527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7859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60582-1A91-CB0C-BF4C-8185F5E7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863"/>
            <a:ext cx="10515600" cy="57591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For Parametric analysis, enable 'Plot' for parameters needed. </a:t>
            </a:r>
          </a:p>
          <a:p>
            <a:r>
              <a:rPr lang="en-US" sz="2400" dirty="0"/>
              <a:t>Analysis &gt; Start Selected/ Start all (to plot all). 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D1D693-CA34-47AB-D987-63955DDDD6A3}"/>
              </a:ext>
            </a:extLst>
          </p:cNvPr>
          <p:cNvGrpSpPr/>
          <p:nvPr/>
        </p:nvGrpSpPr>
        <p:grpSpPr>
          <a:xfrm>
            <a:off x="1481667" y="1504410"/>
            <a:ext cx="9927167" cy="4908004"/>
            <a:chOff x="1481667" y="1504410"/>
            <a:chExt cx="9927167" cy="4908004"/>
          </a:xfrm>
        </p:grpSpPr>
        <p:pic>
          <p:nvPicPr>
            <p:cNvPr id="4" name="Picture 3" descr="A screen shot of a graph&#10;&#10;AI-generated content may be incorrect.">
              <a:extLst>
                <a:ext uri="{FF2B5EF4-FFF2-40B4-BE49-F238E27FC236}">
                  <a16:creationId xmlns:a16="http://schemas.microsoft.com/office/drawing/2014/main" id="{F97873AB-E24F-7C4F-4DDE-E03C9D46B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00743" y="3872516"/>
              <a:ext cx="5604684" cy="2167605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pic>
          <p:nvPicPr>
            <p:cNvPr id="5" name="Picture 4" descr="A screen shot of a graph&#10;&#10;AI-generated content may be incorrect.">
              <a:extLst>
                <a:ext uri="{FF2B5EF4-FFF2-40B4-BE49-F238E27FC236}">
                  <a16:creationId xmlns:a16="http://schemas.microsoft.com/office/drawing/2014/main" id="{7432EA51-6BBB-4BF6-1F03-3160E9CB2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67" y="1504410"/>
              <a:ext cx="5630335" cy="230401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376FFE-36E6-7F0F-DB92-87AD7582E93D}"/>
                </a:ext>
              </a:extLst>
            </p:cNvPr>
            <p:cNvSpPr txBox="1"/>
            <p:nvPr/>
          </p:nvSpPr>
          <p:spPr>
            <a:xfrm>
              <a:off x="1481667" y="3831167"/>
              <a:ext cx="349250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/>
                <a:t>Gm/ID parametric analysis vs </a:t>
              </a:r>
              <a:r>
                <a:rPr lang="en-US" dirty="0" err="1"/>
                <a:t>Vgs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AF1F16-BC10-177E-06D2-201C05A5CCB5}"/>
                </a:ext>
              </a:extLst>
            </p:cNvPr>
            <p:cNvSpPr txBox="1"/>
            <p:nvPr/>
          </p:nvSpPr>
          <p:spPr>
            <a:xfrm>
              <a:off x="7916334" y="6043082"/>
              <a:ext cx="349250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 err="1"/>
                <a:t>Vov</a:t>
              </a:r>
              <a:r>
                <a:rPr lang="en-US" dirty="0"/>
                <a:t> parametric analysis vs </a:t>
              </a:r>
              <a:r>
                <a:rPr lang="en-US" dirty="0" err="1"/>
                <a:t>Vgs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2065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3AB90-9956-79C2-1BE8-C891E079E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r>
              <a:rPr lang="en-US" dirty="0"/>
              <a:t>Ocean scripting for plotting graphs w.r.t gm/ID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AAF35-85D6-1E25-D63E-4F3B50D21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32"/>
            <a:ext cx="10515600" cy="50229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Ocean scripting</a:t>
            </a:r>
            <a:r>
              <a:rPr lang="en-US" sz="2400" dirty="0">
                <a:ea typeface="+mn-lt"/>
                <a:cs typeface="+mn-lt"/>
              </a:rPr>
              <a:t>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Automates simulations (no repetitive GUI work)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Runs sweeps, corners, Monte Carlo in batch</a:t>
            </a:r>
            <a:endParaRPr lang="en-US" sz="2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Extracts results directly (gm/Id, gain etc.,)</a:t>
            </a:r>
            <a:endParaRPr lang="en-US" sz="2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Exports data for MATLAB/Python</a:t>
            </a:r>
            <a:endParaRPr lang="en-US" sz="2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Saves time &amp; reduces errors.</a:t>
            </a:r>
            <a:endParaRPr lang="en-US" sz="2800" dirty="0"/>
          </a:p>
          <a:p>
            <a:r>
              <a:rPr lang="en-US" sz="2400" dirty="0"/>
              <a:t>In ADE L window, once all the parameters are added, </a:t>
            </a:r>
          </a:p>
          <a:p>
            <a:r>
              <a:rPr lang="en-US" sz="2400" dirty="0"/>
              <a:t>Session&gt;Save ocean scripting &gt; Save it as &lt;</a:t>
            </a:r>
            <a:r>
              <a:rPr lang="en-US" sz="2400" dirty="0" err="1"/>
              <a:t>any_file_name</a:t>
            </a:r>
            <a:r>
              <a:rPr lang="en-US" sz="2400" dirty="0"/>
              <a:t>&gt;.</a:t>
            </a:r>
            <a:r>
              <a:rPr lang="en-US" sz="2400" dirty="0" err="1"/>
              <a:t>ocn</a:t>
            </a:r>
            <a:r>
              <a:rPr lang="en-US" sz="2400" dirty="0"/>
              <a:t> </a:t>
            </a:r>
          </a:p>
          <a:p>
            <a:endParaRPr lang="en-US" sz="2400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38B3D30-CEC3-3461-1B49-A111D644A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509" y="4657805"/>
            <a:ext cx="6325659" cy="1774825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2893139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DEF1F-FEA1-3412-AD04-846FC00D7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0372"/>
            <a:ext cx="10515600" cy="5836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Ocean script reflects the outputs added in the ADE L window.  </a:t>
            </a:r>
          </a:p>
          <a:p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944BDF-30F6-6FED-3D8E-D6A5245208F8}"/>
              </a:ext>
            </a:extLst>
          </p:cNvPr>
          <p:cNvGrpSpPr/>
          <p:nvPr/>
        </p:nvGrpSpPr>
        <p:grpSpPr>
          <a:xfrm>
            <a:off x="346855" y="821087"/>
            <a:ext cx="11268883" cy="5529943"/>
            <a:chOff x="346855" y="821087"/>
            <a:chExt cx="11268883" cy="552994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E60D0F1-8DE1-18D0-C387-6DFBE792DFEC}"/>
                </a:ext>
              </a:extLst>
            </p:cNvPr>
            <p:cNvGrpSpPr/>
            <p:nvPr/>
          </p:nvGrpSpPr>
          <p:grpSpPr>
            <a:xfrm>
              <a:off x="346855" y="821087"/>
              <a:ext cx="11268883" cy="5138388"/>
              <a:chOff x="346855" y="821087"/>
              <a:chExt cx="11268883" cy="5138388"/>
            </a:xfrm>
          </p:grpSpPr>
          <p:pic>
            <p:nvPicPr>
              <p:cNvPr id="4" name="Picture 3" descr="A screenshot of a computer program&#10;&#10;AI-generated content may be incorrect.">
                <a:extLst>
                  <a:ext uri="{FF2B5EF4-FFF2-40B4-BE49-F238E27FC236}">
                    <a16:creationId xmlns:a16="http://schemas.microsoft.com/office/drawing/2014/main" id="{703EDF81-2280-6E52-D0DB-CD979011EA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46855" y="821087"/>
                <a:ext cx="5751002" cy="3588504"/>
              </a:xfrm>
              <a:prstGeom prst="rect">
                <a:avLst/>
              </a:prstGeom>
              <a:ln>
                <a:solidFill>
                  <a:srgbClr val="4472C4"/>
                </a:solidFill>
              </a:ln>
            </p:spPr>
          </p:pic>
          <p:pic>
            <p:nvPicPr>
              <p:cNvPr id="5" name="Picture 4" descr="A screenshot of a computer program&#10;&#10;AI-generated content may be incorrect.">
                <a:extLst>
                  <a:ext uri="{FF2B5EF4-FFF2-40B4-BE49-F238E27FC236}">
                    <a16:creationId xmlns:a16="http://schemas.microsoft.com/office/drawing/2014/main" id="{5C38718D-5E83-5751-6D98-1178B9F7C1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91263" y="822325"/>
                <a:ext cx="5324475" cy="5137150"/>
              </a:xfrm>
              <a:prstGeom prst="rect">
                <a:avLst/>
              </a:prstGeom>
              <a:ln>
                <a:solidFill>
                  <a:srgbClr val="4472C4"/>
                </a:solidFill>
              </a:ln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BB230B-033B-CA8C-565E-11DA1C52FE7A}"/>
                </a:ext>
              </a:extLst>
            </p:cNvPr>
            <p:cNvSpPr txBox="1"/>
            <p:nvPr/>
          </p:nvSpPr>
          <p:spPr>
            <a:xfrm>
              <a:off x="381000" y="4533899"/>
              <a:ext cx="434340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/>
                <a:t>Ocean Script with Plot disabled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9C2ECE-9D08-0C6F-01DB-D09F9F9F0821}"/>
                </a:ext>
              </a:extLst>
            </p:cNvPr>
            <p:cNvSpPr txBox="1"/>
            <p:nvPr/>
          </p:nvSpPr>
          <p:spPr>
            <a:xfrm>
              <a:off x="6286500" y="5981698"/>
              <a:ext cx="434340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/>
                <a:t>Ocean Script with Plot enabled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9086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7C64C-7F4E-DCA2-8F36-19B72BF48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27671"/>
            <a:ext cx="10960100" cy="61982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As mentioned before, Ocean scripting can automate multiple simulations without constant GUI work.</a:t>
            </a:r>
            <a:endParaRPr lang="en-US" dirty="0"/>
          </a:p>
          <a:p>
            <a:r>
              <a:rPr lang="en-US" sz="2400" dirty="0"/>
              <a:t>The following code can be modified to plot different parameters with respect to other parameters.</a:t>
            </a:r>
          </a:p>
          <a:p>
            <a:r>
              <a:rPr lang="en-US" sz="2400" dirty="0"/>
              <a:t>In </a:t>
            </a:r>
            <a:r>
              <a:rPr lang="en-US" sz="2400" b="1" dirty="0" err="1"/>
              <a:t>nmos_ppt.ocn</a:t>
            </a:r>
            <a:r>
              <a:rPr lang="en-US" sz="2400" b="1" dirty="0"/>
              <a:t> </a:t>
            </a:r>
            <a:r>
              <a:rPr lang="en-US" sz="2400" dirty="0"/>
              <a:t>file, add these lines at the bottom </a:t>
            </a:r>
            <a:r>
              <a:rPr lang="en-US" sz="2400" dirty="0" err="1">
                <a:solidFill>
                  <a:srgbClr val="FF0000"/>
                </a:solidFill>
              </a:rPr>
              <a:t>ocnYvsYplot</a:t>
            </a:r>
            <a:r>
              <a:rPr lang="en-US" sz="2400" dirty="0">
                <a:solidFill>
                  <a:srgbClr val="FF0000"/>
                </a:solidFill>
              </a:rPr>
              <a:t>(?</a:t>
            </a:r>
            <a:r>
              <a:rPr lang="en-US" sz="2400" dirty="0" err="1">
                <a:solidFill>
                  <a:srgbClr val="FF0000"/>
                </a:solidFill>
              </a:rPr>
              <a:t>wavex</a:t>
            </a:r>
            <a:r>
              <a:rPr lang="en-US" sz="2400" dirty="0">
                <a:solidFill>
                  <a:srgbClr val="000000"/>
                </a:solidFill>
              </a:rPr>
              <a:t>&lt;space&gt;</a:t>
            </a:r>
            <a:r>
              <a:rPr lang="en-US" sz="2400" dirty="0" err="1">
                <a:solidFill>
                  <a:srgbClr val="FF0000"/>
                </a:solidFill>
              </a:rPr>
              <a:t>X_parameter</a:t>
            </a:r>
            <a:r>
              <a:rPr lang="en-US" sz="2400" dirty="0">
                <a:solidFill>
                  <a:srgbClr val="000000"/>
                </a:solidFill>
              </a:rPr>
              <a:t>&lt;space&gt;</a:t>
            </a:r>
            <a:r>
              <a:rPr lang="en-US" sz="2400" dirty="0">
                <a:solidFill>
                  <a:srgbClr val="FF0000"/>
                </a:solidFill>
              </a:rPr>
              <a:t>?wavey</a:t>
            </a:r>
            <a:r>
              <a:rPr lang="en-US" sz="2400" dirty="0">
                <a:solidFill>
                  <a:srgbClr val="000000"/>
                </a:solidFill>
              </a:rPr>
              <a:t>&lt;space&gt;</a:t>
            </a:r>
            <a:r>
              <a:rPr lang="en-US" sz="2400" dirty="0" err="1">
                <a:solidFill>
                  <a:srgbClr val="FF0000"/>
                </a:solidFill>
              </a:rPr>
              <a:t>Y_parameter</a:t>
            </a:r>
            <a:r>
              <a:rPr lang="en-US" sz="2400" dirty="0">
                <a:solidFill>
                  <a:srgbClr val="FF0000"/>
                </a:solidFill>
              </a:rPr>
              <a:t>) 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To run the ocean script,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In the log file &gt; type </a:t>
            </a:r>
            <a:r>
              <a:rPr lang="en-US" b="1" dirty="0"/>
              <a:t>load("</a:t>
            </a:r>
            <a:r>
              <a:rPr lang="en-US" b="1" err="1"/>
              <a:t>your_ocean_script_file.ocn</a:t>
            </a:r>
            <a:r>
              <a:rPr lang="en-US" b="1" dirty="0"/>
              <a:t>")</a:t>
            </a:r>
            <a:r>
              <a:rPr lang="en-US" dirty="0"/>
              <a:t> &gt; enter.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F85731-3136-58A1-08BB-ADB56C426F51}"/>
              </a:ext>
            </a:extLst>
          </p:cNvPr>
          <p:cNvGrpSpPr/>
          <p:nvPr/>
        </p:nvGrpSpPr>
        <p:grpSpPr>
          <a:xfrm>
            <a:off x="1360607" y="2781964"/>
            <a:ext cx="10110369" cy="2428212"/>
            <a:chOff x="1360607" y="2781964"/>
            <a:chExt cx="10110369" cy="2428212"/>
          </a:xfrm>
        </p:grpSpPr>
        <p:pic>
          <p:nvPicPr>
            <p:cNvPr id="4" name="Picture 3" descr="A screenshot of a computer code&#10;&#10;AI-generated content may be incorrect.">
              <a:extLst>
                <a:ext uri="{FF2B5EF4-FFF2-40B4-BE49-F238E27FC236}">
                  <a16:creationId xmlns:a16="http://schemas.microsoft.com/office/drawing/2014/main" id="{C9F66EE9-4D96-3CD6-A683-0EF281C8C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0607" y="2781964"/>
              <a:ext cx="4886325" cy="1819275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pic>
          <p:nvPicPr>
            <p:cNvPr id="6" name="Picture 5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63B5DBD4-ED40-238B-0DFD-DD35008C2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74534" y="2783637"/>
              <a:ext cx="4596442" cy="2426539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756845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D16E3-8B3A-7F91-08EE-5226C99D1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8710"/>
            <a:ext cx="10515600" cy="62240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The results will be outputs with respect to gm/ID 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0184E9C-A02E-B065-B76C-44295D2F0377}"/>
              </a:ext>
            </a:extLst>
          </p:cNvPr>
          <p:cNvGrpSpPr/>
          <p:nvPr/>
        </p:nvGrpSpPr>
        <p:grpSpPr>
          <a:xfrm>
            <a:off x="397660" y="765688"/>
            <a:ext cx="11393967" cy="5967460"/>
            <a:chOff x="397660" y="765688"/>
            <a:chExt cx="11393967" cy="5967460"/>
          </a:xfrm>
        </p:grpSpPr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9C31A8A9-9F44-1C2E-FA40-D26C41536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0373" y="765688"/>
              <a:ext cx="11391254" cy="3654098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pic>
          <p:nvPicPr>
            <p:cNvPr id="5" name="Picture 4" descr="A screen shot of a graph&#10;&#10;AI-generated content may be incorrect.">
              <a:extLst>
                <a:ext uri="{FF2B5EF4-FFF2-40B4-BE49-F238E27FC236}">
                  <a16:creationId xmlns:a16="http://schemas.microsoft.com/office/drawing/2014/main" id="{87839B0B-2E57-86C9-012D-C7C8CF02F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406" b="356"/>
            <a:stretch>
              <a:fillRect/>
            </a:stretch>
          </p:blipFill>
          <p:spPr>
            <a:xfrm>
              <a:off x="397660" y="4420697"/>
              <a:ext cx="4274870" cy="2312451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A3122AF-1FA5-2412-806A-72CC5EF3687B}"/>
              </a:ext>
            </a:extLst>
          </p:cNvPr>
          <p:cNvSpPr txBox="1"/>
          <p:nvPr/>
        </p:nvSpPr>
        <p:spPr>
          <a:xfrm>
            <a:off x="5019494" y="4984450"/>
            <a:ext cx="63341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Save the ADE L window to save the current ocean script file.</a:t>
            </a:r>
          </a:p>
          <a:p>
            <a:pPr marL="285750" indent="-285750">
              <a:buFont typeface="Arial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41059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7A8D-1465-1534-DE62-787CCA880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r>
              <a:rPr lang="en-US" dirty="0"/>
              <a:t>Parametric analysis using ocean scripting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01D2F-0954-334C-72BD-FA2A5DA34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5287"/>
            <a:ext cx="10515600" cy="50616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In the ADE L window, tools &gt; Parametric analysis </a:t>
            </a:r>
          </a:p>
          <a:p>
            <a:r>
              <a:rPr lang="en-US" sz="2400" dirty="0"/>
              <a:t>File&gt;Load : Load the previously saved window </a:t>
            </a:r>
            <a:r>
              <a:rPr lang="en-US" sz="2400" b="1" dirty="0"/>
              <a:t>"nmos_parametric_L.il".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dirty="0"/>
          </a:p>
          <a:p>
            <a:r>
              <a:rPr lang="en-US" sz="2400" dirty="0"/>
              <a:t>File&gt; Save Ocean Script.</a:t>
            </a:r>
            <a:endParaRPr lang="en-US" dirty="0"/>
          </a:p>
          <a:p>
            <a:endParaRPr lang="en-US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D669B89-ED06-BCA0-F932-2B6F89BA3400}"/>
              </a:ext>
            </a:extLst>
          </p:cNvPr>
          <p:cNvGrpSpPr/>
          <p:nvPr/>
        </p:nvGrpSpPr>
        <p:grpSpPr>
          <a:xfrm>
            <a:off x="1562928" y="2601214"/>
            <a:ext cx="8743750" cy="3574682"/>
            <a:chOff x="1562928" y="2601214"/>
            <a:chExt cx="8743750" cy="3574682"/>
          </a:xfrm>
        </p:grpSpPr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0C56ECB-6851-22E4-68A3-4A6800A19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986" r="140" b="62571"/>
            <a:stretch>
              <a:fillRect/>
            </a:stretch>
          </p:blipFill>
          <p:spPr>
            <a:xfrm>
              <a:off x="1562928" y="2601214"/>
              <a:ext cx="8743750" cy="1653363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FAF6C69-2AEC-070E-C157-9C8197AA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8695" y="4766196"/>
              <a:ext cx="4800600" cy="1409700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677948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06AAE-A53E-123B-6F6F-3032A1D77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2439"/>
            <a:ext cx="10515600" cy="56945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Parametric Ocean script is ready.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638191-98DE-F82B-DC25-0676D4082DDA}"/>
              </a:ext>
            </a:extLst>
          </p:cNvPr>
          <p:cNvSpPr txBox="1"/>
          <p:nvPr/>
        </p:nvSpPr>
        <p:spPr>
          <a:xfrm>
            <a:off x="7251699" y="1047751"/>
            <a:ext cx="4939241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Copy the following section of code from </a:t>
            </a:r>
            <a:r>
              <a:rPr lang="en-US" sz="2400" b="1" err="1">
                <a:ea typeface="+mn-lt"/>
                <a:cs typeface="+mn-lt"/>
              </a:rPr>
              <a:t>nmos_ppt.ocn</a:t>
            </a:r>
            <a:r>
              <a:rPr lang="en-US" sz="2400" dirty="0">
                <a:ea typeface="+mn-lt"/>
                <a:cs typeface="+mn-lt"/>
              </a:rPr>
              <a:t> file  into the </a:t>
            </a:r>
            <a:r>
              <a:rPr lang="en-US" sz="2400" b="1" err="1">
                <a:ea typeface="+mn-lt"/>
                <a:cs typeface="+mn-lt"/>
              </a:rPr>
              <a:t>param_nmos_ppt.ocn</a:t>
            </a:r>
            <a:endParaRPr lang="en-US" sz="24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Save it.</a:t>
            </a:r>
          </a:p>
          <a:p>
            <a:endParaRPr lang="en-US" sz="2400" dirty="0"/>
          </a:p>
          <a:p>
            <a:endParaRPr lang="en-US" sz="2400"/>
          </a:p>
          <a:p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6B3FB4-1E1B-C561-1DF8-B444A3C03DA6}"/>
              </a:ext>
            </a:extLst>
          </p:cNvPr>
          <p:cNvSpPr txBox="1"/>
          <p:nvPr/>
        </p:nvSpPr>
        <p:spPr>
          <a:xfrm>
            <a:off x="677333" y="5413375"/>
            <a:ext cx="1094528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Avoid enabling Plot in ADE each time—use the code to generate graphs directly from the log file.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 </a:t>
            </a:r>
            <a:r>
              <a:rPr lang="en-US" sz="2400" dirty="0">
                <a:solidFill>
                  <a:srgbClr val="000000"/>
                </a:solidFill>
              </a:rPr>
              <a:t>Run Parametric analysis</a:t>
            </a:r>
            <a:r>
              <a:rPr lang="en-US" sz="2400" b="1" dirty="0"/>
              <a:t> </a:t>
            </a:r>
            <a:r>
              <a:rPr lang="en-US" sz="2400" dirty="0"/>
              <a:t>: Log file &gt; </a:t>
            </a:r>
            <a:r>
              <a:rPr lang="en-US" sz="2400" dirty="0">
                <a:solidFill>
                  <a:srgbClr val="FF0000"/>
                </a:solidFill>
              </a:rPr>
              <a:t>load("</a:t>
            </a:r>
            <a:r>
              <a:rPr lang="en-US" sz="2400" b="1" dirty="0" err="1">
                <a:solidFill>
                  <a:srgbClr val="FF0000"/>
                </a:solidFill>
              </a:rPr>
              <a:t>param_nmos_ppt.ocn</a:t>
            </a:r>
            <a:r>
              <a:rPr lang="en-US" sz="2400" b="1" dirty="0">
                <a:solidFill>
                  <a:srgbClr val="FF0000"/>
                </a:solidFill>
              </a:rPr>
              <a:t>"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  <a:r>
              <a:rPr lang="en-US" sz="2400" dirty="0">
                <a:solidFill>
                  <a:srgbClr val="000000"/>
                </a:solidFill>
              </a:rPr>
              <a:t> &gt; enter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803401-17AC-FF08-3942-5353B3DF399F}"/>
              </a:ext>
            </a:extLst>
          </p:cNvPr>
          <p:cNvGrpSpPr/>
          <p:nvPr/>
        </p:nvGrpSpPr>
        <p:grpSpPr>
          <a:xfrm>
            <a:off x="678213" y="1050513"/>
            <a:ext cx="11146079" cy="4354809"/>
            <a:chOff x="678213" y="1050513"/>
            <a:chExt cx="11146079" cy="4354809"/>
          </a:xfrm>
        </p:grpSpPr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E22397C-CF23-F10D-ACDC-5BAD333B3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8213" y="1050513"/>
              <a:ext cx="5970292" cy="4354809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pic>
          <p:nvPicPr>
            <p:cNvPr id="7" name="Picture 6" descr="A screenshot of a computer code&#10;&#10;AI-generated content may be incorrect.">
              <a:extLst>
                <a:ext uri="{FF2B5EF4-FFF2-40B4-BE49-F238E27FC236}">
                  <a16:creationId xmlns:a16="http://schemas.microsoft.com/office/drawing/2014/main" id="{BA87D8D6-7448-6988-166E-82242A313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3" r="13910"/>
            <a:stretch>
              <a:fillRect/>
            </a:stretch>
          </p:blipFill>
          <p:spPr>
            <a:xfrm>
              <a:off x="7620728" y="3002098"/>
              <a:ext cx="4203564" cy="1819275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1D980CD0-25E1-A361-E899-042087C7B58A}"/>
                </a:ext>
              </a:extLst>
            </p:cNvPr>
            <p:cNvCxnSpPr/>
            <p:nvPr/>
          </p:nvCxnSpPr>
          <p:spPr>
            <a:xfrm flipH="1">
              <a:off x="5264148" y="3937001"/>
              <a:ext cx="1773768" cy="1348315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E973B234-017F-7795-BF41-86EF06B8D6C2}"/>
                </a:ext>
              </a:extLst>
            </p:cNvPr>
            <p:cNvSpPr/>
            <p:nvPr/>
          </p:nvSpPr>
          <p:spPr>
            <a:xfrm>
              <a:off x="6944318" y="2998258"/>
              <a:ext cx="536448" cy="1845733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1398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E21F-20FA-E159-A20E-5C662EDBB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6609"/>
            <a:ext cx="10515600" cy="57203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Results of Parametric analysis. 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55E197-47F9-F44F-21F5-D5163FBAAFAE}"/>
              </a:ext>
            </a:extLst>
          </p:cNvPr>
          <p:cNvGrpSpPr/>
          <p:nvPr/>
        </p:nvGrpSpPr>
        <p:grpSpPr>
          <a:xfrm>
            <a:off x="542441" y="894975"/>
            <a:ext cx="11107119" cy="5493655"/>
            <a:chOff x="542441" y="894975"/>
            <a:chExt cx="11107119" cy="5493655"/>
          </a:xfrm>
        </p:grpSpPr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FD0DBD59-A734-182C-3379-6F264CF95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2441" y="894975"/>
              <a:ext cx="11107119" cy="3440728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C4FDA1D-A42A-70B7-CA66-86F8A4D7B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3238" y="4512205"/>
              <a:ext cx="6296025" cy="1876425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645439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9519-402A-16C9-19B1-1D53D05CB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r>
              <a:rPr lang="en-US" dirty="0"/>
              <a:t>Plotting of gm/ID graphs on MATLAB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661E5-33D0-59DB-304A-CE57092EE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1517"/>
            <a:ext cx="10515600" cy="53657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The basic idea is importing the data from the graphs and plotting them on Matlab. </a:t>
            </a:r>
          </a:p>
          <a:p>
            <a:pPr marL="0" indent="0">
              <a:buNone/>
            </a:pPr>
            <a:r>
              <a:rPr lang="en-US" sz="2400" u="sng" dirty="0"/>
              <a:t>Get these parameters for MATLAB:</a:t>
            </a:r>
          </a:p>
          <a:p>
            <a:r>
              <a:rPr lang="en-US" sz="2400" dirty="0"/>
              <a:t>ID, gm, </a:t>
            </a:r>
            <a:r>
              <a:rPr lang="en-US" sz="2400" dirty="0" err="1"/>
              <a:t>cgg</a:t>
            </a:r>
            <a:r>
              <a:rPr lang="en-US" sz="2400" dirty="0"/>
              <a:t>, </a:t>
            </a:r>
            <a:r>
              <a:rPr lang="en-US" sz="2400" dirty="0" err="1"/>
              <a:t>gds</a:t>
            </a:r>
            <a:r>
              <a:rPr lang="en-US" sz="2400" dirty="0"/>
              <a:t>, </a:t>
            </a:r>
            <a:r>
              <a:rPr lang="en-US" sz="2400" dirty="0" err="1"/>
              <a:t>Vgs</a:t>
            </a:r>
            <a:r>
              <a:rPr lang="en-US" sz="2400" dirty="0"/>
              <a:t>, Vth.</a:t>
            </a:r>
          </a:p>
          <a:p>
            <a:r>
              <a:rPr lang="en-US" sz="2400" dirty="0"/>
              <a:t>Run these.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u="sng" dirty="0"/>
              <a:t>To get the data from these signals</a:t>
            </a:r>
            <a:r>
              <a:rPr lang="en-US" sz="2400" dirty="0"/>
              <a:t>, 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Right-click on each signal (i.e., ID, gm etc.,) &gt; Send To&gt; Table&gt; Append.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'Append' option adds each signal data-points w.r.t </a:t>
            </a:r>
            <a:r>
              <a:rPr lang="en-US" dirty="0" err="1"/>
              <a:t>Vgs</a:t>
            </a:r>
            <a:r>
              <a:rPr lang="en-US" dirty="0"/>
              <a:t> which is in X-axis here.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BC07D4C7-4EE5-BCEA-13D6-F380441BF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159" y="2015068"/>
            <a:ext cx="4144434" cy="2256367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B89EDD-2A4A-357C-B3A5-99461653A0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173" b="351"/>
          <a:stretch>
            <a:fillRect/>
          </a:stretch>
        </p:blipFill>
        <p:spPr>
          <a:xfrm>
            <a:off x="5439833" y="2209800"/>
            <a:ext cx="1917467" cy="2075421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173372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E4D25-B4A1-339C-5289-B880A2BFE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541"/>
            <a:ext cx="10515600" cy="62111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The table:</a:t>
            </a:r>
            <a:endParaRPr lang="en-US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To export the table to a .csv file for </a:t>
            </a:r>
            <a:r>
              <a:rPr lang="en-US" sz="2400" b="1" dirty="0" err="1"/>
              <a:t>matlab</a:t>
            </a:r>
            <a:r>
              <a:rPr lang="en-US" sz="2400" dirty="0"/>
              <a:t>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File&gt;Export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AEF27C-3518-9B83-AE07-F24B86C3B0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6" t="-766" r="207" b="45946"/>
          <a:stretch>
            <a:fillRect/>
          </a:stretch>
        </p:blipFill>
        <p:spPr>
          <a:xfrm>
            <a:off x="840837" y="838729"/>
            <a:ext cx="5666326" cy="3363866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1A03F5-6CDD-9D75-2672-CEAC4884246D}"/>
              </a:ext>
            </a:extLst>
          </p:cNvPr>
          <p:cNvSpPr txBox="1"/>
          <p:nvPr/>
        </p:nvSpPr>
        <p:spPr>
          <a:xfrm>
            <a:off x="6720418" y="312208"/>
            <a:ext cx="512233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Convert these values into Scientific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Click on one column &gt; </a:t>
            </a:r>
            <a:r>
              <a:rPr lang="en-US" sz="2400" dirty="0" err="1"/>
              <a:t>Ctrl+A</a:t>
            </a:r>
            <a:r>
              <a:rPr lang="en-US" sz="2400" dirty="0"/>
              <a:t> 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View &gt; Format</a:t>
            </a:r>
          </a:p>
          <a:p>
            <a:endParaRPr lang="en-US" sz="24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EB216F-CC3D-D879-88AD-10112BBEF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067" y="1183747"/>
            <a:ext cx="2161117" cy="1569508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200274-1A21-AAF3-2C1D-C3EDAC251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430" y="2905125"/>
            <a:ext cx="4731808" cy="3429000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6382993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8D064-4582-F903-ED2C-1300869BD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2032"/>
            <a:ext cx="10515600" cy="57849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To check the .csv file,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Go to the location of the file :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endParaRPr lang="en-US" dirty="0"/>
          </a:p>
          <a:p>
            <a:r>
              <a:rPr lang="en-US" sz="2400" dirty="0"/>
              <a:t>Transfer this file to Windows to Import it into MATLAB. 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8B948B-3367-CD0A-3DAC-7FA601DC5E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1" b="44064"/>
          <a:stretch>
            <a:fillRect/>
          </a:stretch>
        </p:blipFill>
        <p:spPr>
          <a:xfrm>
            <a:off x="3045820" y="1211855"/>
            <a:ext cx="6397427" cy="3159453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1812618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5929-8C5A-21AD-EDA8-B4DD12A3A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r>
              <a:rPr lang="en-US" dirty="0"/>
              <a:t>Run MATLAB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4C000-54E3-D24D-8F41-0B3913A90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795"/>
            <a:ext cx="10515600" cy="51391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Save the </a:t>
            </a:r>
            <a:r>
              <a:rPr lang="en-US" sz="2400" b="1" dirty="0"/>
              <a:t>"nmos_ppt_matlab.csv"</a:t>
            </a:r>
            <a:r>
              <a:rPr lang="en-US" sz="2400" dirty="0"/>
              <a:t> file in the same folder as your </a:t>
            </a:r>
            <a:r>
              <a:rPr lang="en-US" sz="2400" b="1" dirty="0"/>
              <a:t>"nmos_</a:t>
            </a:r>
            <a:r>
              <a:rPr lang="en-US" sz="2400" b="1" dirty="0" err="1"/>
              <a:t>matlab</a:t>
            </a:r>
            <a:r>
              <a:rPr lang="en-US" sz="2400" b="1" dirty="0"/>
              <a:t>_.m"</a:t>
            </a:r>
            <a:r>
              <a:rPr lang="en-US" sz="2400" dirty="0"/>
              <a:t> file which contains the code to simulate the graphs.</a:t>
            </a:r>
          </a:p>
          <a:p>
            <a:r>
              <a:rPr lang="en-US" sz="2400" dirty="0"/>
              <a:t>Code: </a:t>
            </a:r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1BEE35-A54A-C81B-B40C-AE8D9D29A9E4}"/>
              </a:ext>
            </a:extLst>
          </p:cNvPr>
          <p:cNvSpPr txBox="1"/>
          <p:nvPr/>
        </p:nvSpPr>
        <p:spPr>
          <a:xfrm>
            <a:off x="3442952" y="2110196"/>
            <a:ext cx="7457086" cy="1554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11C68E-985A-3187-0094-A984F10E2A60}"/>
              </a:ext>
            </a:extLst>
          </p:cNvPr>
          <p:cNvSpPr txBox="1"/>
          <p:nvPr/>
        </p:nvSpPr>
        <p:spPr>
          <a:xfrm>
            <a:off x="2620383" y="2112722"/>
            <a:ext cx="3906283" cy="4278094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data = </a:t>
            </a:r>
            <a:r>
              <a:rPr lang="en-US" sz="1600" err="1">
                <a:ea typeface="+mn-lt"/>
                <a:cs typeface="+mn-lt"/>
              </a:rPr>
              <a:t>readtable</a:t>
            </a:r>
            <a:r>
              <a:rPr lang="en-US" sz="1600" dirty="0">
                <a:ea typeface="+mn-lt"/>
                <a:cs typeface="+mn-lt"/>
              </a:rPr>
              <a:t>('nmos_ppt_matlab.csv')</a:t>
            </a:r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W = 10e-6;   %defined 10u</a:t>
            </a:r>
          </a:p>
          <a:p>
            <a:r>
              <a:rPr lang="en-US" sz="1600" dirty="0">
                <a:ea typeface="+mn-lt"/>
                <a:cs typeface="+mn-lt"/>
              </a:rPr>
              <a:t>dc = </a:t>
            </a:r>
            <a:r>
              <a:rPr lang="en-US" sz="1600" err="1">
                <a:ea typeface="+mn-lt"/>
                <a:cs typeface="+mn-lt"/>
              </a:rPr>
              <a:t>data.dc_V</a:t>
            </a:r>
            <a:r>
              <a:rPr lang="en-US" sz="1600" dirty="0">
                <a:ea typeface="+mn-lt"/>
                <a:cs typeface="+mn-lt"/>
              </a:rPr>
              <a:t>_;</a:t>
            </a:r>
          </a:p>
          <a:p>
            <a:r>
              <a:rPr lang="en-US" sz="1600" dirty="0">
                <a:ea typeface="+mn-lt"/>
                <a:cs typeface="+mn-lt"/>
              </a:rPr>
              <a:t>ID = data.ID;</a:t>
            </a:r>
          </a:p>
          <a:p>
            <a:r>
              <a:rPr lang="en-US" sz="1600" dirty="0">
                <a:ea typeface="+mn-lt"/>
                <a:cs typeface="+mn-lt"/>
              </a:rPr>
              <a:t>gm = data.gm;</a:t>
            </a:r>
          </a:p>
          <a:p>
            <a:r>
              <a:rPr lang="en-US" sz="1600" err="1">
                <a:ea typeface="+mn-lt"/>
                <a:cs typeface="+mn-lt"/>
              </a:rPr>
              <a:t>gds</a:t>
            </a:r>
            <a:r>
              <a:rPr lang="en-US" sz="1600" dirty="0">
                <a:ea typeface="+mn-lt"/>
                <a:cs typeface="+mn-lt"/>
              </a:rPr>
              <a:t> = </a:t>
            </a:r>
            <a:r>
              <a:rPr lang="en-US" sz="1600" err="1">
                <a:ea typeface="+mn-lt"/>
                <a:cs typeface="+mn-lt"/>
              </a:rPr>
              <a:t>data.gds</a:t>
            </a:r>
            <a:r>
              <a:rPr lang="en-US" sz="1600" dirty="0">
                <a:ea typeface="+mn-lt"/>
                <a:cs typeface="+mn-lt"/>
              </a:rPr>
              <a:t>;</a:t>
            </a:r>
          </a:p>
          <a:p>
            <a:r>
              <a:rPr lang="en-US" sz="1600" dirty="0" err="1">
                <a:ea typeface="+mn-lt"/>
                <a:cs typeface="+mn-lt"/>
              </a:rPr>
              <a:t>cgg</a:t>
            </a:r>
            <a:r>
              <a:rPr lang="en-US" sz="1600" dirty="0">
                <a:ea typeface="+mn-lt"/>
                <a:cs typeface="+mn-lt"/>
              </a:rPr>
              <a:t> = </a:t>
            </a:r>
            <a:r>
              <a:rPr lang="en-US" sz="1600" dirty="0" err="1">
                <a:ea typeface="+mn-lt"/>
                <a:cs typeface="+mn-lt"/>
              </a:rPr>
              <a:t>data.cgg_N</a:t>
            </a:r>
            <a:r>
              <a:rPr lang="en-US" sz="1600" dirty="0">
                <a:ea typeface="+mn-lt"/>
                <a:cs typeface="+mn-lt"/>
              </a:rPr>
              <a:t>_;</a:t>
            </a:r>
            <a:endParaRPr lang="en-US" sz="1600" dirty="0"/>
          </a:p>
          <a:p>
            <a:r>
              <a:rPr lang="en-US" sz="1600" dirty="0" err="1">
                <a:ea typeface="+mn-lt"/>
                <a:cs typeface="+mn-lt"/>
              </a:rPr>
              <a:t>Vgs</a:t>
            </a:r>
            <a:r>
              <a:rPr lang="en-US" sz="1600" dirty="0">
                <a:ea typeface="+mn-lt"/>
                <a:cs typeface="+mn-lt"/>
              </a:rPr>
              <a:t> = </a:t>
            </a:r>
            <a:r>
              <a:rPr lang="en-US" sz="1600" dirty="0" err="1">
                <a:ea typeface="+mn-lt"/>
                <a:cs typeface="+mn-lt"/>
              </a:rPr>
              <a:t>data.Vgs_V</a:t>
            </a:r>
            <a:r>
              <a:rPr lang="en-US" sz="1600" dirty="0">
                <a:ea typeface="+mn-lt"/>
                <a:cs typeface="+mn-lt"/>
              </a:rPr>
              <a:t>_;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Vth = </a:t>
            </a:r>
            <a:r>
              <a:rPr lang="en-US" sz="1600" dirty="0" err="1">
                <a:ea typeface="+mn-lt"/>
                <a:cs typeface="+mn-lt"/>
              </a:rPr>
              <a:t>data.Vth_V</a:t>
            </a:r>
            <a:r>
              <a:rPr lang="en-US" sz="1600" dirty="0">
                <a:ea typeface="+mn-lt"/>
                <a:cs typeface="+mn-lt"/>
              </a:rPr>
              <a:t>_;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 err="1"/>
              <a:t>gm_ID</a:t>
            </a:r>
            <a:r>
              <a:rPr lang="en-US" sz="1600" dirty="0"/>
              <a:t> = gm./ID ;</a:t>
            </a:r>
          </a:p>
          <a:p>
            <a:r>
              <a:rPr lang="en-US" sz="1600" err="1"/>
              <a:t>Vov</a:t>
            </a:r>
            <a:r>
              <a:rPr lang="en-US" sz="1600" dirty="0"/>
              <a:t> = </a:t>
            </a:r>
            <a:r>
              <a:rPr lang="en-US" sz="1600" err="1"/>
              <a:t>Vgs</a:t>
            </a:r>
            <a:r>
              <a:rPr lang="en-US" sz="1600" dirty="0"/>
              <a:t>- Vth ;</a:t>
            </a:r>
          </a:p>
          <a:p>
            <a:r>
              <a:rPr lang="en-US" sz="1600" err="1"/>
              <a:t>gm_gds</a:t>
            </a:r>
            <a:r>
              <a:rPr lang="en-US" sz="1600" dirty="0"/>
              <a:t> = gm/</a:t>
            </a:r>
            <a:r>
              <a:rPr lang="en-US" sz="1600" err="1"/>
              <a:t>gds</a:t>
            </a:r>
            <a:r>
              <a:rPr lang="en-US" sz="1600" dirty="0"/>
              <a:t>;</a:t>
            </a:r>
          </a:p>
          <a:p>
            <a:r>
              <a:rPr lang="en-US" sz="1600" dirty="0"/>
              <a:t>ft = gm/(2*pi*</a:t>
            </a:r>
            <a:r>
              <a:rPr lang="en-US" sz="1600" err="1"/>
              <a:t>cgg</a:t>
            </a:r>
            <a:r>
              <a:rPr lang="en-US" sz="1600" dirty="0"/>
              <a:t>) ;</a:t>
            </a:r>
          </a:p>
          <a:p>
            <a:r>
              <a:rPr lang="en-US" sz="1600" dirty="0"/>
              <a:t>ID_W = ID./W ;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409022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D8C2A-F34B-42ED-B8C2-1A6D823F6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6609"/>
            <a:ext cx="10515600" cy="59915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Workspace is updated. Separate tables are formed for each Variable. 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86576A-1A7D-2EA4-61BF-DB73A57C1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023" y="1084369"/>
            <a:ext cx="2050459" cy="3253514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CAF574-EEC5-7880-2129-FF14761FA43D}"/>
              </a:ext>
            </a:extLst>
          </p:cNvPr>
          <p:cNvSpPr txBox="1"/>
          <p:nvPr/>
        </p:nvSpPr>
        <p:spPr>
          <a:xfrm>
            <a:off x="3619500" y="939800"/>
            <a:ext cx="7734300" cy="5853334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Aptos"/>
                <a:cs typeface="Segoe UI"/>
              </a:rPr>
              <a:t>Use the following code to Plot the graphs:</a:t>
            </a:r>
            <a:endParaRPr lang="en-US" dirty="0"/>
          </a:p>
          <a:p>
            <a:r>
              <a:rPr lang="en-US" sz="1600" b="1" dirty="0">
                <a:latin typeface="Aptos"/>
                <a:ea typeface="+mn-lt"/>
                <a:cs typeface="+mn-lt"/>
              </a:rPr>
              <a:t>figure(1);</a:t>
            </a:r>
            <a:endParaRPr lang="en-US" sz="1600" b="1" dirty="0">
              <a:latin typeface="Aptos"/>
              <a:cs typeface="Segoe UI"/>
            </a:endParaRPr>
          </a:p>
          <a:p>
            <a:r>
              <a:rPr lang="en-US" sz="1600" b="1" dirty="0">
                <a:latin typeface="Aptos"/>
                <a:ea typeface="+mn-lt"/>
                <a:cs typeface="+mn-lt"/>
              </a:rPr>
              <a:t>% 1. gm/ID vs </a:t>
            </a:r>
            <a:r>
              <a:rPr lang="en-US" sz="1600" b="1" dirty="0" err="1">
                <a:latin typeface="Aptos"/>
                <a:ea typeface="+mn-lt"/>
                <a:cs typeface="+mn-lt"/>
              </a:rPr>
              <a:t>Vov</a:t>
            </a:r>
            <a:endParaRPr lang="en-US" sz="1600" b="1" dirty="0">
              <a:latin typeface="Aptos"/>
              <a:cs typeface="Segoe U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latin typeface="Aptos"/>
                <a:cs typeface="Segoe UI"/>
              </a:rPr>
              <a:t>subplot(2,3,1)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latin typeface="Aptos"/>
                <a:cs typeface="Segoe UI"/>
              </a:rPr>
              <a:t>plot(</a:t>
            </a:r>
            <a:r>
              <a:rPr lang="en-US" sz="1600" err="1">
                <a:latin typeface="Aptos"/>
                <a:cs typeface="Segoe UI"/>
              </a:rPr>
              <a:t>Vov</a:t>
            </a:r>
            <a:r>
              <a:rPr lang="en-US" sz="1600" dirty="0">
                <a:latin typeface="Aptos"/>
                <a:cs typeface="Segoe UI"/>
              </a:rPr>
              <a:t>, </a:t>
            </a:r>
            <a:r>
              <a:rPr lang="en-US" sz="1600" err="1">
                <a:latin typeface="Aptos"/>
                <a:cs typeface="Segoe UI"/>
              </a:rPr>
              <a:t>gm_ID</a:t>
            </a:r>
            <a:r>
              <a:rPr lang="en-US" sz="1600" dirty="0">
                <a:latin typeface="Aptos"/>
                <a:cs typeface="Segoe UI"/>
              </a:rPr>
              <a:t>, 'LineWidth',1.5)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err="1">
                <a:latin typeface="Aptos"/>
                <a:cs typeface="Segoe UI"/>
              </a:rPr>
              <a:t>xlabel</a:t>
            </a:r>
            <a:r>
              <a:rPr lang="en-US" sz="1600" dirty="0">
                <a:latin typeface="Aptos"/>
                <a:cs typeface="Segoe UI"/>
              </a:rPr>
              <a:t>('V_{OV} (V)'); </a:t>
            </a:r>
            <a:r>
              <a:rPr lang="en-US" sz="1600" err="1">
                <a:latin typeface="Aptos"/>
                <a:cs typeface="Segoe UI"/>
              </a:rPr>
              <a:t>ylabel</a:t>
            </a:r>
            <a:r>
              <a:rPr lang="en-US" sz="1600" dirty="0">
                <a:latin typeface="Aptos"/>
                <a:cs typeface="Segoe UI"/>
              </a:rPr>
              <a:t>('</a:t>
            </a:r>
            <a:r>
              <a:rPr lang="en-US" sz="1600" err="1">
                <a:latin typeface="Aptos"/>
                <a:cs typeface="Segoe UI"/>
              </a:rPr>
              <a:t>g_m</a:t>
            </a:r>
            <a:r>
              <a:rPr lang="en-US" sz="1600" dirty="0">
                <a:latin typeface="Aptos"/>
                <a:cs typeface="Segoe UI"/>
              </a:rPr>
              <a:t>/I_D (1/V)');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latin typeface="Aptos"/>
                <a:cs typeface="Segoe UI"/>
              </a:rPr>
              <a:t>title('</a:t>
            </a:r>
            <a:r>
              <a:rPr lang="en-US" sz="1600" dirty="0" err="1">
                <a:latin typeface="Aptos"/>
                <a:cs typeface="Segoe UI"/>
              </a:rPr>
              <a:t>g_m</a:t>
            </a:r>
            <a:r>
              <a:rPr lang="en-US" sz="1600" dirty="0">
                <a:latin typeface="Aptos"/>
                <a:cs typeface="Segoe UI"/>
              </a:rPr>
              <a:t>/I_D vs V_{OV}'); grid on;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b="1" dirty="0">
                <a:latin typeface="Aptos"/>
                <a:cs typeface="Segoe UI"/>
              </a:rPr>
              <a:t>% 2. gm/</a:t>
            </a:r>
            <a:r>
              <a:rPr lang="en-US" sz="1600" b="1" dirty="0" err="1">
                <a:latin typeface="Aptos"/>
                <a:cs typeface="Segoe UI"/>
              </a:rPr>
              <a:t>gds</a:t>
            </a:r>
            <a:r>
              <a:rPr lang="en-US" sz="1600" b="1" dirty="0">
                <a:latin typeface="Aptos"/>
                <a:cs typeface="Segoe UI"/>
              </a:rPr>
              <a:t> vs gm/ID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latin typeface="Aptos"/>
                <a:cs typeface="Segoe UI"/>
              </a:rPr>
              <a:t>subplot(2,3,2)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latin typeface="Aptos"/>
                <a:cs typeface="Segoe UI"/>
              </a:rPr>
              <a:t>plot(</a:t>
            </a:r>
            <a:r>
              <a:rPr lang="en-US" sz="1600" err="1">
                <a:latin typeface="Aptos"/>
                <a:cs typeface="Segoe UI"/>
              </a:rPr>
              <a:t>gm_ID</a:t>
            </a:r>
            <a:r>
              <a:rPr lang="en-US" sz="1600" dirty="0">
                <a:latin typeface="Aptos"/>
                <a:cs typeface="Segoe UI"/>
              </a:rPr>
              <a:t>, </a:t>
            </a:r>
            <a:r>
              <a:rPr lang="en-US" sz="1600" err="1">
                <a:latin typeface="Aptos"/>
                <a:cs typeface="Segoe UI"/>
              </a:rPr>
              <a:t>gm_gds</a:t>
            </a:r>
            <a:r>
              <a:rPr lang="en-US" sz="1600" dirty="0">
                <a:latin typeface="Aptos"/>
                <a:cs typeface="Segoe UI"/>
              </a:rPr>
              <a:t>, 'LineWidth',1.5)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err="1">
                <a:latin typeface="Aptos"/>
                <a:cs typeface="Segoe UI"/>
              </a:rPr>
              <a:t>xlabel</a:t>
            </a:r>
            <a:r>
              <a:rPr lang="en-US" sz="1600" dirty="0">
                <a:latin typeface="Aptos"/>
                <a:cs typeface="Segoe UI"/>
              </a:rPr>
              <a:t>('</a:t>
            </a:r>
            <a:r>
              <a:rPr lang="en-US" sz="1600" err="1">
                <a:latin typeface="Aptos"/>
                <a:cs typeface="Segoe UI"/>
              </a:rPr>
              <a:t>g_m</a:t>
            </a:r>
            <a:r>
              <a:rPr lang="en-US" sz="1600" dirty="0">
                <a:latin typeface="Aptos"/>
                <a:cs typeface="Segoe UI"/>
              </a:rPr>
              <a:t>/I_D (1/V)'); </a:t>
            </a:r>
            <a:r>
              <a:rPr lang="en-US" sz="1600" err="1">
                <a:latin typeface="Aptos"/>
                <a:cs typeface="Segoe UI"/>
              </a:rPr>
              <a:t>ylabel</a:t>
            </a:r>
            <a:r>
              <a:rPr lang="en-US" sz="1600" dirty="0">
                <a:latin typeface="Aptos"/>
                <a:cs typeface="Segoe UI"/>
              </a:rPr>
              <a:t>('</a:t>
            </a:r>
            <a:r>
              <a:rPr lang="en-US" sz="1600" err="1">
                <a:latin typeface="Aptos"/>
                <a:cs typeface="Segoe UI"/>
              </a:rPr>
              <a:t>g_m</a:t>
            </a:r>
            <a:r>
              <a:rPr lang="en-US" sz="1600" dirty="0">
                <a:latin typeface="Aptos"/>
                <a:cs typeface="Segoe UI"/>
              </a:rPr>
              <a:t>/g_{ds}');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latin typeface="Aptos"/>
                <a:cs typeface="Segoe UI"/>
              </a:rPr>
              <a:t>title('Intrinsic Gain vs </a:t>
            </a:r>
            <a:r>
              <a:rPr lang="en-US" sz="1600" err="1">
                <a:latin typeface="Aptos"/>
                <a:cs typeface="Segoe UI"/>
              </a:rPr>
              <a:t>g_m</a:t>
            </a:r>
            <a:r>
              <a:rPr lang="en-US" sz="1600" dirty="0">
                <a:latin typeface="Aptos"/>
                <a:cs typeface="Segoe UI"/>
              </a:rPr>
              <a:t>/I_D'); grid on;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b="1" dirty="0">
                <a:latin typeface="Aptos"/>
                <a:cs typeface="Segoe UI"/>
              </a:rPr>
              <a:t>% 3. </a:t>
            </a:r>
            <a:r>
              <a:rPr lang="en-US" sz="1600" b="1" err="1">
                <a:latin typeface="Aptos"/>
                <a:cs typeface="Segoe UI"/>
              </a:rPr>
              <a:t>fT</a:t>
            </a:r>
            <a:r>
              <a:rPr lang="en-US" sz="1600" b="1" dirty="0">
                <a:latin typeface="Aptos"/>
                <a:cs typeface="Segoe UI"/>
              </a:rPr>
              <a:t> vs gm/ID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latin typeface="Aptos"/>
                <a:cs typeface="Segoe UI"/>
              </a:rPr>
              <a:t>subplot(2,3,3)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latin typeface="Aptos"/>
                <a:cs typeface="Segoe UI"/>
              </a:rPr>
              <a:t>plot(</a:t>
            </a:r>
            <a:r>
              <a:rPr lang="en-US" sz="1600" err="1">
                <a:latin typeface="Aptos"/>
                <a:cs typeface="Segoe UI"/>
              </a:rPr>
              <a:t>gm_ID</a:t>
            </a:r>
            <a:r>
              <a:rPr lang="en-US" sz="1600" dirty="0">
                <a:latin typeface="Aptos"/>
                <a:cs typeface="Segoe UI"/>
              </a:rPr>
              <a:t>, ft, 'LineWidth',1.5)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err="1">
                <a:latin typeface="Aptos"/>
                <a:cs typeface="Segoe UI"/>
              </a:rPr>
              <a:t>xlabel</a:t>
            </a:r>
            <a:r>
              <a:rPr lang="en-US" sz="1600" dirty="0">
                <a:latin typeface="Aptos"/>
                <a:cs typeface="Segoe UI"/>
              </a:rPr>
              <a:t>('</a:t>
            </a:r>
            <a:r>
              <a:rPr lang="en-US" sz="1600" err="1">
                <a:latin typeface="Aptos"/>
                <a:cs typeface="Segoe UI"/>
              </a:rPr>
              <a:t>g_m</a:t>
            </a:r>
            <a:r>
              <a:rPr lang="en-US" sz="1600" dirty="0">
                <a:latin typeface="Aptos"/>
                <a:cs typeface="Segoe UI"/>
              </a:rPr>
              <a:t>/I_D (1/V)'); </a:t>
            </a:r>
            <a:r>
              <a:rPr lang="en-US" sz="1600" err="1">
                <a:latin typeface="Aptos"/>
                <a:cs typeface="Segoe UI"/>
              </a:rPr>
              <a:t>ylabel</a:t>
            </a:r>
            <a:r>
              <a:rPr lang="en-US" sz="1600" dirty="0">
                <a:latin typeface="Aptos"/>
                <a:cs typeface="Segoe UI"/>
              </a:rPr>
              <a:t>('</a:t>
            </a:r>
            <a:r>
              <a:rPr lang="en-US" sz="1600" err="1">
                <a:latin typeface="Aptos"/>
                <a:cs typeface="Segoe UI"/>
              </a:rPr>
              <a:t>f_T</a:t>
            </a:r>
            <a:r>
              <a:rPr lang="en-US" sz="1600" dirty="0">
                <a:latin typeface="Aptos"/>
                <a:cs typeface="Segoe UI"/>
              </a:rPr>
              <a:t> (Hz)');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latin typeface="Aptos"/>
                <a:cs typeface="Segoe UI"/>
              </a:rPr>
              <a:t>title('</a:t>
            </a:r>
            <a:r>
              <a:rPr lang="en-US" sz="1600" dirty="0" err="1">
                <a:latin typeface="Aptos"/>
                <a:cs typeface="Segoe UI"/>
              </a:rPr>
              <a:t>f_T</a:t>
            </a:r>
            <a:r>
              <a:rPr lang="en-US" sz="1600" dirty="0">
                <a:latin typeface="Aptos"/>
                <a:cs typeface="Segoe UI"/>
              </a:rPr>
              <a:t> vs </a:t>
            </a:r>
            <a:r>
              <a:rPr lang="en-US" sz="1600" dirty="0" err="1">
                <a:latin typeface="Aptos"/>
                <a:cs typeface="Segoe UI"/>
              </a:rPr>
              <a:t>g_m</a:t>
            </a:r>
            <a:r>
              <a:rPr lang="en-US" sz="1600" dirty="0">
                <a:latin typeface="Aptos"/>
                <a:cs typeface="Segoe UI"/>
              </a:rPr>
              <a:t>/I_D'); grid on;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676796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5E426-8C01-2C82-1936-6EB40EA9D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2032"/>
            <a:ext cx="4342109" cy="4441744"/>
          </a:xfrm>
          <a:ln>
            <a:solidFill>
              <a:srgbClr val="4472C4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ea typeface="+mn-lt"/>
                <a:cs typeface="+mn-lt"/>
              </a:rPr>
              <a:t>% 4. </a:t>
            </a:r>
            <a:r>
              <a:rPr lang="en-US" sz="1600" b="1" err="1">
                <a:ea typeface="+mn-lt"/>
                <a:cs typeface="+mn-lt"/>
              </a:rPr>
              <a:t>fT</a:t>
            </a:r>
            <a:r>
              <a:rPr lang="en-US" sz="1600" b="1" dirty="0">
                <a:ea typeface="+mn-lt"/>
                <a:cs typeface="+mn-lt"/>
              </a:rPr>
              <a:t>*(gm/ID) vs gm/ID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subplot(2,3,4)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plot(</a:t>
            </a:r>
            <a:r>
              <a:rPr lang="en-US" sz="1600" dirty="0" err="1">
                <a:ea typeface="+mn-lt"/>
                <a:cs typeface="+mn-lt"/>
              </a:rPr>
              <a:t>gm_ID</a:t>
            </a:r>
            <a:r>
              <a:rPr lang="en-US" sz="1600" dirty="0">
                <a:ea typeface="+mn-lt"/>
                <a:cs typeface="+mn-lt"/>
              </a:rPr>
              <a:t>, ft.*</a:t>
            </a:r>
            <a:r>
              <a:rPr lang="en-US" sz="1600" dirty="0" err="1">
                <a:ea typeface="+mn-lt"/>
                <a:cs typeface="+mn-lt"/>
              </a:rPr>
              <a:t>gm_ID</a:t>
            </a:r>
            <a:r>
              <a:rPr lang="en-US" sz="1600" dirty="0">
                <a:ea typeface="+mn-lt"/>
                <a:cs typeface="+mn-lt"/>
              </a:rPr>
              <a:t>, 'LineWidth',1.5)</a:t>
            </a:r>
            <a:endParaRPr lang="en-US" sz="1600"/>
          </a:p>
          <a:p>
            <a:pPr marL="0" indent="0">
              <a:buNone/>
            </a:pPr>
            <a:r>
              <a:rPr lang="en-US" sz="1600" err="1">
                <a:ea typeface="+mn-lt"/>
                <a:cs typeface="+mn-lt"/>
              </a:rPr>
              <a:t>xlabel</a:t>
            </a:r>
            <a:r>
              <a:rPr lang="en-US" sz="1600" dirty="0">
                <a:ea typeface="+mn-lt"/>
                <a:cs typeface="+mn-lt"/>
              </a:rPr>
              <a:t>('</a:t>
            </a:r>
            <a:r>
              <a:rPr lang="en-US" sz="1600" err="1">
                <a:ea typeface="+mn-lt"/>
                <a:cs typeface="+mn-lt"/>
              </a:rPr>
              <a:t>g_m</a:t>
            </a:r>
            <a:r>
              <a:rPr lang="en-US" sz="1600" dirty="0">
                <a:ea typeface="+mn-lt"/>
                <a:cs typeface="+mn-lt"/>
              </a:rPr>
              <a:t>/I_D (1/V)'); </a:t>
            </a:r>
            <a:endParaRPr lang="en-US" sz="16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dirty="0" err="1">
                <a:ea typeface="+mn-lt"/>
                <a:cs typeface="+mn-lt"/>
              </a:rPr>
              <a:t>ylabel</a:t>
            </a:r>
            <a:r>
              <a:rPr lang="en-US" sz="1600" dirty="0">
                <a:ea typeface="+mn-lt"/>
                <a:cs typeface="+mn-lt"/>
              </a:rPr>
              <a:t>('</a:t>
            </a:r>
            <a:r>
              <a:rPr lang="en-US" sz="1600" dirty="0" err="1">
                <a:ea typeface="+mn-lt"/>
                <a:cs typeface="+mn-lt"/>
              </a:rPr>
              <a:t>f_T</a:t>
            </a:r>
            <a:r>
              <a:rPr lang="en-US" sz="1600" dirty="0">
                <a:ea typeface="+mn-lt"/>
                <a:cs typeface="+mn-lt"/>
              </a:rPr>
              <a:t> \times (</a:t>
            </a:r>
            <a:r>
              <a:rPr lang="en-US" sz="1600" dirty="0" err="1">
                <a:ea typeface="+mn-lt"/>
                <a:cs typeface="+mn-lt"/>
              </a:rPr>
              <a:t>g_m</a:t>
            </a:r>
            <a:r>
              <a:rPr lang="en-US" sz="1600" dirty="0">
                <a:ea typeface="+mn-lt"/>
                <a:cs typeface="+mn-lt"/>
              </a:rPr>
              <a:t>/I_D)');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title('</a:t>
            </a:r>
            <a:r>
              <a:rPr lang="en-US" sz="1600" err="1">
                <a:ea typeface="+mn-lt"/>
                <a:cs typeface="+mn-lt"/>
              </a:rPr>
              <a:t>f_T</a:t>
            </a:r>
            <a:r>
              <a:rPr lang="en-US" sz="1600" dirty="0">
                <a:ea typeface="+mn-lt"/>
                <a:cs typeface="+mn-lt"/>
              </a:rPr>
              <a:t> \times (</a:t>
            </a:r>
            <a:r>
              <a:rPr lang="en-US" sz="1600" err="1">
                <a:ea typeface="+mn-lt"/>
                <a:cs typeface="+mn-lt"/>
              </a:rPr>
              <a:t>g_m</a:t>
            </a:r>
            <a:r>
              <a:rPr lang="en-US" sz="1600" dirty="0">
                <a:ea typeface="+mn-lt"/>
                <a:cs typeface="+mn-lt"/>
              </a:rPr>
              <a:t>/I_D) vs </a:t>
            </a:r>
            <a:r>
              <a:rPr lang="en-US" sz="1600" err="1">
                <a:ea typeface="+mn-lt"/>
                <a:cs typeface="+mn-lt"/>
              </a:rPr>
              <a:t>g_m</a:t>
            </a:r>
            <a:r>
              <a:rPr lang="en-US" sz="1600" dirty="0">
                <a:ea typeface="+mn-lt"/>
                <a:cs typeface="+mn-lt"/>
              </a:rPr>
              <a:t>/I_D');grid on;</a:t>
            </a:r>
            <a:endParaRPr lang="en-US" sz="1600"/>
          </a:p>
          <a:p>
            <a:pPr marL="0" indent="0"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/>
              <a:t>% 5. ID/W vs gm/ID 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subplot(2,3,5) 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plot(</a:t>
            </a:r>
            <a:r>
              <a:rPr lang="en-US" sz="1600" err="1">
                <a:ea typeface="+mn-lt"/>
                <a:cs typeface="+mn-lt"/>
              </a:rPr>
              <a:t>gm_ID</a:t>
            </a:r>
            <a:r>
              <a:rPr lang="en-US" sz="1600" dirty="0">
                <a:ea typeface="+mn-lt"/>
                <a:cs typeface="+mn-lt"/>
              </a:rPr>
              <a:t>, ID_W, 'LineWidth',1.5) </a:t>
            </a:r>
          </a:p>
          <a:p>
            <a:pPr marL="0" indent="0">
              <a:buNone/>
            </a:pPr>
            <a:r>
              <a:rPr lang="en-US" sz="1600" err="1">
                <a:ea typeface="+mn-lt"/>
                <a:cs typeface="+mn-lt"/>
              </a:rPr>
              <a:t>xlabel</a:t>
            </a:r>
            <a:r>
              <a:rPr lang="en-US" sz="1600" dirty="0">
                <a:ea typeface="+mn-lt"/>
                <a:cs typeface="+mn-lt"/>
              </a:rPr>
              <a:t>('</a:t>
            </a:r>
            <a:r>
              <a:rPr lang="en-US" sz="1600" err="1">
                <a:ea typeface="+mn-lt"/>
                <a:cs typeface="+mn-lt"/>
              </a:rPr>
              <a:t>g_m</a:t>
            </a:r>
            <a:r>
              <a:rPr lang="en-US" sz="1600" dirty="0">
                <a:ea typeface="+mn-lt"/>
                <a:cs typeface="+mn-lt"/>
              </a:rPr>
              <a:t>/I_D (1/V)'); </a:t>
            </a:r>
          </a:p>
          <a:p>
            <a:pPr marL="0" indent="0">
              <a:buNone/>
            </a:pPr>
            <a:r>
              <a:rPr lang="en-US" sz="1600" err="1">
                <a:ea typeface="+mn-lt"/>
                <a:cs typeface="+mn-lt"/>
              </a:rPr>
              <a:t>ylabel</a:t>
            </a:r>
            <a:r>
              <a:rPr lang="en-US" sz="1600" dirty="0">
                <a:ea typeface="+mn-lt"/>
                <a:cs typeface="+mn-lt"/>
              </a:rPr>
              <a:t>('I_D/W (A/m)'); 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title('I_D/W vs </a:t>
            </a:r>
            <a:r>
              <a:rPr lang="en-US" sz="1600" err="1">
                <a:ea typeface="+mn-lt"/>
                <a:cs typeface="+mn-lt"/>
              </a:rPr>
              <a:t>g_m</a:t>
            </a:r>
            <a:r>
              <a:rPr lang="en-US" sz="1600" dirty="0">
                <a:ea typeface="+mn-lt"/>
                <a:cs typeface="+mn-lt"/>
              </a:rPr>
              <a:t>/I_D'); grid on;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E8F430-5724-A29B-0394-6493C8624E93}"/>
              </a:ext>
            </a:extLst>
          </p:cNvPr>
          <p:cNvSpPr txBox="1">
            <a:spLocks/>
          </p:cNvSpPr>
          <p:nvPr/>
        </p:nvSpPr>
        <p:spPr>
          <a:xfrm>
            <a:off x="5872566" y="389449"/>
            <a:ext cx="4342109" cy="4131778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ea typeface="+mn-lt"/>
                <a:cs typeface="+mn-lt"/>
              </a:rPr>
              <a:t>figure(2);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subplot(1,2,1)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plot(</a:t>
            </a:r>
            <a:r>
              <a:rPr lang="en-US" sz="1600" dirty="0" err="1">
                <a:ea typeface="+mn-lt"/>
                <a:cs typeface="+mn-lt"/>
              </a:rPr>
              <a:t>Vov</a:t>
            </a:r>
            <a:r>
              <a:rPr lang="en-US" sz="1600" dirty="0">
                <a:ea typeface="+mn-lt"/>
                <a:cs typeface="+mn-lt"/>
              </a:rPr>
              <a:t>, ID, 'LineWidth',1.5)</a:t>
            </a:r>
          </a:p>
          <a:p>
            <a:pPr marL="0" indent="0">
              <a:buNone/>
            </a:pPr>
            <a:r>
              <a:rPr lang="en-US" sz="1600" dirty="0" err="1">
                <a:ea typeface="+mn-lt"/>
                <a:cs typeface="+mn-lt"/>
              </a:rPr>
              <a:t>xlabel</a:t>
            </a:r>
            <a:r>
              <a:rPr lang="en-US" sz="1600" dirty="0">
                <a:ea typeface="+mn-lt"/>
                <a:cs typeface="+mn-lt"/>
              </a:rPr>
              <a:t>('V_{OV} (V)'); </a:t>
            </a:r>
            <a:r>
              <a:rPr lang="en-US" sz="1600" dirty="0" err="1">
                <a:ea typeface="+mn-lt"/>
                <a:cs typeface="+mn-lt"/>
              </a:rPr>
              <a:t>ylabel</a:t>
            </a:r>
            <a:r>
              <a:rPr lang="en-US" sz="1600" dirty="0">
                <a:ea typeface="+mn-lt"/>
                <a:cs typeface="+mn-lt"/>
              </a:rPr>
              <a:t>('I_D (A)');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title('I_D vs V_{OV}'); grid on;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subplot(1,2,2)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plot(</a:t>
            </a:r>
            <a:r>
              <a:rPr lang="en-US" sz="1600" dirty="0" err="1">
                <a:ea typeface="+mn-lt"/>
                <a:cs typeface="+mn-lt"/>
              </a:rPr>
              <a:t>Vov</a:t>
            </a:r>
            <a:r>
              <a:rPr lang="en-US" sz="1600" dirty="0">
                <a:ea typeface="+mn-lt"/>
                <a:cs typeface="+mn-lt"/>
              </a:rPr>
              <a:t>, gm, 'LineWidth',1.5)</a:t>
            </a:r>
          </a:p>
          <a:p>
            <a:pPr marL="0" indent="0">
              <a:buNone/>
            </a:pPr>
            <a:r>
              <a:rPr lang="en-US" sz="1600" dirty="0" err="1">
                <a:ea typeface="+mn-lt"/>
                <a:cs typeface="+mn-lt"/>
              </a:rPr>
              <a:t>xlabel</a:t>
            </a:r>
            <a:r>
              <a:rPr lang="en-US" sz="1600" dirty="0">
                <a:ea typeface="+mn-lt"/>
                <a:cs typeface="+mn-lt"/>
              </a:rPr>
              <a:t>('V_{OV} (V)'); </a:t>
            </a:r>
            <a:r>
              <a:rPr lang="en-US" sz="1600" dirty="0" err="1">
                <a:ea typeface="+mn-lt"/>
                <a:cs typeface="+mn-lt"/>
              </a:rPr>
              <a:t>ylabel</a:t>
            </a:r>
            <a:r>
              <a:rPr lang="en-US" sz="1600" dirty="0">
                <a:ea typeface="+mn-lt"/>
                <a:cs typeface="+mn-lt"/>
              </a:rPr>
              <a:t>('</a:t>
            </a:r>
            <a:r>
              <a:rPr lang="en-US" sz="1600" dirty="0" err="1">
                <a:ea typeface="+mn-lt"/>
                <a:cs typeface="+mn-lt"/>
              </a:rPr>
              <a:t>g_m</a:t>
            </a:r>
            <a:r>
              <a:rPr lang="en-US" sz="1600" dirty="0">
                <a:ea typeface="+mn-lt"/>
                <a:cs typeface="+mn-lt"/>
              </a:rPr>
              <a:t> (S)');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title('</a:t>
            </a:r>
            <a:r>
              <a:rPr lang="en-US" sz="1600" dirty="0" err="1">
                <a:ea typeface="+mn-lt"/>
                <a:cs typeface="+mn-lt"/>
              </a:rPr>
              <a:t>g_m</a:t>
            </a:r>
            <a:r>
              <a:rPr lang="en-US" sz="1600" dirty="0">
                <a:ea typeface="+mn-lt"/>
                <a:cs typeface="+mn-lt"/>
              </a:rPr>
              <a:t> vs V_{OV}'); grid on;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32405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1304C-B8C9-6F35-BD33-90755ED73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9524"/>
            <a:ext cx="10515600" cy="5707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Results: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9B5BC4-1110-0D23-A243-3718D581B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87" y="1045871"/>
            <a:ext cx="7012986" cy="3655548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D1754531-4293-0860-9757-8FB10A86C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868" y="2978126"/>
            <a:ext cx="6570453" cy="3446539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4111657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EC99-9E62-4668-254A-801DC876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r>
              <a:rPr lang="en-US" dirty="0"/>
              <a:t>Parametric </a:t>
            </a:r>
            <a:r>
              <a:rPr lang="en-US"/>
              <a:t>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A9FA2-7D2E-34CA-92BA-B919E022C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1964"/>
            <a:ext cx="10515600" cy="51649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Run Parametric analysis, get all the graphs of gm, ID, </a:t>
            </a:r>
            <a:r>
              <a:rPr lang="en-US" sz="2400" dirty="0" err="1"/>
              <a:t>cgg</a:t>
            </a:r>
            <a:r>
              <a:rPr lang="en-US" sz="2400" dirty="0"/>
              <a:t>, </a:t>
            </a:r>
            <a:r>
              <a:rPr lang="en-US" sz="2400" dirty="0" err="1"/>
              <a:t>Vgs</a:t>
            </a:r>
            <a:r>
              <a:rPr lang="en-US" sz="2400" dirty="0"/>
              <a:t>, Vth, </a:t>
            </a:r>
            <a:r>
              <a:rPr lang="en-US" sz="2400" dirty="0" err="1"/>
              <a:t>gds</a:t>
            </a:r>
            <a:r>
              <a:rPr lang="en-US" sz="2400" dirty="0"/>
              <a:t> w.r.t varying lengths. </a:t>
            </a:r>
          </a:p>
          <a:p>
            <a:r>
              <a:rPr lang="en-US" sz="2400" dirty="0"/>
              <a:t>Append each graph as shown below &gt; Export them each as .csv files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D634B4-D9EE-B293-884B-5BA798F0C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616" y="2540241"/>
            <a:ext cx="4655465" cy="3301947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40D81F-EF03-E345-B38C-0D98DA85F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432" y="2457854"/>
            <a:ext cx="4171305" cy="3479209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1170318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0FF73-F9CF-4F0D-E417-25068DAA4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4507"/>
            <a:ext cx="10515600" cy="55524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Transfer the files to Windows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Location of the .csv files should be in the same folder as the </a:t>
            </a:r>
            <a:r>
              <a:rPr lang="en-US" dirty="0" err="1"/>
              <a:t>matlab</a:t>
            </a:r>
            <a:r>
              <a:rPr lang="en-US" dirty="0"/>
              <a:t> code file </a:t>
            </a:r>
            <a:r>
              <a:rPr lang="en-US" b="1" dirty="0"/>
              <a:t>"</a:t>
            </a:r>
            <a:r>
              <a:rPr lang="en-US" b="1" dirty="0" err="1">
                <a:ea typeface="+mn-lt"/>
                <a:cs typeface="+mn-lt"/>
              </a:rPr>
              <a:t>nmos_matlab_parametric_analysis.m</a:t>
            </a:r>
            <a:r>
              <a:rPr lang="en-US" b="1" dirty="0">
                <a:ea typeface="+mn-lt"/>
                <a:cs typeface="+mn-lt"/>
              </a:rPr>
              <a:t>" </a:t>
            </a:r>
          </a:p>
          <a:p>
            <a:r>
              <a:rPr lang="en-US" sz="2400" dirty="0"/>
              <a:t>In the .m file, import these .csv files :</a:t>
            </a:r>
          </a:p>
          <a:p>
            <a:endParaRPr lang="en-US" sz="2400" dirty="0"/>
          </a:p>
        </p:txBody>
      </p: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80D7F32-0CDF-3540-8093-CFB80F14C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737" y="1969487"/>
            <a:ext cx="4308475" cy="2108200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A4BDB0-FDAF-6E5F-020D-BFE7E2514C48}"/>
              </a:ext>
            </a:extLst>
          </p:cNvPr>
          <p:cNvSpPr txBox="1">
            <a:spLocks/>
          </p:cNvSpPr>
          <p:nvPr/>
        </p:nvSpPr>
        <p:spPr>
          <a:xfrm>
            <a:off x="1473200" y="2369143"/>
            <a:ext cx="4422399" cy="3436937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600">
                <a:ea typeface="+mn-lt"/>
                <a:cs typeface="+mn-lt"/>
              </a:rPr>
              <a:t>W = 10e-6;            % transistor width</a:t>
            </a:r>
            <a:endParaRPr lang="en-US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% ---- Read all parameter CSV files ----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600" dirty="0" err="1">
                <a:ea typeface="+mn-lt"/>
                <a:cs typeface="+mn-lt"/>
              </a:rPr>
              <a:t>ID_data</a:t>
            </a:r>
            <a:r>
              <a:rPr lang="en-US" sz="1600" dirty="0">
                <a:ea typeface="+mn-lt"/>
                <a:cs typeface="+mn-lt"/>
              </a:rPr>
              <a:t>   = </a:t>
            </a:r>
            <a:r>
              <a:rPr lang="en-US" sz="1600" dirty="0" err="1">
                <a:ea typeface="+mn-lt"/>
                <a:cs typeface="+mn-lt"/>
              </a:rPr>
              <a:t>readtable</a:t>
            </a:r>
            <a:r>
              <a:rPr lang="en-US" sz="1600" dirty="0">
                <a:ea typeface="+mn-lt"/>
                <a:cs typeface="+mn-lt"/>
              </a:rPr>
              <a:t>('ID_param_matlab.csv');</a:t>
            </a:r>
            <a:endParaRPr lang="en-US" dirty="0"/>
          </a:p>
          <a:p>
            <a:pPr>
              <a:buNone/>
            </a:pPr>
            <a:r>
              <a:rPr lang="en-US" sz="1600" dirty="0" err="1">
                <a:ea typeface="+mn-lt"/>
                <a:cs typeface="+mn-lt"/>
              </a:rPr>
              <a:t>gm_data</a:t>
            </a:r>
            <a:r>
              <a:rPr lang="en-US" sz="1600" dirty="0">
                <a:ea typeface="+mn-lt"/>
                <a:cs typeface="+mn-lt"/>
              </a:rPr>
              <a:t>   = </a:t>
            </a:r>
            <a:r>
              <a:rPr lang="en-US" sz="1600" dirty="0" err="1">
                <a:ea typeface="+mn-lt"/>
                <a:cs typeface="+mn-lt"/>
              </a:rPr>
              <a:t>readtable</a:t>
            </a:r>
            <a:r>
              <a:rPr lang="en-US" sz="1600" dirty="0">
                <a:ea typeface="+mn-lt"/>
                <a:cs typeface="+mn-lt"/>
              </a:rPr>
              <a:t>('gm_param_matlab.csv');</a:t>
            </a:r>
            <a:endParaRPr lang="en-US" dirty="0"/>
          </a:p>
          <a:p>
            <a:pPr>
              <a:buNone/>
            </a:pPr>
            <a:r>
              <a:rPr lang="en-US" sz="1600" dirty="0" err="1">
                <a:ea typeface="+mn-lt"/>
                <a:cs typeface="+mn-lt"/>
              </a:rPr>
              <a:t>gds_data</a:t>
            </a:r>
            <a:r>
              <a:rPr lang="en-US" sz="1600" dirty="0">
                <a:ea typeface="+mn-lt"/>
                <a:cs typeface="+mn-lt"/>
              </a:rPr>
              <a:t>  = </a:t>
            </a:r>
            <a:r>
              <a:rPr lang="en-US" sz="1600" dirty="0" err="1">
                <a:ea typeface="+mn-lt"/>
                <a:cs typeface="+mn-lt"/>
              </a:rPr>
              <a:t>readtable</a:t>
            </a:r>
            <a:r>
              <a:rPr lang="en-US" sz="1600" dirty="0">
                <a:ea typeface="+mn-lt"/>
                <a:cs typeface="+mn-lt"/>
              </a:rPr>
              <a:t>('gds_param_matlab.csv');</a:t>
            </a:r>
            <a:endParaRPr lang="en-US" dirty="0"/>
          </a:p>
          <a:p>
            <a:pPr>
              <a:buNone/>
            </a:pPr>
            <a:r>
              <a:rPr lang="en-US" sz="1600" dirty="0" err="1">
                <a:ea typeface="+mn-lt"/>
                <a:cs typeface="+mn-lt"/>
              </a:rPr>
              <a:t>Vgs_data</a:t>
            </a:r>
            <a:r>
              <a:rPr lang="en-US" sz="1600" dirty="0">
                <a:ea typeface="+mn-lt"/>
                <a:cs typeface="+mn-lt"/>
              </a:rPr>
              <a:t>  = </a:t>
            </a:r>
            <a:r>
              <a:rPr lang="en-US" sz="1600" dirty="0" err="1">
                <a:ea typeface="+mn-lt"/>
                <a:cs typeface="+mn-lt"/>
              </a:rPr>
              <a:t>readtable</a:t>
            </a:r>
            <a:r>
              <a:rPr lang="en-US" sz="1600" dirty="0">
                <a:ea typeface="+mn-lt"/>
                <a:cs typeface="+mn-lt"/>
              </a:rPr>
              <a:t>('Vgs_param_matlab.csv');</a:t>
            </a:r>
            <a:endParaRPr lang="en-US" dirty="0"/>
          </a:p>
          <a:p>
            <a:pPr>
              <a:buNone/>
            </a:pPr>
            <a:r>
              <a:rPr lang="en-US" sz="1600" dirty="0" err="1">
                <a:ea typeface="+mn-lt"/>
                <a:cs typeface="+mn-lt"/>
              </a:rPr>
              <a:t>Vth_data</a:t>
            </a:r>
            <a:r>
              <a:rPr lang="en-US" sz="1600" dirty="0">
                <a:ea typeface="+mn-lt"/>
                <a:cs typeface="+mn-lt"/>
              </a:rPr>
              <a:t>  = </a:t>
            </a:r>
            <a:r>
              <a:rPr lang="en-US" sz="1600" dirty="0" err="1">
                <a:ea typeface="+mn-lt"/>
                <a:cs typeface="+mn-lt"/>
              </a:rPr>
              <a:t>readtable</a:t>
            </a:r>
            <a:r>
              <a:rPr lang="en-US" sz="1600" dirty="0">
                <a:ea typeface="+mn-lt"/>
                <a:cs typeface="+mn-lt"/>
              </a:rPr>
              <a:t>('Vth_param_matlab.csv');</a:t>
            </a:r>
            <a:endParaRPr lang="en-US" dirty="0"/>
          </a:p>
          <a:p>
            <a:pPr>
              <a:buNone/>
            </a:pPr>
            <a:r>
              <a:rPr lang="en-US" sz="1600" dirty="0" err="1">
                <a:ea typeface="+mn-lt"/>
                <a:cs typeface="+mn-lt"/>
              </a:rPr>
              <a:t>ft_data</a:t>
            </a:r>
            <a:r>
              <a:rPr lang="en-US" sz="1600" dirty="0">
                <a:ea typeface="+mn-lt"/>
                <a:cs typeface="+mn-lt"/>
              </a:rPr>
              <a:t>   = </a:t>
            </a:r>
            <a:r>
              <a:rPr lang="en-US" sz="1600" dirty="0" err="1">
                <a:ea typeface="+mn-lt"/>
                <a:cs typeface="+mn-lt"/>
              </a:rPr>
              <a:t>readtable</a:t>
            </a:r>
            <a:r>
              <a:rPr lang="en-US" sz="1600" dirty="0">
                <a:ea typeface="+mn-lt"/>
                <a:cs typeface="+mn-lt"/>
              </a:rPr>
              <a:t>('ft_param_matlab.csv');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dirty="0" err="1">
                <a:ea typeface="+mn-lt"/>
                <a:cs typeface="+mn-lt"/>
              </a:rPr>
              <a:t>cgg_data</a:t>
            </a:r>
            <a:r>
              <a:rPr lang="en-US" sz="1600" dirty="0">
                <a:ea typeface="+mn-lt"/>
                <a:cs typeface="+mn-lt"/>
              </a:rPr>
              <a:t>  = </a:t>
            </a:r>
            <a:r>
              <a:rPr lang="en-US" sz="1600" dirty="0" err="1">
                <a:ea typeface="+mn-lt"/>
                <a:cs typeface="+mn-lt"/>
              </a:rPr>
              <a:t>readtable</a:t>
            </a:r>
            <a:r>
              <a:rPr lang="en-US" sz="1600" dirty="0">
                <a:ea typeface="+mn-lt"/>
                <a:cs typeface="+mn-lt"/>
              </a:rPr>
              <a:t>('cgg_param_matlab.csv');</a:t>
            </a:r>
            <a:endParaRPr lang="en-US" dirty="0"/>
          </a:p>
          <a:p>
            <a:pPr marL="0" indent="0">
              <a:buNone/>
            </a:pPr>
            <a:endParaRPr lang="en-US" sz="16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9780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34E2-C78A-1B86-0D89-EBF4E4463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3693"/>
            <a:ext cx="4910380" cy="6146558"/>
          </a:xfrm>
          <a:ln>
            <a:solidFill>
              <a:srgbClr val="4472C4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% Extract channel length names from (any) table</a:t>
            </a:r>
            <a:endParaRPr lang="en-US" sz="1600"/>
          </a:p>
          <a:p>
            <a:pPr marL="0" indent="0">
              <a:buNone/>
            </a:pPr>
            <a:r>
              <a:rPr lang="en-US" sz="1600" err="1">
                <a:ea typeface="+mn-lt"/>
                <a:cs typeface="+mn-lt"/>
              </a:rPr>
              <a:t>Lvec_ID</a:t>
            </a:r>
            <a:r>
              <a:rPr lang="en-US" sz="1600" dirty="0">
                <a:ea typeface="+mn-lt"/>
                <a:cs typeface="+mn-lt"/>
              </a:rPr>
              <a:t>   = </a:t>
            </a:r>
            <a:r>
              <a:rPr lang="en-US" sz="1600" err="1">
                <a:ea typeface="+mn-lt"/>
                <a:cs typeface="+mn-lt"/>
              </a:rPr>
              <a:t>ID_data.Properties.VariableNames</a:t>
            </a:r>
            <a:r>
              <a:rPr lang="en-US" sz="1600" dirty="0">
                <a:ea typeface="+mn-lt"/>
                <a:cs typeface="+mn-lt"/>
              </a:rPr>
              <a:t>(2:end);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% first common column is Vgs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    </a:t>
            </a:r>
            <a:r>
              <a:rPr lang="en-US" sz="1600" err="1">
                <a:ea typeface="+mn-lt"/>
                <a:cs typeface="+mn-lt"/>
              </a:rPr>
              <a:t>Vgs</a:t>
            </a:r>
            <a:r>
              <a:rPr lang="en-US" sz="1600" dirty="0">
                <a:ea typeface="+mn-lt"/>
                <a:cs typeface="+mn-lt"/>
              </a:rPr>
              <a:t> = </a:t>
            </a:r>
            <a:r>
              <a:rPr lang="en-US" sz="1600" err="1">
                <a:ea typeface="+mn-lt"/>
                <a:cs typeface="+mn-lt"/>
              </a:rPr>
              <a:t>ID_data</a:t>
            </a:r>
            <a:r>
              <a:rPr lang="en-US" sz="1600" dirty="0">
                <a:ea typeface="+mn-lt"/>
                <a:cs typeface="+mn-lt"/>
              </a:rPr>
              <a:t>{:,1};   % </a:t>
            </a:r>
            <a:r>
              <a:rPr lang="en-US" sz="1600" err="1">
                <a:ea typeface="+mn-lt"/>
                <a:cs typeface="+mn-lt"/>
              </a:rPr>
              <a:t>Vgs</a:t>
            </a:r>
            <a:r>
              <a:rPr lang="en-US" sz="1600" dirty="0">
                <a:ea typeface="+mn-lt"/>
                <a:cs typeface="+mn-lt"/>
              </a:rPr>
              <a:t> column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% gm/ID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    </a:t>
            </a:r>
            <a:r>
              <a:rPr lang="en-US" sz="1600" err="1">
                <a:ea typeface="+mn-lt"/>
                <a:cs typeface="+mn-lt"/>
              </a:rPr>
              <a:t>gm_ID</a:t>
            </a:r>
            <a:r>
              <a:rPr lang="en-US" sz="1600" dirty="0">
                <a:ea typeface="+mn-lt"/>
                <a:cs typeface="+mn-lt"/>
              </a:rPr>
              <a:t> = </a:t>
            </a:r>
            <a:r>
              <a:rPr lang="en-US" sz="1600" err="1">
                <a:ea typeface="+mn-lt"/>
                <a:cs typeface="+mn-lt"/>
              </a:rPr>
              <a:t>gm_data</a:t>
            </a:r>
            <a:r>
              <a:rPr lang="en-US" sz="1600" dirty="0">
                <a:ea typeface="+mn-lt"/>
                <a:cs typeface="+mn-lt"/>
              </a:rPr>
              <a:t>{:,2:end} ./ </a:t>
            </a:r>
            <a:r>
              <a:rPr lang="en-US" sz="1600" err="1">
                <a:ea typeface="+mn-lt"/>
                <a:cs typeface="+mn-lt"/>
              </a:rPr>
              <a:t>ID_data</a:t>
            </a:r>
            <a:r>
              <a:rPr lang="en-US" sz="1600" dirty="0">
                <a:ea typeface="+mn-lt"/>
                <a:cs typeface="+mn-lt"/>
              </a:rPr>
              <a:t>{:,2:end};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% gm/</a:t>
            </a:r>
            <a:r>
              <a:rPr lang="en-US" sz="1600" err="1">
                <a:ea typeface="+mn-lt"/>
                <a:cs typeface="+mn-lt"/>
              </a:rPr>
              <a:t>gds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    </a:t>
            </a:r>
            <a:r>
              <a:rPr lang="en-US" sz="1600" err="1">
                <a:ea typeface="+mn-lt"/>
                <a:cs typeface="+mn-lt"/>
              </a:rPr>
              <a:t>gm_gds</a:t>
            </a:r>
            <a:r>
              <a:rPr lang="en-US" sz="1600" dirty="0">
                <a:ea typeface="+mn-lt"/>
                <a:cs typeface="+mn-lt"/>
              </a:rPr>
              <a:t> = </a:t>
            </a:r>
            <a:r>
              <a:rPr lang="en-US" sz="1600" err="1">
                <a:ea typeface="+mn-lt"/>
                <a:cs typeface="+mn-lt"/>
              </a:rPr>
              <a:t>gm_data</a:t>
            </a:r>
            <a:r>
              <a:rPr lang="en-US" sz="1600" dirty="0">
                <a:ea typeface="+mn-lt"/>
                <a:cs typeface="+mn-lt"/>
              </a:rPr>
              <a:t>{:,2:end} ./ </a:t>
            </a:r>
            <a:r>
              <a:rPr lang="en-US" sz="1600" err="1">
                <a:ea typeface="+mn-lt"/>
                <a:cs typeface="+mn-lt"/>
              </a:rPr>
              <a:t>gds_data</a:t>
            </a:r>
            <a:r>
              <a:rPr lang="en-US" sz="1600" dirty="0">
                <a:ea typeface="+mn-lt"/>
                <a:cs typeface="+mn-lt"/>
              </a:rPr>
              <a:t>{:,2:end};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% </a:t>
            </a:r>
            <a:r>
              <a:rPr lang="en-US" sz="1600" err="1">
                <a:ea typeface="+mn-lt"/>
                <a:cs typeface="+mn-lt"/>
              </a:rPr>
              <a:t>Vov</a:t>
            </a:r>
            <a:r>
              <a:rPr lang="en-US" sz="1600" dirty="0">
                <a:ea typeface="+mn-lt"/>
                <a:cs typeface="+mn-lt"/>
              </a:rPr>
              <a:t> = </a:t>
            </a:r>
            <a:r>
              <a:rPr lang="en-US" sz="1600" err="1">
                <a:ea typeface="+mn-lt"/>
                <a:cs typeface="+mn-lt"/>
              </a:rPr>
              <a:t>Vgs</a:t>
            </a:r>
            <a:r>
              <a:rPr lang="en-US" sz="1600" dirty="0">
                <a:ea typeface="+mn-lt"/>
                <a:cs typeface="+mn-lt"/>
              </a:rPr>
              <a:t> - Vth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    </a:t>
            </a:r>
            <a:r>
              <a:rPr lang="en-US" sz="1600" err="1">
                <a:ea typeface="+mn-lt"/>
                <a:cs typeface="+mn-lt"/>
              </a:rPr>
              <a:t>Vov</a:t>
            </a:r>
            <a:r>
              <a:rPr lang="en-US" sz="1600" dirty="0">
                <a:ea typeface="+mn-lt"/>
                <a:cs typeface="+mn-lt"/>
              </a:rPr>
              <a:t> = </a:t>
            </a:r>
            <a:r>
              <a:rPr lang="en-US" sz="1600" err="1">
                <a:ea typeface="+mn-lt"/>
                <a:cs typeface="+mn-lt"/>
              </a:rPr>
              <a:t>Vgs</a:t>
            </a:r>
            <a:r>
              <a:rPr lang="en-US" sz="1600" dirty="0">
                <a:ea typeface="+mn-lt"/>
                <a:cs typeface="+mn-lt"/>
              </a:rPr>
              <a:t> - </a:t>
            </a:r>
            <a:r>
              <a:rPr lang="en-US" sz="1600" err="1">
                <a:ea typeface="+mn-lt"/>
                <a:cs typeface="+mn-lt"/>
              </a:rPr>
              <a:t>Vth_data</a:t>
            </a:r>
            <a:r>
              <a:rPr lang="en-US" sz="1600" dirty="0">
                <a:ea typeface="+mn-lt"/>
                <a:cs typeface="+mn-lt"/>
              </a:rPr>
              <a:t>{:,2:end};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% </a:t>
            </a:r>
            <a:r>
              <a:rPr lang="en-US" sz="1600" err="1">
                <a:ea typeface="+mn-lt"/>
                <a:cs typeface="+mn-lt"/>
              </a:rPr>
              <a:t>fT</a:t>
            </a:r>
            <a:r>
              <a:rPr lang="en-US" sz="1600" dirty="0">
                <a:ea typeface="+mn-lt"/>
                <a:cs typeface="+mn-lt"/>
              </a:rPr>
              <a:t> * (gm/ID)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    </a:t>
            </a:r>
            <a:r>
              <a:rPr lang="en-US" sz="1600" err="1">
                <a:ea typeface="+mn-lt"/>
                <a:cs typeface="+mn-lt"/>
              </a:rPr>
              <a:t>ft_gmID</a:t>
            </a:r>
            <a:r>
              <a:rPr lang="en-US" sz="1600" dirty="0">
                <a:ea typeface="+mn-lt"/>
                <a:cs typeface="+mn-lt"/>
              </a:rPr>
              <a:t> = </a:t>
            </a:r>
            <a:r>
              <a:rPr lang="en-US" sz="1600" err="1">
                <a:ea typeface="+mn-lt"/>
                <a:cs typeface="+mn-lt"/>
              </a:rPr>
              <a:t>ft_data</a:t>
            </a:r>
            <a:r>
              <a:rPr lang="en-US" sz="1600" dirty="0">
                <a:ea typeface="+mn-lt"/>
                <a:cs typeface="+mn-lt"/>
              </a:rPr>
              <a:t>{:,2:end} .* </a:t>
            </a:r>
            <a:r>
              <a:rPr lang="en-US" sz="1600" err="1">
                <a:ea typeface="+mn-lt"/>
                <a:cs typeface="+mn-lt"/>
              </a:rPr>
              <a:t>gm_ID</a:t>
            </a:r>
            <a:r>
              <a:rPr lang="en-US" sz="1600" dirty="0">
                <a:ea typeface="+mn-lt"/>
                <a:cs typeface="+mn-lt"/>
              </a:rPr>
              <a:t>;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% ID/W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    ID_W = </a:t>
            </a:r>
            <a:r>
              <a:rPr lang="en-US" sz="1600" err="1">
                <a:ea typeface="+mn-lt"/>
                <a:cs typeface="+mn-lt"/>
              </a:rPr>
              <a:t>ID_data</a:t>
            </a:r>
            <a:r>
              <a:rPr lang="en-US" sz="1600" dirty="0">
                <a:ea typeface="+mn-lt"/>
                <a:cs typeface="+mn-lt"/>
              </a:rPr>
              <a:t>{:,2:end} ./ W;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  <a:ea typeface="+mn-lt"/>
                <a:cs typeface="+mn-lt"/>
              </a:rPr>
              <a:t>% Legends name of the header of columns</a:t>
            </a:r>
            <a:endParaRPr lang="en-US" sz="16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600" err="1">
                <a:ea typeface="+mn-lt"/>
                <a:cs typeface="+mn-lt"/>
              </a:rPr>
              <a:t>Lvec_ID_clean</a:t>
            </a:r>
            <a:r>
              <a:rPr lang="en-US" sz="1600" dirty="0">
                <a:ea typeface="+mn-lt"/>
                <a:cs typeface="+mn-lt"/>
              </a:rPr>
              <a:t>  = </a:t>
            </a:r>
            <a:r>
              <a:rPr lang="en-US" sz="1600" err="1">
                <a:ea typeface="+mn-lt"/>
                <a:cs typeface="+mn-lt"/>
              </a:rPr>
              <a:t>regexprep</a:t>
            </a:r>
            <a:r>
              <a:rPr lang="en-US" sz="1600" dirty="0">
                <a:ea typeface="+mn-lt"/>
                <a:cs typeface="+mn-lt"/>
              </a:rPr>
              <a:t>(</a:t>
            </a:r>
            <a:r>
              <a:rPr lang="en-US" sz="1600" err="1">
                <a:ea typeface="+mn-lt"/>
                <a:cs typeface="+mn-lt"/>
              </a:rPr>
              <a:t>Lvec_ID</a:t>
            </a:r>
            <a:r>
              <a:rPr lang="en-US" sz="1600" dirty="0">
                <a:ea typeface="+mn-lt"/>
                <a:cs typeface="+mn-lt"/>
              </a:rPr>
              <a:t>, ...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    '^</a:t>
            </a:r>
            <a:r>
              <a:rPr lang="en-US" sz="1600" dirty="0" err="1">
                <a:ea typeface="+mn-lt"/>
                <a:cs typeface="+mn-lt"/>
              </a:rPr>
              <a:t>IDLength</a:t>
            </a:r>
            <a:r>
              <a:rPr lang="en-US" sz="1600" dirty="0">
                <a:ea typeface="+mn-lt"/>
                <a:cs typeface="+mn-lt"/>
              </a:rPr>
              <a:t>(\d+)_(\d+)e_(\d+)$',  '$1.$2e-$3');  </a:t>
            </a:r>
            <a:endParaRPr lang="en-US" sz="16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1822103-94DB-404D-4CE7-AA5DC0578075}"/>
              </a:ext>
            </a:extLst>
          </p:cNvPr>
          <p:cNvSpPr txBox="1">
            <a:spLocks/>
          </p:cNvSpPr>
          <p:nvPr/>
        </p:nvSpPr>
        <p:spPr>
          <a:xfrm>
            <a:off x="5911312" y="441110"/>
            <a:ext cx="5220347" cy="6146558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  <a:ea typeface="+mn-lt"/>
                <a:cs typeface="+mn-lt"/>
              </a:rPr>
              <a:t>% Plot all parameters </a:t>
            </a:r>
            <a:r>
              <a:rPr lang="en-US" sz="1600" err="1">
                <a:solidFill>
                  <a:srgbClr val="FF0000"/>
                </a:solidFill>
                <a:ea typeface="+mn-lt"/>
                <a:cs typeface="+mn-lt"/>
              </a:rPr>
              <a:t>wrt</a:t>
            </a:r>
            <a:r>
              <a:rPr lang="en-US" sz="1600" dirty="0">
                <a:solidFill>
                  <a:srgbClr val="FF0000"/>
                </a:solidFill>
                <a:ea typeface="+mn-lt"/>
                <a:cs typeface="+mn-lt"/>
              </a:rPr>
              <a:t> </a:t>
            </a:r>
            <a:r>
              <a:rPr lang="en-US" sz="1600" err="1">
                <a:solidFill>
                  <a:srgbClr val="FF0000"/>
                </a:solidFill>
                <a:ea typeface="+mn-lt"/>
                <a:cs typeface="+mn-lt"/>
              </a:rPr>
              <a:t>Vov</a:t>
            </a:r>
            <a:r>
              <a:rPr lang="en-US" sz="1600" dirty="0">
                <a:solidFill>
                  <a:srgbClr val="FF0000"/>
                </a:solidFill>
                <a:ea typeface="+mn-lt"/>
                <a:cs typeface="+mn-lt"/>
              </a:rPr>
              <a:t> in one window</a:t>
            </a:r>
            <a:endParaRPr lang="en-US" sz="16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  <a:ea typeface="+mn-lt"/>
                <a:cs typeface="+mn-lt"/>
              </a:rPr>
              <a:t>figure;</a:t>
            </a:r>
            <a:endParaRPr lang="en-US" sz="1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ea typeface="+mn-lt"/>
                <a:cs typeface="+mn-lt"/>
              </a:rPr>
              <a:t>% ---- ID vs </a:t>
            </a:r>
            <a:r>
              <a:rPr lang="en-US" sz="1600" b="1" err="1">
                <a:ea typeface="+mn-lt"/>
                <a:cs typeface="+mn-lt"/>
              </a:rPr>
              <a:t>Vov</a:t>
            </a:r>
            <a:r>
              <a:rPr lang="en-US" sz="1600" b="1" dirty="0">
                <a:ea typeface="+mn-lt"/>
                <a:cs typeface="+mn-lt"/>
              </a:rPr>
              <a:t> ----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subplot(3,3,1);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plot(</a:t>
            </a:r>
            <a:r>
              <a:rPr lang="en-US" sz="1600" dirty="0" err="1">
                <a:ea typeface="+mn-lt"/>
                <a:cs typeface="+mn-lt"/>
              </a:rPr>
              <a:t>Vov</a:t>
            </a:r>
            <a:r>
              <a:rPr lang="en-US" sz="1600" dirty="0">
                <a:ea typeface="+mn-lt"/>
                <a:cs typeface="+mn-lt"/>
              </a:rPr>
              <a:t>, </a:t>
            </a:r>
            <a:r>
              <a:rPr lang="en-US" sz="1600" dirty="0" err="1">
                <a:ea typeface="+mn-lt"/>
                <a:cs typeface="+mn-lt"/>
              </a:rPr>
              <a:t>ID_data</a:t>
            </a:r>
            <a:r>
              <a:rPr lang="en-US" sz="1600" dirty="0">
                <a:ea typeface="+mn-lt"/>
                <a:cs typeface="+mn-lt"/>
              </a:rPr>
              <a:t>{:,2:end}, '</a:t>
            </a:r>
            <a:r>
              <a:rPr lang="en-US" sz="1600" dirty="0" err="1">
                <a:ea typeface="+mn-lt"/>
                <a:cs typeface="+mn-lt"/>
              </a:rPr>
              <a:t>LineWidth</a:t>
            </a:r>
            <a:r>
              <a:rPr lang="en-US" sz="1600" dirty="0">
                <a:ea typeface="+mn-lt"/>
                <a:cs typeface="+mn-lt"/>
              </a:rPr>
              <a:t>', 1.2);</a:t>
            </a:r>
          </a:p>
          <a:p>
            <a:pPr marL="0" indent="0">
              <a:buNone/>
            </a:pPr>
            <a:r>
              <a:rPr lang="en-US" sz="1600" dirty="0" err="1">
                <a:ea typeface="+mn-lt"/>
                <a:cs typeface="+mn-lt"/>
              </a:rPr>
              <a:t>xlabel</a:t>
            </a:r>
            <a:r>
              <a:rPr lang="en-US" sz="1600" dirty="0">
                <a:ea typeface="+mn-lt"/>
                <a:cs typeface="+mn-lt"/>
              </a:rPr>
              <a:t>('V_{OV} (V)'); </a:t>
            </a:r>
            <a:r>
              <a:rPr lang="en-US" sz="1600" dirty="0" err="1">
                <a:ea typeface="+mn-lt"/>
                <a:cs typeface="+mn-lt"/>
              </a:rPr>
              <a:t>ylabel</a:t>
            </a:r>
            <a:r>
              <a:rPr lang="en-US" sz="1600" dirty="0">
                <a:ea typeface="+mn-lt"/>
                <a:cs typeface="+mn-lt"/>
              </a:rPr>
              <a:t>('I_D (A)');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title('I_D vs V_{OV}'); grid on;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ea typeface="+mn-lt"/>
                <a:cs typeface="+mn-lt"/>
              </a:rPr>
              <a:t>% ---- gm vs </a:t>
            </a:r>
            <a:r>
              <a:rPr lang="en-US" sz="1600" b="1" err="1">
                <a:ea typeface="+mn-lt"/>
                <a:cs typeface="+mn-lt"/>
              </a:rPr>
              <a:t>Vov</a:t>
            </a:r>
            <a:r>
              <a:rPr lang="en-US" sz="1600" b="1" dirty="0">
                <a:ea typeface="+mn-lt"/>
                <a:cs typeface="+mn-lt"/>
              </a:rPr>
              <a:t> ----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subplot(3,3,2);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plot(</a:t>
            </a:r>
            <a:r>
              <a:rPr lang="en-US" sz="1600" dirty="0" err="1">
                <a:ea typeface="+mn-lt"/>
                <a:cs typeface="+mn-lt"/>
              </a:rPr>
              <a:t>Vov</a:t>
            </a:r>
            <a:r>
              <a:rPr lang="en-US" sz="1600" dirty="0">
                <a:ea typeface="+mn-lt"/>
                <a:cs typeface="+mn-lt"/>
              </a:rPr>
              <a:t>, </a:t>
            </a:r>
            <a:r>
              <a:rPr lang="en-US" sz="1600" dirty="0" err="1">
                <a:ea typeface="+mn-lt"/>
                <a:cs typeface="+mn-lt"/>
              </a:rPr>
              <a:t>gm_data</a:t>
            </a:r>
            <a:r>
              <a:rPr lang="en-US" sz="1600" dirty="0">
                <a:ea typeface="+mn-lt"/>
                <a:cs typeface="+mn-lt"/>
              </a:rPr>
              <a:t>{:,2:end}, '</a:t>
            </a:r>
            <a:r>
              <a:rPr lang="en-US" sz="1600" dirty="0" err="1">
                <a:ea typeface="+mn-lt"/>
                <a:cs typeface="+mn-lt"/>
              </a:rPr>
              <a:t>LineWidth</a:t>
            </a:r>
            <a:r>
              <a:rPr lang="en-US" sz="1600" dirty="0">
                <a:ea typeface="+mn-lt"/>
                <a:cs typeface="+mn-lt"/>
              </a:rPr>
              <a:t>', 1.2);</a:t>
            </a:r>
          </a:p>
          <a:p>
            <a:pPr marL="0" indent="0">
              <a:buNone/>
            </a:pPr>
            <a:r>
              <a:rPr lang="en-US" sz="1600" dirty="0" err="1">
                <a:ea typeface="+mn-lt"/>
                <a:cs typeface="+mn-lt"/>
              </a:rPr>
              <a:t>xlabel</a:t>
            </a:r>
            <a:r>
              <a:rPr lang="en-US" sz="1600" dirty="0">
                <a:ea typeface="+mn-lt"/>
                <a:cs typeface="+mn-lt"/>
              </a:rPr>
              <a:t>('V_{OV} (V)'); </a:t>
            </a:r>
            <a:r>
              <a:rPr lang="en-US" sz="1600" dirty="0" err="1">
                <a:ea typeface="+mn-lt"/>
                <a:cs typeface="+mn-lt"/>
              </a:rPr>
              <a:t>ylabel</a:t>
            </a:r>
            <a:r>
              <a:rPr lang="en-US" sz="1600" dirty="0">
                <a:ea typeface="+mn-lt"/>
                <a:cs typeface="+mn-lt"/>
              </a:rPr>
              <a:t>('</a:t>
            </a:r>
            <a:r>
              <a:rPr lang="en-US" sz="1600" dirty="0" err="1">
                <a:ea typeface="+mn-lt"/>
                <a:cs typeface="+mn-lt"/>
              </a:rPr>
              <a:t>g_m</a:t>
            </a:r>
            <a:r>
              <a:rPr lang="en-US" sz="1600" dirty="0">
                <a:ea typeface="+mn-lt"/>
                <a:cs typeface="+mn-lt"/>
              </a:rPr>
              <a:t> (S)');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title('</a:t>
            </a:r>
            <a:r>
              <a:rPr lang="en-US" sz="1600" err="1">
                <a:ea typeface="+mn-lt"/>
                <a:cs typeface="+mn-lt"/>
              </a:rPr>
              <a:t>g_m</a:t>
            </a:r>
            <a:r>
              <a:rPr lang="en-US" sz="1600" dirty="0">
                <a:ea typeface="+mn-lt"/>
                <a:cs typeface="+mn-lt"/>
              </a:rPr>
              <a:t> vs V_{OV}'); grid on;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b="1" dirty="0"/>
              <a:t>% ---- gm/ID vs </a:t>
            </a:r>
            <a:r>
              <a:rPr lang="en-US" sz="1600" b="1" err="1"/>
              <a:t>Vov</a:t>
            </a:r>
            <a:r>
              <a:rPr lang="en-US" sz="1600" b="1" dirty="0"/>
              <a:t> ----</a:t>
            </a:r>
          </a:p>
          <a:p>
            <a:pPr marL="0" indent="0">
              <a:buNone/>
            </a:pPr>
            <a:r>
              <a:rPr lang="en-US" sz="1600" dirty="0"/>
              <a:t>subplot(3,3,3);</a:t>
            </a:r>
          </a:p>
          <a:p>
            <a:pPr marL="0" indent="0">
              <a:buNone/>
            </a:pPr>
            <a:r>
              <a:rPr lang="en-US" sz="1600" dirty="0"/>
              <a:t>plot(</a:t>
            </a:r>
            <a:r>
              <a:rPr lang="en-US" sz="1600" dirty="0" err="1"/>
              <a:t>Vov</a:t>
            </a:r>
            <a:r>
              <a:rPr lang="en-US" sz="1600" dirty="0"/>
              <a:t>, </a:t>
            </a:r>
            <a:r>
              <a:rPr lang="en-US" sz="1600" dirty="0" err="1"/>
              <a:t>gm_ID</a:t>
            </a:r>
            <a:r>
              <a:rPr lang="en-US" sz="1600" dirty="0"/>
              <a:t>, '</a:t>
            </a:r>
            <a:r>
              <a:rPr lang="en-US" sz="1600" dirty="0" err="1"/>
              <a:t>LineWidth</a:t>
            </a:r>
            <a:r>
              <a:rPr lang="en-US" sz="1600" dirty="0"/>
              <a:t>', 1.2);</a:t>
            </a:r>
          </a:p>
          <a:p>
            <a:pPr marL="0" indent="0">
              <a:buNone/>
            </a:pPr>
            <a:r>
              <a:rPr lang="en-US" sz="1600" dirty="0" err="1"/>
              <a:t>xlabel</a:t>
            </a:r>
            <a:r>
              <a:rPr lang="en-US" sz="1600" dirty="0"/>
              <a:t>('V_{OV} (V)'); </a:t>
            </a:r>
            <a:r>
              <a:rPr lang="en-US" sz="1600" dirty="0" err="1"/>
              <a:t>ylabel</a:t>
            </a:r>
            <a:r>
              <a:rPr lang="en-US" sz="1600" dirty="0"/>
              <a:t>('</a:t>
            </a:r>
            <a:r>
              <a:rPr lang="en-US" sz="1600" dirty="0" err="1"/>
              <a:t>g_m</a:t>
            </a:r>
            <a:r>
              <a:rPr lang="en-US" sz="1600" dirty="0"/>
              <a:t>/I_D');</a:t>
            </a:r>
          </a:p>
          <a:p>
            <a:pPr marL="0" indent="0">
              <a:buNone/>
            </a:pPr>
            <a:r>
              <a:rPr lang="en-US" sz="1600" dirty="0"/>
              <a:t>title('</a:t>
            </a:r>
            <a:r>
              <a:rPr lang="en-US" sz="1600" dirty="0" err="1"/>
              <a:t>g_m</a:t>
            </a:r>
            <a:r>
              <a:rPr lang="en-US" sz="1600" dirty="0"/>
              <a:t>/I_D vs V_{OV}'); grid on;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4957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9CB1F-E556-70B9-E8E3-94393A5D3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626"/>
            <a:ext cx="4355024" cy="5875337"/>
          </a:xfrm>
          <a:ln>
            <a:solidFill>
              <a:srgbClr val="4472C4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ea typeface="+mn-lt"/>
                <a:cs typeface="+mn-lt"/>
              </a:rPr>
              <a:t>% ---- gm/</a:t>
            </a:r>
            <a:r>
              <a:rPr lang="en-US" sz="1600" b="1" dirty="0" err="1">
                <a:ea typeface="+mn-lt"/>
                <a:cs typeface="+mn-lt"/>
              </a:rPr>
              <a:t>gds</a:t>
            </a:r>
            <a:r>
              <a:rPr lang="en-US" sz="1600" b="1" dirty="0">
                <a:ea typeface="+mn-lt"/>
                <a:cs typeface="+mn-lt"/>
              </a:rPr>
              <a:t> vs </a:t>
            </a:r>
            <a:r>
              <a:rPr lang="en-US" sz="1600" b="1" dirty="0" err="1">
                <a:ea typeface="+mn-lt"/>
                <a:cs typeface="+mn-lt"/>
              </a:rPr>
              <a:t>Vov</a:t>
            </a:r>
            <a:r>
              <a:rPr lang="en-US" sz="1600" b="1" dirty="0">
                <a:ea typeface="+mn-lt"/>
                <a:cs typeface="+mn-lt"/>
              </a:rPr>
              <a:t> ---- 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subplot(3,3,4); 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plot(</a:t>
            </a:r>
            <a:r>
              <a:rPr lang="en-US" sz="1600" dirty="0" err="1">
                <a:ea typeface="+mn-lt"/>
                <a:cs typeface="+mn-lt"/>
              </a:rPr>
              <a:t>Vov</a:t>
            </a:r>
            <a:r>
              <a:rPr lang="en-US" sz="1600" dirty="0">
                <a:ea typeface="+mn-lt"/>
                <a:cs typeface="+mn-lt"/>
              </a:rPr>
              <a:t>, </a:t>
            </a:r>
            <a:r>
              <a:rPr lang="en-US" sz="1600" dirty="0" err="1">
                <a:ea typeface="+mn-lt"/>
                <a:cs typeface="+mn-lt"/>
              </a:rPr>
              <a:t>gm_gds</a:t>
            </a:r>
            <a:r>
              <a:rPr lang="en-US" sz="1600" dirty="0">
                <a:ea typeface="+mn-lt"/>
                <a:cs typeface="+mn-lt"/>
              </a:rPr>
              <a:t>, '</a:t>
            </a:r>
            <a:r>
              <a:rPr lang="en-US" sz="1600" dirty="0" err="1">
                <a:ea typeface="+mn-lt"/>
                <a:cs typeface="+mn-lt"/>
              </a:rPr>
              <a:t>LineWidth</a:t>
            </a:r>
            <a:r>
              <a:rPr lang="en-US" sz="1600" dirty="0">
                <a:ea typeface="+mn-lt"/>
                <a:cs typeface="+mn-lt"/>
              </a:rPr>
              <a:t>', 1.2); </a:t>
            </a:r>
          </a:p>
          <a:p>
            <a:pPr marL="0" indent="0">
              <a:buNone/>
            </a:pPr>
            <a:r>
              <a:rPr lang="en-US" sz="1600" dirty="0" err="1">
                <a:ea typeface="+mn-lt"/>
                <a:cs typeface="+mn-lt"/>
              </a:rPr>
              <a:t>xlabel</a:t>
            </a:r>
            <a:r>
              <a:rPr lang="en-US" sz="1600" dirty="0">
                <a:ea typeface="+mn-lt"/>
                <a:cs typeface="+mn-lt"/>
              </a:rPr>
              <a:t>('V_{OV} (V)'); </a:t>
            </a:r>
            <a:r>
              <a:rPr lang="en-US" sz="1600" dirty="0" err="1">
                <a:ea typeface="+mn-lt"/>
                <a:cs typeface="+mn-lt"/>
              </a:rPr>
              <a:t>ylabel</a:t>
            </a:r>
            <a:r>
              <a:rPr lang="en-US" sz="1600" dirty="0">
                <a:ea typeface="+mn-lt"/>
                <a:cs typeface="+mn-lt"/>
              </a:rPr>
              <a:t>('</a:t>
            </a:r>
            <a:r>
              <a:rPr lang="en-US" sz="1600" dirty="0" err="1">
                <a:ea typeface="+mn-lt"/>
                <a:cs typeface="+mn-lt"/>
              </a:rPr>
              <a:t>g_m</a:t>
            </a:r>
            <a:r>
              <a:rPr lang="en-US" sz="1600" dirty="0">
                <a:ea typeface="+mn-lt"/>
                <a:cs typeface="+mn-lt"/>
              </a:rPr>
              <a:t>/g_{ds}'); 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title('</a:t>
            </a:r>
            <a:r>
              <a:rPr lang="en-US" sz="1600" dirty="0" err="1">
                <a:ea typeface="+mn-lt"/>
                <a:cs typeface="+mn-lt"/>
              </a:rPr>
              <a:t>g_m</a:t>
            </a:r>
            <a:r>
              <a:rPr lang="en-US" sz="1600" dirty="0">
                <a:ea typeface="+mn-lt"/>
                <a:cs typeface="+mn-lt"/>
              </a:rPr>
              <a:t>/g_{ds} vs V_{OV}'); grid on; </a:t>
            </a:r>
          </a:p>
          <a:p>
            <a:pPr marL="0" indent="0">
              <a:buNone/>
            </a:pPr>
            <a:r>
              <a:rPr lang="en-US" sz="1600" b="1" dirty="0">
                <a:ea typeface="+mn-lt"/>
                <a:cs typeface="+mn-lt"/>
              </a:rPr>
              <a:t>% --- </a:t>
            </a:r>
            <a:r>
              <a:rPr lang="en-US" sz="1600" b="1" dirty="0" err="1">
                <a:ea typeface="+mn-lt"/>
                <a:cs typeface="+mn-lt"/>
              </a:rPr>
              <a:t>fT</a:t>
            </a:r>
            <a:r>
              <a:rPr lang="en-US" sz="1600" b="1" dirty="0">
                <a:ea typeface="+mn-lt"/>
                <a:cs typeface="+mn-lt"/>
              </a:rPr>
              <a:t> vs </a:t>
            </a:r>
            <a:r>
              <a:rPr lang="en-US" sz="1600" b="1" dirty="0" err="1">
                <a:ea typeface="+mn-lt"/>
                <a:cs typeface="+mn-lt"/>
              </a:rPr>
              <a:t>Vov</a:t>
            </a:r>
            <a:r>
              <a:rPr lang="en-US" sz="1600" b="1" dirty="0">
                <a:ea typeface="+mn-lt"/>
                <a:cs typeface="+mn-lt"/>
              </a:rPr>
              <a:t> ----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subplot(3,3,5);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plot(</a:t>
            </a:r>
            <a:r>
              <a:rPr lang="en-US" sz="1600" dirty="0" err="1">
                <a:ea typeface="+mn-lt"/>
                <a:cs typeface="+mn-lt"/>
              </a:rPr>
              <a:t>Vov</a:t>
            </a:r>
            <a:r>
              <a:rPr lang="en-US" sz="1600" dirty="0">
                <a:ea typeface="+mn-lt"/>
                <a:cs typeface="+mn-lt"/>
              </a:rPr>
              <a:t>, </a:t>
            </a:r>
            <a:r>
              <a:rPr lang="en-US" sz="1600" dirty="0" err="1">
                <a:ea typeface="+mn-lt"/>
                <a:cs typeface="+mn-lt"/>
              </a:rPr>
              <a:t>ft_data</a:t>
            </a:r>
            <a:r>
              <a:rPr lang="en-US" sz="1600" dirty="0">
                <a:ea typeface="+mn-lt"/>
                <a:cs typeface="+mn-lt"/>
              </a:rPr>
              <a:t>{:,2:end}, '</a:t>
            </a:r>
            <a:r>
              <a:rPr lang="en-US" sz="1600" dirty="0" err="1">
                <a:ea typeface="+mn-lt"/>
                <a:cs typeface="+mn-lt"/>
              </a:rPr>
              <a:t>LineWidth</a:t>
            </a:r>
            <a:r>
              <a:rPr lang="en-US" sz="1600" dirty="0">
                <a:ea typeface="+mn-lt"/>
                <a:cs typeface="+mn-lt"/>
              </a:rPr>
              <a:t>', 1.2);</a:t>
            </a:r>
          </a:p>
          <a:p>
            <a:pPr marL="0" indent="0">
              <a:buNone/>
            </a:pPr>
            <a:r>
              <a:rPr lang="en-US" sz="1600" dirty="0" err="1">
                <a:ea typeface="+mn-lt"/>
                <a:cs typeface="+mn-lt"/>
              </a:rPr>
              <a:t>xlabel</a:t>
            </a:r>
            <a:r>
              <a:rPr lang="en-US" sz="1600" dirty="0">
                <a:ea typeface="+mn-lt"/>
                <a:cs typeface="+mn-lt"/>
              </a:rPr>
              <a:t>('V_{OV} (V)'); </a:t>
            </a:r>
            <a:r>
              <a:rPr lang="en-US" sz="1600" dirty="0" err="1">
                <a:ea typeface="+mn-lt"/>
                <a:cs typeface="+mn-lt"/>
              </a:rPr>
              <a:t>ylabel</a:t>
            </a:r>
            <a:r>
              <a:rPr lang="en-US" sz="1600" dirty="0">
                <a:ea typeface="+mn-lt"/>
                <a:cs typeface="+mn-lt"/>
              </a:rPr>
              <a:t>('</a:t>
            </a:r>
            <a:r>
              <a:rPr lang="en-US" sz="1600" dirty="0" err="1">
                <a:ea typeface="+mn-lt"/>
                <a:cs typeface="+mn-lt"/>
              </a:rPr>
              <a:t>f_T</a:t>
            </a:r>
            <a:r>
              <a:rPr lang="en-US" sz="1600" dirty="0">
                <a:ea typeface="+mn-lt"/>
                <a:cs typeface="+mn-lt"/>
              </a:rPr>
              <a:t> (Hz)');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title('</a:t>
            </a:r>
            <a:r>
              <a:rPr lang="en-US" sz="1600" dirty="0" err="1">
                <a:ea typeface="+mn-lt"/>
                <a:cs typeface="+mn-lt"/>
              </a:rPr>
              <a:t>f_T</a:t>
            </a:r>
            <a:r>
              <a:rPr lang="en-US" sz="1600" dirty="0">
                <a:ea typeface="+mn-lt"/>
                <a:cs typeface="+mn-lt"/>
              </a:rPr>
              <a:t> vs V_{OV}'); grid on;</a:t>
            </a:r>
          </a:p>
          <a:p>
            <a:pPr marL="0" indent="0">
              <a:buNone/>
            </a:pPr>
            <a:r>
              <a:rPr lang="en-US" sz="1600" b="1" dirty="0">
                <a:ea typeface="+mn-lt"/>
                <a:cs typeface="+mn-lt"/>
              </a:rPr>
              <a:t>% ---- </a:t>
            </a:r>
            <a:r>
              <a:rPr lang="en-US" sz="1600" b="1" dirty="0" err="1">
                <a:ea typeface="+mn-lt"/>
                <a:cs typeface="+mn-lt"/>
              </a:rPr>
              <a:t>fT</a:t>
            </a:r>
            <a:r>
              <a:rPr lang="en-US" sz="1600" b="1" dirty="0">
                <a:ea typeface="+mn-lt"/>
                <a:cs typeface="+mn-lt"/>
              </a:rPr>
              <a:t>*(gm/ID) vs </a:t>
            </a:r>
            <a:r>
              <a:rPr lang="en-US" sz="1600" b="1" dirty="0" err="1">
                <a:ea typeface="+mn-lt"/>
                <a:cs typeface="+mn-lt"/>
              </a:rPr>
              <a:t>Vov</a:t>
            </a:r>
            <a:r>
              <a:rPr lang="en-US" sz="1600" b="1" dirty="0">
                <a:ea typeface="+mn-lt"/>
                <a:cs typeface="+mn-lt"/>
              </a:rPr>
              <a:t> ----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subplot(3,3,6);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plot(</a:t>
            </a:r>
            <a:r>
              <a:rPr lang="en-US" sz="1600" dirty="0" err="1">
                <a:ea typeface="+mn-lt"/>
                <a:cs typeface="+mn-lt"/>
              </a:rPr>
              <a:t>Vov</a:t>
            </a:r>
            <a:r>
              <a:rPr lang="en-US" sz="1600" dirty="0">
                <a:ea typeface="+mn-lt"/>
                <a:cs typeface="+mn-lt"/>
              </a:rPr>
              <a:t>, </a:t>
            </a:r>
            <a:r>
              <a:rPr lang="en-US" sz="1600" dirty="0" err="1">
                <a:ea typeface="+mn-lt"/>
                <a:cs typeface="+mn-lt"/>
              </a:rPr>
              <a:t>ft_gmID</a:t>
            </a:r>
            <a:r>
              <a:rPr lang="en-US" sz="1600" dirty="0">
                <a:ea typeface="+mn-lt"/>
                <a:cs typeface="+mn-lt"/>
              </a:rPr>
              <a:t>, '</a:t>
            </a:r>
            <a:r>
              <a:rPr lang="en-US" sz="1600" dirty="0" err="1">
                <a:ea typeface="+mn-lt"/>
                <a:cs typeface="+mn-lt"/>
              </a:rPr>
              <a:t>LineWidth</a:t>
            </a:r>
            <a:r>
              <a:rPr lang="en-US" sz="1600" dirty="0">
                <a:ea typeface="+mn-lt"/>
                <a:cs typeface="+mn-lt"/>
              </a:rPr>
              <a:t>', 1.2);</a:t>
            </a:r>
          </a:p>
          <a:p>
            <a:pPr marL="0" indent="0">
              <a:buNone/>
            </a:pPr>
            <a:r>
              <a:rPr lang="en-US" sz="1600" dirty="0" err="1">
                <a:ea typeface="+mn-lt"/>
                <a:cs typeface="+mn-lt"/>
              </a:rPr>
              <a:t>xlabel</a:t>
            </a:r>
            <a:r>
              <a:rPr lang="en-US" sz="1600" dirty="0">
                <a:ea typeface="+mn-lt"/>
                <a:cs typeface="+mn-lt"/>
              </a:rPr>
              <a:t>('V_{OV} (V)'); </a:t>
            </a:r>
            <a:r>
              <a:rPr lang="en-US" sz="1600" dirty="0" err="1">
                <a:ea typeface="+mn-lt"/>
                <a:cs typeface="+mn-lt"/>
              </a:rPr>
              <a:t>ylabel</a:t>
            </a:r>
            <a:r>
              <a:rPr lang="en-US" sz="1600" dirty="0">
                <a:ea typeface="+mn-lt"/>
                <a:cs typeface="+mn-lt"/>
              </a:rPr>
              <a:t>('</a:t>
            </a:r>
            <a:r>
              <a:rPr lang="en-US" sz="1600" dirty="0" err="1">
                <a:ea typeface="+mn-lt"/>
                <a:cs typeface="+mn-lt"/>
              </a:rPr>
              <a:t>f_T</a:t>
            </a:r>
            <a:r>
              <a:rPr lang="en-US" sz="1600" dirty="0">
                <a:ea typeface="+mn-lt"/>
                <a:cs typeface="+mn-lt"/>
              </a:rPr>
              <a:t>*(</a:t>
            </a:r>
            <a:r>
              <a:rPr lang="en-US" sz="1600" dirty="0" err="1">
                <a:ea typeface="+mn-lt"/>
                <a:cs typeface="+mn-lt"/>
              </a:rPr>
              <a:t>g_m</a:t>
            </a:r>
            <a:r>
              <a:rPr lang="en-US" sz="1600" dirty="0">
                <a:ea typeface="+mn-lt"/>
                <a:cs typeface="+mn-lt"/>
              </a:rPr>
              <a:t>/I_D)');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title('</a:t>
            </a:r>
            <a:r>
              <a:rPr lang="en-US" sz="1600" dirty="0" err="1">
                <a:ea typeface="+mn-lt"/>
                <a:cs typeface="+mn-lt"/>
              </a:rPr>
              <a:t>f_T</a:t>
            </a:r>
            <a:r>
              <a:rPr lang="en-US" sz="1600" dirty="0">
                <a:ea typeface="+mn-lt"/>
                <a:cs typeface="+mn-lt"/>
              </a:rPr>
              <a:t>*(</a:t>
            </a:r>
            <a:r>
              <a:rPr lang="en-US" sz="1600" dirty="0" err="1">
                <a:ea typeface="+mn-lt"/>
                <a:cs typeface="+mn-lt"/>
              </a:rPr>
              <a:t>g_m</a:t>
            </a:r>
            <a:r>
              <a:rPr lang="en-US" sz="1600" dirty="0">
                <a:ea typeface="+mn-lt"/>
                <a:cs typeface="+mn-lt"/>
              </a:rPr>
              <a:t>/I_D)'); grid on;</a:t>
            </a:r>
          </a:p>
          <a:p>
            <a:pPr marL="0" indent="0">
              <a:buNone/>
            </a:pPr>
            <a:endParaRPr lang="en-US" sz="16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600" dirty="0">
              <a:ea typeface="+mn-lt"/>
              <a:cs typeface="+mn-lt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CBE150E-24BA-71B2-C145-70C1514F150A}"/>
              </a:ext>
            </a:extLst>
          </p:cNvPr>
          <p:cNvSpPr txBox="1">
            <a:spLocks/>
          </p:cNvSpPr>
          <p:nvPr/>
        </p:nvSpPr>
        <p:spPr>
          <a:xfrm>
            <a:off x="5562600" y="299043"/>
            <a:ext cx="6111499" cy="5875337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ea typeface="+mn-lt"/>
                <a:cs typeface="+mn-lt"/>
              </a:rPr>
              <a:t>% ---- ID/W vs </a:t>
            </a:r>
            <a:r>
              <a:rPr lang="en-US" sz="1600" b="1" dirty="0" err="1">
                <a:ea typeface="+mn-lt"/>
                <a:cs typeface="+mn-lt"/>
              </a:rPr>
              <a:t>Vov</a:t>
            </a:r>
            <a:r>
              <a:rPr lang="en-US" sz="1600" b="1" dirty="0">
                <a:ea typeface="+mn-lt"/>
                <a:cs typeface="+mn-lt"/>
              </a:rPr>
              <a:t> ----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subplot(3,3,7);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plot(</a:t>
            </a:r>
            <a:r>
              <a:rPr lang="en-US" sz="1600" dirty="0" err="1">
                <a:ea typeface="+mn-lt"/>
                <a:cs typeface="+mn-lt"/>
              </a:rPr>
              <a:t>Vov</a:t>
            </a:r>
            <a:r>
              <a:rPr lang="en-US" sz="1600" dirty="0">
                <a:ea typeface="+mn-lt"/>
                <a:cs typeface="+mn-lt"/>
              </a:rPr>
              <a:t>, ID_W, '</a:t>
            </a:r>
            <a:r>
              <a:rPr lang="en-US" sz="1600" dirty="0" err="1">
                <a:ea typeface="+mn-lt"/>
                <a:cs typeface="+mn-lt"/>
              </a:rPr>
              <a:t>LineWidth</a:t>
            </a:r>
            <a:r>
              <a:rPr lang="en-US" sz="1600" dirty="0">
                <a:ea typeface="+mn-lt"/>
                <a:cs typeface="+mn-lt"/>
              </a:rPr>
              <a:t>', 1.2);</a:t>
            </a:r>
          </a:p>
          <a:p>
            <a:pPr marL="0" indent="0">
              <a:buNone/>
            </a:pPr>
            <a:r>
              <a:rPr lang="en-US" sz="1600" dirty="0" err="1">
                <a:ea typeface="+mn-lt"/>
                <a:cs typeface="+mn-lt"/>
              </a:rPr>
              <a:t>xlabel</a:t>
            </a:r>
            <a:r>
              <a:rPr lang="en-US" sz="1600" dirty="0">
                <a:ea typeface="+mn-lt"/>
                <a:cs typeface="+mn-lt"/>
              </a:rPr>
              <a:t>('V_{OV} (V)'); </a:t>
            </a:r>
            <a:r>
              <a:rPr lang="en-US" sz="1600" dirty="0" err="1">
                <a:ea typeface="+mn-lt"/>
                <a:cs typeface="+mn-lt"/>
              </a:rPr>
              <a:t>ylabel</a:t>
            </a:r>
            <a:r>
              <a:rPr lang="en-US" sz="1600" dirty="0">
                <a:ea typeface="+mn-lt"/>
                <a:cs typeface="+mn-lt"/>
              </a:rPr>
              <a:t>('I_D/W (A/m)');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title('I_D/W vs V_{OV}'); grid on;</a:t>
            </a:r>
          </a:p>
          <a:p>
            <a:pPr marL="0" indent="0">
              <a:buNone/>
            </a:pPr>
            <a:r>
              <a:rPr lang="en-US" sz="1600" b="1" dirty="0">
                <a:ea typeface="+mn-lt"/>
                <a:cs typeface="+mn-lt"/>
              </a:rPr>
              <a:t>% Add a single legend outside plots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legend(</a:t>
            </a:r>
            <a:r>
              <a:rPr lang="en-US" sz="1600" dirty="0" err="1">
                <a:ea typeface="+mn-lt"/>
                <a:cs typeface="+mn-lt"/>
              </a:rPr>
              <a:t>Lvec_ID_clean</a:t>
            </a:r>
            <a:r>
              <a:rPr lang="en-US" sz="1600" dirty="0">
                <a:ea typeface="+mn-lt"/>
                <a:cs typeface="+mn-lt"/>
              </a:rPr>
              <a:t>, 'Interpreter','none','Location','</a:t>
            </a:r>
            <a:r>
              <a:rPr lang="en-US" sz="1600" dirty="0" err="1">
                <a:ea typeface="+mn-lt"/>
                <a:cs typeface="+mn-lt"/>
              </a:rPr>
              <a:t>eastoutside</a:t>
            </a:r>
            <a:r>
              <a:rPr lang="en-US" sz="1600" dirty="0">
                <a:ea typeface="+mn-lt"/>
                <a:cs typeface="+mn-lt"/>
              </a:rPr>
              <a:t>');</a:t>
            </a:r>
          </a:p>
          <a:p>
            <a:pPr marL="0" indent="0">
              <a:buNone/>
            </a:pPr>
            <a:r>
              <a:rPr lang="en-US" sz="1600" dirty="0" err="1">
                <a:ea typeface="+mn-lt"/>
                <a:cs typeface="+mn-lt"/>
              </a:rPr>
              <a:t>sgtitle</a:t>
            </a:r>
            <a:r>
              <a:rPr lang="en-US" sz="1600" dirty="0">
                <a:ea typeface="+mn-lt"/>
                <a:cs typeface="+mn-lt"/>
              </a:rPr>
              <a:t>('All Parameters vs V_{OV}');</a:t>
            </a:r>
          </a:p>
          <a:p>
            <a:pPr marL="0" indent="0">
              <a:buNone/>
            </a:pPr>
            <a:endParaRPr lang="en-US" sz="16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324219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1C7A4-5378-5EC4-7CB1-F0A631E3D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541"/>
            <a:ext cx="10515600" cy="61853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Results: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64109-436F-A6DD-2395-1B1BF7A2C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39" y="773063"/>
            <a:ext cx="10466230" cy="5310412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2356231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Simulation Steps for gm/ID</vt:lpstr>
      <vt:lpstr>Presentation topics</vt:lpstr>
      <vt:lpstr>Generating the Look-Up Tables (LUTs)</vt:lpstr>
      <vt:lpstr> Create a Characterization Schematic</vt:lpstr>
      <vt:lpstr>PowerPoint Presentation</vt:lpstr>
      <vt:lpstr> Set up the DC Sweep in ADE </vt:lpstr>
      <vt:lpstr>Extract and Save Key Parameters</vt:lpstr>
      <vt:lpstr>PowerPoint Presentation</vt:lpstr>
      <vt:lpstr>PowerPoint Presentation</vt:lpstr>
      <vt:lpstr>Use Results Browser to add parameters</vt:lpstr>
      <vt:lpstr>PowerPoint Presentation</vt:lpstr>
      <vt:lpstr>PowerPoint Presentation</vt:lpstr>
      <vt:lpstr>PowerPoint Presentation</vt:lpstr>
      <vt:lpstr>PowerPoint Presentation</vt:lpstr>
      <vt:lpstr>Create the gm/ID Curves </vt:lpstr>
      <vt:lpstr>PowerPoint Presentation</vt:lpstr>
      <vt:lpstr>Parametric analysis for Different Lengths</vt:lpstr>
      <vt:lpstr>PowerPoint Presentation</vt:lpstr>
      <vt:lpstr>Ocean scripting for plotting graphs w.r.t gm/ID</vt:lpstr>
      <vt:lpstr>PowerPoint Presentation</vt:lpstr>
      <vt:lpstr>PowerPoint Presentation</vt:lpstr>
      <vt:lpstr>PowerPoint Presentation</vt:lpstr>
      <vt:lpstr>Parametric analysis using ocean scripting</vt:lpstr>
      <vt:lpstr>PowerPoint Presentation</vt:lpstr>
      <vt:lpstr>PowerPoint Presentation</vt:lpstr>
      <vt:lpstr>Plotting of gm/ID graphs on MATLAB</vt:lpstr>
      <vt:lpstr>PowerPoint Presentation</vt:lpstr>
      <vt:lpstr>PowerPoint Presentation</vt:lpstr>
      <vt:lpstr>Run MATLAB </vt:lpstr>
      <vt:lpstr>PowerPoint Presentation</vt:lpstr>
      <vt:lpstr>PowerPoint Presentation</vt:lpstr>
      <vt:lpstr>PowerPoint Presentation</vt:lpstr>
      <vt:lpstr>Parametric Analysis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1847</cp:revision>
  <dcterms:created xsi:type="dcterms:W3CDTF">2025-08-17T16:39:56Z</dcterms:created>
  <dcterms:modified xsi:type="dcterms:W3CDTF">2025-08-24T09:32:13Z</dcterms:modified>
</cp:coreProperties>
</file>