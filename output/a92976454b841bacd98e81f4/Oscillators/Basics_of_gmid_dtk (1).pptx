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0" r:id="rId18"/>
    <p:sldId id="275" r:id="rId19"/>
    <p:sldId id="276" r:id="rId20"/>
    <p:sldId id="271" r:id="rId21"/>
    <p:sldId id="277" r:id="rId22"/>
    <p:sldId id="27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BDE19C-3F16-F2D4-EFF5-D896DBD12D5F}" v="686" dt="2025-08-14T18:55:03.839"/>
    <p1510:client id="{E8DE913F-E775-581E-0DEF-F4CF87AC7705}" v="1649" dt="2025-08-16T14:13:30.166"/>
    <p1510:client id="{F3F9731A-3660-782B-6C6F-FDF65D65E9B2}" v="1626" dt="2025-08-15T07:25:55.0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9595B4-88A7-4673-9DDE-8B8B1B5FCA1D}" type="datetimeFigureOut">
              <a:t>8/16/2025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56E6B-3F41-4B75-990C-5E9E2CDD255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894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</a:t>
            </a:r>
            <a:r>
              <a:rPr lang="en-US" b="1" dirty="0"/>
              <a:t>paralleling </a:t>
            </a:r>
            <a:r>
              <a:rPr lang="en-US" dirty="0"/>
              <a:t>MOSFETs is like increasing width W: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ID∝W → its like doubling the channel width; ID doubles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/>
              <a:t>gm∝W</a:t>
            </a:r>
            <a:r>
              <a:rPr lang="en-US" dirty="0"/>
              <a:t> → doubling W (paralleling) ; gm doubles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/>
              <a:t>Cgs∝W</a:t>
            </a:r>
            <a:r>
              <a:rPr lang="en-US" dirty="0"/>
              <a:t>→ Capacitance is proportional to gate area (W×L), so doubling W doubles Cgs.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556E6B-3F41-4B75-990C-5E9E2CDD2555}" type="slidenum"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07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 A Basic Intro to Gm/Id technique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ptos Display"/>
              </a:rPr>
              <a:t>Presented by Deepa Kulkarni</a:t>
            </a:r>
          </a:p>
          <a:p>
            <a:r>
              <a:rPr lang="en-US" dirty="0">
                <a:latin typeface="Aptos Display"/>
              </a:rPr>
              <a:t>Guided by Neeraj Mishra, BITS Pilani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644B8-9783-EC09-19CE-4E5FC9906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1"/>
            <a:ext cx="10515600" cy="1325563"/>
          </a:xfrm>
        </p:spPr>
        <p:txBody>
          <a:bodyPr/>
          <a:lstStyle/>
          <a:p>
            <a:r>
              <a:rPr lang="en-US" b="1" dirty="0"/>
              <a:t>Presentation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69B54-061E-DB05-680F-6883622C6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8644"/>
            <a:ext cx="10515600" cy="53577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sz="2400" dirty="0"/>
              <a:t>Introduction</a:t>
            </a:r>
          </a:p>
          <a:p>
            <a:pPr marL="514350" indent="-514350">
              <a:buAutoNum type="arabicPeriod"/>
            </a:pPr>
            <a:r>
              <a:rPr lang="en-US" sz="2400" dirty="0"/>
              <a:t>Big picture</a:t>
            </a:r>
          </a:p>
          <a:p>
            <a:pPr marL="514350" indent="-514350">
              <a:buAutoNum type="arabicPeriod"/>
            </a:pPr>
            <a:r>
              <a:rPr lang="en-US" sz="2400" dirty="0"/>
              <a:t>Long-channel method</a:t>
            </a:r>
          </a:p>
          <a:p>
            <a:pPr marL="514350" indent="-514350">
              <a:buAutoNum type="arabicPeriod"/>
            </a:pPr>
            <a:r>
              <a:rPr lang="en-US" sz="2400" dirty="0"/>
              <a:t>The </a:t>
            </a:r>
            <a:r>
              <a:rPr lang="en-US" sz="2400" err="1"/>
              <a:t>Vov</a:t>
            </a:r>
            <a:r>
              <a:rPr lang="en-US" sz="2400" dirty="0"/>
              <a:t>-Based Design Methodology</a:t>
            </a:r>
          </a:p>
          <a:p>
            <a:pPr marL="514350" indent="-514350">
              <a:buAutoNum type="arabicPeriod"/>
            </a:pPr>
            <a:r>
              <a:rPr lang="en-US" sz="2400" dirty="0"/>
              <a:t>Limitations of the </a:t>
            </a:r>
            <a:r>
              <a:rPr lang="en-US" sz="2400" err="1"/>
              <a:t>Vov</a:t>
            </a:r>
            <a:r>
              <a:rPr lang="en-US" sz="2400" dirty="0"/>
              <a:t>-based design.</a:t>
            </a:r>
          </a:p>
          <a:p>
            <a:pPr marL="514350" indent="-514350">
              <a:buAutoNum type="arabicPeriod"/>
            </a:pPr>
            <a:r>
              <a:rPr lang="en-US" sz="2400" dirty="0"/>
              <a:t>The gm/ID-Based Design Methodology</a:t>
            </a:r>
          </a:p>
          <a:p>
            <a:pPr marL="514350" indent="-514350">
              <a:buAutoNum type="arabicPeriod"/>
            </a:pPr>
            <a:r>
              <a:rPr lang="en-US" sz="2400" dirty="0"/>
              <a:t>A deeper understanding of gm/ID technique. </a:t>
            </a:r>
          </a:p>
          <a:p>
            <a:pPr marL="514350" indent="-514350">
              <a:buAutoNum type="arabicPeriod"/>
            </a:pPr>
            <a:r>
              <a:rPr lang="en-US" sz="2400" dirty="0"/>
              <a:t>Conclusion</a:t>
            </a:r>
          </a:p>
          <a:p>
            <a:pPr marL="514350" indent="-514350">
              <a:buAutoNum type="arabicPeriod"/>
            </a:pPr>
            <a:endParaRPr lang="en-US" sz="2400" dirty="0"/>
          </a:p>
          <a:p>
            <a:pPr marL="514350" indent="-514350">
              <a:buAutoNum type="arabicPeriod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37263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04D8B-C01E-48D3-6C7F-572D265D8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68"/>
            <a:ext cx="10515600" cy="1325563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Introduction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2FC27-1B41-175C-2811-36113E657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625"/>
            <a:ext cx="10938933" cy="54237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CMOS behavior is hard to predict without complex models, and this problem gets worse as technology scales down. </a:t>
            </a:r>
            <a:endParaRPr lang="en-US"/>
          </a:p>
          <a:p>
            <a:r>
              <a:rPr lang="en-US" sz="2400" dirty="0"/>
              <a:t>Designers get stuck in hand calculations and endless simulations.</a:t>
            </a:r>
          </a:p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Author's goal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gm /ID based design methodology  improves the </a:t>
            </a:r>
            <a:r>
              <a:rPr lang="en-US" b="1" dirty="0">
                <a:ea typeface="+mn-lt"/>
                <a:cs typeface="+mn-lt"/>
              </a:rPr>
              <a:t>predictability </a:t>
            </a:r>
            <a:r>
              <a:rPr lang="en-US" dirty="0">
                <a:ea typeface="+mn-lt"/>
                <a:cs typeface="+mn-lt"/>
              </a:rPr>
              <a:t>of CMOS small-signal behavior without needing complex equations.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Essentially, it serves as a bridge between the transistor's bias point and its small-signal model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AEFD3243-E7C6-DBD6-5E9C-38FB43962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364" y="3923122"/>
            <a:ext cx="2803467" cy="273176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4005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475F-EDBB-94A7-B901-06344D20F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7"/>
            <a:ext cx="10515600" cy="1325563"/>
          </a:xfrm>
        </p:spPr>
        <p:txBody>
          <a:bodyPr/>
          <a:lstStyle/>
          <a:p>
            <a:r>
              <a:rPr lang="en-US" b="1" dirty="0"/>
              <a:t>Big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60B98-FF95-2083-538D-ECD679449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1965"/>
            <a:ext cx="10515600" cy="51649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u="sng" dirty="0">
                <a:ea typeface="+mn-lt"/>
                <a:cs typeface="+mn-lt"/>
              </a:rPr>
              <a:t>Analog Design Relies on Abstraction</a:t>
            </a:r>
            <a:endParaRPr lang="en-US" sz="2400" u="sng" dirty="0" err="1">
              <a:ea typeface="+mn-lt"/>
              <a:cs typeface="+mn-lt"/>
            </a:endParaRPr>
          </a:p>
          <a:p>
            <a:r>
              <a:rPr lang="en-US" sz="2400" b="1" dirty="0">
                <a:ea typeface="+mn-lt"/>
                <a:cs typeface="+mn-lt"/>
              </a:rPr>
              <a:t>Higher-Level Design:</a:t>
            </a:r>
            <a:r>
              <a:rPr lang="en-US" sz="2400" dirty="0">
                <a:ea typeface="+mn-lt"/>
                <a:cs typeface="+mn-lt"/>
              </a:rPr>
              <a:t> involves using components like filters and amplifiers. </a:t>
            </a:r>
            <a:endParaRPr lang="en-US" sz="24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it relies on linear Signals-and-Systems theory, which uses elegant and established mathematics. </a:t>
            </a:r>
          </a:p>
          <a:p>
            <a:r>
              <a:rPr lang="en-US" sz="2400" b="1" dirty="0">
                <a:ea typeface="+mn-lt"/>
                <a:cs typeface="+mn-lt"/>
              </a:rPr>
              <a:t>Lower-Level Design: </a:t>
            </a:r>
            <a:r>
              <a:rPr lang="en-US" sz="2400" dirty="0">
                <a:ea typeface="+mn-lt"/>
                <a:cs typeface="+mn-lt"/>
              </a:rPr>
              <a:t>involves deciding on transistor sizes and bias currents.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Building a gain stage of op-amp is easier than an </a:t>
            </a:r>
            <a:r>
              <a:rPr lang="en-US" dirty="0" err="1"/>
              <a:t>opamp</a:t>
            </a:r>
            <a:r>
              <a:rPr lang="en-US" dirty="0"/>
              <a:t> itself.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WHY</a:t>
            </a:r>
            <a:r>
              <a:rPr lang="en-US" dirty="0"/>
              <a:t>? 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 dirty="0">
                <a:ea typeface="+mn-lt"/>
                <a:cs typeface="+mn-lt"/>
              </a:rPr>
              <a:t>Transistor behavior is nonlinear, linear analysis will not work. 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 dirty="0">
                <a:ea typeface="+mn-lt"/>
                <a:cs typeface="+mn-lt"/>
              </a:rPr>
              <a:t>Technology changes too quickly, so there are no simple, accurate equations for transistors that are useful for both hand calculations and simulations.</a:t>
            </a:r>
            <a:endParaRPr lang="en-US" sz="2400" dirty="0"/>
          </a:p>
          <a:p>
            <a:pPr marL="914400" lvl="2" indent="0">
              <a:buNone/>
            </a:pPr>
            <a:endParaRPr lang="en-US" sz="2400" dirty="0"/>
          </a:p>
        </p:txBody>
      </p:sp>
      <p:pic>
        <p:nvPicPr>
          <p:cNvPr id="4" name="Picture 3" descr="A diagram of a transistor&#10;&#10;AI-generated content may be incorrect.">
            <a:extLst>
              <a:ext uri="{FF2B5EF4-FFF2-40B4-BE49-F238E27FC236}">
                <a16:creationId xmlns:a16="http://schemas.microsoft.com/office/drawing/2014/main" id="{8C706414-4528-3AF6-74D9-A38F64216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685" y="5014532"/>
            <a:ext cx="3016145" cy="16058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2043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189D2-8157-0872-B12A-EB877E715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5354"/>
            <a:ext cx="10961298" cy="59542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u="sng" dirty="0">
                <a:ea typeface="+mn-lt"/>
                <a:cs typeface="+mn-lt"/>
              </a:rPr>
              <a:t>Making Low-Level Design Manageable: </a:t>
            </a:r>
          </a:p>
          <a:p>
            <a:r>
              <a:rPr lang="en-US" sz="2400" b="1" dirty="0"/>
              <a:t>Simplifying Design</a:t>
            </a:r>
            <a:r>
              <a:rPr lang="en-US" sz="2400" dirty="0"/>
              <a:t>: To make low-level design easier, transistors are converted into Signals-and-Systems-friendly devices by using a small-signal model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Mostly by assuming few ideal elements introducing errors. </a:t>
            </a:r>
            <a:endParaRPr lang="en-US" sz="28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Signals and systems techniques allow the designer to analyze gain, BW, frequency response, poles, zeroes etc. </a:t>
            </a:r>
            <a:endParaRPr lang="en-US"/>
          </a:p>
          <a:p>
            <a:r>
              <a:rPr lang="en-US" sz="2400" b="1" dirty="0"/>
              <a:t>The</a:t>
            </a:r>
            <a:r>
              <a:rPr lang="en-US" sz="2000" b="1" dirty="0"/>
              <a:t> </a:t>
            </a:r>
            <a:r>
              <a:rPr lang="en-US" sz="2400" b="1" dirty="0"/>
              <a:t>Bridge:</a:t>
            </a:r>
            <a:r>
              <a:rPr lang="en-US" sz="2400" dirty="0"/>
              <a:t> The gm /ID  (or </a:t>
            </a:r>
            <a:r>
              <a:rPr lang="en-US" sz="2400" dirty="0" err="1"/>
              <a:t>Vov</a:t>
            </a:r>
            <a:r>
              <a:rPr lang="en-US" sz="2400" dirty="0"/>
              <a:t> ) acts as a "translator" or intermediate variable that connects the abstract-to-physical gap. </a:t>
            </a:r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ED9E35B7-DEE9-B20D-3642-27869CFF9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208" y="3683466"/>
            <a:ext cx="2890933" cy="27659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" name="Picture 1" descr="A diagram of a method&#10;&#10;AI-generated content may be incorrect.">
            <a:extLst>
              <a:ext uri="{FF2B5EF4-FFF2-40B4-BE49-F238E27FC236}">
                <a16:creationId xmlns:a16="http://schemas.microsoft.com/office/drawing/2014/main" id="{E9B3858F-CD76-9595-0444-53C391AB8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330" y="3686417"/>
            <a:ext cx="3112899" cy="25460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0355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D6E3D-0297-EDB5-D08B-1070DAFCF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626"/>
            <a:ext cx="10515600" cy="61594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u="sng" dirty="0">
                <a:ea typeface="+mn-lt"/>
                <a:cs typeface="+mn-lt"/>
              </a:rPr>
              <a:t>Why gm/ID is Better than </a:t>
            </a:r>
            <a:r>
              <a:rPr lang="en-US" sz="2400" u="sng" dirty="0" err="1">
                <a:ea typeface="+mn-lt"/>
                <a:cs typeface="+mn-lt"/>
              </a:rPr>
              <a:t>Vov</a:t>
            </a:r>
            <a:r>
              <a:rPr lang="en-US" sz="2400" u="sng" dirty="0">
                <a:ea typeface="+mn-lt"/>
                <a:cs typeface="+mn-lt"/>
              </a:rPr>
              <a:t>?</a:t>
            </a:r>
            <a:endParaRPr lang="en-US" sz="2400" u="sng">
              <a:ea typeface="+mn-lt"/>
              <a:cs typeface="+mn-lt"/>
            </a:endParaRPr>
          </a:p>
          <a:p>
            <a:r>
              <a:rPr lang="en-US" sz="2400" b="1" err="1">
                <a:ea typeface="+mn-lt"/>
                <a:cs typeface="+mn-lt"/>
              </a:rPr>
              <a:t>Vov</a:t>
            </a:r>
            <a:r>
              <a:rPr lang="en-US" sz="2400" b="1" dirty="0">
                <a:ea typeface="+mn-lt"/>
                <a:cs typeface="+mn-lt"/>
              </a:rPr>
              <a:t> -based</a:t>
            </a:r>
            <a:r>
              <a:rPr lang="en-US" sz="2400" dirty="0">
                <a:ea typeface="+mn-lt"/>
                <a:cs typeface="+mn-lt"/>
              </a:rPr>
              <a:t> and </a:t>
            </a:r>
            <a:r>
              <a:rPr lang="en-US" sz="2400" b="1" dirty="0">
                <a:ea typeface="+mn-lt"/>
                <a:cs typeface="+mn-lt"/>
              </a:rPr>
              <a:t>gm /ID -based</a:t>
            </a:r>
            <a:r>
              <a:rPr lang="en-US" sz="2400" dirty="0">
                <a:ea typeface="+mn-lt"/>
                <a:cs typeface="+mn-lt"/>
              </a:rPr>
              <a:t> design methodologies lies in their foundational principles and accuracy.</a:t>
            </a:r>
          </a:p>
          <a:p>
            <a:pPr marL="0" indent="0">
              <a:buNone/>
            </a:pPr>
            <a:r>
              <a:rPr lang="en-US" sz="2400" b="1" err="1">
                <a:ea typeface="+mn-lt"/>
                <a:cs typeface="+mn-lt"/>
              </a:rPr>
              <a:t>Vov</a:t>
            </a:r>
            <a:r>
              <a:rPr lang="en-US" sz="2400" b="1" dirty="0">
                <a:ea typeface="+mn-lt"/>
                <a:cs typeface="+mn-lt"/>
              </a:rPr>
              <a:t> -Based Design</a:t>
            </a:r>
            <a:endParaRPr lang="en-US" sz="2400" b="1" dirty="0"/>
          </a:p>
          <a:p>
            <a:r>
              <a:rPr lang="en-US" sz="2400" dirty="0">
                <a:ea typeface="+mn-lt"/>
                <a:cs typeface="+mn-lt"/>
              </a:rPr>
              <a:t>This method relies on the </a:t>
            </a:r>
            <a:r>
              <a:rPr lang="en-US" sz="2400" b="1" dirty="0">
                <a:ea typeface="+mn-lt"/>
                <a:cs typeface="+mn-lt"/>
              </a:rPr>
              <a:t>long-channel model</a:t>
            </a:r>
            <a:r>
              <a:rPr lang="en-US" sz="2400" dirty="0">
                <a:ea typeface="+mn-lt"/>
                <a:cs typeface="+mn-lt"/>
              </a:rPr>
              <a:t> of a MOSFET, which is derived from simple calculus. 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Assumptions for this model are no longer true for today's small transistor sizes. </a:t>
            </a:r>
          </a:p>
          <a:p>
            <a:r>
              <a:rPr lang="en-US" sz="2400" dirty="0"/>
              <a:t>To salvage the model, designers have tried to patch it with short-channel effects and curve-fitting terms etc., are harder and less accurate.</a:t>
            </a:r>
            <a:endParaRPr lang="en-US" sz="2400"/>
          </a:p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gm /ID -Based Design</a:t>
            </a:r>
            <a:endParaRPr lang="en-US" sz="2400" b="1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This doesn't rely on the long-channel model ; but refers a look-up table. </a:t>
            </a:r>
          </a:p>
          <a:p>
            <a:r>
              <a:rPr lang="en-US" sz="2400" dirty="0">
                <a:ea typeface="+mn-lt"/>
                <a:cs typeface="+mn-lt"/>
              </a:rPr>
              <a:t>It is data generated from accurate device simulations in Spice. </a:t>
            </a:r>
          </a:p>
          <a:p>
            <a:r>
              <a:rPr lang="en-US" sz="2400" dirty="0">
                <a:ea typeface="+mn-lt"/>
                <a:cs typeface="+mn-lt"/>
              </a:rPr>
              <a:t>it provides initial designs close to the final target, needing only minor tweaks.</a:t>
            </a:r>
          </a:p>
        </p:txBody>
      </p:sp>
    </p:spTree>
    <p:extLst>
      <p:ext uri="{BB962C8B-B14F-4D97-AF65-F5344CB8AC3E}">
        <p14:creationId xmlns:p14="http://schemas.microsoft.com/office/powerpoint/2010/main" val="4172105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7B81F-1D49-BC1D-3E6D-38B6803D7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8"/>
            <a:ext cx="10515600" cy="1325563"/>
          </a:xfrm>
        </p:spPr>
        <p:txBody>
          <a:bodyPr/>
          <a:lstStyle/>
          <a:p>
            <a:r>
              <a:rPr lang="en-US" b="1" dirty="0"/>
              <a:t>The more detailed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0FEBD-95FA-87AF-A4D6-802A74C21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5287"/>
            <a:ext cx="10825566" cy="52941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u="sng" dirty="0">
                <a:ea typeface="+mn-lt"/>
                <a:cs typeface="+mn-lt"/>
              </a:rPr>
              <a:t>A First Attempt at Transistor-Level Design: </a:t>
            </a:r>
          </a:p>
          <a:p>
            <a:r>
              <a:rPr lang="en-US" sz="2400" dirty="0">
                <a:ea typeface="+mn-lt"/>
                <a:cs typeface="+mn-lt"/>
              </a:rPr>
              <a:t>The end product in a circuit is basically a </a:t>
            </a:r>
            <a:r>
              <a:rPr lang="en-US" sz="2400" b="1" dirty="0">
                <a:ea typeface="+mn-lt"/>
                <a:cs typeface="+mn-lt"/>
              </a:rPr>
              <a:t>netlist</a:t>
            </a:r>
            <a:r>
              <a:rPr lang="en-US" sz="2400" i="1" dirty="0">
                <a:ea typeface="+mn-lt"/>
                <a:cs typeface="+mn-lt"/>
              </a:rPr>
              <a:t>: </a:t>
            </a:r>
            <a:r>
              <a:rPr lang="en-US" sz="2400" dirty="0">
                <a:ea typeface="+mn-lt"/>
                <a:cs typeface="+mn-lt"/>
              </a:rPr>
              <a:t>a list of all components (transistors, resistors, capacitors, etc.) and how they’re connected. 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In SPICE, designing often comes down to </a:t>
            </a:r>
            <a:r>
              <a:rPr lang="en-US" sz="2400" b="1" dirty="0">
                <a:ea typeface="+mn-lt"/>
                <a:cs typeface="+mn-lt"/>
              </a:rPr>
              <a:t>choosing W and L</a:t>
            </a:r>
            <a:r>
              <a:rPr lang="en-US" sz="2400" dirty="0">
                <a:ea typeface="+mn-lt"/>
                <a:cs typeface="+mn-lt"/>
              </a:rPr>
              <a:t> for each transistor.</a:t>
            </a:r>
            <a:endParaRPr lang="en-US" sz="2400" dirty="0"/>
          </a:p>
          <a:p>
            <a:r>
              <a:rPr lang="en-US" sz="2400" b="1" dirty="0"/>
              <a:t>One way to choose these is</a:t>
            </a:r>
            <a:r>
              <a:rPr lang="en-US" sz="2400" dirty="0"/>
              <a:t>: </a:t>
            </a:r>
            <a:r>
              <a:rPr lang="en-US" sz="2400" dirty="0">
                <a:ea typeface="+mn-lt"/>
                <a:cs typeface="+mn-lt"/>
              </a:rPr>
              <a:t>Pick a circuit topology ; Guess W, L (and any R, C); Simulate; Check if it meets specs; If not, change sizes and repeat.</a:t>
            </a:r>
            <a:endParaRPr lang="en-US" sz="2400" dirty="0"/>
          </a:p>
          <a:p>
            <a:r>
              <a:rPr lang="en-US" sz="2400" dirty="0"/>
              <a:t>This </a:t>
            </a:r>
            <a:r>
              <a:rPr lang="en-US" sz="2400" dirty="0">
                <a:ea typeface="+mn-lt"/>
                <a:cs typeface="+mn-lt"/>
              </a:rPr>
              <a:t>approach is called </a:t>
            </a:r>
            <a:r>
              <a:rPr lang="en-US" sz="2400" b="1" dirty="0">
                <a:solidFill>
                  <a:srgbClr val="FF0000"/>
                </a:solidFill>
                <a:ea typeface="+mn-lt"/>
                <a:cs typeface="+mn-lt"/>
              </a:rPr>
              <a:t>SPICE Monkeying. </a:t>
            </a:r>
            <a:r>
              <a:rPr lang="en-US" sz="2400" b="1" dirty="0">
                <a:ea typeface="+mn-lt"/>
                <a:cs typeface="+mn-lt"/>
              </a:rPr>
              <a:t>- </a:t>
            </a:r>
            <a:r>
              <a:rPr lang="en-US" sz="2400" dirty="0">
                <a:ea typeface="+mn-lt"/>
                <a:cs typeface="+mn-lt"/>
              </a:rPr>
              <a:t>slow and blind. </a:t>
            </a:r>
            <a:endParaRPr lang="en-US" sz="24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b="1" dirty="0"/>
              <a:t>Solution?</a:t>
            </a:r>
          </a:p>
          <a:p>
            <a:r>
              <a:rPr lang="en-US" sz="2400" dirty="0"/>
              <a:t> Instead</a:t>
            </a:r>
            <a:r>
              <a:rPr lang="en-US" sz="2400" b="1" dirty="0"/>
              <a:t>, </a:t>
            </a:r>
            <a:r>
              <a:rPr lang="en-US" sz="2400" dirty="0">
                <a:ea typeface="+mn-lt"/>
                <a:cs typeface="+mn-lt"/>
              </a:rPr>
              <a:t>use </a:t>
            </a:r>
            <a:r>
              <a:rPr lang="en-US" sz="2400" b="1" dirty="0">
                <a:ea typeface="+mn-lt"/>
                <a:cs typeface="+mn-lt"/>
              </a:rPr>
              <a:t>hand calculations</a:t>
            </a:r>
            <a:r>
              <a:rPr lang="en-US" sz="2400" dirty="0">
                <a:ea typeface="+mn-lt"/>
                <a:cs typeface="+mn-lt"/>
              </a:rPr>
              <a:t> with small-signal models to understand and predict behavior before simulating.  - faster and smarter!</a:t>
            </a:r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20664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0A557-F7BC-65EB-0F09-7579691FE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68"/>
            <a:ext cx="10515600" cy="1325563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Long-Channel Model Review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BDB7B-ADB6-3E92-F675-6E26532E2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018"/>
            <a:ext cx="11108266" cy="55926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u="sng" dirty="0"/>
              <a:t>Long-channel model: </a:t>
            </a:r>
            <a:r>
              <a:rPr lang="en-US" sz="2400" dirty="0"/>
              <a:t>derivation might be over-simplified, but it provides a good starting point and intuition in predicting the circuits.  </a:t>
            </a:r>
          </a:p>
          <a:p>
            <a:r>
              <a:rPr lang="en-US" sz="2400" dirty="0"/>
              <a:t>It describes the relationship between drain current Id and nodal voltages </a:t>
            </a:r>
            <a:r>
              <a:rPr lang="en-US" sz="2400" dirty="0" err="1"/>
              <a:t>Vds</a:t>
            </a:r>
            <a:r>
              <a:rPr lang="en-US" sz="2400" dirty="0"/>
              <a:t> &amp; </a:t>
            </a:r>
            <a:r>
              <a:rPr lang="en-US" sz="2400" dirty="0" err="1"/>
              <a:t>Vgs</a:t>
            </a:r>
            <a:r>
              <a:rPr lang="en-US" sz="2400" dirty="0"/>
              <a:t>.</a:t>
            </a:r>
          </a:p>
          <a:p>
            <a:r>
              <a:rPr lang="en-US" sz="2400" err="1"/>
              <a:t>Vov</a:t>
            </a:r>
            <a:r>
              <a:rPr lang="en-US" sz="2400" dirty="0"/>
              <a:t> is the </a:t>
            </a:r>
            <a:r>
              <a:rPr lang="en-US" sz="2400" dirty="0">
                <a:solidFill>
                  <a:srgbClr val="FF0000"/>
                </a:solidFill>
              </a:rPr>
              <a:t>overdrive </a:t>
            </a:r>
            <a:r>
              <a:rPr lang="en-US" sz="2400" dirty="0"/>
              <a:t>voltage: </a:t>
            </a:r>
            <a:r>
              <a:rPr lang="en-US" sz="2400" b="1" err="1"/>
              <a:t>Vov</a:t>
            </a:r>
            <a:r>
              <a:rPr lang="en-US" sz="2400" b="1" dirty="0"/>
              <a:t> = </a:t>
            </a:r>
            <a:r>
              <a:rPr lang="en-US" sz="2400" b="1" err="1"/>
              <a:t>Vgs</a:t>
            </a:r>
            <a:r>
              <a:rPr lang="en-US" sz="2400" b="1" dirty="0"/>
              <a:t>-Vth.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Vov</a:t>
            </a:r>
            <a:r>
              <a:rPr lang="en-US" dirty="0"/>
              <a:t> tells how inverted the channel is.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It is easier to work with than </a:t>
            </a:r>
            <a:r>
              <a:rPr lang="en-US" dirty="0" err="1"/>
              <a:t>Vgs</a:t>
            </a:r>
            <a:r>
              <a:rPr lang="en-US" dirty="0"/>
              <a:t> (hides dependency on Vth).</a:t>
            </a:r>
          </a:p>
          <a:p>
            <a:r>
              <a:rPr lang="en-US" sz="2400" b="1" dirty="0"/>
              <a:t>Inversion</a:t>
            </a:r>
            <a:r>
              <a:rPr lang="en-US" sz="2400" dirty="0"/>
              <a:t>: Material in the channel starts behaving as the inverse of itself.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A small </a:t>
            </a:r>
            <a:r>
              <a:rPr lang="en-US" dirty="0" err="1"/>
              <a:t>Vov</a:t>
            </a:r>
            <a:r>
              <a:rPr lang="en-US" dirty="0"/>
              <a:t> is weak inversion (</a:t>
            </a:r>
            <a:r>
              <a:rPr lang="en-US" dirty="0">
                <a:ea typeface="+mn-lt"/>
                <a:cs typeface="+mn-lt"/>
              </a:rPr>
              <a:t>low current</a:t>
            </a:r>
            <a:r>
              <a:rPr lang="en-US" dirty="0"/>
              <a:t>).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A large </a:t>
            </a:r>
            <a:r>
              <a:rPr lang="en-US" dirty="0" err="1"/>
              <a:t>Vov</a:t>
            </a:r>
            <a:r>
              <a:rPr lang="en-US" dirty="0"/>
              <a:t> is strong inversion (</a:t>
            </a:r>
            <a:r>
              <a:rPr lang="en-US" dirty="0">
                <a:ea typeface="+mn-lt"/>
                <a:cs typeface="+mn-lt"/>
              </a:rPr>
              <a:t>high current).</a:t>
            </a:r>
          </a:p>
          <a:p>
            <a:r>
              <a:rPr lang="en-US" sz="2400" u="sng" dirty="0"/>
              <a:t>Regions </a:t>
            </a:r>
            <a:r>
              <a:rPr lang="en-US" sz="2400" dirty="0"/>
              <a:t>of operation of MOSFET: Cutoff, Linear and Saturation. </a:t>
            </a:r>
          </a:p>
        </p:txBody>
      </p:sp>
    </p:spTree>
    <p:extLst>
      <p:ext uri="{BB962C8B-B14F-4D97-AF65-F5344CB8AC3E}">
        <p14:creationId xmlns:p14="http://schemas.microsoft.com/office/powerpoint/2010/main" val="1946982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F1C08-CAD0-66C5-8E26-7BF2880B2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8831"/>
            <a:ext cx="10515600" cy="64885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b="1" dirty="0">
                <a:ea typeface="+mn-lt"/>
                <a:cs typeface="+mn-lt"/>
              </a:rPr>
              <a:t>1. Cutoff Region</a:t>
            </a:r>
            <a:endParaRPr lang="en-US" sz="240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Condition: </a:t>
            </a:r>
            <a:r>
              <a:rPr lang="en-US" err="1">
                <a:ea typeface="+mn-lt"/>
                <a:cs typeface="+mn-lt"/>
              </a:rPr>
              <a:t>Vov</a:t>
            </a:r>
            <a:r>
              <a:rPr lang="en-US" dirty="0">
                <a:ea typeface="+mn-lt"/>
                <a:cs typeface="+mn-lt"/>
              </a:rPr>
              <a:t> &lt; 0 (or Vg&lt; Vth).</a:t>
            </a:r>
            <a:endParaRPr lang="en-US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No channel inversion → </a:t>
            </a:r>
            <a:r>
              <a:rPr lang="en-US" b="1" dirty="0">
                <a:ea typeface="+mn-lt"/>
                <a:cs typeface="+mn-lt"/>
              </a:rPr>
              <a:t>ID = 0</a:t>
            </a:r>
            <a:r>
              <a:rPr lang="en-US" dirty="0">
                <a:ea typeface="+mn-lt"/>
                <a:cs typeface="+mn-lt"/>
              </a:rPr>
              <a:t> (OFF state).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2. Linear Region</a:t>
            </a:r>
            <a:endParaRPr lang="en-US" sz="2400" b="1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Condition: </a:t>
            </a:r>
            <a:r>
              <a:rPr lang="en-US" err="1">
                <a:ea typeface="+mn-lt"/>
                <a:cs typeface="+mn-lt"/>
              </a:rPr>
              <a:t>Vov</a:t>
            </a:r>
            <a:r>
              <a:rPr lang="en-US" dirty="0">
                <a:ea typeface="+mn-lt"/>
                <a:cs typeface="+mn-lt"/>
              </a:rPr>
              <a:t> ≥ 0 and </a:t>
            </a:r>
            <a:r>
              <a:rPr lang="en-US" err="1">
                <a:ea typeface="+mn-lt"/>
                <a:cs typeface="+mn-lt"/>
              </a:rPr>
              <a:t>Vds</a:t>
            </a:r>
            <a:r>
              <a:rPr lang="en-US" dirty="0">
                <a:ea typeface="+mn-lt"/>
                <a:cs typeface="+mn-lt"/>
              </a:rPr>
              <a:t> &lt; </a:t>
            </a:r>
            <a:r>
              <a:rPr lang="en-US" err="1">
                <a:ea typeface="+mn-lt"/>
                <a:cs typeface="+mn-lt"/>
              </a:rPr>
              <a:t>Vdsat</a:t>
            </a:r>
            <a:r>
              <a:rPr lang="en-US" dirty="0">
                <a:ea typeface="+mn-lt"/>
                <a:cs typeface="+mn-lt"/>
              </a:rPr>
              <a:t>. </a:t>
            </a:r>
            <a:endParaRPr lang="en-US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Channel inversion present, but ID depends strongly on </a:t>
            </a:r>
            <a:r>
              <a:rPr lang="en-US" err="1">
                <a:ea typeface="+mn-lt"/>
                <a:cs typeface="+mn-lt"/>
              </a:rPr>
              <a:t>Vds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Equation:</a:t>
            </a:r>
            <a:endParaRPr lang="en-US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The transistor is used as a switch in this region. </a:t>
            </a:r>
            <a:endParaRPr lang="en-US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The ON-resistance is 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3. Saturation Region</a:t>
            </a:r>
            <a:endParaRPr lang="en-US" sz="240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Condition: Vov≥0 and </a:t>
            </a:r>
            <a:r>
              <a:rPr lang="en-US" sz="2400" dirty="0" err="1">
                <a:ea typeface="+mn-lt"/>
                <a:cs typeface="+mn-lt"/>
              </a:rPr>
              <a:t>Vds≥Vdsat</a:t>
            </a:r>
            <a:r>
              <a:rPr lang="en-US" sz="2400" dirty="0">
                <a:ea typeface="+mn-lt"/>
                <a:cs typeface="+mn-lt"/>
              </a:rPr>
              <a:t>.</a:t>
            </a:r>
          </a:p>
          <a:p>
            <a:r>
              <a:rPr lang="en-US" sz="2400" dirty="0">
                <a:ea typeface="+mn-lt"/>
                <a:cs typeface="+mn-lt"/>
              </a:rPr>
              <a:t>ID becomes a function of the gate voltage </a:t>
            </a:r>
            <a:r>
              <a:rPr lang="en-US" sz="2400" dirty="0" err="1">
                <a:ea typeface="+mn-lt"/>
                <a:cs typeface="+mn-lt"/>
              </a:rPr>
              <a:t>Vov</a:t>
            </a:r>
            <a:r>
              <a:rPr lang="en-US" sz="2400" dirty="0">
                <a:ea typeface="+mn-lt"/>
                <a:cs typeface="+mn-lt"/>
              </a:rPr>
              <a:t> (not of </a:t>
            </a:r>
            <a:r>
              <a:rPr lang="en-US" sz="2400" dirty="0" err="1">
                <a:ea typeface="+mn-lt"/>
                <a:cs typeface="+mn-lt"/>
              </a:rPr>
              <a:t>Vds</a:t>
            </a:r>
            <a:r>
              <a:rPr lang="en-US" sz="2400" dirty="0">
                <a:ea typeface="+mn-lt"/>
                <a:cs typeface="+mn-lt"/>
              </a:rPr>
              <a:t>).</a:t>
            </a:r>
          </a:p>
          <a:p>
            <a:r>
              <a:rPr lang="en-US" sz="2400" dirty="0">
                <a:ea typeface="+mn-lt"/>
                <a:cs typeface="+mn-lt"/>
              </a:rPr>
              <a:t>Most </a:t>
            </a:r>
            <a:r>
              <a:rPr lang="en-US" sz="2400" b="1" dirty="0">
                <a:ea typeface="+mn-lt"/>
                <a:cs typeface="+mn-lt"/>
              </a:rPr>
              <a:t>signal-path transistors</a:t>
            </a:r>
            <a:r>
              <a:rPr lang="en-US" sz="2400" dirty="0">
                <a:ea typeface="+mn-lt"/>
                <a:cs typeface="+mn-lt"/>
              </a:rPr>
              <a:t> are operated here.</a:t>
            </a:r>
          </a:p>
          <a:p>
            <a:r>
              <a:rPr lang="en-US" sz="2400" dirty="0"/>
              <a:t>For enough Headroom: </a:t>
            </a:r>
            <a:r>
              <a:rPr lang="en-US" sz="2400" dirty="0" err="1"/>
              <a:t>Vds≥Vdsat</a:t>
            </a:r>
            <a:r>
              <a:rPr lang="en-US" sz="2400" dirty="0"/>
              <a:t>; A saturation-type simulations are done.</a:t>
            </a:r>
          </a:p>
        </p:txBody>
      </p:sp>
      <p:pic>
        <p:nvPicPr>
          <p:cNvPr id="4" name="Picture 3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5B56667D-4515-1BBC-4ADD-3DE14DD09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324" y="2765575"/>
            <a:ext cx="2581275" cy="4857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921387-D416-EEF0-6545-C73F7A1AC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925" y="3949700"/>
            <a:ext cx="1047750" cy="609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742FF306-5B56-9BBC-391B-47372DEC0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438" y="4978400"/>
            <a:ext cx="1457325" cy="609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 descr="A diagram of a function&#10;&#10;AI-generated content may be incorrect.">
            <a:extLst>
              <a:ext uri="{FF2B5EF4-FFF2-40B4-BE49-F238E27FC236}">
                <a16:creationId xmlns:a16="http://schemas.microsoft.com/office/drawing/2014/main" id="{710E1882-289E-DA6C-C496-82B10DD2CA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7277" y="352425"/>
            <a:ext cx="2362200" cy="18732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7433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A2F5-74FE-EC09-19BD-260811A52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1"/>
            <a:ext cx="10515600" cy="1325563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The </a:t>
            </a:r>
            <a:r>
              <a:rPr lang="en-US" b="1" dirty="0" err="1">
                <a:ea typeface="+mj-lt"/>
                <a:cs typeface="+mj-lt"/>
              </a:rPr>
              <a:t>Vov</a:t>
            </a:r>
            <a:r>
              <a:rPr lang="en-US" b="1" dirty="0">
                <a:ea typeface="+mj-lt"/>
                <a:cs typeface="+mj-lt"/>
              </a:rPr>
              <a:t>-Based Design Methodology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692D2-32F5-4B24-52F6-934DA5F85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2381"/>
            <a:ext cx="10807700" cy="56052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u="sng" dirty="0"/>
              <a:t>Gm, ft and making sense of transistor-level design</a:t>
            </a:r>
          </a:p>
          <a:p>
            <a:r>
              <a:rPr lang="en-US" sz="2400" dirty="0"/>
              <a:t>We have to develop </a:t>
            </a:r>
            <a:r>
              <a:rPr lang="en-US" sz="2400" dirty="0" err="1"/>
              <a:t>Vov</a:t>
            </a:r>
            <a:r>
              <a:rPr lang="en-US" sz="2400" dirty="0"/>
              <a:t> into a design variable and link It with Small-signal model. </a:t>
            </a:r>
          </a:p>
          <a:p>
            <a:r>
              <a:rPr lang="en-US" sz="2400" dirty="0"/>
              <a:t>Gm is the slope of Id vs </a:t>
            </a:r>
            <a:r>
              <a:rPr lang="en-US" sz="2400" dirty="0" err="1"/>
              <a:t>Voc</a:t>
            </a:r>
            <a:r>
              <a:rPr lang="en-US" sz="2400" dirty="0"/>
              <a:t> curve. :                                                     and 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These equations give the idea of relationship between </a:t>
            </a:r>
            <a:r>
              <a:rPr lang="en-US" b="1" dirty="0"/>
              <a:t>gm/Id and </a:t>
            </a:r>
            <a:r>
              <a:rPr lang="en-US" b="1" dirty="0" err="1"/>
              <a:t>Vov</a:t>
            </a:r>
            <a:r>
              <a:rPr lang="en-US" b="1" dirty="0"/>
              <a:t>.</a:t>
            </a:r>
            <a:r>
              <a:rPr lang="en-US" dirty="0"/>
              <a:t>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This defined </a:t>
            </a:r>
            <a:r>
              <a:rPr lang="en-US" b="1" dirty="0" err="1"/>
              <a:t>tranconductor</a:t>
            </a:r>
            <a:r>
              <a:rPr lang="en-US" b="1" dirty="0"/>
              <a:t> efficiency </a:t>
            </a:r>
            <a:r>
              <a:rPr lang="en-US" dirty="0">
                <a:ea typeface="+mn-lt"/>
                <a:cs typeface="+mn-lt"/>
              </a:rPr>
              <a:t>(mS/mA</a:t>
            </a:r>
            <a:r>
              <a:rPr lang="en-US" dirty="0"/>
              <a:t>; same as gm/Id).</a:t>
            </a:r>
            <a:endParaRPr lang="en-US" dirty="0">
              <a:ea typeface="+mn-lt"/>
              <a:cs typeface="+mn-lt"/>
            </a:endParaRPr>
          </a:p>
          <a:p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Interpretation</a:t>
            </a:r>
            <a:r>
              <a:rPr lang="en-US" sz="2400" b="1" dirty="0">
                <a:ea typeface="+mn-lt"/>
                <a:cs typeface="+mn-lt"/>
              </a:rPr>
              <a:t>: </a:t>
            </a:r>
            <a:r>
              <a:rPr lang="en-US" sz="2400" dirty="0">
                <a:ea typeface="+mn-lt"/>
                <a:cs typeface="+mn-lt"/>
              </a:rPr>
              <a:t>It tells you how much gm (in mS) you get when you invest a given ID (in mA). </a:t>
            </a:r>
            <a:endParaRPr lang="en-US" sz="2400" dirty="0"/>
          </a:p>
          <a:p>
            <a:pPr lvl="1"/>
            <a:r>
              <a:rPr lang="en-US" dirty="0">
                <a:ea typeface="+mn-lt"/>
                <a:cs typeface="+mn-lt"/>
              </a:rPr>
              <a:t>Higher gm → more gain.</a:t>
            </a:r>
            <a:endParaRPr lang="en-US"/>
          </a:p>
          <a:p>
            <a:pPr lvl="1"/>
            <a:r>
              <a:rPr lang="en-US" dirty="0">
                <a:ea typeface="+mn-lt"/>
                <a:cs typeface="+mn-lt"/>
              </a:rPr>
              <a:t>Increasing ID (for fixed </a:t>
            </a:r>
            <a:r>
              <a:rPr lang="en-US" dirty="0" err="1">
                <a:ea typeface="+mn-lt"/>
                <a:cs typeface="+mn-lt"/>
              </a:rPr>
              <a:t>Vov</a:t>
            </a:r>
            <a:r>
              <a:rPr lang="en-US" dirty="0">
                <a:ea typeface="+mn-lt"/>
                <a:cs typeface="+mn-lt"/>
              </a:rPr>
              <a:t>) increases gm.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C54DED-7563-6F38-4F74-35C870296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281" y="2199467"/>
            <a:ext cx="2819400" cy="6762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8FB79B-4209-EF59-E091-E6A1EA7BD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7238" y="2200275"/>
            <a:ext cx="1228725" cy="6286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3392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C2A91-8606-01CA-FD5F-0373B3277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0380"/>
            <a:ext cx="10515600" cy="60909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u="sng" dirty="0"/>
              <a:t>Example</a:t>
            </a:r>
          </a:p>
          <a:p>
            <a:r>
              <a:rPr lang="en-US" sz="2400" dirty="0"/>
              <a:t>Operate M1 with </a:t>
            </a:r>
            <a:r>
              <a:rPr lang="en-US" sz="2400" dirty="0" err="1"/>
              <a:t>Vov</a:t>
            </a:r>
            <a:r>
              <a:rPr lang="en-US" sz="2400" dirty="0"/>
              <a:t> of 300mV. Id=1mA. </a:t>
            </a:r>
          </a:p>
          <a:p>
            <a:r>
              <a:rPr lang="en-US" sz="2400" dirty="0"/>
              <a:t>Gm = 2Id/</a:t>
            </a:r>
            <a:r>
              <a:rPr lang="en-US" sz="2400" dirty="0" err="1"/>
              <a:t>Vov</a:t>
            </a:r>
            <a:r>
              <a:rPr lang="en-US" sz="2400" dirty="0"/>
              <a:t> = 6.7 mA/V</a:t>
            </a:r>
          </a:p>
          <a:p>
            <a:r>
              <a:rPr lang="en-US" sz="2400" dirty="0" err="1"/>
              <a:t>Vout</a:t>
            </a:r>
            <a:r>
              <a:rPr lang="en-US" sz="2400" dirty="0"/>
              <a:t>/vin = -6.7 V/V</a:t>
            </a:r>
          </a:p>
          <a:p>
            <a:r>
              <a:rPr lang="en-US" sz="2400" dirty="0"/>
              <a:t>We use ID to alter the gain. Double the Id to obtain the gain. 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Gm = 2Id/</a:t>
            </a:r>
            <a:r>
              <a:rPr lang="en-US" dirty="0" err="1"/>
              <a:t>Vov</a:t>
            </a:r>
            <a:r>
              <a:rPr lang="en-US" dirty="0"/>
              <a:t> = 13.4 mA/V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Vout</a:t>
            </a:r>
            <a:r>
              <a:rPr lang="en-US" dirty="0"/>
              <a:t>/vin = -13.4 V/V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/>
              <a:t>Notice</a:t>
            </a:r>
            <a:r>
              <a:rPr lang="en-US" dirty="0"/>
              <a:t>: </a:t>
            </a:r>
            <a:r>
              <a:rPr lang="en-US" err="1"/>
              <a:t>Vov</a:t>
            </a:r>
            <a:r>
              <a:rPr lang="en-US" dirty="0"/>
              <a:t> is kept constant, gain is changed by adjusting Id. </a:t>
            </a:r>
          </a:p>
          <a:p>
            <a:r>
              <a:rPr lang="en-US" sz="2400" dirty="0">
                <a:ea typeface="+mn-lt"/>
                <a:cs typeface="+mn-lt"/>
              </a:rPr>
              <a:t>Gm= 2Id/</a:t>
            </a:r>
            <a:r>
              <a:rPr lang="en-US" sz="2400" dirty="0" err="1">
                <a:ea typeface="+mn-lt"/>
                <a:cs typeface="+mn-lt"/>
              </a:rPr>
              <a:t>Vov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Very small </a:t>
            </a:r>
            <a:r>
              <a:rPr lang="en-US" err="1">
                <a:ea typeface="+mn-lt"/>
                <a:cs typeface="+mn-lt"/>
              </a:rPr>
              <a:t>Vov</a:t>
            </a:r>
            <a:r>
              <a:rPr lang="en-US" dirty="0">
                <a:ea typeface="+mn-lt"/>
                <a:cs typeface="+mn-lt"/>
              </a:rPr>
              <a:t>  → very high gm  → seemingly infinite efficiency.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 transistor with very small </a:t>
            </a:r>
            <a:r>
              <a:rPr lang="en-US" err="1">
                <a:ea typeface="+mn-lt"/>
                <a:cs typeface="+mn-lt"/>
              </a:rPr>
              <a:t>Vov</a:t>
            </a:r>
            <a:r>
              <a:rPr lang="en-US" dirty="0">
                <a:ea typeface="+mn-lt"/>
                <a:cs typeface="+mn-lt"/>
              </a:rPr>
              <a:t> will be </a:t>
            </a:r>
            <a:r>
              <a:rPr lang="en-US" b="1">
                <a:ea typeface="+mn-lt"/>
                <a:cs typeface="+mn-lt"/>
              </a:rPr>
              <a:t>slow. </a:t>
            </a:r>
            <a:endParaRPr lang="en-US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Trade-off:</a:t>
            </a:r>
            <a:r>
              <a:rPr lang="en-US" dirty="0">
                <a:ea typeface="+mn-lt"/>
                <a:cs typeface="+mn-lt"/>
              </a:rPr>
              <a:t> Small </a:t>
            </a:r>
            <a:r>
              <a:rPr lang="en-US" dirty="0" err="1">
                <a:ea typeface="+mn-lt"/>
                <a:cs typeface="+mn-lt"/>
              </a:rPr>
              <a:t>Vov</a:t>
            </a:r>
            <a:r>
              <a:rPr lang="en-US" dirty="0">
                <a:ea typeface="+mn-lt"/>
                <a:cs typeface="+mn-lt"/>
              </a:rPr>
              <a:t> increases efficiency but slows the transistor. </a:t>
            </a:r>
            <a:endParaRPr lang="en-US" b="1" dirty="0"/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D9412DB5-20C5-D498-038C-F7C82B400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2781" y="324119"/>
            <a:ext cx="2600325" cy="17240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5634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929B5-DD99-4C51-216E-7B5641212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984"/>
            <a:ext cx="10515600" cy="64499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u="sng" dirty="0"/>
              <a:t>Speed in terms of </a:t>
            </a:r>
            <a:r>
              <a:rPr lang="en-US" sz="2400" u="sng" dirty="0" err="1"/>
              <a:t>Vov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Transit frequency definition</a:t>
            </a:r>
            <a:r>
              <a:rPr lang="en-US" sz="2400" dirty="0">
                <a:ea typeface="+mn-lt"/>
                <a:cs typeface="+mn-lt"/>
              </a:rPr>
              <a:t>: Measures transistor speed.</a:t>
            </a:r>
          </a:p>
          <a:p>
            <a:r>
              <a:rPr lang="en-US" sz="2400" dirty="0">
                <a:ea typeface="+mn-lt"/>
                <a:cs typeface="+mn-lt"/>
              </a:rPr>
              <a:t>In </a:t>
            </a:r>
            <a:r>
              <a:rPr lang="en-US" sz="2400" u="sng" dirty="0">
                <a:ea typeface="+mn-lt"/>
                <a:cs typeface="+mn-lt"/>
              </a:rPr>
              <a:t>saturation</a:t>
            </a:r>
            <a:r>
              <a:rPr lang="en-US" sz="2400" dirty="0">
                <a:ea typeface="+mn-lt"/>
                <a:cs typeface="+mn-lt"/>
              </a:rPr>
              <a:t>: Cgs ≈ (2/3) * Cox * W*L.</a:t>
            </a:r>
          </a:p>
          <a:p>
            <a:r>
              <a:rPr lang="en-US" sz="2400" dirty="0">
                <a:ea typeface="+mn-lt"/>
                <a:cs typeface="+mn-lt"/>
              </a:rPr>
              <a:t>Using the </a:t>
            </a:r>
            <a:r>
              <a:rPr lang="en-US" sz="2400" u="sng" dirty="0">
                <a:ea typeface="+mn-lt"/>
                <a:cs typeface="+mn-lt"/>
              </a:rPr>
              <a:t>long-channel model</a:t>
            </a:r>
            <a:r>
              <a:rPr lang="en-US" sz="2400" dirty="0">
                <a:ea typeface="+mn-lt"/>
                <a:cs typeface="+mn-lt"/>
              </a:rPr>
              <a:t>: </a:t>
            </a: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Therefore, we cannot make </a:t>
            </a:r>
            <a:r>
              <a:rPr lang="en-US" sz="2400" dirty="0" err="1">
                <a:ea typeface="+mn-lt"/>
                <a:cs typeface="+mn-lt"/>
              </a:rPr>
              <a:t>Vov</a:t>
            </a:r>
            <a:r>
              <a:rPr lang="en-US" sz="2400" dirty="0">
                <a:ea typeface="+mn-lt"/>
                <a:cs typeface="+mn-lt"/>
              </a:rPr>
              <a:t> arbitrarily small – because it limits speed.</a:t>
            </a:r>
          </a:p>
          <a:p>
            <a:r>
              <a:rPr lang="en-US" sz="2400" dirty="0">
                <a:ea typeface="+mn-lt"/>
                <a:cs typeface="+mn-lt"/>
              </a:rPr>
              <a:t>Observations from </a:t>
            </a:r>
            <a:r>
              <a:rPr lang="en-US" sz="2400" b="1" dirty="0">
                <a:solidFill>
                  <a:srgbClr val="FF0000"/>
                </a:solidFill>
                <a:ea typeface="+mn-lt"/>
                <a:cs typeface="+mn-lt"/>
              </a:rPr>
              <a:t>gm vs ft tradeoff: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Low </a:t>
            </a:r>
            <a:r>
              <a:rPr lang="en-US" dirty="0" err="1">
                <a:ea typeface="+mn-lt"/>
                <a:cs typeface="+mn-lt"/>
              </a:rPr>
              <a:t>Vov</a:t>
            </a:r>
            <a:r>
              <a:rPr lang="en-US" dirty="0">
                <a:ea typeface="+mn-lt"/>
                <a:cs typeface="+mn-lt"/>
              </a:rPr>
              <a:t>  → high gm/ID  (good efficiency) but </a:t>
            </a:r>
            <a:r>
              <a:rPr lang="en-US" b="1" dirty="0">
                <a:ea typeface="+mn-lt"/>
                <a:cs typeface="+mn-lt"/>
              </a:rPr>
              <a:t>low speed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High </a:t>
            </a:r>
            <a:r>
              <a:rPr lang="en-US" dirty="0" err="1">
                <a:ea typeface="+mn-lt"/>
                <a:cs typeface="+mn-lt"/>
              </a:rPr>
              <a:t>Vov</a:t>
            </a:r>
            <a:r>
              <a:rPr lang="en-US" dirty="0">
                <a:ea typeface="+mn-lt"/>
                <a:cs typeface="+mn-lt"/>
              </a:rPr>
              <a:t>  → high speed (</a:t>
            </a:r>
            <a:r>
              <a:rPr lang="en-US" dirty="0" err="1">
                <a:ea typeface="+mn-lt"/>
                <a:cs typeface="+mn-lt"/>
              </a:rPr>
              <a:t>fT</a:t>
            </a:r>
            <a:r>
              <a:rPr lang="en-US" dirty="0">
                <a:ea typeface="+mn-lt"/>
                <a:cs typeface="+mn-lt"/>
              </a:rPr>
              <a:t> ) but </a:t>
            </a:r>
            <a:r>
              <a:rPr lang="en-US" b="1" dirty="0">
                <a:ea typeface="+mn-lt"/>
                <a:cs typeface="+mn-lt"/>
              </a:rPr>
              <a:t>lower efficiency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sz="2400" err="1">
                <a:ea typeface="+mn-lt"/>
                <a:cs typeface="+mn-lt"/>
              </a:rPr>
              <a:t>Vov</a:t>
            </a:r>
            <a:r>
              <a:rPr lang="en-US" sz="2400" dirty="0">
                <a:ea typeface="+mn-lt"/>
                <a:cs typeface="+mn-lt"/>
              </a:rPr>
              <a:t>  is a "knob" to balance </a:t>
            </a:r>
            <a:r>
              <a:rPr lang="en-US" sz="2400" b="1" dirty="0">
                <a:ea typeface="+mn-lt"/>
                <a:cs typeface="+mn-lt"/>
              </a:rPr>
              <a:t>gain</a:t>
            </a:r>
            <a:r>
              <a:rPr lang="en-US" sz="2400" dirty="0">
                <a:ea typeface="+mn-lt"/>
                <a:cs typeface="+mn-lt"/>
              </a:rPr>
              <a:t> (gm) vs. </a:t>
            </a:r>
            <a:r>
              <a:rPr lang="en-US" sz="2400" b="1" dirty="0">
                <a:ea typeface="+mn-lt"/>
                <a:cs typeface="+mn-lt"/>
              </a:rPr>
              <a:t>bandwidth</a:t>
            </a:r>
            <a:r>
              <a:rPr lang="en-US" sz="2400" dirty="0">
                <a:ea typeface="+mn-lt"/>
                <a:cs typeface="+mn-lt"/>
              </a:rPr>
              <a:t> (</a:t>
            </a:r>
            <a:r>
              <a:rPr lang="en-US" sz="2400" err="1">
                <a:ea typeface="+mn-lt"/>
                <a:cs typeface="+mn-lt"/>
              </a:rPr>
              <a:t>fT</a:t>
            </a:r>
            <a:r>
              <a:rPr lang="en-US" sz="2400" dirty="0">
                <a:ea typeface="+mn-lt"/>
                <a:cs typeface="+mn-lt"/>
              </a:rPr>
              <a:t>).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For low power designs → pick lower </a:t>
            </a:r>
            <a:r>
              <a:rPr lang="en-US" dirty="0" err="1">
                <a:ea typeface="+mn-lt"/>
                <a:cs typeface="+mn-lt"/>
              </a:rPr>
              <a:t>Vov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For high-speed designs → pick higher </a:t>
            </a:r>
            <a:r>
              <a:rPr lang="en-US" err="1">
                <a:ea typeface="+mn-lt"/>
                <a:cs typeface="+mn-lt"/>
              </a:rPr>
              <a:t>Vov</a:t>
            </a:r>
            <a:endParaRPr lang="en-US">
              <a:ea typeface="+mn-lt"/>
              <a:cs typeface="+mn-lt"/>
            </a:endParaRPr>
          </a:p>
          <a:p>
            <a:pPr marL="457200" lvl="1" indent="0" algn="ctr">
              <a:buNone/>
            </a:pPr>
            <a:r>
              <a:rPr lang="en-US" b="1" i="1" dirty="0">
                <a:ea typeface="+mn-lt"/>
                <a:cs typeface="+mn-lt"/>
              </a:rPr>
              <a:t>Analogy:</a:t>
            </a:r>
            <a:r>
              <a:rPr lang="en-US" i="1" dirty="0">
                <a:ea typeface="+mn-lt"/>
                <a:cs typeface="+mn-lt"/>
              </a:rPr>
              <a:t> Like a screwdriver — you turn </a:t>
            </a:r>
            <a:r>
              <a:rPr lang="en-US" i="1" err="1">
                <a:ea typeface="+mn-lt"/>
                <a:cs typeface="+mn-lt"/>
              </a:rPr>
              <a:t>Vov</a:t>
            </a:r>
            <a:r>
              <a:rPr lang="en-US" i="1" dirty="0">
                <a:ea typeface="+mn-lt"/>
                <a:cs typeface="+mn-lt"/>
              </a:rPr>
              <a:t>  to decide how much of your current ID  goes toward gain or speed.</a:t>
            </a:r>
            <a:endParaRPr lang="en-US" i="1" dirty="0"/>
          </a:p>
        </p:txBody>
      </p:sp>
      <p:pic>
        <p:nvPicPr>
          <p:cNvPr id="4" name="Picture 3" descr="A diagram of a function&#10;&#10;AI-generated content may be incorrect.">
            <a:extLst>
              <a:ext uri="{FF2B5EF4-FFF2-40B4-BE49-F238E27FC236}">
                <a16:creationId xmlns:a16="http://schemas.microsoft.com/office/drawing/2014/main" id="{8348B8AF-4E4F-4CF0-1453-C38C052C7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1472" y="230189"/>
            <a:ext cx="2833419" cy="26341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C41C3032-AF3E-43E5-A60C-A5B19AFE7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648" y="1122872"/>
            <a:ext cx="1714500" cy="838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E9EE82-BB20-F459-5795-EA33940F3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4560" y="2127760"/>
            <a:ext cx="2085975" cy="7334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 descr="A diagram of a device&#10;&#10;AI-generated content may be incorrect.">
            <a:extLst>
              <a:ext uri="{FF2B5EF4-FFF2-40B4-BE49-F238E27FC236}">
                <a16:creationId xmlns:a16="http://schemas.microsoft.com/office/drawing/2014/main" id="{789FB64F-1A03-7B47-59BF-2BE5C11EE6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9224" y="3683059"/>
            <a:ext cx="1704975" cy="19367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01310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6D7D-7433-9F9D-66F5-8D29B1F2D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427" y="344758"/>
            <a:ext cx="11047561" cy="64504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u="sng" dirty="0">
                <a:solidFill>
                  <a:srgbClr val="FF0000"/>
                </a:solidFill>
              </a:rPr>
              <a:t>How to use </a:t>
            </a:r>
            <a:r>
              <a:rPr lang="en-US" sz="2400" u="sng" err="1">
                <a:solidFill>
                  <a:srgbClr val="FF0000"/>
                </a:solidFill>
              </a:rPr>
              <a:t>Vov</a:t>
            </a:r>
            <a:r>
              <a:rPr lang="en-US" sz="2400" u="sng" dirty="0">
                <a:solidFill>
                  <a:srgbClr val="FF0000"/>
                </a:solidFill>
              </a:rPr>
              <a:t> to alter gm or </a:t>
            </a:r>
            <a:r>
              <a:rPr lang="en-US" sz="2400" u="sng" err="1">
                <a:solidFill>
                  <a:srgbClr val="FF0000"/>
                </a:solidFill>
              </a:rPr>
              <a:t>fT</a:t>
            </a:r>
            <a:r>
              <a:rPr lang="en-US" sz="2400" u="sng" dirty="0">
                <a:solidFill>
                  <a:srgbClr val="FF0000"/>
                </a:solidFill>
              </a:rPr>
              <a:t> ?</a:t>
            </a: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We want a gain of </a:t>
            </a:r>
            <a:r>
              <a:rPr lang="en-US" sz="2400" b="1" dirty="0">
                <a:ea typeface="+mn-lt"/>
                <a:cs typeface="+mn-lt"/>
              </a:rPr>
              <a:t>10</a:t>
            </a:r>
            <a:r>
              <a:rPr lang="en-US" sz="2400" dirty="0">
                <a:ea typeface="+mn-lt"/>
                <a:cs typeface="+mn-lt"/>
              </a:rPr>
              <a:t> and a bandwidth of </a:t>
            </a:r>
            <a:r>
              <a:rPr lang="en-US" sz="2400" b="1" dirty="0">
                <a:ea typeface="+mn-lt"/>
                <a:cs typeface="+mn-lt"/>
              </a:rPr>
              <a:t>500 </a:t>
            </a:r>
            <a:r>
              <a:rPr lang="en-US" sz="2400" b="1" dirty="0" err="1">
                <a:ea typeface="+mn-lt"/>
                <a:cs typeface="+mn-lt"/>
              </a:rPr>
              <a:t>MHz</a:t>
            </a:r>
            <a:r>
              <a:rPr lang="en-US" sz="2400" dirty="0" err="1">
                <a:ea typeface="+mn-lt"/>
                <a:cs typeface="+mn-lt"/>
              </a:rPr>
              <a:t>.</a:t>
            </a:r>
            <a:endParaRPr lang="en-US" sz="2400" dirty="0" err="1"/>
          </a:p>
          <a:p>
            <a:r>
              <a:rPr lang="en-US" sz="2400" dirty="0">
                <a:ea typeface="+mn-lt"/>
                <a:cs typeface="+mn-lt"/>
              </a:rPr>
              <a:t>Gain requirement: </a:t>
            </a:r>
            <a:r>
              <a:rPr lang="en-US" sz="2400" b="1" dirty="0">
                <a:ea typeface="+mn-lt"/>
                <a:cs typeface="+mn-lt"/>
              </a:rPr>
              <a:t>gm </a:t>
            </a:r>
            <a:r>
              <a:rPr lang="en-US" sz="2400" dirty="0">
                <a:ea typeface="+mn-lt"/>
                <a:cs typeface="+mn-lt"/>
              </a:rPr>
              <a:t>=10/1kΩ =10mS.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Bandwidth requirement: </a:t>
            </a:r>
            <a:r>
              <a:rPr lang="en-US" sz="2400" b="1" dirty="0">
                <a:ea typeface="+mn-lt"/>
                <a:cs typeface="+mn-lt"/>
              </a:rPr>
              <a:t>Cgs </a:t>
            </a:r>
            <a:r>
              <a:rPr lang="en-US" sz="2400" dirty="0">
                <a:ea typeface="+mn-lt"/>
                <a:cs typeface="+mn-lt"/>
              </a:rPr>
              <a:t>= 1/ (2π*&amp;300*500MHz) = 1.1pF.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Transit frequency: </a:t>
            </a:r>
            <a:r>
              <a:rPr lang="en-US" sz="2400" b="1" err="1">
                <a:ea typeface="+mn-lt"/>
                <a:cs typeface="+mn-lt"/>
              </a:rPr>
              <a:t>fT</a:t>
            </a:r>
            <a:r>
              <a:rPr lang="en-US" sz="2400" b="1" dirty="0">
                <a:ea typeface="+mn-lt"/>
                <a:cs typeface="+mn-lt"/>
              </a:rPr>
              <a:t> </a:t>
            </a:r>
            <a:r>
              <a:rPr lang="en-US" sz="2400" dirty="0">
                <a:ea typeface="+mn-lt"/>
                <a:cs typeface="+mn-lt"/>
              </a:rPr>
              <a:t>=gm/Cgs = 9.4GHz.</a:t>
            </a:r>
          </a:p>
          <a:p>
            <a:r>
              <a:rPr lang="en-US" sz="2400" dirty="0">
                <a:ea typeface="+mn-lt"/>
                <a:cs typeface="+mn-lt"/>
              </a:rPr>
              <a:t>From the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fT</a:t>
            </a:r>
            <a:r>
              <a:rPr lang="en-US" sz="2400" dirty="0">
                <a:ea typeface="+mn-lt"/>
                <a:cs typeface="+mn-lt"/>
              </a:rPr>
              <a:t> vs </a:t>
            </a:r>
            <a:r>
              <a:rPr lang="en-US" sz="2400" err="1">
                <a:ea typeface="+mn-lt"/>
                <a:cs typeface="+mn-lt"/>
              </a:rPr>
              <a:t>Vov</a:t>
            </a:r>
            <a:r>
              <a:rPr lang="en-US" sz="2400" dirty="0">
                <a:ea typeface="+mn-lt"/>
                <a:cs typeface="+mn-lt"/>
              </a:rPr>
              <a:t> curve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: </a:t>
            </a:r>
            <a:r>
              <a:rPr lang="en-US" sz="2400" b="1" err="1">
                <a:ea typeface="+mn-lt"/>
                <a:cs typeface="+mn-lt"/>
              </a:rPr>
              <a:t>Vov</a:t>
            </a:r>
            <a:r>
              <a:rPr lang="en-US" sz="2400" b="1" dirty="0">
                <a:ea typeface="+mn-lt"/>
                <a:cs typeface="+mn-lt"/>
              </a:rPr>
              <a:t> </a:t>
            </a:r>
            <a:r>
              <a:rPr lang="en-US" sz="2400" dirty="0">
                <a:ea typeface="+mn-lt"/>
                <a:cs typeface="+mn-lt"/>
              </a:rPr>
              <a:t>= 75mV.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Transconductance efficiency: </a:t>
            </a:r>
            <a:r>
              <a:rPr lang="en-US" sz="2400" b="1" dirty="0">
                <a:ea typeface="+mn-lt"/>
                <a:cs typeface="+mn-lt"/>
              </a:rPr>
              <a:t>gm /ID</a:t>
            </a:r>
            <a:r>
              <a:rPr lang="en-US" sz="2400" dirty="0">
                <a:ea typeface="+mn-lt"/>
                <a:cs typeface="+mn-lt"/>
              </a:rPr>
              <a:t> ≈ 26mS/mA.</a:t>
            </a:r>
          </a:p>
          <a:p>
            <a:r>
              <a:rPr lang="en-US" sz="2400" dirty="0">
                <a:ea typeface="+mn-lt"/>
                <a:cs typeface="+mn-lt"/>
              </a:rPr>
              <a:t>Bias current: </a:t>
            </a:r>
            <a:r>
              <a:rPr lang="en-US" sz="2400" b="1" dirty="0">
                <a:ea typeface="+mn-lt"/>
                <a:cs typeface="+mn-lt"/>
              </a:rPr>
              <a:t>ID </a:t>
            </a:r>
            <a:r>
              <a:rPr lang="en-US" sz="2400" dirty="0">
                <a:ea typeface="+mn-lt"/>
                <a:cs typeface="+mn-lt"/>
              </a:rPr>
              <a:t>= {gm / (gm/ID) } = 385μA.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ea typeface="+mn-lt"/>
                <a:cs typeface="+mn-lt"/>
              </a:rPr>
              <a:t>With </a:t>
            </a:r>
            <a:r>
              <a:rPr lang="en-US" sz="2400" i="1" err="1">
                <a:ea typeface="+mn-lt"/>
                <a:cs typeface="+mn-lt"/>
              </a:rPr>
              <a:t>Vov</a:t>
            </a:r>
            <a:r>
              <a:rPr lang="en-US" sz="2400" i="1" dirty="0">
                <a:ea typeface="+mn-lt"/>
                <a:cs typeface="+mn-lt"/>
              </a:rPr>
              <a:t>=75 mV; the design is </a:t>
            </a:r>
            <a:r>
              <a:rPr lang="en-US" sz="2400" b="1" i="1" dirty="0">
                <a:ea typeface="+mn-lt"/>
                <a:cs typeface="+mn-lt"/>
              </a:rPr>
              <a:t>just fast enough</a:t>
            </a:r>
            <a:r>
              <a:rPr lang="en-US" sz="2400" i="1" dirty="0">
                <a:ea typeface="+mn-lt"/>
                <a:cs typeface="+mn-lt"/>
              </a:rPr>
              <a:t> to meet 500 MHz with the </a:t>
            </a:r>
            <a:r>
              <a:rPr lang="en-US" sz="2400" b="1" i="1" dirty="0">
                <a:ea typeface="+mn-lt"/>
                <a:cs typeface="+mn-lt"/>
              </a:rPr>
              <a:t>least current</a:t>
            </a:r>
            <a:r>
              <a:rPr lang="en-US" sz="2400" i="1" dirty="0">
                <a:ea typeface="+mn-lt"/>
                <a:cs typeface="+mn-lt"/>
              </a:rPr>
              <a:t>.</a:t>
            </a:r>
            <a:endParaRPr lang="en-US" sz="2400" i="1"/>
          </a:p>
          <a:p>
            <a:r>
              <a:rPr lang="en-US" sz="2400" dirty="0">
                <a:ea typeface="+mn-lt"/>
                <a:cs typeface="+mn-lt"/>
              </a:rPr>
              <a:t>If </a:t>
            </a:r>
            <a:r>
              <a:rPr lang="en-US" sz="2400" dirty="0" err="1">
                <a:ea typeface="+mn-lt"/>
                <a:cs typeface="+mn-lt"/>
              </a:rPr>
              <a:t>Vov</a:t>
            </a:r>
            <a:r>
              <a:rPr lang="en-US" sz="2400" dirty="0">
                <a:ea typeface="+mn-lt"/>
                <a:cs typeface="+mn-lt"/>
              </a:rPr>
              <a:t> were larger → transistor too fast, wastes power.</a:t>
            </a:r>
            <a:endParaRPr lang="en-US" sz="2400" i="1" dirty="0"/>
          </a:p>
          <a:p>
            <a:r>
              <a:rPr lang="en-US" sz="2400" dirty="0">
                <a:ea typeface="+mn-lt"/>
                <a:cs typeface="+mn-lt"/>
              </a:rPr>
              <a:t>If </a:t>
            </a:r>
            <a:r>
              <a:rPr lang="en-US" sz="2400" dirty="0" err="1">
                <a:ea typeface="+mn-lt"/>
                <a:cs typeface="+mn-lt"/>
              </a:rPr>
              <a:t>Vov</a:t>
            </a:r>
            <a:r>
              <a:rPr lang="en-US" sz="2400" dirty="0">
                <a:ea typeface="+mn-lt"/>
                <a:cs typeface="+mn-lt"/>
              </a:rPr>
              <a:t> were smaller → transistor too slow, fails spec.</a:t>
            </a:r>
            <a:endParaRPr lang="en-US" dirty="0"/>
          </a:p>
          <a:p>
            <a:endParaRPr lang="en-US" sz="2400" dirty="0"/>
          </a:p>
          <a:p>
            <a:pPr marL="0" indent="0" algn="ctr">
              <a:buNone/>
            </a:pPr>
            <a:r>
              <a:rPr lang="en-US" sz="2400" i="1" dirty="0"/>
              <a:t>Only issue we see now is long-channel model isn't accurate. </a:t>
            </a:r>
          </a:p>
          <a:p>
            <a:endParaRPr lang="en-US" sz="2400" dirty="0"/>
          </a:p>
        </p:txBody>
      </p:sp>
      <p:pic>
        <p:nvPicPr>
          <p:cNvPr id="4" name="Picture 3" descr="A diagram of a function&#10;&#10;AI-generated content may be incorrect.">
            <a:extLst>
              <a:ext uri="{FF2B5EF4-FFF2-40B4-BE49-F238E27FC236}">
                <a16:creationId xmlns:a16="http://schemas.microsoft.com/office/drawing/2014/main" id="{8DE4EFAB-3AE3-D970-9EE8-E1B8A2719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962" y="347213"/>
            <a:ext cx="2637347" cy="21954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F51E4E05-180B-A109-B8F1-5D0DAE2F3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3587" y="4519112"/>
            <a:ext cx="2413420" cy="15802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0667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3BF92-2E44-0536-C3D0-BA2CDBE9E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1"/>
            <a:ext cx="10515600" cy="1325563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The Limitations of </a:t>
            </a:r>
            <a:r>
              <a:rPr lang="en-US" b="1" dirty="0" err="1">
                <a:ea typeface="+mj-lt"/>
                <a:cs typeface="+mj-lt"/>
              </a:rPr>
              <a:t>Vov</a:t>
            </a:r>
            <a:r>
              <a:rPr lang="en-US" b="1" dirty="0">
                <a:ea typeface="+mj-lt"/>
                <a:cs typeface="+mj-lt"/>
              </a:rPr>
              <a:t>-Based Design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5A2B1-234E-74F1-CAC8-D99D4366C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426" y="1061189"/>
            <a:ext cx="10946920" cy="54464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The long-channel model is way too simple to make </a:t>
            </a:r>
            <a:r>
              <a:rPr lang="en-US" sz="2400" err="1"/>
              <a:t>Vov</a:t>
            </a:r>
            <a:r>
              <a:rPr lang="en-US" sz="2400" dirty="0"/>
              <a:t> based design reliable.</a:t>
            </a:r>
          </a:p>
          <a:p>
            <a:r>
              <a:rPr lang="en-US" sz="2400" b="1" dirty="0">
                <a:ea typeface="+mn-lt"/>
                <a:cs typeface="+mn-lt"/>
              </a:rPr>
              <a:t>Evidence from SPICE vs. long-channel model</a:t>
            </a:r>
            <a:r>
              <a:rPr lang="en-US" sz="2400" dirty="0">
                <a:ea typeface="+mn-lt"/>
                <a:cs typeface="+mn-lt"/>
              </a:rPr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Real MOSFETs need more parameters in SPICE, 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 not just μ and Cox.</a:t>
            </a:r>
            <a:endParaRPr lang="en-US" dirty="0">
              <a:solidFill>
                <a:srgbClr val="FF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At large </a:t>
            </a:r>
            <a:r>
              <a:rPr lang="en-US" dirty="0" err="1">
                <a:ea typeface="+mn-lt"/>
                <a:cs typeface="+mn-lt"/>
              </a:rPr>
              <a:t>Vov</a:t>
            </a:r>
            <a:r>
              <a:rPr lang="en-US" dirty="0">
                <a:ea typeface="+mn-lt"/>
                <a:cs typeface="+mn-lt"/>
              </a:rPr>
              <a:t> , predictions are only ~25% off (acceptable).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At small </a:t>
            </a:r>
            <a:r>
              <a:rPr lang="en-US" dirty="0" err="1">
                <a:ea typeface="+mn-lt"/>
                <a:cs typeface="+mn-lt"/>
              </a:rPr>
              <a:t>Vov</a:t>
            </a:r>
            <a:r>
              <a:rPr lang="en-US" dirty="0">
                <a:ea typeface="+mn-lt"/>
                <a:cs typeface="+mn-lt"/>
              </a:rPr>
              <a:t> predictions are completely wrong.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At </a:t>
            </a:r>
            <a:r>
              <a:rPr lang="en-US" dirty="0" err="1">
                <a:ea typeface="+mn-lt"/>
                <a:cs typeface="+mn-lt"/>
              </a:rPr>
              <a:t>Vov</a:t>
            </a:r>
            <a:r>
              <a:rPr lang="en-US" dirty="0">
                <a:ea typeface="+mn-lt"/>
                <a:cs typeface="+mn-lt"/>
              </a:rPr>
              <a:t>=0V, the model falsely predicts infinite gm /ID .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ea typeface="+mn-lt"/>
                <a:cs typeface="+mn-lt"/>
              </a:rPr>
              <a:t>fT</a:t>
            </a:r>
            <a:r>
              <a:rPr lang="en-US" dirty="0">
                <a:ea typeface="+mn-lt"/>
                <a:cs typeface="+mn-lt"/>
              </a:rPr>
              <a:t>  predictions are also inaccurate.</a:t>
            </a:r>
          </a:p>
          <a:p>
            <a:r>
              <a:rPr lang="en-US" sz="2400" b="1" dirty="0">
                <a:ea typeface="+mn-lt"/>
                <a:cs typeface="+mn-lt"/>
              </a:rPr>
              <a:t>Subthreshold region ( </a:t>
            </a:r>
            <a:r>
              <a:rPr lang="en-US" sz="2400" b="1" err="1">
                <a:ea typeface="+mn-lt"/>
                <a:cs typeface="+mn-lt"/>
              </a:rPr>
              <a:t>Vov</a:t>
            </a:r>
            <a:r>
              <a:rPr lang="en-US" sz="2400" b="1" dirty="0">
                <a:ea typeface="+mn-lt"/>
                <a:cs typeface="+mn-lt"/>
              </a:rPr>
              <a:t>&lt;0: negative region)</a:t>
            </a:r>
            <a:endParaRPr lang="en-US" sz="24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Long-channel model says ID=0 → device "OF".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SPICE shows gm/ID keeps increasing → useful for biasing.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The subthreshold and weak inversion regions are very important in low-power designs. </a:t>
            </a:r>
            <a:endParaRPr lang="en-US" dirty="0"/>
          </a:p>
        </p:txBody>
      </p:sp>
      <p:pic>
        <p:nvPicPr>
          <p:cNvPr id="8" name="Picture 7" descr="A diagram of a graph&#10;&#10;AI-generated content may be incorrect.">
            <a:extLst>
              <a:ext uri="{FF2B5EF4-FFF2-40B4-BE49-F238E27FC236}">
                <a16:creationId xmlns:a16="http://schemas.microsoft.com/office/drawing/2014/main" id="{2362312E-42A8-0DFF-DC72-90E465BB5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434" y="2369838"/>
            <a:ext cx="2413061" cy="21183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980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CFA1D-BCBF-000F-4594-8CFEFA665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672" y="521185"/>
            <a:ext cx="11133826" cy="59864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tradeoff is explained by Ft vs </a:t>
            </a:r>
            <a:r>
              <a:rPr lang="en-US" sz="2400" err="1">
                <a:solidFill>
                  <a:srgbClr val="FF0000"/>
                </a:solidFill>
              </a:rPr>
              <a:t>Vov</a:t>
            </a:r>
            <a:r>
              <a:rPr lang="en-US" sz="2400" dirty="0">
                <a:solidFill>
                  <a:srgbClr val="FF0000"/>
                </a:solidFill>
              </a:rPr>
              <a:t> graph.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 Subthreshold devices are slower.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In modern processes still fast enough for many low-power designs.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r>
              <a:rPr lang="en-US" sz="2400" err="1">
                <a:ea typeface="+mn-lt"/>
                <a:cs typeface="+mn-lt"/>
              </a:rPr>
              <a:t>Vov</a:t>
            </a:r>
            <a:r>
              <a:rPr lang="en-US" sz="2400" dirty="0">
                <a:ea typeface="+mn-lt"/>
                <a:cs typeface="+mn-lt"/>
              </a:rPr>
              <a:t>  is a nice concept, but it </a:t>
            </a:r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fails in practice</a:t>
            </a:r>
            <a:r>
              <a:rPr lang="en-US" sz="2400" dirty="0">
                <a:ea typeface="+mn-lt"/>
                <a:cs typeface="+mn-lt"/>
              </a:rPr>
              <a:t> because the long-channel model is inaccurate.</a:t>
            </a:r>
          </a:p>
          <a:p>
            <a:r>
              <a:rPr lang="en-US" sz="2400" dirty="0">
                <a:ea typeface="+mn-lt"/>
                <a:cs typeface="+mn-lt"/>
              </a:rPr>
              <a:t>For low-power/subthreshold design, </a:t>
            </a:r>
            <a:r>
              <a:rPr lang="en-US" sz="2400" dirty="0" err="1">
                <a:ea typeface="+mn-lt"/>
                <a:cs typeface="+mn-lt"/>
              </a:rPr>
              <a:t>Vov</a:t>
            </a:r>
            <a:r>
              <a:rPr lang="en-US" sz="2400" dirty="0">
                <a:ea typeface="+mn-lt"/>
                <a:cs typeface="+mn-lt"/>
              </a:rPr>
              <a:t>-based design is useless.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i="1" dirty="0"/>
              <a:t>gm/ID  = simulation-driven, accurate, and practical for modern design.</a:t>
            </a:r>
          </a:p>
          <a:p>
            <a:endParaRPr lang="en-US" sz="2400" dirty="0"/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BB392BA6-C4AA-85F5-12A7-5A0728299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629" y="2047024"/>
            <a:ext cx="2831018" cy="23768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9838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0BBC6-CE55-9783-98CD-D59831A8E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8"/>
            <a:ext cx="10515600" cy="1325563"/>
          </a:xfrm>
        </p:spPr>
        <p:txBody>
          <a:bodyPr/>
          <a:lstStyle/>
          <a:p>
            <a:br>
              <a:rPr lang="en-US" b="1" dirty="0"/>
            </a:br>
            <a:r>
              <a:rPr lang="en-US" b="1" dirty="0"/>
              <a:t>The gm/ID-Based Design Methodology</a:t>
            </a:r>
            <a:endParaRPr lang="en-US" dirty="0"/>
          </a:p>
          <a:p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122D3-6AFA-E28D-D274-6D9B5C8A6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6323"/>
            <a:ext cx="10515600" cy="56913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Why gm/ID is Better than </a:t>
            </a:r>
            <a:r>
              <a:rPr lang="en-US" sz="2400" err="1">
                <a:solidFill>
                  <a:srgbClr val="FF0000"/>
                </a:solidFill>
              </a:rPr>
              <a:t>Vov</a:t>
            </a:r>
            <a:r>
              <a:rPr lang="en-US" sz="2400" dirty="0">
                <a:solidFill>
                  <a:srgbClr val="FF0000"/>
                </a:solidFill>
              </a:rPr>
              <a:t>?</a:t>
            </a:r>
            <a:endParaRPr lang="en-US" sz="2400" dirty="0" err="1">
              <a:solidFill>
                <a:srgbClr val="FF0000"/>
              </a:solidFill>
            </a:endParaRPr>
          </a:p>
          <a:p>
            <a:pPr marL="457200" indent="-457200">
              <a:buAutoNum type="arabicPeriod"/>
            </a:pPr>
            <a:r>
              <a:rPr lang="en-US" sz="2400" b="1" dirty="0" err="1">
                <a:ea typeface="+mn-lt"/>
                <a:cs typeface="+mn-lt"/>
              </a:rPr>
              <a:t>Vov</a:t>
            </a:r>
            <a:r>
              <a:rPr lang="en-US" sz="2400" b="1" dirty="0">
                <a:ea typeface="+mn-lt"/>
                <a:cs typeface="+mn-lt"/>
              </a:rPr>
              <a:t> is useful but messy</a:t>
            </a:r>
            <a:endParaRPr lang="en-US" sz="2400"/>
          </a:p>
          <a:p>
            <a:pPr marL="914400" lvl="1" indent="-457200">
              <a:buAutoNum type="alphaLcPeriod"/>
            </a:pPr>
            <a:r>
              <a:rPr lang="en-US" dirty="0">
                <a:ea typeface="+mn-lt"/>
                <a:cs typeface="+mn-lt"/>
              </a:rPr>
              <a:t>To use </a:t>
            </a:r>
            <a:r>
              <a:rPr lang="en-US" err="1">
                <a:ea typeface="+mn-lt"/>
                <a:cs typeface="+mn-lt"/>
              </a:rPr>
              <a:t>Vov</a:t>
            </a:r>
            <a:r>
              <a:rPr lang="en-US" dirty="0">
                <a:ea typeface="+mn-lt"/>
                <a:cs typeface="+mn-lt"/>
              </a:rPr>
              <a:t> , you need </a:t>
            </a:r>
            <a:r>
              <a:rPr lang="en-US" b="1" dirty="0">
                <a:ea typeface="+mn-lt"/>
                <a:cs typeface="+mn-lt"/>
              </a:rPr>
              <a:t>two plots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1371600" lvl="2" indent="-457200">
              <a:buAutoNum type="romanLcPeriod"/>
            </a:pPr>
            <a:r>
              <a:rPr lang="en-US" sz="2400" dirty="0">
                <a:ea typeface="+mn-lt"/>
                <a:cs typeface="+mn-lt"/>
              </a:rPr>
              <a:t>gm/ID  vs. </a:t>
            </a:r>
            <a:r>
              <a:rPr lang="en-US" sz="2400" err="1">
                <a:ea typeface="+mn-lt"/>
                <a:cs typeface="+mn-lt"/>
              </a:rPr>
              <a:t>Vov</a:t>
            </a:r>
            <a:r>
              <a:rPr lang="en-US" sz="2400" dirty="0">
                <a:ea typeface="+mn-lt"/>
                <a:cs typeface="+mn-lt"/>
              </a:rPr>
              <a:t>  (efficiency)</a:t>
            </a:r>
            <a:endParaRPr lang="en-US" sz="2400"/>
          </a:p>
          <a:p>
            <a:pPr marL="1371600" lvl="2" indent="-457200">
              <a:buAutoNum type="romanLcPeriod"/>
            </a:pPr>
            <a:r>
              <a:rPr lang="en-US" sz="2400" err="1">
                <a:ea typeface="+mn-lt"/>
                <a:cs typeface="+mn-lt"/>
              </a:rPr>
              <a:t>fT</a:t>
            </a:r>
            <a:r>
              <a:rPr lang="en-US" sz="2400" dirty="0">
                <a:ea typeface="+mn-lt"/>
                <a:cs typeface="+mn-lt"/>
              </a:rPr>
              <a:t>  vs. </a:t>
            </a:r>
            <a:r>
              <a:rPr lang="en-US" sz="2400" err="1">
                <a:ea typeface="+mn-lt"/>
                <a:cs typeface="+mn-lt"/>
              </a:rPr>
              <a:t>Vov</a:t>
            </a:r>
            <a:r>
              <a:rPr lang="en-US" sz="2400" dirty="0">
                <a:ea typeface="+mn-lt"/>
                <a:cs typeface="+mn-lt"/>
              </a:rPr>
              <a:t>  (speed)</a:t>
            </a:r>
            <a:endParaRPr lang="en-US" sz="2400"/>
          </a:p>
          <a:p>
            <a:pPr marL="914400" lvl="1" indent="-457200">
              <a:buAutoNum type="alphaLcPeriod"/>
            </a:pPr>
            <a:r>
              <a:rPr lang="en-US" dirty="0">
                <a:ea typeface="+mn-lt"/>
                <a:cs typeface="+mn-lt"/>
              </a:rPr>
              <a:t>Then you must “guess” the best </a:t>
            </a:r>
            <a:r>
              <a:rPr lang="en-US" err="1">
                <a:ea typeface="+mn-lt"/>
                <a:cs typeface="+mn-lt"/>
              </a:rPr>
              <a:t>Vov</a:t>
            </a:r>
            <a:r>
              <a:rPr lang="en-US" dirty="0">
                <a:ea typeface="+mn-lt"/>
                <a:cs typeface="+mn-lt"/>
              </a:rPr>
              <a:t> .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sz="2400" b="1" dirty="0">
                <a:ea typeface="+mn-lt"/>
                <a:cs typeface="+mn-lt"/>
              </a:rPr>
              <a:t>gm/ID captures everything in one variable</a:t>
            </a:r>
            <a:endParaRPr lang="en-US" sz="2400"/>
          </a:p>
          <a:p>
            <a:pPr marL="914400" lvl="1" indent="-457200">
              <a:buAutoNum type="alphaLcPeriod"/>
            </a:pPr>
            <a:r>
              <a:rPr lang="en-US" dirty="0" err="1">
                <a:ea typeface="+mn-lt"/>
                <a:cs typeface="+mn-lt"/>
              </a:rPr>
              <a:t>Vov</a:t>
            </a:r>
            <a:r>
              <a:rPr lang="en-US" dirty="0">
                <a:ea typeface="+mn-lt"/>
                <a:cs typeface="+mn-lt"/>
              </a:rPr>
              <a:t>  and gm/ID  are related, so we can </a:t>
            </a:r>
            <a:r>
              <a:rPr lang="en-US" b="1" dirty="0">
                <a:ea typeface="+mn-lt"/>
                <a:cs typeface="+mn-lt"/>
              </a:rPr>
              <a:t>ignore </a:t>
            </a:r>
            <a:r>
              <a:rPr lang="en-US" b="1" dirty="0" err="1">
                <a:ea typeface="+mn-lt"/>
                <a:cs typeface="+mn-lt"/>
              </a:rPr>
              <a:t>Vov</a:t>
            </a:r>
            <a:r>
              <a:rPr lang="en-US" b="1" dirty="0">
                <a:ea typeface="+mn-lt"/>
                <a:cs typeface="+mn-lt"/>
              </a:rPr>
              <a:t> 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914400" lvl="1" indent="-457200">
              <a:buAutoNum type="alphaLcPeriod"/>
            </a:pPr>
            <a:r>
              <a:rPr lang="en-US" dirty="0">
                <a:ea typeface="+mn-lt"/>
                <a:cs typeface="+mn-lt"/>
              </a:rPr>
              <a:t>If we plot </a:t>
            </a:r>
            <a:r>
              <a:rPr lang="en-US" err="1">
                <a:ea typeface="+mn-lt"/>
                <a:cs typeface="+mn-lt"/>
              </a:rPr>
              <a:t>fT</a:t>
            </a:r>
            <a:r>
              <a:rPr lang="en-US" dirty="0">
                <a:ea typeface="+mn-lt"/>
                <a:cs typeface="+mn-lt"/>
              </a:rPr>
              <a:t>  vs. gm/ID, we directly see:</a:t>
            </a:r>
            <a:endParaRPr lang="en-US" dirty="0"/>
          </a:p>
          <a:p>
            <a:pPr marL="1371600" lvl="2" indent="-457200">
              <a:buAutoNum type="romanLcPeriod"/>
            </a:pPr>
            <a:r>
              <a:rPr lang="en-US" sz="2400" b="1" dirty="0">
                <a:ea typeface="+mn-lt"/>
                <a:cs typeface="+mn-lt"/>
              </a:rPr>
              <a:t>Higher efficiency</a:t>
            </a:r>
            <a:r>
              <a:rPr lang="en-US" sz="2400" dirty="0">
                <a:ea typeface="+mn-lt"/>
                <a:cs typeface="+mn-lt"/>
              </a:rPr>
              <a:t> → lower speed.</a:t>
            </a:r>
            <a:endParaRPr lang="en-US" sz="2400"/>
          </a:p>
          <a:p>
            <a:pPr marL="1371600" lvl="2" indent="-457200">
              <a:buAutoNum type="romanLcPeriod"/>
            </a:pPr>
            <a:r>
              <a:rPr lang="en-US" sz="2400" b="1" dirty="0">
                <a:ea typeface="+mn-lt"/>
                <a:cs typeface="+mn-lt"/>
              </a:rPr>
              <a:t>Higher speed</a:t>
            </a:r>
            <a:r>
              <a:rPr lang="en-US" sz="2400" dirty="0">
                <a:ea typeface="+mn-lt"/>
                <a:cs typeface="+mn-lt"/>
              </a:rPr>
              <a:t> → lower efficiency.</a:t>
            </a:r>
            <a:endParaRPr lang="en-US" sz="2400"/>
          </a:p>
          <a:p>
            <a:pPr marL="914400" lvl="1" indent="-457200">
              <a:buAutoNum type="alphaLcPeriod"/>
            </a:pPr>
            <a:r>
              <a:rPr lang="en-US" dirty="0">
                <a:ea typeface="+mn-lt"/>
                <a:cs typeface="+mn-lt"/>
              </a:rPr>
              <a:t>No “middle-man” </a:t>
            </a:r>
            <a:r>
              <a:rPr lang="en-US" err="1">
                <a:ea typeface="+mn-lt"/>
                <a:cs typeface="+mn-lt"/>
              </a:rPr>
              <a:t>Vov</a:t>
            </a:r>
            <a:r>
              <a:rPr lang="en-US">
                <a:ea typeface="+mn-lt"/>
                <a:cs typeface="+mn-lt"/>
              </a:rPr>
              <a:t> needed.</a:t>
            </a:r>
            <a:endParaRPr lang="en-US" dirty="0">
              <a:ea typeface="+mn-lt"/>
              <a:cs typeface="+mn-lt"/>
            </a:endParaRPr>
          </a:p>
          <a:p>
            <a:pPr marL="914400" lvl="1" indent="-457200">
              <a:buAutoNum type="alphaLcPeriod"/>
            </a:pPr>
            <a:r>
              <a:rPr lang="en-US" dirty="0">
                <a:ea typeface="+mn-lt"/>
                <a:cs typeface="+mn-lt"/>
              </a:rPr>
              <a:t> gm/ID is the only biasing variable we will need.</a:t>
            </a:r>
            <a:endParaRPr lang="en-US"/>
          </a:p>
          <a:p>
            <a:pPr>
              <a:buAutoNum type="arabicPeriod"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34F4E-E7D4-DA0E-3323-CFB3768AC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7104" y="1198367"/>
            <a:ext cx="3152775" cy="26765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2633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04F8A-8EBF-53DE-6B99-93D40D02D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472" y="371807"/>
            <a:ext cx="11042443" cy="62515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3.   Subthreshold region is naturally included</a:t>
            </a:r>
            <a:endParaRPr lang="en-US" sz="2400" dirty="0"/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On the plot, the </a:t>
            </a:r>
            <a:r>
              <a:rPr lang="en-US" b="1" dirty="0">
                <a:ea typeface="+mn-lt"/>
                <a:cs typeface="+mn-lt"/>
              </a:rPr>
              <a:t>right-hand side</a:t>
            </a:r>
            <a:r>
              <a:rPr lang="en-US" dirty="0">
                <a:ea typeface="+mn-lt"/>
                <a:cs typeface="+mn-lt"/>
              </a:rPr>
              <a:t> (large gm/ID ) corresponds to </a:t>
            </a:r>
            <a:r>
              <a:rPr lang="en-US" b="1" dirty="0">
                <a:ea typeface="+mn-lt"/>
                <a:cs typeface="+mn-lt"/>
              </a:rPr>
              <a:t>subthreshold</a:t>
            </a:r>
            <a:r>
              <a:rPr lang="en-US" dirty="0">
                <a:ea typeface="+mn-lt"/>
                <a:cs typeface="+mn-lt"/>
              </a:rPr>
              <a:t> (very efficient, but slower).</a:t>
            </a:r>
            <a:endParaRPr lang="en-US" sz="2800"/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No need to worry exactly </a:t>
            </a:r>
            <a:r>
              <a:rPr lang="en-US" i="1" dirty="0">
                <a:ea typeface="+mn-lt"/>
                <a:cs typeface="+mn-lt"/>
              </a:rPr>
              <a:t>where</a:t>
            </a:r>
            <a:r>
              <a:rPr lang="en-US" dirty="0">
                <a:ea typeface="+mn-lt"/>
                <a:cs typeface="+mn-lt"/>
              </a:rPr>
              <a:t> subthreshold starts—</a:t>
            </a:r>
            <a:r>
              <a:rPr lang="en-US" b="1" dirty="0">
                <a:ea typeface="+mn-lt"/>
                <a:cs typeface="+mn-lt"/>
              </a:rPr>
              <a:t>gm/ID already tells us everything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u="sng" dirty="0"/>
          </a:p>
          <a:p>
            <a:pPr marL="0" indent="0">
              <a:buNone/>
            </a:pPr>
            <a:r>
              <a:rPr lang="en-US" sz="2400" b="1" u="sng" dirty="0"/>
              <a:t>Designing with gm/ID - Example</a:t>
            </a:r>
          </a:p>
          <a:p>
            <a:pPr marL="0" indent="0">
              <a:buNone/>
            </a:pPr>
            <a:r>
              <a:rPr lang="en-US" sz="2400" dirty="0"/>
              <a:t>We want </a:t>
            </a:r>
            <a:r>
              <a:rPr lang="en-US" sz="2400" dirty="0">
                <a:ea typeface="+mn-lt"/>
                <a:cs typeface="+mn-lt"/>
              </a:rPr>
              <a:t>Bandwidth = 600 MHz, Gain = 10, Low power.</a:t>
            </a:r>
            <a:endParaRPr lang="en-US" dirty="0">
              <a:ea typeface="+mn-lt"/>
              <a:cs typeface="+mn-lt"/>
            </a:endParaRPr>
          </a:p>
          <a:p>
            <a:r>
              <a:rPr lang="en-US" sz="2400" b="1" dirty="0">
                <a:ea typeface="+mn-lt"/>
                <a:cs typeface="+mn-lt"/>
              </a:rPr>
              <a:t>gm </a:t>
            </a:r>
            <a:r>
              <a:rPr lang="en-US" sz="2400" dirty="0">
                <a:ea typeface="+mn-lt"/>
                <a:cs typeface="+mn-lt"/>
              </a:rPr>
              <a:t>= 10mA/V. ; </a:t>
            </a:r>
            <a:r>
              <a:rPr lang="en-US" sz="2400" b="1" dirty="0">
                <a:ea typeface="+mn-lt"/>
                <a:cs typeface="+mn-lt"/>
              </a:rPr>
              <a:t>Cgs </a:t>
            </a:r>
            <a:r>
              <a:rPr lang="en-US" sz="2400" dirty="0">
                <a:ea typeface="+mn-lt"/>
                <a:cs typeface="+mn-lt"/>
              </a:rPr>
              <a:t>(@ 500 MHz)= 1.1pF</a:t>
            </a:r>
          </a:p>
          <a:p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dirty="0" err="1">
                <a:ea typeface="+mn-lt"/>
                <a:cs typeface="+mn-lt"/>
              </a:rPr>
              <a:t>fT</a:t>
            </a:r>
            <a:r>
              <a:rPr lang="en-US" sz="2400" dirty="0">
                <a:ea typeface="+mn-lt"/>
                <a:cs typeface="+mn-lt"/>
              </a:rPr>
              <a:t>= gm/Cgs = 9.4GHz. ; </a:t>
            </a:r>
            <a:r>
              <a:rPr lang="en-US" sz="2400" b="1" dirty="0">
                <a:ea typeface="+mn-lt"/>
                <a:cs typeface="+mn-lt"/>
              </a:rPr>
              <a:t>ID</a:t>
            </a:r>
            <a:r>
              <a:rPr lang="en-US" sz="2400" dirty="0">
                <a:ea typeface="+mn-lt"/>
                <a:cs typeface="+mn-lt"/>
              </a:rPr>
              <a:t> = 570μA.</a:t>
            </a:r>
          </a:p>
          <a:p>
            <a:r>
              <a:rPr lang="en-US" sz="2400" b="1" dirty="0">
                <a:ea typeface="+mn-lt"/>
                <a:cs typeface="+mn-lt"/>
              </a:rPr>
              <a:t>gm/ID</a:t>
            </a:r>
            <a:r>
              <a:rPr lang="en-US" sz="2400" dirty="0">
                <a:ea typeface="+mn-lt"/>
                <a:cs typeface="+mn-lt"/>
              </a:rPr>
              <a:t> from chart (on the right) ; At </a:t>
            </a:r>
            <a:r>
              <a:rPr lang="en-US" sz="2400" err="1">
                <a:ea typeface="+mn-lt"/>
                <a:cs typeface="+mn-lt"/>
              </a:rPr>
              <a:t>fT</a:t>
            </a:r>
            <a:r>
              <a:rPr lang="en-US" sz="2400" dirty="0">
                <a:ea typeface="+mn-lt"/>
                <a:cs typeface="+mn-lt"/>
              </a:rPr>
              <a:t>=9.4 GHz = 17.5mS/mA.</a:t>
            </a:r>
          </a:p>
          <a:p>
            <a:pPr marL="0" indent="0" algn="ctr">
              <a:buNone/>
            </a:pPr>
            <a:r>
              <a:rPr lang="en-US" sz="2400" i="1" dirty="0">
                <a:solidFill>
                  <a:srgbClr val="FF0000"/>
                </a:solidFill>
                <a:ea typeface="+mn-lt"/>
                <a:cs typeface="+mn-lt"/>
              </a:rPr>
              <a:t>The low power bias point found accurately using gm/ID</a:t>
            </a:r>
            <a:endParaRPr lang="en-US" i="1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2400" u="sng" dirty="0"/>
              <a:t>Effect of channel length L on transistor speed.</a:t>
            </a:r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For the same gm/ID, a </a:t>
            </a:r>
            <a:r>
              <a:rPr lang="en-US" b="1" dirty="0">
                <a:ea typeface="+mn-lt"/>
                <a:cs typeface="+mn-lt"/>
              </a:rPr>
              <a:t>longer</a:t>
            </a:r>
            <a:r>
              <a:rPr lang="en-US" dirty="0">
                <a:ea typeface="+mn-lt"/>
                <a:cs typeface="+mn-lt"/>
              </a:rPr>
              <a:t> channel length makes the transistor </a:t>
            </a:r>
            <a:r>
              <a:rPr lang="en-US" b="1" dirty="0">
                <a:ea typeface="+mn-lt"/>
                <a:cs typeface="+mn-lt"/>
              </a:rPr>
              <a:t>slower </a:t>
            </a:r>
            <a:r>
              <a:rPr lang="en-US" dirty="0">
                <a:ea typeface="+mn-lt"/>
                <a:cs typeface="+mn-lt"/>
              </a:rPr>
              <a:t>(low </a:t>
            </a:r>
            <a:r>
              <a:rPr lang="en-US" dirty="0" err="1">
                <a:ea typeface="+mn-lt"/>
                <a:cs typeface="+mn-lt"/>
              </a:rPr>
              <a:t>fT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i="1" dirty="0">
              <a:ea typeface="+mn-lt"/>
              <a:cs typeface="+mn-lt"/>
            </a:endParaRPr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Longer L improves </a:t>
            </a:r>
            <a:r>
              <a:rPr lang="en-US" b="1" dirty="0">
                <a:ea typeface="+mn-lt"/>
                <a:cs typeface="+mn-lt"/>
              </a:rPr>
              <a:t>output resistance </a:t>
            </a:r>
            <a:r>
              <a:rPr lang="en-US" b="1" dirty="0" err="1">
                <a:ea typeface="+mn-lt"/>
                <a:cs typeface="+mn-lt"/>
              </a:rPr>
              <a:t>ro</a:t>
            </a:r>
            <a:r>
              <a:rPr lang="en-US" b="1" dirty="0">
                <a:ea typeface="+mn-lt"/>
                <a:cs typeface="+mn-lt"/>
              </a:rPr>
              <a:t> – </a:t>
            </a:r>
            <a:r>
              <a:rPr lang="en-US" dirty="0">
                <a:ea typeface="+mn-lt"/>
                <a:cs typeface="+mn-lt"/>
              </a:rPr>
              <a:t>used in amplifiers as extra load.</a:t>
            </a:r>
            <a:endParaRPr lang="en-US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A99791CC-09F6-581B-4B98-6ED279896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465" y="2138184"/>
            <a:ext cx="2596731" cy="21359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6258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612B0-11EF-BDCC-125D-0FE947360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277" y="353287"/>
            <a:ext cx="11265413" cy="619821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What about </a:t>
            </a:r>
            <a:r>
              <a:rPr lang="en-US" sz="2400" b="1" dirty="0" err="1">
                <a:solidFill>
                  <a:srgbClr val="FF0000"/>
                </a:solidFill>
              </a:rPr>
              <a:t>ro</a:t>
            </a:r>
            <a:r>
              <a:rPr lang="en-US" sz="2400" b="1" dirty="0">
                <a:solidFill>
                  <a:srgbClr val="FF0000"/>
                </a:solidFill>
              </a:rPr>
              <a:t>?</a:t>
            </a:r>
          </a:p>
          <a:p>
            <a:pPr marL="342900" indent="-342900"/>
            <a:r>
              <a:rPr lang="en-US" sz="2400" u="sng" dirty="0"/>
              <a:t>The figure</a:t>
            </a:r>
            <a:r>
              <a:rPr lang="en-US" sz="2400" dirty="0"/>
              <a:t> : </a:t>
            </a:r>
            <a:r>
              <a:rPr lang="en-US" sz="2400" dirty="0" err="1">
                <a:ea typeface="+mn-lt"/>
                <a:cs typeface="+mn-lt"/>
              </a:rPr>
              <a:t>ro</a:t>
            </a:r>
            <a:r>
              <a:rPr lang="en-US" sz="2400" dirty="0">
                <a:ea typeface="+mn-lt"/>
                <a:cs typeface="+mn-lt"/>
              </a:rPr>
              <a:t> of a common-source amplifier appears as an additional load.</a:t>
            </a:r>
          </a:p>
          <a:p>
            <a:pPr marL="342900" indent="-342900"/>
            <a:r>
              <a:rPr lang="en-US" sz="2400" dirty="0">
                <a:ea typeface="+mn-lt"/>
                <a:cs typeface="+mn-lt"/>
              </a:rPr>
              <a:t>Ro is another load parallel to RL.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If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ro≫RL</a:t>
            </a:r>
            <a:r>
              <a:rPr lang="en-US" b="1" dirty="0">
                <a:ea typeface="+mn-lt"/>
                <a:cs typeface="+mn-lt"/>
              </a:rPr>
              <a:t> :</a:t>
            </a:r>
            <a:r>
              <a:rPr lang="en-US" dirty="0">
                <a:ea typeface="+mn-lt"/>
                <a:cs typeface="+mn-lt"/>
              </a:rPr>
              <a:t> the effect of </a:t>
            </a:r>
            <a:r>
              <a:rPr lang="en-US" dirty="0" err="1">
                <a:ea typeface="+mn-lt"/>
                <a:cs typeface="+mn-lt"/>
              </a:rPr>
              <a:t>ro</a:t>
            </a:r>
            <a:r>
              <a:rPr lang="en-US" dirty="0">
                <a:ea typeface="+mn-lt"/>
                <a:cs typeface="+mn-lt"/>
              </a:rPr>
              <a:t>  is negligible, so </a:t>
            </a:r>
            <a:r>
              <a:rPr lang="en-US" b="1" dirty="0">
                <a:ea typeface="+mn-lt"/>
                <a:cs typeface="+mn-lt"/>
              </a:rPr>
              <a:t>gain = gm*RL</a:t>
            </a:r>
            <a:r>
              <a:rPr lang="en-US" dirty="0">
                <a:ea typeface="+mn-lt"/>
                <a:cs typeface="+mn-lt"/>
              </a:rPr>
              <a:t> (clean, predictable).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If </a:t>
            </a:r>
            <a:r>
              <a:rPr lang="en-US" b="1" dirty="0">
                <a:ea typeface="+mn-lt"/>
                <a:cs typeface="+mn-lt"/>
              </a:rPr>
              <a:t>RL→∞:</a:t>
            </a:r>
            <a:r>
              <a:rPr lang="en-US" dirty="0">
                <a:ea typeface="+mn-lt"/>
                <a:cs typeface="+mn-lt"/>
              </a:rPr>
              <a:t>  the only limit is the device itself → gain capped at intrinsic gain </a:t>
            </a:r>
            <a:r>
              <a:rPr lang="en-US" dirty="0" err="1">
                <a:ea typeface="+mn-lt"/>
                <a:cs typeface="+mn-lt"/>
              </a:rPr>
              <a:t>gmro</a:t>
            </a:r>
            <a:r>
              <a:rPr lang="en-US" dirty="0">
                <a:ea typeface="+mn-lt"/>
                <a:cs typeface="+mn-lt"/>
              </a:rPr>
              <a:t>. </a:t>
            </a:r>
            <a:r>
              <a:rPr lang="en-US" b="1" dirty="0" err="1">
                <a:ea typeface="+mn-lt"/>
                <a:cs typeface="+mn-lt"/>
              </a:rPr>
              <a:t>Aint</a:t>
            </a:r>
            <a:r>
              <a:rPr lang="en-US" b="1" dirty="0">
                <a:ea typeface="+mn-lt"/>
                <a:cs typeface="+mn-lt"/>
              </a:rPr>
              <a:t> =gm*</a:t>
            </a:r>
            <a:r>
              <a:rPr lang="en-US" b="1" dirty="0" err="1">
                <a:ea typeface="+mn-lt"/>
                <a:cs typeface="+mn-lt"/>
              </a:rPr>
              <a:t>ro</a:t>
            </a:r>
            <a:endParaRPr lang="en-US" dirty="0" err="1">
              <a:ea typeface="+mn-lt"/>
              <a:cs typeface="+mn-lt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Intrinsic gain gives the</a:t>
            </a:r>
          </a:p>
          <a:p>
            <a:pPr marL="457200" lvl="1" indent="0">
              <a:buNone/>
            </a:pPr>
            <a:r>
              <a:rPr lang="en-US" dirty="0">
                <a:ea typeface="+mn-lt"/>
                <a:cs typeface="+mn-lt"/>
              </a:rPr>
              <a:t>   </a:t>
            </a:r>
            <a:r>
              <a:rPr lang="en-US" b="1" dirty="0">
                <a:ea typeface="+mn-lt"/>
                <a:cs typeface="+mn-lt"/>
              </a:rPr>
              <a:t>maximum voltage gain</a:t>
            </a:r>
            <a:r>
              <a:rPr lang="en-US" dirty="0">
                <a:ea typeface="+mn-lt"/>
                <a:cs typeface="+mn-lt"/>
              </a:rPr>
              <a:t> a transistor can provide.</a:t>
            </a:r>
            <a:endParaRPr lang="en-US"/>
          </a:p>
          <a:p>
            <a:pPr marL="342900" indent="-342900"/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342900" indent="-342900"/>
            <a:r>
              <a:rPr lang="en-US" sz="2400" dirty="0"/>
              <a:t>Charts of </a:t>
            </a:r>
            <a:r>
              <a:rPr lang="en-US" sz="2400" dirty="0" err="1">
                <a:solidFill>
                  <a:srgbClr val="FF0000"/>
                </a:solidFill>
              </a:rPr>
              <a:t>fT</a:t>
            </a:r>
            <a:r>
              <a:rPr lang="en-US" sz="2400" dirty="0">
                <a:solidFill>
                  <a:srgbClr val="FF0000"/>
                </a:solidFill>
              </a:rPr>
              <a:t>  vs. gm/ID</a:t>
            </a:r>
            <a:r>
              <a:rPr lang="en-US" sz="2400" dirty="0"/>
              <a:t>  and </a:t>
            </a:r>
            <a:r>
              <a:rPr lang="en-US" sz="2400" dirty="0" err="1">
                <a:solidFill>
                  <a:srgbClr val="FF0000"/>
                </a:solidFill>
              </a:rPr>
              <a:t>gmro</a:t>
            </a:r>
            <a:r>
              <a:rPr lang="en-US" sz="2400" dirty="0">
                <a:solidFill>
                  <a:srgbClr val="FF0000"/>
                </a:solidFill>
              </a:rPr>
              <a:t> vs. gm/ID</a:t>
            </a:r>
            <a:r>
              <a:rPr lang="en-US" sz="2400" dirty="0"/>
              <a:t> together let designers pick the right L and bias.</a:t>
            </a:r>
            <a:endParaRPr lang="en-US" dirty="0"/>
          </a:p>
          <a:p>
            <a:pPr marL="342900" indent="-342900"/>
            <a:r>
              <a:rPr lang="en-US" sz="2400" dirty="0">
                <a:ea typeface="+mn-lt"/>
                <a:cs typeface="+mn-lt"/>
              </a:rPr>
              <a:t>A gain of 100 isn’t achievable with a single transistor, so we must use techniques like multiple stages or cascode, and the charts let us know this upfront without trial-and-error.</a:t>
            </a:r>
            <a:endParaRPr lang="en-US" dirty="0"/>
          </a:p>
          <a:p>
            <a:pPr marL="0" indent="0" algn="ctr">
              <a:buNone/>
            </a:pPr>
            <a:r>
              <a:rPr lang="en-US" sz="2400" i="1" err="1">
                <a:ea typeface="+mn-lt"/>
                <a:cs typeface="+mn-lt"/>
              </a:rPr>
              <a:t>ro</a:t>
            </a:r>
            <a:r>
              <a:rPr lang="en-US" sz="2400" i="1" dirty="0">
                <a:ea typeface="+mn-lt"/>
                <a:cs typeface="+mn-lt"/>
              </a:rPr>
              <a:t> (and hence intrinsic gain) strongly depends on VD ; low headroom reduces gain.</a:t>
            </a:r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3F1E5613-2D4B-1B15-14C6-CDB0C564B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537" y="2344499"/>
            <a:ext cx="2088041" cy="15795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25889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FEEF-7AC2-FEA4-04AF-B1607FD94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863"/>
            <a:ext cx="10515600" cy="62330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ea typeface="+mn-lt"/>
                <a:cs typeface="+mn-lt"/>
              </a:rPr>
              <a:t>Biasing Using gm/ID</a:t>
            </a:r>
          </a:p>
          <a:p>
            <a:pPr marL="342900" indent="-342900"/>
            <a:r>
              <a:rPr lang="en-US" sz="2400" dirty="0"/>
              <a:t>Charts of </a:t>
            </a:r>
            <a:r>
              <a:rPr lang="en-US" sz="2400" dirty="0" err="1">
                <a:solidFill>
                  <a:srgbClr val="FF0000"/>
                </a:solidFill>
              </a:rPr>
              <a:t>fT</a:t>
            </a:r>
            <a:r>
              <a:rPr lang="en-US" sz="2400" dirty="0">
                <a:solidFill>
                  <a:srgbClr val="FF0000"/>
                </a:solidFill>
              </a:rPr>
              <a:t>  vs. gm/ID</a:t>
            </a:r>
            <a:r>
              <a:rPr lang="en-US" sz="2400" dirty="0"/>
              <a:t>  and </a:t>
            </a:r>
            <a:r>
              <a:rPr lang="en-US" sz="2400" dirty="0" err="1">
                <a:solidFill>
                  <a:srgbClr val="FF0000"/>
                </a:solidFill>
              </a:rPr>
              <a:t>gmro</a:t>
            </a:r>
            <a:r>
              <a:rPr lang="en-US" sz="2400" dirty="0">
                <a:solidFill>
                  <a:srgbClr val="FF0000"/>
                </a:solidFill>
              </a:rPr>
              <a:t> vs. Gm/ID </a:t>
            </a:r>
            <a:endParaRPr lang="en-US" sz="2400" dirty="0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They help you decide </a:t>
            </a:r>
            <a:r>
              <a:rPr lang="en-US" b="1" dirty="0">
                <a:ea typeface="+mn-lt"/>
                <a:cs typeface="+mn-lt"/>
              </a:rPr>
              <a:t>channel length (L)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gm/ID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L is chosen mainly for </a:t>
            </a:r>
            <a:r>
              <a:rPr lang="en-US" b="1" dirty="0">
                <a:ea typeface="+mn-lt"/>
                <a:cs typeface="+mn-lt"/>
              </a:rPr>
              <a:t>gain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gmro</a:t>
            </a:r>
            <a:r>
              <a:rPr lang="en-US" dirty="0">
                <a:ea typeface="+mn-lt"/>
                <a:cs typeface="+mn-lt"/>
              </a:rPr>
              <a:t>).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gm/ID is chosen for </a:t>
            </a:r>
            <a:r>
              <a:rPr lang="en-US" b="1" dirty="0">
                <a:ea typeface="+mn-lt"/>
                <a:cs typeface="+mn-lt"/>
              </a:rPr>
              <a:t>speed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fT</a:t>
            </a:r>
            <a:r>
              <a:rPr lang="en-US" dirty="0">
                <a:ea typeface="+mn-lt"/>
                <a:cs typeface="+mn-lt"/>
              </a:rPr>
              <a:t>) and </a:t>
            </a:r>
            <a:r>
              <a:rPr lang="en-US" b="1" dirty="0">
                <a:ea typeface="+mn-lt"/>
                <a:cs typeface="+mn-lt"/>
              </a:rPr>
              <a:t>power efficiency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342900" indent="-342900"/>
            <a:r>
              <a:rPr lang="en-US" sz="2400" b="1" dirty="0">
                <a:ea typeface="+mn-lt"/>
                <a:cs typeface="+mn-lt"/>
              </a:rPr>
              <a:t>Current (ID)</a:t>
            </a:r>
            <a:r>
              <a:rPr lang="en-US" sz="2400" dirty="0">
                <a:ea typeface="+mn-lt"/>
                <a:cs typeface="+mn-lt"/>
              </a:rPr>
              <a:t>: Once gm is fixed from the gain requirement, </a:t>
            </a: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  ID=gm/(gm/ID) is known</a:t>
            </a:r>
          </a:p>
          <a:p>
            <a:pPr marL="342900" indent="-342900"/>
            <a:r>
              <a:rPr lang="en-US" sz="2400" b="1" dirty="0">
                <a:ea typeface="+mn-lt"/>
                <a:cs typeface="+mn-lt"/>
              </a:rPr>
              <a:t>Width (W):</a:t>
            </a:r>
            <a:endParaRPr lang="en-US" sz="2400" b="1" dirty="0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You know L, ID and gm/ID.</a:t>
            </a:r>
            <a:endParaRPr lang="en-US" dirty="0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To physically bias the transistor at that operating point, you just need the </a:t>
            </a:r>
            <a:r>
              <a:rPr lang="en-US" b="1" dirty="0">
                <a:ea typeface="+mn-lt"/>
                <a:cs typeface="+mn-lt"/>
              </a:rPr>
              <a:t>right W.</a:t>
            </a:r>
            <a:endParaRPr lang="en-US" sz="2400" b="1" dirty="0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The ID/W biasing chart tells </a:t>
            </a:r>
            <a:r>
              <a:rPr lang="en-US" dirty="0">
                <a:ea typeface="+mn-lt"/>
                <a:cs typeface="+mn-lt"/>
              </a:rPr>
              <a:t>what W to choose for that gm/ID and ID.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Design charts</a:t>
            </a:r>
            <a:r>
              <a:rPr lang="en-US" sz="2400" dirty="0">
                <a:ea typeface="+mn-lt"/>
                <a:cs typeface="+mn-lt"/>
              </a:rPr>
              <a:t> → decide </a:t>
            </a:r>
            <a:r>
              <a:rPr lang="en-US" sz="2400" i="1" dirty="0">
                <a:ea typeface="+mn-lt"/>
                <a:cs typeface="+mn-lt"/>
              </a:rPr>
              <a:t>how the transistor should behave</a:t>
            </a:r>
            <a:r>
              <a:rPr lang="en-US" sz="2400" dirty="0">
                <a:ea typeface="+mn-lt"/>
                <a:cs typeface="+mn-lt"/>
              </a:rPr>
              <a:t> (performance).</a:t>
            </a:r>
          </a:p>
          <a:p>
            <a:r>
              <a:rPr lang="en-US" sz="2400" b="1" dirty="0">
                <a:ea typeface="+mn-lt"/>
                <a:cs typeface="+mn-lt"/>
              </a:rPr>
              <a:t>Biasing chart</a:t>
            </a:r>
            <a:r>
              <a:rPr lang="en-US" sz="2400" dirty="0">
                <a:ea typeface="+mn-lt"/>
                <a:cs typeface="+mn-lt"/>
              </a:rPr>
              <a:t> → tells you </a:t>
            </a:r>
            <a:r>
              <a:rPr lang="en-US" sz="2400" i="1" dirty="0">
                <a:ea typeface="+mn-lt"/>
                <a:cs typeface="+mn-lt"/>
              </a:rPr>
              <a:t>what transistor size (W) to draw</a:t>
            </a:r>
            <a:r>
              <a:rPr lang="en-US" sz="2400" dirty="0">
                <a:ea typeface="+mn-lt"/>
                <a:cs typeface="+mn-lt"/>
              </a:rPr>
              <a:t> to achieve it.</a:t>
            </a:r>
            <a:endParaRPr lang="en-US">
              <a:ea typeface="+mn-lt"/>
              <a:cs typeface="+mn-lt"/>
            </a:endParaRPr>
          </a:p>
          <a:p>
            <a:pPr marL="342900" indent="-342900"/>
            <a:endParaRPr lang="en-US" sz="2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A59AB08-83CE-5619-AE42-2CBA657DFE56}"/>
              </a:ext>
            </a:extLst>
          </p:cNvPr>
          <p:cNvGrpSpPr/>
          <p:nvPr/>
        </p:nvGrpSpPr>
        <p:grpSpPr>
          <a:xfrm>
            <a:off x="9305670" y="412810"/>
            <a:ext cx="2225919" cy="3751990"/>
            <a:chOff x="7246355" y="412885"/>
            <a:chExt cx="2243057" cy="4076338"/>
          </a:xfrm>
        </p:grpSpPr>
        <p:pic>
          <p:nvPicPr>
            <p:cNvPr id="4" name="Picture 3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257929CF-B778-4F69-573E-B923EFBDD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46355" y="2692065"/>
              <a:ext cx="2243057" cy="1797158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F7F1C00-F78E-B34F-9EC8-7ED603CE7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67981" y="412885"/>
              <a:ext cx="2112775" cy="1783113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732380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3A57-4C11-ABE4-C47F-73E58711B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200"/>
            <a:ext cx="10515600" cy="1325563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A Deeper Understanding of the gm/ID Method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981E9-C66F-C7D3-0410-779CFD139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895" y="1334846"/>
            <a:ext cx="11058040" cy="51262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Why does a specific value of gm/ID give us the same </a:t>
            </a:r>
            <a:r>
              <a:rPr lang="en-US" sz="2400" dirty="0" err="1"/>
              <a:t>fT</a:t>
            </a:r>
            <a:r>
              <a:rPr lang="en-US" sz="2400" dirty="0"/>
              <a:t>? Why does this work? </a:t>
            </a:r>
          </a:p>
          <a:p>
            <a:pPr marL="0" indent="0" algn="just">
              <a:buNone/>
            </a:pPr>
            <a:r>
              <a:rPr lang="en-US" sz="2400" b="1" dirty="0">
                <a:ea typeface="+mn-lt"/>
                <a:cs typeface="+mn-lt"/>
              </a:rPr>
              <a:t>Intuition Behind gm/ID Method</a:t>
            </a:r>
            <a:endParaRPr lang="en-US" b="1" dirty="0">
              <a:ea typeface="+mn-lt"/>
              <a:cs typeface="+mn-lt"/>
            </a:endParaRPr>
          </a:p>
          <a:p>
            <a:pPr marL="457200" indent="-457200" algn="just">
              <a:buAutoNum type="arabicPeriod"/>
            </a:pPr>
            <a:r>
              <a:rPr lang="en-US" sz="2400" u="sng">
                <a:ea typeface="+mn-lt"/>
                <a:cs typeface="+mn-lt"/>
              </a:rPr>
              <a:t>Scaling doesn’t change ratios </a:t>
            </a:r>
            <a:r>
              <a:rPr lang="en-US" sz="2400">
                <a:ea typeface="+mn-lt"/>
                <a:cs typeface="+mn-lt"/>
              </a:rPr>
              <a:t>(gm/ID and </a:t>
            </a:r>
            <a:r>
              <a:rPr lang="en-US" sz="2400" err="1">
                <a:ea typeface="+mn-lt"/>
                <a:cs typeface="+mn-lt"/>
              </a:rPr>
              <a:t>fT</a:t>
            </a:r>
            <a:r>
              <a:rPr lang="en-US" sz="2400">
                <a:ea typeface="+mn-lt"/>
                <a:cs typeface="+mn-lt"/>
              </a:rPr>
              <a:t>)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If you put transistors in </a:t>
            </a:r>
            <a:r>
              <a:rPr lang="en-US" b="1" dirty="0">
                <a:ea typeface="+mn-lt"/>
                <a:cs typeface="+mn-lt"/>
              </a:rPr>
              <a:t>parallel</a:t>
            </a:r>
            <a:r>
              <a:rPr lang="en-US" dirty="0">
                <a:ea typeface="+mn-lt"/>
                <a:cs typeface="+mn-lt"/>
              </a:rPr>
              <a:t>, both gm, ID, and Cgs scale up together.</a:t>
            </a:r>
            <a:endParaRPr lang="en-US" dirty="0"/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Since they scale proportionally, their ratios (gm/ID, gm/Cgs → </a:t>
            </a:r>
            <a:r>
              <a:rPr lang="en-US" dirty="0" err="1">
                <a:ea typeface="+mn-lt"/>
                <a:cs typeface="+mn-lt"/>
              </a:rPr>
              <a:t>fT</a:t>
            </a:r>
            <a:r>
              <a:rPr lang="en-US" dirty="0">
                <a:ea typeface="+mn-lt"/>
                <a:cs typeface="+mn-lt"/>
              </a:rPr>
              <a:t>) stay the same.</a:t>
            </a:r>
            <a:endParaRPr lang="en-US" dirty="0"/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That’s why </a:t>
            </a:r>
            <a:r>
              <a:rPr lang="en-US" dirty="0" err="1">
                <a:ea typeface="+mn-lt"/>
                <a:cs typeface="+mn-lt"/>
              </a:rPr>
              <a:t>fT</a:t>
            </a:r>
            <a:r>
              <a:rPr lang="en-US" dirty="0">
                <a:ea typeface="+mn-lt"/>
                <a:cs typeface="+mn-lt"/>
              </a:rPr>
              <a:t> and gm/ID don’t depend on W.</a:t>
            </a:r>
            <a:endParaRPr lang="en-US" dirty="0"/>
          </a:p>
          <a:p>
            <a:pPr lvl="1" algn="just">
              <a:buFont typeface="Courier New" panose="020B0604020202020204" pitchFamily="34" charset="0"/>
              <a:buChar char="o"/>
            </a:pPr>
            <a:endParaRPr lang="en-US" dirty="0"/>
          </a:p>
        </p:txBody>
      </p:sp>
      <p:pic>
        <p:nvPicPr>
          <p:cNvPr id="4" name="Picture 3" descr="A diagram of a transistor circuit&#10;&#10;AI-generated content may be incorrect.">
            <a:extLst>
              <a:ext uri="{FF2B5EF4-FFF2-40B4-BE49-F238E27FC236}">
                <a16:creationId xmlns:a16="http://schemas.microsoft.com/office/drawing/2014/main" id="{B633581B-E3E2-3575-AD01-91048578D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582" y="4390126"/>
            <a:ext cx="3535213" cy="20458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01981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BBFEB-D484-05D0-62E3-550C3AFB0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472" y="443693"/>
            <a:ext cx="11019294" cy="63790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2.  </a:t>
            </a:r>
            <a:r>
              <a:rPr lang="en-US" sz="2400" u="sng" dirty="0">
                <a:ea typeface="+mn-lt"/>
                <a:cs typeface="+mn-lt"/>
              </a:rPr>
              <a:t>Width (W) only scales values, not ratios.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err="1">
                <a:ea typeface="+mn-lt"/>
                <a:cs typeface="+mn-lt"/>
              </a:rPr>
              <a:t>fT</a:t>
            </a:r>
            <a:r>
              <a:rPr lang="en-US" dirty="0">
                <a:ea typeface="+mn-lt"/>
                <a:cs typeface="+mn-lt"/>
              </a:rPr>
              <a:t> and gm/ID don’t depend on W (same as paralleling transistors).</a:t>
            </a: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3. </a:t>
            </a:r>
            <a:r>
              <a:rPr lang="en-US" sz="2400" u="sng" dirty="0">
                <a:ea typeface="+mn-lt"/>
                <a:cs typeface="+mn-lt"/>
              </a:rPr>
              <a:t>Intrinsic gain behaves the same way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In Parallel devices, gm doubles, but </a:t>
            </a:r>
            <a:r>
              <a:rPr lang="en-US" err="1">
                <a:ea typeface="+mn-lt"/>
                <a:cs typeface="+mn-lt"/>
              </a:rPr>
              <a:t>ro</a:t>
            </a:r>
            <a:r>
              <a:rPr lang="en-US" dirty="0">
                <a:ea typeface="+mn-lt"/>
                <a:cs typeface="+mn-lt"/>
              </a:rPr>
              <a:t> halves → intrinsic gain (gm*</a:t>
            </a:r>
            <a:r>
              <a:rPr lang="en-US" err="1">
                <a:ea typeface="+mn-lt"/>
                <a:cs typeface="+mn-lt"/>
              </a:rPr>
              <a:t>ro</a:t>
            </a:r>
            <a:r>
              <a:rPr lang="en-US" dirty="0">
                <a:ea typeface="+mn-lt"/>
                <a:cs typeface="+mn-lt"/>
              </a:rPr>
              <a:t>) stays the same.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Hence intrinsic gain also </a:t>
            </a:r>
            <a:r>
              <a:rPr lang="en-US" b="1" dirty="0">
                <a:ea typeface="+mn-lt"/>
                <a:cs typeface="+mn-lt"/>
              </a:rPr>
              <a:t>depends only on gm/ID</a:t>
            </a:r>
            <a:r>
              <a:rPr lang="en-US" dirty="0">
                <a:ea typeface="+mn-lt"/>
                <a:cs typeface="+mn-lt"/>
              </a:rPr>
              <a:t>, not W.</a:t>
            </a:r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4. </a:t>
            </a:r>
            <a:r>
              <a:rPr lang="en-US" sz="2400" u="sng" dirty="0">
                <a:ea typeface="+mn-lt"/>
                <a:cs typeface="+mn-lt"/>
              </a:rPr>
              <a:t>Design convenience</a:t>
            </a:r>
          </a:p>
          <a:p>
            <a:pPr marL="800100" indent="-342900">
              <a:buFont typeface="Courier New" panose="020B0604020202020204" pitchFamily="34" charset="0"/>
              <a:buChar char="o"/>
            </a:pPr>
            <a:r>
              <a:rPr lang="en-US" sz="2400" dirty="0">
                <a:ea typeface="+mn-lt"/>
                <a:cs typeface="+mn-lt"/>
              </a:rPr>
              <a:t>If you take </a:t>
            </a:r>
            <a:r>
              <a:rPr lang="en-US" sz="2400" b="1" dirty="0">
                <a:ea typeface="+mn-lt"/>
                <a:cs typeface="+mn-lt"/>
              </a:rPr>
              <a:t>one transistor</a:t>
            </a:r>
            <a:r>
              <a:rPr lang="en-US" sz="2400" dirty="0">
                <a:ea typeface="+mn-lt"/>
                <a:cs typeface="+mn-lt"/>
              </a:rPr>
              <a:t> of width W, you can measure/simulate how gm, ID, Cgs, and </a:t>
            </a:r>
            <a:r>
              <a:rPr lang="en-US" sz="2400" dirty="0" err="1">
                <a:ea typeface="+mn-lt"/>
                <a:cs typeface="+mn-lt"/>
              </a:rPr>
              <a:t>ro</a:t>
            </a:r>
            <a:r>
              <a:rPr lang="en-US" sz="2400" dirty="0">
                <a:ea typeface="+mn-lt"/>
                <a:cs typeface="+mn-lt"/>
              </a:rPr>
              <a:t> behave as VGS changes.</a:t>
            </a:r>
          </a:p>
          <a:p>
            <a:pPr marL="800100" indent="-342900">
              <a:buFont typeface="Courier New" panose="020B0604020202020204" pitchFamily="34" charset="0"/>
              <a:buChar char="o"/>
            </a:pPr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The gm/ID method is powerful because transistor behavior </a:t>
            </a:r>
            <a:r>
              <a:rPr lang="en-US" sz="2400" b="1" dirty="0">
                <a:solidFill>
                  <a:srgbClr val="FF0000"/>
                </a:solidFill>
                <a:ea typeface="+mn-lt"/>
                <a:cs typeface="+mn-lt"/>
              </a:rPr>
              <a:t>scales linearly with width. </a:t>
            </a:r>
          </a:p>
          <a:p>
            <a:pPr marL="800100" indent="-342900">
              <a:buFont typeface="Courier New" panose="020B0604020202020204" pitchFamily="34" charset="0"/>
              <a:buChar char="o"/>
            </a:pPr>
            <a:r>
              <a:rPr lang="en-US" sz="2400" dirty="0">
                <a:ea typeface="+mn-lt"/>
                <a:cs typeface="+mn-lt"/>
              </a:rPr>
              <a:t>The plots of gm/ID vs  </a:t>
            </a:r>
            <a:r>
              <a:rPr lang="en-US" sz="2400" dirty="0" err="1">
                <a:ea typeface="+mn-lt"/>
                <a:cs typeface="+mn-lt"/>
              </a:rPr>
              <a:t>fT</a:t>
            </a:r>
            <a:r>
              <a:rPr lang="en-US" sz="2400" dirty="0">
                <a:ea typeface="+mn-lt"/>
                <a:cs typeface="+mn-lt"/>
              </a:rPr>
              <a:t> or intrinsic gain don’t depend on W.</a:t>
            </a:r>
            <a:endParaRPr lang="en-US" sz="2400" b="1" dirty="0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sz="2400" i="1" dirty="0">
                <a:solidFill>
                  <a:srgbClr val="000000"/>
                </a:solidFill>
                <a:ea typeface="+mn-lt"/>
                <a:cs typeface="+mn-lt"/>
              </a:rPr>
              <a:t>Expect within 10-20% anyway, because the final tweaks will be done in Spice.</a:t>
            </a:r>
            <a:endParaRPr lang="en-US" i="1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sz="2400" i="1" dirty="0">
                <a:solidFill>
                  <a:srgbClr val="000000"/>
                </a:solidFill>
                <a:ea typeface="+mn-lt"/>
                <a:cs typeface="+mn-lt"/>
              </a:rPr>
              <a:t> And this is much closer than we can get trying to rely on the long-channel model.</a:t>
            </a:r>
            <a:endParaRPr lang="en-US" i="1" dirty="0">
              <a:solidFill>
                <a:srgbClr val="000000"/>
              </a:solidFill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endParaRPr lang="en-US" sz="2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3236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AC6ED-D40C-5785-DD3C-CCD153368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1"/>
            <a:ext cx="10515600" cy="1325563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Conclusion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C1268-0DFE-946A-A164-E2BCBDD3C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4312"/>
            <a:ext cx="10664491" cy="46337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gm/ID method links small-signal values (gm, </a:t>
            </a:r>
            <a:r>
              <a:rPr lang="en-US" sz="2400" err="1">
                <a:ea typeface="+mn-lt"/>
                <a:cs typeface="+mn-lt"/>
              </a:rPr>
              <a:t>fT</a:t>
            </a:r>
            <a:r>
              <a:rPr lang="en-US" sz="2400" dirty="0">
                <a:ea typeface="+mn-lt"/>
                <a:cs typeface="+mn-lt"/>
              </a:rPr>
              <a:t>) with device-level parameters (W, L, </a:t>
            </a:r>
            <a:r>
              <a:rPr lang="en-US" sz="2400" err="1">
                <a:ea typeface="+mn-lt"/>
                <a:cs typeface="+mn-lt"/>
              </a:rPr>
              <a:t>Vgs</a:t>
            </a:r>
            <a:r>
              <a:rPr lang="en-US" sz="2400" dirty="0">
                <a:ea typeface="+mn-lt"/>
                <a:cs typeface="+mn-lt"/>
              </a:rPr>
              <a:t>).</a:t>
            </a:r>
          </a:p>
          <a:p>
            <a:r>
              <a:rPr lang="en-US" sz="2400" dirty="0">
                <a:ea typeface="+mn-lt"/>
                <a:cs typeface="+mn-lt"/>
              </a:rPr>
              <a:t>Captures tradeoffs (gain vs speed) and predicts results well.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Helps choose architecture early (knowing technology limits).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Can be automated (lookup tables + optimization engines).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Combines benefits of equations + simulations.</a:t>
            </a:r>
            <a:endParaRPr lang="en-US" dirty="0"/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556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 A Basic Intro to Gm/Id technique</vt:lpstr>
      <vt:lpstr>Presentation topics</vt:lpstr>
      <vt:lpstr>Introduction</vt:lpstr>
      <vt:lpstr>Big picture</vt:lpstr>
      <vt:lpstr>PowerPoint Presentation</vt:lpstr>
      <vt:lpstr>PowerPoint Presentation</vt:lpstr>
      <vt:lpstr>The more detailed picture</vt:lpstr>
      <vt:lpstr>Long-Channel Model Review</vt:lpstr>
      <vt:lpstr>PowerPoint Presentation</vt:lpstr>
      <vt:lpstr>The Vov-Based Design Methodology</vt:lpstr>
      <vt:lpstr>PowerPoint Presentation</vt:lpstr>
      <vt:lpstr>PowerPoint Presentation</vt:lpstr>
      <vt:lpstr>PowerPoint Presentation</vt:lpstr>
      <vt:lpstr>The Limitations of Vov-Based Design</vt:lpstr>
      <vt:lpstr>PowerPoint Presentation</vt:lpstr>
      <vt:lpstr> The gm/ID-Based Design Methodology </vt:lpstr>
      <vt:lpstr>PowerPoint Presentation</vt:lpstr>
      <vt:lpstr>PowerPoint Presentation</vt:lpstr>
      <vt:lpstr>PowerPoint Presentation</vt:lpstr>
      <vt:lpstr>A Deeper Understanding of the gm/ID Method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1301</cp:revision>
  <dcterms:created xsi:type="dcterms:W3CDTF">2025-08-10T16:45:01Z</dcterms:created>
  <dcterms:modified xsi:type="dcterms:W3CDTF">2025-08-16T14:15:27Z</dcterms:modified>
</cp:coreProperties>
</file>